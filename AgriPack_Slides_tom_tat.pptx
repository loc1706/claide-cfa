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6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ìa" id="{676cdee2-218d-7f7f-5c50-fa97f8eadbab}">
          <p14:sldIdLst>
            <p14:sldId id="256"/>
            <p14:sldId id="257"/>
          </p14:sldIdLst>
        </p14:section>
        <p14:section name="1. Đề xuất ý tưởng khởi nghiệp" id="{c0f348fe-a49b-c768-5f4e-185b666aa124}">
          <p14:sldIdLst>
            <p14:sldId id="258"/>
            <p14:sldId id="259"/>
            <p14:sldId id="260"/>
            <p14:sldId id="261"/>
            <p14:sldId id="262"/>
          </p14:sldIdLst>
        </p14:section>
        <p14:section name="2. Báo cáo tài chính và xác định giai đoạn" id="{80d08a77-b067-a389-3451-3444356db101}">
          <p14:sldIdLst>
            <p14:sldId id="263"/>
            <p14:sldId id="264"/>
            <p14:sldId id="265"/>
            <p14:sldId id="266"/>
          </p14:sldIdLst>
        </p14:section>
        <p14:section name="3. Phân tích vĩ mô và phân tích ngành" id="{61676e5b-eda5-54a2-d631-463c47100a69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4. Lập dự phóng pro forma 5 năm (2026E–2030E)" id="{ce52464e-e100-747d-45e5-a14bad748abb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5. Định giá" id="{f94ec888-14ba-fdef-5d0a-1f1993bdbb8e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6. Kế hoạch huy động vốn" id="{1fdcbf64-c9c2-cf2d-3195-d785effd3c7a}">
          <p14:sldIdLst>
            <p14:sldId id="289"/>
            <p14:sldId id="290"/>
          </p14:sldIdLst>
        </p14:section>
        <p14:section name="8. Câu hỏi Bonus" id="{23eaf624-1418-3136-45ba-9ea3f2fb76dd}">
          <p14:sldIdLst>
            <p14:sldId id="291"/>
            <p14:sldId id="292"/>
          </p14:sldIdLst>
        </p14:section>
        <p14:section name="Kết luận" id="{e73814f7-0d5f-d915-7794-21af100910fd}">
          <p14:sldIdLst>
            <p14:sldId id="293"/>
          </p14:sldIdLst>
        </p14:section>
        <p14:section name="Phụ lục" id="{b383e76b-5bb7-ff5b-e222-6410182658b3}">
          <p14:sldIdLst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(28,4)</c:v>
                  </c:pt>
                  <c:pt idx="1">
                    <c:v>VC Method (24,0)</c:v>
                  </c:pt>
                  <c:pt idx="2">
                    <c:v>Multiples 2025A (27,7)</c:v>
                  </c:pt>
                  <c:pt idx="3">
                    <c:v>Bình quân 40/40/20 (26,5)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20.2</c:v>
                </c:pt>
                <c:pt idx="1">
                  <c:v>10.4</c:v>
                </c:pt>
                <c:pt idx="2">
                  <c:v>17.7</c:v>
                </c:pt>
                <c:pt idx="3">
                  <c:v>15.8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(28,4)</c:v>
                  </c:pt>
                  <c:pt idx="1">
                    <c:v>VC Method (24,0)</c:v>
                  </c:pt>
                  <c:pt idx="2">
                    <c:v>Multiples 2025A (27,7)</c:v>
                  </c:pt>
                  <c:pt idx="3">
                    <c:v>Bình quân 40/40/20 (26,5)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19.7</c:v>
                </c:pt>
                <c:pt idx="1">
                  <c:v>28.8</c:v>
                </c:pt>
                <c:pt idx="2">
                  <c:v>26.3</c:v>
                </c:pt>
                <c:pt idx="3">
                  <c:v>24.6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</c:v>
                </c:pt>
                <c:pt idx="1">
                  <c:v>988</c:v>
                </c:pt>
                <c:pt idx="2">
                  <c:v>1350</c:v>
                </c:pt>
                <c:pt idx="3">
                  <c:v>1900</c:v>
                </c:pt>
                <c:pt idx="4">
                  <c:v>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12</c:v>
                </c:pt>
                <c:pt idx="2">
                  <c:v>200</c:v>
                </c:pt>
                <c:pt idx="3">
                  <c:v>800</c:v>
                </c:pt>
                <c:pt idx="4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Thực phẩm/FMCG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15.1</c:v>
                </c:pt>
                <c:pt idx="1">
                  <c:v>24.1</c:v>
                </c:pt>
                <c:pt idx="2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theo mẫu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4.2</c:v>
                </c:pt>
                <c:pt idx="2">
                  <c:v>5.9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</c:v>
                </c:pt>
                <c:pt idx="1">
                  <c:v>2.3</c:v>
                </c:pt>
                <c:pt idx="2">
                  <c:v>2.7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0.6</c:v>
                </c:pt>
                <c:pt idx="2">
                  <c:v>1.2</c:v>
                </c:pt>
              </c:numCache>
            </c:numRef>
          </c:val>
        </c:ser>
        <c:dLbls>
          <c:numFmt formatCode="[&gt;=2.5]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 thuần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19.4</c:v>
                </c:pt>
                <c:pt idx="1">
                  <c:v>30.9</c:v>
                </c:pt>
                <c:pt idx="2">
                  <c:v>47.5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 (theo chức năng)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CFO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-3.96</c:v>
                </c:pt>
                <c:pt idx="1">
                  <c:v>0.7</c:v>
                </c:pt>
                <c:pt idx="2">
                  <c:v>6.28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-5.01</c:v>
                </c:pt>
                <c:pt idx="1">
                  <c:v>-6.31</c:v>
                </c:pt>
                <c:pt idx="2">
                  <c:v>-5.08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FCF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-8.97</c:v>
                </c:pt>
                <c:pt idx="1">
                  <c:v>-5.61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50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 tháng 2025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7.63</c:v>
                </c:pt>
                <c:pt idx="1">
                  <c:v>3.88</c:v>
                </c:pt>
                <c:pt idx="2">
                  <c:v>8.44</c:v>
                </c:pt>
                <c:pt idx="3">
                  <c:v>8.36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tháng 2026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8.18</c:v>
                </c:pt>
                <c:pt idx="1">
                  <c:v>3.87</c:v>
                </c:pt>
                <c:pt idx="2">
                  <c:v>9.81</c:v>
                </c:pt>
                <c:pt idx="3">
                  <c:v>8.09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CPI bình quân</c:v>
                  </c:pt>
                  <c:pt idx="1">
                    <c:v>Lạm phát cơ bản</c:v>
                  </c:pt>
                  <c:pt idx="2">
                    <c:v>Nhà ở, điện, nước, VLXD</c:v>
                  </c:pt>
                  <c:pt idx="3">
                    <c:v>Giá bán AgriPack 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4.45</c:v>
                </c:pt>
                <c:pt idx="1">
                  <c:v>4.24</c:v>
                </c:pt>
                <c:pt idx="2">
                  <c:v>6.71</c:v>
                </c:pt>
                <c:pt idx="3">
                  <c:v>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VC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634</c:v>
                </c:pt>
                <c:pt idx="1">
                  <c:v>529</c:v>
                </c:pt>
                <c:pt idx="2">
                  <c:v>398</c:v>
                </c:pt>
                <c:pt idx="3">
                  <c:v>509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Mô hình (Luật 67/2025)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Nếu hưởng NQ 198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CAGR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1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3A3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AgriPack dự phóng (25–30E)</c:v>
                  </c:pt>
                  <c:pt idx="1">
                    <c:v>Thị trường nhựa, tấn (26–31)</c:v>
                  </c:pt>
                  <c:pt idx="2">
                    <c:v>SAM F&amp;B phân hủy (26–34)</c:v>
                  </c:pt>
                  <c:pt idx="3">
                    <c:v>TAM bao bì xanh (26–34)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29.07</c:v>
                </c:pt>
                <c:pt idx="1">
                  <c:v>8.35</c:v>
                </c:pt>
                <c:pt idx="2">
                  <c:v>4.73</c:v>
                </c:pt>
                <c:pt idx="3">
                  <c:v>4.15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Triệu tấn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Rơm rạ</c:v>
                  </c:pt>
                  <c:pt idx="1">
                    <c:v>Bã mía</c:v>
                  </c:pt>
                  <c:pt idx="2">
                    <c:v>Vỏ cà phê</c:v>
                  </c:pt>
                  <c:pt idx="3">
                    <c:v>Vỏ trấu, chăn nuôi và khác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42.8</c:v>
                </c:pt>
                <c:pt idx="1">
                  <c:v>15</c:v>
                </c:pt>
                <c:pt idx="2">
                  <c:v>1.4</c:v>
                </c:pt>
                <c:pt idx="3">
                  <c:v>100.8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Công suất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An Phát (AnEco)</c:v>
                  </c:pt>
                  <c:pt idx="1">
                    <c:v>HAPBIO</c:v>
                  </c:pt>
                  <c:pt idx="2">
                    <c:v>Thành Long (kế hoạch)</c:v>
                  </c:pt>
                  <c:pt idx="3">
                    <c:v>AIRX Coffee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</c:v>
                </c:pt>
                <c:pt idx="1">
                  <c:v>54</c:v>
                </c:pt>
                <c:pt idx="2">
                  <c:v>43</c:v>
                </c:pt>
                <c:pt idx="3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Bao bì F&amp;B/FMCG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38.1</c:v>
                </c:pt>
                <c:pt idx="1">
                  <c:v>51.2</c:v>
                </c:pt>
                <c:pt idx="2">
                  <c:v>63.8</c:v>
                </c:pt>
                <c:pt idx="3">
                  <c:v>87.8</c:v>
                </c:pt>
                <c:pt idx="4">
                  <c:v>112</c:v>
                </c:pt>
                <c:pt idx="5">
                  <c:v>133.6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&amp; khuôn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5.9</c:v>
                </c:pt>
                <c:pt idx="1">
                  <c:v>7.3</c:v>
                </c:pt>
                <c:pt idx="2">
                  <c:v>8.8</c:v>
                </c:pt>
                <c:pt idx="3">
                  <c:v>11.5</c:v>
                </c:pt>
                <c:pt idx="4">
                  <c:v>14.1</c:v>
                </c:pt>
                <c:pt idx="5">
                  <c:v>16.6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Đệm 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2.7</c:v>
                </c:pt>
                <c:pt idx="1">
                  <c:v>3.6</c:v>
                </c:pt>
                <c:pt idx="2">
                  <c:v>4.8</c:v>
                </c:pt>
                <c:pt idx="3">
                  <c:v>6.8</c:v>
                </c:pt>
                <c:pt idx="4">
                  <c:v>9.1</c:v>
                </c:pt>
                <c:pt idx="5">
                  <c:v>11.5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Đệm 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</c:v>
                </c:pt>
                <c:pt idx="1">
                  <c:v>1.9</c:v>
                </c:pt>
                <c:pt idx="2">
                  <c:v>2.9</c:v>
                </c:pt>
                <c:pt idx="3">
                  <c:v>5.1</c:v>
                </c:pt>
                <c:pt idx="4">
                  <c:v>7.5</c:v>
                </c:pt>
                <c:pt idx="5">
                  <c:v>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  <c:pt idx="3">
                  <c:v>51.8</c:v>
                </c:pt>
                <c:pt idx="4">
                  <c:v>50.5</c:v>
                </c:pt>
                <c:pt idx="5">
                  <c:v>44.8</c:v>
                </c:pt>
                <c:pt idx="6">
                  <c:v>47.1</c:v>
                </c:pt>
                <c:pt idx="7">
                  <c:v>47.6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  <c:pt idx="3">
                  <c:v>17.9</c:v>
                </c:pt>
                <c:pt idx="4">
                  <c:v>17.9</c:v>
                </c:pt>
                <c:pt idx="5">
                  <c:v>16.1</c:v>
                </c:pt>
                <c:pt idx="6">
                  <c:v>19</c:v>
                </c:pt>
                <c:pt idx="7">
                  <c:v>20.2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EBIT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-21.6</c:v>
                </c:pt>
                <c:pt idx="1">
                  <c:v>-1.2</c:v>
                </c:pt>
                <c:pt idx="2">
                  <c:v>9.6</c:v>
                </c:pt>
                <c:pt idx="3">
                  <c:v>12</c:v>
                </c:pt>
                <c:pt idx="4">
                  <c:v>11.3</c:v>
                </c:pt>
                <c:pt idx="5">
                  <c:v>5.7</c:v>
                </c:pt>
                <c:pt idx="6">
                  <c:v>9.8</c:v>
                </c:pt>
                <c:pt idx="7">
                  <c:v>11.5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B08D57"/>
            </a:solidFill>
            <a:ln w="25400" cap="flat">
              <a:solidFill>
                <a:srgbClr val="B08D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08D57"/>
              </a:solidFill>
              <a:ln w="9525" cap="flat">
                <a:solidFill>
                  <a:srgbClr val="B08D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  <c:pt idx="3">
                  <c:v>10.3</c:v>
                </c:pt>
                <c:pt idx="4">
                  <c:v>7.3</c:v>
                </c:pt>
                <c:pt idx="5">
                  <c:v>2.2</c:v>
                </c:pt>
                <c:pt idx="6">
                  <c:v>6.2</c:v>
                </c:pt>
                <c:pt idx="7">
                  <c:v>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12.7</c:v>
                </c:pt>
                <c:pt idx="2">
                  <c:v>51.8</c:v>
                </c:pt>
                <c:pt idx="3">
                  <c:v>13.2</c:v>
                </c:pt>
                <c:pt idx="4">
                  <c:v>14.2</c:v>
                </c:pt>
                <c:pt idx="5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Khấu hao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</c:v>
                </c:pt>
                <c:pt idx="1">
                  <c:v>3.7</c:v>
                </c:pt>
                <c:pt idx="2">
                  <c:v>5.3</c:v>
                </c:pt>
                <c:pt idx="3">
                  <c:v>11.5</c:v>
                </c:pt>
                <c:pt idx="4">
                  <c:v>13.1</c:v>
                </c:pt>
                <c:pt idx="5">
                  <c:v>14.8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FCFF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-4.9</c:v>
                </c:pt>
                <c:pt idx="2">
                  <c:v>-42.6</c:v>
                </c:pt>
                <c:pt idx="3">
                  <c:v>-3.7</c:v>
                </c:pt>
                <c:pt idx="4">
                  <c:v>3.6</c:v>
                </c:pt>
                <c:pt idx="5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ROIC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12.7</c:v>
                </c:pt>
                <c:pt idx="1">
                  <c:v>16.7</c:v>
                </c:pt>
                <c:pt idx="2">
                  <c:v>8</c:v>
                </c:pt>
                <c:pt idx="3">
                  <c:v>5.1</c:v>
                </c:pt>
                <c:pt idx="4">
                  <c:v>10.4</c:v>
                </c:pt>
                <c:pt idx="5">
                  <c:v>13.9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WACC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14.1</c:v>
                </c:pt>
                <c:pt idx="1">
                  <c:v>14.1</c:v>
                </c:pt>
                <c:pt idx="2">
                  <c:v>14.1</c:v>
                </c:pt>
                <c:pt idx="3">
                  <c:v>14.1</c:v>
                </c:pt>
                <c:pt idx="4">
                  <c:v>14.1</c:v>
                </c:pt>
                <c:pt idx="5">
                  <c:v>14.1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Bất lợi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CRP ±1 điểm %</c:v>
                  </c:pt>
                  <c:pt idx="5">
                    <c:v>Lãi suất Rf, Kd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-26.2</c:v>
                </c:pt>
                <c:pt idx="1">
                  <c:v>-10.2</c:v>
                </c:pt>
                <c:pt idx="2">
                  <c:v>-8.3</c:v>
                </c:pt>
                <c:pt idx="3">
                  <c:v>-6.5</c:v>
                </c:pt>
                <c:pt idx="4">
                  <c:v>-4.4</c:v>
                </c:pt>
                <c:pt idx="5">
                  <c:v>-4.4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Thuận lợi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CRP ±1 điểm %</c:v>
                  </c:pt>
                  <c:pt idx="5">
                    <c:v>Lãi suất Rf, Kd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30.6</c:v>
                </c:pt>
                <c:pt idx="1">
                  <c:v>9.9</c:v>
                </c:pt>
                <c:pt idx="2">
                  <c:v>8.1</c:v>
                </c:pt>
                <c:pt idx="3">
                  <c:v>6.8</c:v>
                </c:pt>
                <c:pt idx="4">
                  <c:v>5.4</c:v>
                </c:pt>
                <c:pt idx="5">
                  <c:v>5.2</c:v>
                </c:pt>
                <c:pt idx="6">
                  <c:v>3</c:v>
                </c:pt>
              </c:numCache>
            </c:numRef>
          </c:val>
        </c:ser>
        <c:dLbls>
          <c:numFmt formatCode="0.0;-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27</c:v>
                </c:pt>
                <c:pt idx="4">
                  <c:v>28.4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27</c:v>
                </c:pt>
                <c:pt idx="2">
                  <c:v>0</c:v>
                </c:pt>
                <c:pt idx="3">
                  <c:v>2.9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-32.9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-32.9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1.6</c:v>
                </c:pt>
                <c:pt idx="5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27</c:v>
                </c:pt>
                <c:pt idx="3">
                  <c:v>0</c:v>
                </c:pt>
                <c:pt idx="4">
                  <c:v>0</c:v>
                </c:pt>
                <c:pt idx="5">
                  <c:v>28.4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61.6</c:v>
                </c:pt>
                <c:pt idx="2">
                  <c:v>0</c:v>
                </c:pt>
                <c:pt idx="3">
                  <c:v>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137.1</c:v>
                </c:pt>
                <c:pt idx="2">
                  <c:v>0</c:v>
                </c:pt>
                <c:pt idx="3">
                  <c:v>37.6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198.7</c:v>
                </c:pt>
                <c:pt idx="1">
                  <c:v>0</c:v>
                </c:pt>
                <c:pt idx="2">
                  <c:v>61.6</c:v>
                </c:pt>
                <c:pt idx="3">
                  <c:v>0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EV/EBITDA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HHP</c:v>
                  </c:pt>
                  <c:pt idx="1">
                    <c:v>ILS</c:v>
                  </c:pt>
                  <c:pt idx="2">
                    <c:v>TDP</c:v>
                  </c:pt>
                  <c:pt idx="3">
                    <c:v>DHC</c:v>
                  </c:pt>
                  <c:pt idx="4">
                    <c:v>BBS</c:v>
                  </c:pt>
                  <c:pt idx="5">
                    <c:v>PMP</c:v>
                  </c:pt>
                  <c:pt idx="6">
                    <c:v>APH</c:v>
                  </c:pt>
                  <c:pt idx="7">
                    <c:v>TPC</c:v>
                  </c:pt>
                  <c:pt idx="8">
                    <c:v>VBC</c:v>
                  </c:pt>
                  <c:pt idx="9">
                    <c:v>AAA</c:v>
                  </c:pt>
                  <c:pt idx="10">
                    <c:v>TPP</c:v>
                  </c:pt>
                  <c:pt idx="11">
                    <c:v>STP</c:v>
                  </c:pt>
                  <c:pt idx="12">
                    <c:v>INN</c:v>
                  </c:pt>
                  <c:pt idx="13">
                    <c:v>PBP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13.7</c:v>
                </c:pt>
                <c:pt idx="1">
                  <c:v>13.3</c:v>
                </c:pt>
                <c:pt idx="2">
                  <c:v>9</c:v>
                </c:pt>
                <c:pt idx="3">
                  <c:v>6.4</c:v>
                </c:pt>
                <c:pt idx="4">
                  <c:v>5.5</c:v>
                </c:pt>
                <c:pt idx="5">
                  <c:v>5.4</c:v>
                </c:pt>
                <c:pt idx="6">
                  <c:v>5.1</c:v>
                </c:pt>
                <c:pt idx="7">
                  <c:v>4.2</c:v>
                </c:pt>
                <c:pt idx="8">
                  <c:v>4.2</c:v>
                </c:pt>
                <c:pt idx="9">
                  <c:v>3.9</c:v>
                </c:pt>
                <c:pt idx="10">
                  <c:v>3.3</c:v>
                </c:pt>
                <c:pt idx="11">
                  <c:v>3</c:v>
                </c:pt>
                <c:pt idx="12">
                  <c:v>2.7</c:v>
                </c:pt>
                <c:pt idx="13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Pre-money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DCF</c:v>
                  </c:pt>
                  <c:pt idx="1">
                    <c:v>Multiples 2025A</c:v>
                  </c:pt>
                  <c:pt idx="2">
                    <c:v>VC Method</c:v>
                  </c:pt>
                  <c:pt idx="3">
                    <c:v>Bình quân 40/40/20</c:v>
                  </c:pt>
                  <c:pt idx="4">
                    <c:v>DCF × xác suất sống sót</c:v>
                  </c:pt>
                  <c:pt idx="5">
                    <c:v>VCSH sổ sách 2025</c:v>
                  </c:pt>
                  <c:pt idx="6">
                    <c:v>Giá trị thanh lý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27.7</c:v>
                </c:pt>
                <c:pt idx="2">
                  <c:v>24</c:v>
                </c:pt>
                <c:pt idx="3">
                  <c:v>26.5</c:v>
                </c:pt>
                <c:pt idx="4">
                  <c:v>23</c:v>
                </c:pt>
                <c:pt idx="5">
                  <c:v>30</c:v>
                </c:pt>
                <c:pt idx="6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Thiếu hụt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19</c:v>
                </c:pt>
                <c:pt idx="2">
                  <c:v>26.8</c:v>
                </c:pt>
                <c:pt idx="3">
                  <c:v>33.3</c:v>
                </c:pt>
                <c:pt idx="4">
                  <c:v>34.2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Post-money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Đầu tăng trưởng (z 40%)</c:v>
                  </c:pt>
                  <c:pt idx="1">
                    <c:v>Thử nghiệm (z 57,5%)</c:v>
                  </c:pt>
                  <c:pt idx="2">
                    <c:v>Ươm mầm (z 72,5%)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61.6</c:v>
                </c:pt>
                <c:pt idx="1">
                  <c:v>43.6</c:v>
                </c:pt>
                <c:pt idx="2">
                  <c:v>28.2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ìa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ân mục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ội 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AGRIPACK · Báo cáo phân tích, dự phóng và định giá · 06/10/2026 · Số liệu tỷ đồng, trừ khi ghi khác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CTCP AgriPack</a:t>
            </a:r>
            <a:endParaRPr lang="vi-VN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 từ bã mía – vỏ trứng · B2B · Gia Lai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phân tích, dự phóng và định giá · 06/10/2026 · Thời điểm định giá 01/01/2026</a:t>
            </a:r>
            <a:endParaRPr lang="vi-VN" sz="1800" dirty="0"/>
          </a:p>
          <a:p>
            <a:pPr algn="l" indent="0" marL="0">
              <a:buNone/>
            </a:pPr>
            <a:r>
              <a:rPr lang="vi-VN" sz="1400" dirty="0">
                <a:solidFill>
                  <a:srgbClr val="F2E6E8"/>
                </a:solidFill>
              </a:rPr>
              <a:t>Nhóm: Nguyễn Thu Thủy · Tạ Hồng Anh · Nguyễn Đức Lộc · Lý Đặng Thu Hằng · Đào Khánh Linh · Nguyễn Thị Phương Thảo</a:t>
            </a:r>
            <a:endParaRPr lang="vi-V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AgriPack đã qua giai đoạn thử nghiệm; pre-money 26,5 tỷ đồng, thấp hơn giá trị sổ sách</a:t>
            </a:r>
            <a:endParaRPr lang="vi-VN" sz="2400" dirty="0"/>
          </a:p>
        </p:txBody>
      </p:sp>
      <p:sp>
        <p:nvSpPr>
          <p:cNvPr id="3" name="kpi"/>
          <p:cNvSpPr/>
          <p:nvPr/>
        </p:nvSpPr>
        <p:spPr>
          <a:xfrm>
            <a:off x="457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26,5 tỷ</a:t>
            </a:r>
            <a:endParaRPr lang="vi-VN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Pre-money bình quân 40/40/20</a:t>
            </a:r>
            <a:endParaRPr lang="vi-VN" sz="1200" dirty="0"/>
          </a:p>
        </p:txBody>
      </p:sp>
      <p:sp>
        <p:nvSpPr>
          <p:cNvPr id="6" name="kpi"/>
          <p:cNvSpPr/>
          <p:nvPr/>
        </p:nvSpPr>
        <p:spPr>
          <a:xfrm>
            <a:off x="2743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80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14,1%</a:t>
            </a:r>
            <a:endParaRPr lang="vi-VN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WACC (Rf 4,59%, beta tổng 1,48)</a:t>
            </a:r>
            <a:endParaRPr lang="vi-VN" sz="1200" dirty="0"/>
          </a:p>
        </p:txBody>
      </p:sp>
      <p:sp>
        <p:nvSpPr>
          <p:cNvPr id="9" name="kpi"/>
          <p:cNvSpPr/>
          <p:nvPr/>
        </p:nvSpPr>
        <p:spPr>
          <a:xfrm>
            <a:off x="5029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170,3 tỷ</a:t>
            </a:r>
            <a:endParaRPr lang="vi-VN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Doanh thu 2030E (CAGR 29,1%)</a:t>
            </a:r>
            <a:endParaRPr lang="vi-VN" sz="1200" dirty="0"/>
          </a:p>
        </p:txBody>
      </p:sp>
      <p:sp>
        <p:nvSpPr>
          <p:cNvPr id="12" name="kpi"/>
          <p:cNvSpPr/>
          <p:nvPr/>
        </p:nvSpPr>
        <p:spPr>
          <a:xfrm>
            <a:off x="7315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37,6 tỷ</a:t>
            </a:r>
            <a:endParaRPr lang="vi-VN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Vốn cổ phần cần gọi 2026 (NĐT nắm ~59%)</a:t>
            </a:r>
            <a:endParaRPr lang="vi-VN" sz="1200" dirty="0"/>
          </a:p>
        </p:txBody>
      </p:sp>
      <p:sp>
        <p:nvSpPr>
          <p:cNvPr id="15" name="kpi"/>
          <p:cNvSpPr/>
          <p:nvPr/>
        </p:nvSpPr>
        <p:spPr>
          <a:xfrm>
            <a:off x="9601200" y="1234440"/>
            <a:ext cx="2130552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38360" y="1307592"/>
            <a:ext cx="1856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vi-VN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18928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Tỷ lệ thất bại z – đầu tăng trưởng</a:t>
            </a:r>
            <a:endParaRPr lang="vi-V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Khoảng pre-money theo phương pháp (tỷ đồng)</a:t>
            </a:r>
            <a:endParaRPr lang="vi-VN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88036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92240" y="2606040"/>
            <a:ext cx="5257800" cy="3429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Giai đoạn.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+59,1% (2024), +53,7% (2025); năm 2025 lần đầu có lãi (4,4 tỷ) và FCF dương (1,2 tỷ); D/E 6,5% → đầu tăng trưởng.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Dự phóng.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170,3 tỷ năm 2030, biên EBITDA 16,2% → 20,2%; CAPEX 65% doanh thu năm 2027 làm FCFF âm 3 năm liền.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Định giá.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28,4 · VC Method 24,0 · Multiples 27,7 tỷ; DCF × xác suất sống sót còn 23,0 tỷ – các phương pháp hội tụ 23–28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Hàm ý.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Pre-money chỉ bằng 0,88 lần VCSH sổ sách: tăng trưởng cần ~69 tỷ vốn ngoài, ROIC 2027–2029 dưới WACC.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Theo dõi.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Sản lượng F&amp;B 2026 (giả định +32%), chứng nhận vật liệu tiếp xúc thực phẩm, tiến độ nhà máy mới trước 31/12/2027.</a:t>
            </a:r>
            <a:endParaRPr lang="vi-V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mô hình AgriPack_Model_final.xlsx (Summary, Sensitivity,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</a:t>
            </a:fld>
            <a:endParaRPr lang="vi-V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Đề xuất ý tưởng khởi nghiệp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bì, đệm bảo vệ từ bã mía phối trộn vỏ trứng cho khách hàng B2B miền Trung – Nam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</a:t>
            </a:fld>
            <a:endParaRPr lang="vi-V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Bao bì nhựa vẫn rẻ hơn nhiều lần, nhưng lộ trình hạn chế nhựa tạo áp lực chuyển đổi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Giá tham khảo hộp 500 ml có nắp (đồng/chiếc)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dirty="0">
                <a:solidFill>
                  <a:srgbClr val="666666"/>
                </a:solidFill>
              </a:rPr>
              <a:t>Ghi chú: PP là một mức giá 988 đ/chiếc</a:t>
            </a:r>
            <a:endParaRPr lang="vi-VN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234440"/>
            <a:ext cx="53492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Thị trường nhựa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12,83 triệu tấn năm 2026 → 19,16 triệu tấn năm 2031 (+8,35%/năm); nhựa bao bì chiếm 50,35% sản lượng; 46% rác thải nhựa toàn cầu đến từ bao bì (UNEP).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Từ 01/01/2026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sản xuất, nhập khẩu túi ni lông khó phân hủy cỡ nhỏ; nhà sản xuất nhựa dùng một lần phải tái chế, xử lý (NĐ 08/2022/NĐ-CP, Điều 64).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năm 2025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lưu hành sản phẩm nhựa dùng một lần tại TTTM, siêu thị, khách sạn, khu du lịch.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31/12/2030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dừng sản xuất, nhập khẩu nhựa dùng một lần, bao bì nhựa khó phân hủy (trừ nhãn sinh thái Việt Nam).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Hạn chế của giải pháp hiện có: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giấy, cellulose kém bền, phải phủ hóa chất; nhựa sinh học đắt, cần đầu tư hạ tầng lớn.</a:t>
            </a:r>
            <a:endParaRPr lang="vi-V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1.1.1); QueenPack.com, baobixanh.com; giá AgriPack: chiến lược giá (Mục 1.2.2)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</a:t>
            </a:fld>
            <a:endParaRPr lang="vi-V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dòng sản phẩm, định giá trong khung của hàng bã mía, tre nhập khẩu</a:t>
            </a:r>
            <a:endParaRPr lang="vi-VN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965960"/>
                <a:gridCol w="1463040"/>
              </a:tblGrid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Phân khúc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Sản phẩm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thị trường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bán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Hộp/khay F&amp;B, FMCG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 bã mía Thái Lan, Trung Quốc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Thái Lan 2.100–2.400 đ (600 ml); Trung Quốc 1.900–4.000 đ (600–750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2.500–4.000 đ/cái (500–800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thiết bị, linh kiện điện tử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2.600–18.200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2.500–18.500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nội thất/TMĐT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520–11.700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600–11.500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Thiết kế – chế tạo khuôn – ép mẫu thử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theo mẫu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5196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Nguyên liệu: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+ vỏ trứng (CaCO3 làm chất độn: giảm chi phí sợi, tăng độ trắng, phẳng; khả năng tăng độ bền đang thử nghiệm).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Nguồn cung: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từ nhà máy đường (~3,3–4 triệu tấn/năm, 25–30% sản lượng mía ép); vỏ trứng từ nhà máy bánh (Bibica dùng ~600 kg/ngày, ~219 tấn/năm).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Kinh tế tuần hoàn: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tận dụng phế phẩm, thay thế hàng tiêu dùng nhựa một lần.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Giá F&amp;B dùng trong dự phóng: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2.500 đồng/cái – cận dưới khung giá.</a:t>
            </a:r>
            <a:endParaRPr lang="vi-V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1.1.2, 1.2.2); ecoeshop.com, HTAECO.com; The PAN Group (2024)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5</a:t>
            </a:fld>
            <a:endParaRPr lang="vi-V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phẩm/FMCG chiếm gần 80% doanh thu; SOM mục tiêu tăng từ 4,3% lên 11% SAM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Cơ cấu 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777240"/>
                <a:gridCol w="86868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Triệu 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CAGR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TAM – bao bì xanh Việt Nam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1.129,8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1.384,5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SAM – bao bì dùng một lần phân hủy sinh học ngành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42,75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4,73%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SOM – doanh thu F&amp;B/FMCG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1,46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26,2%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SOM / SAM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4,3%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11,0%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3657600"/>
            <a:ext cx="544068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Khách hàng mục tiêu: nhà hàng, cà phê, chuỗi F&amp;B, tiệm bánh, nhà máy thực phẩm; nhà sản xuất điện tử, nội thất, TMĐT.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Khu vực: Gia Lai, Đà Nẵng, Đồng Nai, TP.HCM → mở rộng Hà Nội, miền Bắc.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Nỗi đau: áp lực EPR, cần sản phẩm thay thế cùng công năng, nguồn cung và giá ổn định.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IMARC Group (2025); mô hình (Drivers: doanh thu F&amp;B quy đổi USD)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6</a:t>
            </a:fld>
            <a:endParaRPr lang="vi-V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B2B với chuỗi giá trị 7 bước, từ phụ phẩm nông nghiệp đến khách hàng</a:t>
            </a:r>
            <a:endParaRPr lang="vi-VN" sz="2400" dirty="0"/>
          </a:p>
        </p:txBody>
      </p:sp>
      <p:sp>
        <p:nvSpPr>
          <p:cNvPr id="3" name="buoc-1"/>
          <p:cNvSpPr/>
          <p:nvPr/>
        </p:nvSpPr>
        <p:spPr>
          <a:xfrm>
            <a:off x="93268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1</a:t>
            </a:r>
            <a:endParaRPr lang="vi-VN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Thu gom bã mía, vỏ trứng</a:t>
            </a:r>
            <a:endParaRPr lang="vi-VN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7" name="buoc-2"/>
          <p:cNvSpPr/>
          <p:nvPr/>
        </p:nvSpPr>
        <p:spPr>
          <a:xfrm>
            <a:off x="256032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2</a:t>
            </a:r>
            <a:endParaRPr lang="vi-V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Xử lý, chuẩn hóa nguyên liệu</a:t>
            </a:r>
            <a:endParaRPr lang="vi-VN" sz="1200" dirty="0"/>
          </a:p>
        </p:txBody>
      </p:sp>
      <p:sp>
        <p:nvSpPr>
          <p:cNvPr id="10" name="Shape 8"/>
          <p:cNvSpPr/>
          <p:nvPr/>
        </p:nvSpPr>
        <p:spPr>
          <a:xfrm>
            <a:off x="3182112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1" name="buoc-3"/>
          <p:cNvSpPr/>
          <p:nvPr/>
        </p:nvSpPr>
        <p:spPr>
          <a:xfrm>
            <a:off x="4187952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3</a:t>
            </a:r>
            <a:endParaRPr lang="vi-VN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Phối trộn, tạo sợi tự nhiên</a:t>
            </a:r>
            <a:endParaRPr lang="vi-VN" sz="1200" dirty="0"/>
          </a:p>
        </p:txBody>
      </p:sp>
      <p:sp>
        <p:nvSpPr>
          <p:cNvPr id="14" name="Shape 12"/>
          <p:cNvSpPr/>
          <p:nvPr/>
        </p:nvSpPr>
        <p:spPr>
          <a:xfrm>
            <a:off x="4809744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5" name="buoc-4"/>
          <p:cNvSpPr/>
          <p:nvPr/>
        </p:nvSpPr>
        <p:spPr>
          <a:xfrm>
            <a:off x="5815584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558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4</a:t>
            </a:r>
            <a:endParaRPr lang="vi-VN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40096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Thiết kế khuôn</a:t>
            </a:r>
            <a:endParaRPr lang="vi-VN" sz="1200" dirty="0"/>
          </a:p>
        </p:txBody>
      </p:sp>
      <p:sp>
        <p:nvSpPr>
          <p:cNvPr id="18" name="Shape 16"/>
          <p:cNvSpPr/>
          <p:nvPr/>
        </p:nvSpPr>
        <p:spPr>
          <a:xfrm>
            <a:off x="6437376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9" name="buoc-5"/>
          <p:cNvSpPr/>
          <p:nvPr/>
        </p:nvSpPr>
        <p:spPr>
          <a:xfrm>
            <a:off x="7443216" y="1325880"/>
            <a:ext cx="548640" cy="548640"/>
          </a:xfrm>
          <a:prstGeom prst="ellipse">
            <a:avLst/>
          </a:prstGeom>
          <a:solidFill>
            <a:srgbClr val="7B1E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432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5</a:t>
            </a:r>
            <a:endParaRPr lang="vi-VN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67728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Ép khuôn, tạo hình, sấy</a:t>
            </a:r>
            <a:endParaRPr lang="vi-VN" sz="1200" dirty="0"/>
          </a:p>
        </p:txBody>
      </p:sp>
      <p:sp>
        <p:nvSpPr>
          <p:cNvPr id="22" name="Shape 20"/>
          <p:cNvSpPr/>
          <p:nvPr/>
        </p:nvSpPr>
        <p:spPr>
          <a:xfrm>
            <a:off x="8065008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3" name="buoc-6"/>
          <p:cNvSpPr/>
          <p:nvPr/>
        </p:nvSpPr>
        <p:spPr>
          <a:xfrm>
            <a:off x="907084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708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6</a:t>
            </a:r>
            <a:endParaRPr lang="vi-V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Kiểm tra chất lượng</a:t>
            </a:r>
            <a:endParaRPr lang="vi-VN" sz="1200" dirty="0"/>
          </a:p>
        </p:txBody>
      </p:sp>
      <p:sp>
        <p:nvSpPr>
          <p:cNvPr id="26" name="Shape 24"/>
          <p:cNvSpPr/>
          <p:nvPr/>
        </p:nvSpPr>
        <p:spPr>
          <a:xfrm>
            <a:off x="969264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7" name="buoc-7"/>
          <p:cNvSpPr/>
          <p:nvPr/>
        </p:nvSpPr>
        <p:spPr>
          <a:xfrm>
            <a:off x="1069848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984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7</a:t>
            </a:r>
            <a:endParaRPr lang="vi-V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22299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Phân phối trực tiếp B2B</a:t>
            </a:r>
            <a:endParaRPr lang="vi-VN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Đối tác &amp; kênh</a:t>
            </a:r>
            <a:endParaRPr lang="vi-VN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Nhà máy đường (bã mía), nhà máy bánh (vỏ trứng), nhà cung cấp máy ép khuôn, logistics. Bán trực tiếp B2B, website, kênh kết nối doanh nghiệp.</a:t>
            </a:r>
            <a:endParaRPr lang="vi-VN" sz="1400" dirty="0"/>
          </a:p>
        </p:txBody>
      </p:sp>
      <p:sp>
        <p:nvSpPr>
          <p:cNvPr id="33" name="Shape 31"/>
          <p:cNvSpPr/>
          <p:nvPr/>
        </p:nvSpPr>
        <p:spPr>
          <a:xfrm>
            <a:off x="429768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doanh thu</a:t>
            </a:r>
            <a:endParaRPr lang="vi-VN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Bán bao bì thực phẩm/FMCG, đệm bảo vệ điện tử, nội thất/TMĐT theo đơn vị (cái); phí thiết kế và sản xuất khuôn theo dự án. F&amp;B/FMCG chiếm tỷ trọng lớn nhất.</a:t>
            </a:r>
            <a:endParaRPr lang="vi-VN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Cấu trúc chi phí</a:t>
            </a:r>
            <a:endParaRPr lang="vi-V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Giá vốn (nguyên liệu, nhân công sản xuất); chi phí bán hàng &amp; quản lý; tiền lương và phụ cấp. Theo BCTC gốc, SG&amp;A là nhóm chi phí lớn nhất.</a:t>
            </a:r>
            <a:endParaRPr lang="vi-VN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1.3.1, 1.3.2)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7</a:t>
            </a:fld>
            <a:endParaRPr lang="vi-V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Báo cáo tài chính và xác định giai đoạn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tăng 54–59%/năm, năm 2025 lần đầu có lãi và FCF dương → đầu tăng trưởng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8</a:t>
            </a:fld>
            <a:endParaRPr lang="vi-V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tăng gấp 2,45 lần sau hai năm; biên lợi nhuận cải thiện nhờ đòn bẩy hoạt động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thuần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429768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280160"/>
          <a:ext cx="3566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Nghìn đồng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19.438.240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30.928.285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47.546.528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—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59,1%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53,7%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7.243.109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14.514.122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24.264.946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Tổng CP hoạt động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11.437.820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14.874.838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19.702.269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EBITDA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(2.762.511)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2.014.564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7.694.629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(4.194.711)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(360.716)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4.562.677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(4.309.011)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(503.276)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4.420.495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ROE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−25,1%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−2,3%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15,9%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−23,1%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Vòng quay tổng TS (lần)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1,60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4343400"/>
            <a:ext cx="754380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CAGR doanh thu 56,4%/năm, trong khi chi phí hoạt động chỉ tăng 31,3%/năm: lương/doanh thu giảm từ 36,0% xuống 22,6%, thuê mặt bằng/doanh thu từ 20,5% xuống 15,9%.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Biên gộp 51% cao hơn chuẩn ngành sản xuất (25–40%) và doanh nghiệp bao bì giấy lớn (12–16%). Thị phần 0,16% TAM, 4,3% SAM F&amp;B: nhỏ nhưng nhiều dư địa.</a:t>
            </a:r>
            <a:endParaRPr lang="vi-VN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bài), trình bày theo chức năng (70% tiền lương, 90% khấu hao vào giá vốn);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9</a:t>
            </a:fld>
            <a:endParaRPr lang="vi-V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2025 CFO đủ tài trợ CAPEX: FCF chuyển dương lần đầu, không cần vốn mới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CFO, CAPEX và FCF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khấu hao (lần)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3,50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2,65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1,62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Tài sản dài hạn ròng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Nợ phải trả / VCSH (D/E)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hiện hành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nhanh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cuối kỳ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0,04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1,74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794760"/>
            <a:ext cx="534924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2023: "đốt tiền để xây nền tảng" – CFO âm 3,96 tỷ, nhận 8,1 tỷ vốn góp, tiền cuối năm chỉ 44 triệu.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2024: CFO dương nhẹ 0,70 tỷ, vẫn huy động 7 tỷ để mở rộng. 2025: dòng tiền tài chính bằng 0; VCSH tăng nhờ 4,42 tỷ lợi nhuận giữ lại.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Thanh khoản rất cao do gần như không có nợ ngắn hạn – không phải bằng chứng của trưởng thành.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300" i="1" dirty="0">
                <a:solidFill>
                  <a:srgbClr val="7B1E2B"/>
                </a:solidFill>
              </a:rPr>
              <a:t>CAPEX/khấu hao vẫn &gt; 1: doanh nghiệp còn đang mở rộng, chưa chỉ duy trì tài sản.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10</a:t>
            </a:fld>
            <a:endParaRPr lang="vi-V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luận: AgriPack ở giai đoạn đầu tăng trưởng, tỷ lệ thất bại 35–45% (mô hình dùng 40%)</a:t>
            </a:r>
            <a:endParaRPr lang="vi-VN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Tiêu chí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Quan sát từ BCTC 2023–2025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về giai đoạn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so với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DT 47,5 tỷ; An Phát 10.746 tỷ (gấp 226 lần), Đông Hải Bến Tre 3.633 tỷ (gấp 76 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nhỏ, nhiều dư địa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trưởng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 → 30,9 → 47,5 tỷ; +59,1%, +53,7%; CAGR 56,4%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mở rộng thị trường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Sinh lời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Biên gộp 37,3% → 46,9% → 51%; LNST dương lần đầu 2025 (4,42 tỷ, biên 9,3%)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Mới có lãi 1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Hiệu quả tài sản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Vòng quay tổng TS 1,04 → 1,29 → 1,60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lấp đầy công suất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CAPEX/DT 25,8% → 10,7%; CAPEX/KH 3,50x → 1,62x (&gt; 1)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Đầu tư mở rộng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Tự tài trợ, dòng tiền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D/E 7,8% → 6,5%; FCF −8,97 → −5,61 → +1,20 tỷ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Bắt đầu tự chủ, chưa đủ cho nhà máy 2027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2344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Tỷ lệ thất bại theo giai đoạn (đề bài)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229600" y="1508760"/>
          <a:ext cx="3520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023360"/>
            <a:ext cx="3520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Kết luận là cơ sở cho giả định tăng trưởng giảm dần (Mục 4), tỷ lệ thất bại z = 40% trong VC Method và nhu cầu vốn ngoài (Mục 5, 6).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đề bài (Mục III.1); phân tích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11</a:t>
            </a:fld>
            <a:endParaRPr lang="vi-V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tích vĩ mô và phân tích ngành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Cầu bao bì xanh tăng, nhưng thị trường mục tiêu chỉ +4,7%/năm và khách hàng B2B có quyền thương lượng cao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12</a:t>
            </a:fld>
            <a:endParaRPr lang="vi-V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 6 tháng 2026 tăng 8,18%; chi phí năng lượng, vận hành tăng nhanh hơn CPI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Tăng trưởng GDP theo khu vực (% so với cùng kỳ)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Lạm phát 8 tháng 2026 và giả định giá bán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Tăng trưởng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tiêu dùng cuối cùng +8,15%: doanh nghiệp F&amp;B, bán lẻ mở rộng sản lượng → nhu cầu đóng gói, bảo quản, vận chuyển tăng; nhưng đòi hỏi nguồn cung ổn định và công suất phù hợp.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Lạm phát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áp lực nằm ở chi phí thu gom, vận chuyển, sấy, năng lượng hơn là giá bã mía, vỏ trứng; khách hàng B2B cũng chịu áp lực chi phí nên khó chuyển hết chi phí vào giá bán.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Cục Thống kê (2026); VnBusiness (2026); giả định giá bán: mô hình (Drivers)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13</a:t>
            </a:fld>
            <a:endParaRPr lang="vi-V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Lãi suất ổn định, VND chịu áp lực; vốn VC phục hồi 28% năm 2025</a:t>
            </a:r>
            <a:endParaRPr lang="vi-VN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8308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báo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/ cách đưa vào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VND bình quân (6/2026)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8,1–10,5%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nợ Kd = 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Dư nợ tín dụng DNNVV (28/8/2026)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&gt;4,1 triệu tỷ, +12,4%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Startup vẫn khó vay do thiếu tài sản bảo đảm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NATIF hỗ trợ lãi suất (2026)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 lãi vay, ≤ 6%/năm, ≤ 5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Có thể xin cho máy móc công nghệ xanh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liên ngân hàng cuối 8/2026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26.083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Rủi ro chủ yếu khi nhập khẩu máy móc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MBS dự báo cuối 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26.800–27.000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Mô hình: VND mất giá 2%/năm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Lợi suất TPCP 10 năm (01/10/2026)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Vốn đầu tư mạo hiểm vào Việt Nam (triệu USD)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26680" y="1508760"/>
          <a:ext cx="40233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26680" y="4206240"/>
            <a:ext cx="40233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Tổng vốn tư nhân 2025 ~4,5 tỷ USD qua 149 thương vụ; climate tech là xu hướng nổi bật. VC chọn lọc hơn: yếu tố "xanh" không đủ, startup phải chứng minh nguồn nguyên liệu, chi phí, chất lượng và nhu cầu B2B.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NHNN (2026); Thanh tra (2026); NATIF (2026); Tạp chí Kinh tế – Tài chính (2026); MBS; BCG, NIC &amp; VPCA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14</a:t>
            </a:fld>
            <a:endParaRPr lang="vi-V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định mới tăng chi phí tuân thủ nhưng mở rộng cầu bao bì xanh</a:t>
            </a:r>
            <a:endParaRPr lang="vi-VN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Văn bản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Nội dung chính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 (1/7/2026)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tiếp xúc trực tiếp thực phẩm do Bộ Y tế quản lý; phải kiểm nghiệm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kiểm nghiệm, chứng nhận &amp; R&amp;D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NĐ 48/2026/NĐ-CP; NĐ 110/2026/NĐ-CP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Sửa quy định bảo vệ môi trường; trách nhiệm tái chế, xử lý chất thải (EPR)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Cầu chuyển đổi từ khách hàng; thủ tục môi trường cho nhà máy mới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NQ 198/2025/QH15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Miễn thuế TNDN 2 năm, giảm 50% trong 4 năm cho DN khởi nghiệp sáng tạo đủ điều kiện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Không đưa vào kịch bản cơ sở (chưa chứng minh đủ điều kiện)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15% (DT ≤ 3 tỷ), 17% (3–50 tỷ), 20% phổ thông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17% năm 2026, 20% từ 2027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Thuế suất TNDN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955280" y="1508760"/>
          <a:ext cx="3794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4343400"/>
            <a:ext cx="379476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Nếu đủ điều kiện ưu đãi, pre-money chỉ tăng thêm khoảng 3,0 tỷ đồng vì lợi nhuận những năm được ưu đãi còn nhỏ.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Văn bản pháp luật trích trong bài của nhóm (Mục 3.1.6); mô hình (Drivers,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15</a:t>
            </a:fld>
            <a:endParaRPr lang="vi-V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Ngành bao bì sinh học: thị trường mục tiêu tăng 4–5%/năm, AgriPack phải giành thị phần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CAGR so sánh (%/năm)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54864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AgriPack hoạt động trong phân khúc bao bì sinh học từ phụ phẩm nông nghiệp (bã mía, vỏ trứng).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Thị trường bao bì "xanh" Việt Nam: 1.129,79 triệu USD (2025) → 1.628,64 triệu USD (2034), CAGR 4,15% (IMARC).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Phụ phẩm nông nghiệp (rơm rạ, trấu, bã mía, vỏ ngô, vỏ sắn, bã cà phê...) là ngách tiềm năng: giảm phụ thuộc nhựa, nguồn cung dồi dào, phù hợp kinh tế tuần hoàn.</a:t>
            </a:r>
            <a:endParaRPr lang="vi-VN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Loại bao bì sinh học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Đặc điểm, ứng dụng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PLA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tinh bột ngô, mía; nhẹ, trong, dễ tạo hình, phân hủy nhanh – ly, hộp, ống hút, màng bọc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PHA/PHB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vi sinh vật; chịu nhiệt tốt, phân hủy trong đất và nước biển – y tế, nông nghiệp, đông lạnh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Cellulose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Sợi thực vật tự nhiên, độ trong cao – màng bọc, túi thực phẩm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Phụ phẩm nông nghiệp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Tận dụng phụ phẩm, dễ sản xuất hàng loạt – phân khúc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Compostable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Kết hợp nhiều vật liệu sinh học, phân hủy hoàn toàn sau vài tháng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1.1.1, 1.2.1, 3.2.1); IMARC Group (2025); dự phóng: mô hình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16</a:t>
            </a:fld>
            <a:endParaRPr lang="vi-V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động lực tăng trưởng: chính sách, TMĐT và F&amp;B mang đi, nguồn phụ phẩm, công nghệ</a:t>
            </a:r>
            <a:endParaRPr lang="vi-VN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1</a:t>
            </a:r>
            <a:endParaRPr lang="vi-V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Chính sách</a:t>
            </a:r>
            <a:endParaRPr lang="vi-VN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EPR, ESG, Net Zero 2050, Luật BVMT 2020, NĐ 08/2022, NĐ 110/2026 buộc F&amp;B, FMCG chuyển sang bao bì thân thiện; QĐ 540/QĐ-TTg, QĐ 882/QĐ-TTg khuyến khích tái sử dụng phụ phẩm.</a:t>
            </a:r>
            <a:endParaRPr lang="vi-VN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2</a:t>
            </a:r>
            <a:endParaRPr lang="vi-VN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TMĐT, F&amp;B mang đi</a:t>
            </a:r>
            <a:endParaRPr lang="vi-V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TMĐT +18%/năm (2021–2024), 38,5 tỷ USD năm 2025, ~60% dân số mua online. F&amp;B 726.500 → 760.000 tỷ đồng (2025 → 2026), ~333.600 điểm bán; đồ ăn online 2,1 tỷ USD.</a:t>
            </a:r>
            <a:endParaRPr lang="vi-VN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3</a:t>
            </a:r>
            <a:endParaRPr lang="vi-V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phụ phẩm</a:t>
            </a:r>
            <a:endParaRPr lang="vi-VN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~160 triệu tấn phụ phẩm nông nghiệp/năm, chỉ 10–35% được tái chế → đầu vào rẻ, dồi dào; lợi thế nguồn bã mía của AgriPack.</a:t>
            </a:r>
            <a:endParaRPr lang="vi-VN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0215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0215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4</a:t>
            </a:r>
            <a:endParaRPr lang="vi-VN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Công nghệ</a:t>
            </a:r>
            <a:endParaRPr lang="vi-V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Ép khuôn bột bã mía, wet press thermoforming, lớp chống dầu/nước không chứa PFAS; AgriPack dùng vỏ trứng tăng tính cơ học.</a:t>
            </a:r>
            <a:endParaRPr lang="vi-VN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23444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Phụ phẩm nông nghiệp phát sinh mỗi năm (triệu tấn)</a:t>
            </a:r>
            <a:endParaRPr lang="vi-V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00800" y="1508760"/>
          <a:ext cx="5349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6400800" y="457200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Lưu ý: 15 triệu tấn bã mía là số liệu Tổng cục Thống kê trong bài của nhóm; Mục 1 dùng ước tính 3,3–4 triệu tấn (25–30% sản lượng mía ép) – nhóm cần thống nhất.</a:t>
            </a:r>
            <a:endParaRPr lang="vi-VN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3.2.2); Tổng cục Thống kê; nhóm "khác" = 160 trừ ba loại đã nêu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17</a:t>
            </a:fld>
            <a:endParaRPr lang="vi-V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Cạnh tranh cao: đối thủ lớn có công suất 54–108 nghìn tấn/năm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Công suất đã công bố (nghìn tấn/năm)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3360"/>
            <a:ext cx="42062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1 – nội địa quy mô lớn: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AnEco, HAPBIO – lợi thế vốn, công suất, hệ thống khách hàng.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2 – khởi nghiệp phụ phẩm: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BioWraps, AIRX Coffee, Hapobe.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Lợi thế AgriPack: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bã mía + vỏ trứng tăng độ bền; dịch vụ thiết kế – làm khuôn theo dự án; đặt tại Gia Lai gần vùng mía, giảm chi phí logistics.</a:t>
            </a:r>
            <a:endParaRPr lang="vi-VN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80160"/>
          <a:ext cx="68122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83080"/>
                <a:gridCol w="21488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Đối thủ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mạnh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yếu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An Phát Holdings (AnEco)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cốc, khay, dao thìa sinh học từ PLA/PBAT/PBS và bã mía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Tiên phong nhựa sinh học; TTS 11.953 tỷ; DT 2025 10.741 tỷ; 9.000 tấn/tháng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Chi phí vận hành cao; giá cao, ít linh hoạt với đơn nhỏ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HAPBIO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bao bì tự phân hủy từ bột ngô, sắn, PBAT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Thuộc Haplast; BPI, OK Compost; 54.000 tấn/năm; XK 600 tấn, 2 triệu USD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 do dùng tinh bột nguyên liệu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BioWraps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trái cây, kháng khuẩn nano bạc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Ra mắt 2025; &gt;70 đối tác, &gt;250 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cao; quy mô hạn chế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AIRX Coffee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Cốc, thìa, dĩa từ bã cà phê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lập 2019; 1 triệu ly; 50% xuất khẩu; 3.000–4.000 tấn/năm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Phụ thuộc thu gom phụ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Long Bioplastic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trấu, cà phê, ngô sắn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Nhà máy Bắc Ninh 20.000 tấn/năm, kế hoạch 43.000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R&amp;D cần mở rộng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Hapobe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Khay, hộp bã mía, mo cau; thiết kế bao bì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Danh mục phụ phẩm đa dạng, thiết kế theo nhu cầu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Quy mô nhỏ, chưa chuyên môn hóa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Bảng đối thủ của nhóm (Mục 3.2.3; Fig. A04 trong report)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18</a:t>
            </a:fld>
            <a:endParaRPr lang="vi-V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Rào cản gia nhập, sản phẩm thay thế và quyền thương lượng của khách hàng đều ở mức cao</a:t>
            </a:r>
            <a:endParaRPr lang="vi-VN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Mức độ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Cạnh tranh nội bộ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bán tăng 2%/năm (&lt; CPI)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gia nhập (vốn, công nghệ – chứng nhận, thương hiệu – mạng lưới B2B)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65% DT năm 2027; kiểm nghiệm, chứng nhận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Nguồn cung nguyên liệu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Dồi dào, chi phí thấp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 biến đổi 25,0% → 27,0% DT do thu gom, năng lượng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Khách hàng B2B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DSO 14 → 30 ngày; giá bám đối thủ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 – 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Kịch bản Bear: sản lượng 70% Base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58521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Khách hàng mua số lượng lớn, có nhiều lựa chọn thay thế nên dễ so sánh, chuyển đổi nhà cung cấp.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Tiêu chí: giá, độ bền, chống thấm dầu/nước, an toàn thực phẩm và chứng nhận (F&amp;B); chống va đập, chính xác kích thước (điện tử, nội thất, TMĐT).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Ổn định nguồn cung, đồng đều chất lượng giữa các lô là điều kiện bắt buộc – rào cản với startup.</a:t>
            </a:r>
            <a:endParaRPr lang="vi-VN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66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Áp lực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truyền thống, hộp xốp dùng một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Giấy, carton, kraft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sinh học (PLA, PHA)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tái chế (rPET, PCR)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Bioplastic phối trộn (PLA/PBAT)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bảo vệ (EPE/PE Foam)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sinh học (sợi nấm, tinh bột)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giấy tổ ong/giấy nhún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vật liệu sinh học khác (bã cà phê, trấu, rơm rạ, vỏ dừa)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3.2.3–3.2.6); cách phản ánh trong mô hình: Drivers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19</a:t>
            </a:fld>
            <a:endParaRPr lang="vi-V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Lập dự phóng pro forma 5 năm (2026E–2030E)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170,3 tỷ năm 2030; CAPEX 65% doanh thu năm 2027; FCFF âm ba năm liền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20</a:t>
            </a:fld>
            <a:endParaRPr lang="vi-V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vĩ mô và ngành được chuyển thành giả định cụ thể trong mô hình</a:t>
            </a:r>
            <a:endParaRPr lang="vi-VN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37560"/>
                <a:gridCol w="914400"/>
                <a:gridCol w="960120"/>
                <a:gridCol w="960120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 vĩ mô/ngành (mục)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GDP +8,18%, tiêu dùng +8,15% (3.1.1); TMĐT +18%/năm, F&amp;B 760.000 tỷ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sản lượng hộp/khay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TMĐT, nội thất xuất khẩu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diện tích đệm nội thất/TMĐT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CPI +4,45%; khách hàng B2B có quyền thương lượng cao (3.1.2, 3.2.6)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giá bán F&amp;B và khuôn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thu gom, vận chuyển, sấy, năng lượng tăng (3.1.2)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biến đổi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Lương tối thiểu vùng +7,2% từ 01/2026 (NĐ 293/2025)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lương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27/2026/TT-BYT; rào cản chứng nhận (3.1.6.1, 3.2.4)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Kiểm nghiệm, chứng nhận &amp; R&amp;D /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vốn đầu tư (3.2.4); đề bài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8,1–10,5% (3.1.3)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vay Kd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 (3.1.6.3)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TNDN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giá: MBS 26.800–27.000 cuối 2026 (3.1.4)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USD/VND bình quân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26.300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28.468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TPCP 10 năm ngày 01/10/2026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chọn lọc hơn (3.1.5); đầu tăng trưởng (Mục 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lệ thất bại z (VC Method)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Mục 1–3; giá trị giả định: mô hình (Drivers, VCM, Discount rate)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21</a:t>
            </a:fld>
            <a:endParaRPr lang="vi-V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= sản lượng × giá bán theo bốn phân khúc: 47,5 tỷ (2025) lên 170,3 tỷ (2030)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0350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83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94360"/>
                <a:gridCol w="594360"/>
                <a:gridCol w="594360"/>
                <a:gridCol w="59436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Giả định (Base)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SL hộp/khay F&amp;B (triệu cái)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24,5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SL F&amp;B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số bộ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NT/TMĐT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điện tử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F&amp;B,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đệm bảo vệ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Doanh thu thuần (tỷ)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79,7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38,5%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766560" y="4434840"/>
            <a:ext cx="49834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F&amp;B tăng 32% (2026) nhờ thêm máy ép, chậm lại 22% khi nhà máy mới đang xây, +35% năm 2028 khi hai dây chuyền mới vận hành, rồi về 17% năm 2030. Tăng trưởng thấp hơn 54–59% của 2024–2025 vì nền lớn hơn và SAM chỉ +4–5%/năm.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kịch bản Base)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22</a:t>
            </a:fld>
            <a:endParaRPr lang="vi-V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gộp giảm năm 2028 khi nhà máy mới chạy; biên EBITDA tăng đều lên 20,2%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79,7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vốn hàng bán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(23,3)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(30,7)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(39,5)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(60,9)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(75,0)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(89,3)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49,5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44,8%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CPBH &amp; QLDN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(19,7)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(31,3)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(43,2)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(52,8)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(61,4)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19,7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5,8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Ghi nhớ: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26,9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34,4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4434840"/>
            <a:ext cx="5897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Năm 2028 khấu hao tăng từ 5,3 lên 11,5 tỷ trong khi công suất chưa lấp đầy, chi phí biến đổi 27% do hao hụt chạy thử → LNST còn 2,4 tỷ, rồi tăng lên 13,9 tỷ năm 2030. 70% tiền lương, 90% khấu hao được tính vào giá vốn.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bài, trình bày lại theo chức năng); mô hình (Drivers, Income Statement)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23</a:t>
            </a:fld>
            <a:endParaRPr lang="vi-V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bằng 65% doanh thu năm 2027 khiến FCFF âm 4,9 → 42,6 → 3,7 tỷ trước khi dương từ 2029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CAPEX và khấu hao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FCFF (tỷ đồng; 2025A = CFO − CAPEX)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Tỷ lệ tái đầu tư: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20% (2026: máy ép, xe tải, kho), 65% (2027: hai dây chuyền ép khuôn – sấy, kho bã mía, phòng kiểm nghiệm), 12% (2028: hoàn thiện, chạy thử), 10% (2029–2030).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So với ngành: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trung vị CAPEX/DT của 16 DN bao bì niêm yết 3,1%, P75 8,3%; AgriPack cần cao hơn vì vẫn tăng 17–28%/năm và khấu hao chiếm 8,7–10,4% DT (ngành 3,0%).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2030: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tỷ lệ tái đầu tư NOPAT 36,0% = g / ROIC 2030 cho tăng trưởng 5%/năm. Tổng FCFF 2026–2030 âm 38,9 tỷ.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DCF); FiinX – 16 DN bao bì niêm yết, bình quân 2023–2025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24</a:t>
            </a:fld>
            <a:endParaRPr lang="vi-V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Vốn cổ phần 2026 và khoản vay 2027 tài trợ nhà máy; ROIC 2030 (13,9%) vẫn dưới WACC</a:t>
            </a:r>
            <a:endParaRPr lang="vi-VN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309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Tiền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35,5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Phải thu khách hàng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Hàng tồn kho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Tài sản dài hạn ròng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76,9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78,7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79,8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82,0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Tổng tài sản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76,4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119,5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127,6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Nợ vay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chủ sở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74,2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82,4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105,0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CFO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(5,1)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(51,8)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(13,2)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(14,2)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góp cổ phần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(trả) nợ dài hạn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040880" y="12344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ROIC và WACC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040880" y="1508760"/>
          <a:ext cx="4709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040880" y="4297680"/>
            <a:ext cx="470916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ROIC: 12,7% (2025) → 16,7% (2026) → 8,0% → 5,1% (2028) → 10,4% → 13,9% (2030); WACC 14,1%. Vốn lưu động tăng từ 15% lên 18% doanh thu (tồn kho 95–105 ngày cho mùa ép bã mía, DSO 14 → 30 ngày). Nợ vay lên 41% VCSH năm 2027 rồi giảm khi trả gốc từ 2029. Khoản đầu tư 2027 chỉ vừa bù chi phí vốn trong 5 năm dự phóng.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bài); mô hình (Balance Sheet, Cash Flow Statement, DCF)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25</a:t>
            </a:fld>
            <a:endParaRPr lang="vi-V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Cầu là nhân tố mạnh nhất: sản lượng ±20% làm pre-money thay đổi −26,2 / +30,6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Chênh lệch pre-money so với mức cơ sở 26,5 tỷ đồng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675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280160"/>
            <a:ext cx="434340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Sản lượng chỉ bằng 80% tốc độ cơ sở: doanh thu 2030 còn 137,3 tỷ, LNST 6,6 tỷ, pre-money giảm 26,2 tỷ – chi phí cố định và khấu hao nhà máy mới không giảm theo sản lượng.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Chi phí nhân sự hoặc biến đổi ±1 điểm % DT: ±8,1–10,2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bán, lãi suất, CRP ±1 điểm %: chỉ ±4,4–6,8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Ưu đãi thuế NQ 198: +3,0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Chỉ báo cần theo dõi sát nhất: sản lượng hộp, khay F&amp;B và mức lấp đầy nhà máy mới.</a:t>
            </a:r>
            <a:endParaRPr lang="vi-VN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(Summary): tính lại toàn bộ mô hình với từng nhân tố ở mức bất lợi và thuận lợi, các giả định khác giữ nguyên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26</a:t>
            </a:fld>
            <a:endParaRPr lang="vi-V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Định giá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DCF 28,4 · VC Method 24,0 · Multiples 27,7 tỷ → pre-money bình quân 26,5 tỷ đồng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27</a:t>
            </a:fld>
            <a:endParaRPr lang="vi-V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14,1%: Rf là lợi suất TPCP 10 năm hiện hành, beta tổng 1,48</a:t>
            </a:r>
            <a:endParaRPr lang="vi-VN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Thành phần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Rf – TPCP 10 năm, ngày 01/10/2026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ERP thị trường phát triển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4,23%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+ CRP Việt Nam (ước tính, Ba2)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3,90%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ERP Việt Nam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8,13%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βu ngành bao bì (Damodaran)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0,78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D/E mục tiêu (2027E)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 có đòn bẩy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÷ ρ (đa dạng hóa một phần)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Total beta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1,48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Ke = Rf + β × ERP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16,6%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Kd trước / sau thuế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10% / 8%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trọng E / D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71% / 29%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280160"/>
            <a:ext cx="62636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Chọn phương pháp.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– AgriPack đã có 3 năm doanh thu, EBITDA dương và kế hoạch đầu tư cụ thể; VC Method – góc nhìn nhà đầu tư, dùng trực tiếp tỷ lệ thất bại; Multiples – neo vào giá thị trường của 14 DN bao bì niêm yết.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Trọng số 40/40/20.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Multiples thấp nhất vì mẫu so sánh lớn, trưởng thành và bội số áp lên số liệu 2025 chỉ phản ánh quy mô hiện tại.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Rf.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Dùng lợi suất ngày 01/10/2026 (4,588%) để chi phí vốn phản ánh mặt bằng lãi suất hiện tại; bình quân 2016–2025 là 3,92% (dao động 2,1–6,9%) chỉ để đối chiếu.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Rủi ro thất bại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cộng vào WACC mà xử lý riêng trong VC Method, tránh tính hai lần.</a:t>
            </a:r>
            <a:endParaRPr lang="vi-VN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(Discount rate); Damodaran (2026); Moody's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28</a:t>
            </a:fld>
            <a:endParaRPr lang="vi-V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cho pre-money 28,4 tỷ; giá trị cuối kỳ bằng 222% EV vì FCFF 2026–2028 âm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Cầu nối DCF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TV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NOPAT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 Khấu hao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Tăng vốn lưu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(51,8)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(13,2)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(14,2)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FCFF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(4,9)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(42,6)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(3,7)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115,9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Hệ số chiết khấu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0,876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0,768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0,673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0,590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0,517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0,517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trị hiện tại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59,9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3840480"/>
            <a:ext cx="58978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cuối kỳ = FCFF 2031/(WACC − g), g = 5%; FCFF 2031 chuẩn hóa chỉ giữ lại phần tái đầu tư g/RONIC (RONIC = ROIC 2030 13,9%).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WACC, g ±1 điểm %: DCF 20,2–39,9 tỷ. Tương đương EV/EBITDA 2025 khoảng 3,5 lần, thấp hơn trung vị ngành 4,6 lần.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(DCF, Discount rate); chiết khấu cuối năm, t0 = 01/01/2026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29</a:t>
            </a:fld>
            <a:endParaRPr lang="vi-V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VC Method: chiết khấu theo p = 26,4% cho pre-money 24,0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Từ giá trị thoái vốn đến 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Bước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LNST 2030E × P/E 9,4 lần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130,2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EBITDA 2030E × EV/EBITDA 8,0 lần + tiền − nợ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267,2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Giá trị thoái vốn 2030 (bình quân)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198,7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lệ thất bại z (đầu tăng trưởng)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WACC r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 = (1 + r)/(1 − z)^(1/5) − 1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26,4%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Post-money = thoái vốn/(1 + p)^5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61,6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− Vốn cổ phần cần huy động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Pre-money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24,0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4572000"/>
            <a:ext cx="53492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Phần p cao hơn WACC là khoản bù cho rủi ro thất bại. Nhà đầu tư mới sẽ nắm khoảng 61% cổ phần. Hai bội số thoái vốn là bình quân 2026 ngành Containers &amp; Packaging (FiinX).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(VCM); FiinX (giá đóng cửa 28/9/2026)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30</a:t>
            </a:fld>
            <a:endParaRPr lang="vi-V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Multiples trên số liệu 2025A: pre-money 27,7 tỷ sau chiết khấu thanh khoản 30%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EV/EBITDA 4 quý gần nhất của 14 DN bao bì niêm yết (lần)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96012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tính (chỉ tiêu 2025A)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Bội số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Trước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Sau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7,99x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62,8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44,0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7,13x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9,43x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Bình quân 4 cách (pre-money)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27,7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Loại MCP (P/E 84 lần do lợi nhuận quá thấp) và PBT (doanh nghiệp thương mại). Trung vị EV/EBITDA 4,63 lần, P/E 7,1 lần; bình quân ngành 2026: 7,99 và 9,43 lần.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Áp lên EBITDA 2025 7,7 tỷ và LNST chuẩn hóa thuế 20% là 3,54 tỷ; không dùng số liệu 2026 vì EBITDA 2026 chỉ đạt được nhờ khoản vốn đang cần gọi.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FiinX (giá đóng cửa 28/9/2026; BCTC 4 quý gần nhất đến Q2/2026); mô hình (Multiples)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31</a:t>
            </a:fld>
            <a:endParaRPr lang="vi-V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phương pháp hội tụ quanh 23–28 tỷ khi cùng tính rủi ro thất bại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807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777240"/>
                <a:gridCol w="777240"/>
                <a:gridCol w="91440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Cơ sở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Xấu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vốn CP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Vay 75%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116,9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LNST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FCFF 2026–30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(48,9)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(29,3)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CP cần huy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48,2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DCF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(48,7)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98,6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24,0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(28,7)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66,8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Bình quân gia quyền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(25,4)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71,7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892040"/>
            <a:ext cx="1129284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DCF cao hơn VC Method 4,4 tỷ vì DCF giả định chắc chắn thành công; DCF × 60% sống sót + 40% thanh lý (15,0 tỷ) = 23,0 tỷ.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Pre-money 26,5 tỷ ≈ 0,88 lần VCSH, P/E 2025 7,5 lần, EV/EBITDA 3,3 lần: chưa trả thêm cho tăng trưởng.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Kịch bản xấu (sản lượng 70% Base) cho giá trị âm; kịch bản tốt 71,7 tỷ; không vay: 22,7 tỷ.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 – chạy lại toàn bộ mô hình cho từng phương án); Multiples không đổi giữa các phương án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32</a:t>
            </a:fld>
            <a:endParaRPr lang="vi-V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phù hợp và hạn chế của từng phương pháp trong trường hợp AgriPack</a:t>
            </a:r>
            <a:endParaRPr lang="vi-VN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3108960"/>
                <a:gridCol w="3154680"/>
                <a:gridCol w="822960"/>
              </a:tblGrid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Vì sao phù hợp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Hạn chế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Cách xử lý trong mô hình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Trọng số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DCF (FCFF)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Đã có 3 năm doanh thu, EBITDA dương, kế hoạch đầu tư cụ thể; cho giá trị khi hoạt động đúng dự phóng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Giá trị cuối kỳ bằng 222% EV; nhạy với WACC và g; chưa tính khả năng thất bại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Giữ công thức TV của file mẫu, chuẩn hóa FCFF 2031 với RONIC = ROIC 2030; beta tổng; đối chiếu DCF × xác suất sống sót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Góc nhìn nhà đầu tư mạo hiểm; dùng trực tiếp tỷ lệ thất bại của đề bài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Phụ thuộc bội số thoái vốn và năm thoái vốn 2030; P/E và EV/EBITDA cho giá trị chênh gấp đôi (130 và 267 tỷ)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Bình quân hai bội số; p theo công thức giáo trình; độ nhạy z 35–45%, thoái vốn ±15%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Multiples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Neo vào giá thị trường của DN bao bì niêm yết, dễ kiểm chứng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Mẫu so sánh lớn, trưởng thành (DT trung vị ~1.400 tỷ); bội số quá khứ bỏ qua tăng trưởng; DLOM 30% là ước lượng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Dùng số liệu 2025; chuẩn hóa thuế 20%; loại MCP, PBT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của nhóm; số liệu: mô hình (DCF, VCM,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33</a:t>
            </a:fld>
            <a:endParaRPr lang="vi-V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Kế hoạch huy động vốn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Nhu cầu vốn cổ phần 37,61 tỷ đồng năm 2026 cho nhà máy mới năm 2027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34</a:t>
            </a:fld>
            <a:endParaRPr lang="vi-V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gọi 37,6 tỷ vốn cổ phần: thiếu hụt tiền mặt lớn nhất 34,2 tỷ (2030) cộng 10% dự phòng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Thiếu hụt so với tiền mặt tối thiểu 5% DT, trước khi gọi vốn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Thiếu hụt lớn nhất (2030E)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34,2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Dự phòng 10%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cổ phần cần huy động (2026)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trung hạn/xanh 2027 (60% CAPEX nhà máy)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31,1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vốn bên ngoài 2026–2027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68,7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Pre-money (bình quân 40/40/20)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Post-money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64,1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Sở hữu NĐT mới / cổ đông hiện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58,7% / 41,3%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1280160"/>
            <a:ext cx="5486400" cy="4709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BCTC 2023–2025 cho thấy giai đoạn đầu tăng trưởng – thời điểm phù hợp để mở rộng: CAGR doanh thu 56,4%, vòng quay tổng tài sản 1,04 → 1,6 lần, CFO 6,28 tỷ đủ tài trợ CAPEX 2025, FCF dương 1,2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Năm 2027, 60% CAPEX của dự án mở rộng được tài trợ bằng vay trung hạn/xanh (~31,1 tỷ). Khoản vay cùng CFO 7,8 tỷ không đủ bù CAPEX 51,83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CFO tăng hằng năm nhưng không bù được dòng tiền ra lớn từ CAPEX (2026–2028) và trả nợ vay (từ 2029): tiền mặt cuối kỳ cả 5 năm đều âm nếu không gọi thêm vốn.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Để giữ tiền mặt tối thiểu 5% doanh thu, nhu cầu vốn 5 năm là ~34,2 tỷ; cộng dự phòng 10% → ~37,61 tỷ.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6.1); mô hình (Pro Forma,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35</a:t>
            </a:fld>
            <a:endParaRPr lang="vi-V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Câu hỏi Bonus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Định giá khi doanh nghiệp chưa có doanh thu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36</a:t>
            </a:fld>
            <a:endParaRPr lang="vi-V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giá trị thoái vốn, tỷ lệ thất bại cao làm post-money giảm hơn một nửa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Post-money theo giai đoạn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97680"/>
            <a:ext cx="512064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Khi chưa có doanh thu, DCF gần như mất cơ sở và bội số không áp dụng được: dùng VC Method làm phương pháp chính, trình bày kết quả thành khoảng rộng và giải ngân theo từng mốc.</a:t>
            </a:r>
            <a:endParaRPr lang="vi-VN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9776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cần có và cách dùng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Method (z ươm mầm, thử nghiệm)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trị thoái vốn 2030, z 57,5–72,5%, WACC; dùng lại mô hình, chỉ đổi z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Scorecard (Payne)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Pre-money trung vị vòng hạt giống cùng ngành; chấm điểm đội ngũ, thị trường, sản phẩm, cạnh tranh, kênh bán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Berkus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Mức trần cho 5 cột mốc: ý tưởng, mẫu thử, đội ngũ, quan hệ chiến lược, đơn hàng đầu tiên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Risk factor summation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Cộng, trừ theo 12 nhóm rủi ro (công nghệ, pháp lý, cạnh tranh, nguồn cung...)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tái tạo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R&amp;D công thức, khuôn mẫu, dây chuyền thử, chứng nhận; là cận dưới của 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52160" y="4800600"/>
            <a:ext cx="589788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Giả định cần có: TAM theo IMARC và thị phần mục tiêu kiểm chứng được; mẫu đã qua kiểm nghiệm theo TT 27/2026/TT-BYT; thư ý định mua của chuỗi F&amp;B; chi phí dây chuyền thử, hợp đồng thu mua bã mía; đội ngũ có kinh nghiệm bột giấy đúc; bội số và thời điểm thoái vốn.</a:t>
            </a:r>
            <a:endParaRPr lang="vi-VN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Minh họa trên mô hình (VCM); Damodaran (2009); Payne (2011); Berkus (2016)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37</a:t>
            </a:fld>
            <a:endParaRPr lang="vi-V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Pre-money 26,5 tỷ đồng (15,8–40,4 tỷ)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Gọi 37,6 tỷ vốn cổ phần năm 2026, nhà đầu tư mới nắm khoảng 59%; vay thêm 31,1 tỷ năm 2027 cho nhà máy mới.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Tín hiệu cảnh báo sớm: sản lượng F&amp;B 2026 tăng dưới 25%, chưa có chứng nhận vật liệu tiếp xúc thực phẩm trước Q2/2027, nhà máy mới chưa vận hành trước 31/12/2027.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38</a:t>
            </a:fld>
            <a:endParaRPr lang="vi-V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tài chính dự phóng và bảng độ nhạy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39</a:t>
            </a:fld>
            <a:endParaRPr lang="vi-V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lục: độ nhạy DCF và VC Method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(dòng) × g (cột)</a:t>
            </a:r>
            <a:endParaRPr lang="vi-VN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3,0%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4,0%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5,0%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6,0%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7,0%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46,3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48,7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55,1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59,8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41,8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28,4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VC Method: z × thay đổi giá trị thoái vốn</a:t>
            </a:r>
            <a:endParaRPr lang="vi-VN" sz="1200" dirty="0"/>
          </a:p>
        </p:txBody>
      </p:sp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z \ Exit value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34,3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55,8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24,0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42,5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18,9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(1,7)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× RONIC</a:t>
            </a:r>
            <a:endParaRPr lang="vi-VN" sz="1200" dirty="0"/>
          </a:p>
        </p:txBody>
      </p:sp>
      <p:graphicFrame>
        <p:nvGraphicFramePr>
          <p:cNvPr id="1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RONIC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9,9%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11,9%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13,9%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15,9%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17,9%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57,4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62,1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31,7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43,4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47,2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28,4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24,2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57200" y="3794760"/>
            <a:ext cx="112928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DCF nhạy với WACC hơn g vì dòng tiền dương đến muộn.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thoái vốn ±15% làm VC Method thay đổi khoảng 9 tỷ; với z = 45%, pre-money theo VC Method còn 18,9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RONIC thấp hơn ROIC 2030 hai điểm % làm DCF giảm 5,7 tỷ.</a:t>
            </a:r>
            <a:endParaRPr lang="vi-VN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(Sensitivity – mỗi ô tính lại toàn bộ DCF/VCM); ô tô đậm = kết quả cơ sở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40</a:t>
            </a:fld>
            <a:endParaRPr lang="vi-V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Pack">
  <a:themeElements>
    <a:clrScheme name="AgriPack">
      <a:dk1>
        <a:srgbClr val="1F1F1F"/>
      </a:dk1>
      <a:lt1>
        <a:srgbClr val="FFFFFF"/>
      </a:lt1>
      <a:dk2>
        <a:srgbClr val="7B1E2B"/>
      </a:dk2>
      <a:lt2>
        <a:srgbClr val="F7F4F4"/>
      </a:lt2>
      <a:accent1>
        <a:srgbClr val="7B1E2B"/>
      </a:accent1>
      <a:accent2>
        <a:srgbClr val="404040"/>
      </a:accent2>
      <a:accent3>
        <a:srgbClr val="A3A3A3"/>
      </a:accent3>
      <a:accent4>
        <a:srgbClr val="D0D0D0"/>
      </a:accent4>
      <a:accent5>
        <a:srgbClr val="B08D57"/>
      </a:accent5>
      <a:accent6>
        <a:srgbClr val="5C1520"/>
      </a:accent6>
      <a:hlink>
        <a:srgbClr val="7B1E2B"/>
      </a:hlink>
      <a:folHlink>
        <a:srgbClr val="5C1520"/>
      </a:folHlink>
    </a:clrScheme>
    <a:fontScheme name="AgriP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Nhóm AgriPack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CTCP AgriPack – Báo cáo phân tích, dự phóng và định giá</dc:title>
  <dc:subject>PptxGenJS Presentation</dc:subject>
  <dc:creator>Nhóm AgriPack</dc:creator>
  <cp:lastModifiedBy>Nhóm AgriPack</cp:lastModifiedBy>
  <cp:revision>1</cp:revision>
  <dcterms:created xsi:type="dcterms:W3CDTF">2026-10-06T12:37:53Z</dcterms:created>
  <dcterms:modified xsi:type="dcterms:W3CDTF">2026-10-06T12:37:53Z</dcterms:modified>
</cp:coreProperties>
</file>