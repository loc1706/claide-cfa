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16.xml" ContentType="application/vnd.openxmlformats-officedocument.drawingml.chart+xml"/>
  <Override PartName="/ppt/charts/chart17.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1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0.xml" ContentType="application/vnd.openxmlformats-officedocument.drawingml.chart+xml"/>
  <Override PartName="/ppt/charts/chart2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7559985" cy="10691988"/>
  <p:notesSz cx="10691988" cy="755998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Doanh thu thuần</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7B1E2B"/>
              </a:solidFill>
              <a:effectLst/>
            </c:spPr>
          </c:dPt>
          <c:dPt>
            <c:idx val="1"/>
            <c:invertIfNegative val="0"/>
            <c:bubble3D val="0"/>
            <c:spPr>
              <a:solidFill>
                <a:srgbClr val="7B1E2B"/>
              </a:solidFill>
              <a:effectLst/>
            </c:spPr>
          </c:dPt>
          <c:dPt>
            <c:idx val="2"/>
            <c:invertIfNegative val="0"/>
            <c:bubble3D val="0"/>
            <c:spPr>
              <a:solidFill>
                <a:srgbClr val="7B1E2B"/>
              </a:solidFill>
              <a:effectLst/>
            </c:spPr>
          </c:dPt>
          <c:dPt>
            <c:idx val="3"/>
            <c:invertIfNegative val="0"/>
            <c:bubble3D val="0"/>
            <c:spPr>
              <a:solidFill>
                <a:srgbClr val="C9939B"/>
              </a:solidFill>
              <a:effectLst/>
            </c:spPr>
          </c:dPt>
          <c:dPt>
            <c:idx val="4"/>
            <c:invertIfNegative val="0"/>
            <c:bubble3D val="0"/>
            <c:spPr>
              <a:solidFill>
                <a:srgbClr val="C9939B"/>
              </a:solidFill>
              <a:effectLst/>
            </c:spPr>
          </c:dPt>
          <c:dPt>
            <c:idx val="5"/>
            <c:invertIfNegative val="0"/>
            <c:bubble3D val="0"/>
            <c:spPr>
              <a:solidFill>
                <a:srgbClr val="C9939B"/>
              </a:solidFill>
              <a:effectLst/>
            </c:spPr>
          </c:dPt>
          <c:dPt>
            <c:idx val="6"/>
            <c:invertIfNegative val="0"/>
            <c:bubble3D val="0"/>
            <c:spPr>
              <a:solidFill>
                <a:srgbClr val="C9939B"/>
              </a:solidFill>
              <a:effectLst/>
            </c:spPr>
          </c:dPt>
          <c:dPt>
            <c:idx val="7"/>
            <c:invertIfNegative val="0"/>
            <c:bubble3D val="0"/>
            <c:spPr>
              <a:solidFill>
                <a:srgbClr val="C9939B"/>
              </a:solidFill>
              <a:effectLst/>
            </c:spPr>
          </c:dPt>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Sheet1!$B$2:$B$9</c:f>
              <c:numCache>
                <c:formatCode>General</c:formatCode>
                <c:ptCount val="8"/>
                <c:pt idx="0">
                  <c:v>19.4</c:v>
                </c:pt>
                <c:pt idx="1">
                  <c:v>30.9</c:v>
                </c:pt>
                <c:pt idx="2">
                  <c:v>47.5</c:v>
                </c:pt>
                <c:pt idx="3">
                  <c:v>63.7</c:v>
                </c:pt>
                <c:pt idx="4">
                  <c:v>81.4</c:v>
                </c:pt>
                <c:pt idx="5">
                  <c:v>100.4</c:v>
                </c:pt>
                <c:pt idx="6">
                  <c:v>139.3</c:v>
                </c:pt>
                <c:pt idx="7">
                  <c:v>178.9</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Biên EBITDA (%)</c:v>
                </c:pt>
              </c:strCache>
            </c:strRef>
          </c:tx>
          <c:spPr>
            <a:solidFill>
              <a:srgbClr val="7B1E2B"/>
            </a:solidFill>
            <a:ln w="19050" cap="flat">
              <a:solidFill>
                <a:srgbClr val="7B1E2B"/>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dLblPos val="t"/>
            <c:showLegendKey val="0"/>
            <c:showVal val="1"/>
            <c:showCatName val="0"/>
            <c:showSerName val="0"/>
            <c:showPercent val="0"/>
            <c:showBubbleSize val="0"/>
            <c:showLeaderLines val="0"/>
          </c:dLbls>
          <c:marker>
            <c:symbol val="circle"/>
            <c:size val="4"/>
            <c:spPr>
              <a:solidFill>
                <a:srgbClr val="7B1E2B"/>
              </a:solidFill>
              <a:ln w="9525" cap="flat">
                <a:solidFill>
                  <a:srgbClr val="7B1E2B"/>
                </a:solidFill>
                <a:prstDash val="solid"/>
                <a:round/>
              </a:ln>
              <a:effectLst/>
            </c:spPr>
          </c:marker>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Sheet1!$B$2:$B$9</c:f>
              <c:numCache>
                <c:formatCode>General</c:formatCode>
                <c:ptCount val="8"/>
                <c:pt idx="0">
                  <c:v>-14.2</c:v>
                </c:pt>
                <c:pt idx="1">
                  <c:v>6.5</c:v>
                </c:pt>
                <c:pt idx="2">
                  <c:v>16.2</c:v>
                </c:pt>
                <c:pt idx="3">
                  <c:v>17.9</c:v>
                </c:pt>
                <c:pt idx="4">
                  <c:v>19.6</c:v>
                </c:pt>
                <c:pt idx="5">
                  <c:v>19.5</c:v>
                </c:pt>
                <c:pt idx="6">
                  <c:v>17.7</c:v>
                </c:pt>
                <c:pt idx="7">
                  <c:v>20.7</c:v>
                </c:pt>
              </c:numCache>
            </c:numRef>
          </c:val>
          <c:smooth val="0"/>
        </c:ser>
        <c:dLbls>
          <c:numFmt formatCode="0" sourceLinked="0"/>
          <c:txPr>
            <a:bodyPr/>
            <a:lstStyle/>
            <a:p>
              <a:pPr>
                <a:defRPr lang="vi-VN" b="0" i="0" strike="noStrike" sz="700" u="none">
                  <a:solidFill>
                    <a:srgbClr val="262626"/>
                  </a:solidFill>
                  <a:latin typeface="Calibri"/>
                  <a:ea typeface="Calibri"/>
                  <a:cs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Thấp</c:v>
                </c:pt>
              </c:strCache>
            </c:strRef>
          </c:tx>
          <c:spPr>
            <a:solidFill>
              <a:srgbClr val="FFFFFF"/>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Sheet1!$A$2:$A$5</c:f>
              <c:multiLvlStrCache>
                <c:ptCount val="4"/>
                <c:lvl>
                  <c:pt idx="0">
                    <c:v>DCF (20,4)</c:v>
                  </c:pt>
                  <c:pt idx="1">
                    <c:v>VC Method (21,7)</c:v>
                  </c:pt>
                  <c:pt idx="2">
                    <c:v>Multiples 2025A (27,7)</c:v>
                  </c:pt>
                  <c:pt idx="3">
                    <c:v>Bình quân 40/40/20 (22,4)</c:v>
                  </c:pt>
                </c:lvl>
              </c:multiLvlStrCache>
            </c:multiLvlStrRef>
          </c:cat>
          <c:val>
            <c:numRef>
              <c:f>Sheet1!$B$2:$B$5</c:f>
              <c:numCache>
                <c:formatCode>General</c:formatCode>
                <c:ptCount val="4"/>
                <c:pt idx="0">
                  <c:v>11.7</c:v>
                </c:pt>
                <c:pt idx="1">
                  <c:v>8</c:v>
                </c:pt>
                <c:pt idx="2">
                  <c:v>17.7</c:v>
                </c:pt>
                <c:pt idx="3">
                  <c:v>11.4</c:v>
                </c:pt>
              </c:numCache>
            </c:numRef>
          </c:val>
        </c:ser>
        <c:ser>
          <c:idx val="1"/>
          <c:order val="1"/>
          <c:tx>
            <c:strRef>
              <c:f>Sheet1!$C$1</c:f>
              <c:strCache>
                <c:ptCount val="1"/>
                <c:pt idx="0">
                  <c:v>Khoảng</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Sheet1!$A$2:$A$5</c:f>
              <c:multiLvlStrCache>
                <c:ptCount val="4"/>
                <c:lvl>
                  <c:pt idx="0">
                    <c:v>DCF (20,4)</c:v>
                  </c:pt>
                  <c:pt idx="1">
                    <c:v>VC Method (21,7)</c:v>
                  </c:pt>
                  <c:pt idx="2">
                    <c:v>Multiples 2025A (27,7)</c:v>
                  </c:pt>
                  <c:pt idx="3">
                    <c:v>Bình quân 40/40/20 (22,4)</c:v>
                  </c:pt>
                </c:lvl>
              </c:multiLvlStrCache>
            </c:multiLvlStrRef>
          </c:cat>
          <c:val>
            <c:numRef>
              <c:f>Sheet1!$C$2:$C$5</c:f>
              <c:numCache>
                <c:formatCode>General</c:formatCode>
                <c:ptCount val="4"/>
                <c:pt idx="0">
                  <c:v>18</c:v>
                </c:pt>
                <c:pt idx="1">
                  <c:v>29</c:v>
                </c:pt>
                <c:pt idx="2">
                  <c:v>26.3</c:v>
                </c:pt>
                <c:pt idx="3">
                  <c:v>24.1</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max val="50"/>
          <c:min val="0"/>
        </c:scaling>
        <c:delete val="0"/>
        <c:axPos val="b"/>
        <c:majorGridlines>
          <c:spPr>
            <a:ln w="6350" cap="flat">
              <a:solidFill>
                <a:srgbClr val="E4E4E4"/>
              </a:solidFill>
              <a:prstDash val="solid"/>
              <a:round/>
            </a:ln>
          </c:spPr>
        </c:majorGridlines>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Triệu tấn</c:v>
                </c:pt>
              </c:strCache>
            </c:strRef>
          </c:tx>
          <c:spPr>
            <a:solidFill>
              <a:srgbClr val="404040"/>
            </a:solidFill>
            <a:effectLst/>
          </c:spPr>
          <c:invertIfNegative val="0"/>
          <c:dLbls>
            <c:numFmt formatCode="0.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404040"/>
              </a:solidFill>
              <a:effectLst/>
            </c:spPr>
          </c:dPt>
          <c:dPt>
            <c:idx val="1"/>
            <c:invertIfNegative val="0"/>
            <c:bubble3D val="0"/>
            <c:spPr>
              <a:solidFill>
                <a:srgbClr val="7B1E2B"/>
              </a:solidFill>
              <a:effectLst/>
            </c:spPr>
          </c:dPt>
          <c:cat>
            <c:multiLvlStrRef>
              <c:f>Sheet1!$A$2:$A$3</c:f>
              <c:multiLvlStrCache>
                <c:ptCount val="2"/>
                <c:lvl>
                  <c:pt idx="0">
                    <c:v>2026</c:v>
                  </c:pt>
                  <c:pt idx="1">
                    <c:v>2031</c:v>
                  </c:pt>
                </c:lvl>
              </c:multiLvlStrCache>
            </c:multiLvlStrRef>
          </c:cat>
          <c:val>
            <c:numRef>
              <c:f>Sheet1!$B$2:$B$3</c:f>
              <c:numCache>
                <c:formatCode>General</c:formatCode>
                <c:ptCount val="2"/>
                <c:pt idx="0">
                  <c:v>12.83</c:v>
                </c:pt>
                <c:pt idx="1">
                  <c:v>19.16</c:v>
                </c:pt>
              </c:numCache>
            </c:numRef>
          </c:val>
        </c:ser>
        <c:dLbls>
          <c:numFmt formatCode="0.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Thấp</c:v>
                </c:pt>
              </c:strCache>
            </c:strRef>
          </c:tx>
          <c:spPr>
            <a:solidFill>
              <a:srgbClr val="FFFFFF"/>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Sheet1!$A$2:$A$6</c:f>
              <c:multiLvlStrCache>
                <c:ptCount val="5"/>
                <c:lvl>
                  <c:pt idx="0">
                    <c:v>Xốp EPS</c:v>
                  </c:pt>
                  <c:pt idx="1">
                    <c:v>PP</c:v>
                  </c:pt>
                  <c:pt idx="2">
                    <c:v>Kraft (nắp PP)</c:v>
                  </c:pt>
                  <c:pt idx="3">
                    <c:v>Bã mía</c:v>
                  </c:pt>
                  <c:pt idx="4">
                    <c:v>AgriPack (500–800 ml)</c:v>
                  </c:pt>
                </c:lvl>
              </c:multiLvlStrCache>
            </c:multiLvlStrRef>
          </c:cat>
          <c:val>
            <c:numRef>
              <c:f>Sheet1!$B$2:$B$6</c:f>
              <c:numCache>
                <c:formatCode>General</c:formatCode>
                <c:ptCount val="5"/>
                <c:pt idx="0">
                  <c:v>400</c:v>
                </c:pt>
                <c:pt idx="1">
                  <c:v>978</c:v>
                </c:pt>
                <c:pt idx="2">
                  <c:v>1350</c:v>
                </c:pt>
                <c:pt idx="3">
                  <c:v>1900</c:v>
                </c:pt>
                <c:pt idx="4">
                  <c:v>2500</c:v>
                </c:pt>
              </c:numCache>
            </c:numRef>
          </c:val>
        </c:ser>
        <c:ser>
          <c:idx val="1"/>
          <c:order val="1"/>
          <c:tx>
            <c:strRef>
              <c:f>Sheet1!$C$1</c:f>
              <c:strCache>
                <c:ptCount val="1"/>
                <c:pt idx="0">
                  <c:v>Khoảng</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Sheet1!$A$2:$A$6</c:f>
              <c:multiLvlStrCache>
                <c:ptCount val="5"/>
                <c:lvl>
                  <c:pt idx="0">
                    <c:v>Xốp EPS</c:v>
                  </c:pt>
                  <c:pt idx="1">
                    <c:v>PP</c:v>
                  </c:pt>
                  <c:pt idx="2">
                    <c:v>Kraft (nắp PP)</c:v>
                  </c:pt>
                  <c:pt idx="3">
                    <c:v>Bã mía</c:v>
                  </c:pt>
                  <c:pt idx="4">
                    <c:v>AgriPack (500–800 ml)</c:v>
                  </c:pt>
                </c:lvl>
              </c:multiLvlStrCache>
            </c:multiLvlStrRef>
          </c:cat>
          <c:val>
            <c:numRef>
              <c:f>Sheet1!$C$2:$C$6</c:f>
              <c:numCache>
                <c:formatCode>General</c:formatCode>
                <c:ptCount val="5"/>
                <c:pt idx="0">
                  <c:v>200</c:v>
                </c:pt>
                <c:pt idx="1">
                  <c:v>20</c:v>
                </c:pt>
                <c:pt idx="2">
                  <c:v>200</c:v>
                </c:pt>
                <c:pt idx="3">
                  <c:v>800</c:v>
                </c:pt>
                <c:pt idx="4">
                  <c:v>1500</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max val="4000"/>
          <c:min val="0"/>
        </c:scaling>
        <c:delete val="0"/>
        <c:axPos val="b"/>
        <c:majorGridlines>
          <c:spPr>
            <a:ln w="6350" cap="flat">
              <a:solidFill>
                <a:srgbClr val="E4E4E4"/>
              </a:solidFill>
              <a:prstDash val="solid"/>
              <a:round/>
            </a:ln>
          </c:spPr>
        </c:majorGridlines>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Thực phẩm/FMCG</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15.1</c:v>
                </c:pt>
                <c:pt idx="1">
                  <c:v>24.1</c:v>
                </c:pt>
                <c:pt idx="2">
                  <c:v>38.1</c:v>
                </c:pt>
              </c:numCache>
            </c:numRef>
          </c:val>
        </c:ser>
        <c:ser>
          <c:idx val="1"/>
          <c:order val="1"/>
          <c:tx>
            <c:strRef>
              <c:f>Sheet1!$C$1</c:f>
              <c:strCache>
                <c:ptCount val="1"/>
                <c:pt idx="0">
                  <c:v>Thiết kế theo mẫu</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3</c:v>
                </c:pt>
                <c:pt idx="1">
                  <c:v>4.2</c:v>
                </c:pt>
                <c:pt idx="2">
                  <c:v>5.9</c:v>
                </c:pt>
              </c:numCache>
            </c:numRef>
          </c:val>
        </c:ser>
        <c:ser>
          <c:idx val="2"/>
          <c:order val="2"/>
          <c:tx>
            <c:strRef>
              <c:f>Sheet1!$D$1</c:f>
              <c:strCache>
                <c:ptCount val="1"/>
                <c:pt idx="0">
                  <c:v>Nội thất/E-com</c:v>
                </c:pt>
              </c:strCache>
            </c:strRef>
          </c:tx>
          <c:spPr>
            <a:solidFill>
              <a:srgbClr val="A3A3A3"/>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Sheet1!$D$2:$D$4</c:f>
              <c:numCache>
                <c:formatCode>General</c:formatCode>
                <c:ptCount val="3"/>
                <c:pt idx="0">
                  <c:v>1.5</c:v>
                </c:pt>
                <c:pt idx="1">
                  <c:v>2.3</c:v>
                </c:pt>
                <c:pt idx="2">
                  <c:v>2.7</c:v>
                </c:pt>
              </c:numCache>
            </c:numRef>
          </c:val>
        </c:ser>
        <c:ser>
          <c:idx val="3"/>
          <c:order val="3"/>
          <c:tx>
            <c:strRef>
              <c:f>Sheet1!$E$1</c:f>
              <c:strCache>
                <c:ptCount val="1"/>
                <c:pt idx="0">
                  <c:v>Điện tử</c:v>
                </c:pt>
              </c:strCache>
            </c:strRef>
          </c:tx>
          <c:spPr>
            <a:solidFill>
              <a:srgbClr val="D0D0D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Sheet1!$E$2:$E$4</c:f>
              <c:numCache>
                <c:formatCode>General</c:formatCode>
                <c:ptCount val="3"/>
                <c:pt idx="0">
                  <c:v>0</c:v>
                </c:pt>
                <c:pt idx="1">
                  <c:v>0.6</c:v>
                </c:pt>
                <c:pt idx="2">
                  <c:v>1.2</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COGS</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6</c:v>
                </c:pt>
                <c:pt idx="1">
                  <c:v>8.9</c:v>
                </c:pt>
                <c:pt idx="2">
                  <c:v>12.9</c:v>
                </c:pt>
              </c:numCache>
            </c:numRef>
          </c:val>
        </c:ser>
        <c:ser>
          <c:idx val="1"/>
          <c:order val="1"/>
          <c:tx>
            <c:strRef>
              <c:f>Sheet1!$C$1</c:f>
              <c:strCache>
                <c:ptCount val="1"/>
                <c:pt idx="0">
                  <c:v>SG&amp;A</c:v>
                </c:pt>
              </c:strCache>
            </c:strRef>
          </c:tx>
          <c:spPr>
            <a:solidFill>
              <a:srgbClr val="A3A3A3"/>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9.2</c:v>
                </c:pt>
                <c:pt idx="1">
                  <c:v>12.3</c:v>
                </c:pt>
                <c:pt idx="2">
                  <c:v>16.2</c:v>
                </c:pt>
              </c:numCache>
            </c:numRef>
          </c:val>
        </c:ser>
        <c:ser>
          <c:idx val="2"/>
          <c:order val="2"/>
          <c:tx>
            <c:strRef>
              <c:f>Sheet1!$D$1</c:f>
              <c:strCache>
                <c:ptCount val="1"/>
                <c:pt idx="0">
                  <c:v>Payroll</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Sheet1!$D$2:$D$4</c:f>
              <c:numCache>
                <c:formatCode>General</c:formatCode>
                <c:ptCount val="3"/>
                <c:pt idx="0">
                  <c:v>7</c:v>
                </c:pt>
                <c:pt idx="1">
                  <c:v>7.7</c:v>
                </c:pt>
                <c:pt idx="2">
                  <c:v>10.8</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404040"/>
            </a:solidFill>
            <a:effectLst/>
          </c:spPr>
          <c:invertIfNegative val="0"/>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404040"/>
              </a:solidFill>
              <a:effectLst/>
            </c:spPr>
          </c:dPt>
          <c:dPt>
            <c:idx val="1"/>
            <c:invertIfNegative val="0"/>
            <c:bubble3D val="0"/>
            <c:spPr>
              <a:solidFill>
                <a:srgbClr val="404040"/>
              </a:solidFill>
              <a:effectLst/>
            </c:spPr>
          </c:dPt>
          <c:dPt>
            <c:idx val="2"/>
            <c:invertIfNegative val="0"/>
            <c:bubble3D val="0"/>
            <c:spPr>
              <a:solidFill>
                <a:srgbClr val="7B1E2B"/>
              </a:solidFill>
              <a:effectLst/>
            </c:spPr>
          </c:dPt>
          <c:cat>
            <c:multiLvlStrRef>
              <c:f>Sheet1!$A$2:$A$4</c:f>
              <c:multiLvlStrCache>
                <c:ptCount val="3"/>
                <c:lvl>
                  <c:pt idx="0">
                    <c:v>An Phát Holdings</c:v>
                  </c:pt>
                  <c:pt idx="1">
                    <c:v>Đông Hải Bến Tre</c:v>
                  </c:pt>
                  <c:pt idx="2">
                    <c:v>AgriPack</c:v>
                  </c:pt>
                </c:lvl>
              </c:multiLvlStrCache>
            </c:multiLvlStrRef>
          </c:cat>
          <c:val>
            <c:numRef>
              <c:f>Sheet1!$B$2:$B$4</c:f>
              <c:numCache>
                <c:formatCode>General</c:formatCode>
                <c:ptCount val="3"/>
                <c:pt idx="0">
                  <c:v>10746</c:v>
                </c:pt>
                <c:pt idx="1">
                  <c:v>3633</c:v>
                </c:pt>
                <c:pt idx="2">
                  <c:v>47.5</c:v>
                </c:pt>
              </c:numCache>
            </c:numRef>
          </c:val>
        </c:ser>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Thấp</c:v>
                </c:pt>
              </c:strCache>
            </c:strRef>
          </c:tx>
          <c:spPr>
            <a:solidFill>
              <a:srgbClr val="FFFFFF"/>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Sheet1!$A$2:$A$5</c:f>
              <c:multiLvlStrCache>
                <c:ptCount val="4"/>
                <c:lvl>
                  <c:pt idx="0">
                    <c:v>AgriPack 2025, BCTC gốc</c:v>
                  </c:pt>
                  <c:pt idx="1">
                    <c:v>AgriPack 2025, theo chức năng</c:v>
                  </c:pt>
                  <c:pt idx="2">
                    <c:v>Chuẩn chung ngành sản xuất</c:v>
                  </c:pt>
                  <c:pt idx="3">
                    <c:v>DN bao bì giấy lớn</c:v>
                  </c:pt>
                </c:lvl>
              </c:multiLvlStrCache>
            </c:multiLvlStrRef>
          </c:cat>
          <c:val>
            <c:numRef>
              <c:f>Sheet1!$B$2:$B$5</c:f>
              <c:numCache>
                <c:formatCode>General</c:formatCode>
                <c:ptCount val="4"/>
                <c:pt idx="0">
                  <c:v>0</c:v>
                </c:pt>
                <c:pt idx="1">
                  <c:v>0</c:v>
                </c:pt>
                <c:pt idx="2">
                  <c:v>25</c:v>
                </c:pt>
                <c:pt idx="3">
                  <c:v>12</c:v>
                </c:pt>
              </c:numCache>
            </c:numRef>
          </c:val>
        </c:ser>
        <c:ser>
          <c:idx val="1"/>
          <c:order val="1"/>
          <c:tx>
            <c:strRef>
              <c:f>Sheet1!$C$1</c:f>
              <c:strCache>
                <c:ptCount val="1"/>
                <c:pt idx="0">
                  <c:v>Khoảng</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Sheet1!$A$2:$A$5</c:f>
              <c:multiLvlStrCache>
                <c:ptCount val="4"/>
                <c:lvl>
                  <c:pt idx="0">
                    <c:v>AgriPack 2025, BCTC gốc</c:v>
                  </c:pt>
                  <c:pt idx="1">
                    <c:v>AgriPack 2025, theo chức năng</c:v>
                  </c:pt>
                  <c:pt idx="2">
                    <c:v>Chuẩn chung ngành sản xuất</c:v>
                  </c:pt>
                  <c:pt idx="3">
                    <c:v>DN bao bì giấy lớn</c:v>
                  </c:pt>
                </c:lvl>
              </c:multiLvlStrCache>
            </c:multiLvlStrRef>
          </c:cat>
          <c:val>
            <c:numRef>
              <c:f>Sheet1!$C$2:$C$5</c:f>
              <c:numCache>
                <c:formatCode>General</c:formatCode>
                <c:ptCount val="4"/>
                <c:pt idx="0">
                  <c:v>72.8</c:v>
                </c:pt>
                <c:pt idx="1">
                  <c:v>51</c:v>
                </c:pt>
                <c:pt idx="2">
                  <c:v>15</c:v>
                </c:pt>
                <c:pt idx="3">
                  <c:v>4</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max val="100"/>
          <c:min val="0"/>
        </c:scaling>
        <c:delete val="0"/>
        <c:axPos val="b"/>
        <c:majorGridlines>
          <c:spPr>
            <a:ln w="6350" cap="flat">
              <a:solidFill>
                <a:srgbClr val="E4E4E4"/>
              </a:solidFill>
              <a:prstDash val="solid"/>
              <a:round/>
            </a:ln>
          </c:spPr>
        </c:majorGridlines>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Tiền lương</c:v>
                </c:pt>
              </c:strCache>
            </c:strRef>
          </c:tx>
          <c:spPr>
            <a:solidFill>
              <a:srgbClr val="7B1E2B"/>
            </a:solidFill>
            <a:ln w="19050" cap="flat">
              <a:solidFill>
                <a:srgbClr val="7B1E2B"/>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dLblPos val="t"/>
            <c:showLegendKey val="0"/>
            <c:showVal val="1"/>
            <c:showCatName val="0"/>
            <c:showSerName val="0"/>
            <c:showPercent val="0"/>
            <c:showBubbleSize val="0"/>
            <c:showLeaderLines val="0"/>
          </c:dLbls>
          <c:marker>
            <c:symbol val="circle"/>
            <c:size val="4"/>
            <c:spPr>
              <a:solidFill>
                <a:srgbClr val="7B1E2B"/>
              </a:solidFill>
              <a:ln w="9525" cap="flat">
                <a:solidFill>
                  <a:srgbClr val="7B1E2B"/>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36</c:v>
                </c:pt>
                <c:pt idx="1">
                  <c:v>24.9</c:v>
                </c:pt>
                <c:pt idx="2">
                  <c:v>22.6</c:v>
                </c:pt>
              </c:numCache>
            </c:numRef>
          </c:val>
          <c:smooth val="0"/>
        </c:ser>
        <c:ser>
          <c:idx val="1"/>
          <c:order val="1"/>
          <c:tx>
            <c:strRef>
              <c:f>Sheet1!$C$1</c:f>
              <c:strCache>
                <c:ptCount val="1"/>
                <c:pt idx="0">
                  <c:v>Thuê mặt bằng</c:v>
                </c:pt>
              </c:strCache>
            </c:strRef>
          </c:tx>
          <c:spPr>
            <a:solidFill>
              <a:srgbClr val="404040"/>
            </a:solidFill>
            <a:ln w="19050" cap="flat">
              <a:solidFill>
                <a:srgbClr val="404040"/>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dLblPos val="t"/>
            <c:showLegendKey val="0"/>
            <c:showVal val="1"/>
            <c:showCatName val="0"/>
            <c:showSerName val="0"/>
            <c:showPercent val="0"/>
            <c:showBubbleSize val="0"/>
            <c:showLeaderLines val="0"/>
          </c:dLbls>
          <c:marker>
            <c:symbol val="circle"/>
            <c:size val="4"/>
            <c:spPr>
              <a:solidFill>
                <a:srgbClr val="404040"/>
              </a:solidFill>
              <a:ln w="9525" cap="flat">
                <a:solidFill>
                  <a:srgbClr val="404040"/>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20.5</c:v>
                </c:pt>
                <c:pt idx="1">
                  <c:v>17.4</c:v>
                </c:pt>
                <c:pt idx="2">
                  <c:v>15.9</c:v>
                </c:pt>
              </c:numCache>
            </c:numRef>
          </c:val>
          <c:smooth val="0"/>
        </c:ser>
        <c:dLbls>
          <c:numFmt formatCode="0" sourceLinked="0"/>
          <c:txPr>
            <a:bodyPr/>
            <a:lstStyle/>
            <a:p>
              <a:pPr>
                <a:defRPr lang="vi-VN" b="0" i="0" strike="noStrike" sz="700" u="none">
                  <a:solidFill>
                    <a:srgbClr val="262626"/>
                  </a:solidFill>
                  <a:latin typeface="Calibri"/>
                  <a:ea typeface="Calibri"/>
                  <a:cs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Thấp</c:v>
                </c:pt>
              </c:strCache>
            </c:strRef>
          </c:tx>
          <c:spPr>
            <a:solidFill>
              <a:srgbClr val="FFFFFF"/>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Sheet1!$A$2:$A$5</c:f>
              <c:multiLvlStrCache>
                <c:ptCount val="4"/>
                <c:lvl>
                  <c:pt idx="0">
                    <c:v>Ươm mầm</c:v>
                  </c:pt>
                  <c:pt idx="1">
                    <c:v>Thử nghiệm</c:v>
                  </c:pt>
                  <c:pt idx="2">
                    <c:v>Đầu tăng trưởng (AgriPack, z = 40%)</c:v>
                  </c:pt>
                  <c:pt idx="3">
                    <c:v>Cuối tăng trưởng</c:v>
                  </c:pt>
                </c:lvl>
              </c:multiLvlStrCache>
            </c:multiLvlStrRef>
          </c:cat>
          <c:val>
            <c:numRef>
              <c:f>Sheet1!$B$2:$B$5</c:f>
              <c:numCache>
                <c:formatCode>General</c:formatCode>
                <c:ptCount val="4"/>
                <c:pt idx="0">
                  <c:v>65</c:v>
                </c:pt>
                <c:pt idx="1">
                  <c:v>50</c:v>
                </c:pt>
                <c:pt idx="2">
                  <c:v>35</c:v>
                </c:pt>
                <c:pt idx="3">
                  <c:v>20</c:v>
                </c:pt>
              </c:numCache>
            </c:numRef>
          </c:val>
        </c:ser>
        <c:ser>
          <c:idx val="1"/>
          <c:order val="1"/>
          <c:tx>
            <c:strRef>
              <c:f>Sheet1!$C$1</c:f>
              <c:strCache>
                <c:ptCount val="1"/>
                <c:pt idx="0">
                  <c:v>Khoảng</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Sheet1!$A$2:$A$5</c:f>
              <c:multiLvlStrCache>
                <c:ptCount val="4"/>
                <c:lvl>
                  <c:pt idx="0">
                    <c:v>Ươm mầm</c:v>
                  </c:pt>
                  <c:pt idx="1">
                    <c:v>Thử nghiệm</c:v>
                  </c:pt>
                  <c:pt idx="2">
                    <c:v>Đầu tăng trưởng (AgriPack, z = 40%)</c:v>
                  </c:pt>
                  <c:pt idx="3">
                    <c:v>Cuối tăng trưởng</c:v>
                  </c:pt>
                </c:lvl>
              </c:multiLvlStrCache>
            </c:multiLvlStrRef>
          </c:cat>
          <c:val>
            <c:numRef>
              <c:f>Sheet1!$C$2:$C$5</c:f>
              <c:numCache>
                <c:formatCode>General</c:formatCode>
                <c:ptCount val="4"/>
                <c:pt idx="0">
                  <c:v>15</c:v>
                </c:pt>
                <c:pt idx="1">
                  <c:v>15</c:v>
                </c:pt>
                <c:pt idx="2">
                  <c:v>10</c:v>
                </c:pt>
                <c:pt idx="3">
                  <c:v>10</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max val="100"/>
          <c:min val="0"/>
        </c:scaling>
        <c:delete val="0"/>
        <c:axPos val="b"/>
        <c:majorGridlines>
          <c:spPr>
            <a:ln w="6350" cap="flat">
              <a:solidFill>
                <a:srgbClr val="E4E4E4"/>
              </a:solidFill>
              <a:prstDash val="solid"/>
              <a:round/>
            </a:ln>
          </c:spPr>
        </c:majorGridlines>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6 tháng 2025</c:v>
                </c:pt>
              </c:strCache>
            </c:strRef>
          </c:tx>
          <c:spPr>
            <a:solidFill>
              <a:srgbClr val="A3A3A3"/>
            </a:solidFill>
            <a:effectLst/>
          </c:spPr>
          <c:invertIfNegative val="0"/>
          <c:dLbls>
            <c:numFmt formatCode="0.00"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Sheet1!$A$2:$A$5</c:f>
              <c:multiLvlStrCache>
                <c:ptCount val="4"/>
                <c:lvl>
                  <c:pt idx="0">
                    <c:v>GDP</c:v>
                  </c:pt>
                  <c:pt idx="1">
                    <c:v>Nông, lâm, TS</c:v>
                  </c:pt>
                  <c:pt idx="2">
                    <c:v>CN, xây dựng</c:v>
                  </c:pt>
                  <c:pt idx="3">
                    <c:v>Dịch vụ</c:v>
                  </c:pt>
                </c:lvl>
              </c:multiLvlStrCache>
            </c:multiLvlStrRef>
          </c:cat>
          <c:val>
            <c:numRef>
              <c:f>Sheet1!$B$2:$B$5</c:f>
              <c:numCache>
                <c:formatCode>General</c:formatCode>
                <c:ptCount val="4"/>
                <c:pt idx="0">
                  <c:v>7.63</c:v>
                </c:pt>
                <c:pt idx="1">
                  <c:v>3.88</c:v>
                </c:pt>
                <c:pt idx="2">
                  <c:v>8.44</c:v>
                </c:pt>
                <c:pt idx="3">
                  <c:v>8.36</c:v>
                </c:pt>
              </c:numCache>
            </c:numRef>
          </c:val>
        </c:ser>
        <c:ser>
          <c:idx val="1"/>
          <c:order val="1"/>
          <c:tx>
            <c:strRef>
              <c:f>Sheet1!$C$1</c:f>
              <c:strCache>
                <c:ptCount val="1"/>
                <c:pt idx="0">
                  <c:v>6 tháng 2026</c:v>
                </c:pt>
              </c:strCache>
            </c:strRef>
          </c:tx>
          <c:spPr>
            <a:solidFill>
              <a:srgbClr val="7B1E2B"/>
            </a:solidFill>
            <a:effectLst/>
          </c:spPr>
          <c:invertIfNegative val="0"/>
          <c:dLbls>
            <c:numFmt formatCode="0.00"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Sheet1!$A$2:$A$5</c:f>
              <c:multiLvlStrCache>
                <c:ptCount val="4"/>
                <c:lvl>
                  <c:pt idx="0">
                    <c:v>GDP</c:v>
                  </c:pt>
                  <c:pt idx="1">
                    <c:v>Nông, lâm, TS</c:v>
                  </c:pt>
                  <c:pt idx="2">
                    <c:v>CN, xây dựng</c:v>
                  </c:pt>
                  <c:pt idx="3">
                    <c:v>Dịch vụ</c:v>
                  </c:pt>
                </c:lvl>
              </c:multiLvlStrCache>
            </c:multiLvlStrRef>
          </c:cat>
          <c:val>
            <c:numRef>
              <c:f>Sheet1!$C$2:$C$5</c:f>
              <c:numCache>
                <c:formatCode>General</c:formatCode>
                <c:ptCount val="4"/>
                <c:pt idx="0">
                  <c:v>8.18</c:v>
                </c:pt>
                <c:pt idx="1">
                  <c:v>3.87</c:v>
                </c:pt>
                <c:pt idx="2">
                  <c:v>9.81</c:v>
                </c:pt>
                <c:pt idx="3">
                  <c:v>8.09</c:v>
                </c:pt>
              </c:numCache>
            </c:numRef>
          </c:val>
        </c:ser>
        <c:dLbls>
          <c:numFmt formatCode="0.00"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404040"/>
            </a:solidFill>
            <a:effectLst/>
          </c:spPr>
          <c:invertIfNegative val="0"/>
          <c:dLbls>
            <c:numFmt formatCode="0.00&quot;%&quot;"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404040"/>
              </a:solidFill>
              <a:effectLst/>
            </c:spPr>
          </c:dPt>
          <c:dPt>
            <c:idx val="1"/>
            <c:invertIfNegative val="0"/>
            <c:bubble3D val="0"/>
            <c:spPr>
              <a:solidFill>
                <a:srgbClr val="404040"/>
              </a:solidFill>
              <a:effectLst/>
            </c:spPr>
          </c:dPt>
          <c:dPt>
            <c:idx val="2"/>
            <c:invertIfNegative val="0"/>
            <c:bubble3D val="0"/>
            <c:spPr>
              <a:solidFill>
                <a:srgbClr val="404040"/>
              </a:solidFill>
              <a:effectLst/>
            </c:spPr>
          </c:dPt>
          <c:dPt>
            <c:idx val="3"/>
            <c:invertIfNegative val="0"/>
            <c:bubble3D val="0"/>
            <c:spPr>
              <a:solidFill>
                <a:srgbClr val="7B1E2B"/>
              </a:solidFill>
              <a:effectLst/>
            </c:spPr>
          </c:dPt>
          <c:cat>
            <c:multiLvlStrRef>
              <c:f>Sheet1!$A$2:$A$5</c:f>
              <c:multiLvlStrCache>
                <c:ptCount val="4"/>
                <c:lvl>
                  <c:pt idx="0">
                    <c:v>CPI bình quân 8T/2026</c:v>
                  </c:pt>
                  <c:pt idx="1">
                    <c:v>Lạm phát cơ bản 8T/2026</c:v>
                  </c:pt>
                  <c:pt idx="2">
                    <c:v>Nhà ở, điện, nước, VLXD</c:v>
                  </c:pt>
                  <c:pt idx="3">
                    <c:v>Giá bán AgriPack 2026E (giả định)</c:v>
                  </c:pt>
                </c:lvl>
              </c:multiLvlStrCache>
            </c:multiLvlStrRef>
          </c:cat>
          <c:val>
            <c:numRef>
              <c:f>Sheet1!$B$2:$B$5</c:f>
              <c:numCache>
                <c:formatCode>General</c:formatCode>
                <c:ptCount val="4"/>
                <c:pt idx="0">
                  <c:v>4.45</c:v>
                </c:pt>
                <c:pt idx="1">
                  <c:v>4.24</c:v>
                </c:pt>
                <c:pt idx="2">
                  <c:v>6.71</c:v>
                </c:pt>
                <c:pt idx="3">
                  <c:v>2</c:v>
                </c:pt>
              </c:numCache>
            </c:numRef>
          </c:val>
        </c:ser>
        <c:dLbls>
          <c:numFmt formatCode="0.00&quot;%&quot;"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404040"/>
              </a:solidFill>
              <a:effectLst/>
            </c:spPr>
          </c:dPt>
          <c:dPt>
            <c:idx val="1"/>
            <c:invertIfNegative val="0"/>
            <c:bubble3D val="0"/>
            <c:spPr>
              <a:solidFill>
                <a:srgbClr val="404040"/>
              </a:solidFill>
              <a:effectLst/>
            </c:spPr>
          </c:dPt>
          <c:dPt>
            <c:idx val="2"/>
            <c:invertIfNegative val="0"/>
            <c:bubble3D val="0"/>
            <c:spPr>
              <a:solidFill>
                <a:srgbClr val="404040"/>
              </a:solidFill>
              <a:effectLst/>
            </c:spPr>
          </c:dPt>
          <c:dPt>
            <c:idx val="3"/>
            <c:invertIfNegative val="0"/>
            <c:bubble3D val="0"/>
            <c:spPr>
              <a:solidFill>
                <a:srgbClr val="A3A3A3"/>
              </a:solidFill>
              <a:effectLst/>
            </c:spPr>
          </c:dPt>
          <c:dPt>
            <c:idx val="4"/>
            <c:invertIfNegative val="0"/>
            <c:bubble3D val="0"/>
            <c:spPr>
              <a:solidFill>
                <a:srgbClr val="7B1E2B"/>
              </a:solidFill>
              <a:effectLst/>
            </c:spPr>
          </c:dPt>
          <c:dPt>
            <c:idx val="5"/>
            <c:invertIfNegative val="0"/>
            <c:bubble3D val="0"/>
            <c:spPr>
              <a:solidFill>
                <a:srgbClr val="7B1E2B"/>
              </a:solidFill>
              <a:effectLst/>
            </c:spPr>
          </c:dPt>
          <c:cat>
            <c:multiLvlStrRef>
              <c:f>Sheet1!$A$2:$A$7</c:f>
              <c:multiLvlStrCache>
                <c:ptCount val="6"/>
                <c:lvl>
                  <c:pt idx="0">
                    <c:v>Liên ngân hàng cuối 8/2026</c:v>
                  </c:pt>
                  <c:pt idx="1">
                    <c:v>Trung tâm 22/9/2026</c:v>
                  </c:pt>
                  <c:pt idx="2">
                    <c:v>Vietcombank bán 22/9/2026</c:v>
                  </c:pt>
                  <c:pt idx="3">
                    <c:v>MBS dự báo cuối 2026 (cận trên)</c:v>
                  </c:pt>
                  <c:pt idx="4">
                    <c:v>Mô hình: bình quân 2026E</c:v>
                  </c:pt>
                  <c:pt idx="5">
                    <c:v>Mô hình: bình quân 2030E</c:v>
                  </c:pt>
                </c:lvl>
              </c:multiLvlStrCache>
            </c:multiLvlStrRef>
          </c:cat>
          <c:val>
            <c:numRef>
              <c:f>Sheet1!$B$2:$B$7</c:f>
              <c:numCache>
                <c:formatCode>General</c:formatCode>
                <c:ptCount val="6"/>
                <c:pt idx="0">
                  <c:v>26083</c:v>
                </c:pt>
                <c:pt idx="1">
                  <c:v>25640</c:v>
                </c:pt>
                <c:pt idx="2">
                  <c:v>26210</c:v>
                </c:pt>
                <c:pt idx="3">
                  <c:v>27000</c:v>
                </c:pt>
                <c:pt idx="4">
                  <c:v>26300</c:v>
                </c:pt>
                <c:pt idx="5">
                  <c:v>28468</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max val="29000"/>
          <c:min val="25000"/>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VC</c:v>
                </c:pt>
              </c:strCache>
            </c:strRef>
          </c:tx>
          <c:spPr>
            <a:solidFill>
              <a:srgbClr val="A3A3A3"/>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A3A3A3"/>
              </a:solidFill>
              <a:effectLst/>
            </c:spPr>
          </c:dPt>
          <c:dPt>
            <c:idx val="1"/>
            <c:invertIfNegative val="0"/>
            <c:bubble3D val="0"/>
            <c:spPr>
              <a:solidFill>
                <a:srgbClr val="A3A3A3"/>
              </a:solidFill>
              <a:effectLst/>
            </c:spPr>
          </c:dPt>
          <c:dPt>
            <c:idx val="2"/>
            <c:invertIfNegative val="0"/>
            <c:bubble3D val="0"/>
            <c:spPr>
              <a:solidFill>
                <a:srgbClr val="A3A3A3"/>
              </a:solidFill>
              <a:effectLst/>
            </c:spPr>
          </c:dPt>
          <c:dPt>
            <c:idx val="3"/>
            <c:invertIfNegative val="0"/>
            <c:bubble3D val="0"/>
            <c:spPr>
              <a:solidFill>
                <a:srgbClr val="7B1E2B"/>
              </a:solidFill>
              <a:effectLst/>
            </c:spPr>
          </c:dPt>
          <c:cat>
            <c:multiLvlStrRef>
              <c:f>Sheet1!$A$2:$A$5</c:f>
              <c:multiLvlStrCache>
                <c:ptCount val="4"/>
                <c:lvl>
                  <c:pt idx="0">
                    <c:v>2022</c:v>
                  </c:pt>
                  <c:pt idx="1">
                    <c:v>2023</c:v>
                  </c:pt>
                  <c:pt idx="2">
                    <c:v>2024</c:v>
                  </c:pt>
                  <c:pt idx="3">
                    <c:v>2025</c:v>
                  </c:pt>
                </c:lvl>
              </c:multiLvlStrCache>
            </c:multiLvlStrRef>
          </c:cat>
          <c:val>
            <c:numRef>
              <c:f>Sheet1!$B$2:$B$5</c:f>
              <c:numCache>
                <c:formatCode>General</c:formatCode>
                <c:ptCount val="4"/>
                <c:pt idx="0">
                  <c:v>634</c:v>
                </c:pt>
                <c:pt idx="1">
                  <c:v>529</c:v>
                </c:pt>
                <c:pt idx="2">
                  <c:v>398</c:v>
                </c:pt>
                <c:pt idx="3">
                  <c:v>509</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Mô hình (Luật 67/2025)</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Sheet1!$A$2:$A$7</c:f>
              <c:multiLvlStrCache>
                <c:ptCount val="6"/>
                <c:lvl>
                  <c:pt idx="0">
                    <c:v>2026</c:v>
                  </c:pt>
                  <c:pt idx="1">
                    <c:v>2027</c:v>
                  </c:pt>
                  <c:pt idx="2">
                    <c:v>2028</c:v>
                  </c:pt>
                  <c:pt idx="3">
                    <c:v>2029</c:v>
                  </c:pt>
                  <c:pt idx="4">
                    <c:v>2030</c:v>
                  </c:pt>
                  <c:pt idx="5">
                    <c:v>2031</c:v>
                  </c:pt>
                </c:lvl>
              </c:multiLvlStrCache>
            </c:multiLvlStrRef>
          </c:cat>
          <c:val>
            <c:numRef>
              <c:f>Sheet1!$B$2:$B$7</c:f>
              <c:numCache>
                <c:formatCode>General</c:formatCode>
                <c:ptCount val="6"/>
                <c:pt idx="0">
                  <c:v>17</c:v>
                </c:pt>
                <c:pt idx="1">
                  <c:v>20</c:v>
                </c:pt>
                <c:pt idx="2">
                  <c:v>20</c:v>
                </c:pt>
                <c:pt idx="3">
                  <c:v>20</c:v>
                </c:pt>
                <c:pt idx="4">
                  <c:v>20</c:v>
                </c:pt>
                <c:pt idx="5">
                  <c:v>20</c:v>
                </c:pt>
              </c:numCache>
            </c:numRef>
          </c:val>
        </c:ser>
        <c:ser>
          <c:idx val="1"/>
          <c:order val="1"/>
          <c:tx>
            <c:strRef>
              <c:f>Sheet1!$C$1</c:f>
              <c:strCache>
                <c:ptCount val="1"/>
                <c:pt idx="0">
                  <c:v>Nếu hưởng ưu đãi NQ 198</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Sheet1!$A$2:$A$7</c:f>
              <c:multiLvlStrCache>
                <c:ptCount val="6"/>
                <c:lvl>
                  <c:pt idx="0">
                    <c:v>2026</c:v>
                  </c:pt>
                  <c:pt idx="1">
                    <c:v>2027</c:v>
                  </c:pt>
                  <c:pt idx="2">
                    <c:v>2028</c:v>
                  </c:pt>
                  <c:pt idx="3">
                    <c:v>2029</c:v>
                  </c:pt>
                  <c:pt idx="4">
                    <c:v>2030</c:v>
                  </c:pt>
                  <c:pt idx="5">
                    <c:v>2031</c:v>
                  </c:pt>
                </c:lvl>
              </c:multiLvlStrCache>
            </c:multiLvlStrRef>
          </c:cat>
          <c:val>
            <c:numRef>
              <c:f>Sheet1!$C$2:$C$7</c:f>
              <c:numCache>
                <c:formatCode>General</c:formatCode>
                <c:ptCount val="6"/>
                <c:pt idx="0">
                  <c:v>0</c:v>
                </c:pt>
                <c:pt idx="1">
                  <c:v>0</c:v>
                </c:pt>
                <c:pt idx="2">
                  <c:v>10</c:v>
                </c:pt>
                <c:pt idx="3">
                  <c:v>10</c:v>
                </c:pt>
                <c:pt idx="4">
                  <c:v>10</c:v>
                </c:pt>
                <c:pt idx="5">
                  <c:v>10</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A3A3A3"/>
            </a:solidFill>
            <a:effectLst/>
          </c:spPr>
          <c:invertIfNegative val="0"/>
          <c:dLbls>
            <c:numFmt formatCode="0.0&quot;%&quot;"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A3A3A3"/>
              </a:solidFill>
              <a:effectLst/>
            </c:spPr>
          </c:dPt>
          <c:dPt>
            <c:idx val="1"/>
            <c:invertIfNegative val="0"/>
            <c:bubble3D val="0"/>
            <c:spPr>
              <a:solidFill>
                <a:srgbClr val="404040"/>
              </a:solidFill>
              <a:effectLst/>
            </c:spPr>
          </c:dPt>
          <c:dPt>
            <c:idx val="2"/>
            <c:invertIfNegative val="0"/>
            <c:bubble3D val="0"/>
            <c:spPr>
              <a:solidFill>
                <a:srgbClr val="404040"/>
              </a:solidFill>
              <a:effectLst/>
            </c:spPr>
          </c:dPt>
          <c:dPt>
            <c:idx val="3"/>
            <c:invertIfNegative val="0"/>
            <c:bubble3D val="0"/>
            <c:spPr>
              <a:solidFill>
                <a:srgbClr val="7B1E2B"/>
              </a:solidFill>
              <a:effectLst/>
            </c:spPr>
          </c:dPt>
          <c:cat>
            <c:multiLvlStrRef>
              <c:f>Sheet1!$A$2:$A$5</c:f>
              <c:multiLvlStrCache>
                <c:ptCount val="4"/>
                <c:lvl>
                  <c:pt idx="0">
                    <c:v>Thị trường nhựa, tấn (26–31)</c:v>
                  </c:pt>
                  <c:pt idx="1">
                    <c:v>SAM F&amp;B phân hủy (26–34)</c:v>
                  </c:pt>
                  <c:pt idx="2">
                    <c:v>TAM bao bì xanh (26–34)</c:v>
                  </c:pt>
                  <c:pt idx="3">
                    <c:v>AgriPack dự phóng (25–30E)</c:v>
                  </c:pt>
                </c:lvl>
              </c:multiLvlStrCache>
            </c:multiLvlStrRef>
          </c:cat>
          <c:val>
            <c:numRef>
              <c:f>Sheet1!$B$2:$B$5</c:f>
              <c:numCache>
                <c:formatCode>General</c:formatCode>
                <c:ptCount val="4"/>
                <c:pt idx="0">
                  <c:v>8.35</c:v>
                </c:pt>
                <c:pt idx="1">
                  <c:v>4.73</c:v>
                </c:pt>
                <c:pt idx="2">
                  <c:v>4.15</c:v>
                </c:pt>
                <c:pt idx="3">
                  <c:v>30.3</c:v>
                </c:pt>
              </c:numCache>
            </c:numRef>
          </c:val>
        </c:ser>
        <c:dLbls>
          <c:numFmt formatCode="0.0&quot;%&quot;"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A3A3A3"/>
            </a:solidFill>
            <a:effectLst/>
          </c:spPr>
          <c:invertIfNegative val="0"/>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A3A3A3"/>
              </a:solidFill>
              <a:effectLst/>
            </c:spPr>
          </c:dPt>
          <c:dPt>
            <c:idx val="1"/>
            <c:invertIfNegative val="0"/>
            <c:bubble3D val="0"/>
            <c:spPr>
              <a:solidFill>
                <a:srgbClr val="7B1E2B"/>
              </a:solidFill>
              <a:effectLst/>
            </c:spPr>
          </c:dPt>
          <c:dPt>
            <c:idx val="2"/>
            <c:invertIfNegative val="0"/>
            <c:bubble3D val="0"/>
            <c:spPr>
              <a:solidFill>
                <a:srgbClr val="A3A3A3"/>
              </a:solidFill>
              <a:effectLst/>
            </c:spPr>
          </c:dPt>
          <c:dPt>
            <c:idx val="3"/>
            <c:invertIfNegative val="0"/>
            <c:bubble3D val="0"/>
            <c:spPr>
              <a:solidFill>
                <a:srgbClr val="D0D0D0"/>
              </a:solidFill>
              <a:effectLst/>
            </c:spPr>
          </c:dPt>
          <c:cat>
            <c:multiLvlStrRef>
              <c:f>Sheet1!$A$2:$A$5</c:f>
              <c:multiLvlStrCache>
                <c:ptCount val="4"/>
                <c:lvl>
                  <c:pt idx="0">
                    <c:v>Rơm rạ</c:v>
                  </c:pt>
                  <c:pt idx="1">
                    <c:v>Bã mía</c:v>
                  </c:pt>
                  <c:pt idx="2">
                    <c:v>Vỏ cà phê</c:v>
                  </c:pt>
                  <c:pt idx="3">
                    <c:v>Vỏ trấu, chăn nuôi và khác</c:v>
                  </c:pt>
                </c:lvl>
              </c:multiLvlStrCache>
            </c:multiLvlStrRef>
          </c:cat>
          <c:val>
            <c:numRef>
              <c:f>Sheet1!$B$2:$B$5</c:f>
              <c:numCache>
                <c:formatCode>General</c:formatCode>
                <c:ptCount val="4"/>
                <c:pt idx="0">
                  <c:v>42.8</c:v>
                </c:pt>
                <c:pt idx="1">
                  <c:v>15</c:v>
                </c:pt>
                <c:pt idx="2">
                  <c:v>1.4</c:v>
                </c:pt>
                <c:pt idx="3">
                  <c:v>100.8</c:v>
                </c:pt>
              </c:numCache>
            </c:numRef>
          </c:val>
        </c:ser>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404040"/>
              </a:solidFill>
              <a:effectLst/>
            </c:spPr>
          </c:dPt>
          <c:dPt>
            <c:idx val="1"/>
            <c:invertIfNegative val="0"/>
            <c:bubble3D val="0"/>
            <c:spPr>
              <a:solidFill>
                <a:srgbClr val="404040"/>
              </a:solidFill>
              <a:effectLst/>
            </c:spPr>
          </c:dPt>
          <c:dPt>
            <c:idx val="2"/>
            <c:invertIfNegative val="0"/>
            <c:bubble3D val="0"/>
            <c:spPr>
              <a:solidFill>
                <a:srgbClr val="A3A3A3"/>
              </a:solidFill>
              <a:effectLst/>
            </c:spPr>
          </c:dPt>
          <c:dPt>
            <c:idx val="3"/>
            <c:invertIfNegative val="0"/>
            <c:bubble3D val="0"/>
            <c:spPr>
              <a:solidFill>
                <a:srgbClr val="A3A3A3"/>
              </a:solidFill>
              <a:effectLst/>
            </c:spPr>
          </c:dPt>
          <c:cat>
            <c:multiLvlStrRef>
              <c:f>Sheet1!$A$2:$A$5</c:f>
              <c:multiLvlStrCache>
                <c:ptCount val="4"/>
                <c:lvl>
                  <c:pt idx="0">
                    <c:v>An Phát (AnEco)</c:v>
                  </c:pt>
                  <c:pt idx="1">
                    <c:v>HAPBIO</c:v>
                  </c:pt>
                  <c:pt idx="2">
                    <c:v>Thành Long (20 → 43)</c:v>
                  </c:pt>
                  <c:pt idx="3">
                    <c:v>AIRX Coffee (3–4)</c:v>
                  </c:pt>
                </c:lvl>
              </c:multiLvlStrCache>
            </c:multiLvlStrRef>
          </c:cat>
          <c:val>
            <c:numRef>
              <c:f>Sheet1!$B$2:$B$5</c:f>
              <c:numCache>
                <c:formatCode>General</c:formatCode>
                <c:ptCount val="4"/>
                <c:pt idx="0">
                  <c:v>108</c:v>
                </c:pt>
                <c:pt idx="1">
                  <c:v>54</c:v>
                </c:pt>
                <c:pt idx="2">
                  <c:v>43</c:v>
                </c:pt>
                <c:pt idx="3">
                  <c:v>4</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Bất lợi</c:v>
                </c:pt>
              </c:strCache>
            </c:strRef>
          </c:tx>
          <c:spPr>
            <a:solidFill>
              <a:srgbClr val="A3A3A3"/>
            </a:solidFill>
            <a:effectLst/>
          </c:spPr>
          <c:invertIfNegative val="0"/>
          <c:dLbls>
            <c:numFmt formatCode="0.0;-0.0;&quot;&quot;"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Sheet1!$A$2:$A$8</c:f>
              <c:multiLvlStrCache>
                <c:ptCount val="7"/>
                <c:lvl>
                  <c:pt idx="0">
                    <c:v>Sản lượng ×0,8 / ×1,2</c:v>
                  </c:pt>
                  <c:pt idx="1">
                    <c:v>CP nhân sự ±1 điểm % DT</c:v>
                  </c:pt>
                  <c:pt idx="2">
                    <c:v>CP biến đổi ±1 điểm % DT</c:v>
                  </c:pt>
                  <c:pt idx="3">
                    <c:v>Giá bán ±1 điểm %/năm</c:v>
                  </c:pt>
                  <c:pt idx="4">
                    <c:v>Lãi suất Rf, Kd ±1 điểm %</c:v>
                  </c:pt>
                  <c:pt idx="5">
                    <c:v>CRP ±1 điểm %</c:v>
                  </c:pt>
                  <c:pt idx="6">
                    <c:v>Ưu đãi thuế NQ 198</c:v>
                  </c:pt>
                </c:lvl>
              </c:multiLvlStrCache>
            </c:multiLvlStrRef>
          </c:cat>
          <c:val>
            <c:numRef>
              <c:f>Sheet1!$B$2:$B$8</c:f>
              <c:numCache>
                <c:formatCode>General</c:formatCode>
                <c:ptCount val="7"/>
                <c:pt idx="0">
                  <c:v>-25.3</c:v>
                </c:pt>
                <c:pt idx="1">
                  <c:v>-10.5</c:v>
                </c:pt>
                <c:pt idx="2">
                  <c:v>-8.5</c:v>
                </c:pt>
                <c:pt idx="3">
                  <c:v>-6</c:v>
                </c:pt>
                <c:pt idx="4">
                  <c:v>-4.2</c:v>
                </c:pt>
                <c:pt idx="5">
                  <c:v>-4</c:v>
                </c:pt>
                <c:pt idx="6">
                  <c:v>0</c:v>
                </c:pt>
              </c:numCache>
            </c:numRef>
          </c:val>
        </c:ser>
        <c:ser>
          <c:idx val="1"/>
          <c:order val="1"/>
          <c:tx>
            <c:strRef>
              <c:f>Sheet1!$C$1</c:f>
              <c:strCache>
                <c:ptCount val="1"/>
                <c:pt idx="0">
                  <c:v>Thuận lợi</c:v>
                </c:pt>
              </c:strCache>
            </c:strRef>
          </c:tx>
          <c:spPr>
            <a:solidFill>
              <a:srgbClr val="7B1E2B"/>
            </a:solidFill>
            <a:effectLst/>
          </c:spPr>
          <c:invertIfNegative val="0"/>
          <c:dLbls>
            <c:numFmt formatCode="0.0;-0.0;&quot;&quot;"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Sheet1!$A$2:$A$8</c:f>
              <c:multiLvlStrCache>
                <c:ptCount val="7"/>
                <c:lvl>
                  <c:pt idx="0">
                    <c:v>Sản lượng ×0,8 / ×1,2</c:v>
                  </c:pt>
                  <c:pt idx="1">
                    <c:v>CP nhân sự ±1 điểm % DT</c:v>
                  </c:pt>
                  <c:pt idx="2">
                    <c:v>CP biến đổi ±1 điểm % DT</c:v>
                  </c:pt>
                  <c:pt idx="3">
                    <c:v>Giá bán ±1 điểm %/năm</c:v>
                  </c:pt>
                  <c:pt idx="4">
                    <c:v>Lãi suất Rf, Kd ±1 điểm %</c:v>
                  </c:pt>
                  <c:pt idx="5">
                    <c:v>CRP ±1 điểm %</c:v>
                  </c:pt>
                  <c:pt idx="6">
                    <c:v>Ưu đãi thuế NQ 198</c:v>
                  </c:pt>
                </c:lvl>
              </c:multiLvlStrCache>
            </c:multiLvlStrRef>
          </c:cat>
          <c:val>
            <c:numRef>
              <c:f>Sheet1!$C$2:$C$8</c:f>
              <c:numCache>
                <c:formatCode>General</c:formatCode>
                <c:ptCount val="7"/>
                <c:pt idx="0">
                  <c:v>30.6</c:v>
                </c:pt>
                <c:pt idx="1">
                  <c:v>10.5</c:v>
                </c:pt>
                <c:pt idx="2">
                  <c:v>8.5</c:v>
                </c:pt>
                <c:pt idx="3">
                  <c:v>6.2</c:v>
                </c:pt>
                <c:pt idx="4">
                  <c:v>5</c:v>
                </c:pt>
                <c:pt idx="5">
                  <c:v>5</c:v>
                </c:pt>
                <c:pt idx="6">
                  <c:v>3.6</c:v>
                </c:pt>
              </c:numCache>
            </c:numRef>
          </c:val>
        </c:ser>
        <c:dLbls>
          <c:numFmt formatCode="0.0;-0.0;&quot;&quot;"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BFBFBF"/>
            </a:solidFill>
            <a:prstDash val="solid"/>
            <a:round/>
          </a:ln>
        </c:spPr>
        <c:txPr>
          <a:bodyPr/>
          <a:lstStyle/>
          <a:p>
            <a:pPr>
              <a:defRPr lang="vi-VN" sz="6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max val="40"/>
          <c:min val="-42"/>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CP biến đổi/DT (%)</c:v>
                </c:pt>
              </c:strCache>
            </c:strRef>
          </c:tx>
          <c:spPr>
            <a:solidFill>
              <a:srgbClr val="7B1E2B"/>
            </a:solidFill>
            <a:effectLst/>
          </c:spPr>
          <c:invertIfNegative val="0"/>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7B1E2B"/>
              </a:solidFill>
              <a:effectLst/>
            </c:spPr>
          </c:dPt>
          <c:dPt>
            <c:idx val="1"/>
            <c:invertIfNegative val="0"/>
            <c:bubble3D val="0"/>
            <c:spPr>
              <a:solidFill>
                <a:srgbClr val="7B1E2B"/>
              </a:solidFill>
              <a:effectLst/>
            </c:spPr>
          </c:dPt>
          <c:dPt>
            <c:idx val="2"/>
            <c:invertIfNegative val="0"/>
            <c:bubble3D val="0"/>
            <c:spPr>
              <a:solidFill>
                <a:srgbClr val="7B1E2B"/>
              </a:solidFill>
              <a:effectLst/>
            </c:spPr>
          </c:dPt>
          <c:dPt>
            <c:idx val="3"/>
            <c:invertIfNegative val="0"/>
            <c:bubble3D val="0"/>
            <c:spPr>
              <a:solidFill>
                <a:srgbClr val="C9939B"/>
              </a:solidFill>
              <a:effectLst/>
            </c:spPr>
          </c:dPt>
          <c:dPt>
            <c:idx val="4"/>
            <c:invertIfNegative val="0"/>
            <c:bubble3D val="0"/>
            <c:spPr>
              <a:solidFill>
                <a:srgbClr val="C9939B"/>
              </a:solidFill>
              <a:effectLst/>
            </c:spPr>
          </c:dPt>
          <c:dPt>
            <c:idx val="5"/>
            <c:invertIfNegative val="0"/>
            <c:bubble3D val="0"/>
            <c:spPr>
              <a:solidFill>
                <a:srgbClr val="C9939B"/>
              </a:solidFill>
              <a:effectLst/>
            </c:spPr>
          </c:dPt>
          <c:dPt>
            <c:idx val="6"/>
            <c:invertIfNegative val="0"/>
            <c:bubble3D val="0"/>
            <c:spPr>
              <a:solidFill>
                <a:srgbClr val="C9939B"/>
              </a:solidFill>
              <a:effectLst/>
            </c:spPr>
          </c:dPt>
          <c:dPt>
            <c:idx val="7"/>
            <c:invertIfNegative val="0"/>
            <c:bubble3D val="0"/>
            <c:spPr>
              <a:solidFill>
                <a:srgbClr val="C9939B"/>
              </a:solidFill>
              <a:effectLst/>
            </c:spPr>
          </c:dPt>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Sheet1!$B$2:$B$9</c:f>
              <c:numCache>
                <c:formatCode>General</c:formatCode>
                <c:ptCount val="8"/>
                <c:pt idx="0">
                  <c:v>25.5</c:v>
                </c:pt>
                <c:pt idx="1">
                  <c:v>25</c:v>
                </c:pt>
                <c:pt idx="2">
                  <c:v>24.5</c:v>
                </c:pt>
                <c:pt idx="3">
                  <c:v>25</c:v>
                </c:pt>
                <c:pt idx="4">
                  <c:v>25</c:v>
                </c:pt>
                <c:pt idx="5">
                  <c:v>25.5</c:v>
                </c:pt>
                <c:pt idx="6">
                  <c:v>27</c:v>
                </c:pt>
                <c:pt idx="7">
                  <c:v>26.5</c:v>
                </c:pt>
              </c:numCache>
            </c:numRef>
          </c:val>
        </c:ser>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min val="0"/>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Bao bì F&amp;B/FMCG</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Sheet1!$A$2:$A$7</c:f>
              <c:multiLvlStrCache>
                <c:ptCount val="6"/>
                <c:lvl>
                  <c:pt idx="0">
                    <c:v>2025A</c:v>
                  </c:pt>
                  <c:pt idx="1">
                    <c:v>26E</c:v>
                  </c:pt>
                  <c:pt idx="2">
                    <c:v>27E</c:v>
                  </c:pt>
                  <c:pt idx="3">
                    <c:v>28E</c:v>
                  </c:pt>
                  <c:pt idx="4">
                    <c:v>29E</c:v>
                  </c:pt>
                  <c:pt idx="5">
                    <c:v>30E</c:v>
                  </c:pt>
                </c:lvl>
              </c:multiLvlStrCache>
            </c:multiLvlStrRef>
          </c:cat>
          <c:val>
            <c:numRef>
              <c:f>Sheet1!$B$2:$B$7</c:f>
              <c:numCache>
                <c:formatCode>General</c:formatCode>
                <c:ptCount val="6"/>
                <c:pt idx="0">
                  <c:v>38.1</c:v>
                </c:pt>
                <c:pt idx="1">
                  <c:v>51.2</c:v>
                </c:pt>
                <c:pt idx="2">
                  <c:v>65.3</c:v>
                </c:pt>
                <c:pt idx="3">
                  <c:v>80</c:v>
                </c:pt>
                <c:pt idx="4">
                  <c:v>110.1</c:v>
                </c:pt>
                <c:pt idx="5">
                  <c:v>140.4</c:v>
                </c:pt>
              </c:numCache>
            </c:numRef>
          </c:val>
        </c:ser>
        <c:ser>
          <c:idx val="1"/>
          <c:order val="1"/>
          <c:tx>
            <c:strRef>
              <c:f>Sheet1!$C$1</c:f>
              <c:strCache>
                <c:ptCount val="1"/>
                <c:pt idx="0">
                  <c:v>Thiết kế &amp; khuôn</c:v>
                </c:pt>
              </c:strCache>
            </c:strRef>
          </c:tx>
          <c:spPr>
            <a:solidFill>
              <a:srgbClr val="40404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Sheet1!$A$2:$A$7</c:f>
              <c:multiLvlStrCache>
                <c:ptCount val="6"/>
                <c:lvl>
                  <c:pt idx="0">
                    <c:v>2025A</c:v>
                  </c:pt>
                  <c:pt idx="1">
                    <c:v>26E</c:v>
                  </c:pt>
                  <c:pt idx="2">
                    <c:v>27E</c:v>
                  </c:pt>
                  <c:pt idx="3">
                    <c:v>28E</c:v>
                  </c:pt>
                  <c:pt idx="4">
                    <c:v>29E</c:v>
                  </c:pt>
                  <c:pt idx="5">
                    <c:v>30E</c:v>
                  </c:pt>
                </c:lvl>
              </c:multiLvlStrCache>
            </c:multiLvlStrRef>
          </c:cat>
          <c:val>
            <c:numRef>
              <c:f>Sheet1!$C$2:$C$7</c:f>
              <c:numCache>
                <c:formatCode>General</c:formatCode>
                <c:ptCount val="6"/>
                <c:pt idx="0">
                  <c:v>5.9</c:v>
                </c:pt>
                <c:pt idx="1">
                  <c:v>7.3</c:v>
                </c:pt>
                <c:pt idx="2">
                  <c:v>9</c:v>
                </c:pt>
                <c:pt idx="3">
                  <c:v>10.6</c:v>
                </c:pt>
                <c:pt idx="4">
                  <c:v>13.9</c:v>
                </c:pt>
                <c:pt idx="5">
                  <c:v>17</c:v>
                </c:pt>
              </c:numCache>
            </c:numRef>
          </c:val>
        </c:ser>
        <c:ser>
          <c:idx val="2"/>
          <c:order val="2"/>
          <c:tx>
            <c:strRef>
              <c:f>Sheet1!$D$1</c:f>
              <c:strCache>
                <c:ptCount val="1"/>
                <c:pt idx="0">
                  <c:v>Đệm nội thất/TMĐT</c:v>
                </c:pt>
              </c:strCache>
            </c:strRef>
          </c:tx>
          <c:spPr>
            <a:solidFill>
              <a:srgbClr val="A3A3A3"/>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Sheet1!$A$2:$A$7</c:f>
              <c:multiLvlStrCache>
                <c:ptCount val="6"/>
                <c:lvl>
                  <c:pt idx="0">
                    <c:v>2025A</c:v>
                  </c:pt>
                  <c:pt idx="1">
                    <c:v>26E</c:v>
                  </c:pt>
                  <c:pt idx="2">
                    <c:v>27E</c:v>
                  </c:pt>
                  <c:pt idx="3">
                    <c:v>28E</c:v>
                  </c:pt>
                  <c:pt idx="4">
                    <c:v>29E</c:v>
                  </c:pt>
                  <c:pt idx="5">
                    <c:v>30E</c:v>
                  </c:pt>
                </c:lvl>
              </c:multiLvlStrCache>
            </c:multiLvlStrRef>
          </c:cat>
          <c:val>
            <c:numRef>
              <c:f>Sheet1!$D$2:$D$7</c:f>
              <c:numCache>
                <c:formatCode>General</c:formatCode>
                <c:ptCount val="6"/>
                <c:pt idx="0">
                  <c:v>2.7</c:v>
                </c:pt>
                <c:pt idx="1">
                  <c:v>3.6</c:v>
                </c:pt>
                <c:pt idx="2">
                  <c:v>4.8</c:v>
                </c:pt>
                <c:pt idx="3">
                  <c:v>6.2</c:v>
                </c:pt>
                <c:pt idx="4">
                  <c:v>8.8</c:v>
                </c:pt>
                <c:pt idx="5">
                  <c:v>11.8</c:v>
                </c:pt>
              </c:numCache>
            </c:numRef>
          </c:val>
        </c:ser>
        <c:ser>
          <c:idx val="3"/>
          <c:order val="3"/>
          <c:tx>
            <c:strRef>
              <c:f>Sheet1!$E$1</c:f>
              <c:strCache>
                <c:ptCount val="1"/>
                <c:pt idx="0">
                  <c:v>Đệm điện tử</c:v>
                </c:pt>
              </c:strCache>
            </c:strRef>
          </c:tx>
          <c:spPr>
            <a:solidFill>
              <a:srgbClr val="D0D0D0"/>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cat>
            <c:multiLvlStrRef>
              <c:f>Sheet1!$A$2:$A$7</c:f>
              <c:multiLvlStrCache>
                <c:ptCount val="6"/>
                <c:lvl>
                  <c:pt idx="0">
                    <c:v>2025A</c:v>
                  </c:pt>
                  <c:pt idx="1">
                    <c:v>26E</c:v>
                  </c:pt>
                  <c:pt idx="2">
                    <c:v>27E</c:v>
                  </c:pt>
                  <c:pt idx="3">
                    <c:v>28E</c:v>
                  </c:pt>
                  <c:pt idx="4">
                    <c:v>29E</c:v>
                  </c:pt>
                  <c:pt idx="5">
                    <c:v>30E</c:v>
                  </c:pt>
                </c:lvl>
              </c:multiLvlStrCache>
            </c:multiLvlStrRef>
          </c:cat>
          <c:val>
            <c:numRef>
              <c:f>Sheet1!$E$2:$E$7</c:f>
              <c:numCache>
                <c:formatCode>General</c:formatCode>
                <c:ptCount val="6"/>
                <c:pt idx="0">
                  <c:v>1.2</c:v>
                </c:pt>
                <c:pt idx="1">
                  <c:v>1.9</c:v>
                </c:pt>
                <c:pt idx="2">
                  <c:v>2.9</c:v>
                </c:pt>
                <c:pt idx="3">
                  <c:v>4.3</c:v>
                </c:pt>
                <c:pt idx="4">
                  <c:v>7.5</c:v>
                </c:pt>
                <c:pt idx="5">
                  <c:v>11</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Gộp</c:v>
                </c:pt>
              </c:strCache>
            </c:strRef>
          </c:tx>
          <c:spPr>
            <a:solidFill>
              <a:srgbClr val="7B1E2B"/>
            </a:solidFill>
            <a:ln w="19050" cap="flat">
              <a:solidFill>
                <a:srgbClr val="7B1E2B"/>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c:symbol val="circle"/>
            <c:size val="4"/>
            <c:spPr>
              <a:solidFill>
                <a:srgbClr val="7B1E2B"/>
              </a:solidFill>
              <a:ln w="9525" cap="flat">
                <a:solidFill>
                  <a:srgbClr val="7B1E2B"/>
                </a:solidFill>
                <a:prstDash val="solid"/>
                <a:round/>
              </a:ln>
              <a:effectLst/>
            </c:spPr>
          </c:marker>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Sheet1!$B$2:$B$9</c:f>
              <c:numCache>
                <c:formatCode>General</c:formatCode>
                <c:ptCount val="8"/>
                <c:pt idx="0">
                  <c:v>37.3</c:v>
                </c:pt>
                <c:pt idx="1">
                  <c:v>46.9</c:v>
                </c:pt>
                <c:pt idx="2">
                  <c:v>51</c:v>
                </c:pt>
                <c:pt idx="3">
                  <c:v>51.8</c:v>
                </c:pt>
                <c:pt idx="4">
                  <c:v>51.5</c:v>
                </c:pt>
                <c:pt idx="5">
                  <c:v>50.7</c:v>
                </c:pt>
                <c:pt idx="6">
                  <c:v>45.1</c:v>
                </c:pt>
                <c:pt idx="7">
                  <c:v>47.4</c:v>
                </c:pt>
              </c:numCache>
            </c:numRef>
          </c:val>
          <c:smooth val="0"/>
        </c:ser>
        <c:ser>
          <c:idx val="1"/>
          <c:order val="1"/>
          <c:tx>
            <c:strRef>
              <c:f>Sheet1!$C$1</c:f>
              <c:strCache>
                <c:ptCount val="1"/>
                <c:pt idx="0">
                  <c:v>EBITDA</c:v>
                </c:pt>
              </c:strCache>
            </c:strRef>
          </c:tx>
          <c:spPr>
            <a:solidFill>
              <a:srgbClr val="404040"/>
            </a:solidFill>
            <a:ln w="19050" cap="flat">
              <a:solidFill>
                <a:srgbClr val="404040"/>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c:symbol val="circle"/>
            <c:size val="4"/>
            <c:spPr>
              <a:solidFill>
                <a:srgbClr val="404040"/>
              </a:solidFill>
              <a:ln w="9525" cap="flat">
                <a:solidFill>
                  <a:srgbClr val="404040"/>
                </a:solidFill>
                <a:prstDash val="solid"/>
                <a:round/>
              </a:ln>
              <a:effectLst/>
            </c:spPr>
          </c:marker>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Sheet1!$C$2:$C$9</c:f>
              <c:numCache>
                <c:formatCode>General</c:formatCode>
                <c:ptCount val="8"/>
                <c:pt idx="0">
                  <c:v>-14.2</c:v>
                </c:pt>
                <c:pt idx="1">
                  <c:v>6.5</c:v>
                </c:pt>
                <c:pt idx="2">
                  <c:v>16.2</c:v>
                </c:pt>
                <c:pt idx="3">
                  <c:v>17.9</c:v>
                </c:pt>
                <c:pt idx="4">
                  <c:v>19.6</c:v>
                </c:pt>
                <c:pt idx="5">
                  <c:v>19.5</c:v>
                </c:pt>
                <c:pt idx="6">
                  <c:v>17.7</c:v>
                </c:pt>
                <c:pt idx="7">
                  <c:v>20.7</c:v>
                </c:pt>
              </c:numCache>
            </c:numRef>
          </c:val>
          <c:smooth val="0"/>
        </c:ser>
        <c:ser>
          <c:idx val="2"/>
          <c:order val="2"/>
          <c:tx>
            <c:strRef>
              <c:f>Sheet1!$D$1</c:f>
              <c:strCache>
                <c:ptCount val="1"/>
                <c:pt idx="0">
                  <c:v>EBIT</c:v>
                </c:pt>
              </c:strCache>
            </c:strRef>
          </c:tx>
          <c:spPr>
            <a:solidFill>
              <a:srgbClr val="A3A3A3"/>
            </a:solidFill>
            <a:ln w="19050" cap="flat">
              <a:solidFill>
                <a:srgbClr val="A3A3A3"/>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c:symbol val="circle"/>
            <c:size val="4"/>
            <c:spPr>
              <a:solidFill>
                <a:srgbClr val="A3A3A3"/>
              </a:solidFill>
              <a:ln w="9525" cap="flat">
                <a:solidFill>
                  <a:srgbClr val="A3A3A3"/>
                </a:solidFill>
                <a:prstDash val="solid"/>
                <a:round/>
              </a:ln>
              <a:effectLst/>
            </c:spPr>
          </c:marker>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Sheet1!$D$2:$D$9</c:f>
              <c:numCache>
                <c:formatCode>General</c:formatCode>
                <c:ptCount val="8"/>
                <c:pt idx="0">
                  <c:v>-21.6</c:v>
                </c:pt>
                <c:pt idx="1">
                  <c:v>-1.2</c:v>
                </c:pt>
                <c:pt idx="2">
                  <c:v>9.6</c:v>
                </c:pt>
                <c:pt idx="3">
                  <c:v>12</c:v>
                </c:pt>
                <c:pt idx="4">
                  <c:v>13.2</c:v>
                </c:pt>
                <c:pt idx="5">
                  <c:v>12.8</c:v>
                </c:pt>
                <c:pt idx="6">
                  <c:v>7.3</c:v>
                </c:pt>
                <c:pt idx="7">
                  <c:v>11.4</c:v>
                </c:pt>
              </c:numCache>
            </c:numRef>
          </c:val>
          <c:smooth val="0"/>
        </c:ser>
        <c:ser>
          <c:idx val="3"/>
          <c:order val="3"/>
          <c:tx>
            <c:strRef>
              <c:f>Sheet1!$E$1</c:f>
              <c:strCache>
                <c:ptCount val="1"/>
                <c:pt idx="0">
                  <c:v>LNST</c:v>
                </c:pt>
              </c:strCache>
            </c:strRef>
          </c:tx>
          <c:spPr>
            <a:solidFill>
              <a:srgbClr val="B08D57"/>
            </a:solidFill>
            <a:ln w="19050" cap="flat">
              <a:solidFill>
                <a:srgbClr val="B08D57"/>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c:symbol val="circle"/>
            <c:size val="4"/>
            <c:spPr>
              <a:solidFill>
                <a:srgbClr val="B08D57"/>
              </a:solidFill>
              <a:ln w="9525" cap="flat">
                <a:solidFill>
                  <a:srgbClr val="B08D57"/>
                </a:solidFill>
                <a:prstDash val="solid"/>
                <a:round/>
              </a:ln>
              <a:effectLst/>
            </c:spPr>
          </c:marker>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Sheet1!$E$2:$E$9</c:f>
              <c:numCache>
                <c:formatCode>General</c:formatCode>
                <c:ptCount val="8"/>
                <c:pt idx="0">
                  <c:v>-22.2</c:v>
                </c:pt>
                <c:pt idx="1">
                  <c:v>-1.6</c:v>
                </c:pt>
                <c:pt idx="2">
                  <c:v>9.3</c:v>
                </c:pt>
                <c:pt idx="3">
                  <c:v>10.3</c:v>
                </c:pt>
                <c:pt idx="4">
                  <c:v>10.4</c:v>
                </c:pt>
                <c:pt idx="5">
                  <c:v>8.5</c:v>
                </c:pt>
                <c:pt idx="6">
                  <c:v>3.5</c:v>
                </c:pt>
                <c:pt idx="7">
                  <c:v>7.5</c:v>
                </c:pt>
              </c:numCache>
            </c:numRef>
          </c:val>
          <c:smooth val="0"/>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CAPEX/DT (%)</c:v>
                </c:pt>
              </c:strCache>
            </c:strRef>
          </c:tx>
          <c:spPr>
            <a:solidFill>
              <a:srgbClr val="7B1E2B"/>
            </a:solidFill>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7B1E2B"/>
              </a:solidFill>
              <a:effectLst/>
            </c:spPr>
          </c:dPt>
          <c:dPt>
            <c:idx val="1"/>
            <c:invertIfNegative val="0"/>
            <c:bubble3D val="0"/>
            <c:spPr>
              <a:solidFill>
                <a:srgbClr val="7B1E2B"/>
              </a:solidFill>
              <a:effectLst/>
            </c:spPr>
          </c:dPt>
          <c:dPt>
            <c:idx val="2"/>
            <c:invertIfNegative val="0"/>
            <c:bubble3D val="0"/>
            <c:spPr>
              <a:solidFill>
                <a:srgbClr val="7B1E2B"/>
              </a:solidFill>
              <a:effectLst/>
            </c:spPr>
          </c:dPt>
          <c:dPt>
            <c:idx val="3"/>
            <c:invertIfNegative val="0"/>
            <c:bubble3D val="0"/>
            <c:spPr>
              <a:solidFill>
                <a:srgbClr val="C9939B"/>
              </a:solidFill>
              <a:effectLst/>
            </c:spPr>
          </c:dPt>
          <c:dPt>
            <c:idx val="4"/>
            <c:invertIfNegative val="0"/>
            <c:bubble3D val="0"/>
            <c:spPr>
              <a:solidFill>
                <a:srgbClr val="C9939B"/>
              </a:solidFill>
              <a:effectLst/>
            </c:spPr>
          </c:dPt>
          <c:dPt>
            <c:idx val="5"/>
            <c:invertIfNegative val="0"/>
            <c:bubble3D val="0"/>
            <c:spPr>
              <a:solidFill>
                <a:srgbClr val="C9939B"/>
              </a:solidFill>
              <a:effectLst/>
            </c:spPr>
          </c:dPt>
          <c:dPt>
            <c:idx val="6"/>
            <c:invertIfNegative val="0"/>
            <c:bubble3D val="0"/>
            <c:spPr>
              <a:solidFill>
                <a:srgbClr val="C9939B"/>
              </a:solidFill>
              <a:effectLst/>
            </c:spPr>
          </c:dPt>
          <c:dPt>
            <c:idx val="7"/>
            <c:invertIfNegative val="0"/>
            <c:bubble3D val="0"/>
            <c:spPr>
              <a:solidFill>
                <a:srgbClr val="C9939B"/>
              </a:solidFill>
              <a:effectLst/>
            </c:spPr>
          </c:dPt>
          <c:cat>
            <c:multiLvlStrRef>
              <c:f>Sheet1!$A$2:$A$9</c:f>
              <c:multiLvlStrCache>
                <c:ptCount val="8"/>
                <c:lvl>
                  <c:pt idx="0">
                    <c:v>23A</c:v>
                  </c:pt>
                  <c:pt idx="1">
                    <c:v>24A</c:v>
                  </c:pt>
                  <c:pt idx="2">
                    <c:v>25A</c:v>
                  </c:pt>
                  <c:pt idx="3">
                    <c:v>26E</c:v>
                  </c:pt>
                  <c:pt idx="4">
                    <c:v>27E</c:v>
                  </c:pt>
                  <c:pt idx="5">
                    <c:v>28E</c:v>
                  </c:pt>
                  <c:pt idx="6">
                    <c:v>29E</c:v>
                  </c:pt>
                  <c:pt idx="7">
                    <c:v>30E</c:v>
                  </c:pt>
                </c:lvl>
              </c:multiLvlStrCache>
            </c:multiLvlStrRef>
          </c:cat>
          <c:val>
            <c:numRef>
              <c:f>Sheet1!$B$2:$B$9</c:f>
              <c:numCache>
                <c:formatCode>General</c:formatCode>
                <c:ptCount val="8"/>
                <c:pt idx="0">
                  <c:v>25.8</c:v>
                </c:pt>
                <c:pt idx="1">
                  <c:v>20.4</c:v>
                </c:pt>
                <c:pt idx="2">
                  <c:v>10.7</c:v>
                </c:pt>
                <c:pt idx="3">
                  <c:v>20</c:v>
                </c:pt>
                <c:pt idx="4">
                  <c:v>15</c:v>
                </c:pt>
                <c:pt idx="5">
                  <c:v>65</c:v>
                </c:pt>
                <c:pt idx="6">
                  <c:v>12</c:v>
                </c:pt>
                <c:pt idx="7">
                  <c:v>10</c:v>
                </c:pt>
              </c:numCache>
            </c:numRef>
          </c:val>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CAPEX</c:v>
                </c:pt>
              </c:strCache>
            </c:strRef>
          </c:tx>
          <c:spPr>
            <a:solidFill>
              <a:srgbClr val="7B1E2B"/>
            </a:solidFill>
            <a:effectLst/>
          </c:spPr>
          <c:invertIfNegative val="0"/>
          <c:dLbls>
            <c:numFmt formatCode="0.0"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Sheet1!$A$2:$A$7</c:f>
              <c:multiLvlStrCache>
                <c:ptCount val="6"/>
                <c:lvl>
                  <c:pt idx="0">
                    <c:v>25A</c:v>
                  </c:pt>
                  <c:pt idx="1">
                    <c:v>26E</c:v>
                  </c:pt>
                  <c:pt idx="2">
                    <c:v>27E</c:v>
                  </c:pt>
                  <c:pt idx="3">
                    <c:v>28E</c:v>
                  </c:pt>
                  <c:pt idx="4">
                    <c:v>29E</c:v>
                  </c:pt>
                  <c:pt idx="5">
                    <c:v>30E</c:v>
                  </c:pt>
                </c:lvl>
              </c:multiLvlStrCache>
            </c:multiLvlStrRef>
          </c:cat>
          <c:val>
            <c:numRef>
              <c:f>Sheet1!$B$2:$B$7</c:f>
              <c:numCache>
                <c:formatCode>General</c:formatCode>
                <c:ptCount val="6"/>
                <c:pt idx="0">
                  <c:v>5.1</c:v>
                </c:pt>
                <c:pt idx="1">
                  <c:v>12.7</c:v>
                </c:pt>
                <c:pt idx="2">
                  <c:v>12.2</c:v>
                </c:pt>
                <c:pt idx="3">
                  <c:v>65.3</c:v>
                </c:pt>
                <c:pt idx="4">
                  <c:v>16.7</c:v>
                </c:pt>
                <c:pt idx="5">
                  <c:v>17.9</c:v>
                </c:pt>
              </c:numCache>
            </c:numRef>
          </c:val>
        </c:ser>
        <c:ser>
          <c:idx val="1"/>
          <c:order val="1"/>
          <c:tx>
            <c:strRef>
              <c:f>Sheet1!$C$1</c:f>
              <c:strCache>
                <c:ptCount val="1"/>
                <c:pt idx="0">
                  <c:v>Khấu hao</c:v>
                </c:pt>
              </c:strCache>
            </c:strRef>
          </c:tx>
          <c:spPr>
            <a:solidFill>
              <a:srgbClr val="A3A3A3"/>
            </a:solidFill>
            <a:effectLst/>
          </c:spPr>
          <c:invertIfNegative val="0"/>
          <c:dLbls>
            <c:numFmt formatCode="0.0"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Sheet1!$A$2:$A$7</c:f>
              <c:multiLvlStrCache>
                <c:ptCount val="6"/>
                <c:lvl>
                  <c:pt idx="0">
                    <c:v>25A</c:v>
                  </c:pt>
                  <c:pt idx="1">
                    <c:v>26E</c:v>
                  </c:pt>
                  <c:pt idx="2">
                    <c:v>27E</c:v>
                  </c:pt>
                  <c:pt idx="3">
                    <c:v>28E</c:v>
                  </c:pt>
                  <c:pt idx="4">
                    <c:v>29E</c:v>
                  </c:pt>
                  <c:pt idx="5">
                    <c:v>30E</c:v>
                  </c:pt>
                </c:lvl>
              </c:multiLvlStrCache>
            </c:multiLvlStrRef>
          </c:cat>
          <c:val>
            <c:numRef>
              <c:f>Sheet1!$C$2:$C$7</c:f>
              <c:numCache>
                <c:formatCode>General</c:formatCode>
                <c:ptCount val="6"/>
                <c:pt idx="0">
                  <c:v>3.1</c:v>
                </c:pt>
                <c:pt idx="1">
                  <c:v>3.7</c:v>
                </c:pt>
                <c:pt idx="2">
                  <c:v>5.3</c:v>
                </c:pt>
                <c:pt idx="3">
                  <c:v>6.7</c:v>
                </c:pt>
                <c:pt idx="4">
                  <c:v>14.6</c:v>
                </c:pt>
                <c:pt idx="5">
                  <c:v>16.6</c:v>
                </c:pt>
              </c:numCache>
            </c:numRef>
          </c:val>
        </c:ser>
        <c:dLbls>
          <c:numFmt formatCode="0.0" sourceLinked="0"/>
          <c:txPr>
            <a:bodyPr/>
            <a:lstStyle/>
            <a:p>
              <a:pPr>
                <a:defRPr lang="vi-VN" b="0" i="0" strike="noStrike" sz="6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b"/>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FCFF</c:v>
                </c:pt>
              </c:strCache>
            </c:strRef>
          </c:tx>
          <c:spPr>
            <a:solidFill>
              <a:srgbClr val="404040"/>
            </a:solidFill>
            <a:effectLst/>
          </c:spPr>
          <c:invertIfNegative val="0"/>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Sheet1!$A$2:$A$7</c:f>
              <c:multiLvlStrCache>
                <c:ptCount val="6"/>
                <c:lvl>
                  <c:pt idx="0">
                    <c:v>25A</c:v>
                  </c:pt>
                  <c:pt idx="1">
                    <c:v>26E</c:v>
                  </c:pt>
                  <c:pt idx="2">
                    <c:v>27E</c:v>
                  </c:pt>
                  <c:pt idx="3">
                    <c:v>28E</c:v>
                  </c:pt>
                  <c:pt idx="4">
                    <c:v>29E</c:v>
                  </c:pt>
                  <c:pt idx="5">
                    <c:v>30E</c:v>
                  </c:pt>
                </c:lvl>
              </c:multiLvlStrCache>
            </c:multiLvlStrRef>
          </c:cat>
          <c:val>
            <c:numRef>
              <c:f>Sheet1!$B$2:$B$7</c:f>
              <c:numCache>
                <c:formatCode>General</c:formatCode>
                <c:ptCount val="6"/>
                <c:pt idx="0">
                  <c:v>1.2</c:v>
                </c:pt>
                <c:pt idx="1">
                  <c:v>-4.9</c:v>
                </c:pt>
                <c:pt idx="2">
                  <c:v>-1.8</c:v>
                </c:pt>
                <c:pt idx="3">
                  <c:v>-52.3</c:v>
                </c:pt>
                <c:pt idx="4">
                  <c:v>-3.4</c:v>
                </c:pt>
                <c:pt idx="5">
                  <c:v>8.4</c:v>
                </c:pt>
              </c:numCache>
            </c:numRef>
          </c:val>
        </c:ser>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ROIC</c:v>
                </c:pt>
              </c:strCache>
            </c:strRef>
          </c:tx>
          <c:spPr>
            <a:solidFill>
              <a:srgbClr val="7B1E2B"/>
            </a:solidFill>
            <a:ln w="19050" cap="flat">
              <a:solidFill>
                <a:srgbClr val="7B1E2B"/>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c:symbol val="circle"/>
            <c:size val="4"/>
            <c:spPr>
              <a:solidFill>
                <a:srgbClr val="7B1E2B"/>
              </a:solidFill>
              <a:ln w="9525" cap="flat">
                <a:solidFill>
                  <a:srgbClr val="7B1E2B"/>
                </a:solidFill>
                <a:prstDash val="solid"/>
                <a:round/>
              </a:ln>
              <a:effectLst/>
            </c:spPr>
          </c:marker>
          <c:cat>
            <c:multiLvlStrRef>
              <c:f>Sheet1!$A$2:$A$7</c:f>
              <c:multiLvlStrCache>
                <c:ptCount val="6"/>
                <c:lvl>
                  <c:pt idx="0">
                    <c:v>25A</c:v>
                  </c:pt>
                  <c:pt idx="1">
                    <c:v>26E</c:v>
                  </c:pt>
                  <c:pt idx="2">
                    <c:v>27E</c:v>
                  </c:pt>
                  <c:pt idx="3">
                    <c:v>28E</c:v>
                  </c:pt>
                  <c:pt idx="4">
                    <c:v>29E</c:v>
                  </c:pt>
                  <c:pt idx="5">
                    <c:v>30E</c:v>
                  </c:pt>
                </c:lvl>
              </c:multiLvlStrCache>
            </c:multiLvlStrRef>
          </c:cat>
          <c:val>
            <c:numRef>
              <c:f>Sheet1!$B$2:$B$7</c:f>
              <c:numCache>
                <c:formatCode>General</c:formatCode>
                <c:ptCount val="6"/>
                <c:pt idx="0">
                  <c:v>12.7</c:v>
                </c:pt>
                <c:pt idx="1">
                  <c:v>16.7</c:v>
                </c:pt>
                <c:pt idx="2">
                  <c:v>17</c:v>
                </c:pt>
                <c:pt idx="3">
                  <c:v>9.1</c:v>
                </c:pt>
                <c:pt idx="4">
                  <c:v>6.5</c:v>
                </c:pt>
                <c:pt idx="5">
                  <c:v>12.3</c:v>
                </c:pt>
              </c:numCache>
            </c:numRef>
          </c:val>
          <c:smooth val="0"/>
        </c:ser>
        <c:ser>
          <c:idx val="1"/>
          <c:order val="1"/>
          <c:tx>
            <c:strRef>
              <c:f>Sheet1!$C$1</c:f>
              <c:strCache>
                <c:ptCount val="1"/>
                <c:pt idx="0">
                  <c:v>WACC</c:v>
                </c:pt>
              </c:strCache>
            </c:strRef>
          </c:tx>
          <c:spPr>
            <a:solidFill>
              <a:srgbClr val="404040"/>
            </a:solidFill>
            <a:ln w="19050" cap="flat">
              <a:solidFill>
                <a:srgbClr val="404040"/>
              </a:solidFill>
              <a:prstDash val="solid"/>
              <a:round/>
            </a:ln>
            <a:effectLst/>
          </c:spPr>
          <c:invertIfNegative val="0"/>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c:symbol val="circle"/>
            <c:size val="4"/>
            <c:spPr>
              <a:solidFill>
                <a:srgbClr val="404040"/>
              </a:solidFill>
              <a:ln w="9525" cap="flat">
                <a:solidFill>
                  <a:srgbClr val="404040"/>
                </a:solidFill>
                <a:prstDash val="solid"/>
                <a:round/>
              </a:ln>
              <a:effectLst/>
            </c:spPr>
          </c:marker>
          <c:cat>
            <c:multiLvlStrRef>
              <c:f>Sheet1!$A$2:$A$7</c:f>
              <c:multiLvlStrCache>
                <c:ptCount val="6"/>
                <c:lvl>
                  <c:pt idx="0">
                    <c:v>25A</c:v>
                  </c:pt>
                  <c:pt idx="1">
                    <c:v>26E</c:v>
                  </c:pt>
                  <c:pt idx="2">
                    <c:v>27E</c:v>
                  </c:pt>
                  <c:pt idx="3">
                    <c:v>28E</c:v>
                  </c:pt>
                  <c:pt idx="4">
                    <c:v>29E</c:v>
                  </c:pt>
                  <c:pt idx="5">
                    <c:v>30E</c:v>
                  </c:pt>
                </c:lvl>
              </c:multiLvlStrCache>
            </c:multiLvlStrRef>
          </c:cat>
          <c:val>
            <c:numRef>
              <c:f>Sheet1!$C$2:$C$7</c:f>
              <c:numCache>
                <c:formatCode>General</c:formatCode>
                <c:ptCount val="6"/>
                <c:pt idx="0">
                  <c:v>14.1</c:v>
                </c:pt>
                <c:pt idx="1">
                  <c:v>14.1</c:v>
                </c:pt>
                <c:pt idx="2">
                  <c:v>14.1</c:v>
                </c:pt>
                <c:pt idx="3">
                  <c:v>14.1</c:v>
                </c:pt>
                <c:pt idx="4">
                  <c:v>14.1</c:v>
                </c:pt>
                <c:pt idx="5">
                  <c:v>14.1</c:v>
                </c:pt>
              </c:numCache>
            </c:numRef>
          </c:val>
          <c:smooth val="0"/>
        </c:ser>
        <c:dLbls>
          <c:numFmt formatCode="#,##0" sourceLinked="0"/>
          <c:txPr>
            <a:bodyPr/>
            <a:lstStyle/>
            <a:p>
              <a:pPr>
                <a:defRPr lang="vi-VN" b="0" i="0" strike="noStrike" sz="700" u="none">
                  <a:solidFill>
                    <a:srgbClr val="262626"/>
                  </a:solidFill>
                  <a:latin typeface="Calibri"/>
                  <a:ea typeface="Calibri"/>
                  <a:cs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legend>
      <c:legendPos val="r"/>
      <c:overlay val="0"/>
      <c:txPr>
        <a:bodyPr/>
        <a:lstStyle/>
        <a:p>
          <a:pPr>
            <a:defRPr lang="vi-VN" sz="700">
              <a:solidFill>
                <a:srgbClr val="666666"/>
              </a:solidFill>
              <a:latin typeface="Calibri"/>
              <a:ea typeface="Calibri"/>
              <a:cs typeface="Calibri"/>
              <a:cs typeface="Calibri"/>
            </a:defRPr>
          </a:pPr>
          <a:endParaRPr lang="vi-VN"/>
        </a:p>
      </c:txPr>
    </c:legend>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Sheet1!$A$2:$A$7</c:f>
              <c:multiLvlStrCache>
                <c:ptCount val="6"/>
                <c:lvl>
                  <c:pt idx="0">
                    <c:v>PV FCFF</c:v>
                  </c:pt>
                  <c:pt idx="1">
                    <c:v>PV TV</c:v>
                  </c:pt>
                  <c:pt idx="2">
                    <c:v>EV</c:v>
                  </c:pt>
                  <c:pt idx="3">
                    <c:v>+Tiền</c:v>
                  </c:pt>
                  <c:pt idx="4">
                    <c:v>−Nợ</c:v>
                  </c:pt>
                  <c:pt idx="5">
                    <c:v>Pre</c:v>
                  </c:pt>
                </c:lvl>
              </c:multiLvlStrCache>
            </c:multiLvlStrRef>
          </c:cat>
          <c:val>
            <c:numRef>
              <c:f>Sheet1!$B$2:$B$7</c:f>
              <c:numCache>
                <c:formatCode>General</c:formatCode>
                <c:ptCount val="6"/>
                <c:pt idx="0">
                  <c:v>0</c:v>
                </c:pt>
                <c:pt idx="1">
                  <c:v>0</c:v>
                </c:pt>
                <c:pt idx="2">
                  <c:v>0</c:v>
                </c:pt>
                <c:pt idx="3">
                  <c:v>19.1</c:v>
                </c:pt>
                <c:pt idx="4">
                  <c:v>20.4</c:v>
                </c:pt>
                <c:pt idx="5">
                  <c:v>0</c:v>
                </c:pt>
              </c:numCache>
            </c:numRef>
          </c:val>
        </c:ser>
        <c:ser>
          <c:idx val="1"/>
          <c:order val="1"/>
          <c:tx>
            <c:strRef>
              <c:f>Sheet1!$C$1</c:f>
              <c:strCache>
                <c:ptCount val="1"/>
                <c:pt idx="0">
                  <c:v>Tăng</c:v>
                </c:pt>
              </c:strCache>
            </c:strRef>
          </c:tx>
          <c:spPr>
            <a:solidFill>
              <a:srgbClr val="404040"/>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Sheet1!$A$2:$A$7</c:f>
              <c:multiLvlStrCache>
                <c:ptCount val="6"/>
                <c:lvl>
                  <c:pt idx="0">
                    <c:v>PV FCFF</c:v>
                  </c:pt>
                  <c:pt idx="1">
                    <c:v>PV TV</c:v>
                  </c:pt>
                  <c:pt idx="2">
                    <c:v>EV</c:v>
                  </c:pt>
                  <c:pt idx="3">
                    <c:v>+Tiền</c:v>
                  </c:pt>
                  <c:pt idx="4">
                    <c:v>−Nợ</c:v>
                  </c:pt>
                  <c:pt idx="5">
                    <c:v>Pre</c:v>
                  </c:pt>
                </c:lvl>
              </c:multiLvlStrCache>
            </c:multiLvlStrRef>
          </c:cat>
          <c:val>
            <c:numRef>
              <c:f>Sheet1!$C$2:$C$7</c:f>
              <c:numCache>
                <c:formatCode>General</c:formatCode>
                <c:ptCount val="6"/>
                <c:pt idx="0">
                  <c:v>0</c:v>
                </c:pt>
                <c:pt idx="1">
                  <c:v>19.1</c:v>
                </c:pt>
                <c:pt idx="2">
                  <c:v>0</c:v>
                </c:pt>
                <c:pt idx="3">
                  <c:v>2.9</c:v>
                </c:pt>
                <c:pt idx="4">
                  <c:v>0</c:v>
                </c:pt>
                <c:pt idx="5">
                  <c:v>0</c:v>
                </c:pt>
              </c:numCache>
            </c:numRef>
          </c:val>
        </c:ser>
        <c:ser>
          <c:idx val="2"/>
          <c:order val="2"/>
          <c:tx>
            <c:strRef>
              <c:f>Sheet1!$D$1</c:f>
              <c:strCache>
                <c:ptCount val="1"/>
                <c:pt idx="0">
                  <c:v>Tăng (âm)</c:v>
                </c:pt>
              </c:strCache>
            </c:strRef>
          </c:tx>
          <c:spPr>
            <a:solidFill>
              <a:srgbClr val="404040"/>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Sheet1!$A$2:$A$7</c:f>
              <c:multiLvlStrCache>
                <c:ptCount val="6"/>
                <c:lvl>
                  <c:pt idx="0">
                    <c:v>PV FCFF</c:v>
                  </c:pt>
                  <c:pt idx="1">
                    <c:v>PV TV</c:v>
                  </c:pt>
                  <c:pt idx="2">
                    <c:v>EV</c:v>
                  </c:pt>
                  <c:pt idx="3">
                    <c:v>+Tiền</c:v>
                  </c:pt>
                  <c:pt idx="4">
                    <c:v>−Nợ</c:v>
                  </c:pt>
                  <c:pt idx="5">
                    <c:v>Pre</c:v>
                  </c:pt>
                </c:lvl>
              </c:multiLvlStrCache>
            </c:multiLvlStrRef>
          </c:cat>
          <c:val>
            <c:numRef>
              <c:f>Sheet1!$D$2:$D$7</c:f>
              <c:numCache>
                <c:formatCode>General</c:formatCode>
                <c:ptCount val="6"/>
                <c:pt idx="0">
                  <c:v>0</c:v>
                </c:pt>
                <c:pt idx="1">
                  <c:v>-38.5</c:v>
                </c:pt>
                <c:pt idx="2">
                  <c:v>0</c:v>
                </c:pt>
                <c:pt idx="3">
                  <c:v>0</c:v>
                </c:pt>
                <c:pt idx="4">
                  <c:v>0</c:v>
                </c:pt>
                <c:pt idx="5">
                  <c:v>0</c:v>
                </c:pt>
              </c:numCache>
            </c:numRef>
          </c:val>
        </c:ser>
        <c:ser>
          <c:idx val="3"/>
          <c:order val="3"/>
          <c:tx>
            <c:strRef>
              <c:f>Sheet1!$E$1</c:f>
              <c:strCache>
                <c:ptCount val="1"/>
                <c:pt idx="0">
                  <c:v>Giảm</c:v>
                </c:pt>
              </c:strCache>
            </c:strRef>
          </c:tx>
          <c:spPr>
            <a:solidFill>
              <a:srgbClr val="A3A3A3"/>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Sheet1!$A$2:$A$7</c:f>
              <c:multiLvlStrCache>
                <c:ptCount val="6"/>
                <c:lvl>
                  <c:pt idx="0">
                    <c:v>PV FCFF</c:v>
                  </c:pt>
                  <c:pt idx="1">
                    <c:v>PV TV</c:v>
                  </c:pt>
                  <c:pt idx="2">
                    <c:v>EV</c:v>
                  </c:pt>
                  <c:pt idx="3">
                    <c:v>+Tiền</c:v>
                  </c:pt>
                  <c:pt idx="4">
                    <c:v>−Nợ</c:v>
                  </c:pt>
                  <c:pt idx="5">
                    <c:v>Pre</c:v>
                  </c:pt>
                </c:lvl>
              </c:multiLvlStrCache>
            </c:multiLvlStrRef>
          </c:cat>
          <c:val>
            <c:numRef>
              <c:f>Sheet1!$E$2:$E$7</c:f>
              <c:numCache>
                <c:formatCode>General</c:formatCode>
                <c:ptCount val="6"/>
                <c:pt idx="0">
                  <c:v>-38.5</c:v>
                </c:pt>
                <c:pt idx="1">
                  <c:v>0</c:v>
                </c:pt>
                <c:pt idx="2">
                  <c:v>0</c:v>
                </c:pt>
                <c:pt idx="3">
                  <c:v>0</c:v>
                </c:pt>
                <c:pt idx="4">
                  <c:v>1.6</c:v>
                </c:pt>
                <c:pt idx="5">
                  <c:v>0</c:v>
                </c:pt>
              </c:numCache>
            </c:numRef>
          </c:val>
        </c:ser>
        <c:ser>
          <c:idx val="4"/>
          <c:order val="4"/>
          <c:tx>
            <c:strRef>
              <c:f>Sheet1!$F$1</c:f>
              <c:strCache>
                <c:ptCount val="1"/>
                <c:pt idx="0">
                  <c:v>Tổng</c:v>
                </c:pt>
              </c:strCache>
            </c:strRef>
          </c:tx>
          <c:spPr>
            <a:solidFill>
              <a:srgbClr val="7B1E2B"/>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Sheet1!$A$2:$A$7</c:f>
              <c:multiLvlStrCache>
                <c:ptCount val="6"/>
                <c:lvl>
                  <c:pt idx="0">
                    <c:v>PV FCFF</c:v>
                  </c:pt>
                  <c:pt idx="1">
                    <c:v>PV TV</c:v>
                  </c:pt>
                  <c:pt idx="2">
                    <c:v>EV</c:v>
                  </c:pt>
                  <c:pt idx="3">
                    <c:v>+Tiền</c:v>
                  </c:pt>
                  <c:pt idx="4">
                    <c:v>−Nợ</c:v>
                  </c:pt>
                  <c:pt idx="5">
                    <c:v>Pre</c:v>
                  </c:pt>
                </c:lvl>
              </c:multiLvlStrCache>
            </c:multiLvlStrRef>
          </c:cat>
          <c:val>
            <c:numRef>
              <c:f>Sheet1!$F$2:$F$7</c:f>
              <c:numCache>
                <c:formatCode>General</c:formatCode>
                <c:ptCount val="6"/>
                <c:pt idx="0">
                  <c:v>0</c:v>
                </c:pt>
                <c:pt idx="1">
                  <c:v>0</c:v>
                </c:pt>
                <c:pt idx="2">
                  <c:v>19.1</c:v>
                </c:pt>
                <c:pt idx="3">
                  <c:v>0</c:v>
                </c:pt>
                <c:pt idx="4">
                  <c:v>0</c:v>
                </c:pt>
                <c:pt idx="5">
                  <c:v>20.4</c:v>
                </c:pt>
              </c:numCache>
            </c:numRef>
          </c:val>
        </c:ser>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6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base</c:v>
                </c:pt>
              </c:strCache>
            </c:strRef>
          </c:tx>
          <c:spPr>
            <a:solidFill>
              <a:srgbClr val="FFFFFF"/>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Sheet1!$A$2:$A$6</c:f>
              <c:multiLvlStrCache>
                <c:ptCount val="5"/>
                <c:lvl>
                  <c:pt idx="0">
                    <c:v>Thoái vốn</c:v>
                  </c:pt>
                  <c:pt idx="1">
                    <c:v>Chiết khấu</c:v>
                  </c:pt>
                  <c:pt idx="2">
                    <c:v>Post</c:v>
                  </c:pt>
                  <c:pt idx="3">
                    <c:v>−Vốn</c:v>
                  </c:pt>
                  <c:pt idx="4">
                    <c:v>Pre</c:v>
                  </c:pt>
                </c:lvl>
              </c:multiLvlStrCache>
            </c:multiLvlStrRef>
          </c:cat>
          <c:val>
            <c:numRef>
              <c:f>Sheet1!$B$2:$B$6</c:f>
              <c:numCache>
                <c:formatCode>General</c:formatCode>
                <c:ptCount val="5"/>
                <c:pt idx="0">
                  <c:v>0</c:v>
                </c:pt>
                <c:pt idx="1">
                  <c:v>62.2</c:v>
                </c:pt>
                <c:pt idx="2">
                  <c:v>0</c:v>
                </c:pt>
                <c:pt idx="3">
                  <c:v>21.7</c:v>
                </c:pt>
                <c:pt idx="4">
                  <c:v>0</c:v>
                </c:pt>
              </c:numCache>
            </c:numRef>
          </c:val>
        </c:ser>
        <c:ser>
          <c:idx val="1"/>
          <c:order val="1"/>
          <c:tx>
            <c:strRef>
              <c:f>Sheet1!$C$1</c:f>
              <c:strCache>
                <c:ptCount val="1"/>
                <c:pt idx="0">
                  <c:v>Tăng</c:v>
                </c:pt>
              </c:strCache>
            </c:strRef>
          </c:tx>
          <c:spPr>
            <a:solidFill>
              <a:srgbClr val="404040"/>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Sheet1!$A$2:$A$6</c:f>
              <c:multiLvlStrCache>
                <c:ptCount val="5"/>
                <c:lvl>
                  <c:pt idx="0">
                    <c:v>Thoái vốn</c:v>
                  </c:pt>
                  <c:pt idx="1">
                    <c:v>Chiết khấu</c:v>
                  </c:pt>
                  <c:pt idx="2">
                    <c:v>Post</c:v>
                  </c:pt>
                  <c:pt idx="3">
                    <c:v>−Vốn</c:v>
                  </c:pt>
                  <c:pt idx="4">
                    <c:v>Pre</c:v>
                  </c:pt>
                </c:lvl>
              </c:multiLvlStrCache>
            </c:multiLvlStrRef>
          </c:cat>
          <c:val>
            <c:numRef>
              <c:f>Sheet1!$C$2:$C$6</c:f>
              <c:numCache>
                <c:formatCode>General</c:formatCode>
                <c:ptCount val="5"/>
                <c:pt idx="0">
                  <c:v>0</c:v>
                </c:pt>
                <c:pt idx="1">
                  <c:v>0</c:v>
                </c:pt>
                <c:pt idx="2">
                  <c:v>0</c:v>
                </c:pt>
                <c:pt idx="3">
                  <c:v>0</c:v>
                </c:pt>
                <c:pt idx="4">
                  <c:v>0</c:v>
                </c:pt>
              </c:numCache>
            </c:numRef>
          </c:val>
        </c:ser>
        <c:ser>
          <c:idx val="2"/>
          <c:order val="2"/>
          <c:tx>
            <c:strRef>
              <c:f>Sheet1!$D$1</c:f>
              <c:strCache>
                <c:ptCount val="1"/>
                <c:pt idx="0">
                  <c:v>Tăng (âm)</c:v>
                </c:pt>
              </c:strCache>
            </c:strRef>
          </c:tx>
          <c:spPr>
            <a:solidFill>
              <a:srgbClr val="404040"/>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Sheet1!$A$2:$A$6</c:f>
              <c:multiLvlStrCache>
                <c:ptCount val="5"/>
                <c:lvl>
                  <c:pt idx="0">
                    <c:v>Thoái vốn</c:v>
                  </c:pt>
                  <c:pt idx="1">
                    <c:v>Chiết khấu</c:v>
                  </c:pt>
                  <c:pt idx="2">
                    <c:v>Post</c:v>
                  </c:pt>
                  <c:pt idx="3">
                    <c:v>−Vốn</c:v>
                  </c:pt>
                  <c:pt idx="4">
                    <c:v>Pre</c:v>
                  </c:pt>
                </c:lvl>
              </c:multiLvlStrCache>
            </c:multiLvlStrRef>
          </c:cat>
          <c:val>
            <c:numRef>
              <c:f>Sheet1!$D$2:$D$6</c:f>
              <c:numCache>
                <c:formatCode>General</c:formatCode>
                <c:ptCount val="5"/>
                <c:pt idx="0">
                  <c:v>0</c:v>
                </c:pt>
                <c:pt idx="1">
                  <c:v>0</c:v>
                </c:pt>
                <c:pt idx="2">
                  <c:v>0</c:v>
                </c:pt>
                <c:pt idx="3">
                  <c:v>0</c:v>
                </c:pt>
                <c:pt idx="4">
                  <c:v>0</c:v>
                </c:pt>
              </c:numCache>
            </c:numRef>
          </c:val>
        </c:ser>
        <c:ser>
          <c:idx val="3"/>
          <c:order val="3"/>
          <c:tx>
            <c:strRef>
              <c:f>Sheet1!$E$1</c:f>
              <c:strCache>
                <c:ptCount val="1"/>
                <c:pt idx="0">
                  <c:v>Giảm</c:v>
                </c:pt>
              </c:strCache>
            </c:strRef>
          </c:tx>
          <c:spPr>
            <a:solidFill>
              <a:srgbClr val="A3A3A3"/>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Sheet1!$A$2:$A$6</c:f>
              <c:multiLvlStrCache>
                <c:ptCount val="5"/>
                <c:lvl>
                  <c:pt idx="0">
                    <c:v>Thoái vốn</c:v>
                  </c:pt>
                  <c:pt idx="1">
                    <c:v>Chiết khấu</c:v>
                  </c:pt>
                  <c:pt idx="2">
                    <c:v>Post</c:v>
                  </c:pt>
                  <c:pt idx="3">
                    <c:v>−Vốn</c:v>
                  </c:pt>
                  <c:pt idx="4">
                    <c:v>Pre</c:v>
                  </c:pt>
                </c:lvl>
              </c:multiLvlStrCache>
            </c:multiLvlStrRef>
          </c:cat>
          <c:val>
            <c:numRef>
              <c:f>Sheet1!$E$2:$E$6</c:f>
              <c:numCache>
                <c:formatCode>General</c:formatCode>
                <c:ptCount val="5"/>
                <c:pt idx="0">
                  <c:v>0</c:v>
                </c:pt>
                <c:pt idx="1">
                  <c:v>138.5</c:v>
                </c:pt>
                <c:pt idx="2">
                  <c:v>0</c:v>
                </c:pt>
                <c:pt idx="3">
                  <c:v>40.5</c:v>
                </c:pt>
                <c:pt idx="4">
                  <c:v>0</c:v>
                </c:pt>
              </c:numCache>
            </c:numRef>
          </c:val>
        </c:ser>
        <c:ser>
          <c:idx val="4"/>
          <c:order val="4"/>
          <c:tx>
            <c:strRef>
              <c:f>Sheet1!$F$1</c:f>
              <c:strCache>
                <c:ptCount val="1"/>
                <c:pt idx="0">
                  <c:v>Tổng</c:v>
                </c:pt>
              </c:strCache>
            </c:strRef>
          </c:tx>
          <c:spPr>
            <a:solidFill>
              <a:srgbClr val="7B1E2B"/>
            </a:solidFill>
            <a:effectLst/>
          </c:spPr>
          <c:invertIfNegative val="0"/>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multiLvlStrRef>
              <c:f>Sheet1!$A$2:$A$6</c:f>
              <c:multiLvlStrCache>
                <c:ptCount val="5"/>
                <c:lvl>
                  <c:pt idx="0">
                    <c:v>Thoái vốn</c:v>
                  </c:pt>
                  <c:pt idx="1">
                    <c:v>Chiết khấu</c:v>
                  </c:pt>
                  <c:pt idx="2">
                    <c:v>Post</c:v>
                  </c:pt>
                  <c:pt idx="3">
                    <c:v>−Vốn</c:v>
                  </c:pt>
                  <c:pt idx="4">
                    <c:v>Pre</c:v>
                  </c:pt>
                </c:lvl>
              </c:multiLvlStrCache>
            </c:multiLvlStrRef>
          </c:cat>
          <c:val>
            <c:numRef>
              <c:f>Sheet1!$F$2:$F$6</c:f>
              <c:numCache>
                <c:formatCode>General</c:formatCode>
                <c:ptCount val="5"/>
                <c:pt idx="0">
                  <c:v>200.6</c:v>
                </c:pt>
                <c:pt idx="1">
                  <c:v>0</c:v>
                </c:pt>
                <c:pt idx="2">
                  <c:v>62.2</c:v>
                </c:pt>
                <c:pt idx="3">
                  <c:v>0</c:v>
                </c:pt>
                <c:pt idx="4">
                  <c:v>21.7</c:v>
                </c:pt>
              </c:numCache>
            </c:numRef>
          </c:val>
        </c:ser>
        <c:dLbls>
          <c:numFmt formatCode="0.0;0.0;&quot;&quot;" sourceLinked="0"/>
          <c:txPr>
            <a:bodyPr/>
            <a:lstStyle/>
            <a:p>
              <a:pPr>
                <a:defRPr lang="vi-VN" b="0" i="0" strike="noStrike" sz="650" u="none">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6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404040"/>
            </a:solidFill>
            <a:effectLst/>
          </c:spPr>
          <c:invertIfNegative val="0"/>
          <c:dLbls>
            <c:numFmt formatCode="0.0&quot;x&quot;"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cat>
            <c:multiLvlStrRef>
              <c:f>Sheet1!$A$2:$A$15</c:f>
              <c:multiLvlStrCache>
                <c:ptCount val="14"/>
                <c:lvl>
                  <c:pt idx="0">
                    <c:v>HHP</c:v>
                  </c:pt>
                  <c:pt idx="1">
                    <c:v>ILS</c:v>
                  </c:pt>
                  <c:pt idx="2">
                    <c:v>TDP</c:v>
                  </c:pt>
                  <c:pt idx="3">
                    <c:v>DHC</c:v>
                  </c:pt>
                  <c:pt idx="4">
                    <c:v>BBS</c:v>
                  </c:pt>
                  <c:pt idx="5">
                    <c:v>PMP</c:v>
                  </c:pt>
                  <c:pt idx="6">
                    <c:v>APH</c:v>
                  </c:pt>
                  <c:pt idx="7">
                    <c:v>TPC</c:v>
                  </c:pt>
                  <c:pt idx="8">
                    <c:v>VBC</c:v>
                  </c:pt>
                  <c:pt idx="9">
                    <c:v>AAA</c:v>
                  </c:pt>
                  <c:pt idx="10">
                    <c:v>TPP</c:v>
                  </c:pt>
                  <c:pt idx="11">
                    <c:v>STP</c:v>
                  </c:pt>
                  <c:pt idx="12">
                    <c:v>INN</c:v>
                  </c:pt>
                  <c:pt idx="13">
                    <c:v>PBP</c:v>
                  </c:pt>
                </c:lvl>
              </c:multiLvlStrCache>
            </c:multiLvlStrRef>
          </c:cat>
          <c:val>
            <c:numRef>
              <c:f>Sheet1!$B$2:$B$15</c:f>
              <c:numCache>
                <c:formatCode>General</c:formatCode>
                <c:ptCount val="14"/>
                <c:pt idx="0">
                  <c:v>13.7</c:v>
                </c:pt>
                <c:pt idx="1">
                  <c:v>13.3</c:v>
                </c:pt>
                <c:pt idx="2">
                  <c:v>9</c:v>
                </c:pt>
                <c:pt idx="3">
                  <c:v>6.4</c:v>
                </c:pt>
                <c:pt idx="4">
                  <c:v>5.5</c:v>
                </c:pt>
                <c:pt idx="5">
                  <c:v>5.4</c:v>
                </c:pt>
                <c:pt idx="6">
                  <c:v>5.1</c:v>
                </c:pt>
                <c:pt idx="7">
                  <c:v>4.2</c:v>
                </c:pt>
                <c:pt idx="8">
                  <c:v>4.2</c:v>
                </c:pt>
                <c:pt idx="9">
                  <c:v>3.9</c:v>
                </c:pt>
                <c:pt idx="10">
                  <c:v>3.3</c:v>
                </c:pt>
                <c:pt idx="11">
                  <c:v>3</c:v>
                </c:pt>
                <c:pt idx="12">
                  <c:v>2.7</c:v>
                </c:pt>
                <c:pt idx="13">
                  <c:v>2.1</c:v>
                </c:pt>
              </c:numCache>
            </c:numRef>
          </c:val>
        </c:ser>
        <c:dLbls>
          <c:numFmt formatCode="0.0&quot;x&quot;"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c:pt>
              </c:strCache>
            </c:strRef>
          </c:tx>
          <c:spPr>
            <a:solidFill>
              <a:srgbClr val="A3A3A3"/>
            </a:solidFill>
            <a:effectLst/>
          </c:spPr>
          <c:invertIfNegative val="0"/>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A3A3A3"/>
              </a:solidFill>
              <a:effectLst/>
            </c:spPr>
          </c:dPt>
          <c:dPt>
            <c:idx val="1"/>
            <c:invertIfNegative val="0"/>
            <c:bubble3D val="0"/>
            <c:spPr>
              <a:solidFill>
                <a:srgbClr val="A3A3A3"/>
              </a:solidFill>
              <a:effectLst/>
            </c:spPr>
          </c:dPt>
          <c:dPt>
            <c:idx val="2"/>
            <c:invertIfNegative val="0"/>
            <c:bubble3D val="0"/>
            <c:spPr>
              <a:solidFill>
                <a:srgbClr val="404040"/>
              </a:solidFill>
              <a:effectLst/>
            </c:spPr>
          </c:dPt>
          <c:dPt>
            <c:idx val="3"/>
            <c:invertIfNegative val="0"/>
            <c:bubble3D val="0"/>
            <c:spPr>
              <a:solidFill>
                <a:srgbClr val="7B1E2B"/>
              </a:solidFill>
              <a:effectLst/>
            </c:spPr>
          </c:dPt>
          <c:dPt>
            <c:idx val="4"/>
            <c:invertIfNegative val="0"/>
            <c:bubble3D val="0"/>
            <c:spPr>
              <a:solidFill>
                <a:srgbClr val="D0D0D0"/>
              </a:solidFill>
              <a:effectLst/>
            </c:spPr>
          </c:dPt>
          <c:dPt>
            <c:idx val="5"/>
            <c:invertIfNegative val="0"/>
            <c:bubble3D val="0"/>
            <c:spPr>
              <a:solidFill>
                <a:srgbClr val="D0D0D0"/>
              </a:solidFill>
              <a:effectLst/>
            </c:spPr>
          </c:dPt>
          <c:dPt>
            <c:idx val="6"/>
            <c:invertIfNegative val="0"/>
            <c:bubble3D val="0"/>
            <c:spPr>
              <a:solidFill>
                <a:srgbClr val="D0D0D0"/>
              </a:solidFill>
              <a:effectLst/>
            </c:spPr>
          </c:dPt>
          <c:cat>
            <c:multiLvlStrRef>
              <c:f>Sheet1!$A$2:$A$8</c:f>
              <c:multiLvlStrCache>
                <c:ptCount val="7"/>
                <c:lvl>
                  <c:pt idx="0">
                    <c:v>Multiples 2025A</c:v>
                  </c:pt>
                  <c:pt idx="1">
                    <c:v>VC Method</c:v>
                  </c:pt>
                  <c:pt idx="2">
                    <c:v>DCF</c:v>
                  </c:pt>
                  <c:pt idx="3">
                    <c:v>Bình quân 40/40/20</c:v>
                  </c:pt>
                  <c:pt idx="4">
                    <c:v>DCF × xác suất sống sót</c:v>
                  </c:pt>
                  <c:pt idx="5">
                    <c:v>VCSH sổ sách 2025</c:v>
                  </c:pt>
                  <c:pt idx="6">
                    <c:v>Giá trị thanh lý</c:v>
                  </c:pt>
                </c:lvl>
              </c:multiLvlStrCache>
            </c:multiLvlStrRef>
          </c:cat>
          <c:val>
            <c:numRef>
              <c:f>Sheet1!$B$2:$B$8</c:f>
              <c:numCache>
                <c:formatCode>General</c:formatCode>
                <c:ptCount val="7"/>
                <c:pt idx="0">
                  <c:v>27.7</c:v>
                </c:pt>
                <c:pt idx="1">
                  <c:v>21.7</c:v>
                </c:pt>
                <c:pt idx="2">
                  <c:v>20.4</c:v>
                </c:pt>
                <c:pt idx="3">
                  <c:v>22.4</c:v>
                </c:pt>
                <c:pt idx="4">
                  <c:v>18.2</c:v>
                </c:pt>
                <c:pt idx="5">
                  <c:v>30</c:v>
                </c:pt>
                <c:pt idx="6">
                  <c:v>15</c:v>
                </c:pt>
              </c:numCache>
            </c:numRef>
          </c:val>
        </c:ser>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BFBFBF"/>
            </a:solidFill>
            <a:prstDash val="solid"/>
            <a:round/>
          </a:ln>
        </c:spPr>
        <c:txPr>
          <a:bodyPr/>
          <a:lstStyle/>
          <a:p>
            <a:pPr>
              <a:defRPr lang="vi-VN" sz="65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Thiếu hụt</c:v>
                </c:pt>
              </c:strCache>
            </c:strRef>
          </c:tx>
          <c:spPr>
            <a:solidFill>
              <a:srgbClr val="A3A3A3"/>
            </a:solidFill>
            <a:effectLst/>
          </c:spPr>
          <c:invertIfNegative val="0"/>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A3A3A3"/>
              </a:solidFill>
              <a:effectLst/>
            </c:spPr>
          </c:dPt>
          <c:dPt>
            <c:idx val="1"/>
            <c:invertIfNegative val="0"/>
            <c:bubble3D val="0"/>
            <c:spPr>
              <a:solidFill>
                <a:srgbClr val="A3A3A3"/>
              </a:solidFill>
              <a:effectLst/>
            </c:spPr>
          </c:dPt>
          <c:dPt>
            <c:idx val="2"/>
            <c:invertIfNegative val="0"/>
            <c:bubble3D val="0"/>
            <c:spPr>
              <a:solidFill>
                <a:srgbClr val="A3A3A3"/>
              </a:solidFill>
              <a:effectLst/>
            </c:spPr>
          </c:dPt>
          <c:dPt>
            <c:idx val="3"/>
            <c:invertIfNegative val="0"/>
            <c:bubble3D val="0"/>
            <c:spPr>
              <a:solidFill>
                <a:srgbClr val="A3A3A3"/>
              </a:solidFill>
              <a:effectLst/>
            </c:spPr>
          </c:dPt>
          <c:dPt>
            <c:idx val="4"/>
            <c:invertIfNegative val="0"/>
            <c:bubble3D val="0"/>
            <c:spPr>
              <a:solidFill>
                <a:srgbClr val="7B1E2B"/>
              </a:solidFill>
              <a:effectLst/>
            </c:spPr>
          </c:dPt>
          <c:cat>
            <c:multiLvlStrRef>
              <c:f>Sheet1!$A$2:$A$6</c:f>
              <c:multiLvlStrCache>
                <c:ptCount val="5"/>
                <c:lvl>
                  <c:pt idx="0">
                    <c:v>2026</c:v>
                  </c:pt>
                  <c:pt idx="1">
                    <c:v>2027</c:v>
                  </c:pt>
                  <c:pt idx="2">
                    <c:v>2028</c:v>
                  </c:pt>
                  <c:pt idx="3">
                    <c:v>2029</c:v>
                  </c:pt>
                  <c:pt idx="4">
                    <c:v>2030</c:v>
                  </c:pt>
                </c:lvl>
              </c:multiLvlStrCache>
            </c:multiLvlStrRef>
          </c:cat>
          <c:val>
            <c:numRef>
              <c:f>Sheet1!$B$2:$B$6</c:f>
              <c:numCache>
                <c:formatCode>General</c:formatCode>
                <c:ptCount val="5"/>
                <c:pt idx="0">
                  <c:v>5.2</c:v>
                </c:pt>
                <c:pt idx="1">
                  <c:v>8.1</c:v>
                </c:pt>
                <c:pt idx="2">
                  <c:v>23.9</c:v>
                </c:pt>
                <c:pt idx="3">
                  <c:v>32.5</c:v>
                </c:pt>
                <c:pt idx="4">
                  <c:v>36.8</c:v>
                </c:pt>
              </c:numCache>
            </c:numRef>
          </c:val>
        </c:ser>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Post-money</c:v>
                </c:pt>
              </c:strCache>
            </c:strRef>
          </c:tx>
          <c:spPr>
            <a:solidFill>
              <a:srgbClr val="7B1E2B"/>
            </a:solidFill>
            <a:effectLst/>
          </c:spPr>
          <c:invertIfNegative val="0"/>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dPt>
            <c:idx val="0"/>
            <c:invertIfNegative val="0"/>
            <c:bubble3D val="0"/>
            <c:spPr>
              <a:solidFill>
                <a:srgbClr val="7B1E2B"/>
              </a:solidFill>
              <a:effectLst/>
            </c:spPr>
          </c:dPt>
          <c:dPt>
            <c:idx val="1"/>
            <c:invertIfNegative val="0"/>
            <c:bubble3D val="0"/>
            <c:spPr>
              <a:solidFill>
                <a:srgbClr val="A3A3A3"/>
              </a:solidFill>
              <a:effectLst/>
            </c:spPr>
          </c:dPt>
          <c:dPt>
            <c:idx val="2"/>
            <c:invertIfNegative val="0"/>
            <c:bubble3D val="0"/>
            <c:spPr>
              <a:solidFill>
                <a:srgbClr val="D0D0D0"/>
              </a:solidFill>
              <a:effectLst/>
            </c:spPr>
          </c:dPt>
          <c:cat>
            <c:multiLvlStrRef>
              <c:f>Sheet1!$A$2:$A$4</c:f>
              <c:multiLvlStrCache>
                <c:ptCount val="3"/>
                <c:lvl>
                  <c:pt idx="0">
                    <c:v>Đầu tăng trưởng (z 40%)</c:v>
                  </c:pt>
                  <c:pt idx="1">
                    <c:v>Thử nghiệm (z 57,5%)</c:v>
                  </c:pt>
                  <c:pt idx="2">
                    <c:v>Ươm mầm (z 72,5%)</c:v>
                  </c:pt>
                </c:lvl>
              </c:multiLvlStrCache>
            </c:multiLvlStrRef>
          </c:cat>
          <c:val>
            <c:numRef>
              <c:f>Sheet1!$B$2:$B$4</c:f>
              <c:numCache>
                <c:formatCode>General</c:formatCode>
                <c:ptCount val="3"/>
                <c:pt idx="0">
                  <c:v>62.2</c:v>
                </c:pt>
                <c:pt idx="1">
                  <c:v>44</c:v>
                </c:pt>
                <c:pt idx="2">
                  <c:v>28.5</c:v>
                </c:pt>
              </c:numCache>
            </c:numRef>
          </c:val>
        </c:ser>
        <c:dLbls>
          <c:numFmt formatCode="0.0" sourceLinked="0"/>
          <c:txPr>
            <a:bodyPr/>
            <a:lstStyle/>
            <a:p>
              <a:pPr>
                <a:defRPr lang="vi-VN" b="0" i="0" strike="noStrike" sz="700" u="none">
                  <a:solidFill>
                    <a:srgbClr val="262626"/>
                  </a:solidFill>
                  <a:latin typeface="Calibri"/>
                  <a:ea typeface="Calibri"/>
                  <a:cs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BFBFBF"/>
            </a:solidFill>
            <a:prstDash val="solid"/>
            <a:round/>
          </a:ln>
        </c:spPr>
        <c:txPr>
          <a:bodyPr/>
          <a:lstStyle/>
          <a:p>
            <a:pPr>
              <a:defRPr lang="vi-VN" sz="700" b="0" i="0" u="none" strike="noStrike">
                <a:solidFill>
                  <a:srgbClr val="262626"/>
                </a:solidFill>
                <a:latin typeface="Calibri"/>
                <a:ea typeface="Calibri"/>
                <a:cs typeface="Calibri"/>
              </a:defRPr>
            </a:pPr>
            <a:endParaRPr lang="vi-VN"/>
          </a:p>
        </c:txPr>
        <c:crossAx val="2094734552"/>
        <c:crosses val="autoZero"/>
        <c:auto val="1"/>
        <c:lblAlgn val="ctr"/>
        <c:noMultiLvlLbl val="1"/>
        <c:tickLblSkip val="1"/>
      </c:catAx>
      <c:valAx>
        <c:axId val="2094734552"/>
        <c:scaling>
          <c:orientation val="minMax"/>
        </c:scaling>
        <c:delete val="0"/>
        <c:axPos val="l"/>
        <c:majorGridlines>
          <c:spPr>
            <a:ln w="6350" cap="flat">
              <a:solidFill>
                <a:srgbClr val="E4E4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lang="vi-VN" sz="650" b="0" i="0" u="none" strike="noStrike">
                <a:solidFill>
                  <a:srgbClr val="666666"/>
                </a:solidFill>
                <a:latin typeface="Calibri"/>
                <a:ea typeface="Calibri"/>
                <a:cs typeface="Calibri"/>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chart" Target="/ppt/charts/chart10.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chart" Target="/ppt/charts/chart13.xm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chart" Target="/ppt/charts/chart17.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chart" Target="/ppt/charts/chart21.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chart" Target="/ppt/charts/chart23.xml"/><Relationship Id="rId3" Type="http://schemas.openxmlformats.org/officeDocument/2006/relationships/chart" Target="/ppt/charts/chart24.xm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chart" Target="/ppt/charts/chart26.xml"/><Relationship Id="rId3" Type="http://schemas.openxmlformats.org/officeDocument/2006/relationships/chart" Target="/ppt/charts/chart27.xml"/><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chart" Target="/ppt/charts/chart29.xml"/><Relationship Id="rId3" Type="http://schemas.openxmlformats.org/officeDocument/2006/relationships/chart" Target="/ppt/charts/chart30.xml"/><Relationship Id="rId4" Type="http://schemas.openxmlformats.org/officeDocument/2006/relationships/chart" Target="/ppt/charts/chart31.xml"/><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25" y="9525"/>
            <a:ext cx="7540823" cy="656779"/>
          </a:xfrm>
          <a:prstGeom prst="rect">
            <a:avLst/>
          </a:prstGeom>
          <a:solidFill>
            <a:srgbClr val="7B1E2B"/>
          </a:solidFill>
          <a:ln/>
        </p:spPr>
      </p:sp>
      <p:sp>
        <p:nvSpPr>
          <p:cNvPr id="3" name="Shape 1"/>
          <p:cNvSpPr/>
          <p:nvPr/>
        </p:nvSpPr>
        <p:spPr>
          <a:xfrm>
            <a:off x="405408" y="774204"/>
            <a:ext cx="2159943" cy="158651"/>
          </a:xfrm>
          <a:prstGeom prst="rect">
            <a:avLst/>
          </a:prstGeom>
          <a:solidFill>
            <a:srgbClr val="404040"/>
          </a:solidFill>
          <a:ln/>
        </p:spPr>
      </p:sp>
      <p:sp>
        <p:nvSpPr>
          <p:cNvPr id="4" name="Shape 2"/>
          <p:cNvSpPr/>
          <p:nvPr/>
        </p:nvSpPr>
        <p:spPr>
          <a:xfrm>
            <a:off x="405408" y="7711529"/>
            <a:ext cx="2159943" cy="158651"/>
          </a:xfrm>
          <a:prstGeom prst="rect">
            <a:avLst/>
          </a:prstGeom>
          <a:solidFill>
            <a:srgbClr val="404040"/>
          </a:solidFill>
          <a:ln/>
        </p:spPr>
      </p:sp>
      <p:sp>
        <p:nvSpPr>
          <p:cNvPr id="5" name="Shape 3"/>
          <p:cNvSpPr/>
          <p:nvPr/>
        </p:nvSpPr>
        <p:spPr>
          <a:xfrm>
            <a:off x="2745284" y="1205359"/>
            <a:ext cx="4409182" cy="881063"/>
          </a:xfrm>
          <a:prstGeom prst="rect">
            <a:avLst/>
          </a:prstGeom>
          <a:solidFill>
            <a:srgbClr val="F7F4F4"/>
          </a:solidFill>
          <a:ln/>
        </p:spPr>
      </p:sp>
      <p:sp>
        <p:nvSpPr>
          <p:cNvPr id="6" name="Shape 4"/>
          <p:cNvSpPr/>
          <p:nvPr/>
        </p:nvSpPr>
        <p:spPr>
          <a:xfrm>
            <a:off x="405408" y="3849588"/>
            <a:ext cx="2159943" cy="0"/>
          </a:xfrm>
          <a:prstGeom prst="line">
            <a:avLst/>
          </a:prstGeom>
          <a:noFill/>
          <a:ln w="9525">
            <a:solidFill>
              <a:srgbClr val="7B1E2B"/>
            </a:solidFill>
            <a:prstDash val="solid"/>
          </a:ln>
        </p:spPr>
      </p:sp>
      <p:sp>
        <p:nvSpPr>
          <p:cNvPr id="7" name="Shape 5"/>
          <p:cNvSpPr/>
          <p:nvPr/>
        </p:nvSpPr>
        <p:spPr>
          <a:xfrm>
            <a:off x="405408" y="6095256"/>
            <a:ext cx="2159943" cy="0"/>
          </a:xfrm>
          <a:prstGeom prst="line">
            <a:avLst/>
          </a:prstGeom>
          <a:noFill/>
          <a:ln w="9525">
            <a:solidFill>
              <a:srgbClr val="7B1E2B"/>
            </a:solidFill>
            <a:prstDash val="solid"/>
          </a:ln>
        </p:spPr>
      </p:sp>
      <p:sp>
        <p:nvSpPr>
          <p:cNvPr id="8" name="Shape 6"/>
          <p:cNvSpPr/>
          <p:nvPr/>
        </p:nvSpPr>
        <p:spPr>
          <a:xfrm>
            <a:off x="2745284" y="1205359"/>
            <a:ext cx="4409182" cy="0"/>
          </a:xfrm>
          <a:prstGeom prst="line">
            <a:avLst/>
          </a:prstGeom>
          <a:noFill/>
          <a:ln w="9525">
            <a:solidFill>
              <a:srgbClr val="7B1E2B"/>
            </a:solidFill>
            <a:prstDash val="solid"/>
          </a:ln>
        </p:spPr>
      </p:sp>
      <p:sp>
        <p:nvSpPr>
          <p:cNvPr id="9" name="Shape 7"/>
          <p:cNvSpPr/>
          <p:nvPr/>
        </p:nvSpPr>
        <p:spPr>
          <a:xfrm>
            <a:off x="2745284" y="2086421"/>
            <a:ext cx="4409182" cy="0"/>
          </a:xfrm>
          <a:prstGeom prst="line">
            <a:avLst/>
          </a:prstGeom>
          <a:noFill/>
          <a:ln w="9525">
            <a:solidFill>
              <a:srgbClr val="7B1E2B"/>
            </a:solidFill>
            <a:prstDash val="solid"/>
          </a:ln>
        </p:spPr>
      </p:sp>
      <p:sp>
        <p:nvSpPr>
          <p:cNvPr id="10" name="Shape 8"/>
          <p:cNvSpPr/>
          <p:nvPr/>
        </p:nvSpPr>
        <p:spPr>
          <a:xfrm>
            <a:off x="2745284" y="1205359"/>
            <a:ext cx="0" cy="881063"/>
          </a:xfrm>
          <a:prstGeom prst="line">
            <a:avLst/>
          </a:prstGeom>
          <a:noFill/>
          <a:ln w="38100">
            <a:solidFill>
              <a:srgbClr val="7B1E2B"/>
            </a:solidFill>
            <a:prstDash val="solid"/>
          </a:ln>
        </p:spPr>
      </p:sp>
      <p:sp>
        <p:nvSpPr>
          <p:cNvPr id="11" name="Shape 9"/>
          <p:cNvSpPr/>
          <p:nvPr/>
        </p:nvSpPr>
        <p:spPr>
          <a:xfrm>
            <a:off x="7154466" y="1205359"/>
            <a:ext cx="0" cy="881063"/>
          </a:xfrm>
          <a:prstGeom prst="line">
            <a:avLst/>
          </a:prstGeom>
          <a:noFill/>
          <a:ln w="9525">
            <a:solidFill>
              <a:srgbClr val="7B1E2B"/>
            </a:solidFill>
            <a:prstDash val="solid"/>
          </a:ln>
        </p:spPr>
      </p:sp>
      <p:sp>
        <p:nvSpPr>
          <p:cNvPr id="12" name="Shape 10"/>
          <p:cNvSpPr/>
          <p:nvPr/>
        </p:nvSpPr>
        <p:spPr>
          <a:xfrm>
            <a:off x="2745284" y="6470005"/>
            <a:ext cx="4409182" cy="0"/>
          </a:xfrm>
          <a:prstGeom prst="line">
            <a:avLst/>
          </a:prstGeom>
          <a:noFill/>
          <a:ln w="9525">
            <a:solidFill>
              <a:srgbClr val="7B1E2B"/>
            </a:solidFill>
            <a:prstDash val="solid"/>
          </a:ln>
        </p:spPr>
      </p:sp>
      <p:sp>
        <p:nvSpPr>
          <p:cNvPr id="13" name="Shape 11"/>
          <p:cNvSpPr/>
          <p:nvPr/>
        </p:nvSpPr>
        <p:spPr>
          <a:xfrm>
            <a:off x="405408" y="10364688"/>
            <a:ext cx="6749058" cy="0"/>
          </a:xfrm>
          <a:prstGeom prst="line">
            <a:avLst/>
          </a:prstGeom>
          <a:noFill/>
          <a:ln w="9525">
            <a:solidFill>
              <a:srgbClr val="BFBFBF"/>
            </a:solidFill>
            <a:prstDash val="solid"/>
          </a:ln>
        </p:spPr>
      </p:sp>
      <p:sp>
        <p:nvSpPr>
          <p:cNvPr id="14" name="Text 12"/>
          <p:cNvSpPr txBox="1"/>
          <p:nvPr/>
        </p:nvSpPr>
        <p:spPr>
          <a:xfrm>
            <a:off x="405408" y="139005"/>
            <a:ext cx="2351431" cy="266700"/>
          </a:xfrm>
          <a:prstGeom prst="rect">
            <a:avLst/>
          </a:prstGeom>
          <a:noFill/>
          <a:ln/>
        </p:spPr>
        <p:txBody>
          <a:bodyPr wrap="square" lIns="0" tIns="0" rIns="0" bIns="0" rtlCol="0" anchor="t"/>
          <a:lstStyle/>
          <a:p>
            <a:pPr algn="l" indent="0" marL="0">
              <a:lnSpc>
                <a:spcPts val="2100"/>
              </a:lnSpc>
              <a:buNone/>
            </a:pPr>
            <a:r>
              <a:rPr lang="vi-VN" sz="2000" b="1" spc="80" kern="0" dirty="0">
                <a:solidFill>
                  <a:srgbClr val="FFFFFF"/>
                </a:solidFill>
                <a:latin typeface="Calibri" pitchFamily="34" charset="0"/>
                <a:ea typeface="Calibri" pitchFamily="34" charset="-122"/>
                <a:cs typeface="Calibri" pitchFamily="34" charset="-120"/>
              </a:rPr>
              <a:t>CTCP AGRIPACK</a:t>
            </a:r>
            <a:endParaRPr lang="vi-VN" sz="2000" dirty="0"/>
          </a:p>
        </p:txBody>
      </p:sp>
      <p:sp>
        <p:nvSpPr>
          <p:cNvPr id="15" name="Text 13"/>
          <p:cNvSpPr txBox="1"/>
          <p:nvPr/>
        </p:nvSpPr>
        <p:spPr>
          <a:xfrm>
            <a:off x="405408" y="434429"/>
            <a:ext cx="2351431" cy="123974"/>
          </a:xfrm>
          <a:prstGeom prst="rect">
            <a:avLst/>
          </a:prstGeom>
          <a:noFill/>
          <a:ln/>
        </p:spPr>
        <p:txBody>
          <a:bodyPr wrap="square" lIns="0" tIns="0" rIns="0" bIns="0" rtlCol="0" anchor="t"/>
          <a:lstStyle/>
          <a:p>
            <a:pPr algn="l" indent="0" marL="0">
              <a:lnSpc>
                <a:spcPts val="980"/>
              </a:lnSpc>
              <a:buNone/>
            </a:pPr>
            <a:r>
              <a:rPr lang="vi-VN" sz="800" dirty="0">
                <a:solidFill>
                  <a:srgbClr val="FFFFFF"/>
                </a:solidFill>
                <a:latin typeface="Calibri" pitchFamily="34" charset="0"/>
                <a:ea typeface="Calibri" pitchFamily="34" charset="-122"/>
                <a:cs typeface="Calibri" pitchFamily="34" charset="-120"/>
              </a:rPr>
              <a:t>Bao bì từ bã mía – vỏ trứng · B2B · Gia Lai</a:t>
            </a:r>
            <a:endParaRPr lang="vi-VN" sz="800" dirty="0"/>
          </a:p>
        </p:txBody>
      </p:sp>
      <p:sp>
        <p:nvSpPr>
          <p:cNvPr id="16" name="Text 14"/>
          <p:cNvSpPr txBox="1"/>
          <p:nvPr/>
        </p:nvSpPr>
        <p:spPr>
          <a:xfrm>
            <a:off x="2863060" y="176510"/>
            <a:ext cx="4291405" cy="381893"/>
          </a:xfrm>
          <a:prstGeom prst="rect">
            <a:avLst/>
          </a:prstGeom>
          <a:noFill/>
          <a:ln/>
        </p:spPr>
        <p:txBody>
          <a:bodyPr wrap="square" lIns="0" tIns="0" rIns="0" bIns="0" rtlCol="0" anchor="t"/>
          <a:lstStyle/>
          <a:p>
            <a:pPr algn="r" indent="0" marL="0">
              <a:lnSpc>
                <a:spcPts val="940"/>
              </a:lnSpc>
              <a:buNone/>
            </a:pPr>
            <a:r>
              <a:rPr lang="vi-VN" sz="820" b="1" spc="30" kern="0" dirty="0">
                <a:solidFill>
                  <a:srgbClr val="FFFFFF"/>
                </a:solidFill>
                <a:latin typeface="Calibri" pitchFamily="34" charset="0"/>
                <a:ea typeface="Calibri" pitchFamily="34" charset="-122"/>
                <a:cs typeface="Calibri" pitchFamily="34" charset="-120"/>
              </a:rPr>
              <a:t>BÁO CÁO PHÂN TÍCH, DỰ PHÓNG &amp; ĐỊNH GIÁ</a:t>
            </a:r>
            <a:endParaRPr lang="vi-VN" sz="680" dirty="0"/>
          </a:p>
          <a:p>
            <a:pPr algn="r" indent="0" marL="0">
              <a:lnSpc>
                <a:spcPts val="940"/>
              </a:lnSpc>
              <a:buNone/>
            </a:pPr>
            <a:r>
              <a:rPr lang="vi-VN" sz="680" dirty="0">
                <a:solidFill>
                  <a:srgbClr val="FFFFFF"/>
                </a:solidFill>
                <a:latin typeface="Calibri" pitchFamily="34" charset="0"/>
                <a:ea typeface="Calibri" pitchFamily="34" charset="-122"/>
                <a:cs typeface="Calibri" pitchFamily="34" charset="-120"/>
              </a:rPr>
              <a:t>Ngày báo cáo: 07/10/2026 · Thời điểm định giá: 01/01/2026</a:t>
            </a:r>
            <a:endParaRPr lang="vi-VN" sz="680" dirty="0"/>
          </a:p>
          <a:p>
            <a:pPr algn="r" indent="0" marL="0">
              <a:lnSpc>
                <a:spcPts val="940"/>
              </a:lnSpc>
              <a:buNone/>
            </a:pPr>
            <a:r>
              <a:rPr lang="vi-VN" sz="680" dirty="0">
                <a:solidFill>
                  <a:srgbClr val="FFFFFF"/>
                </a:solidFill>
                <a:latin typeface="Calibri" pitchFamily="34" charset="0"/>
                <a:ea typeface="Calibri" pitchFamily="34" charset="-122"/>
                <a:cs typeface="Calibri" pitchFamily="34" charset="-120"/>
              </a:rPr>
              <a:t>Nhóm: Nguyễn Thu Thủy · Tạ Hồng Anh · Nguyễn Đức Lộc · Lý Đặng Thu Hằng · Đào Khánh Linh · Nguyễn Thị Phương Thảo</a:t>
            </a:r>
            <a:endParaRPr lang="vi-VN" sz="680" dirty="0"/>
          </a:p>
        </p:txBody>
      </p:sp>
      <p:sp>
        <p:nvSpPr>
          <p:cNvPr id="17" name="Text 15"/>
          <p:cNvSpPr txBox="1"/>
          <p:nvPr/>
        </p:nvSpPr>
        <p:spPr>
          <a:xfrm>
            <a:off x="463008" y="799404"/>
            <a:ext cx="2099607" cy="109728"/>
          </a:xfrm>
          <a:prstGeom prst="rect">
            <a:avLst/>
          </a:prstGeom>
          <a:noFill/>
          <a:ln/>
        </p:spPr>
        <p:txBody>
          <a:bodyPr wrap="square" lIns="0" tIns="0" rIns="0" bIns="0" rtlCol="0" anchor="t"/>
          <a:lstStyle/>
          <a:p>
            <a:pPr algn="l" indent="0" marL="0">
              <a:lnSpc>
                <a:spcPts val="850"/>
              </a:lnSpc>
              <a:buNone/>
            </a:pPr>
            <a:r>
              <a:rPr lang="vi-VN" sz="700" b="1" spc="40" kern="0" dirty="0">
                <a:solidFill>
                  <a:srgbClr val="FFFFFF"/>
                </a:solidFill>
                <a:latin typeface="Calibri" pitchFamily="34" charset="0"/>
                <a:ea typeface="Calibri" pitchFamily="34" charset="-122"/>
                <a:cs typeface="Calibri" pitchFamily="34" charset="-120"/>
              </a:rPr>
              <a:t>THÔNG TIN CHÍNH</a:t>
            </a:r>
            <a:endParaRPr lang="vi-VN" sz="7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05408" y="932855"/>
          <a:ext cx="2159943" cy="914400"/>
        </p:xfrm>
        <a:graphic>
          <a:graphicData uri="http://schemas.openxmlformats.org/drawingml/2006/table">
            <a:tbl>
              <a:tblPr/>
              <a:tblGrid>
                <a:gridCol w="843707"/>
                <a:gridCol w="1316236"/>
              </a:tblGrid>
              <a:tr h="139898">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Ngành</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Bao bì bền vững (B2B)</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9734">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Sản phẩm</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Hộp, khay, đệm từ bã mía + vỏ trứng</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Nhà máy</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Gia Lai (1 nhà máy)</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Thành lập (giả định)</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2021</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Giai đoạn</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Đầu tăng trưởng (z 35–45%)</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Doanh thu 2025A</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47,5 tỷ (+53,7%)</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Biên EBITDA 2025A</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16,2%</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LNST 2025A</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4,4 tỷ</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VCSH 31/12/2025</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30,0 tỷ</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D/E 2025</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6,5%</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ROE 2025A / Ke</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15,9% / 16,8%</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Thị phần SAM 2025</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4,3%</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WACC / g / z</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14,1% / 5,0% / 40%</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9734">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DCF / VCM / Multiples</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20,4 / 21,7 / 27,7 tỷ</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9734">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Pre-money (40/40/20)</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22,4 tỷ</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4661">
                <a:tc>
                  <a:txBody>
                    <a:bodyPr/>
                    <a:lstStyle/>
                    <a:p>
                      <a:pPr algn="l" indent="0" marL="0">
                        <a:lnSpc>
                          <a:spcPts val="830"/>
                        </a:lnSpc>
                        <a:buNone/>
                      </a:pPr>
                      <a:r>
                        <a:rPr lang="vi-VN" sz="690" dirty="0">
                          <a:solidFill>
                            <a:srgbClr val="1F1F1F"/>
                          </a:solidFill>
                          <a:latin typeface="Calibri" pitchFamily="34" charset="0"/>
                          <a:ea typeface="Calibri" pitchFamily="34" charset="-122"/>
                          <a:cs typeface="Calibri" pitchFamily="34" charset="-120"/>
                        </a:rPr>
                        <a:t>Khoảng giá trị</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30"/>
                        </a:lnSpc>
                        <a:buNone/>
                      </a:pPr>
                      <a:r>
                        <a:rPr lang="vi-VN" sz="690" b="1" dirty="0">
                          <a:solidFill>
                            <a:srgbClr val="1F1F1F"/>
                          </a:solidFill>
                          <a:latin typeface="Calibri" pitchFamily="34" charset="0"/>
                          <a:ea typeface="Calibri" pitchFamily="34" charset="-122"/>
                          <a:cs typeface="Calibri" pitchFamily="34" charset="-120"/>
                        </a:rPr>
                        <a:t>11,4–35,5 tỷ</a:t>
                      </a:r>
                      <a:endParaRPr lang="vi-VN" sz="690" dirty="0">
                        <a:latin typeface="Calibri" charset="0"/>
                        <a:ea typeface="Calibri" charset="0"/>
                        <a:cs typeface="Calibri" charset="0"/>
                      </a:endParaRPr>
                    </a:p>
                  </a:txBody>
                  <a:tcPr marL="42977" marR="42977" marT="15545" marB="15545"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9" name="Text 16"/>
          <p:cNvSpPr txBox="1"/>
          <p:nvPr/>
        </p:nvSpPr>
        <p:spPr>
          <a:xfrm>
            <a:off x="405408" y="3580507"/>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do đề bài cung cấp; mô hình của nhóm (AgriPack_Model_final.xlsx)</a:t>
            </a:r>
            <a:endParaRPr lang="vi-VN" sz="600" dirty="0"/>
          </a:p>
        </p:txBody>
      </p:sp>
      <p:sp>
        <p:nvSpPr>
          <p:cNvPr id="20" name="Text 17"/>
          <p:cNvSpPr txBox="1"/>
          <p:nvPr/>
        </p:nvSpPr>
        <p:spPr>
          <a:xfrm>
            <a:off x="405408" y="3880713"/>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Doanh thu tăng 3,8 lần đến 2030E; biên EBITDA giảm năm 2029 khi nhà máy mới chạy</a:t>
            </a:r>
            <a:endParaRPr lang="vi-VN" sz="720" dirty="0"/>
          </a:p>
        </p:txBody>
      </p:sp>
      <p:sp>
        <p:nvSpPr>
          <p:cNvPr id="21" name="Text 18"/>
          <p:cNvSpPr txBox="1"/>
          <p:nvPr/>
        </p:nvSpPr>
        <p:spPr>
          <a:xfrm>
            <a:off x="405408" y="4132064"/>
            <a:ext cx="2214807" cy="109728"/>
          </a:xfrm>
          <a:prstGeom prst="rect">
            <a:avLst/>
          </a:prstGeom>
          <a:noFill/>
          <a:ln/>
        </p:spPr>
        <p:txBody>
          <a:bodyPr wrap="square" lIns="0" tIns="0" rIns="0" bIns="0" rtlCol="0" anchor="t"/>
          <a:lstStyle/>
          <a:p>
            <a:pPr algn="l" indent="0" marL="0">
              <a:lnSpc>
                <a:spcPts val="780"/>
              </a:lnSpc>
              <a:buNone/>
            </a:pPr>
            <a:r>
              <a:rPr lang="vi-VN" sz="640" b="1" dirty="0">
                <a:solidFill>
                  <a:srgbClr val="666666"/>
                </a:solidFill>
                <a:latin typeface="Calibri" pitchFamily="34" charset="0"/>
                <a:ea typeface="Calibri" pitchFamily="34" charset="-122"/>
                <a:cs typeface="Calibri" pitchFamily="34" charset="-120"/>
              </a:rPr>
              <a:t>Doanh thu thuần (tỷ đồng)</a:t>
            </a:r>
            <a:endParaRPr lang="vi-VN" sz="640" dirty="0"/>
          </a:p>
        </p:txBody>
      </p:sp>
      <p:graphicFrame>
        <p:nvGraphicFramePr>
          <p:cNvPr id="22" name="Chart 0" descr=""/>
          <p:cNvGraphicFramePr/>
          <p:nvPr/>
        </p:nvGraphicFramePr>
        <p:xfrm>
          <a:off x="405408" y="4238327"/>
          <a:ext cx="2159943" cy="844302"/>
        </p:xfrm>
        <a:graphic xmlns:a="http://schemas.openxmlformats.org/drawingml/2006/main">
          <a:graphicData uri="http://schemas.openxmlformats.org/drawingml/2006/chart">
            <c:chart xmlns:c="http://schemas.openxmlformats.org/drawingml/2006/chart" r:id="rId1"/>
          </a:graphicData>
        </a:graphic>
      </p:graphicFrame>
      <p:sp>
        <p:nvSpPr>
          <p:cNvPr id="23" name="Text 19"/>
          <p:cNvSpPr txBox="1"/>
          <p:nvPr/>
        </p:nvSpPr>
        <p:spPr>
          <a:xfrm>
            <a:off x="405408" y="5096917"/>
            <a:ext cx="2214807" cy="109728"/>
          </a:xfrm>
          <a:prstGeom prst="rect">
            <a:avLst/>
          </a:prstGeom>
          <a:noFill/>
          <a:ln/>
        </p:spPr>
        <p:txBody>
          <a:bodyPr wrap="square" lIns="0" tIns="0" rIns="0" bIns="0" rtlCol="0" anchor="t"/>
          <a:lstStyle/>
          <a:p>
            <a:pPr algn="l" indent="0" marL="0">
              <a:lnSpc>
                <a:spcPts val="780"/>
              </a:lnSpc>
              <a:buNone/>
            </a:pPr>
            <a:r>
              <a:rPr lang="vi-VN" sz="640" b="1" dirty="0">
                <a:solidFill>
                  <a:srgbClr val="666666"/>
                </a:solidFill>
                <a:latin typeface="Calibri" pitchFamily="34" charset="0"/>
                <a:ea typeface="Calibri" pitchFamily="34" charset="-122"/>
                <a:cs typeface="Calibri" pitchFamily="34" charset="-120"/>
              </a:rPr>
              <a:t>Biên EBITDA (%)</a:t>
            </a:r>
            <a:endParaRPr lang="vi-VN" sz="640" dirty="0"/>
          </a:p>
        </p:txBody>
      </p:sp>
      <p:graphicFrame>
        <p:nvGraphicFramePr>
          <p:cNvPr id="24" name="Chart 1" descr=""/>
          <p:cNvGraphicFramePr/>
          <p:nvPr/>
        </p:nvGraphicFramePr>
        <p:xfrm>
          <a:off x="405408" y="5203180"/>
          <a:ext cx="2159943" cy="608707"/>
        </p:xfrm>
        <a:graphic xmlns:a="http://schemas.openxmlformats.org/drawingml/2006/main">
          <a:graphicData uri="http://schemas.openxmlformats.org/drawingml/2006/chart">
            <c:chart xmlns:c="http://schemas.openxmlformats.org/drawingml/2006/chart" r:id="rId2"/>
          </a:graphicData>
        </a:graphic>
      </p:graphicFrame>
      <p:sp>
        <p:nvSpPr>
          <p:cNvPr id="25" name="Text 20"/>
          <p:cNvSpPr txBox="1"/>
          <p:nvPr/>
        </p:nvSpPr>
        <p:spPr>
          <a:xfrm>
            <a:off x="405408" y="5829746"/>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do đề bài cung cấp; dự phóng của nhóm (sheet Drivers)</a:t>
            </a:r>
            <a:endParaRPr lang="vi-VN" sz="600" dirty="0"/>
          </a:p>
        </p:txBody>
      </p:sp>
      <p:sp>
        <p:nvSpPr>
          <p:cNvPr id="26" name="Text 21"/>
          <p:cNvSpPr txBox="1"/>
          <p:nvPr/>
        </p:nvSpPr>
        <p:spPr>
          <a:xfrm>
            <a:off x="405408" y="612638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Ba phương pháp cho 20,4–27,7 tỷ; bình quân thấp hơn VCSH sổ sách</a:t>
            </a:r>
            <a:endParaRPr lang="vi-VN" sz="720" dirty="0"/>
          </a:p>
        </p:txBody>
      </p:sp>
      <p:sp>
        <p:nvSpPr>
          <p:cNvPr id="27" name="Text 22"/>
          <p:cNvSpPr txBox="1"/>
          <p:nvPr/>
        </p:nvSpPr>
        <p:spPr>
          <a:xfrm>
            <a:off x="405408" y="636344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Pre-money, tỷ đồng</a:t>
            </a:r>
            <a:endParaRPr lang="vi-VN" sz="630" dirty="0"/>
          </a:p>
        </p:txBody>
      </p:sp>
      <p:graphicFrame>
        <p:nvGraphicFramePr>
          <p:cNvPr id="28" name="Chart 2" descr=""/>
          <p:cNvGraphicFramePr/>
          <p:nvPr/>
        </p:nvGraphicFramePr>
        <p:xfrm>
          <a:off x="405408" y="6478935"/>
          <a:ext cx="2159943" cy="1040606"/>
        </p:xfrm>
        <a:graphic xmlns:a="http://schemas.openxmlformats.org/drawingml/2006/main">
          <a:graphicData uri="http://schemas.openxmlformats.org/drawingml/2006/chart">
            <c:chart xmlns:c="http://schemas.openxmlformats.org/drawingml/2006/chart" r:id="rId3"/>
          </a:graphicData>
        </a:graphic>
      </p:graphicFrame>
      <p:sp>
        <p:nvSpPr>
          <p:cNvPr id="29" name="Text 23"/>
          <p:cNvSpPr txBox="1"/>
          <p:nvPr/>
        </p:nvSpPr>
        <p:spPr>
          <a:xfrm>
            <a:off x="405408" y="7537400"/>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(Summary, Sensitivity, Multiples)</a:t>
            </a:r>
            <a:endParaRPr lang="vi-VN" sz="600" dirty="0"/>
          </a:p>
        </p:txBody>
      </p:sp>
      <p:sp>
        <p:nvSpPr>
          <p:cNvPr id="30" name="Text 24"/>
          <p:cNvSpPr txBox="1"/>
          <p:nvPr/>
        </p:nvSpPr>
        <p:spPr>
          <a:xfrm>
            <a:off x="463008" y="7736729"/>
            <a:ext cx="2099607" cy="109728"/>
          </a:xfrm>
          <a:prstGeom prst="rect">
            <a:avLst/>
          </a:prstGeom>
          <a:noFill/>
          <a:ln/>
        </p:spPr>
        <p:txBody>
          <a:bodyPr wrap="square" lIns="0" tIns="0" rIns="0" bIns="0" rtlCol="0" anchor="t"/>
          <a:lstStyle/>
          <a:p>
            <a:pPr algn="l" indent="0" marL="0">
              <a:lnSpc>
                <a:spcPts val="850"/>
              </a:lnSpc>
              <a:buNone/>
            </a:pPr>
            <a:r>
              <a:rPr lang="vi-VN" sz="700" b="1" spc="40" kern="0" dirty="0">
                <a:solidFill>
                  <a:srgbClr val="FFFFFF"/>
                </a:solidFill>
                <a:latin typeface="Calibri" pitchFamily="34" charset="0"/>
                <a:ea typeface="Calibri" pitchFamily="34" charset="-122"/>
                <a:cs typeface="Calibri" pitchFamily="34" charset="-120"/>
              </a:rPr>
              <a:t>NỘI DUNG BÁO CÁO</a:t>
            </a:r>
            <a:endParaRPr lang="vi-VN" sz="700" dirty="0"/>
          </a:p>
        </p:txBody>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405408" y="7870180"/>
          <a:ext cx="2159943" cy="914400"/>
        </p:xfrm>
        <a:graphic>
          <a:graphicData uri="http://schemas.openxmlformats.org/drawingml/2006/table">
            <a:tbl>
              <a:tblPr/>
              <a:tblGrid>
                <a:gridCol w="1998018"/>
                <a:gridCol w="161925"/>
              </a:tblGrid>
              <a:tr h="140791">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1. Đề xuất ý tưởng khởi nghiệp</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2</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54">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2. Báo cáo tài chính và xác định giai đoạn</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4</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54">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3. Phân tích vĩ mô và phân tích ngành</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6</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54">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4. Lập dự phóng pro forma 5 năm (2026E–2030E)</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11</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54">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5. Định giá</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13</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54">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6. Kế hoạch huy động vốn (6.1. Nhu cầu vốn)</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15</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45554">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8. Câu hỏi Bonus: định giá khi chưa có doanh thu</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16</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56580">
                <a:tc>
                  <a:txBody>
                    <a:bodyPr/>
                    <a:lstStyle/>
                    <a:p>
                      <a:pPr algn="l" indent="0" marL="0">
                        <a:lnSpc>
                          <a:spcPts val="880"/>
                        </a:lnSpc>
                        <a:buNone/>
                      </a:pPr>
                      <a:r>
                        <a:rPr lang="vi-VN" sz="700" dirty="0">
                          <a:solidFill>
                            <a:srgbClr val="1F1F1F"/>
                          </a:solidFill>
                          <a:latin typeface="Calibri" pitchFamily="34" charset="0"/>
                          <a:ea typeface="Calibri" pitchFamily="34" charset="-122"/>
                          <a:cs typeface="Calibri" pitchFamily="34" charset="-120"/>
                        </a:rPr>
                        <a:t>Phụ lục: BCTC, giả định (lý do, nguồn), chi phí vốn, độ nhạy, chuỗi giá trị, tài liệu tham khảo</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80"/>
                        </a:lnSpc>
                        <a:buNone/>
                      </a:pPr>
                      <a:r>
                        <a:rPr lang="vi-VN" sz="700" b="1" dirty="0">
                          <a:solidFill>
                            <a:srgbClr val="7B1E2B"/>
                          </a:solidFill>
                          <a:latin typeface="Calibri" pitchFamily="34" charset="0"/>
                          <a:ea typeface="Calibri" pitchFamily="34" charset="-122"/>
                          <a:cs typeface="Calibri" pitchFamily="34" charset="-120"/>
                        </a:rPr>
                        <a:t>17</a:t>
                      </a:r>
                      <a:endParaRPr lang="vi-VN" sz="700" dirty="0">
                        <a:latin typeface="Calibri" charset="0"/>
                        <a:ea typeface="Calibri" charset="0"/>
                        <a:cs typeface="Calibri" charset="0"/>
                      </a:endParaRPr>
                    </a:p>
                  </a:txBody>
                  <a:tcPr marL="35662" marR="35662" marT="12802" marB="12802"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32" name="Text 25"/>
          <p:cNvSpPr txBox="1"/>
          <p:nvPr/>
        </p:nvSpPr>
        <p:spPr>
          <a:xfrm>
            <a:off x="405408" y="9163496"/>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Mục 1–3 và 6.1 theo bài của nhóm (bản TTKN cập nhật); Mục 7 (pitching) không thuộc phạm vi báo cáo này.</a:t>
            </a:r>
            <a:endParaRPr lang="vi-VN" sz="600" dirty="0"/>
          </a:p>
        </p:txBody>
      </p:sp>
      <p:sp>
        <p:nvSpPr>
          <p:cNvPr id="33" name="Text 26"/>
          <p:cNvSpPr txBox="1"/>
          <p:nvPr/>
        </p:nvSpPr>
        <p:spPr>
          <a:xfrm>
            <a:off x="2745284" y="774204"/>
            <a:ext cx="4464046" cy="359271"/>
          </a:xfrm>
          <a:prstGeom prst="rect">
            <a:avLst/>
          </a:prstGeom>
          <a:noFill/>
          <a:ln/>
        </p:spPr>
        <p:txBody>
          <a:bodyPr wrap="square" lIns="0" tIns="0" rIns="0" bIns="0" rtlCol="0" anchor="t"/>
          <a:lstStyle/>
          <a:p>
            <a:pPr algn="l" indent="0" marL="0">
              <a:lnSpc>
                <a:spcPts val="1420"/>
              </a:lnSpc>
              <a:buNone/>
            </a:pPr>
            <a:r>
              <a:rPr lang="vi-VN" sz="1220" b="1" dirty="0">
                <a:solidFill>
                  <a:srgbClr val="7B1E2B"/>
                </a:solidFill>
                <a:latin typeface="Calibri" pitchFamily="34" charset="0"/>
                <a:ea typeface="Calibri" pitchFamily="34" charset="-122"/>
                <a:cs typeface="Calibri" pitchFamily="34" charset="-120"/>
              </a:rPr>
              <a:t>AgriPack đã qua giai đoạn thử nghiệm; pre-money 22,4 tỷ đồng, thấp hơn giá trị sổ sách vì tăng trưởng còn cần nhiều vốn</a:t>
            </a:r>
            <a:endParaRPr lang="vi-VN" sz="1220" dirty="0"/>
          </a:p>
        </p:txBody>
      </p:sp>
      <p:sp>
        <p:nvSpPr>
          <p:cNvPr id="34" name="Text 27"/>
          <p:cNvSpPr txBox="1"/>
          <p:nvPr/>
        </p:nvSpPr>
        <p:spPr>
          <a:xfrm>
            <a:off x="2855268" y="1258044"/>
            <a:ext cx="4272653" cy="109728"/>
          </a:xfrm>
          <a:prstGeom prst="rect">
            <a:avLst/>
          </a:prstGeom>
          <a:noFill/>
          <a:ln/>
        </p:spPr>
        <p:txBody>
          <a:bodyPr wrap="square" lIns="0" tIns="0" rIns="0" bIns="0" rtlCol="0" anchor="t"/>
          <a:lstStyle/>
          <a:p>
            <a:pPr algn="l" indent="0" marL="0">
              <a:lnSpc>
                <a:spcPts val="840"/>
              </a:lnSpc>
              <a:buNone/>
            </a:pPr>
            <a:r>
              <a:rPr lang="vi-VN" sz="690" b="1" spc="40" kern="0" dirty="0">
                <a:solidFill>
                  <a:srgbClr val="7B1E2B"/>
                </a:solidFill>
                <a:latin typeface="Calibri" pitchFamily="34" charset="0"/>
                <a:ea typeface="Calibri" pitchFamily="34" charset="-122"/>
                <a:cs typeface="Calibri" pitchFamily="34" charset="-120"/>
              </a:rPr>
              <a:t>KẾT QUẢ ĐỊNH GIÁ (T0 = 01/01/2026)</a:t>
            </a:r>
            <a:endParaRPr lang="vi-VN" sz="690" dirty="0"/>
          </a:p>
        </p:txBody>
      </p:sp>
      <p:graphicFrame>
        <p:nvGraphicFramePr>
          <p:cNvPr id="4" name="Table 2"/>
          <p:cNvGraphicFramePr>
            <a:graphicFrameLocks noGrp="1"/>
          </p:cNvGraphicFramePr>
          <p:nvPr>
            <p:extLst>
              <p:ext uri="{D42A27DB-BD31-4B8C-83A1-F6EECF244321}">
                <p14:modId xmlns:p14="http://schemas.microsoft.com/office/powerpoint/2010/main" val="1579011935"/>
              </p:ext>
            </p:extLst>
          </p:nvPr>
        </p:nvGraphicFramePr>
        <p:xfrm>
          <a:off x="2855268" y="1386483"/>
          <a:ext cx="4217789" cy="914400"/>
        </p:xfrm>
        <a:graphic>
          <a:graphicData uri="http://schemas.openxmlformats.org/drawingml/2006/table">
            <a:tbl>
              <a:tblPr/>
              <a:tblGrid>
                <a:gridCol w="1307455"/>
                <a:gridCol w="2910334"/>
              </a:tblGrid>
              <a:tr h="246757">
                <a:tc>
                  <a:txBody>
                    <a:bodyPr/>
                    <a:lstStyle/>
                    <a:p>
                      <a:pPr algn="l" indent="0" marL="0">
                        <a:lnSpc>
                          <a:spcPts val="900"/>
                        </a:lnSpc>
                        <a:buNone/>
                      </a:pPr>
                      <a:r>
                        <a:rPr lang="vi-VN" sz="740" dirty="0">
                          <a:solidFill>
                            <a:srgbClr val="666666"/>
                          </a:solidFill>
                          <a:latin typeface="Calibri" pitchFamily="34" charset="0"/>
                          <a:ea typeface="Calibri" pitchFamily="34" charset="-122"/>
                          <a:cs typeface="Calibri" pitchFamily="34" charset="-120"/>
                        </a:rPr>
                        <a:t>Pre-money bình quân</a:t>
                      </a:r>
                      <a:endParaRPr lang="vi-VN" sz="740" dirty="0">
                        <a:latin typeface="Calibri" charset="0"/>
                        <a:ea typeface="Calibri" charset="0"/>
                        <a:cs typeface="Calibri" charset="0"/>
                      </a:endParaRPr>
                    </a:p>
                  </a:txBody>
                  <a:tcPr marL="0" marR="72238" marT="9144" marB="9144" anchor="t">
                    <a:lnL w="0" cap="flat" cmpd="sng" algn="ctr">
                      <a:noFill/>
                    </a:lnL>
                    <a:lnR w="0" cap="flat" cmpd="sng" algn="ctr">
                      <a:noFill/>
                    </a:lnR>
                    <a:lnT w="0" cap="flat" cmpd="sng" algn="ctr">
                      <a:noFill/>
                    </a:lnT>
                    <a:lnB w="0" cap="flat" cmpd="sng" algn="ctr">
                      <a:noFill/>
                    </a:lnB>
                  </a:tcPr>
                </a:tc>
                <a:tc>
                  <a:txBody>
                    <a:bodyPr/>
                    <a:lstStyle/>
                    <a:p>
                      <a:pPr algn="l" indent="0" marL="0">
                        <a:lnSpc>
                          <a:spcPts val="900"/>
                        </a:lnSpc>
                        <a:buNone/>
                      </a:pPr>
                      <a:r>
                        <a:rPr lang="vi-VN" sz="740" b="1" dirty="0">
                          <a:solidFill>
                            <a:srgbClr val="1F1F1F"/>
                          </a:solidFill>
                          <a:latin typeface="Calibri" pitchFamily="34" charset="0"/>
                          <a:ea typeface="Calibri" pitchFamily="34" charset="-122"/>
                          <a:cs typeface="Calibri" pitchFamily="34" charset="-120"/>
                        </a:rPr>
                        <a:t>22,4 tỷ đồng</a:t>
                      </a:r>
                      <a:pPr algn="l" indent="0" marL="0">
                        <a:lnSpc>
                          <a:spcPts val="900"/>
                        </a:lnSpc>
                        <a:buNone/>
                      </a:pPr>
                      <a:r>
                        <a:rPr lang="vi-VN" sz="740" dirty="0">
                          <a:solidFill>
                            <a:srgbClr val="1F1F1F"/>
                          </a:solidFill>
                          <a:latin typeface="Calibri" pitchFamily="34" charset="0"/>
                          <a:ea typeface="Calibri" pitchFamily="34" charset="-122"/>
                          <a:cs typeface="Calibri" pitchFamily="34" charset="-120"/>
                        </a:rPr>
                        <a:t> (khoảng 11,4–35,5 tỷ), trọng số DCF 40%, VC Method 40%, Multiples 20%</a:t>
                      </a:r>
                      <a:endParaRPr lang="vi-VN" sz="740" dirty="0">
                        <a:latin typeface="Calibri" charset="0"/>
                        <a:ea typeface="Calibri" charset="0"/>
                        <a:cs typeface="Calibri" charset="0"/>
                      </a:endParaRPr>
                    </a:p>
                  </a:txBody>
                  <a:tcPr marL="0" marR="0" marT="9144" marB="9144" anchor="t">
                    <a:lnL w="0" cap="flat" cmpd="sng" algn="ctr">
                      <a:noFill/>
                    </a:lnL>
                    <a:lnR w="0" cap="flat" cmpd="sng" algn="ctr">
                      <a:noFill/>
                    </a:lnR>
                    <a:lnT w="0" cap="flat" cmpd="sng" algn="ctr">
                      <a:noFill/>
                    </a:lnT>
                    <a:lnB w="0" cap="flat" cmpd="sng" algn="ctr">
                      <a:noFill/>
                    </a:lnB>
                  </a:tcPr>
                </a:tc>
              </a:tr>
              <a:tr h="132308">
                <a:tc>
                  <a:txBody>
                    <a:bodyPr/>
                    <a:lstStyle/>
                    <a:p>
                      <a:pPr algn="l" indent="0" marL="0">
                        <a:lnSpc>
                          <a:spcPts val="900"/>
                        </a:lnSpc>
                        <a:buNone/>
                      </a:pPr>
                      <a:r>
                        <a:rPr lang="vi-VN" sz="740" dirty="0">
                          <a:solidFill>
                            <a:srgbClr val="666666"/>
                          </a:solidFill>
                          <a:latin typeface="Calibri" pitchFamily="34" charset="0"/>
                          <a:ea typeface="Calibri" pitchFamily="34" charset="-122"/>
                          <a:cs typeface="Calibri" pitchFamily="34" charset="-120"/>
                        </a:rPr>
                        <a:t>DCF / VC Method / Multiples</a:t>
                      </a:r>
                      <a:endParaRPr lang="vi-VN" sz="740" dirty="0">
                        <a:latin typeface="Calibri" charset="0"/>
                        <a:ea typeface="Calibri" charset="0"/>
                        <a:cs typeface="Calibri" charset="0"/>
                      </a:endParaRPr>
                    </a:p>
                  </a:txBody>
                  <a:tcPr marL="0" marR="72238" marT="9144" marB="9144" anchor="t">
                    <a:lnL w="0" cap="flat" cmpd="sng" algn="ctr">
                      <a:noFill/>
                    </a:lnL>
                    <a:lnR w="0" cap="flat" cmpd="sng" algn="ctr">
                      <a:noFill/>
                    </a:lnR>
                    <a:lnT w="0" cap="flat" cmpd="sng" algn="ctr">
                      <a:noFill/>
                    </a:lnT>
                    <a:lnB w="0" cap="flat" cmpd="sng" algn="ctr">
                      <a:noFill/>
                    </a:lnB>
                  </a:tcPr>
                </a:tc>
                <a:tc>
                  <a:txBody>
                    <a:bodyPr/>
                    <a:lstStyle/>
                    <a:p>
                      <a:pPr algn="l" indent="0" marL="0">
                        <a:lnSpc>
                          <a:spcPts val="900"/>
                        </a:lnSpc>
                        <a:buNone/>
                      </a:pPr>
                      <a:r>
                        <a:rPr lang="vi-VN" sz="740" dirty="0">
                          <a:solidFill>
                            <a:srgbClr val="1F1F1F"/>
                          </a:solidFill>
                          <a:latin typeface="Calibri" pitchFamily="34" charset="0"/>
                          <a:ea typeface="Calibri" pitchFamily="34" charset="-122"/>
                          <a:cs typeface="Calibri" pitchFamily="34" charset="-120"/>
                        </a:rPr>
                        <a:t>20,4 / 21,7 / 27,7 tỷ; DCF điều chỉnh xác suất sống sót 18,2 tỷ</a:t>
                      </a:r>
                      <a:endParaRPr lang="vi-VN" sz="740" dirty="0">
                        <a:latin typeface="Calibri" charset="0"/>
                        <a:ea typeface="Calibri" charset="0"/>
                        <a:cs typeface="Calibri" charset="0"/>
                      </a:endParaRPr>
                    </a:p>
                  </a:txBody>
                  <a:tcPr marL="0" marR="0" marT="9144" marB="9144" anchor="t">
                    <a:lnL w="0" cap="flat" cmpd="sng" algn="ctr">
                      <a:noFill/>
                    </a:lnL>
                    <a:lnR w="0" cap="flat" cmpd="sng" algn="ctr">
                      <a:noFill/>
                    </a:lnR>
                    <a:lnT w="0" cap="flat" cmpd="sng" algn="ctr">
                      <a:noFill/>
                    </a:lnT>
                    <a:lnB w="0" cap="flat" cmpd="sng" algn="ctr">
                      <a:noFill/>
                    </a:lnB>
                  </a:tcPr>
                </a:tc>
              </a:tr>
              <a:tr h="132308">
                <a:tc>
                  <a:txBody>
                    <a:bodyPr/>
                    <a:lstStyle/>
                    <a:p>
                      <a:pPr algn="l" indent="0" marL="0">
                        <a:lnSpc>
                          <a:spcPts val="900"/>
                        </a:lnSpc>
                        <a:buNone/>
                      </a:pPr>
                      <a:r>
                        <a:rPr lang="vi-VN" sz="740" dirty="0">
                          <a:solidFill>
                            <a:srgbClr val="666666"/>
                          </a:solidFill>
                          <a:latin typeface="Calibri" pitchFamily="34" charset="0"/>
                          <a:ea typeface="Calibri" pitchFamily="34" charset="-122"/>
                          <a:cs typeface="Calibri" pitchFamily="34" charset="-120"/>
                        </a:rPr>
                        <a:t>Chi phí vốn</a:t>
                      </a:r>
                      <a:endParaRPr lang="vi-VN" sz="740" dirty="0">
                        <a:latin typeface="Calibri" charset="0"/>
                        <a:ea typeface="Calibri" charset="0"/>
                        <a:cs typeface="Calibri" charset="0"/>
                      </a:endParaRPr>
                    </a:p>
                  </a:txBody>
                  <a:tcPr marL="0" marR="72238" marT="9144" marB="9144" anchor="t">
                    <a:lnL w="0" cap="flat" cmpd="sng" algn="ctr">
                      <a:noFill/>
                    </a:lnL>
                    <a:lnR w="0" cap="flat" cmpd="sng" algn="ctr">
                      <a:noFill/>
                    </a:lnR>
                    <a:lnT w="0" cap="flat" cmpd="sng" algn="ctr">
                      <a:noFill/>
                    </a:lnT>
                    <a:lnB w="0" cap="flat" cmpd="sng" algn="ctr">
                      <a:noFill/>
                    </a:lnB>
                  </a:tcPr>
                </a:tc>
                <a:tc>
                  <a:txBody>
                    <a:bodyPr/>
                    <a:lstStyle/>
                    <a:p>
                      <a:pPr algn="l" indent="0" marL="0">
                        <a:lnSpc>
                          <a:spcPts val="900"/>
                        </a:lnSpc>
                        <a:buNone/>
                      </a:pPr>
                      <a:r>
                        <a:rPr lang="vi-VN" sz="740" dirty="0">
                          <a:solidFill>
                            <a:srgbClr val="1F1F1F"/>
                          </a:solidFill>
                          <a:latin typeface="Calibri" pitchFamily="34" charset="0"/>
                          <a:ea typeface="Calibri" pitchFamily="34" charset="-122"/>
                          <a:cs typeface="Calibri" pitchFamily="34" charset="-120"/>
                        </a:rPr>
                        <a:t>WACC 14,1%; Rf 4,59% (TPCP 10 năm, ngày 01/10/2026); beta 1,50</a:t>
                      </a:r>
                      <a:endParaRPr lang="vi-VN" sz="740" dirty="0">
                        <a:latin typeface="Calibri" charset="0"/>
                        <a:ea typeface="Calibri" charset="0"/>
                        <a:cs typeface="Calibri" charset="0"/>
                      </a:endParaRPr>
                    </a:p>
                  </a:txBody>
                  <a:tcPr marL="0" marR="0" marT="9144" marB="9144" anchor="t">
                    <a:lnL w="0" cap="flat" cmpd="sng" algn="ctr">
                      <a:noFill/>
                    </a:lnL>
                    <a:lnR w="0" cap="flat" cmpd="sng" algn="ctr">
                      <a:noFill/>
                    </a:lnR>
                    <a:lnT w="0" cap="flat" cmpd="sng" algn="ctr">
                      <a:noFill/>
                    </a:lnT>
                    <a:lnB w="0" cap="flat" cmpd="sng" algn="ctr">
                      <a:noFill/>
                    </a:lnB>
                  </a:tcPr>
                </a:tc>
              </a:tr>
              <a:tr h="132308">
                <a:tc>
                  <a:txBody>
                    <a:bodyPr/>
                    <a:lstStyle/>
                    <a:p>
                      <a:pPr algn="l" indent="0" marL="0">
                        <a:lnSpc>
                          <a:spcPts val="900"/>
                        </a:lnSpc>
                        <a:buNone/>
                      </a:pPr>
                      <a:r>
                        <a:rPr lang="vi-VN" sz="740" dirty="0">
                          <a:solidFill>
                            <a:srgbClr val="666666"/>
                          </a:solidFill>
                          <a:latin typeface="Calibri" pitchFamily="34" charset="0"/>
                          <a:ea typeface="Calibri" pitchFamily="34" charset="-122"/>
                          <a:cs typeface="Calibri" pitchFamily="34" charset="-120"/>
                        </a:rPr>
                        <a:t>Hàm ý</a:t>
                      </a:r>
                      <a:endParaRPr lang="vi-VN" sz="740" dirty="0">
                        <a:latin typeface="Calibri" charset="0"/>
                        <a:ea typeface="Calibri" charset="0"/>
                        <a:cs typeface="Calibri" charset="0"/>
                      </a:endParaRPr>
                    </a:p>
                  </a:txBody>
                  <a:tcPr marL="0" marR="72238" marT="9144" marB="9144" anchor="t">
                    <a:lnL w="0" cap="flat" cmpd="sng" algn="ctr">
                      <a:noFill/>
                    </a:lnL>
                    <a:lnR w="0" cap="flat" cmpd="sng" algn="ctr">
                      <a:noFill/>
                    </a:lnR>
                    <a:lnT w="0" cap="flat" cmpd="sng" algn="ctr">
                      <a:noFill/>
                    </a:lnT>
                    <a:lnB w="0" cap="flat" cmpd="sng" algn="ctr">
                      <a:noFill/>
                    </a:lnB>
                  </a:tcPr>
                </a:tc>
                <a:tc>
                  <a:txBody>
                    <a:bodyPr/>
                    <a:lstStyle/>
                    <a:p>
                      <a:pPr algn="l" indent="0" marL="0">
                        <a:lnSpc>
                          <a:spcPts val="900"/>
                        </a:lnSpc>
                        <a:buNone/>
                      </a:pPr>
                      <a:r>
                        <a:rPr lang="vi-VN" sz="740" dirty="0">
                          <a:solidFill>
                            <a:srgbClr val="1F1F1F"/>
                          </a:solidFill>
                          <a:latin typeface="Calibri" pitchFamily="34" charset="0"/>
                          <a:ea typeface="Calibri" pitchFamily="34" charset="-122"/>
                          <a:cs typeface="Calibri" pitchFamily="34" charset="-120"/>
                        </a:rPr>
                        <a:t>0,75 lần VCSH sổ sách; P/E 2025A 6,3 lần; EV/EBITDA 2025A 2,7 lần</a:t>
                      </a:r>
                      <a:endParaRPr lang="vi-VN" sz="740" dirty="0">
                        <a:latin typeface="Calibri" charset="0"/>
                        <a:ea typeface="Calibri" charset="0"/>
                        <a:cs typeface="Calibri" charset="0"/>
                      </a:endParaRPr>
                    </a:p>
                  </a:txBody>
                  <a:tcPr marL="0" marR="0" marT="9144" marB="9144" anchor="t">
                    <a:lnL w="0" cap="flat" cmpd="sng" algn="ctr">
                      <a:noFill/>
                    </a:lnL>
                    <a:lnR w="0" cap="flat" cmpd="sng" algn="ctr">
                      <a:noFill/>
                    </a:lnR>
                    <a:lnT w="0" cap="flat" cmpd="sng" algn="ctr">
                      <a:noFill/>
                    </a:lnT>
                    <a:lnB w="0" cap="flat" cmpd="sng" algn="ctr">
                      <a:noFill/>
                    </a:lnB>
                  </a:tcPr>
                </a:tc>
              </a:tr>
            </a:tbl>
          </a:graphicData>
        </a:graphic>
      </p:graphicFrame>
      <p:sp>
        <p:nvSpPr>
          <p:cNvPr id="36" name="Text 28"/>
          <p:cNvSpPr txBox="1"/>
          <p:nvPr/>
        </p:nvSpPr>
        <p:spPr>
          <a:xfrm>
            <a:off x="2745284" y="2165598"/>
            <a:ext cx="4464046" cy="526256"/>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Doanh nghiệp (Mục 1).</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AgriPack sản xuất hộp, khay đựng thực phẩm và đệm bảo vệ từ bã mía phối trộn vỏ trứng tại một nhà máy ở Gia Lai, bán cho các doanh nghiệp trong ngành F&amp;B, điện tử, nội thất và thương mại điện tử ở miền Trung và miền Nam. Thực phẩm và hàng tiêu dùng nhanh chiếm gần 80% doanh thu (Fig. 09).</a:t>
            </a:r>
            <a:endParaRPr lang="vi-VN" sz="850" dirty="0"/>
          </a:p>
        </p:txBody>
      </p:sp>
      <p:sp>
        <p:nvSpPr>
          <p:cNvPr id="37" name="Text 29"/>
          <p:cNvSpPr txBox="1"/>
          <p:nvPr/>
        </p:nvSpPr>
        <p:spPr>
          <a:xfrm>
            <a:off x="2745284" y="2729508"/>
            <a:ext cx="4464046" cy="526256"/>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Giai đoạn phát triển (Mục 2).</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Doanh thu tăng 59,1% năm 2024 và 53,7% năm 2025. Năm 2025 là năm đầu tiên doanh nghiệp có lãi và dòng tiền tự do dương, trong khi nợ phải trả chỉ bằng 6,5% vốn chủ sở hữu. Quy mô vẫn còn rất nhỏ so với các doanh nghiệp dẫn đầu, nên nhóm xếp AgriPack vào giai đoạn đầu tăng trưởng, với tỷ lệ thất bại 35–45% (dùng 40%).</a:t>
            </a:r>
            <a:endParaRPr lang="vi-VN" sz="850" dirty="0"/>
          </a:p>
        </p:txBody>
      </p:sp>
      <p:sp>
        <p:nvSpPr>
          <p:cNvPr id="38" name="Text 30"/>
          <p:cNvSpPr txBox="1"/>
          <p:nvPr/>
        </p:nvSpPr>
        <p:spPr>
          <a:xfrm>
            <a:off x="2745284" y="3293418"/>
            <a:ext cx="4464046" cy="1052513"/>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Từ vĩ mô, ngành đến giả định (Mục 3, 4.1).</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GDP 6 tháng đầu năm 2026 tăng 8,18%, thương mại điện tử và lộ trình hạn chế nhựa dùng một lần đều hỗ trợ nhu cầu. Tuy vậy, thị trường mục tiêu của AgriPack chỉ tăng khoảng 4,7% mỗi năm và khách hàng doanh nghiệp có sức mạnh đàm phán cao, nên mô hình chỉ cho giá bán tăng 2% mỗi năm, thấp hơn lạm phát 4,45%, và nâng chi phí biến đổi lên khoảng 27% doanh thu; tăng trưởng chủ yếu đến từ việc giành thêm thị phần, từ 4,3% lên 11,5%. Khi tính lại mô hình cho từng nhân tố, cầu là nhân tố quan trọng nhất: sản lượng thay đổi 20% làm pre-money thay đổi −25,3/+30,6 tỷ đồng, gấp khoảng 4–7 lần tác động của giá bán, lãi suất hay rủi ro quốc gia (Fig. 38).</a:t>
            </a:r>
            <a:endParaRPr lang="vi-VN" sz="850" dirty="0"/>
          </a:p>
        </p:txBody>
      </p:sp>
      <p:sp>
        <p:nvSpPr>
          <p:cNvPr id="39" name="Text 31"/>
          <p:cNvSpPr txBox="1"/>
          <p:nvPr/>
        </p:nvSpPr>
        <p:spPr>
          <a:xfrm>
            <a:off x="2745284" y="4383584"/>
            <a:ext cx="4464046" cy="789384"/>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Dự phóng (Mục 4).</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Doanh thu đạt 178,9 tỷ đồng năm 2030, tăng bình quân 30,3% mỗi năm; biên EBITDA tăng từ 16,2% lên 20,7% (Fig. 01). Khi trình bày theo chức năng, với 70% tiền lương và 90% khấu hao vào giá vốn, biên lợi nhuận gộp đi từ 51,0% năm 2025 xuống 47,4% năm 2030. Theo đề bài, khoản đầu tư lớn với CAPEX bằng 65% doanh thu rơi vào năm 2028 (65,3 tỷ đồng), khiến dòng tiền tự do âm bốn năm liền 2026–2029; năm 2030 tỷ lệ tái đầu tư về 10% doanh thu, vẫn cao hơn trung vị 3,1% của ngành vì AgriPack còn tăng trưởng 28% mỗi năm (Fig. 03).</a:t>
            </a:r>
            <a:endParaRPr lang="vi-VN" sz="850" dirty="0"/>
          </a:p>
        </p:txBody>
      </p:sp>
      <p:sp>
        <p:nvSpPr>
          <p:cNvPr id="40" name="Text 32"/>
          <p:cNvSpPr txBox="1"/>
          <p:nvPr/>
        </p:nvSpPr>
        <p:spPr>
          <a:xfrm>
            <a:off x="2745284" y="5210621"/>
            <a:ext cx="4464046" cy="657820"/>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Định giá (Mục 5).</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DCF cho 20,4 tỷ đồng, VC Method 21,7 tỷ và Multiples 27,7 tỷ; bình quân gia quyền là 22,4 tỷ đồng (Fig. 02). Khi DCF được điều chỉnh theo xác suất sống sót (18,2 tỷ đồng), các phương pháp nằm trong khoảng 18–28 tỷ đồng. Mức 22,4 tỷ đồng chỉ bằng khoảng 0,75 lần vốn chủ sở hữu sổ sách, tức nhà đầu tư chưa trả thêm cho tăng trưởng, vì tăng trưởng đòi hỏi gần 80 tỷ đồng vốn bên ngoài và ROIC giai đoạn 2028–2030 thấp hơn WACC.</a:t>
            </a:r>
            <a:endParaRPr lang="vi-VN" sz="850" dirty="0"/>
          </a:p>
        </p:txBody>
      </p:sp>
      <p:sp>
        <p:nvSpPr>
          <p:cNvPr id="41" name="Text 33"/>
          <p:cNvSpPr txBox="1"/>
          <p:nvPr/>
        </p:nvSpPr>
        <p:spPr>
          <a:xfrm>
            <a:off x="2745284" y="5906095"/>
            <a:ext cx="4464046" cy="526256"/>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Điều cần theo dõi.</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Trong kịch bản xấu, khi sản lượng chỉ bằng 70% kịch bản cơ sở, giá trị vốn chủ sở hữu âm. Các tín hiệu cảnh báo sớm gồm sản lượng F&amp;B năm 2026 tăng dưới 25% (mô hình giả định 32%), chưa có chứng nhận vật liệu tiếp xúc thực phẩm trước quý II/2028, hoặc nhà máy mới chưa vận hành trước ngày 31/12/2028.</a:t>
            </a:r>
            <a:endParaRPr lang="vi-VN" sz="850" dirty="0"/>
          </a:p>
        </p:txBody>
      </p:sp>
      <p:sp>
        <p:nvSpPr>
          <p:cNvPr id="42" name="Text 34"/>
          <p:cNvSpPr txBox="1"/>
          <p:nvPr/>
        </p:nvSpPr>
        <p:spPr>
          <a:xfrm>
            <a:off x="2745284" y="6501130"/>
            <a:ext cx="4464046"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Tóm tắt tài chính</a:t>
            </a:r>
            <a:endParaRPr lang="vi-VN" sz="720" dirty="0"/>
          </a:p>
        </p:txBody>
      </p:sp>
      <p:sp>
        <p:nvSpPr>
          <p:cNvPr id="43" name="Text 35"/>
          <p:cNvSpPr txBox="1"/>
          <p:nvPr/>
        </p:nvSpPr>
        <p:spPr>
          <a:xfrm>
            <a:off x="2745284" y="6628656"/>
            <a:ext cx="4464046"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5" name="Table 3"/>
          <p:cNvGraphicFramePr>
            <a:graphicFrameLocks noGrp="1"/>
          </p:cNvGraphicFramePr>
          <p:nvPr>
            <p:extLst>
              <p:ext uri="{D42A27DB-BD31-4B8C-83A1-F6EECF244321}">
                <p14:modId xmlns:p14="http://schemas.microsoft.com/office/powerpoint/2010/main" val="1579011935"/>
              </p:ext>
            </p:extLst>
          </p:nvPr>
        </p:nvGraphicFramePr>
        <p:xfrm>
          <a:off x="2745284" y="6744146"/>
          <a:ext cx="4409182" cy="914400"/>
        </p:xfrm>
        <a:graphic>
          <a:graphicData uri="http://schemas.openxmlformats.org/drawingml/2006/table">
            <a:tbl>
              <a:tblPr/>
              <a:tblGrid>
                <a:gridCol w="1016050"/>
                <a:gridCol w="424011"/>
                <a:gridCol w="424011"/>
                <a:gridCol w="424011"/>
                <a:gridCol w="424011"/>
                <a:gridCol w="424011"/>
                <a:gridCol w="424011"/>
                <a:gridCol w="424011"/>
                <a:gridCol w="425053"/>
              </a:tblGrid>
              <a:tr h="137517">
                <a:tc>
                  <a:txBody>
                    <a:bodyPr/>
                    <a:lstStyle/>
                    <a:p>
                      <a:pPr algn="l" indent="0" marL="0">
                        <a:lnSpc>
                          <a:spcPts val="800"/>
                        </a:lnSpc>
                        <a:buNone/>
                      </a:pPr>
                      <a:r>
                        <a:rPr lang="vi-VN" sz="680" b="1" dirty="0">
                          <a:solidFill>
                            <a:srgbClr val="FFFFFF"/>
                          </a:solidFill>
                          <a:latin typeface="Calibri" pitchFamily="34" charset="0"/>
                          <a:ea typeface="Calibri" pitchFamily="34" charset="-122"/>
                          <a:cs typeface="Calibri" pitchFamily="34" charset="-120"/>
                        </a:rPr>
                        <a:t>Tỷ đồng</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2023A</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2024A</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2025A</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2026E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2027E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2028E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2029E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2030E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3648">
                <a:tc>
                  <a:txBody>
                    <a:bodyPr/>
                    <a:lstStyle/>
                    <a:p>
                      <a:pPr algn="l" indent="0" marL="0">
                        <a:lnSpc>
                          <a:spcPts val="800"/>
                        </a:lnSpc>
                        <a:buNone/>
                      </a:pPr>
                      <a:r>
                        <a:rPr lang="vi-VN" sz="680" b="1" dirty="0">
                          <a:solidFill>
                            <a:srgbClr val="1F1F1F"/>
                          </a:solidFill>
                          <a:latin typeface="Calibri" pitchFamily="34" charset="0"/>
                          <a:ea typeface="Calibri" pitchFamily="34" charset="-122"/>
                          <a:cs typeface="Calibri" pitchFamily="34" charset="-120"/>
                        </a:rPr>
                        <a:t>Doanh thu thuần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19,4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30,9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47,5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63,7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81,4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100,4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139,3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178,9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Tăng trưởng</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59,1%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53,7%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33,9%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27,9%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23,3%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38,7%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28,4%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240209">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Biên gộp (70% lương, 90% KH vào GVHB)</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37,3%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46,9%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51,0%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51,8%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51,5%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50,7%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45,1%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47,4%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EBITDA</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11,4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19,6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24,7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37,0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Biên EBITDA</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(14,2%)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6,5%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16,2%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17,9%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19,6%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19,5%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17,7%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20,7%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LNST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(0,5)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6,6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8,5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8,6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13,4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FCF/FCFF*</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(9,0)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(5,6)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(52,3)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8,4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CAPEX/doanh thu</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65%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ROIC</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12,7%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16,7%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17,0%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9,1%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6,5%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12,3%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Vốn chủ sở hữu</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19,1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25,6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30,0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77,0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85,5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94,0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98,9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112,3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Nợ vay</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40,8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40,8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32,9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45" name="Text 36"/>
          <p:cNvSpPr txBox="1"/>
          <p:nvPr/>
        </p:nvSpPr>
        <p:spPr>
          <a:xfrm>
            <a:off x="2745284" y="8523833"/>
            <a:ext cx="4464046"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trình bày lại theo chức năng); dự phóng của nhóm. *2023–25A: FCF = CFO − CAPEX; 2026–30E: FCFF</a:t>
            </a:r>
            <a:endParaRPr lang="vi-VN" sz="600" dirty="0"/>
          </a:p>
        </p:txBody>
      </p:sp>
      <p:sp>
        <p:nvSpPr>
          <p:cNvPr id="46" name="Text 37"/>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7" name="Text 38"/>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a:t>
            </a:r>
            <a:endParaRPr lang="vi-VN" sz="6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558105"/>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405408" y="830907"/>
            <a:ext cx="2159943" cy="0"/>
          </a:xfrm>
          <a:prstGeom prst="line">
            <a:avLst/>
          </a:prstGeom>
          <a:noFill/>
          <a:ln w="9525">
            <a:solidFill>
              <a:srgbClr val="7B1E2B"/>
            </a:solidFill>
            <a:prstDash val="solid"/>
          </a:ln>
        </p:spPr>
      </p:sp>
      <p:sp>
        <p:nvSpPr>
          <p:cNvPr id="5" name="Shape 3"/>
          <p:cNvSpPr/>
          <p:nvPr/>
        </p:nvSpPr>
        <p:spPr>
          <a:xfrm>
            <a:off x="405408" y="2401193"/>
            <a:ext cx="2159943" cy="0"/>
          </a:xfrm>
          <a:prstGeom prst="line">
            <a:avLst/>
          </a:prstGeom>
          <a:noFill/>
          <a:ln w="9525">
            <a:solidFill>
              <a:srgbClr val="7B1E2B"/>
            </a:solidFill>
            <a:prstDash val="solid"/>
          </a:ln>
        </p:spPr>
      </p:sp>
      <p:sp>
        <p:nvSpPr>
          <p:cNvPr id="6" name="Shape 4"/>
          <p:cNvSpPr/>
          <p:nvPr/>
        </p:nvSpPr>
        <p:spPr>
          <a:xfrm>
            <a:off x="405408" y="4203948"/>
            <a:ext cx="2159943" cy="0"/>
          </a:xfrm>
          <a:prstGeom prst="line">
            <a:avLst/>
          </a:prstGeom>
          <a:noFill/>
          <a:ln w="9525">
            <a:solidFill>
              <a:srgbClr val="7B1E2B"/>
            </a:solidFill>
            <a:prstDash val="solid"/>
          </a:ln>
        </p:spPr>
      </p:sp>
      <p:sp>
        <p:nvSpPr>
          <p:cNvPr id="7" name="Shape 5"/>
          <p:cNvSpPr/>
          <p:nvPr/>
        </p:nvSpPr>
        <p:spPr>
          <a:xfrm>
            <a:off x="405408" y="10364688"/>
            <a:ext cx="6749058" cy="0"/>
          </a:xfrm>
          <a:prstGeom prst="line">
            <a:avLst/>
          </a:prstGeom>
          <a:noFill/>
          <a:ln w="9525">
            <a:solidFill>
              <a:srgbClr val="BFBFBF"/>
            </a:solidFill>
            <a:prstDash val="solid"/>
          </a:ln>
        </p:spPr>
      </p:sp>
      <p:sp>
        <p:nvSpPr>
          <p:cNvPr id="8" name="Text 6"/>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9" name="Text 7"/>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0" name="Text 8"/>
          <p:cNvSpPr txBox="1"/>
          <p:nvPr/>
        </p:nvSpPr>
        <p:spPr>
          <a:xfrm>
            <a:off x="484608" y="590505"/>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1. ĐỀ XUẤT Ý TƯỞNG KHỞI NGHIỆP</a:t>
            </a:r>
            <a:endParaRPr lang="vi-VN" sz="880" dirty="0"/>
          </a:p>
        </p:txBody>
      </p:sp>
      <p:sp>
        <p:nvSpPr>
          <p:cNvPr id="11" name="Text 9"/>
          <p:cNvSpPr txBox="1"/>
          <p:nvPr/>
        </p:nvSpPr>
        <p:spPr>
          <a:xfrm>
            <a:off x="405408" y="862032"/>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Thị trường nhựa tăng 8,35%/năm; một nửa sản lượng là nhựa bao bì</a:t>
            </a:r>
            <a:endParaRPr lang="vi-VN" sz="720" dirty="0"/>
          </a:p>
        </p:txBody>
      </p:sp>
      <p:sp>
        <p:nvSpPr>
          <p:cNvPr id="12" name="Text 10"/>
          <p:cNvSpPr txBox="1"/>
          <p:nvPr/>
        </p:nvSpPr>
        <p:spPr>
          <a:xfrm>
            <a:off x="405408" y="1099096"/>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Triệu tấn</a:t>
            </a:r>
            <a:endParaRPr lang="vi-VN" sz="630" dirty="0"/>
          </a:p>
        </p:txBody>
      </p:sp>
      <p:graphicFrame>
        <p:nvGraphicFramePr>
          <p:cNvPr id="13" name="Chart 0" descr=""/>
          <p:cNvGraphicFramePr/>
          <p:nvPr/>
        </p:nvGraphicFramePr>
        <p:xfrm>
          <a:off x="405408" y="1214586"/>
          <a:ext cx="2159943" cy="903238"/>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05408" y="2135684"/>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Số liệu trong bài của nhóm (Mục 1.1.1); tỷ lệ 46%: UNEP (2021)</a:t>
            </a:r>
            <a:endParaRPr lang="vi-VN" sz="600" dirty="0"/>
          </a:p>
        </p:txBody>
      </p:sp>
      <p:sp>
        <p:nvSpPr>
          <p:cNvPr id="15" name="Text 12"/>
          <p:cNvSpPr txBox="1"/>
          <p:nvPr/>
        </p:nvSpPr>
        <p:spPr>
          <a:xfrm>
            <a:off x="405408" y="2432318"/>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Nhà máy mới của AgriPack đi trước mốc dừng nhựa dùng một lần sau năm 2030</a:t>
            </a:r>
            <a:endParaRPr lang="vi-VN" sz="720" dirty="0"/>
          </a:p>
        </p:txBody>
      </p:sp>
      <p:sp>
        <p:nvSpPr>
          <p:cNvPr id="16" name="Shape 13"/>
          <p:cNvSpPr/>
          <p:nvPr/>
        </p:nvSpPr>
        <p:spPr>
          <a:xfrm>
            <a:off x="464437" y="2752386"/>
            <a:ext cx="0" cy="883508"/>
          </a:xfrm>
          <a:prstGeom prst="line">
            <a:avLst/>
          </a:prstGeom>
          <a:noFill/>
          <a:ln w="11430">
            <a:solidFill>
              <a:srgbClr val="D0D0D0"/>
            </a:solidFill>
            <a:prstDash val="solid"/>
          </a:ln>
        </p:spPr>
      </p:sp>
      <p:sp>
        <p:nvSpPr>
          <p:cNvPr id="17" name="Shape 14"/>
          <p:cNvSpPr/>
          <p:nvPr/>
        </p:nvSpPr>
        <p:spPr>
          <a:xfrm>
            <a:off x="434005" y="2721954"/>
            <a:ext cx="60864" cy="60865"/>
          </a:xfrm>
          <a:prstGeom prst="ellipse">
            <a:avLst/>
          </a:prstGeom>
          <a:solidFill>
            <a:srgbClr val="404040"/>
          </a:solidFill>
          <a:ln w="6350">
            <a:solidFill>
              <a:srgbClr val="FFFFFF"/>
            </a:solidFill>
            <a:prstDash val="solid"/>
          </a:ln>
        </p:spPr>
      </p:sp>
      <p:sp>
        <p:nvSpPr>
          <p:cNvPr id="18" name="Shape 15"/>
          <p:cNvSpPr/>
          <p:nvPr/>
        </p:nvSpPr>
        <p:spPr>
          <a:xfrm>
            <a:off x="434005" y="3016457"/>
            <a:ext cx="60864" cy="60864"/>
          </a:xfrm>
          <a:prstGeom prst="ellipse">
            <a:avLst/>
          </a:prstGeom>
          <a:solidFill>
            <a:srgbClr val="404040"/>
          </a:solidFill>
          <a:ln w="6350">
            <a:solidFill>
              <a:srgbClr val="FFFFFF"/>
            </a:solidFill>
            <a:prstDash val="solid"/>
          </a:ln>
        </p:spPr>
      </p:sp>
      <p:sp>
        <p:nvSpPr>
          <p:cNvPr id="19" name="Shape 16"/>
          <p:cNvSpPr/>
          <p:nvPr/>
        </p:nvSpPr>
        <p:spPr>
          <a:xfrm>
            <a:off x="434005" y="3310960"/>
            <a:ext cx="60864" cy="60864"/>
          </a:xfrm>
          <a:prstGeom prst="ellipse">
            <a:avLst/>
          </a:prstGeom>
          <a:solidFill>
            <a:srgbClr val="7B1E2B"/>
          </a:solidFill>
          <a:ln w="6350">
            <a:solidFill>
              <a:srgbClr val="FFFFFF"/>
            </a:solidFill>
            <a:prstDash val="solid"/>
          </a:ln>
        </p:spPr>
      </p:sp>
      <p:sp>
        <p:nvSpPr>
          <p:cNvPr id="20" name="Shape 17"/>
          <p:cNvSpPr/>
          <p:nvPr/>
        </p:nvSpPr>
        <p:spPr>
          <a:xfrm>
            <a:off x="434005" y="3605461"/>
            <a:ext cx="60864" cy="60864"/>
          </a:xfrm>
          <a:prstGeom prst="ellipse">
            <a:avLst/>
          </a:prstGeom>
          <a:solidFill>
            <a:srgbClr val="404040"/>
          </a:solidFill>
          <a:ln w="6350">
            <a:solidFill>
              <a:srgbClr val="FFFFFF"/>
            </a:solidFill>
            <a:prstDash val="solid"/>
          </a:ln>
        </p:spPr>
      </p:sp>
      <p:sp>
        <p:nvSpPr>
          <p:cNvPr id="21" name="Text 18"/>
          <p:cNvSpPr txBox="1"/>
          <p:nvPr/>
        </p:nvSpPr>
        <p:spPr>
          <a:xfrm>
            <a:off x="496578" y="2687348"/>
            <a:ext cx="598396" cy="131826"/>
          </a:xfrm>
          <a:prstGeom prst="rect">
            <a:avLst/>
          </a:prstGeom>
          <a:noFill/>
          <a:ln/>
        </p:spPr>
        <p:txBody>
          <a:bodyPr wrap="none" lIns="0" tIns="0" rIns="0" bIns="0" rtlCol="0" anchor="ctr"/>
          <a:lstStyle/>
          <a:p>
            <a:pPr algn="l" indent="0" marL="0">
              <a:buNone/>
            </a:pPr>
            <a:r>
              <a:rPr lang="vi-VN" sz="650" b="1" dirty="0">
                <a:solidFill>
                  <a:srgbClr val="404040"/>
                </a:solidFill>
                <a:latin typeface="Calibri" pitchFamily="34" charset="0"/>
                <a:ea typeface="Calibri" pitchFamily="34" charset="-122"/>
                <a:cs typeface="Calibri" pitchFamily="34" charset="-120"/>
              </a:rPr>
              <a:t>Sau năm 2025</a:t>
            </a:r>
            <a:endParaRPr lang="vi-VN" sz="650" dirty="0"/>
          </a:p>
        </p:txBody>
      </p:sp>
      <p:sp>
        <p:nvSpPr>
          <p:cNvPr id="22" name="Text 19"/>
          <p:cNvSpPr txBox="1"/>
          <p:nvPr/>
        </p:nvSpPr>
        <p:spPr>
          <a:xfrm>
            <a:off x="496578" y="2785225"/>
            <a:ext cx="1879557"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Không lưu hành, sử dụng sản phẩm nhựa dùng một lần tại</a:t>
            </a:r>
            <a:endParaRPr lang="vi-VN" sz="590" dirty="0"/>
          </a:p>
        </p:txBody>
      </p:sp>
      <p:sp>
        <p:nvSpPr>
          <p:cNvPr id="23" name="Text 20"/>
          <p:cNvSpPr txBox="1"/>
          <p:nvPr/>
        </p:nvSpPr>
        <p:spPr>
          <a:xfrm>
            <a:off x="496578" y="2865721"/>
            <a:ext cx="1748838"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trung tâm thương mại, siêu thị, khách sạn, khu du lịch</a:t>
            </a:r>
            <a:endParaRPr lang="vi-VN" sz="590" dirty="0"/>
          </a:p>
        </p:txBody>
      </p:sp>
      <p:sp>
        <p:nvSpPr>
          <p:cNvPr id="24" name="Text 21"/>
          <p:cNvSpPr txBox="1"/>
          <p:nvPr/>
        </p:nvSpPr>
        <p:spPr>
          <a:xfrm>
            <a:off x="496578" y="2981851"/>
            <a:ext cx="529220" cy="131826"/>
          </a:xfrm>
          <a:prstGeom prst="rect">
            <a:avLst/>
          </a:prstGeom>
          <a:noFill/>
          <a:ln/>
        </p:spPr>
        <p:txBody>
          <a:bodyPr wrap="none" lIns="0" tIns="0" rIns="0" bIns="0" rtlCol="0" anchor="ctr"/>
          <a:lstStyle/>
          <a:p>
            <a:pPr algn="l" indent="0" marL="0">
              <a:buNone/>
            </a:pPr>
            <a:r>
              <a:rPr lang="vi-VN" sz="650" b="1" dirty="0">
                <a:solidFill>
                  <a:srgbClr val="404040"/>
                </a:solidFill>
                <a:latin typeface="Calibri" pitchFamily="34" charset="0"/>
                <a:ea typeface="Calibri" pitchFamily="34" charset="-122"/>
                <a:cs typeface="Calibri" pitchFamily="34" charset="-120"/>
              </a:rPr>
              <a:t>01/01/2026</a:t>
            </a:r>
            <a:endParaRPr lang="vi-VN" sz="650" dirty="0"/>
          </a:p>
        </p:txBody>
      </p:sp>
      <p:sp>
        <p:nvSpPr>
          <p:cNvPr id="25" name="Text 22"/>
          <p:cNvSpPr txBox="1"/>
          <p:nvPr/>
        </p:nvSpPr>
        <p:spPr>
          <a:xfrm>
            <a:off x="496578" y="3079726"/>
            <a:ext cx="1898558"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Dừng sản xuất, nhập khẩu túi ni lông khó phân hủy cỡ nhỏ;</a:t>
            </a:r>
            <a:endParaRPr lang="vi-VN" sz="590" dirty="0"/>
          </a:p>
        </p:txBody>
      </p:sp>
      <p:sp>
        <p:nvSpPr>
          <p:cNvPr id="26" name="Text 23"/>
          <p:cNvSpPr txBox="1"/>
          <p:nvPr/>
        </p:nvSpPr>
        <p:spPr>
          <a:xfrm>
            <a:off x="496578" y="3160224"/>
            <a:ext cx="2000330"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nhà sản xuất, nhập khẩu nhựa dùng một lần phải tái chế, xử lý</a:t>
            </a:r>
            <a:endParaRPr lang="vi-VN" sz="590" dirty="0"/>
          </a:p>
        </p:txBody>
      </p:sp>
      <p:sp>
        <p:nvSpPr>
          <p:cNvPr id="27" name="Text 24"/>
          <p:cNvSpPr txBox="1"/>
          <p:nvPr/>
        </p:nvSpPr>
        <p:spPr>
          <a:xfrm>
            <a:off x="496578" y="3276353"/>
            <a:ext cx="1299512" cy="131826"/>
          </a:xfrm>
          <a:prstGeom prst="rect">
            <a:avLst/>
          </a:prstGeom>
          <a:noFill/>
          <a:ln/>
        </p:spPr>
        <p:txBody>
          <a:bodyPr wrap="none" lIns="0" tIns="0" rIns="0" bIns="0" rtlCol="0" anchor="ctr"/>
          <a:lstStyle/>
          <a:p>
            <a:pPr algn="l" indent="0" marL="0">
              <a:buNone/>
            </a:pPr>
            <a:r>
              <a:rPr lang="vi-VN" sz="650" b="1" dirty="0">
                <a:solidFill>
                  <a:srgbClr val="7B1E2B"/>
                </a:solidFill>
                <a:latin typeface="Calibri" pitchFamily="34" charset="0"/>
                <a:ea typeface="Calibri" pitchFamily="34" charset="-122"/>
                <a:cs typeface="Calibri" pitchFamily="34" charset="-120"/>
              </a:rPr>
              <a:t>2026–2029: kế hoạch của AgriPack</a:t>
            </a:r>
            <a:endParaRPr lang="vi-VN" sz="650" dirty="0"/>
          </a:p>
        </p:txBody>
      </p:sp>
      <p:sp>
        <p:nvSpPr>
          <p:cNvPr id="28" name="Text 25"/>
          <p:cNvSpPr txBox="1"/>
          <p:nvPr/>
        </p:nvSpPr>
        <p:spPr>
          <a:xfrm>
            <a:off x="496578" y="3374229"/>
            <a:ext cx="1799199"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Gọi vốn cổ phần (2026), xây nhà máy mới (2028, CAPEX</a:t>
            </a:r>
            <a:endParaRPr lang="vi-VN" sz="590" dirty="0"/>
          </a:p>
        </p:txBody>
      </p:sp>
      <p:sp>
        <p:nvSpPr>
          <p:cNvPr id="29" name="Text 26"/>
          <p:cNvSpPr txBox="1"/>
          <p:nvPr/>
        </p:nvSpPr>
        <p:spPr>
          <a:xfrm>
            <a:off x="496578" y="3454727"/>
            <a:ext cx="1897814"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bằng 65% doanh thu), hai dây chuyền mới vận hành (2029)</a:t>
            </a:r>
            <a:endParaRPr lang="vi-VN" sz="590" dirty="0"/>
          </a:p>
        </p:txBody>
      </p:sp>
      <p:sp>
        <p:nvSpPr>
          <p:cNvPr id="30" name="Text 27"/>
          <p:cNvSpPr txBox="1"/>
          <p:nvPr/>
        </p:nvSpPr>
        <p:spPr>
          <a:xfrm>
            <a:off x="496578" y="3570856"/>
            <a:ext cx="671521" cy="131826"/>
          </a:xfrm>
          <a:prstGeom prst="rect">
            <a:avLst/>
          </a:prstGeom>
          <a:noFill/>
          <a:ln/>
        </p:spPr>
        <p:txBody>
          <a:bodyPr wrap="none" lIns="0" tIns="0" rIns="0" bIns="0" rtlCol="0" anchor="ctr"/>
          <a:lstStyle/>
          <a:p>
            <a:pPr algn="l" indent="0" marL="0">
              <a:buNone/>
            </a:pPr>
            <a:r>
              <a:rPr lang="vi-VN" sz="650" b="1" dirty="0">
                <a:solidFill>
                  <a:srgbClr val="404040"/>
                </a:solidFill>
                <a:latin typeface="Calibri" pitchFamily="34" charset="0"/>
                <a:ea typeface="Calibri" pitchFamily="34" charset="-122"/>
                <a:cs typeface="Calibri" pitchFamily="34" charset="-120"/>
              </a:rPr>
              <a:t>Sau 31/12/2030</a:t>
            </a:r>
            <a:endParaRPr lang="vi-VN" sz="650" dirty="0"/>
          </a:p>
        </p:txBody>
      </p:sp>
      <p:sp>
        <p:nvSpPr>
          <p:cNvPr id="31" name="Text 28"/>
          <p:cNvSpPr txBox="1"/>
          <p:nvPr/>
        </p:nvSpPr>
        <p:spPr>
          <a:xfrm>
            <a:off x="496578" y="3668731"/>
            <a:ext cx="2103573"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Dừng sản xuất, nhập khẩu sản phẩm nhựa dùng một lần và bao bì</a:t>
            </a:r>
            <a:endParaRPr lang="vi-VN" sz="590" dirty="0"/>
          </a:p>
        </p:txBody>
      </p:sp>
      <p:sp>
        <p:nvSpPr>
          <p:cNvPr id="32" name="Text 29"/>
          <p:cNvSpPr txBox="1"/>
          <p:nvPr/>
        </p:nvSpPr>
        <p:spPr>
          <a:xfrm>
            <a:off x="496578" y="3749229"/>
            <a:ext cx="1974461" cy="122301"/>
          </a:xfrm>
          <a:prstGeom prst="rect">
            <a:avLst/>
          </a:prstGeom>
          <a:noFill/>
          <a:ln/>
        </p:spPr>
        <p:txBody>
          <a:bodyPr wrap="none" lIns="0" tIns="0" rIns="0" bIns="0" rtlCol="0" anchor="ctr"/>
          <a:lstStyle/>
          <a:p>
            <a:pPr algn="l" indent="0" marL="0">
              <a:buNone/>
            </a:pPr>
            <a:r>
              <a:rPr lang="vi-VN" sz="590" dirty="0">
                <a:solidFill>
                  <a:srgbClr val="262626"/>
                </a:solidFill>
                <a:latin typeface="Calibri" pitchFamily="34" charset="0"/>
                <a:ea typeface="Calibri" pitchFamily="34" charset="-122"/>
                <a:cs typeface="Calibri" pitchFamily="34" charset="-120"/>
              </a:rPr>
              <a:t>nhựa khó phân hủy, trừ sản phẩm có nhãn sinh thái Việt Nam</a:t>
            </a:r>
            <a:endParaRPr lang="vi-VN" sz="590" dirty="0"/>
          </a:p>
        </p:txBody>
      </p:sp>
      <p:sp>
        <p:nvSpPr>
          <p:cNvPr id="33" name="Text 30"/>
          <p:cNvSpPr txBox="1"/>
          <p:nvPr/>
        </p:nvSpPr>
        <p:spPr>
          <a:xfrm>
            <a:off x="405408" y="3938439"/>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Nghị định 08/2022/NĐ-CP, Điều 64 (bài của nhóm, Mục 1.1.1); kế hoạch đầu tư: đề bài và mô hình</a:t>
            </a:r>
            <a:endParaRPr lang="vi-VN" sz="600" dirty="0"/>
          </a:p>
        </p:txBody>
      </p:sp>
      <p:sp>
        <p:nvSpPr>
          <p:cNvPr id="34" name="Text 31"/>
          <p:cNvSpPr txBox="1"/>
          <p:nvPr/>
        </p:nvSpPr>
        <p:spPr>
          <a:xfrm>
            <a:off x="405408" y="4235073"/>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06:</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Hộp bã mía đắt gấp 3–5 lần hộp xốp EPS cùng dung tích</a:t>
            </a:r>
            <a:endParaRPr lang="vi-VN" sz="720" dirty="0"/>
          </a:p>
        </p:txBody>
      </p:sp>
      <p:sp>
        <p:nvSpPr>
          <p:cNvPr id="35" name="Text 32"/>
          <p:cNvSpPr txBox="1"/>
          <p:nvPr/>
        </p:nvSpPr>
        <p:spPr>
          <a:xfrm>
            <a:off x="405408" y="4472136"/>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Giá tham khảo hộp 500 ml có nắp, đồng/chiếc</a:t>
            </a:r>
            <a:endParaRPr lang="vi-VN" sz="630" dirty="0"/>
          </a:p>
        </p:txBody>
      </p:sp>
      <p:graphicFrame>
        <p:nvGraphicFramePr>
          <p:cNvPr id="36" name="Chart 1" descr=""/>
          <p:cNvGraphicFramePr/>
          <p:nvPr/>
        </p:nvGraphicFramePr>
        <p:xfrm>
          <a:off x="405408" y="4587627"/>
          <a:ext cx="2159943" cy="834479"/>
        </p:xfrm>
        <a:graphic xmlns:a="http://schemas.openxmlformats.org/drawingml/2006/main">
          <a:graphicData uri="http://schemas.openxmlformats.org/drawingml/2006/chart">
            <c:chart xmlns:c="http://schemas.openxmlformats.org/drawingml/2006/chart" r:id="rId2"/>
          </a:graphicData>
        </a:graphic>
      </p:graphicFrame>
      <p:sp>
        <p:nvSpPr>
          <p:cNvPr id="37" name="Text 33"/>
          <p:cNvSpPr txBox="1"/>
          <p:nvPr/>
        </p:nvSpPr>
        <p:spPr>
          <a:xfrm>
            <a:off x="405408" y="5439966"/>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QueenPack.com, baobixanh.com (bảng giá của nhóm); giá AgriPack: bảng chiến lược giá (Mục 1.2.2)</a:t>
            </a:r>
            <a:endParaRPr lang="vi-VN" sz="600" dirty="0"/>
          </a:p>
        </p:txBody>
      </p:sp>
      <p:sp>
        <p:nvSpPr>
          <p:cNvPr id="38" name="Text 34"/>
          <p:cNvSpPr txBox="1"/>
          <p:nvPr/>
        </p:nvSpPr>
        <p:spPr>
          <a:xfrm>
            <a:off x="2745284" y="845195"/>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Tổng quan doanh nghiệp</a:t>
            </a:r>
            <a:endParaRPr lang="vi-VN" sz="900" dirty="0"/>
          </a:p>
        </p:txBody>
      </p:sp>
      <p:sp>
        <p:nvSpPr>
          <p:cNvPr id="39" name="Text 35"/>
          <p:cNvSpPr txBox="1"/>
          <p:nvPr/>
        </p:nvSpPr>
        <p:spPr>
          <a:xfrm>
            <a:off x="2745284" y="1014561"/>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CTCP AgriPack là một doanh nghiệp khởi nghiệp sáng tạo, hoạt động sản xuất trong lĩnh vực bao bì bền vững. Doanh nghiệp được giả định thành lập vào năm 2021 với sứ mệnh tạo ra những chiếc bao bì, lớp đệm đóng gói và bảo vệ bằng các chất liệu thân thiện với môi trường, từ đó lan tỏa vẻ đẹp xanh của sự tái chế và niềm tin vào một cuộc sống bền vững. Doanh nghiệp đặt ra tầm nhìn trở thành biểu tượng hàng đầu Việt Nam lan tỏa lối sống xanh trên từng chiếc sản phẩm trao tay. Hiện nay, AgriPack có một nhà máy sản xuất tại Gia Lai, kinh doanh tập trung cho doanh nghiệp và hộ kinh doanh ở các tỉnh miền Trung và Nam.</a:t>
            </a:r>
            <a:endParaRPr lang="vi-VN" sz="850" dirty="0"/>
          </a:p>
        </p:txBody>
      </p:sp>
      <p:sp>
        <p:nvSpPr>
          <p:cNvPr id="40" name="Text 36"/>
          <p:cNvSpPr txBox="1"/>
          <p:nvPr/>
        </p:nvSpPr>
        <p:spPr>
          <a:xfrm>
            <a:off x="2745284" y="1973163"/>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1.1 Sản phẩm kinh doanh</a:t>
            </a:r>
            <a:endParaRPr lang="vi-VN" sz="900" dirty="0"/>
          </a:p>
        </p:txBody>
      </p:sp>
      <p:sp>
        <p:nvSpPr>
          <p:cNvPr id="41" name="Text 37"/>
          <p:cNvSpPr txBox="1"/>
          <p:nvPr/>
        </p:nvSpPr>
        <p:spPr>
          <a:xfrm>
            <a:off x="2745284" y="2142530"/>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1.1.1. Vấn đề thị trường</a:t>
            </a:r>
            <a:endParaRPr lang="vi-VN" sz="820" dirty="0"/>
          </a:p>
        </p:txBody>
      </p:sp>
      <p:sp>
        <p:nvSpPr>
          <p:cNvPr id="42" name="Text 38"/>
          <p:cNvSpPr txBox="1"/>
          <p:nvPr/>
        </p:nvSpPr>
        <p:spPr>
          <a:xfrm>
            <a:off x="2745284" y="2289125"/>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Thị trường nhựa năm 2026 đạt khoảng 12,83 triệu tấn và dự kiến chạm mốc 19,16 triệu tấn vào năm 2031 với tốc độ tăng trưởng bình quân 8,35%/năm. Trong đó, nhựa bao bì có tỷ trọng chiếm 50,35% sản lượng, phục vụ chủ yếu cho thực phẩm đồ uống và các hàng tiêu dùng. 46% rác thải nhựa toàn cầu đến từ bao bì nhựa, mang đến sức tàn phá sự sống xung quanh môi trường đất liền và hệ thống sông ngòi (UNEP, 2022, United Nations Environment Programme). Tuy vậy, đây vẫn là sản phẩm được sử dụng thông dụng nhất trong hoạt động kinh doanh của người Việt bởi số lượng sản xuất lớn và giá thành rẻ (Fig. 04).</a:t>
            </a:r>
            <a:endParaRPr lang="vi-VN" sz="850" dirty="0"/>
          </a:p>
        </p:txBody>
      </p:sp>
      <p:sp>
        <p:nvSpPr>
          <p:cNvPr id="43" name="Text 39"/>
          <p:cNvSpPr txBox="1"/>
          <p:nvPr/>
        </p:nvSpPr>
        <p:spPr>
          <a:xfrm>
            <a:off x="2745284" y="3247727"/>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Để giảm thiểu vấn đề rác thải nhựa, Việt Nam đã đưa ra Nghị định số 08/2022/NĐ-CP quy định chi tiết một số điều của Luật Bảo vệ môi trường. Trong đó, điều 64 chỉ ra lộ trình hạn chế sản xuất, nhập khẩu sản phẩm nhựa sử dụng một lần, bao bì nhựa khó phân hủy sinh học và sản phẩm, hàng hóa chứa vi nhựa:</a:t>
            </a:r>
            <a:endParaRPr lang="vi-VN" sz="850" dirty="0"/>
          </a:p>
        </p:txBody>
      </p:sp>
      <p:sp>
        <p:nvSpPr>
          <p:cNvPr id="44" name="Text 40"/>
          <p:cNvSpPr txBox="1"/>
          <p:nvPr/>
        </p:nvSpPr>
        <p:spPr>
          <a:xfrm>
            <a:off x="2759184" y="3811637"/>
            <a:ext cx="4450145" cy="526256"/>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Từ 01/01/2026, không sản xuất và nhập khẩu túi ni lông khó phân hủy sinh học có kích thước nhỏ. Tổ chức, cá nhân sản xuất hay nhập khẩu sản phẩm nhựa sử dụng một lần, bao bì nhựa khó phân hủy sinh học (gồm túi ni lông, hộp nhựa xốp đóng gói, chứa đựng thực phẩm) phải thực hiện trách nhiệm tái chế, xử lý theo quy định.</a:t>
            </a:r>
            <a:endParaRPr lang="vi-VN" sz="850" dirty="0"/>
          </a:p>
        </p:txBody>
      </p:sp>
      <p:sp>
        <p:nvSpPr>
          <p:cNvPr id="45" name="Text 41"/>
          <p:cNvSpPr txBox="1"/>
          <p:nvPr/>
        </p:nvSpPr>
        <p:spPr>
          <a:xfrm>
            <a:off x="2759184" y="4346823"/>
            <a:ext cx="4450145" cy="394692"/>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Sau 31/12/2030, dừng sản xuất, nhập khẩu các sản phẩm này (trừ khi được chứng nhận nhãn sinh thái Việt Nam) và sản phẩm, hàng hóa chứa vi nhựa (trừ trường hợp sản xuất để xuất khẩu hoặc để đóng gói bán ra thị trường).</a:t>
            </a:r>
            <a:endParaRPr lang="vi-VN" sz="850" dirty="0"/>
          </a:p>
        </p:txBody>
      </p:sp>
      <p:sp>
        <p:nvSpPr>
          <p:cNvPr id="46" name="Text 42"/>
          <p:cNvSpPr txBox="1"/>
          <p:nvPr/>
        </p:nvSpPr>
        <p:spPr>
          <a:xfrm>
            <a:off x="2759184" y="4750445"/>
            <a:ext cx="4450145" cy="263128"/>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Bảo đảm sau năm 2025, không lưu hành và sử dụng các sản phẩm này tại các trung tâm thương mại, siêu thị, khách sạn, khu du lịch (Fig. 05)</a:t>
            </a:r>
            <a:endParaRPr lang="vi-VN" sz="850" dirty="0"/>
          </a:p>
        </p:txBody>
      </p:sp>
      <p:sp>
        <p:nvSpPr>
          <p:cNvPr id="47" name="Text 43"/>
          <p:cNvSpPr txBox="1"/>
          <p:nvPr/>
        </p:nvSpPr>
        <p:spPr>
          <a:xfrm>
            <a:off x="2745284" y="5065663"/>
            <a:ext cx="4464046" cy="13156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Điều này tạo áp lực chuyển đổi sang các giải pháp bao bì thay thế.</a:t>
            </a:r>
            <a:endParaRPr lang="vi-VN" sz="850" dirty="0"/>
          </a:p>
        </p:txBody>
      </p:sp>
      <p:sp>
        <p:nvSpPr>
          <p:cNvPr id="48" name="Text 44"/>
          <p:cNvSpPr txBox="1"/>
          <p:nvPr/>
        </p:nvSpPr>
        <p:spPr>
          <a:xfrm>
            <a:off x="2745284" y="5234880"/>
            <a:ext cx="4464046" cy="1052513"/>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Các giải pháp hiện nay bao gồm giấy, các-tông, nhựa sinh học (bioplastic) hoặc bã mía làm các chất liệu sản xuất bao bì phục vụ cho việc đóng gói thực phẩm. Tuy nhiên, hạn chế của chất liệu vẫn còn nhiều. Đối với các chất liệu chứa cellulose ưa nước, sự ổn định và tính bền còn yếu, yêu cầu phải được phủ bằng lớp hóa chất gây khó khăn cho việc tái chế. Đối với nhựa sinh học, giá thành và cơ sở hạ tầng sản xuất cần một khoản đầu tư lớn, gây khó khăn cho việc sản xuất hàng loạt và thương mại hóa. Doanh nghiệp và các hộ kinh doanh cần một giải pháp thay thế bao bì nhựa nhưng giá thành vẫn phải rẻ, có khả năng bảo vệ sản phẩm, bền và ổn định. Hiện nay, giá thành bao bì nhựa vẫn rẻ hơn nhiều lần so với bao bì xanh (Fig. 06).</a:t>
            </a:r>
            <a:endParaRPr lang="vi-VN" sz="850" dirty="0"/>
          </a:p>
        </p:txBody>
      </p:sp>
      <p:sp>
        <p:nvSpPr>
          <p:cNvPr id="49" name="Text 45"/>
          <p:cNvSpPr txBox="1"/>
          <p:nvPr/>
        </p:nvSpPr>
        <p:spPr>
          <a:xfrm>
            <a:off x="2745284" y="6325046"/>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1.1.2. Giải pháp sản phẩm</a:t>
            </a:r>
            <a:endParaRPr lang="vi-VN" sz="820" dirty="0"/>
          </a:p>
        </p:txBody>
      </p:sp>
      <p:sp>
        <p:nvSpPr>
          <p:cNvPr id="50" name="Text 46"/>
          <p:cNvSpPr txBox="1"/>
          <p:nvPr/>
        </p:nvSpPr>
        <p:spPr>
          <a:xfrm>
            <a:off x="2745284" y="6471642"/>
            <a:ext cx="4464046" cy="13156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AgriPack cung ứng bốn loại sản phẩm:</a:t>
            </a:r>
            <a:endParaRPr lang="vi-VN" sz="850" dirty="0"/>
          </a:p>
        </p:txBody>
      </p:sp>
      <p:sp>
        <p:nvSpPr>
          <p:cNvPr id="51" name="Text 47"/>
          <p:cNvSpPr txBox="1"/>
          <p:nvPr/>
        </p:nvSpPr>
        <p:spPr>
          <a:xfrm>
            <a:off x="2759184" y="6640860"/>
            <a:ext cx="4450145" cy="394692"/>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Bao bì cho FMCG và F&amp;B: Hộp đóng gói đựng thực phẩm mang đi và các loại khay chia nhiều ngăn, được ép khuôn theo kích thước, hình dáng tùy chỉnh của thực phẩm (cơm, pizza, bánh ngọt, bánh gato, đồ ăn nhiều ngăn,...)</a:t>
            </a:r>
            <a:endParaRPr lang="vi-VN" sz="850" dirty="0"/>
          </a:p>
        </p:txBody>
      </p:sp>
      <p:sp>
        <p:nvSpPr>
          <p:cNvPr id="52" name="Text 48"/>
          <p:cNvSpPr txBox="1"/>
          <p:nvPr/>
        </p:nvSpPr>
        <p:spPr>
          <a:xfrm>
            <a:off x="2759184" y="7044482"/>
            <a:ext cx="4450145" cy="131564"/>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Đệm bảo vệ, chống sốc cho các thiết bị, linh kiện điện tử</a:t>
            </a:r>
            <a:endParaRPr lang="vi-VN" sz="850" dirty="0"/>
          </a:p>
        </p:txBody>
      </p:sp>
      <p:sp>
        <p:nvSpPr>
          <p:cNvPr id="53" name="Text 49"/>
          <p:cNvSpPr txBox="1"/>
          <p:nvPr/>
        </p:nvSpPr>
        <p:spPr>
          <a:xfrm>
            <a:off x="2759184" y="7184975"/>
            <a:ext cx="4450145" cy="131564"/>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Đệm chống sốc, góc bảo vệ cho quá trình vận chuyển đồ đồ nội thất, e-commerce.</a:t>
            </a:r>
            <a:endParaRPr lang="vi-VN" sz="850" dirty="0"/>
          </a:p>
        </p:txBody>
      </p:sp>
      <p:sp>
        <p:nvSpPr>
          <p:cNvPr id="54" name="Text 50"/>
          <p:cNvSpPr txBox="1"/>
          <p:nvPr/>
        </p:nvSpPr>
        <p:spPr>
          <a:xfrm>
            <a:off x="2759184" y="7325469"/>
            <a:ext cx="4450145" cy="131564"/>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Dịch vụ thiết kế - khuôn - mẫu thử tính phí theo dự án.</a:t>
            </a:r>
            <a:endParaRPr lang="vi-VN" sz="850" dirty="0"/>
          </a:p>
        </p:txBody>
      </p:sp>
      <p:sp>
        <p:nvSpPr>
          <p:cNvPr id="55" name="Text 51"/>
          <p:cNvSpPr txBox="1"/>
          <p:nvPr/>
        </p:nvSpPr>
        <p:spPr>
          <a:xfrm>
            <a:off x="2745284" y="7509123"/>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Sản phẩm được làm từ chất liệu bã mía và thêm một thành phần đặc biệt là vỏ trứng. Vỏ trứng chứa thành phần CaCO3, là loại chất phụ gia hay được sử dụng để làm chất độn. Ở tỷ lệ vừa phải, chất giúp giảm chi phí sợi, tăng độ trắng và phẳng. Hiện nay khả năng tăng độ bền đang được thử nghiệm.</a:t>
            </a:r>
            <a:endParaRPr lang="vi-VN" sz="850" dirty="0"/>
          </a:p>
        </p:txBody>
      </p:sp>
      <p:sp>
        <p:nvSpPr>
          <p:cNvPr id="56" name="Text 52"/>
          <p:cNvSpPr txBox="1"/>
          <p:nvPr/>
        </p:nvSpPr>
        <p:spPr>
          <a:xfrm>
            <a:off x="2745284" y="8073033"/>
            <a:ext cx="4464046" cy="1315641"/>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Các chất liệu bã mía và vỏ trứng đã tận dụng được phế phẩm từ các nhà máy sản xuất đường mía và sản xuất các thực phẩm sử dụng trứng, góp phần tái chế bảo vệ môi trường và tạo ra sản phẩm thay thế hàng tiêu dùng một lần bằng nhựa, đáp ứng với chiến lược xây dựng một nền kinh tế tuần hoàn của Chính phủ Việt Nam. Theo ước tính của nhóm, Việt Nam thải ra ~ 3,3 - 4 triệu tấn bã mía/năm, tương đương với 25-30% sản lượng mía ép, trở thành nguồn thu của AgriPack thông qua hợp đồng thu mua dài hạn. Ngoài ra, các nhà máy sử dụng trứng ví dụ như Bibica từng thuộc PAN Group sử dụng trung bình 600kg vỏ trứng/ngày để sản xuất bánh bông lan (The PAN Group, 2024, Sustainability Report), tương đương với 219 tấn vỏ trứng/năm, tức ước chừng số lượng vỏ trứng của các nhà máy sản xuất bánh tại Việt Nam đủ lớn đáng kể để tạo nguồn thu nguyên liệu cho AgriPack.</a:t>
            </a:r>
            <a:endParaRPr lang="vi-VN" sz="850" dirty="0"/>
          </a:p>
        </p:txBody>
      </p:sp>
      <p:sp>
        <p:nvSpPr>
          <p:cNvPr id="57" name="Text 53"/>
          <p:cNvSpPr txBox="1"/>
          <p:nvPr/>
        </p:nvSpPr>
        <p:spPr>
          <a:xfrm>
            <a:off x="2745284" y="9426327"/>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1.2. Khách hàng mục tiêu và chiến lược giá bán</a:t>
            </a:r>
            <a:endParaRPr lang="vi-VN" sz="900" dirty="0"/>
          </a:p>
        </p:txBody>
      </p:sp>
      <p:sp>
        <p:nvSpPr>
          <p:cNvPr id="58" name="Text 54"/>
          <p:cNvSpPr txBox="1"/>
          <p:nvPr/>
        </p:nvSpPr>
        <p:spPr>
          <a:xfrm>
            <a:off x="2745284" y="9595693"/>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1.2.1. Khách hàng mục tiêu</a:t>
            </a:r>
            <a:endParaRPr lang="vi-VN" sz="820" dirty="0"/>
          </a:p>
        </p:txBody>
      </p:sp>
      <p:sp>
        <p:nvSpPr>
          <p:cNvPr id="59" name="Text 55"/>
          <p:cNvSpPr txBox="1"/>
          <p:nvPr/>
        </p:nvSpPr>
        <p:spPr>
          <a:xfrm>
            <a:off x="2745284" y="9742289"/>
            <a:ext cx="4464046" cy="13156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Các tiêu chí lựa chọn khách hàng mục tiêu được thể hiện như sau: (Fig. A01)</a:t>
            </a:r>
            <a:endParaRPr lang="vi-VN" sz="850" dirty="0"/>
          </a:p>
        </p:txBody>
      </p:sp>
      <p:sp>
        <p:nvSpPr>
          <p:cNvPr id="60" name="Text 56"/>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61" name="Text 57"/>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2</a:t>
            </a:r>
            <a:endParaRPr lang="vi-VN" sz="6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2697361"/>
            <a:ext cx="6749058" cy="0"/>
          </a:xfrm>
          <a:prstGeom prst="line">
            <a:avLst/>
          </a:prstGeom>
          <a:noFill/>
          <a:ln w="9525">
            <a:solidFill>
              <a:srgbClr val="7B1E2B"/>
            </a:solidFill>
            <a:prstDash val="solid"/>
          </a:ln>
        </p:spPr>
      </p:sp>
      <p:sp>
        <p:nvSpPr>
          <p:cNvPr id="5" name="Shape 3"/>
          <p:cNvSpPr/>
          <p:nvPr/>
        </p:nvSpPr>
        <p:spPr>
          <a:xfrm>
            <a:off x="405408" y="4458742"/>
            <a:ext cx="2159943" cy="0"/>
          </a:xfrm>
          <a:prstGeom prst="line">
            <a:avLst/>
          </a:prstGeom>
          <a:noFill/>
          <a:ln w="9525">
            <a:solidFill>
              <a:srgbClr val="7B1E2B"/>
            </a:solidFill>
            <a:prstDash val="solid"/>
          </a:ln>
        </p:spPr>
      </p:sp>
      <p:sp>
        <p:nvSpPr>
          <p:cNvPr id="6" name="Shape 4"/>
          <p:cNvSpPr/>
          <p:nvPr/>
        </p:nvSpPr>
        <p:spPr>
          <a:xfrm>
            <a:off x="405408" y="6205686"/>
            <a:ext cx="2159943" cy="0"/>
          </a:xfrm>
          <a:prstGeom prst="line">
            <a:avLst/>
          </a:prstGeom>
          <a:noFill/>
          <a:ln w="9525">
            <a:solidFill>
              <a:srgbClr val="7B1E2B"/>
            </a:solidFill>
            <a:prstDash val="solid"/>
          </a:ln>
        </p:spPr>
      </p:sp>
      <p:sp>
        <p:nvSpPr>
          <p:cNvPr id="7" name="Shape 5"/>
          <p:cNvSpPr/>
          <p:nvPr/>
        </p:nvSpPr>
        <p:spPr>
          <a:xfrm>
            <a:off x="405408" y="7893695"/>
            <a:ext cx="2159943" cy="0"/>
          </a:xfrm>
          <a:prstGeom prst="line">
            <a:avLst/>
          </a:prstGeom>
          <a:noFill/>
          <a:ln w="9525">
            <a:solidFill>
              <a:srgbClr val="7B1E2B"/>
            </a:solidFill>
            <a:prstDash val="solid"/>
          </a:ln>
        </p:spPr>
      </p:sp>
      <p:sp>
        <p:nvSpPr>
          <p:cNvPr id="8" name="Shape 6"/>
          <p:cNvSpPr/>
          <p:nvPr/>
        </p:nvSpPr>
        <p:spPr>
          <a:xfrm>
            <a:off x="405408" y="10364688"/>
            <a:ext cx="6749058" cy="0"/>
          </a:xfrm>
          <a:prstGeom prst="line">
            <a:avLst/>
          </a:prstGeom>
          <a:noFill/>
          <a:ln w="9525">
            <a:solidFill>
              <a:srgbClr val="BFBFBF"/>
            </a:solidFill>
            <a:prstDash val="solid"/>
          </a:ln>
        </p:spPr>
      </p:sp>
      <p:sp>
        <p:nvSpPr>
          <p:cNvPr id="9" name="Text 7"/>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10" name="Text 8"/>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1" name="Text 9"/>
          <p:cNvSpPr txBox="1"/>
          <p:nvPr/>
        </p:nvSpPr>
        <p:spPr>
          <a:xfrm>
            <a:off x="405408" y="589231"/>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07:</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SOM tăng từ 4,3% lên 11,5% SAM đến 2030E</a:t>
            </a:r>
            <a:endParaRPr lang="vi-VN" sz="72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05408" y="731044"/>
          <a:ext cx="2159943" cy="914400"/>
        </p:xfrm>
        <a:graphic>
          <a:graphicData uri="http://schemas.openxmlformats.org/drawingml/2006/table">
            <a:tbl>
              <a:tblPr/>
              <a:tblGrid>
                <a:gridCol w="993428"/>
                <a:gridCol w="367159"/>
                <a:gridCol w="367159"/>
                <a:gridCol w="432197"/>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Triệu USD</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2025</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2030E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CAGR</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TAM – bao bì xanh Việt Nam</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1.129,8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1.384,5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SAM – bao bì dùng một lần phân hủy sinh học ngành F&amp;B</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33,93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42,75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4,73%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SOM – doanh thu F&amp;B/FMCG của AgriPack</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1,46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4,93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27,5%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i="1" dirty="0">
                          <a:solidFill>
                            <a:srgbClr val="555555"/>
                          </a:solidFill>
                          <a:latin typeface="Calibri" pitchFamily="34" charset="0"/>
                          <a:ea typeface="Calibri" pitchFamily="34" charset="-122"/>
                          <a:cs typeface="Calibri" pitchFamily="34" charset="-120"/>
                        </a:rPr>
                        <a:t>SOM / SAM</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i="1" dirty="0">
                          <a:solidFill>
                            <a:srgbClr val="555555"/>
                          </a:solidFill>
                          <a:latin typeface="Calibri" pitchFamily="34" charset="0"/>
                          <a:ea typeface="Calibri" pitchFamily="34" charset="-122"/>
                          <a:cs typeface="Calibri" pitchFamily="34" charset="-120"/>
                        </a:rPr>
                        <a:t>4,3%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i="1" dirty="0">
                          <a:solidFill>
                            <a:srgbClr val="555555"/>
                          </a:solidFill>
                          <a:latin typeface="Calibri" pitchFamily="34" charset="0"/>
                          <a:ea typeface="Calibri" pitchFamily="34" charset="-122"/>
                          <a:cs typeface="Calibri" pitchFamily="34" charset="-120"/>
                        </a:rPr>
                        <a:t>11,5%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3" name="Text 10"/>
          <p:cNvSpPr txBox="1"/>
          <p:nvPr/>
        </p:nvSpPr>
        <p:spPr>
          <a:xfrm>
            <a:off x="405408" y="1807071"/>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IMARC Group (2025); doanh thu F&amp;B quy đổi USD (mô hình, Drivers)</a:t>
            </a:r>
            <a:endParaRPr lang="vi-VN" sz="600" dirty="0"/>
          </a:p>
        </p:txBody>
      </p:sp>
      <p:sp>
        <p:nvSpPr>
          <p:cNvPr id="14" name="Text 11"/>
          <p:cNvSpPr txBox="1"/>
          <p:nvPr/>
        </p:nvSpPr>
        <p:spPr>
          <a:xfrm>
            <a:off x="2745284" y="558105"/>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Khách hàng mục tiêu chính hiện được tập trung là các bên hoạt động trong ngành F&amp;B sử dụng bao bì xanh, cũng chính là nguồn doanh thu quan trọng nhất của AgriPack. Thị trường mục tiêu được xác định theo mô hình TAM-SAM-SOM:</a:t>
            </a:r>
            <a:endParaRPr lang="vi-VN" sz="850" dirty="0"/>
          </a:p>
        </p:txBody>
      </p:sp>
      <p:sp>
        <p:nvSpPr>
          <p:cNvPr id="15" name="Text 12"/>
          <p:cNvSpPr txBox="1"/>
          <p:nvPr/>
        </p:nvSpPr>
        <p:spPr>
          <a:xfrm>
            <a:off x="2759184" y="990451"/>
            <a:ext cx="4450145" cy="394692"/>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TAM (Total Addressable Market - Tổng thị trường khả dụng): Quy mô thị trường bao bì xanh Việt Nam đạt khoảng 1.129,79 triệu USD năm 2025 và dự báo đạt 1.628,64 triệu USD năm 2034, tương ứng CAGR 4,15% giai đoạn 2026-2034 (IMARC Group, 2025).</a:t>
            </a:r>
            <a:endParaRPr lang="vi-VN" sz="850" dirty="0"/>
          </a:p>
        </p:txBody>
      </p:sp>
      <p:sp>
        <p:nvSpPr>
          <p:cNvPr id="16" name="Text 13"/>
          <p:cNvSpPr txBox="1"/>
          <p:nvPr/>
        </p:nvSpPr>
        <p:spPr>
          <a:xfrm>
            <a:off x="2759184" y="1394073"/>
            <a:ext cx="4450145" cy="394692"/>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SAM (Serviceable Addressable Market - Tổng thị trường mục tiêu): Thị trường bao bì dùng một lần phân hủy sinh học cho ngành dịch vụ ăn uống (F&amp;B) tại Việt Nam đạt khoảng 33,93 triệu USD năm 2025 và dự kiến đạt 51,45 triệu USD vào năm 2034, với CAGR 4,73% (IMARC Group, 2025).</a:t>
            </a:r>
            <a:endParaRPr lang="vi-VN" sz="850" dirty="0"/>
          </a:p>
        </p:txBody>
      </p:sp>
      <p:sp>
        <p:nvSpPr>
          <p:cNvPr id="17" name="Text 14"/>
          <p:cNvSpPr txBox="1"/>
          <p:nvPr/>
        </p:nvSpPr>
        <p:spPr>
          <a:xfrm>
            <a:off x="2759184" y="1797695"/>
            <a:ext cx="4450145" cy="657820"/>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SOM (Serviceable Obtainable Market - Tổng thị trường khai thác được): Doanh thu phân khúc bao bì đóng gói thực phẩm năm 2025 của AgriPack là ~1,464 triệu USD, tương đương với 4,3% thị trường SAM. Theo dự phóng của nhóm, đến năm 2030, thị phần của AgriPack sẽ đạt 11,5% thị trường SAM với mức doanh thu ~4,9 triệu USD. Thị trường miền Trung và Nam là hai thị trường AgriPack tập trung khai thác, sau đó sẽ mở rộng ra Hà Nội và miền Bắc (Fig. 07).</a:t>
            </a:r>
            <a:endParaRPr lang="vi-VN" sz="850" dirty="0"/>
          </a:p>
        </p:txBody>
      </p:sp>
      <p:sp>
        <p:nvSpPr>
          <p:cNvPr id="18" name="Text 15"/>
          <p:cNvSpPr txBox="1"/>
          <p:nvPr/>
        </p:nvSpPr>
        <p:spPr>
          <a:xfrm>
            <a:off x="405408" y="2550765"/>
            <a:ext cx="6803922"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1.2.2. Chiến lược giá bán</a:t>
            </a:r>
            <a:endParaRPr lang="vi-VN" sz="820" dirty="0"/>
          </a:p>
        </p:txBody>
      </p:sp>
      <p:sp>
        <p:nvSpPr>
          <p:cNvPr id="19" name="Text 16"/>
          <p:cNvSpPr txBox="1"/>
          <p:nvPr/>
        </p:nvSpPr>
        <p:spPr>
          <a:xfrm>
            <a:off x="405408" y="2728486"/>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08:</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Chiến lược giá bán: AgriPack định giá trong khung giá của hàng bã mía, tre nhập khẩu</a:t>
            </a:r>
            <a:endParaRPr lang="vi-VN" sz="72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05408" y="2870299"/>
          <a:ext cx="6749058" cy="914400"/>
        </p:xfrm>
        <a:graphic>
          <a:graphicData uri="http://schemas.openxmlformats.org/drawingml/2006/table">
            <a:tbl>
              <a:tblPr/>
              <a:tblGrid>
                <a:gridCol w="1147316"/>
                <a:gridCol w="1619696"/>
                <a:gridCol w="1957090"/>
                <a:gridCol w="2024955"/>
              </a:tblGrid>
              <a:tr h="137815">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Phân khúc sản phẩm AgriPack</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Sản phẩm thay thế tham chiếu</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Giá thị trường tham chiếu (Cơ sở xác định giá)</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Giá bán AgriPack</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r>
              <a:tr h="44023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Hộp/khay F&amp;B, FMCG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Hộp bã mía Thái Lan và Trung Quốc (ecoeshop.com)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Giá hộp bã mía Thái Lan:</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2.100 – 2.4000đ/cái (dung tích 600ml)</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Giá hộp bã mía Trung Quốc: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1.900 – 4.000đ/cái (dung tích 600 - 750ml)</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2.500 – 4.000 đ/cái (tùy dung tích từ 500ml – 800ml)</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Đệm bảo vệ thiết bị, linh kiện điện tử</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Sản phẩm ép khuôn theo mẫu từ bã mía và tre Trung Quốc (HTAECO.com)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2.600 - 18.200đ/cái (ép khuôn tiêu chuẩn)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2.500 – 18.500đ/ cái (biến động theo độ phức tạp thiết kế, phương pháp ép, xử lý lớp phủ, lượng vật liệu kích thước)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Đệm bảo vệ nội thất/e-commerce</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Sản phẩm ép khuôn theo mẫu từ bã mía và tre Trung Quốc (HTAECO.com)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520 - 11.700đ/cái (ép khuôn cơ bản)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600 – 11.500đ/ cái (biến động theo độ phức tạp thiết kế, phương pháp ép, xử lý lớp phủ, lượng vật liệu kích thước)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Thiết kế - Chế tạo khuôn – Ép mẫu thử</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Sản phẩm ép khuôn theo mẫu từ bã mía và tre Trung Quốc (HTAECO.com)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Báo giá theo dự án</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Khoảng 20 triệu đồng/ bộ khuôn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Báo giá theo dự án</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Khoảng 20 triệu đồng/ bộ khuôn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21" name="Text 17"/>
          <p:cNvSpPr txBox="1"/>
          <p:nvPr/>
        </p:nvSpPr>
        <p:spPr>
          <a:xfrm>
            <a:off x="405408" y="4295477"/>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Bảng của nhóm: ecoeshop.com, HTAECO.com. Giá hộp/khay F&amp;B 2025 dùng trong dự phóng: 2.500 đồng/cái – cận dưới khung giá (Mục 4)</a:t>
            </a:r>
            <a:endParaRPr lang="vi-VN" sz="600" dirty="0"/>
          </a:p>
        </p:txBody>
      </p:sp>
      <p:sp>
        <p:nvSpPr>
          <p:cNvPr id="22" name="Text 18"/>
          <p:cNvSpPr txBox="1"/>
          <p:nvPr/>
        </p:nvSpPr>
        <p:spPr>
          <a:xfrm>
            <a:off x="405408" y="4489867"/>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09:</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Thực phẩm/FMCG chiếm gần 80% doanh thu bán hàng</a:t>
            </a:r>
            <a:endParaRPr lang="vi-VN" sz="720" dirty="0"/>
          </a:p>
        </p:txBody>
      </p:sp>
      <p:sp>
        <p:nvSpPr>
          <p:cNvPr id="23" name="Text 19"/>
          <p:cNvSpPr txBox="1"/>
          <p:nvPr/>
        </p:nvSpPr>
        <p:spPr>
          <a:xfrm>
            <a:off x="405408" y="4726930"/>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24" name="Chart 0" descr=""/>
          <p:cNvGraphicFramePr/>
          <p:nvPr/>
        </p:nvGraphicFramePr>
        <p:xfrm>
          <a:off x="405408" y="4842421"/>
          <a:ext cx="2159943" cy="1079897"/>
        </p:xfrm>
        <a:graphic xmlns:a="http://schemas.openxmlformats.org/drawingml/2006/main">
          <a:graphicData uri="http://schemas.openxmlformats.org/drawingml/2006/chart">
            <c:chart xmlns:c="http://schemas.openxmlformats.org/drawingml/2006/chart" r:id="rId1"/>
          </a:graphicData>
        </a:graphic>
      </p:graphicFrame>
      <p:sp>
        <p:nvSpPr>
          <p:cNvPr id="25" name="Text 20"/>
          <p:cNvSpPr txBox="1"/>
          <p:nvPr/>
        </p:nvSpPr>
        <p:spPr>
          <a:xfrm>
            <a:off x="405408" y="5940177"/>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biểu đồ cơ cấu doanh thu của nhóm</a:t>
            </a:r>
            <a:endParaRPr lang="vi-VN" sz="600" dirty="0"/>
          </a:p>
        </p:txBody>
      </p:sp>
      <p:sp>
        <p:nvSpPr>
          <p:cNvPr id="26" name="Text 21"/>
          <p:cNvSpPr txBox="1"/>
          <p:nvPr/>
        </p:nvSpPr>
        <p:spPr>
          <a:xfrm>
            <a:off x="405408" y="623681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10:</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SG&amp;A là nhóm chi phí lớn nhất theo cách phân loại của BCTC gốc</a:t>
            </a:r>
            <a:endParaRPr lang="vi-VN" sz="720" dirty="0"/>
          </a:p>
        </p:txBody>
      </p:sp>
      <p:sp>
        <p:nvSpPr>
          <p:cNvPr id="27" name="Text 22"/>
          <p:cNvSpPr txBox="1"/>
          <p:nvPr/>
        </p:nvSpPr>
        <p:spPr>
          <a:xfrm>
            <a:off x="405408" y="6473875"/>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28" name="Chart 1" descr=""/>
          <p:cNvGraphicFramePr/>
          <p:nvPr/>
        </p:nvGraphicFramePr>
        <p:xfrm>
          <a:off x="405408" y="6589365"/>
          <a:ext cx="2159943" cy="1020961"/>
        </p:xfrm>
        <a:graphic xmlns:a="http://schemas.openxmlformats.org/drawingml/2006/main">
          <a:graphicData uri="http://schemas.openxmlformats.org/drawingml/2006/chart">
            <c:chart xmlns:c="http://schemas.openxmlformats.org/drawingml/2006/chart" r:id="rId2"/>
          </a:graphicData>
        </a:graphic>
      </p:graphicFrame>
      <p:sp>
        <p:nvSpPr>
          <p:cNvPr id="29" name="Text 23"/>
          <p:cNvSpPr txBox="1"/>
          <p:nvPr/>
        </p:nvSpPr>
        <p:spPr>
          <a:xfrm>
            <a:off x="405408" y="7628186"/>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biểu đồ cơ cấu chi phí của nhóm. Mục 4 phân bổ 70% tiền lương, 90% khấu hao vào giá vốn</a:t>
            </a:r>
            <a:endParaRPr lang="vi-VN" sz="600" dirty="0"/>
          </a:p>
        </p:txBody>
      </p:sp>
      <p:sp>
        <p:nvSpPr>
          <p:cNvPr id="30" name="Text 24"/>
          <p:cNvSpPr txBox="1"/>
          <p:nvPr/>
        </p:nvSpPr>
        <p:spPr>
          <a:xfrm>
            <a:off x="405408" y="7924820"/>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Chuỗi giá trị 7 hoạt động từ phụ phẩm đến khách hàng B2B</a:t>
            </a:r>
            <a:endParaRPr lang="vi-VN" sz="720" dirty="0"/>
          </a:p>
        </p:txBody>
      </p:sp>
      <p:sp>
        <p:nvSpPr>
          <p:cNvPr id="31" name="Shape 25"/>
          <p:cNvSpPr/>
          <p:nvPr/>
        </p:nvSpPr>
        <p:spPr>
          <a:xfrm>
            <a:off x="425096" y="8195807"/>
            <a:ext cx="147262" cy="107991"/>
          </a:xfrm>
          <a:prstGeom prst="rect">
            <a:avLst/>
          </a:prstGeom>
          <a:solidFill>
            <a:srgbClr val="7B1E2B"/>
          </a:solidFill>
          <a:ln/>
        </p:spPr>
      </p:sp>
      <p:sp>
        <p:nvSpPr>
          <p:cNvPr id="32" name="Shape 26"/>
          <p:cNvSpPr/>
          <p:nvPr/>
        </p:nvSpPr>
        <p:spPr>
          <a:xfrm>
            <a:off x="572358" y="8195807"/>
            <a:ext cx="1973304" cy="107991"/>
          </a:xfrm>
          <a:prstGeom prst="rect">
            <a:avLst/>
          </a:prstGeom>
          <a:solidFill>
            <a:srgbClr val="F4EEEE"/>
          </a:solidFill>
          <a:ln/>
        </p:spPr>
      </p:sp>
      <p:sp>
        <p:nvSpPr>
          <p:cNvPr id="33" name="Shape 27"/>
          <p:cNvSpPr/>
          <p:nvPr/>
        </p:nvSpPr>
        <p:spPr>
          <a:xfrm flipV="1">
            <a:off x="473202" y="8309688"/>
            <a:ext cx="51051" cy="25524"/>
          </a:xfrm>
          <a:prstGeom prst="triangle">
            <a:avLst/>
          </a:prstGeom>
          <a:solidFill>
            <a:srgbClr val="A3A3A3"/>
          </a:solidFill>
          <a:ln/>
        </p:spPr>
      </p:sp>
      <p:sp>
        <p:nvSpPr>
          <p:cNvPr id="34" name="Shape 28"/>
          <p:cNvSpPr/>
          <p:nvPr/>
        </p:nvSpPr>
        <p:spPr>
          <a:xfrm>
            <a:off x="425096" y="8339140"/>
            <a:ext cx="147262" cy="107991"/>
          </a:xfrm>
          <a:prstGeom prst="rect">
            <a:avLst/>
          </a:prstGeom>
          <a:solidFill>
            <a:srgbClr val="7B1E2B"/>
          </a:solidFill>
          <a:ln/>
        </p:spPr>
      </p:sp>
      <p:sp>
        <p:nvSpPr>
          <p:cNvPr id="35" name="Shape 29"/>
          <p:cNvSpPr/>
          <p:nvPr/>
        </p:nvSpPr>
        <p:spPr>
          <a:xfrm>
            <a:off x="572358" y="8339140"/>
            <a:ext cx="1973304" cy="107991"/>
          </a:xfrm>
          <a:prstGeom prst="rect">
            <a:avLst/>
          </a:prstGeom>
          <a:solidFill>
            <a:srgbClr val="F4EEEE"/>
          </a:solidFill>
          <a:ln/>
        </p:spPr>
      </p:sp>
      <p:sp>
        <p:nvSpPr>
          <p:cNvPr id="36" name="Shape 30"/>
          <p:cNvSpPr/>
          <p:nvPr/>
        </p:nvSpPr>
        <p:spPr>
          <a:xfrm flipV="1">
            <a:off x="473202" y="8453021"/>
            <a:ext cx="51051" cy="25526"/>
          </a:xfrm>
          <a:prstGeom prst="triangle">
            <a:avLst/>
          </a:prstGeom>
          <a:solidFill>
            <a:srgbClr val="A3A3A3"/>
          </a:solidFill>
          <a:ln/>
        </p:spPr>
      </p:sp>
      <p:sp>
        <p:nvSpPr>
          <p:cNvPr id="37" name="Shape 31"/>
          <p:cNvSpPr/>
          <p:nvPr/>
        </p:nvSpPr>
        <p:spPr>
          <a:xfrm>
            <a:off x="425096" y="8482475"/>
            <a:ext cx="147262" cy="107991"/>
          </a:xfrm>
          <a:prstGeom prst="rect">
            <a:avLst/>
          </a:prstGeom>
          <a:solidFill>
            <a:srgbClr val="7B1E2B"/>
          </a:solidFill>
          <a:ln/>
        </p:spPr>
      </p:sp>
      <p:sp>
        <p:nvSpPr>
          <p:cNvPr id="38" name="Shape 32"/>
          <p:cNvSpPr/>
          <p:nvPr/>
        </p:nvSpPr>
        <p:spPr>
          <a:xfrm>
            <a:off x="572358" y="8482475"/>
            <a:ext cx="1973304" cy="107991"/>
          </a:xfrm>
          <a:prstGeom prst="rect">
            <a:avLst/>
          </a:prstGeom>
          <a:solidFill>
            <a:srgbClr val="F4EEEE"/>
          </a:solidFill>
          <a:ln/>
        </p:spPr>
      </p:sp>
      <p:sp>
        <p:nvSpPr>
          <p:cNvPr id="39" name="Shape 33"/>
          <p:cNvSpPr/>
          <p:nvPr/>
        </p:nvSpPr>
        <p:spPr>
          <a:xfrm flipV="1">
            <a:off x="473202" y="8596357"/>
            <a:ext cx="51051" cy="25526"/>
          </a:xfrm>
          <a:prstGeom prst="triangle">
            <a:avLst/>
          </a:prstGeom>
          <a:solidFill>
            <a:srgbClr val="A3A3A3"/>
          </a:solidFill>
          <a:ln/>
        </p:spPr>
      </p:sp>
      <p:sp>
        <p:nvSpPr>
          <p:cNvPr id="40" name="Shape 34"/>
          <p:cNvSpPr/>
          <p:nvPr/>
        </p:nvSpPr>
        <p:spPr>
          <a:xfrm>
            <a:off x="425096" y="8625808"/>
            <a:ext cx="147262" cy="107993"/>
          </a:xfrm>
          <a:prstGeom prst="rect">
            <a:avLst/>
          </a:prstGeom>
          <a:solidFill>
            <a:srgbClr val="7B1E2B"/>
          </a:solidFill>
          <a:ln/>
        </p:spPr>
      </p:sp>
      <p:sp>
        <p:nvSpPr>
          <p:cNvPr id="41" name="Shape 35"/>
          <p:cNvSpPr/>
          <p:nvPr/>
        </p:nvSpPr>
        <p:spPr>
          <a:xfrm>
            <a:off x="572358" y="8625808"/>
            <a:ext cx="1973304" cy="107993"/>
          </a:xfrm>
          <a:prstGeom prst="rect">
            <a:avLst/>
          </a:prstGeom>
          <a:solidFill>
            <a:srgbClr val="F4EEEE"/>
          </a:solidFill>
          <a:ln/>
        </p:spPr>
      </p:sp>
      <p:sp>
        <p:nvSpPr>
          <p:cNvPr id="42" name="Shape 36"/>
          <p:cNvSpPr/>
          <p:nvPr/>
        </p:nvSpPr>
        <p:spPr>
          <a:xfrm flipV="1">
            <a:off x="473202" y="8739692"/>
            <a:ext cx="51051" cy="25524"/>
          </a:xfrm>
          <a:prstGeom prst="triangle">
            <a:avLst/>
          </a:prstGeom>
          <a:solidFill>
            <a:srgbClr val="A3A3A3"/>
          </a:solidFill>
          <a:ln/>
        </p:spPr>
      </p:sp>
      <p:sp>
        <p:nvSpPr>
          <p:cNvPr id="43" name="Shape 37"/>
          <p:cNvSpPr/>
          <p:nvPr/>
        </p:nvSpPr>
        <p:spPr>
          <a:xfrm>
            <a:off x="425096" y="8769144"/>
            <a:ext cx="147262" cy="107991"/>
          </a:xfrm>
          <a:prstGeom prst="rect">
            <a:avLst/>
          </a:prstGeom>
          <a:solidFill>
            <a:srgbClr val="7B1E2B"/>
          </a:solidFill>
          <a:ln/>
        </p:spPr>
      </p:sp>
      <p:sp>
        <p:nvSpPr>
          <p:cNvPr id="44" name="Shape 38"/>
          <p:cNvSpPr/>
          <p:nvPr/>
        </p:nvSpPr>
        <p:spPr>
          <a:xfrm>
            <a:off x="572358" y="8769144"/>
            <a:ext cx="1973304" cy="107991"/>
          </a:xfrm>
          <a:prstGeom prst="rect">
            <a:avLst/>
          </a:prstGeom>
          <a:solidFill>
            <a:srgbClr val="F4EEEE"/>
          </a:solidFill>
          <a:ln/>
        </p:spPr>
      </p:sp>
      <p:sp>
        <p:nvSpPr>
          <p:cNvPr id="45" name="Shape 39"/>
          <p:cNvSpPr/>
          <p:nvPr/>
        </p:nvSpPr>
        <p:spPr>
          <a:xfrm flipV="1">
            <a:off x="473202" y="8883025"/>
            <a:ext cx="51051" cy="25526"/>
          </a:xfrm>
          <a:prstGeom prst="triangle">
            <a:avLst/>
          </a:prstGeom>
          <a:solidFill>
            <a:srgbClr val="A3A3A3"/>
          </a:solidFill>
          <a:ln/>
        </p:spPr>
      </p:sp>
      <p:sp>
        <p:nvSpPr>
          <p:cNvPr id="46" name="Shape 40"/>
          <p:cNvSpPr/>
          <p:nvPr/>
        </p:nvSpPr>
        <p:spPr>
          <a:xfrm>
            <a:off x="425096" y="8912479"/>
            <a:ext cx="147262" cy="107991"/>
          </a:xfrm>
          <a:prstGeom prst="rect">
            <a:avLst/>
          </a:prstGeom>
          <a:solidFill>
            <a:srgbClr val="7B1E2B"/>
          </a:solidFill>
          <a:ln/>
        </p:spPr>
      </p:sp>
      <p:sp>
        <p:nvSpPr>
          <p:cNvPr id="47" name="Shape 41"/>
          <p:cNvSpPr/>
          <p:nvPr/>
        </p:nvSpPr>
        <p:spPr>
          <a:xfrm>
            <a:off x="572358" y="8912479"/>
            <a:ext cx="1973304" cy="107991"/>
          </a:xfrm>
          <a:prstGeom prst="rect">
            <a:avLst/>
          </a:prstGeom>
          <a:solidFill>
            <a:srgbClr val="F4EEEE"/>
          </a:solidFill>
          <a:ln/>
        </p:spPr>
      </p:sp>
      <p:sp>
        <p:nvSpPr>
          <p:cNvPr id="48" name="Shape 42"/>
          <p:cNvSpPr/>
          <p:nvPr/>
        </p:nvSpPr>
        <p:spPr>
          <a:xfrm flipV="1">
            <a:off x="473202" y="9026361"/>
            <a:ext cx="51051" cy="25524"/>
          </a:xfrm>
          <a:prstGeom prst="triangle">
            <a:avLst/>
          </a:prstGeom>
          <a:solidFill>
            <a:srgbClr val="A3A3A3"/>
          </a:solidFill>
          <a:ln/>
        </p:spPr>
      </p:sp>
      <p:sp>
        <p:nvSpPr>
          <p:cNvPr id="49" name="Shape 43"/>
          <p:cNvSpPr/>
          <p:nvPr/>
        </p:nvSpPr>
        <p:spPr>
          <a:xfrm>
            <a:off x="425096" y="9055812"/>
            <a:ext cx="147262" cy="107991"/>
          </a:xfrm>
          <a:prstGeom prst="rect">
            <a:avLst/>
          </a:prstGeom>
          <a:solidFill>
            <a:srgbClr val="7B1E2B"/>
          </a:solidFill>
          <a:ln/>
        </p:spPr>
      </p:sp>
      <p:sp>
        <p:nvSpPr>
          <p:cNvPr id="50" name="Shape 44"/>
          <p:cNvSpPr/>
          <p:nvPr/>
        </p:nvSpPr>
        <p:spPr>
          <a:xfrm>
            <a:off x="572358" y="9055812"/>
            <a:ext cx="1973304" cy="107991"/>
          </a:xfrm>
          <a:prstGeom prst="rect">
            <a:avLst/>
          </a:prstGeom>
          <a:solidFill>
            <a:srgbClr val="F4EEEE"/>
          </a:solidFill>
          <a:ln/>
        </p:spPr>
      </p:sp>
      <p:sp>
        <p:nvSpPr>
          <p:cNvPr id="51" name="Text 45"/>
          <p:cNvSpPr txBox="1"/>
          <p:nvPr/>
        </p:nvSpPr>
        <p:spPr>
          <a:xfrm>
            <a:off x="441241" y="8184765"/>
            <a:ext cx="166497" cy="131826"/>
          </a:xfrm>
          <a:prstGeom prst="rect">
            <a:avLst/>
          </a:prstGeom>
          <a:noFill/>
          <a:ln/>
        </p:spPr>
        <p:txBody>
          <a:bodyPr wrap="none" lIns="0" tIns="0" rIns="0" bIns="0" rtlCol="0" anchor="ctr"/>
          <a:lstStyle/>
          <a:p>
            <a:pPr algn="ctr" indent="0" marL="0">
              <a:buNone/>
            </a:pPr>
            <a:r>
              <a:rPr lang="vi-VN" sz="650" b="1" dirty="0">
                <a:solidFill>
                  <a:srgbClr val="FFFFFF"/>
                </a:solidFill>
                <a:latin typeface="Calibri" pitchFamily="34" charset="0"/>
                <a:ea typeface="Calibri" pitchFamily="34" charset="-122"/>
                <a:cs typeface="Calibri" pitchFamily="34" charset="-120"/>
              </a:rPr>
              <a:t>1</a:t>
            </a:r>
            <a:endParaRPr lang="vi-VN" sz="650" dirty="0"/>
          </a:p>
        </p:txBody>
      </p:sp>
      <p:sp>
        <p:nvSpPr>
          <p:cNvPr id="52" name="Text 46"/>
          <p:cNvSpPr txBox="1"/>
          <p:nvPr/>
        </p:nvSpPr>
        <p:spPr>
          <a:xfrm>
            <a:off x="584869" y="8183783"/>
            <a:ext cx="1340304" cy="131826"/>
          </a:xfrm>
          <a:prstGeom prst="rect">
            <a:avLst/>
          </a:prstGeom>
          <a:noFill/>
          <a:ln/>
        </p:spPr>
        <p:txBody>
          <a:bodyPr wrap="none" lIns="0" tIns="0" rIns="0" bIns="0" rtlCol="0" anchor="ctr"/>
          <a:lstStyle/>
          <a:p>
            <a:pPr algn="l" indent="0" marL="0">
              <a:buNone/>
            </a:pPr>
            <a:r>
              <a:rPr lang="vi-VN" sz="600" dirty="0">
                <a:solidFill>
                  <a:srgbClr val="262626"/>
                </a:solidFill>
                <a:latin typeface="Calibri" pitchFamily="34" charset="0"/>
                <a:ea typeface="Calibri" pitchFamily="34" charset="-122"/>
                <a:cs typeface="Calibri" pitchFamily="34" charset="-120"/>
              </a:rPr>
              <a:t>Thu gom nguyên liệu (bã mía, vỏ trứng)</a:t>
            </a:r>
            <a:endParaRPr lang="vi-VN" sz="600" dirty="0"/>
          </a:p>
        </p:txBody>
      </p:sp>
      <p:sp>
        <p:nvSpPr>
          <p:cNvPr id="53" name="Text 47"/>
          <p:cNvSpPr txBox="1"/>
          <p:nvPr/>
        </p:nvSpPr>
        <p:spPr>
          <a:xfrm>
            <a:off x="441241" y="8328100"/>
            <a:ext cx="166497" cy="131826"/>
          </a:xfrm>
          <a:prstGeom prst="rect">
            <a:avLst/>
          </a:prstGeom>
          <a:noFill/>
          <a:ln/>
        </p:spPr>
        <p:txBody>
          <a:bodyPr wrap="none" lIns="0" tIns="0" rIns="0" bIns="0" rtlCol="0" anchor="ctr"/>
          <a:lstStyle/>
          <a:p>
            <a:pPr algn="ctr" indent="0" marL="0">
              <a:buNone/>
            </a:pPr>
            <a:r>
              <a:rPr lang="vi-VN" sz="650" b="1" dirty="0">
                <a:solidFill>
                  <a:srgbClr val="FFFFFF"/>
                </a:solidFill>
                <a:latin typeface="Calibri" pitchFamily="34" charset="0"/>
                <a:ea typeface="Calibri" pitchFamily="34" charset="-122"/>
                <a:cs typeface="Calibri" pitchFamily="34" charset="-120"/>
              </a:rPr>
              <a:t>2</a:t>
            </a:r>
            <a:endParaRPr lang="vi-VN" sz="650" dirty="0"/>
          </a:p>
        </p:txBody>
      </p:sp>
      <p:sp>
        <p:nvSpPr>
          <p:cNvPr id="54" name="Text 48"/>
          <p:cNvSpPr txBox="1"/>
          <p:nvPr/>
        </p:nvSpPr>
        <p:spPr>
          <a:xfrm>
            <a:off x="584869" y="8327119"/>
            <a:ext cx="1156988" cy="131826"/>
          </a:xfrm>
          <a:prstGeom prst="rect">
            <a:avLst/>
          </a:prstGeom>
          <a:noFill/>
          <a:ln/>
        </p:spPr>
        <p:txBody>
          <a:bodyPr wrap="none" lIns="0" tIns="0" rIns="0" bIns="0" rtlCol="0" anchor="ctr"/>
          <a:lstStyle/>
          <a:p>
            <a:pPr algn="l" indent="0" marL="0">
              <a:buNone/>
            </a:pPr>
            <a:r>
              <a:rPr lang="vi-VN" sz="600" dirty="0">
                <a:solidFill>
                  <a:srgbClr val="262626"/>
                </a:solidFill>
                <a:latin typeface="Calibri" pitchFamily="34" charset="0"/>
                <a:ea typeface="Calibri" pitchFamily="34" charset="-122"/>
                <a:cs typeface="Calibri" pitchFamily="34" charset="-120"/>
              </a:rPr>
              <a:t>Xử lý, chuẩn hóa bã mía, vỏ trứng</a:t>
            </a:r>
            <a:endParaRPr lang="vi-VN" sz="600" dirty="0"/>
          </a:p>
        </p:txBody>
      </p:sp>
      <p:sp>
        <p:nvSpPr>
          <p:cNvPr id="55" name="Text 49"/>
          <p:cNvSpPr txBox="1"/>
          <p:nvPr/>
        </p:nvSpPr>
        <p:spPr>
          <a:xfrm>
            <a:off x="441241" y="8471436"/>
            <a:ext cx="166497" cy="131826"/>
          </a:xfrm>
          <a:prstGeom prst="rect">
            <a:avLst/>
          </a:prstGeom>
          <a:noFill/>
          <a:ln/>
        </p:spPr>
        <p:txBody>
          <a:bodyPr wrap="none" lIns="0" tIns="0" rIns="0" bIns="0" rtlCol="0" anchor="ctr"/>
          <a:lstStyle/>
          <a:p>
            <a:pPr algn="ctr" indent="0" marL="0">
              <a:buNone/>
            </a:pPr>
            <a:r>
              <a:rPr lang="vi-VN" sz="650" b="1" dirty="0">
                <a:solidFill>
                  <a:srgbClr val="FFFFFF"/>
                </a:solidFill>
                <a:latin typeface="Calibri" pitchFamily="34" charset="0"/>
                <a:ea typeface="Calibri" pitchFamily="34" charset="-122"/>
                <a:cs typeface="Calibri" pitchFamily="34" charset="-120"/>
              </a:rPr>
              <a:t>3</a:t>
            </a:r>
            <a:endParaRPr lang="vi-VN" sz="650" dirty="0"/>
          </a:p>
        </p:txBody>
      </p:sp>
      <p:sp>
        <p:nvSpPr>
          <p:cNvPr id="56" name="Text 50"/>
          <p:cNvSpPr txBox="1"/>
          <p:nvPr/>
        </p:nvSpPr>
        <p:spPr>
          <a:xfrm>
            <a:off x="584869" y="8470452"/>
            <a:ext cx="933408" cy="131826"/>
          </a:xfrm>
          <a:prstGeom prst="rect">
            <a:avLst/>
          </a:prstGeom>
          <a:noFill/>
          <a:ln/>
        </p:spPr>
        <p:txBody>
          <a:bodyPr wrap="none" lIns="0" tIns="0" rIns="0" bIns="0" rtlCol="0" anchor="ctr"/>
          <a:lstStyle/>
          <a:p>
            <a:pPr algn="l" indent="0" marL="0">
              <a:buNone/>
            </a:pPr>
            <a:r>
              <a:rPr lang="vi-VN" sz="600" dirty="0">
                <a:solidFill>
                  <a:srgbClr val="262626"/>
                </a:solidFill>
                <a:latin typeface="Calibri" pitchFamily="34" charset="0"/>
                <a:ea typeface="Calibri" pitchFamily="34" charset="-122"/>
                <a:cs typeface="Calibri" pitchFamily="34" charset="-120"/>
              </a:rPr>
              <a:t>Phối trộn, tạo sợi tự nhiên</a:t>
            </a:r>
            <a:endParaRPr lang="vi-VN" sz="600" dirty="0"/>
          </a:p>
        </p:txBody>
      </p:sp>
      <p:sp>
        <p:nvSpPr>
          <p:cNvPr id="57" name="Text 51"/>
          <p:cNvSpPr txBox="1"/>
          <p:nvPr/>
        </p:nvSpPr>
        <p:spPr>
          <a:xfrm>
            <a:off x="441241" y="8614769"/>
            <a:ext cx="166497" cy="131826"/>
          </a:xfrm>
          <a:prstGeom prst="rect">
            <a:avLst/>
          </a:prstGeom>
          <a:noFill/>
          <a:ln/>
        </p:spPr>
        <p:txBody>
          <a:bodyPr wrap="none" lIns="0" tIns="0" rIns="0" bIns="0" rtlCol="0" anchor="ctr"/>
          <a:lstStyle/>
          <a:p>
            <a:pPr algn="ctr" indent="0" marL="0">
              <a:buNone/>
            </a:pPr>
            <a:r>
              <a:rPr lang="vi-VN" sz="650" b="1" dirty="0">
                <a:solidFill>
                  <a:srgbClr val="FFFFFF"/>
                </a:solidFill>
                <a:latin typeface="Calibri" pitchFamily="34" charset="0"/>
                <a:ea typeface="Calibri" pitchFamily="34" charset="-122"/>
                <a:cs typeface="Calibri" pitchFamily="34" charset="-120"/>
              </a:rPr>
              <a:t>4</a:t>
            </a:r>
            <a:endParaRPr lang="vi-VN" sz="650" dirty="0"/>
          </a:p>
        </p:txBody>
      </p:sp>
      <p:sp>
        <p:nvSpPr>
          <p:cNvPr id="58" name="Text 52"/>
          <p:cNvSpPr txBox="1"/>
          <p:nvPr/>
        </p:nvSpPr>
        <p:spPr>
          <a:xfrm>
            <a:off x="584869" y="8613787"/>
            <a:ext cx="576965" cy="131826"/>
          </a:xfrm>
          <a:prstGeom prst="rect">
            <a:avLst/>
          </a:prstGeom>
          <a:noFill/>
          <a:ln/>
        </p:spPr>
        <p:txBody>
          <a:bodyPr wrap="none" lIns="0" tIns="0" rIns="0" bIns="0" rtlCol="0" anchor="ctr"/>
          <a:lstStyle/>
          <a:p>
            <a:pPr algn="l" indent="0" marL="0">
              <a:buNone/>
            </a:pPr>
            <a:r>
              <a:rPr lang="vi-VN" sz="600" dirty="0">
                <a:solidFill>
                  <a:srgbClr val="262626"/>
                </a:solidFill>
                <a:latin typeface="Calibri" pitchFamily="34" charset="0"/>
                <a:ea typeface="Calibri" pitchFamily="34" charset="-122"/>
                <a:cs typeface="Calibri" pitchFamily="34" charset="-120"/>
              </a:rPr>
              <a:t>Thiết kế khuôn</a:t>
            </a:r>
            <a:endParaRPr lang="vi-VN" sz="600" dirty="0"/>
          </a:p>
        </p:txBody>
      </p:sp>
      <p:sp>
        <p:nvSpPr>
          <p:cNvPr id="59" name="Text 53"/>
          <p:cNvSpPr txBox="1"/>
          <p:nvPr/>
        </p:nvSpPr>
        <p:spPr>
          <a:xfrm>
            <a:off x="441241" y="8758104"/>
            <a:ext cx="160693" cy="131826"/>
          </a:xfrm>
          <a:prstGeom prst="rect">
            <a:avLst/>
          </a:prstGeom>
          <a:noFill/>
          <a:ln/>
        </p:spPr>
        <p:txBody>
          <a:bodyPr wrap="none" lIns="0" tIns="0" rIns="0" bIns="0" rtlCol="0" anchor="ctr"/>
          <a:lstStyle/>
          <a:p>
            <a:pPr algn="ctr" indent="0" marL="0">
              <a:buNone/>
            </a:pPr>
            <a:r>
              <a:rPr lang="vi-VN" sz="650" b="1" dirty="0">
                <a:solidFill>
                  <a:srgbClr val="FFFFFF"/>
                </a:solidFill>
                <a:latin typeface="Calibri" pitchFamily="34" charset="0"/>
                <a:ea typeface="Calibri" pitchFamily="34" charset="-122"/>
                <a:cs typeface="Calibri" pitchFamily="34" charset="-120"/>
              </a:rPr>
              <a:t>5</a:t>
            </a:r>
            <a:endParaRPr lang="vi-VN" sz="650" dirty="0"/>
          </a:p>
        </p:txBody>
      </p:sp>
      <p:sp>
        <p:nvSpPr>
          <p:cNvPr id="60" name="Text 54"/>
          <p:cNvSpPr txBox="1"/>
          <p:nvPr/>
        </p:nvSpPr>
        <p:spPr>
          <a:xfrm>
            <a:off x="584869" y="8757123"/>
            <a:ext cx="1258747" cy="131826"/>
          </a:xfrm>
          <a:prstGeom prst="rect">
            <a:avLst/>
          </a:prstGeom>
          <a:noFill/>
          <a:ln/>
        </p:spPr>
        <p:txBody>
          <a:bodyPr wrap="none" lIns="0" tIns="0" rIns="0" bIns="0" rtlCol="0" anchor="ctr"/>
          <a:lstStyle/>
          <a:p>
            <a:pPr algn="l" indent="0" marL="0">
              <a:buNone/>
            </a:pPr>
            <a:r>
              <a:rPr lang="vi-VN" sz="600" dirty="0">
                <a:solidFill>
                  <a:srgbClr val="262626"/>
                </a:solidFill>
                <a:latin typeface="Calibri" pitchFamily="34" charset="0"/>
                <a:ea typeface="Calibri" pitchFamily="34" charset="-122"/>
                <a:cs typeface="Calibri" pitchFamily="34" charset="-120"/>
              </a:rPr>
              <a:t>Ép khuôn, tạo hình và sấy hoàn thiện</a:t>
            </a:r>
            <a:endParaRPr lang="vi-VN" sz="600" dirty="0"/>
          </a:p>
        </p:txBody>
      </p:sp>
      <p:sp>
        <p:nvSpPr>
          <p:cNvPr id="61" name="Text 55"/>
          <p:cNvSpPr txBox="1"/>
          <p:nvPr/>
        </p:nvSpPr>
        <p:spPr>
          <a:xfrm>
            <a:off x="441241" y="8901437"/>
            <a:ext cx="166497" cy="131826"/>
          </a:xfrm>
          <a:prstGeom prst="rect">
            <a:avLst/>
          </a:prstGeom>
          <a:noFill/>
          <a:ln/>
        </p:spPr>
        <p:txBody>
          <a:bodyPr wrap="none" lIns="0" tIns="0" rIns="0" bIns="0" rtlCol="0" anchor="ctr"/>
          <a:lstStyle/>
          <a:p>
            <a:pPr algn="ctr" indent="0" marL="0">
              <a:buNone/>
            </a:pPr>
            <a:r>
              <a:rPr lang="vi-VN" sz="650" b="1" dirty="0">
                <a:solidFill>
                  <a:srgbClr val="FFFFFF"/>
                </a:solidFill>
                <a:latin typeface="Calibri" pitchFamily="34" charset="0"/>
                <a:ea typeface="Calibri" pitchFamily="34" charset="-122"/>
                <a:cs typeface="Calibri" pitchFamily="34" charset="-120"/>
              </a:rPr>
              <a:t>6</a:t>
            </a:r>
            <a:endParaRPr lang="vi-VN" sz="650" dirty="0"/>
          </a:p>
        </p:txBody>
      </p:sp>
      <p:sp>
        <p:nvSpPr>
          <p:cNvPr id="62" name="Text 56"/>
          <p:cNvSpPr txBox="1"/>
          <p:nvPr/>
        </p:nvSpPr>
        <p:spPr>
          <a:xfrm>
            <a:off x="584869" y="8900456"/>
            <a:ext cx="733723" cy="131826"/>
          </a:xfrm>
          <a:prstGeom prst="rect">
            <a:avLst/>
          </a:prstGeom>
          <a:noFill/>
          <a:ln/>
        </p:spPr>
        <p:txBody>
          <a:bodyPr wrap="none" lIns="0" tIns="0" rIns="0" bIns="0" rtlCol="0" anchor="ctr"/>
          <a:lstStyle/>
          <a:p>
            <a:pPr algn="l" indent="0" marL="0">
              <a:buNone/>
            </a:pPr>
            <a:r>
              <a:rPr lang="vi-VN" sz="600" dirty="0">
                <a:solidFill>
                  <a:srgbClr val="262626"/>
                </a:solidFill>
                <a:latin typeface="Calibri" pitchFamily="34" charset="0"/>
                <a:ea typeface="Calibri" pitchFamily="34" charset="-122"/>
                <a:cs typeface="Calibri" pitchFamily="34" charset="-120"/>
              </a:rPr>
              <a:t>Kiểm tra chất lượng</a:t>
            </a:r>
            <a:endParaRPr lang="vi-VN" sz="600" dirty="0"/>
          </a:p>
        </p:txBody>
      </p:sp>
      <p:sp>
        <p:nvSpPr>
          <p:cNvPr id="63" name="Text 57"/>
          <p:cNvSpPr txBox="1"/>
          <p:nvPr/>
        </p:nvSpPr>
        <p:spPr>
          <a:xfrm>
            <a:off x="441241" y="9044773"/>
            <a:ext cx="166497" cy="131826"/>
          </a:xfrm>
          <a:prstGeom prst="rect">
            <a:avLst/>
          </a:prstGeom>
          <a:noFill/>
          <a:ln/>
        </p:spPr>
        <p:txBody>
          <a:bodyPr wrap="none" lIns="0" tIns="0" rIns="0" bIns="0" rtlCol="0" anchor="ctr"/>
          <a:lstStyle/>
          <a:p>
            <a:pPr algn="ctr" indent="0" marL="0">
              <a:buNone/>
            </a:pPr>
            <a:r>
              <a:rPr lang="vi-VN" sz="650" b="1" dirty="0">
                <a:solidFill>
                  <a:srgbClr val="FFFFFF"/>
                </a:solidFill>
                <a:latin typeface="Calibri" pitchFamily="34" charset="0"/>
                <a:ea typeface="Calibri" pitchFamily="34" charset="-122"/>
                <a:cs typeface="Calibri" pitchFamily="34" charset="-120"/>
              </a:rPr>
              <a:t>7</a:t>
            </a:r>
            <a:endParaRPr lang="vi-VN" sz="650" dirty="0"/>
          </a:p>
        </p:txBody>
      </p:sp>
      <p:sp>
        <p:nvSpPr>
          <p:cNvPr id="64" name="Text 58"/>
          <p:cNvSpPr txBox="1"/>
          <p:nvPr/>
        </p:nvSpPr>
        <p:spPr>
          <a:xfrm>
            <a:off x="584869" y="9043791"/>
            <a:ext cx="1335924" cy="131826"/>
          </a:xfrm>
          <a:prstGeom prst="rect">
            <a:avLst/>
          </a:prstGeom>
          <a:noFill/>
          <a:ln/>
        </p:spPr>
        <p:txBody>
          <a:bodyPr wrap="none" lIns="0" tIns="0" rIns="0" bIns="0" rtlCol="0" anchor="ctr"/>
          <a:lstStyle/>
          <a:p>
            <a:pPr algn="l" indent="0" marL="0">
              <a:buNone/>
            </a:pPr>
            <a:r>
              <a:rPr lang="vi-VN" sz="600" dirty="0">
                <a:solidFill>
                  <a:srgbClr val="262626"/>
                </a:solidFill>
                <a:latin typeface="Calibri" pitchFamily="34" charset="0"/>
                <a:ea typeface="Calibri" pitchFamily="34" charset="-122"/>
                <a:cs typeface="Calibri" pitchFamily="34" charset="-120"/>
              </a:rPr>
              <a:t>Phân phối trực tiếp tới khách hàng B2B</a:t>
            </a:r>
            <a:endParaRPr lang="vi-VN" sz="600" dirty="0"/>
          </a:p>
        </p:txBody>
      </p:sp>
      <p:sp>
        <p:nvSpPr>
          <p:cNvPr id="65" name="Text 59"/>
          <p:cNvSpPr txBox="1"/>
          <p:nvPr/>
        </p:nvSpPr>
        <p:spPr>
          <a:xfrm>
            <a:off x="405408" y="9201299"/>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Sơ đồ chuỗi giá trị của nhóm (Mục 1.3.2); bản chi tiết có địa điểm nhà máy và khách hàng ở Fig. A02</a:t>
            </a:r>
            <a:endParaRPr lang="vi-VN" sz="600" dirty="0"/>
          </a:p>
        </p:txBody>
      </p:sp>
      <p:sp>
        <p:nvSpPr>
          <p:cNvPr id="66" name="Text 60"/>
          <p:cNvSpPr txBox="1"/>
          <p:nvPr/>
        </p:nvSpPr>
        <p:spPr>
          <a:xfrm>
            <a:off x="2745284" y="4473029"/>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1.3. Mô hình kinh doanh và Chuỗi giá trị</a:t>
            </a:r>
            <a:endParaRPr lang="vi-VN" sz="900" dirty="0"/>
          </a:p>
        </p:txBody>
      </p:sp>
      <p:sp>
        <p:nvSpPr>
          <p:cNvPr id="67" name="Text 61"/>
          <p:cNvSpPr txBox="1"/>
          <p:nvPr/>
        </p:nvSpPr>
        <p:spPr>
          <a:xfrm>
            <a:off x="2745284" y="4642396"/>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1.3.1. Mô hình kinh doanh</a:t>
            </a:r>
            <a:endParaRPr lang="vi-VN" sz="820" dirty="0"/>
          </a:p>
        </p:txBody>
      </p:sp>
      <p:sp>
        <p:nvSpPr>
          <p:cNvPr id="68" name="Text 62"/>
          <p:cNvSpPr txBox="1"/>
          <p:nvPr/>
        </p:nvSpPr>
        <p:spPr>
          <a:xfrm>
            <a:off x="2745284" y="4788991"/>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AgriPack hoạt động theo mô hình B2B (Business to Business), hợp tác với đơn vị cung cấp bã mía như nhà máy sản xuất đường mía, vỏ trứng từ các nhà máy sản xuất bánh, máy móc ép khuôn, đối tác logistics và các đối tác kỹ thuật khác phục vụ cho việc sản xuất. Khách hàng của AgriPack là các đơn vị hoạt động trong lĩnh vực F&amp;B/FMCG, sản xuất điện tử, nội thất và thương mại điện tử. Doanh nghiệp tiếp cận khách hàng chủ yếu thông qua bán hàng trực tiếp B2B, website và các kênh kết nối doanh nghiệp.</a:t>
            </a:r>
            <a:endParaRPr lang="vi-VN" sz="850" dirty="0"/>
          </a:p>
        </p:txBody>
      </p:sp>
      <p:sp>
        <p:nvSpPr>
          <p:cNvPr id="69" name="Text 63"/>
          <p:cNvSpPr txBox="1"/>
          <p:nvPr/>
        </p:nvSpPr>
        <p:spPr>
          <a:xfrm>
            <a:off x="2745284" y="5616029"/>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AgriPack tập trung vào hai nhóm nguồn doanh thu chính: thứ nhất là bán bao bì thực phẩm/FMCG, vật liệu bảo vệ cho thiết bị điện tử và vật liệu bảo vệ cho nội thất, thương mại điện tử theo đơn vị (cái); thứ hai là thu phí từ dịch vụ thiết kế và sản xuất khuôn theo yêu cầu, đáp ứng nhu cầu tùy chỉnh của từng khách hàng (dự án). Trong cơ cấu doanh thu, việc kinh doanh bao bì cho ngành thực phẩm/FMCG đóng góp tỷ trọng doanh thu lớn nhất. Đối với nguồn chi phí, AgriPack có ba nguồn chính: giá vốn hàng bán hay chi phí sản xuất; chi phí bán hàng và quản lý doanh nghiệp hay nguồn đóng góp tỷ trọng lớn nhất trong cơ cấu chi phí, lương và phụ cấp cho nhân viên (Fig. 09, Fig. 10).</a:t>
            </a:r>
            <a:endParaRPr lang="vi-VN" sz="850" dirty="0"/>
          </a:p>
        </p:txBody>
      </p:sp>
      <p:sp>
        <p:nvSpPr>
          <p:cNvPr id="70" name="Text 64"/>
          <p:cNvSpPr txBox="1"/>
          <p:nvPr/>
        </p:nvSpPr>
        <p:spPr>
          <a:xfrm>
            <a:off x="2745284" y="6574631"/>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1.3.2 Chuỗi giá trị</a:t>
            </a:r>
            <a:endParaRPr lang="vi-VN" sz="820" dirty="0"/>
          </a:p>
        </p:txBody>
      </p:sp>
      <p:sp>
        <p:nvSpPr>
          <p:cNvPr id="71" name="Text 65"/>
          <p:cNvSpPr txBox="1"/>
          <p:nvPr/>
        </p:nvSpPr>
        <p:spPr>
          <a:xfrm>
            <a:off x="2745284" y="6721227"/>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Chuỗi giá trị của AgriPack tập trung vào việc chuyển hóa phụ phẩm nông nghiệp thành các sản phẩm bao bì có giá trị gia tăng, thông qua 7 hoạt động sau: (Fig. 11; sơ đồ chi tiết ở Fig. A02)</a:t>
            </a:r>
            <a:endParaRPr lang="vi-VN" sz="850" dirty="0"/>
          </a:p>
        </p:txBody>
      </p:sp>
      <p:sp>
        <p:nvSpPr>
          <p:cNvPr id="72" name="Text 66"/>
          <p:cNvSpPr txBox="1"/>
          <p:nvPr/>
        </p:nvSpPr>
        <p:spPr>
          <a:xfrm>
            <a:off x="2759184" y="7022009"/>
            <a:ext cx="4450145" cy="131564"/>
          </a:xfrm>
          <a:prstGeom prst="rect">
            <a:avLst/>
          </a:prstGeom>
          <a:noFill/>
          <a:ln/>
        </p:spPr>
        <p:txBody>
          <a:bodyPr wrap="square" lIns="0" tIns="0" rIns="0" bIns="0" rtlCol="0" anchor="t"/>
          <a:lstStyle/>
          <a:p>
            <a:pPr algn="just" marL="137160" indent="-137160">
              <a:lnSpc>
                <a:spcPts val="1040"/>
              </a:lnSpc>
              <a:buSzPct val="100000"/>
              <a:buFont typeface="Cambria"/>
              <a:buAutoNum type="arabicPeriod" startAt="1"/>
            </a:pPr>
            <a:r>
              <a:rPr lang="vi-VN" sz="850" dirty="0">
                <a:solidFill>
                  <a:srgbClr val="1F1F1F"/>
                </a:solidFill>
                <a:latin typeface="Calibri" pitchFamily="34" charset="0"/>
                <a:ea typeface="Calibri" pitchFamily="34" charset="-122"/>
                <a:cs typeface="Calibri" pitchFamily="34" charset="-120"/>
              </a:rPr>
              <a:t>Thu gom nguyên liệu: Thu gom bã mía, vỏ trứng từ nhà cung cấp</a:t>
            </a:r>
            <a:endParaRPr lang="vi-VN" sz="850" dirty="0"/>
          </a:p>
        </p:txBody>
      </p:sp>
      <p:sp>
        <p:nvSpPr>
          <p:cNvPr id="73" name="Text 67"/>
          <p:cNvSpPr txBox="1"/>
          <p:nvPr/>
        </p:nvSpPr>
        <p:spPr>
          <a:xfrm>
            <a:off x="2759184" y="7162502"/>
            <a:ext cx="4450145" cy="131564"/>
          </a:xfrm>
          <a:prstGeom prst="rect">
            <a:avLst/>
          </a:prstGeom>
          <a:noFill/>
          <a:ln/>
        </p:spPr>
        <p:txBody>
          <a:bodyPr wrap="square" lIns="0" tIns="0" rIns="0" bIns="0" rtlCol="0" anchor="t"/>
          <a:lstStyle/>
          <a:p>
            <a:pPr algn="just" marL="137160" indent="-137160">
              <a:lnSpc>
                <a:spcPts val="1040"/>
              </a:lnSpc>
              <a:buSzPct val="100000"/>
              <a:buFont typeface="Cambria"/>
              <a:buAutoNum type="arabicPeriod" startAt="2"/>
            </a:pPr>
            <a:r>
              <a:rPr lang="vi-VN" sz="850" dirty="0">
                <a:solidFill>
                  <a:srgbClr val="1F1F1F"/>
                </a:solidFill>
                <a:latin typeface="Calibri" pitchFamily="34" charset="0"/>
                <a:ea typeface="Calibri" pitchFamily="34" charset="-122"/>
                <a:cs typeface="Calibri" pitchFamily="34" charset="-120"/>
              </a:rPr>
              <a:t>Xử lý để chuẩn hóa bã mía, vỏ trứng: Làm sạch, xử lý và chuẩn hóa nguyên liệu</a:t>
            </a:r>
            <a:endParaRPr lang="vi-VN" sz="850" dirty="0"/>
          </a:p>
        </p:txBody>
      </p:sp>
      <p:sp>
        <p:nvSpPr>
          <p:cNvPr id="74" name="Text 68"/>
          <p:cNvSpPr txBox="1"/>
          <p:nvPr/>
        </p:nvSpPr>
        <p:spPr>
          <a:xfrm>
            <a:off x="2759184" y="7302996"/>
            <a:ext cx="4450145" cy="131564"/>
          </a:xfrm>
          <a:prstGeom prst="rect">
            <a:avLst/>
          </a:prstGeom>
          <a:noFill/>
          <a:ln/>
        </p:spPr>
        <p:txBody>
          <a:bodyPr wrap="square" lIns="0" tIns="0" rIns="0" bIns="0" rtlCol="0" anchor="t"/>
          <a:lstStyle/>
          <a:p>
            <a:pPr algn="just" marL="137160" indent="-137160">
              <a:lnSpc>
                <a:spcPts val="1040"/>
              </a:lnSpc>
              <a:buSzPct val="100000"/>
              <a:buFont typeface="Cambria"/>
              <a:buAutoNum type="arabicPeriod" startAt="3"/>
            </a:pPr>
            <a:r>
              <a:rPr lang="vi-VN" sz="850" dirty="0">
                <a:solidFill>
                  <a:srgbClr val="1F1F1F"/>
                </a:solidFill>
                <a:latin typeface="Calibri" pitchFamily="34" charset="0"/>
                <a:ea typeface="Calibri" pitchFamily="34" charset="-122"/>
                <a:cs typeface="Calibri" pitchFamily="34" charset="-120"/>
              </a:rPr>
              <a:t>Phối trộn, tạo sợi tự nhiên</a:t>
            </a:r>
            <a:endParaRPr lang="vi-VN" sz="850" dirty="0"/>
          </a:p>
        </p:txBody>
      </p:sp>
      <p:sp>
        <p:nvSpPr>
          <p:cNvPr id="75" name="Text 69"/>
          <p:cNvSpPr txBox="1"/>
          <p:nvPr/>
        </p:nvSpPr>
        <p:spPr>
          <a:xfrm>
            <a:off x="2759184" y="7443490"/>
            <a:ext cx="4450145" cy="131564"/>
          </a:xfrm>
          <a:prstGeom prst="rect">
            <a:avLst/>
          </a:prstGeom>
          <a:noFill/>
          <a:ln/>
        </p:spPr>
        <p:txBody>
          <a:bodyPr wrap="square" lIns="0" tIns="0" rIns="0" bIns="0" rtlCol="0" anchor="t"/>
          <a:lstStyle/>
          <a:p>
            <a:pPr algn="just" marL="137160" indent="-137160">
              <a:lnSpc>
                <a:spcPts val="1040"/>
              </a:lnSpc>
              <a:buSzPct val="100000"/>
              <a:buFont typeface="Cambria"/>
              <a:buAutoNum type="arabicPeriod" startAt="4"/>
            </a:pPr>
            <a:r>
              <a:rPr lang="vi-VN" sz="850" dirty="0">
                <a:solidFill>
                  <a:srgbClr val="1F1F1F"/>
                </a:solidFill>
                <a:latin typeface="Calibri" pitchFamily="34" charset="0"/>
                <a:ea typeface="Calibri" pitchFamily="34" charset="-122"/>
                <a:cs typeface="Calibri" pitchFamily="34" charset="-120"/>
              </a:rPr>
              <a:t>Thiết kế khuôn: Thiết kế khuôn theo sản phẩm tiêu chuẩn hoặc yêu cầu của khách hàng</a:t>
            </a:r>
            <a:endParaRPr lang="vi-VN" sz="850" dirty="0"/>
          </a:p>
        </p:txBody>
      </p:sp>
      <p:sp>
        <p:nvSpPr>
          <p:cNvPr id="76" name="Text 70"/>
          <p:cNvSpPr txBox="1"/>
          <p:nvPr/>
        </p:nvSpPr>
        <p:spPr>
          <a:xfrm>
            <a:off x="2759184" y="7583984"/>
            <a:ext cx="4450145" cy="131564"/>
          </a:xfrm>
          <a:prstGeom prst="rect">
            <a:avLst/>
          </a:prstGeom>
          <a:noFill/>
          <a:ln/>
        </p:spPr>
        <p:txBody>
          <a:bodyPr wrap="square" lIns="0" tIns="0" rIns="0" bIns="0" rtlCol="0" anchor="t"/>
          <a:lstStyle/>
          <a:p>
            <a:pPr algn="just" marL="137160" indent="-137160">
              <a:lnSpc>
                <a:spcPts val="1040"/>
              </a:lnSpc>
              <a:buSzPct val="100000"/>
              <a:buFont typeface="Cambria"/>
              <a:buAutoNum type="arabicPeriod" startAt="5"/>
            </a:pPr>
            <a:r>
              <a:rPr lang="vi-VN" sz="850" dirty="0">
                <a:solidFill>
                  <a:srgbClr val="1F1F1F"/>
                </a:solidFill>
                <a:latin typeface="Calibri" pitchFamily="34" charset="0"/>
                <a:ea typeface="Calibri" pitchFamily="34" charset="-122"/>
                <a:cs typeface="Calibri" pitchFamily="34" charset="-120"/>
              </a:rPr>
              <a:t>Ép khuôn, tạo hình và sấy hoàn thiện</a:t>
            </a:r>
            <a:endParaRPr lang="vi-VN" sz="850" dirty="0"/>
          </a:p>
        </p:txBody>
      </p:sp>
      <p:sp>
        <p:nvSpPr>
          <p:cNvPr id="77" name="Text 71"/>
          <p:cNvSpPr txBox="1"/>
          <p:nvPr/>
        </p:nvSpPr>
        <p:spPr>
          <a:xfrm>
            <a:off x="2759184" y="7724477"/>
            <a:ext cx="4450145" cy="131564"/>
          </a:xfrm>
          <a:prstGeom prst="rect">
            <a:avLst/>
          </a:prstGeom>
          <a:noFill/>
          <a:ln/>
        </p:spPr>
        <p:txBody>
          <a:bodyPr wrap="square" lIns="0" tIns="0" rIns="0" bIns="0" rtlCol="0" anchor="t"/>
          <a:lstStyle/>
          <a:p>
            <a:pPr algn="just" marL="137160" indent="-137160">
              <a:lnSpc>
                <a:spcPts val="1040"/>
              </a:lnSpc>
              <a:buSzPct val="100000"/>
              <a:buFont typeface="Cambria"/>
              <a:buAutoNum type="arabicPeriod" startAt="6"/>
            </a:pPr>
            <a:r>
              <a:rPr lang="vi-VN" sz="850" dirty="0">
                <a:solidFill>
                  <a:srgbClr val="1F1F1F"/>
                </a:solidFill>
                <a:latin typeface="Calibri" pitchFamily="34" charset="0"/>
                <a:ea typeface="Calibri" pitchFamily="34" charset="-122"/>
                <a:cs typeface="Calibri" pitchFamily="34" charset="-120"/>
              </a:rPr>
              <a:t>Kiểm tra chất lượng: Kiểm tra các yêu cầu kỹ thuật của sản phẩm như kích thước, độ bền</a:t>
            </a:r>
            <a:endParaRPr lang="vi-VN" sz="850" dirty="0"/>
          </a:p>
        </p:txBody>
      </p:sp>
      <p:sp>
        <p:nvSpPr>
          <p:cNvPr id="78" name="Text 72"/>
          <p:cNvSpPr txBox="1"/>
          <p:nvPr/>
        </p:nvSpPr>
        <p:spPr>
          <a:xfrm>
            <a:off x="2759184" y="7864971"/>
            <a:ext cx="4450145" cy="131564"/>
          </a:xfrm>
          <a:prstGeom prst="rect">
            <a:avLst/>
          </a:prstGeom>
          <a:noFill/>
          <a:ln/>
        </p:spPr>
        <p:txBody>
          <a:bodyPr wrap="square" lIns="0" tIns="0" rIns="0" bIns="0" rtlCol="0" anchor="t"/>
          <a:lstStyle/>
          <a:p>
            <a:pPr algn="just" marL="137160" indent="-137160">
              <a:lnSpc>
                <a:spcPts val="1040"/>
              </a:lnSpc>
              <a:buSzPct val="100000"/>
              <a:buFont typeface="Cambria"/>
              <a:buAutoNum type="arabicPeriod" startAt="7"/>
            </a:pPr>
            <a:r>
              <a:rPr lang="vi-VN" sz="850" dirty="0">
                <a:solidFill>
                  <a:srgbClr val="1F1F1F"/>
                </a:solidFill>
                <a:latin typeface="Calibri" pitchFamily="34" charset="0"/>
                <a:ea typeface="Calibri" pitchFamily="34" charset="-122"/>
                <a:cs typeface="Calibri" pitchFamily="34" charset="-120"/>
              </a:rPr>
              <a:t>Phân phối trực tiếp tới khách hàng B2B</a:t>
            </a:r>
            <a:endParaRPr lang="vi-VN" sz="850" dirty="0"/>
          </a:p>
        </p:txBody>
      </p:sp>
      <p:sp>
        <p:nvSpPr>
          <p:cNvPr id="79" name="Text 73"/>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80" name="Text 74"/>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3</a:t>
            </a:r>
            <a:endParaRPr lang="vi-VN" sz="6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558105"/>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405408" y="830907"/>
            <a:ext cx="2159943" cy="0"/>
          </a:xfrm>
          <a:prstGeom prst="line">
            <a:avLst/>
          </a:prstGeom>
          <a:noFill/>
          <a:ln w="9525">
            <a:solidFill>
              <a:srgbClr val="7B1E2B"/>
            </a:solidFill>
            <a:prstDash val="solid"/>
          </a:ln>
        </p:spPr>
      </p:sp>
      <p:sp>
        <p:nvSpPr>
          <p:cNvPr id="5" name="Shape 3"/>
          <p:cNvSpPr/>
          <p:nvPr/>
        </p:nvSpPr>
        <p:spPr>
          <a:xfrm>
            <a:off x="405408" y="1789361"/>
            <a:ext cx="2159943" cy="0"/>
          </a:xfrm>
          <a:prstGeom prst="line">
            <a:avLst/>
          </a:prstGeom>
          <a:noFill/>
          <a:ln w="9525">
            <a:solidFill>
              <a:srgbClr val="7B1E2B"/>
            </a:solidFill>
            <a:prstDash val="solid"/>
          </a:ln>
        </p:spPr>
      </p:sp>
      <p:sp>
        <p:nvSpPr>
          <p:cNvPr id="6" name="Shape 4"/>
          <p:cNvSpPr/>
          <p:nvPr/>
        </p:nvSpPr>
        <p:spPr>
          <a:xfrm>
            <a:off x="405408" y="2907953"/>
            <a:ext cx="2159943" cy="0"/>
          </a:xfrm>
          <a:prstGeom prst="line">
            <a:avLst/>
          </a:prstGeom>
          <a:noFill/>
          <a:ln w="9525">
            <a:solidFill>
              <a:srgbClr val="7B1E2B"/>
            </a:solidFill>
            <a:prstDash val="solid"/>
          </a:ln>
        </p:spPr>
      </p:sp>
      <p:sp>
        <p:nvSpPr>
          <p:cNvPr id="7" name="Shape 5"/>
          <p:cNvSpPr/>
          <p:nvPr/>
        </p:nvSpPr>
        <p:spPr>
          <a:xfrm>
            <a:off x="405408" y="5711577"/>
            <a:ext cx="2159943" cy="0"/>
          </a:xfrm>
          <a:prstGeom prst="line">
            <a:avLst/>
          </a:prstGeom>
          <a:noFill/>
          <a:ln w="9525">
            <a:solidFill>
              <a:srgbClr val="7B1E2B"/>
            </a:solidFill>
            <a:prstDash val="solid"/>
          </a:ln>
        </p:spPr>
      </p:sp>
      <p:sp>
        <p:nvSpPr>
          <p:cNvPr id="8" name="Shape 6"/>
          <p:cNvSpPr/>
          <p:nvPr/>
        </p:nvSpPr>
        <p:spPr>
          <a:xfrm>
            <a:off x="405408" y="7085409"/>
            <a:ext cx="2159943" cy="0"/>
          </a:xfrm>
          <a:prstGeom prst="line">
            <a:avLst/>
          </a:prstGeom>
          <a:noFill/>
          <a:ln w="9525">
            <a:solidFill>
              <a:srgbClr val="7B1E2B"/>
            </a:solidFill>
            <a:prstDash val="solid"/>
          </a:ln>
        </p:spPr>
      </p:sp>
      <p:sp>
        <p:nvSpPr>
          <p:cNvPr id="9" name="Shape 7"/>
          <p:cNvSpPr/>
          <p:nvPr/>
        </p:nvSpPr>
        <p:spPr>
          <a:xfrm>
            <a:off x="405408" y="10364688"/>
            <a:ext cx="6749058" cy="0"/>
          </a:xfrm>
          <a:prstGeom prst="line">
            <a:avLst/>
          </a:prstGeom>
          <a:noFill/>
          <a:ln w="9525">
            <a:solidFill>
              <a:srgbClr val="BFBFBF"/>
            </a:solidFill>
            <a:prstDash val="solid"/>
          </a:ln>
        </p:spPr>
      </p:sp>
      <p:sp>
        <p:nvSpPr>
          <p:cNvPr id="10" name="Text 8"/>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11" name="Text 9"/>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2" name="Text 10"/>
          <p:cNvSpPr txBox="1"/>
          <p:nvPr/>
        </p:nvSpPr>
        <p:spPr>
          <a:xfrm>
            <a:off x="484608" y="590505"/>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2. BÁO CÁO TÀI CHÍNH VÀ XÁC ĐỊNH GIAI ĐOẠN</a:t>
            </a:r>
            <a:endParaRPr lang="vi-VN" sz="880" dirty="0"/>
          </a:p>
        </p:txBody>
      </p:sp>
      <p:sp>
        <p:nvSpPr>
          <p:cNvPr id="13" name="Text 11"/>
          <p:cNvSpPr txBox="1"/>
          <p:nvPr/>
        </p:nvSpPr>
        <p:spPr>
          <a:xfrm>
            <a:off x="405408" y="862032"/>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Doanh thu tăng 59,1% và 53,7%</a:t>
            </a:r>
            <a:endParaRPr lang="vi-VN" sz="720" dirty="0"/>
          </a:p>
        </p:txBody>
      </p:sp>
      <p:sp>
        <p:nvSpPr>
          <p:cNvPr id="14" name="Text 12"/>
          <p:cNvSpPr txBox="1"/>
          <p:nvPr/>
        </p:nvSpPr>
        <p:spPr>
          <a:xfrm>
            <a:off x="405408" y="989558"/>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Nghìn đồng</a:t>
            </a:r>
            <a:endParaRPr lang="vi-VN" sz="63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05408" y="1105049"/>
          <a:ext cx="2159943" cy="914400"/>
        </p:xfrm>
        <a:graphic>
          <a:graphicData uri="http://schemas.openxmlformats.org/drawingml/2006/table">
            <a:tbl>
              <a:tblPr/>
              <a:tblGrid>
                <a:gridCol w="863947"/>
                <a:gridCol w="431899"/>
                <a:gridCol w="431899"/>
                <a:gridCol w="432197"/>
              </a:tblGrid>
              <a:tr h="131564">
                <a:tc>
                  <a:txBody>
                    <a:bodyPr/>
                    <a:lstStyle/>
                    <a:p>
                      <a:pPr algn="l" indent="0" marL="0">
                        <a:lnSpc>
                          <a:spcPts val="760"/>
                        </a:lnSpc>
                        <a:buNone/>
                      </a:pPr>
                      <a:r>
                        <a:rPr lang="vi-VN" sz="640" b="1" dirty="0">
                          <a:solidFill>
                            <a:srgbClr val="FFFFFF"/>
                          </a:solidFill>
                          <a:latin typeface="Calibri" pitchFamily="34" charset="0"/>
                          <a:ea typeface="Calibri" pitchFamily="34" charset="-122"/>
                          <a:cs typeface="Calibri" pitchFamily="34" charset="-120"/>
                        </a:rPr>
                        <a:t>Chỉ tiêu</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2023</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2024</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2025</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7695">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Doanh thu thuần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19.438.240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30.928.285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47.546.528</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Tăng trưởng doanh thu (%)</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59,1%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53,7%</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6" name="Text 13"/>
          <p:cNvSpPr txBox="1"/>
          <p:nvPr/>
        </p:nvSpPr>
        <p:spPr>
          <a:xfrm>
            <a:off x="405408" y="1615232"/>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tính toán của nhóm</a:t>
            </a:r>
            <a:endParaRPr lang="vi-VN" sz="600" dirty="0"/>
          </a:p>
        </p:txBody>
      </p:sp>
      <p:sp>
        <p:nvSpPr>
          <p:cNvPr id="17" name="Text 14"/>
          <p:cNvSpPr txBox="1"/>
          <p:nvPr/>
        </p:nvSpPr>
        <p:spPr>
          <a:xfrm>
            <a:off x="405408" y="1820486"/>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Doanh thu An Phát gấp 226 lần, Đông Hải Bến Tre gấp 76 lần AgriPack</a:t>
            </a:r>
            <a:endParaRPr lang="vi-VN" sz="720" dirty="0"/>
          </a:p>
        </p:txBody>
      </p:sp>
      <p:sp>
        <p:nvSpPr>
          <p:cNvPr id="18" name="Text 15"/>
          <p:cNvSpPr txBox="1"/>
          <p:nvPr/>
        </p:nvSpPr>
        <p:spPr>
          <a:xfrm>
            <a:off x="405408" y="2057549"/>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Doanh thu thuần 2025, tỷ đồng</a:t>
            </a:r>
            <a:endParaRPr lang="vi-VN" sz="630" dirty="0"/>
          </a:p>
        </p:txBody>
      </p:sp>
      <p:graphicFrame>
        <p:nvGraphicFramePr>
          <p:cNvPr id="19" name="Chart 0" descr=""/>
          <p:cNvGraphicFramePr/>
          <p:nvPr/>
        </p:nvGraphicFramePr>
        <p:xfrm>
          <a:off x="405408" y="2173039"/>
          <a:ext cx="2159943" cy="451545"/>
        </p:xfrm>
        <a:graphic xmlns:a="http://schemas.openxmlformats.org/drawingml/2006/main">
          <a:graphicData uri="http://schemas.openxmlformats.org/drawingml/2006/chart">
            <c:chart xmlns:c="http://schemas.openxmlformats.org/drawingml/2006/chart" r:id="rId1"/>
          </a:graphicData>
        </a:graphic>
      </p:graphicFrame>
      <p:sp>
        <p:nvSpPr>
          <p:cNvPr id="20" name="Text 16"/>
          <p:cNvSpPr txBox="1"/>
          <p:nvPr/>
        </p:nvSpPr>
        <p:spPr>
          <a:xfrm>
            <a:off x="405408" y="2642443"/>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(Mục 2.1), BCTC 2025 của An Phát Holdings, Đông Hải Bến Tre; AgriPack: BCTC 2025 (đề bài)</a:t>
            </a:r>
            <a:endParaRPr lang="vi-VN" sz="600" dirty="0"/>
          </a:p>
        </p:txBody>
      </p:sp>
      <p:sp>
        <p:nvSpPr>
          <p:cNvPr id="21" name="Text 17"/>
          <p:cNvSpPr txBox="1"/>
          <p:nvPr/>
        </p:nvSpPr>
        <p:spPr>
          <a:xfrm>
            <a:off x="405408" y="2939078"/>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Biên EBITDA từ −14,2% lên 16,2%; LNST dương lần đầu năm 2025</a:t>
            </a:r>
            <a:endParaRPr lang="vi-VN" sz="720" dirty="0"/>
          </a:p>
        </p:txBody>
      </p:sp>
      <p:sp>
        <p:nvSpPr>
          <p:cNvPr id="22" name="Text 18"/>
          <p:cNvSpPr txBox="1"/>
          <p:nvPr/>
        </p:nvSpPr>
        <p:spPr>
          <a:xfrm>
            <a:off x="405408" y="3176141"/>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Nghìn đồng</a:t>
            </a:r>
            <a:endParaRPr lang="vi-VN" sz="63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05408" y="3291632"/>
          <a:ext cx="2159943" cy="914400"/>
        </p:xfrm>
        <a:graphic>
          <a:graphicData uri="http://schemas.openxmlformats.org/drawingml/2006/table">
            <a:tbl>
              <a:tblPr/>
              <a:tblGrid>
                <a:gridCol w="863947"/>
                <a:gridCol w="431899"/>
                <a:gridCol w="431899"/>
                <a:gridCol w="432197"/>
              </a:tblGrid>
              <a:tr h="131564">
                <a:tc>
                  <a:txBody>
                    <a:bodyPr/>
                    <a:lstStyle/>
                    <a:p>
                      <a:pPr algn="l" indent="0" marL="0">
                        <a:lnSpc>
                          <a:spcPts val="760"/>
                        </a:lnSpc>
                        <a:buNone/>
                      </a:pPr>
                      <a:r>
                        <a:rPr lang="vi-VN" sz="640" b="1" dirty="0">
                          <a:solidFill>
                            <a:srgbClr val="FFFFFF"/>
                          </a:solidFill>
                          <a:latin typeface="Calibri" pitchFamily="34" charset="0"/>
                          <a:ea typeface="Calibri" pitchFamily="34" charset="-122"/>
                          <a:cs typeface="Calibri" pitchFamily="34" charset="-120"/>
                        </a:rPr>
                        <a:t>Chỉ tiêu</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2023</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2024</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2025</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7695">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Doanh thu thuần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19.438.240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30.928.285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47.546.528</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Lợi nhuận gộp</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7.243.109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14.514.122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24.264.946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Lợi nhuận gộp (%)</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37,3%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46,9%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51,0%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Tổng chi phí hoạt động (CPBH &amp; QLDN)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11.437.820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14.874.838</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19.702.269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EBITDA</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(2.762.511)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2.014.564</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7.694.629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Biên EBITDA (%)</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-14,2%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6,5%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16,2%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EBIT</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(4.194.711)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(360.716)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4.562.677</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Biên EBIT (%)</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-21,6%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9,6%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Lợi nhuận sau thuế</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(4.309.011)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(503.276)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4.420.495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Biên lợi nhuận ròng (%)</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-22,2%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9,3%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ROE</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-25,1%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15,9%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ROA</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-23,1%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14,9%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Vòng quay tổng tài sản (lần)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1,04</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1,29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1,60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24" name="Text 19"/>
          <p:cNvSpPr txBox="1"/>
          <p:nvPr/>
        </p:nvSpPr>
        <p:spPr>
          <a:xfrm>
            <a:off x="405408" y="5354687"/>
            <a:ext cx="2214807" cy="27414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trình bày theo chức năng (70% tiền lương, 90% khấu hao vào giá vốn); tính toán của nhóm (ROE, ROA, vòng quay trên số dư bình quân)</a:t>
            </a:r>
            <a:endParaRPr lang="vi-VN" sz="600" dirty="0"/>
          </a:p>
        </p:txBody>
      </p:sp>
      <p:sp>
        <p:nvSpPr>
          <p:cNvPr id="25" name="Text 20"/>
          <p:cNvSpPr txBox="1"/>
          <p:nvPr/>
        </p:nvSpPr>
        <p:spPr>
          <a:xfrm>
            <a:off x="405408" y="5742702"/>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Biên gộp của AgriPack vẫn cao hơn ngành khi đã đưa tiền lương, khấu hao vào giá vốn</a:t>
            </a:r>
            <a:endParaRPr lang="vi-VN" sz="720" dirty="0"/>
          </a:p>
        </p:txBody>
      </p:sp>
      <p:sp>
        <p:nvSpPr>
          <p:cNvPr id="26" name="Text 21"/>
          <p:cNvSpPr txBox="1"/>
          <p:nvPr/>
        </p:nvSpPr>
        <p:spPr>
          <a:xfrm>
            <a:off x="405408" y="5979765"/>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 doanh thu thuần</a:t>
            </a:r>
            <a:endParaRPr lang="vi-VN" sz="630" dirty="0"/>
          </a:p>
        </p:txBody>
      </p:sp>
      <p:graphicFrame>
        <p:nvGraphicFramePr>
          <p:cNvPr id="27" name="Chart 1" descr=""/>
          <p:cNvGraphicFramePr/>
          <p:nvPr/>
        </p:nvGraphicFramePr>
        <p:xfrm>
          <a:off x="405408" y="6095256"/>
          <a:ext cx="2159943" cy="706785"/>
        </p:xfrm>
        <a:graphic xmlns:a="http://schemas.openxmlformats.org/drawingml/2006/main">
          <a:graphicData uri="http://schemas.openxmlformats.org/drawingml/2006/chart">
            <c:chart xmlns:c="http://schemas.openxmlformats.org/drawingml/2006/chart" r:id="rId2"/>
          </a:graphicData>
        </a:graphic>
      </p:graphicFrame>
      <p:sp>
        <p:nvSpPr>
          <p:cNvPr id="28" name="Text 22"/>
          <p:cNvSpPr txBox="1"/>
          <p:nvPr/>
        </p:nvSpPr>
        <p:spPr>
          <a:xfrm>
            <a:off x="405408" y="6819900"/>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2025 (đề bài); mô hình (Income Statement); Cleverence (2026); bài của nhóm (Mục 2.2)</a:t>
            </a:r>
            <a:endParaRPr lang="vi-VN" sz="600" dirty="0"/>
          </a:p>
        </p:txBody>
      </p:sp>
      <p:sp>
        <p:nvSpPr>
          <p:cNvPr id="29" name="Text 23"/>
          <p:cNvSpPr txBox="1"/>
          <p:nvPr/>
        </p:nvSpPr>
        <p:spPr>
          <a:xfrm>
            <a:off x="405408" y="7116534"/>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16:</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Tiền lương và tiền thuê giảm theo tỷ lệ doanh thu, biên EBITDA tăng tương ứng</a:t>
            </a:r>
            <a:endParaRPr lang="vi-VN" sz="720" dirty="0"/>
          </a:p>
        </p:txBody>
      </p:sp>
      <p:sp>
        <p:nvSpPr>
          <p:cNvPr id="30" name="Text 24"/>
          <p:cNvSpPr txBox="1"/>
          <p:nvPr/>
        </p:nvSpPr>
        <p:spPr>
          <a:xfrm>
            <a:off x="405408" y="7353598"/>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 doanh thu thuần</a:t>
            </a:r>
            <a:endParaRPr lang="vi-VN" sz="630" dirty="0"/>
          </a:p>
        </p:txBody>
      </p:sp>
      <p:graphicFrame>
        <p:nvGraphicFramePr>
          <p:cNvPr id="31" name="Chart 2" descr=""/>
          <p:cNvGraphicFramePr/>
          <p:nvPr/>
        </p:nvGraphicFramePr>
        <p:xfrm>
          <a:off x="405408" y="7469088"/>
          <a:ext cx="2159943" cy="765721"/>
        </p:xfrm>
        <a:graphic xmlns:a="http://schemas.openxmlformats.org/drawingml/2006/main">
          <a:graphicData uri="http://schemas.openxmlformats.org/drawingml/2006/chart">
            <c:chart xmlns:c="http://schemas.openxmlformats.org/drawingml/2006/chart" r:id="rId3"/>
          </a:graphicData>
        </a:graphic>
      </p:graphicFrame>
      <p:sp>
        <p:nvSpPr>
          <p:cNvPr id="32" name="Text 25"/>
          <p:cNvSpPr txBox="1"/>
          <p:nvPr/>
        </p:nvSpPr>
        <p:spPr>
          <a:xfrm>
            <a:off x="405408" y="8252668"/>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mô hình (Drivers)</a:t>
            </a:r>
            <a:endParaRPr lang="vi-VN" sz="600" dirty="0"/>
          </a:p>
        </p:txBody>
      </p:sp>
      <p:sp>
        <p:nvSpPr>
          <p:cNvPr id="33" name="Text 26"/>
          <p:cNvSpPr txBox="1"/>
          <p:nvPr/>
        </p:nvSpPr>
        <p:spPr>
          <a:xfrm>
            <a:off x="2745284" y="845195"/>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2.1. Quy mô doanh thu</a:t>
            </a:r>
            <a:endParaRPr lang="vi-VN" sz="900" dirty="0"/>
          </a:p>
        </p:txBody>
      </p:sp>
      <p:sp>
        <p:nvSpPr>
          <p:cNvPr id="34" name="Text 27"/>
          <p:cNvSpPr txBox="1"/>
          <p:nvPr/>
        </p:nvSpPr>
        <p:spPr>
          <a:xfrm>
            <a:off x="2745284" y="1014561"/>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Về quy mô tuyệt đối, doanh thu thuần của AgriPack tăng từ 19,4 tỷ đồng năm 2023 lên 47,5 tỷ đồng năm 2025, tăng gấp 2,45 lần chỉ sau hai năm, với tốc độ tăng trưởng kép (CAGR) 56,4%/năm (Fig. 12).</a:t>
            </a:r>
            <a:endParaRPr lang="vi-VN" sz="850" dirty="0"/>
          </a:p>
        </p:txBody>
      </p:sp>
      <p:sp>
        <p:nvSpPr>
          <p:cNvPr id="35" name="Text 28"/>
          <p:cNvSpPr txBox="1"/>
          <p:nvPr/>
        </p:nvSpPr>
        <p:spPr>
          <a:xfrm>
            <a:off x="2745284" y="1446907"/>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Đặt trong bối cảnh toàn ngành, theo IMARC Group (2025), quy mô thị trường bao bì xanh Việt Nam năm 2025 đạt khoảng 1.129,79 triệu USD, trong đó riêng ngành dịch vụ ăn uống (F&amp;B) đóng góp khoảng 33,93 triệu USD. Với mức tổng doanh thu 47,5 tỷ đồng và doanh thu phân khúc bao bì đóng gói thực phẩm 38 tỷ đồng (tương đương khoảng 1,83 triệu USD và 1,46 triệu USD) năm 2025, AgriPack hiện chiếm 0,16% quy mô thị trường bao bì xanh toàn quốc và 4,3% thị trường bao bì xanh ngành F&amp;B. Điều này cho thấy AgriPack đang có vị thế tương đối vững chắc trong phân khúc F&amp;B, với năng lực cạnh tranh, kênh phân phối và nhận diện thương hiệu tốt trong ngành F&amp;B nội địa.</a:t>
            </a:r>
            <a:endParaRPr lang="vi-VN" sz="850" dirty="0"/>
          </a:p>
        </p:txBody>
      </p:sp>
      <p:sp>
        <p:nvSpPr>
          <p:cNvPr id="36" name="Text 29"/>
          <p:cNvSpPr txBox="1"/>
          <p:nvPr/>
        </p:nvSpPr>
        <p:spPr>
          <a:xfrm>
            <a:off x="2745284" y="2405509"/>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Tuy nhiên, thị phần khoảng 0,16% trên quy mô thị trường bao bì xanh toàn quốc cho thấy AgriPack vẫn còn ở quy mô nhỏ so với toàn ngành. Mặt khác, mức thâm nhập còn thấp cũng cho thấy dư địa mở rộng đáng kể, đặc biệt khi doanh nghiệp hiện mới tập trung chủ yếu tại miền Trung - Nam và phân khúc F&amp;B. Trong các năm tới, dư địa tăng trưởng có thể đến từ việc mở rộng ra miền Bắc và phát triển thêm các nhóm khách hàng như FMCG, logistics và nông sản xuất khẩu.</a:t>
            </a:r>
            <a:endParaRPr lang="vi-VN" sz="850" dirty="0"/>
          </a:p>
        </p:txBody>
      </p:sp>
      <p:sp>
        <p:nvSpPr>
          <p:cNvPr id="37" name="Text 30"/>
          <p:cNvSpPr txBox="1"/>
          <p:nvPr/>
        </p:nvSpPr>
        <p:spPr>
          <a:xfrm>
            <a:off x="2745284" y="3100983"/>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Bên cạnh đó, tốc độ tăng trưởng đạt 59,1% (2024) và 53,7% (2025) cho thấy doanh nghiệp đang trong quá trình mở rộng nhanh. Điều này phù hợp với hình thái của một doanh nghiệp đang giành thị phần từ một nền doanh thu nhỏ, chứ không phải doanh nghiệp đã trưởng thành và chỉ tăng trưởng ngang thị trường. Điều quan trọng hơn là chất lượng tăng trưởng: chi phí biến đổi (nguyên liệu, nhân công trực tiếp) tăng với tốc độ 56,0% (2024) và 50,7% (2025), bám sát nhưng thấp hơn tốc độ tăng doanh thu, cho thấy công ty đã bước đầu hưởng lợi thế quy mô trong sản xuất, không phải tăng trưởng doanh thu bằng cách hy sinh biên lợi nhuận.</a:t>
            </a:r>
            <a:endParaRPr lang="vi-VN" sz="850" dirty="0"/>
          </a:p>
        </p:txBody>
      </p:sp>
      <p:sp>
        <p:nvSpPr>
          <p:cNvPr id="38" name="Text 31"/>
          <p:cNvSpPr txBox="1"/>
          <p:nvPr/>
        </p:nvSpPr>
        <p:spPr>
          <a:xfrm>
            <a:off x="2745284" y="4059585"/>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Như vậy, xét riêng về doanh thu và tốc độ tăng trưởng, doanh nghiệp đã vượt qua giai đoạn thử nghiệm mô hình (doanh thu tăng liên tục, có khách hàng thực), nhưng quy mô tuyệt đối vẫn nhỏ so với các đối thủ lớn: An Phát có doanh thu 10.746 tỷ đồng, gấp khoảng 226 lần AgriPack, Đông Hải Bến Tre có doanh thu 3.633 tỷ đồng, gấp khoảng 76 lần AgriPack. Nói cách khác, AgriPack có chỗ đứng trong ngách F&amp;B nhưng chưa đạt quy mô công nghiệp (Fig. 13).</a:t>
            </a:r>
            <a:endParaRPr lang="vi-VN" sz="850" dirty="0"/>
          </a:p>
        </p:txBody>
      </p:sp>
      <p:sp>
        <p:nvSpPr>
          <p:cNvPr id="39" name="Text 32"/>
          <p:cNvSpPr txBox="1"/>
          <p:nvPr/>
        </p:nvSpPr>
        <p:spPr>
          <a:xfrm>
            <a:off x="2745284" y="4755059"/>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2.2. Mức độ sinh lời</a:t>
            </a:r>
            <a:endParaRPr lang="vi-VN" sz="900" dirty="0"/>
          </a:p>
        </p:txBody>
      </p:sp>
      <p:sp>
        <p:nvSpPr>
          <p:cNvPr id="40" name="Text 33"/>
          <p:cNvSpPr txBox="1"/>
          <p:nvPr/>
        </p:nvSpPr>
        <p:spPr>
          <a:xfrm>
            <a:off x="2745284" y="4924425"/>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Biên lợi nhuận gộp tăng đều đặn qua ba năm: 37,3% (2023) → 46,9% (2024) → 51% (2025). Đây là mức biên gộp cao khi nghiên cứu chuẩn ngành sản xuất nói chung cho thấy biên gộp của nhà sản xuất theo hợp đồng/hàng hóa phổ thông thường ở mức 25-40% (Taylor, 2026). Riêng ngành bao bì, các doanh nghiệp lớn đi đầu về bao bì giấy bền vững (như Bao bì Biên Hòa - SVI, Đông Hải Bến Tre) ghi nhận BLNG quanh chỉ mức 12-16% (Fig. 14, Fig. 15).</a:t>
            </a:r>
            <a:endParaRPr lang="vi-VN" sz="850" dirty="0"/>
          </a:p>
        </p:txBody>
      </p:sp>
      <p:sp>
        <p:nvSpPr>
          <p:cNvPr id="41" name="Text 34"/>
          <p:cNvSpPr txBox="1"/>
          <p:nvPr/>
        </p:nvSpPr>
        <p:spPr>
          <a:xfrm>
            <a:off x="2745284" y="5619899"/>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Ở cấp độ lợi nhuận hoạt động, biên EBITDA cải thiện mạnh từ -14,2% (2023) lên 6,5% (2024) và 16,2% (2025), kéo theo biên EBIT chuyển từ -21,6% sang -1,2% rồi đạt mức dương 9,6%. Nguyên nhân cốt lõi đến từ hiệu ứng đòn bẩy hoạt động: trong khi doanh thu tăng trưởng mạnh với tốc độ tăng trưởng kép (CAGR) khoảng 56%/năm, tổng chi phí hoạt động (bán hàng, quản lý và lương) chỉ tăng với CAGR khoảng 31,3%/năm. Nhờ đó, các chi phí cố định trọng yếu được “pha loãng” nhanh chóng, thể hiện rõ qua tỷ lệ chi phí thuê mặt bằng/doanh thu giảm từ 20,5% xuống 15,9% và chi phí lương/doanh thu giảm từ 36,0% xuống 22,6% giai đoạn 2023-2025. Đây là dấu hiệu đặc trưng của giai đoạn công ty đã tìm ra mô hình vận hành có khả năng mở rộng hiệu quả, không chỉ đơn thuần tăng trưởng doanh thu bằng mọi giá (Fig. 16).</a:t>
            </a:r>
            <a:endParaRPr lang="vi-VN" sz="850" dirty="0"/>
          </a:p>
        </p:txBody>
      </p:sp>
      <p:sp>
        <p:nvSpPr>
          <p:cNvPr id="42" name="Text 35"/>
          <p:cNvSpPr txBox="1"/>
          <p:nvPr/>
        </p:nvSpPr>
        <p:spPr>
          <a:xfrm>
            <a:off x="2745284" y="6841629"/>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Lợi nhuận sau thuế chỉ chuyển dương lần đầu tiên vào năm 2025 (biên lợi nhuận ròng 9,3%, so với -22,2% năm 2023 và -1,6% năm 2024), đây là bước ngoặt định tính quan trọng nhất về khả năng sinh lời. Như vậy, doanh nghiệp đã vượt qua giai đoạn đầu tư ban đầu để chạm ngưỡng hòa vốn và bắt đầu sinh lời. Cột mốc này đánh dấu sự chuyển dịch quan trọng từ bước xác thực mô hình sang giai đoạn mở rộng quy mô gắn liền với kỷ luật tài chính, bước đầu cho thấy khả năng thoát khỏi định vị của một startup đang thử nghiệm ở quy mô nhỏ .</a:t>
            </a:r>
            <a:endParaRPr lang="vi-VN" sz="850" dirty="0"/>
          </a:p>
        </p:txBody>
      </p:sp>
      <p:sp>
        <p:nvSpPr>
          <p:cNvPr id="43" name="Text 36"/>
          <p:cNvSpPr txBox="1"/>
          <p:nvPr/>
        </p:nvSpPr>
        <p:spPr>
          <a:xfrm>
            <a:off x="2745284" y="7668667"/>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ROE và ROA cũng đi cùng quỹ đạo với biên độ dao động lớn: ROE từ -25,1% (2023) lên -2,3% (2024) rồi +15,9% (2025); ROA từ -23,1% lên -2,1% rồi +14,9%. Đáng chú ý, khoảng cách giữa ROE và ROA năm 2025 chỉ 1% cho thấy lợi nhuận tạo ra xuất phát từ chính hiệu quả vận hành nội tại của tổng tài sản chứ không đến từ việc lạm dụng đòn bẩy tài chính. Dù biên độ biến động lớn phản ánh mô hình có đòn bẩy hoạt động cao - vốn nhạy cảm với biến động doanh thu, nhưng mức ROE xấp xỉ 16% là minh chứng cho thấy khả năng làm chủ được chi phí và xây dựng một mô hình kinh doanh có khả năng sinh lời.</a:t>
            </a:r>
            <a:endParaRPr lang="vi-VN" sz="850" dirty="0"/>
          </a:p>
        </p:txBody>
      </p:sp>
      <p:sp>
        <p:nvSpPr>
          <p:cNvPr id="44" name="Text 37"/>
          <p:cNvSpPr txBox="1"/>
          <p:nvPr/>
        </p:nvSpPr>
        <p:spPr>
          <a:xfrm>
            <a:off x="2745284" y="8627269"/>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Vòng quay tổng tài sản cũng tăng đều từ 1,04 lần lên 1,60 lần, cho thấy công ty đang khai thác hiệu quả hơn tài sản đã đầu tư (nhà máy, thiết bị) để tạo doanh thu, tín hiệu cho thấy đòn bẩy hoạt động bắt đầu phát huy tác dụng, đặc trưng của giai đoạn sau khi công suất đã được xây dựng và đang được lấp đầy bằng đơn hàng thực tế, không phải giai đoạn công suất còn bỏ trống chờ thử nghiệm.</a:t>
            </a:r>
            <a:endParaRPr lang="vi-VN" sz="850" dirty="0"/>
          </a:p>
        </p:txBody>
      </p:sp>
      <p:sp>
        <p:nvSpPr>
          <p:cNvPr id="45" name="Text 38"/>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6" name="Text 39"/>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4</a:t>
            </a:r>
            <a:endParaRPr lang="vi-VN" sz="6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1553170"/>
            <a:ext cx="2159943" cy="0"/>
          </a:xfrm>
          <a:prstGeom prst="line">
            <a:avLst/>
          </a:prstGeom>
          <a:noFill/>
          <a:ln w="9525">
            <a:solidFill>
              <a:srgbClr val="7B1E2B"/>
            </a:solidFill>
            <a:prstDash val="solid"/>
          </a:ln>
        </p:spPr>
      </p:sp>
      <p:sp>
        <p:nvSpPr>
          <p:cNvPr id="5" name="Shape 3"/>
          <p:cNvSpPr/>
          <p:nvPr/>
        </p:nvSpPr>
        <p:spPr>
          <a:xfrm>
            <a:off x="405408" y="2739926"/>
            <a:ext cx="2159943" cy="0"/>
          </a:xfrm>
          <a:prstGeom prst="line">
            <a:avLst/>
          </a:prstGeom>
          <a:noFill/>
          <a:ln w="9525">
            <a:solidFill>
              <a:srgbClr val="7B1E2B"/>
            </a:solidFill>
            <a:prstDash val="solid"/>
          </a:ln>
        </p:spPr>
      </p:sp>
      <p:sp>
        <p:nvSpPr>
          <p:cNvPr id="6" name="Shape 4"/>
          <p:cNvSpPr/>
          <p:nvPr/>
        </p:nvSpPr>
        <p:spPr>
          <a:xfrm>
            <a:off x="405408" y="3963293"/>
            <a:ext cx="2159943" cy="0"/>
          </a:xfrm>
          <a:prstGeom prst="line">
            <a:avLst/>
          </a:prstGeom>
          <a:noFill/>
          <a:ln w="9525">
            <a:solidFill>
              <a:srgbClr val="7B1E2B"/>
            </a:solidFill>
            <a:prstDash val="solid"/>
          </a:ln>
        </p:spPr>
      </p:sp>
      <p:sp>
        <p:nvSpPr>
          <p:cNvPr id="7" name="Shape 5"/>
          <p:cNvSpPr/>
          <p:nvPr/>
        </p:nvSpPr>
        <p:spPr>
          <a:xfrm>
            <a:off x="405408" y="5378351"/>
            <a:ext cx="2159943" cy="0"/>
          </a:xfrm>
          <a:prstGeom prst="line">
            <a:avLst/>
          </a:prstGeom>
          <a:noFill/>
          <a:ln w="9525">
            <a:solidFill>
              <a:srgbClr val="7B1E2B"/>
            </a:solidFill>
            <a:prstDash val="solid"/>
          </a:ln>
        </p:spPr>
      </p:sp>
      <p:sp>
        <p:nvSpPr>
          <p:cNvPr id="8" name="Shape 6"/>
          <p:cNvSpPr/>
          <p:nvPr/>
        </p:nvSpPr>
        <p:spPr>
          <a:xfrm>
            <a:off x="405408" y="7476976"/>
            <a:ext cx="6749058" cy="0"/>
          </a:xfrm>
          <a:prstGeom prst="line">
            <a:avLst/>
          </a:prstGeom>
          <a:noFill/>
          <a:ln w="9525">
            <a:solidFill>
              <a:srgbClr val="7B1E2B"/>
            </a:solidFill>
            <a:prstDash val="solid"/>
          </a:ln>
        </p:spPr>
      </p:sp>
      <p:sp>
        <p:nvSpPr>
          <p:cNvPr id="9" name="Shape 7"/>
          <p:cNvSpPr/>
          <p:nvPr/>
        </p:nvSpPr>
        <p:spPr>
          <a:xfrm>
            <a:off x="405408" y="10364688"/>
            <a:ext cx="6749058" cy="0"/>
          </a:xfrm>
          <a:prstGeom prst="line">
            <a:avLst/>
          </a:prstGeom>
          <a:noFill/>
          <a:ln w="9525">
            <a:solidFill>
              <a:srgbClr val="BFBFBF"/>
            </a:solidFill>
            <a:prstDash val="solid"/>
          </a:ln>
        </p:spPr>
      </p:sp>
      <p:sp>
        <p:nvSpPr>
          <p:cNvPr id="10" name="Text 8"/>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11" name="Text 9"/>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2" name="Text 10"/>
          <p:cNvSpPr txBox="1"/>
          <p:nvPr/>
        </p:nvSpPr>
        <p:spPr>
          <a:xfrm>
            <a:off x="405408" y="589231"/>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17:</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Tài sản dài hạn chiếm 67–76% tổng tài sản</a:t>
            </a:r>
            <a:endParaRPr lang="vi-VN" sz="720" dirty="0"/>
          </a:p>
        </p:txBody>
      </p:sp>
      <p:sp>
        <p:nvSpPr>
          <p:cNvPr id="13" name="Text 11"/>
          <p:cNvSpPr txBox="1"/>
          <p:nvPr/>
        </p:nvSpPr>
        <p:spPr>
          <a:xfrm>
            <a:off x="405408" y="716756"/>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Nghìn đồng</a:t>
            </a:r>
            <a:endParaRPr lang="vi-VN" sz="63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05408" y="832247"/>
          <a:ext cx="2159943" cy="914400"/>
        </p:xfrm>
        <a:graphic>
          <a:graphicData uri="http://schemas.openxmlformats.org/drawingml/2006/table">
            <a:tbl>
              <a:tblPr/>
              <a:tblGrid>
                <a:gridCol w="734467"/>
                <a:gridCol w="475059"/>
                <a:gridCol w="475059"/>
                <a:gridCol w="475357"/>
              </a:tblGrid>
              <a:tr h="131564">
                <a:tc>
                  <a:txBody>
                    <a:bodyPr/>
                    <a:lstStyle/>
                    <a:p>
                      <a:pPr algn="l" indent="0" marL="0">
                        <a:lnSpc>
                          <a:spcPts val="760"/>
                        </a:lnSpc>
                        <a:buNone/>
                      </a:pPr>
                      <a:r>
                        <a:rPr lang="vi-VN" sz="640" b="1" dirty="0">
                          <a:solidFill>
                            <a:srgbClr val="FFFFFF"/>
                          </a:solidFill>
                          <a:latin typeface="Calibri" pitchFamily="34" charset="0"/>
                          <a:ea typeface="Calibri" pitchFamily="34" charset="-122"/>
                          <a:cs typeface="Calibri" pitchFamily="34" charset="-120"/>
                        </a:rPr>
                        <a:t>Chỉ tiêu</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2023</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2024</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2025</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7695">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Tổng tài sản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20.547.789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27.423.353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31.917.540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Tài sản dài hạn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15.511.800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19.442.120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21.394.688</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Nợ dài hạn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1.200.000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1.500.000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1.500.000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5" name="Text 12"/>
          <p:cNvSpPr txBox="1"/>
          <p:nvPr/>
        </p:nvSpPr>
        <p:spPr>
          <a:xfrm>
            <a:off x="405408" y="1379041"/>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a:t>
            </a:r>
            <a:endParaRPr lang="vi-VN" sz="600" dirty="0"/>
          </a:p>
        </p:txBody>
      </p:sp>
      <p:sp>
        <p:nvSpPr>
          <p:cNvPr id="16" name="Text 13"/>
          <p:cNvSpPr txBox="1"/>
          <p:nvPr/>
        </p:nvSpPr>
        <p:spPr>
          <a:xfrm>
            <a:off x="405408" y="1584295"/>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18:</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CAPEX/doanh thu giảm từ 25,8% xuống 10,7%</a:t>
            </a:r>
            <a:endParaRPr lang="vi-VN" sz="720" dirty="0"/>
          </a:p>
        </p:txBody>
      </p:sp>
      <p:sp>
        <p:nvSpPr>
          <p:cNvPr id="17" name="Text 14"/>
          <p:cNvSpPr txBox="1"/>
          <p:nvPr/>
        </p:nvSpPr>
        <p:spPr>
          <a:xfrm>
            <a:off x="405408" y="1711821"/>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Nghìn đồng</a:t>
            </a:r>
            <a:endParaRPr lang="vi-VN" sz="63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405408" y="1827312"/>
          <a:ext cx="2159943" cy="914400"/>
        </p:xfrm>
        <a:graphic>
          <a:graphicData uri="http://schemas.openxmlformats.org/drawingml/2006/table">
            <a:tbl>
              <a:tblPr/>
              <a:tblGrid>
                <a:gridCol w="734467"/>
                <a:gridCol w="475059"/>
                <a:gridCol w="475059"/>
                <a:gridCol w="475357"/>
              </a:tblGrid>
              <a:tr h="131564">
                <a:tc>
                  <a:txBody>
                    <a:bodyPr/>
                    <a:lstStyle/>
                    <a:p>
                      <a:pPr algn="l" indent="0" marL="0">
                        <a:lnSpc>
                          <a:spcPts val="760"/>
                        </a:lnSpc>
                        <a:buNone/>
                      </a:pPr>
                      <a:r>
                        <a:rPr lang="vi-VN" sz="640" b="1" dirty="0">
                          <a:solidFill>
                            <a:srgbClr val="FFFFFF"/>
                          </a:solidFill>
                          <a:latin typeface="Calibri" pitchFamily="34" charset="0"/>
                          <a:ea typeface="Calibri" pitchFamily="34" charset="-122"/>
                          <a:cs typeface="Calibri" pitchFamily="34" charset="-120"/>
                        </a:rPr>
                        <a:t>Chỉ tiêu</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2023</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2024</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2025</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7695">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CAPEX</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(5.009.000)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(6.305.600)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(5.084.520)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CAPEX/Doanh thu (%)</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25,8%</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20,4%</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10,7%</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CAPEX/Khấu hao (lần)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2,65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1,62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9" name="Text 15"/>
          <p:cNvSpPr txBox="1"/>
          <p:nvPr/>
        </p:nvSpPr>
        <p:spPr>
          <a:xfrm>
            <a:off x="405408" y="2565797"/>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tính toán của nhóm</a:t>
            </a:r>
            <a:endParaRPr lang="vi-VN" sz="600" dirty="0"/>
          </a:p>
        </p:txBody>
      </p:sp>
      <p:sp>
        <p:nvSpPr>
          <p:cNvPr id="20" name="Text 16"/>
          <p:cNvSpPr txBox="1"/>
          <p:nvPr/>
        </p:nvSpPr>
        <p:spPr>
          <a:xfrm>
            <a:off x="405408" y="2771051"/>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19:</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D/E giảm từ 7,8% xuống 6,5%</a:t>
            </a:r>
            <a:endParaRPr lang="vi-VN" sz="720" dirty="0"/>
          </a:p>
        </p:txBody>
      </p:sp>
      <p:sp>
        <p:nvSpPr>
          <p:cNvPr id="21" name="Text 17"/>
          <p:cNvSpPr txBox="1"/>
          <p:nvPr/>
        </p:nvSpPr>
        <p:spPr>
          <a:xfrm>
            <a:off x="405408" y="2898577"/>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Nghìn đồng</a:t>
            </a:r>
            <a:endParaRPr lang="vi-VN" sz="630" dirty="0"/>
          </a:p>
        </p:txBody>
      </p:sp>
      <p:graphicFrame>
        <p:nvGraphicFramePr>
          <p:cNvPr id="16" name="Table 2"/>
          <p:cNvGraphicFramePr>
            <a:graphicFrameLocks noGrp="1"/>
          </p:cNvGraphicFramePr>
          <p:nvPr>
            <p:extLst>
              <p:ext uri="{D42A27DB-BD31-4B8C-83A1-F6EECF244321}">
                <p14:modId xmlns:p14="http://schemas.microsoft.com/office/powerpoint/2010/main" val="1579011935"/>
              </p:ext>
            </p:extLst>
          </p:nvPr>
        </p:nvGraphicFramePr>
        <p:xfrm>
          <a:off x="405408" y="3014067"/>
          <a:ext cx="2159943" cy="914400"/>
        </p:xfrm>
        <a:graphic>
          <a:graphicData uri="http://schemas.openxmlformats.org/drawingml/2006/table">
            <a:tbl>
              <a:tblPr/>
              <a:tblGrid>
                <a:gridCol w="734467"/>
                <a:gridCol w="475059"/>
                <a:gridCol w="475059"/>
                <a:gridCol w="475357"/>
              </a:tblGrid>
              <a:tr h="131564">
                <a:tc>
                  <a:txBody>
                    <a:bodyPr/>
                    <a:lstStyle/>
                    <a:p>
                      <a:pPr algn="l" indent="0" marL="0">
                        <a:lnSpc>
                          <a:spcPts val="760"/>
                        </a:lnSpc>
                        <a:buNone/>
                      </a:pPr>
                      <a:r>
                        <a:rPr lang="vi-VN" sz="640" b="1" dirty="0">
                          <a:solidFill>
                            <a:srgbClr val="FFFFFF"/>
                          </a:solidFill>
                          <a:latin typeface="Calibri" pitchFamily="34" charset="0"/>
                          <a:ea typeface="Calibri" pitchFamily="34" charset="-122"/>
                          <a:cs typeface="Calibri" pitchFamily="34" charset="-120"/>
                        </a:rPr>
                        <a:t>Chỉ tiêu</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2023</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2024</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2025</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7695">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Tổng tài sản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20.547.789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27.423.353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31.917.540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Tổng nợ phải trả</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1.492.800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1.871.640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1.945.332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Vốn chủ sở hữu</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19.054.989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25.551.713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29.972.208</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Tỷ lệ Nợ/Vốn CSH (D/E)</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7,8%</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7,3%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6,5%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23" name="Text 18"/>
          <p:cNvSpPr txBox="1"/>
          <p:nvPr/>
        </p:nvSpPr>
        <p:spPr>
          <a:xfrm>
            <a:off x="405408" y="3789164"/>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tính toán của nhóm</a:t>
            </a:r>
            <a:endParaRPr lang="vi-VN" sz="600" dirty="0"/>
          </a:p>
        </p:txBody>
      </p:sp>
      <p:sp>
        <p:nvSpPr>
          <p:cNvPr id="24" name="Text 19"/>
          <p:cNvSpPr txBox="1"/>
          <p:nvPr/>
        </p:nvSpPr>
        <p:spPr>
          <a:xfrm>
            <a:off x="405408" y="3994418"/>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20:</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FCF chuyển dương lần đầu năm 2025</a:t>
            </a:r>
            <a:endParaRPr lang="vi-VN" sz="720" dirty="0"/>
          </a:p>
        </p:txBody>
      </p:sp>
      <p:sp>
        <p:nvSpPr>
          <p:cNvPr id="25" name="Text 20"/>
          <p:cNvSpPr txBox="1"/>
          <p:nvPr/>
        </p:nvSpPr>
        <p:spPr>
          <a:xfrm>
            <a:off x="405408" y="412194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Nghìn đồng</a:t>
            </a:r>
            <a:endParaRPr lang="vi-VN" sz="630" dirty="0"/>
          </a:p>
        </p:txBody>
      </p:sp>
      <p:graphicFrame>
        <p:nvGraphicFramePr>
          <p:cNvPr id="21" name="Table 3"/>
          <p:cNvGraphicFramePr>
            <a:graphicFrameLocks noGrp="1"/>
          </p:cNvGraphicFramePr>
          <p:nvPr>
            <p:extLst>
              <p:ext uri="{D42A27DB-BD31-4B8C-83A1-F6EECF244321}">
                <p14:modId xmlns:p14="http://schemas.microsoft.com/office/powerpoint/2010/main" val="1579011935"/>
              </p:ext>
            </p:extLst>
          </p:nvPr>
        </p:nvGraphicFramePr>
        <p:xfrm>
          <a:off x="405408" y="4237434"/>
          <a:ext cx="2159943" cy="914400"/>
        </p:xfrm>
        <a:graphic>
          <a:graphicData uri="http://schemas.openxmlformats.org/drawingml/2006/table">
            <a:tbl>
              <a:tblPr/>
              <a:tblGrid>
                <a:gridCol w="734467"/>
                <a:gridCol w="475059"/>
                <a:gridCol w="475059"/>
                <a:gridCol w="475357"/>
              </a:tblGrid>
              <a:tr h="131564">
                <a:tc>
                  <a:txBody>
                    <a:bodyPr/>
                    <a:lstStyle/>
                    <a:p>
                      <a:pPr algn="l" indent="0" marL="0">
                        <a:lnSpc>
                          <a:spcPts val="760"/>
                        </a:lnSpc>
                        <a:buNone/>
                      </a:pPr>
                      <a:r>
                        <a:rPr lang="vi-VN" sz="640" b="1" dirty="0">
                          <a:solidFill>
                            <a:srgbClr val="FFFFFF"/>
                          </a:solidFill>
                          <a:latin typeface="Calibri" pitchFamily="34" charset="0"/>
                          <a:ea typeface="Calibri" pitchFamily="34" charset="-122"/>
                          <a:cs typeface="Calibri" pitchFamily="34" charset="-120"/>
                        </a:rPr>
                        <a:t>Chỉ tiêu</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2023</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2024</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2025</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3540">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Lưu chuyển tiền thuần từ HĐKD</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(3.957.011)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697.144</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6.282.469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457">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CAPEX</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(5.009.000)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(6.305.600)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(5.084.520)</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Dòng tiền tự do (FCF = OCF − CAPEX)</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(8.966.011)</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(5.608.456)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1.197.949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Số dư tiền mặt cuối kỳ</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43.989</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1.735.533</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2.933.482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27" name="Text 21"/>
          <p:cNvSpPr txBox="1"/>
          <p:nvPr/>
        </p:nvSpPr>
        <p:spPr>
          <a:xfrm>
            <a:off x="405408" y="5204222"/>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a:t>
            </a:r>
            <a:endParaRPr lang="vi-VN" sz="600" dirty="0"/>
          </a:p>
        </p:txBody>
      </p:sp>
      <p:sp>
        <p:nvSpPr>
          <p:cNvPr id="28" name="Text 22"/>
          <p:cNvSpPr txBox="1"/>
          <p:nvPr/>
        </p:nvSpPr>
        <p:spPr>
          <a:xfrm>
            <a:off x="405408" y="5409476"/>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Thanh khoản cao do gần như không có nợ ngắn hạn</a:t>
            </a:r>
            <a:endParaRPr lang="vi-VN" sz="720" dirty="0"/>
          </a:p>
        </p:txBody>
      </p:sp>
      <p:sp>
        <p:nvSpPr>
          <p:cNvPr id="29" name="Text 23"/>
          <p:cNvSpPr txBox="1"/>
          <p:nvPr/>
        </p:nvSpPr>
        <p:spPr>
          <a:xfrm>
            <a:off x="405408" y="5646539"/>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Lần</a:t>
            </a:r>
            <a:endParaRPr lang="vi-VN" sz="630" dirty="0"/>
          </a:p>
        </p:txBody>
      </p:sp>
      <p:graphicFrame>
        <p:nvGraphicFramePr>
          <p:cNvPr id="26" name="Table 4"/>
          <p:cNvGraphicFramePr>
            <a:graphicFrameLocks noGrp="1"/>
          </p:cNvGraphicFramePr>
          <p:nvPr>
            <p:extLst>
              <p:ext uri="{D42A27DB-BD31-4B8C-83A1-F6EECF244321}">
                <p14:modId xmlns:p14="http://schemas.microsoft.com/office/powerpoint/2010/main" val="1579011935"/>
              </p:ext>
            </p:extLst>
          </p:nvPr>
        </p:nvGraphicFramePr>
        <p:xfrm>
          <a:off x="405408" y="5762030"/>
          <a:ext cx="2159943" cy="914400"/>
        </p:xfrm>
        <a:graphic>
          <a:graphicData uri="http://schemas.openxmlformats.org/drawingml/2006/table">
            <a:tbl>
              <a:tblPr/>
              <a:tblGrid>
                <a:gridCol w="734467"/>
                <a:gridCol w="475059"/>
                <a:gridCol w="475059"/>
                <a:gridCol w="475357"/>
              </a:tblGrid>
              <a:tr h="131564">
                <a:tc>
                  <a:txBody>
                    <a:bodyPr/>
                    <a:lstStyle/>
                    <a:p>
                      <a:pPr algn="l" indent="0" marL="0">
                        <a:lnSpc>
                          <a:spcPts val="760"/>
                        </a:lnSpc>
                        <a:buNone/>
                      </a:pPr>
                      <a:r>
                        <a:rPr lang="vi-VN" sz="640" b="1" dirty="0">
                          <a:solidFill>
                            <a:srgbClr val="FFFFFF"/>
                          </a:solidFill>
                          <a:latin typeface="Calibri" pitchFamily="34" charset="0"/>
                          <a:ea typeface="Calibri" pitchFamily="34" charset="-122"/>
                          <a:cs typeface="Calibri" pitchFamily="34" charset="-120"/>
                        </a:rPr>
                        <a:t>Chỉ tiêu</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2023</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2024</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60"/>
                        </a:lnSpc>
                        <a:buNone/>
                      </a:pPr>
                      <a:r>
                        <a:rPr lang="vi-VN" sz="640" b="1" dirty="0">
                          <a:solidFill>
                            <a:srgbClr val="FFFFFF"/>
                          </a:solidFill>
                          <a:latin typeface="Calibri" pitchFamily="34" charset="0"/>
                          <a:ea typeface="Calibri" pitchFamily="34" charset="-122"/>
                          <a:cs typeface="Calibri" pitchFamily="34" charset="-120"/>
                        </a:rPr>
                        <a:t>2025</a:t>
                      </a:r>
                      <a:endParaRPr lang="vi-VN" sz="64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3540">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Hệ số thanh toán hiện hành (lần)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17,2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21,5</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23,6</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302">
                <a:tc>
                  <a:txBody>
                    <a:bodyPr/>
                    <a:lstStyle/>
                    <a:p>
                      <a:pPr algn="l" indent="0" marL="0">
                        <a:lnSpc>
                          <a:spcPts val="760"/>
                        </a:lnSpc>
                        <a:buNone/>
                      </a:pPr>
                      <a:r>
                        <a:rPr lang="vi-VN" sz="640" dirty="0">
                          <a:solidFill>
                            <a:srgbClr val="1F1F1F"/>
                          </a:solidFill>
                          <a:latin typeface="Calibri" pitchFamily="34" charset="0"/>
                          <a:ea typeface="Calibri" pitchFamily="34" charset="-122"/>
                          <a:cs typeface="Calibri" pitchFamily="34" charset="-120"/>
                        </a:rPr>
                        <a:t>Hệ số thanh toán nhanh (lần)</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8,7</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13,4</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40" dirty="0">
                          <a:solidFill>
                            <a:srgbClr val="1F1F1F"/>
                          </a:solidFill>
                          <a:latin typeface="Calibri" pitchFamily="34" charset="0"/>
                          <a:ea typeface="Calibri" pitchFamily="34" charset="-122"/>
                          <a:cs typeface="Calibri" pitchFamily="34" charset="-120"/>
                        </a:rPr>
                        <a:t>15,2</a:t>
                      </a:r>
                      <a:endParaRPr lang="vi-VN" sz="64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31" name="Text 24"/>
          <p:cNvSpPr txBox="1"/>
          <p:nvPr/>
        </p:nvSpPr>
        <p:spPr>
          <a:xfrm>
            <a:off x="405408" y="6368058"/>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tính toán của nhóm</a:t>
            </a:r>
            <a:endParaRPr lang="vi-VN" sz="600" dirty="0"/>
          </a:p>
        </p:txBody>
      </p:sp>
      <p:sp>
        <p:nvSpPr>
          <p:cNvPr id="32" name="Text 25"/>
          <p:cNvSpPr txBox="1"/>
          <p:nvPr/>
        </p:nvSpPr>
        <p:spPr>
          <a:xfrm>
            <a:off x="2745284" y="572393"/>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2.3. Cấu trúc tài sản, vốn và cường độ đầu tư</a:t>
            </a:r>
            <a:endParaRPr lang="vi-VN" sz="900" dirty="0"/>
          </a:p>
        </p:txBody>
      </p:sp>
      <p:sp>
        <p:nvSpPr>
          <p:cNvPr id="33" name="Text 26"/>
          <p:cNvSpPr txBox="1"/>
          <p:nvPr/>
        </p:nvSpPr>
        <p:spPr>
          <a:xfrm>
            <a:off x="2745284" y="741759"/>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Tổng tài sản dài hạn ròng tăng từ 15,5 tỷ đồng (2023) lên 21,4 tỷ đồng (2025), luôn chiếm 67-76% tổng tài sản. Khoản đầu tư này không phải chi phí R&amp;D vô hình mà là tài sản vật chất cụ thể: nhà máy sản xuất, thiết bị sản xuất (ép khuôn), xe tải chở hàng, và kho hàng. Việc đã sở hữu nhà máy, dây chuyền ép khuôn và kho vận hành ổn định qua 3 năm liên tiếp là bằng chứng cho thấy AgriPack không còn ở giai đoạn thử nghiệm thường phụ thuộc đáng kể vào đối tác bên ngoài (Wagner và Zanger, 2023) mà đã vận hành ở quy mô bán công nghiệp/công nghiệp (Fig. 17).</a:t>
            </a:r>
            <a:endParaRPr lang="vi-VN" sz="850" dirty="0"/>
          </a:p>
        </p:txBody>
      </p:sp>
      <p:sp>
        <p:nvSpPr>
          <p:cNvPr id="34" name="Text 27"/>
          <p:cNvSpPr txBox="1"/>
          <p:nvPr/>
        </p:nvSpPr>
        <p:spPr>
          <a:xfrm>
            <a:off x="2745284" y="1568797"/>
            <a:ext cx="4464046" cy="1447205"/>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Tỷ lệ CAPEX/Doanh thu giảm liên tục: 25,8% (2023) → 20,4% (2024) → 10,7% (2025). Với ngành sản xuất bao bì công nghiệp nói chung và bao bì bền vững nói riêng, mức CAPEX/Doanh thu trên 20% trong năm 2023 và 2024 cho thấy AgriPack đang duy trì cường độ tái đầu tư cao để hình thành và mở rộng năng lực sản xuất; đây là đặc điểm phù hợp với giai đoạn tăng trưởng, khi doanh nghiệp phải đầu tư trước để tạo dư địa cho tăng trưởng doanh thu trong các kỳ tiếp theo (Damodaran, 2026). Việc tỷ lệ này giảm hơn một nửa vào năm 2025 (còn 10,7%) trong khi doanh thu vẫn tăng hơn 53% cho thấy công suất đã lắp đặt bắt đầu được khai thác hiệu quả hơn cùng với việc vòng quay tài sản cũng tăng từ 1,04 đến 1,6 lần cho thấy dấu hiệu chuyển tiếp từ giai đoạn xây dựng hạ tầng sang giai đoạn vận hành có lãi trên hạ tầng đã có. Bên cạnh đó, chỉ số CAPEX/khấu hao giảm từ 3,50 lần xuống 1,62 lần vẫn lớn hơn 1, cho thấy doanh nghiệp vẫn đang đầu tư mở rộng chứ chưa chuyển sang giai đoạn chỉ duy trì tài sản (Fig. 18).</a:t>
            </a:r>
            <a:endParaRPr lang="vi-VN" sz="850" dirty="0"/>
          </a:p>
        </p:txBody>
      </p:sp>
      <p:sp>
        <p:nvSpPr>
          <p:cNvPr id="35" name="Text 28"/>
          <p:cNvSpPr txBox="1"/>
          <p:nvPr/>
        </p:nvSpPr>
        <p:spPr>
          <a:xfrm>
            <a:off x="2745284" y="3053655"/>
            <a:ext cx="4464046" cy="1052513"/>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Tỷ lệ Nợ phải trả/Vốn chủ sở hữu duy trì cực thấp và còn giảm dần: 7,8% (2023) → 7,3% (2024) → 6,5% (2025). Nợ vay dài hạn gần như không đổi (1,2-1,5 tỷ đồng) trong khi vốn chủ sở hữu tăng từ 19,1 tỷ lên gần 30,0 tỷ đồng. Đối chiếu với dòng tiền tài chính: công ty nhận 8,1 tỷ đồng vốn góp năm 2023 và 7 tỷ đồng năm 2024 đều là vốn cổ phần tăng thêm. Điểm đáng chú ý nhất: năm 2025, dòng tiền tài chính bằng 0, công ty không cần huy động thêm vốn góp mà toàn bộ mức tăng vốn chủ sở hữu (4,42 tỷ đồng) đến từ lợi nhuận giữ lại. Điều này cho thấy AgriPack có cấu trúc tài chính an toàn, mức độ phụ thuộc vào nợ thấp và đang dần chuyển từ tăng vốn bên ngoài sang tích lũy vốn nội bộ từ lợi nhuận giữ lại, phản ánh khả năng tự tài trợ ngày càng tốt (Fig. 19).</a:t>
            </a:r>
            <a:endParaRPr lang="vi-VN" sz="850" dirty="0"/>
          </a:p>
        </p:txBody>
      </p:sp>
      <p:sp>
        <p:nvSpPr>
          <p:cNvPr id="36" name="Text 29"/>
          <p:cNvSpPr txBox="1"/>
          <p:nvPr/>
        </p:nvSpPr>
        <p:spPr>
          <a:xfrm>
            <a:off x="2745284" y="4143821"/>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2.4. Dòng tiền</a:t>
            </a:r>
            <a:endParaRPr lang="vi-VN" sz="900" dirty="0"/>
          </a:p>
        </p:txBody>
      </p:sp>
      <p:sp>
        <p:nvSpPr>
          <p:cNvPr id="37" name="Text 30"/>
          <p:cNvSpPr txBox="1"/>
          <p:nvPr/>
        </p:nvSpPr>
        <p:spPr>
          <a:xfrm>
            <a:off x="2745284" y="4313188"/>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Năm 2023: CFO âm 3,96 tỷ đồng, CFI âm 5,01 tỷ đồng (đầu tư nhà máy), được tài trợ bằng 8,1 tỷ đồng vốn mới; tiền cuối năm chỉ còn 44 triệu đồng, tức doanh nghiệp gần cạn tiền và phụ thuộc hoàn toàn vào vốn bên ngoài. Đây là giai đoạn “đốt tiền để xây nền tảng”. Năm 2024, CFO chuyển dương nhẹ (0,70 tỷ đồng) nhưng vẫn phải huy động 7,3 tỷ đồng để mở rộng. Năm 2025, CFO đạt 6,28 tỷ đồng, đủ trang trải CAPEX 5,08 tỷ đồng mà không cần vốn mới; FCF dương 1,20 tỷ đồng lần đầu tiên (Fig. 20).</a:t>
            </a:r>
            <a:endParaRPr lang="vi-VN" sz="850" dirty="0"/>
          </a:p>
        </p:txBody>
      </p:sp>
      <p:sp>
        <p:nvSpPr>
          <p:cNvPr id="38" name="Text 31"/>
          <p:cNvSpPr txBox="1"/>
          <p:nvPr/>
        </p:nvSpPr>
        <p:spPr>
          <a:xfrm>
            <a:off x="2745284" y="5140226"/>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Việc dòng tiền tự do chuyển từ âm liên tục hai năm (-8,97 tỷ và -5,61 tỷ đồng) sang dương (+1,20 tỷ đồng) là tín hiệu định lượng thường được giới đầu tư và ngân hàng dùng làm ranh giới thực tế giữa giai đoạn “cần vốn bên ngoài để tồn tại và mở rộng” và giai đoạn “tự chủ dòng tiền, có thể chọn giữa tái đầu tư hoặc chia lợi nhuận”.</a:t>
            </a:r>
            <a:endParaRPr lang="vi-VN" sz="850" dirty="0"/>
          </a:p>
        </p:txBody>
      </p:sp>
      <p:sp>
        <p:nvSpPr>
          <p:cNvPr id="39" name="Text 32"/>
          <p:cNvSpPr txBox="1"/>
          <p:nvPr/>
        </p:nvSpPr>
        <p:spPr>
          <a:xfrm>
            <a:off x="2745284" y="5704136"/>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2.5. Thanh khoản và vốn lưu động</a:t>
            </a:r>
            <a:endParaRPr lang="vi-VN" sz="900" dirty="0"/>
          </a:p>
        </p:txBody>
      </p:sp>
      <p:sp>
        <p:nvSpPr>
          <p:cNvPr id="40" name="Text 33"/>
          <p:cNvSpPr txBox="1"/>
          <p:nvPr/>
        </p:nvSpPr>
        <p:spPr>
          <a:xfrm>
            <a:off x="2745284" y="5873502"/>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Hệ số thanh toán hiện hành tăng từ 17,2 lần (2023) lên 23,6 lần (2025), hệ số thanh toán nhanh từ 8,7 lên 15,2 lần - vượt xa ngưỡng an toàn thông thường (1,5-2,0 lần đối với doanh nghiệp sản xuất theo Profectus (2025). Mức thanh khoản cực cao này không phản ánh một doanh nghiệp hiệu quả về vận hành, mà là hệ quả trực tiếp của cấu trúc vốn gần như không có nợ ngắn hạn (chỉ 292-445 triệu đồng nợ ngắn hạn mỗi năm tương đương từ 17,9-22,9% nợ phải trả), chủ yếu là phải trả người bán và vay ngắn hạn nhỏ) trong khi tài sản ngắn hạn (chủ yếu là hàng tồn kho, tiền mặt,...) lớn gấp nhiều lần (Fig. 21).</a:t>
            </a:r>
            <a:endParaRPr lang="vi-VN" sz="850" dirty="0"/>
          </a:p>
        </p:txBody>
      </p:sp>
      <p:sp>
        <p:nvSpPr>
          <p:cNvPr id="41" name="Text 34"/>
          <p:cNvSpPr txBox="1"/>
          <p:nvPr/>
        </p:nvSpPr>
        <p:spPr>
          <a:xfrm>
            <a:off x="2745284" y="6832104"/>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2.6. Kết luận: xác định giai đoạn phát triển</a:t>
            </a:r>
            <a:endParaRPr lang="vi-VN" sz="900" dirty="0"/>
          </a:p>
        </p:txBody>
      </p:sp>
      <p:sp>
        <p:nvSpPr>
          <p:cNvPr id="42" name="Text 35"/>
          <p:cNvSpPr txBox="1"/>
          <p:nvPr/>
        </p:nvSpPr>
        <p:spPr>
          <a:xfrm>
            <a:off x="2745284" y="7001470"/>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Nhóm sử dụng thang bốn giai đoạn: thử nghiệm, đầu tăng trưởng, cuối tăng trưởng và trưởng thành. Tuổi đời doanh nghiệp không phải tiêu chí phân loại; giai đoạn được xác định theo quy mô, tăng trưởng, khả năng sinh lời, dòng tiền và nhu cầu vốn (Fig. 22).</a:t>
            </a:r>
            <a:endParaRPr lang="vi-VN" sz="850" dirty="0"/>
          </a:p>
        </p:txBody>
      </p:sp>
      <p:sp>
        <p:nvSpPr>
          <p:cNvPr id="43" name="Text 36"/>
          <p:cNvSpPr txBox="1"/>
          <p:nvPr/>
        </p:nvSpPr>
        <p:spPr>
          <a:xfrm>
            <a:off x="405408" y="750810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Bảng xác định giai đoạn phát triển của AgriPack</a:t>
            </a:r>
            <a:endParaRPr lang="vi-VN" sz="720" dirty="0"/>
          </a:p>
        </p:txBody>
      </p:sp>
      <p:graphicFrame>
        <p:nvGraphicFramePr>
          <p:cNvPr id="31" name="Table 5"/>
          <p:cNvGraphicFramePr>
            <a:graphicFrameLocks noGrp="1"/>
          </p:cNvGraphicFramePr>
          <p:nvPr>
            <p:extLst>
              <p:ext uri="{D42A27DB-BD31-4B8C-83A1-F6EECF244321}">
                <p14:modId xmlns:p14="http://schemas.microsoft.com/office/powerpoint/2010/main" val="1579011935"/>
              </p:ext>
            </p:extLst>
          </p:nvPr>
        </p:nvGraphicFramePr>
        <p:xfrm>
          <a:off x="405408" y="7649914"/>
          <a:ext cx="6749058" cy="914400"/>
        </p:xfrm>
        <a:graphic>
          <a:graphicData uri="http://schemas.openxmlformats.org/drawingml/2006/table">
            <a:tbl>
              <a:tblPr/>
              <a:tblGrid>
                <a:gridCol w="1012329"/>
                <a:gridCol w="2834580"/>
                <a:gridCol w="2902148"/>
              </a:tblGrid>
              <a:tr h="137815">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Tiêu chí</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Diễn giải từ BCTC 2023-2025</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Hàm ý về giai đoạn</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r>
              <a:tr h="236041">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Quy mô tương đối so với ngành</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thu 2025 khoảng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47,5 tỷ đồng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trong khi An Phát khoảng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10.746 tỷ đồng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và Đông Hải Bến Tre khoảng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3.633 tỷ đồng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vẫn đang ở quy mô nhỏ, còn nhiều dư địa mở rộng thị trường và công suất.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Tăng trưởng doanh thu</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thu tăng từ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19,4 tỷ đồng (2023) → 30,9 tỷ (2024) → 47,5 tỷ (2025)</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tương ứng tăng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59,1% và 53,7%</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CAGR khoảng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56,4%/năm</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Tốc độ tăng trưởng cao và duy trì, đang trong quá trình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mở rộng thị trường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nhưng quy mô vẫn còn nhỏ so với các doanh nghiệp lớn cùng ngành, phù hợp với giai đoạn tăng trưởng.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Mức độ sinh lời</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Biên gộp tăng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37,3% (2023) → 46,9% (2024) → 51% (2025)</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LNST chuyển sang dương lần đầu năm 2025, đạt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4,42 tỷ đồng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biên ròng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9,3%</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Mô hình kinh doanh bắt đầu tạo lợi nhuận, nhưng lợi nhuận dương mới xuất hiện 1 năm, là dấu hiệu điển hình của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đầu giai đoạn tăng trưởng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Hiệu quả sử dụng tài sản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Vòng quay tổng tài sản tăng từ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1,04 lần → 1,29 lần → 1,60 lần</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Tài sản sản xuất đã bắt đầu được khai thác hiệu quả hơn khi doanh thu tăng nhanh, phản ánh quá trình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lấp đầy công suất</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Năng lực sản xuất và tài sản dài hạn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Tài sản dài hạn ròng tăng từ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15,5 tỷ → 21,4 tỷ đồng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chiếm khoảng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67-76% tổng tài sản</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Doanh nghiệp đã sở hữu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nhà máy, dây chuyền ép khuôn, xe tải và kho hàng</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vận hành ổn định qua 3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đã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vận hành và mở rộng trên nền năng lực sản xuất đã hình thành</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không còn phụ thuộc chủ yếu vào đối tác ngoài như giai đoạn thử nghiệm.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Cường độ CAPEX</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CAPEX/Doanh thu giảm từ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25,8% → 20,4% → 10,7%</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CAPEX/khấu hao giảm từ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3,50x → 2,65x → 1,62x</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nhưng vẫn &gt;1.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đang mở rộng và khai thác tài sản thay vì duy trì tài sản hiện hữu như giai đoạn trưởng thành</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phù hợp với đầu tăng trưởng.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45" name="Text 37"/>
          <p:cNvSpPr txBox="1"/>
          <p:nvPr/>
        </p:nvSpPr>
        <p:spPr>
          <a:xfrm>
            <a:off x="405408" y="9454604"/>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phân tích của nhóm</a:t>
            </a:r>
            <a:endParaRPr lang="vi-VN" sz="600" dirty="0"/>
          </a:p>
        </p:txBody>
      </p:sp>
      <p:sp>
        <p:nvSpPr>
          <p:cNvPr id="46" name="Text 38"/>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7" name="Text 39"/>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5</a:t>
            </a:r>
            <a:endParaRPr lang="vi-VN" sz="6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3462635"/>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405408" y="558105"/>
            <a:ext cx="6749058" cy="0"/>
          </a:xfrm>
          <a:prstGeom prst="line">
            <a:avLst/>
          </a:prstGeom>
          <a:noFill/>
          <a:ln w="9525">
            <a:solidFill>
              <a:srgbClr val="7B1E2B"/>
            </a:solidFill>
            <a:prstDash val="solid"/>
          </a:ln>
        </p:spPr>
      </p:sp>
      <p:sp>
        <p:nvSpPr>
          <p:cNvPr id="5" name="Shape 3"/>
          <p:cNvSpPr/>
          <p:nvPr/>
        </p:nvSpPr>
        <p:spPr>
          <a:xfrm>
            <a:off x="405408" y="2180779"/>
            <a:ext cx="2159943" cy="0"/>
          </a:xfrm>
          <a:prstGeom prst="line">
            <a:avLst/>
          </a:prstGeom>
          <a:noFill/>
          <a:ln w="9525">
            <a:solidFill>
              <a:srgbClr val="7B1E2B"/>
            </a:solidFill>
            <a:prstDash val="solid"/>
          </a:ln>
        </p:spPr>
      </p:sp>
      <p:sp>
        <p:nvSpPr>
          <p:cNvPr id="6" name="Shape 4"/>
          <p:cNvSpPr/>
          <p:nvPr/>
        </p:nvSpPr>
        <p:spPr>
          <a:xfrm>
            <a:off x="405408" y="3735437"/>
            <a:ext cx="2159943" cy="0"/>
          </a:xfrm>
          <a:prstGeom prst="line">
            <a:avLst/>
          </a:prstGeom>
          <a:noFill/>
          <a:ln w="9525">
            <a:solidFill>
              <a:srgbClr val="7B1E2B"/>
            </a:solidFill>
            <a:prstDash val="solid"/>
          </a:ln>
        </p:spPr>
      </p:sp>
      <p:sp>
        <p:nvSpPr>
          <p:cNvPr id="7" name="Shape 5"/>
          <p:cNvSpPr/>
          <p:nvPr/>
        </p:nvSpPr>
        <p:spPr>
          <a:xfrm>
            <a:off x="405408" y="5305723"/>
            <a:ext cx="2159943" cy="0"/>
          </a:xfrm>
          <a:prstGeom prst="line">
            <a:avLst/>
          </a:prstGeom>
          <a:noFill/>
          <a:ln w="9525">
            <a:solidFill>
              <a:srgbClr val="7B1E2B"/>
            </a:solidFill>
            <a:prstDash val="solid"/>
          </a:ln>
        </p:spPr>
      </p:sp>
      <p:sp>
        <p:nvSpPr>
          <p:cNvPr id="8" name="Shape 6"/>
          <p:cNvSpPr/>
          <p:nvPr/>
        </p:nvSpPr>
        <p:spPr>
          <a:xfrm>
            <a:off x="405408" y="10364688"/>
            <a:ext cx="6749058" cy="0"/>
          </a:xfrm>
          <a:prstGeom prst="line">
            <a:avLst/>
          </a:prstGeom>
          <a:noFill/>
          <a:ln w="9525">
            <a:solidFill>
              <a:srgbClr val="BFBFBF"/>
            </a:solidFill>
            <a:prstDash val="solid"/>
          </a:ln>
        </p:spPr>
      </p:sp>
      <p:sp>
        <p:nvSpPr>
          <p:cNvPr id="9" name="Text 7"/>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10" name="Text 8"/>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1" name="Text 9"/>
          <p:cNvSpPr txBox="1"/>
          <p:nvPr/>
        </p:nvSpPr>
        <p:spPr>
          <a:xfrm>
            <a:off x="405408" y="58923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22 (tiếp):</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Bảng xác định giai đoạn phát triển của AgriPack</a:t>
            </a:r>
            <a:endParaRPr lang="vi-VN" sz="72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05408" y="731044"/>
          <a:ext cx="6749058" cy="914400"/>
        </p:xfrm>
        <a:graphic>
          <a:graphicData uri="http://schemas.openxmlformats.org/drawingml/2006/table">
            <a:tbl>
              <a:tblPr/>
              <a:tblGrid>
                <a:gridCol w="1012329"/>
                <a:gridCol w="2834580"/>
                <a:gridCol w="2902148"/>
              </a:tblGrid>
              <a:tr h="137815">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Tiêu chí</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Diễn giải từ BCTC 2023-2025</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Hàm ý về giai đoạn</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r>
              <a:tr h="440234">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Khả năng tự tài trợ</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D/E giảm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7,8% → 7,3% → 6,5%</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Huy động 15,1 tỷ năm 2023, 2024, riêng năm 2025 dòng tiền tài chính bằng 0 và vốn chủ sở hữu tăng chủ yếu nhờ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4,42 tỷ đồng lợi nhuận giữ lại</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bắt đầu chuyển từ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phụ thuộc vốn bên ngoài</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sang tích lũy vốn nội bộ, cho thấy bước tiến rõ rệt trong chu kỳ tăng trưởng, quá trình chuyển đổi này mới thể hiện rõ ở năm 2025, chưa đủ thời gian chứng minh doanh nghiệp đã hoàn toàn tự chủ vốn.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Dòng tiền từ HĐKD và FCF</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CFO: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-3,96 tỷ (2023) → 0,70 tỷ (2024) → 6,28 tỷ (2025)</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FCF: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-8,97 tỷ → -5,61 tỷ → +1,20 tỷ</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Năm 2025 CFO đã đủ trang trải CAPEX mà không cần huy động vốn mới.</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Đây là dấu hiệu rất quan trọng của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điểm chuyển sang tăng trưởng thực chất</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doanh nghiệp bắt đầu tạo tiền từ hoạt động và tạo FCF dương.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Thanh khoản và cơ cấu nợ</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Hệ số thanh toán hiện hành tăng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17,2x → 21,5x → 23,6x</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Hệ số thanh toán nhanh </a:t>
                      </a:r>
                      <a:pPr algn="l" indent="0" marL="0">
                        <a:lnSpc>
                          <a:spcPts val="810"/>
                        </a:lnSpc>
                        <a:buNone/>
                      </a:pPr>
                      <a:r>
                        <a:rPr lang="vi-VN" sz="660" b="1" dirty="0">
                          <a:solidFill>
                            <a:srgbClr val="1F1F1F"/>
                          </a:solidFill>
                          <a:latin typeface="Calibri" pitchFamily="34" charset="0"/>
                          <a:ea typeface="Calibri" pitchFamily="34" charset="-122"/>
                          <a:cs typeface="Calibri" pitchFamily="34" charset="-120"/>
                        </a:rPr>
                        <a:t>8,7x → 13,4x → 15,2x</a:t>
                      </a:r>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nợ ngắn hạn rất thấp và D/E chỉ 6,5% năm 2025.</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Cấu trúc tài chính rất an toàn, tạo dư địa cho doanh nghiệp tiếp tục mở rộng mà chưa chịu áp lực đòn bẩy cao. Tuy nhiên: thanh khoản cao chủ yếu xuất phát từ nợ thấp, không phải bằng chứng cho thấy doanh nghiệp đã trưởng thành</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3" name="Text 10"/>
          <p:cNvSpPr txBox="1"/>
          <p:nvPr/>
        </p:nvSpPr>
        <p:spPr>
          <a:xfrm>
            <a:off x="405408" y="2017514"/>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phân tích của nhóm</a:t>
            </a:r>
            <a:endParaRPr lang="vi-VN" sz="600" dirty="0"/>
          </a:p>
        </p:txBody>
      </p:sp>
      <p:sp>
        <p:nvSpPr>
          <p:cNvPr id="14" name="Text 11"/>
          <p:cNvSpPr txBox="1"/>
          <p:nvPr/>
        </p:nvSpPr>
        <p:spPr>
          <a:xfrm>
            <a:off x="405408" y="2211904"/>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Giai đoạn đầu tăng trưởng: tỷ lệ thất bại 35–45%</a:t>
            </a:r>
            <a:endParaRPr lang="vi-VN" sz="720" dirty="0"/>
          </a:p>
        </p:txBody>
      </p:sp>
      <p:graphicFrame>
        <p:nvGraphicFramePr>
          <p:cNvPr id="15" name="Chart 0" descr=""/>
          <p:cNvGraphicFramePr/>
          <p:nvPr/>
        </p:nvGraphicFramePr>
        <p:xfrm>
          <a:off x="405408" y="2353717"/>
          <a:ext cx="2159943" cy="873770"/>
        </p:xfrm>
        <a:graphic xmlns:a="http://schemas.openxmlformats.org/drawingml/2006/main">
          <a:graphicData uri="http://schemas.openxmlformats.org/drawingml/2006/chart">
            <c:chart xmlns:c="http://schemas.openxmlformats.org/drawingml/2006/chart" r:id="rId1"/>
          </a:graphicData>
        </a:graphic>
      </p:graphicFrame>
      <p:sp>
        <p:nvSpPr>
          <p:cNvPr id="16" name="Text 12"/>
          <p:cNvSpPr txBox="1"/>
          <p:nvPr/>
        </p:nvSpPr>
        <p:spPr>
          <a:xfrm>
            <a:off x="405408" y="3245346"/>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Đề bài (Mục III.1); kết luận giai đoạn của nhóm</a:t>
            </a:r>
            <a:endParaRPr lang="vi-VN" sz="600" dirty="0"/>
          </a:p>
        </p:txBody>
      </p:sp>
      <p:sp>
        <p:nvSpPr>
          <p:cNvPr id="17" name="Text 13"/>
          <p:cNvSpPr txBox="1"/>
          <p:nvPr/>
        </p:nvSpPr>
        <p:spPr>
          <a:xfrm>
            <a:off x="2745284" y="2180779"/>
            <a:ext cx="4464046" cy="920948"/>
          </a:xfrm>
          <a:prstGeom prst="rect">
            <a:avLst/>
          </a:prstGeom>
          <a:noFill/>
          <a:ln/>
        </p:spPr>
        <p:txBody>
          <a:bodyPr wrap="square" lIns="0" tIns="0" rIns="0" bIns="0" rtlCol="0" anchor="t"/>
          <a:lstStyle/>
          <a:p>
            <a:pPr algn="just" indent="0" marL="0">
              <a:lnSpc>
                <a:spcPts val="1040"/>
              </a:lnSpc>
              <a:buNone/>
            </a:pPr>
            <a:r>
              <a:rPr lang="vi-VN" sz="850" b="1" dirty="0">
                <a:solidFill>
                  <a:srgbClr val="1F1F1F"/>
                </a:solidFill>
                <a:latin typeface="Calibri" pitchFamily="34" charset="0"/>
                <a:ea typeface="Calibri" pitchFamily="34" charset="-122"/>
                <a:cs typeface="Calibri" pitchFamily="34" charset="-120"/>
              </a:rPr>
              <a:t>Kết luận. </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Dựa trên quy mô doanh thu còn nhỏ so với các doanh nghiệp dẫn đầu ngành, tốc độ tăng trưởng vượt xa thị trường, khả năng sinh lời mới đạt trong một năm với biên an toàn mỏng, và dòng tiền tự do vừa chuyển dương nhưng chưa đủ tài trợ đợt đầu tư mở rộng năm 2028, nhóm xác định AgriPack đang ở giai đoạn </a:t>
            </a:r>
            <a:pPr algn="just" indent="0" marL="0">
              <a:lnSpc>
                <a:spcPts val="1040"/>
              </a:lnSpc>
              <a:buNone/>
            </a:pPr>
            <a:r>
              <a:rPr lang="vi-VN" sz="850" b="1" dirty="0">
                <a:solidFill>
                  <a:srgbClr val="1F1F1F"/>
                </a:solidFill>
                <a:latin typeface="Calibri" pitchFamily="34" charset="0"/>
                <a:ea typeface="Calibri" pitchFamily="34" charset="-122"/>
                <a:cs typeface="Calibri" pitchFamily="34" charset="-120"/>
              </a:rPr>
              <a:t>đầu tăng trưởng</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tương ứng tỷ lệ thất bại 35–45%. Kết luận này là cơ sở cho giả định tăng trưởng giảm dần ở Mục 4, cho mức lợi suất yêu cầu trong phương pháp VC và mức WACC trong DCF ở Mục 5, và cho nhu cầu vốn bên ngoài – đầu vào của VC Method (Mục 5.4) (Fig. 23).</a:t>
            </a:r>
            <a:endParaRPr lang="vi-VN" sz="850" dirty="0"/>
          </a:p>
        </p:txBody>
      </p:sp>
      <p:sp>
        <p:nvSpPr>
          <p:cNvPr id="18" name="Text 14"/>
          <p:cNvSpPr txBox="1"/>
          <p:nvPr/>
        </p:nvSpPr>
        <p:spPr>
          <a:xfrm>
            <a:off x="484608" y="3495035"/>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3. PHÂN TÍCH VĨ MÔ VÀ PHÂN TÍCH NGÀNH</a:t>
            </a:r>
            <a:endParaRPr lang="vi-VN" sz="880" dirty="0"/>
          </a:p>
        </p:txBody>
      </p:sp>
      <p:sp>
        <p:nvSpPr>
          <p:cNvPr id="19" name="Text 15"/>
          <p:cNvSpPr txBox="1"/>
          <p:nvPr/>
        </p:nvSpPr>
        <p:spPr>
          <a:xfrm>
            <a:off x="405408" y="3766562"/>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GDP 6 tháng 2026 tăng 8,18%; công nghiệp và xây dựng tăng 9,81%</a:t>
            </a:r>
            <a:endParaRPr lang="vi-VN" sz="720" dirty="0"/>
          </a:p>
        </p:txBody>
      </p:sp>
      <p:sp>
        <p:nvSpPr>
          <p:cNvPr id="20" name="Text 16"/>
          <p:cNvSpPr txBox="1"/>
          <p:nvPr/>
        </p:nvSpPr>
        <p:spPr>
          <a:xfrm>
            <a:off x="405408" y="4003625"/>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 so với cùng kỳ</a:t>
            </a:r>
            <a:endParaRPr lang="vi-VN" sz="630" dirty="0"/>
          </a:p>
        </p:txBody>
      </p:sp>
      <p:graphicFrame>
        <p:nvGraphicFramePr>
          <p:cNvPr id="21" name="Chart 1" descr=""/>
          <p:cNvGraphicFramePr/>
          <p:nvPr/>
        </p:nvGraphicFramePr>
        <p:xfrm>
          <a:off x="405408" y="4119116"/>
          <a:ext cx="2159943" cy="903238"/>
        </p:xfrm>
        <a:graphic xmlns:a="http://schemas.openxmlformats.org/drawingml/2006/main">
          <a:graphicData uri="http://schemas.openxmlformats.org/drawingml/2006/chart">
            <c:chart xmlns:c="http://schemas.openxmlformats.org/drawingml/2006/chart" r:id="rId2"/>
          </a:graphicData>
        </a:graphic>
      </p:graphicFrame>
      <p:sp>
        <p:nvSpPr>
          <p:cNvPr id="22" name="Text 17"/>
          <p:cNvSpPr txBox="1"/>
          <p:nvPr/>
        </p:nvSpPr>
        <p:spPr>
          <a:xfrm>
            <a:off x="405408" y="5040213"/>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Cục Thống kê (2026), infographic tăng trưởng GDP 6 tháng đầu năm (bài của nhóm, Mục 3.1.1)</a:t>
            </a:r>
            <a:endParaRPr lang="vi-VN" sz="600" dirty="0"/>
          </a:p>
        </p:txBody>
      </p:sp>
      <p:sp>
        <p:nvSpPr>
          <p:cNvPr id="23" name="Text 18"/>
          <p:cNvSpPr txBox="1"/>
          <p:nvPr/>
        </p:nvSpPr>
        <p:spPr>
          <a:xfrm>
            <a:off x="405408" y="5336848"/>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Chi phí năng lượng, vận hành tăng nhanh hơn CPI; giá bán giả định chỉ tăng 2%</a:t>
            </a:r>
            <a:endParaRPr lang="vi-VN" sz="720" dirty="0"/>
          </a:p>
        </p:txBody>
      </p:sp>
      <p:sp>
        <p:nvSpPr>
          <p:cNvPr id="24" name="Text 19"/>
          <p:cNvSpPr txBox="1"/>
          <p:nvPr/>
        </p:nvSpPr>
        <p:spPr>
          <a:xfrm>
            <a:off x="405408" y="5573911"/>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 so với cùng kỳ; giả định giá bán: %/năm</a:t>
            </a:r>
            <a:endParaRPr lang="vi-VN" sz="630" dirty="0"/>
          </a:p>
        </p:txBody>
      </p:sp>
      <p:graphicFrame>
        <p:nvGraphicFramePr>
          <p:cNvPr id="25" name="Chart 2" descr=""/>
          <p:cNvGraphicFramePr/>
          <p:nvPr/>
        </p:nvGraphicFramePr>
        <p:xfrm>
          <a:off x="405408" y="5689402"/>
          <a:ext cx="2159943" cy="569416"/>
        </p:xfrm>
        <a:graphic xmlns:a="http://schemas.openxmlformats.org/drawingml/2006/main">
          <a:graphicData uri="http://schemas.openxmlformats.org/drawingml/2006/chart">
            <c:chart xmlns:c="http://schemas.openxmlformats.org/drawingml/2006/chart" r:id="rId3"/>
          </a:graphicData>
        </a:graphic>
      </p:graphicFrame>
      <p:sp>
        <p:nvSpPr>
          <p:cNvPr id="26" name="Text 20"/>
          <p:cNvSpPr txBox="1"/>
          <p:nvPr/>
        </p:nvSpPr>
        <p:spPr>
          <a:xfrm>
            <a:off x="405408" y="6276677"/>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Cục Thống kê (2026); giả định giá bán hộp F&amp;B 2026E (Mục 4)</a:t>
            </a:r>
            <a:endParaRPr lang="vi-VN" sz="600" dirty="0"/>
          </a:p>
        </p:txBody>
      </p:sp>
      <p:sp>
        <p:nvSpPr>
          <p:cNvPr id="27" name="Text 21"/>
          <p:cNvSpPr txBox="1"/>
          <p:nvPr/>
        </p:nvSpPr>
        <p:spPr>
          <a:xfrm>
            <a:off x="2745284" y="3749725"/>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3.1. Phân tích vĩ mô</a:t>
            </a:r>
            <a:endParaRPr lang="vi-VN" sz="900" dirty="0"/>
          </a:p>
        </p:txBody>
      </p:sp>
      <p:sp>
        <p:nvSpPr>
          <p:cNvPr id="28" name="Text 22"/>
          <p:cNvSpPr txBox="1"/>
          <p:nvPr/>
        </p:nvSpPr>
        <p:spPr>
          <a:xfrm>
            <a:off x="2745284" y="3919091"/>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3.1.1. Tăng trưởng GDP</a:t>
            </a:r>
            <a:endParaRPr lang="vi-VN" sz="820" dirty="0"/>
          </a:p>
        </p:txBody>
      </p:sp>
      <p:sp>
        <p:nvSpPr>
          <p:cNvPr id="29" name="Text 23"/>
          <p:cNvSpPr txBox="1"/>
          <p:nvPr/>
        </p:nvSpPr>
        <p:spPr>
          <a:xfrm>
            <a:off x="2745284" y="4065687"/>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Theo Cục Thống kê, GDP Việt Nam 6 tháng đầu năm 2026 tăng 8,18% so với cùng kỳ năm trước. Trong đó, khu vực công nghiệp và xây dựng tăng 9,81%, khu vực dịch vụ tăng 8,09%. Đây là những khu vực có liên quan trực tiếp đến nhu cầu bao bì thông qua hoạt động sản xuất, lưu thông và cung ứng hàng hóa, dịch vụ (Fig. 24).</a:t>
            </a:r>
            <a:endParaRPr lang="vi-VN" sz="850" dirty="0"/>
          </a:p>
        </p:txBody>
      </p:sp>
      <p:sp>
        <p:nvSpPr>
          <p:cNvPr id="30" name="Text 24"/>
          <p:cNvSpPr txBox="1"/>
          <p:nvPr/>
        </p:nvSpPr>
        <p:spPr>
          <a:xfrm>
            <a:off x="2745284" y="4629596"/>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Đối với startup sản xuất bao bì từ bã mía và vỏ trứng, tăng trưởng kinh tế tạo điều kiện mở rộng thị trường đầu ra. Khi các doanh nghiệp sản xuất, F&amp;B, bán lẻ và dịch vụ mở rộng hoạt động, nhu cầu đóng gói, bảo quản và vận chuyển sản phẩm cũng có cơ sở gia tăng, qua đó mở rộng nhóm khách hàng B2B tiềm năng.</a:t>
            </a:r>
            <a:endParaRPr lang="vi-VN" sz="850" dirty="0"/>
          </a:p>
        </p:txBody>
      </p:sp>
      <p:sp>
        <p:nvSpPr>
          <p:cNvPr id="31" name="Text 25"/>
          <p:cNvSpPr txBox="1"/>
          <p:nvPr/>
        </p:nvSpPr>
        <p:spPr>
          <a:xfrm>
            <a:off x="2745284" y="5193506"/>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Bên cạnh đó, tiêu dùng cuối cùng 6 tháng đầu năm 2026 tăng 8,15% so với cùng kỳ. Sự gia tăng tiêu dùng có thể thúc đẩy doanh nghiệp thực phẩm, đồ uống và hàng tiêu dùng mở rộng sản lượng, tạo thêm nhu cầu sử dụng bao bì thường xuyên.</a:t>
            </a:r>
            <a:endParaRPr lang="vi-VN" sz="850" dirty="0"/>
          </a:p>
        </p:txBody>
      </p:sp>
      <p:sp>
        <p:nvSpPr>
          <p:cNvPr id="32" name="Text 26"/>
          <p:cNvSpPr txBox="1"/>
          <p:nvPr/>
        </p:nvSpPr>
        <p:spPr>
          <a:xfrm>
            <a:off x="2745284" y="5625852"/>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Tuy nhiên, tăng trưởng nhu cầu cũng đặt ra yêu cầu cao hơn về sản lượng, chất lượng và thời gian giao hàng. Với nguyên liệu phụ thuộc vào thu gom và xử lý từ nhiều nguồn, startup cần xây dựng nguồn cung ổn định và công suất phù hợp để chuyển cơ hội từ tăng trưởng thị trường thành doanh thu thực tế.</a:t>
            </a:r>
            <a:endParaRPr lang="vi-VN" sz="850" dirty="0"/>
          </a:p>
        </p:txBody>
      </p:sp>
      <p:sp>
        <p:nvSpPr>
          <p:cNvPr id="33" name="Text 27"/>
          <p:cNvSpPr txBox="1"/>
          <p:nvPr/>
        </p:nvSpPr>
        <p:spPr>
          <a:xfrm>
            <a:off x="2745284" y="6189762"/>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Nhìn chung, tăng trưởng GDP năm 2026 tạo điều kiện thuận lợi cho startup thông qua việc mở rộng hoạt động sản xuất và tiêu dùng, từ đó làm tăng nhu cầu bao bì. Tuy nhiên, khả năng tận dụng cơ hội phụ thuộc vào năng lực cung ứng, chất lượng và giá thành sản phẩm.</a:t>
            </a:r>
            <a:endParaRPr lang="vi-VN" sz="850" dirty="0"/>
          </a:p>
        </p:txBody>
      </p:sp>
      <p:sp>
        <p:nvSpPr>
          <p:cNvPr id="34" name="Text 28"/>
          <p:cNvSpPr txBox="1"/>
          <p:nvPr/>
        </p:nvSpPr>
        <p:spPr>
          <a:xfrm>
            <a:off x="2745284" y="6622107"/>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3.1.2. Lạm phát</a:t>
            </a:r>
            <a:endParaRPr lang="vi-VN" sz="820" dirty="0"/>
          </a:p>
        </p:txBody>
      </p:sp>
      <p:sp>
        <p:nvSpPr>
          <p:cNvPr id="35" name="Text 29"/>
          <p:cNvSpPr txBox="1"/>
          <p:nvPr/>
        </p:nvSpPr>
        <p:spPr>
          <a:xfrm>
            <a:off x="2745284" y="6768703"/>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Theo Cục Thống kê, CPI bình quân 8 tháng đầu năm 2026 tăng 4,45%, trong khi lạm phát cơ bản tăng 4,24% so với cùng kỳ năm trước. Trong đó, nhóm nhà ở, điện, nước, chất đốt và vật liệu xây dựng tăng 6,71%, đóng góp 1,52 điểm phần trăm vào mức tăng CPI. Điều này cho thấy mặt bằng chi phí trong nền kinh tế đang chịu áp lực tăng, đặc biệt ở các yếu tố liên quan đến năng lượng và vận hành (Fig. 25).</a:t>
            </a:r>
            <a:endParaRPr lang="vi-VN" sz="850" dirty="0"/>
          </a:p>
        </p:txBody>
      </p:sp>
      <p:sp>
        <p:nvSpPr>
          <p:cNvPr id="36" name="Text 30"/>
          <p:cNvSpPr txBox="1"/>
          <p:nvPr/>
        </p:nvSpPr>
        <p:spPr>
          <a:xfrm>
            <a:off x="2745284" y="7464177"/>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Đối với startup sản xuất bao bì từ bã mía và vỏ trứng, tác động của mức lạm phát 4,45% không nằm chủ yếu ở giá mua bã mía và vỏ trứng mà ở chi phí để thu gom và biến các phụ phẩm này thành nguyên liệu sản xuất. Bã mía và vỏ trứng được thu gom trong nước nên startup ít phụ thuộc trực tiếp vào biến động giá nguyên liệu nhập khẩu. Tuy nhiên, khi mặt bằng giá chung tăng, chi phí vận chuyển, nhân công, phân loại, sấy và xử lý nguyên liệu cũng có thể tăng theo, làm tăng giá thành sản phẩm.</a:t>
            </a:r>
            <a:endParaRPr lang="vi-VN" sz="850" dirty="0"/>
          </a:p>
        </p:txBody>
      </p:sp>
      <p:sp>
        <p:nvSpPr>
          <p:cNvPr id="37" name="Text 31"/>
          <p:cNvSpPr txBox="1"/>
          <p:nvPr/>
        </p:nvSpPr>
        <p:spPr>
          <a:xfrm>
            <a:off x="2745284" y="8291215"/>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Đáng chú ý, mức tăng 6,71% của nhóm nhà ở, điện, nước, chất đốt và vật liệu xây dựng cao hơn CPI chung cho thấy áp lực chi phí liên quan đến năng lượng và vận hành cần được quan tâm. Điều này có ý nghĩa trực tiếp với startup vì quy trình sản xuất bã mía và vỏ trứng có các công đoạn sấy, xử lý, nghiền và tạo hình, trong đó một số công đoạn tiêu thụ đáng kể năng lượng. Tuy nhiên, không thể đồng nhất mức tăng 6,71% của nhóm CPI này với mức tăng chi phí điện của doanh nghiệp, bởi giá điện sản xuất còn phụ thuộc vào nhóm khách hàng, cấp điện áp và thời điểm sử dụng.</a:t>
            </a:r>
            <a:endParaRPr lang="vi-VN" sz="850" dirty="0"/>
          </a:p>
        </p:txBody>
      </p:sp>
      <p:sp>
        <p:nvSpPr>
          <p:cNvPr id="38" name="Text 32"/>
          <p:cNvSpPr txBox="1"/>
          <p:nvPr/>
        </p:nvSpPr>
        <p:spPr>
          <a:xfrm>
            <a:off x="2745284" y="9118253"/>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Mặt khác, khả năng chuyển phần chi phí tăng thêm vào giá bán bị giới hạn. Trong bối cảnh CPI tăng 4,45%, các khách hàng B2B như doanh nghiệp F&amp;B, chế biến thực phẩm và bán lẻ cũng phải đối mặt với áp lực chi phí. Nếu startup tăng giá bao bì quá nhanh để bù đắp chi phí, khách hàng có thể chuyển sang loại bao bì khác hoặc nhà cung cấp khác. Vì vậy, nếu chi phí đầu vào tăng nhanh hơn giá bán, biên lợi nhuận của startup sẽ bị thu hẹp.</a:t>
            </a:r>
            <a:endParaRPr lang="vi-VN" sz="850" dirty="0"/>
          </a:p>
        </p:txBody>
      </p:sp>
      <p:sp>
        <p:nvSpPr>
          <p:cNvPr id="39" name="Text 33"/>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0" name="Text 34"/>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6</a:t>
            </a:r>
            <a:endParaRPr lang="vi-VN" sz="6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2218730"/>
            <a:ext cx="2159943" cy="0"/>
          </a:xfrm>
          <a:prstGeom prst="line">
            <a:avLst/>
          </a:prstGeom>
          <a:noFill/>
          <a:ln w="9525">
            <a:solidFill>
              <a:srgbClr val="7B1E2B"/>
            </a:solidFill>
            <a:prstDash val="solid"/>
          </a:ln>
        </p:spPr>
      </p:sp>
      <p:sp>
        <p:nvSpPr>
          <p:cNvPr id="5" name="Shape 3"/>
          <p:cNvSpPr/>
          <p:nvPr/>
        </p:nvSpPr>
        <p:spPr>
          <a:xfrm>
            <a:off x="405408" y="3779193"/>
            <a:ext cx="2159943" cy="0"/>
          </a:xfrm>
          <a:prstGeom prst="line">
            <a:avLst/>
          </a:prstGeom>
          <a:noFill/>
          <a:ln w="9525">
            <a:solidFill>
              <a:srgbClr val="7B1E2B"/>
            </a:solidFill>
            <a:prstDash val="solid"/>
          </a:ln>
        </p:spPr>
      </p:sp>
      <p:sp>
        <p:nvSpPr>
          <p:cNvPr id="6" name="Shape 4"/>
          <p:cNvSpPr/>
          <p:nvPr/>
        </p:nvSpPr>
        <p:spPr>
          <a:xfrm>
            <a:off x="405408" y="10364688"/>
            <a:ext cx="6749058" cy="0"/>
          </a:xfrm>
          <a:prstGeom prst="line">
            <a:avLst/>
          </a:prstGeom>
          <a:noFill/>
          <a:ln w="9525">
            <a:solidFill>
              <a:srgbClr val="BFBFBF"/>
            </a:solidFill>
            <a:prstDash val="solid"/>
          </a:ln>
        </p:spPr>
      </p:sp>
      <p:sp>
        <p:nvSpPr>
          <p:cNvPr id="7" name="Text 5"/>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8" name="Text 6"/>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9" name="Text 7"/>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26:</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Lãi suất cho vay 8,1–10,5%: mô hình dùng chi phí nợ 10%</a:t>
            </a:r>
            <a:endParaRPr lang="vi-VN" sz="72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05408" y="840581"/>
          <a:ext cx="2159943" cy="914400"/>
        </p:xfrm>
        <a:graphic>
          <a:graphicData uri="http://schemas.openxmlformats.org/drawingml/2006/table">
            <a:tbl>
              <a:tblPr/>
              <a:tblGrid>
                <a:gridCol w="1187946"/>
                <a:gridCol w="971996"/>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Chỉ báo</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Giá trị</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Lãi suất cho vay VND bình quân (6/2026)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8,1–10,5%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Dư nợ tín dụng DNNVV (28/8/2026)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&gt;4,1 triệu tỷ, +12,4%</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NATIF hỗ trợ lãi suất (2026)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50% lãi vay, ≤ 6%/năm, ≤ 5 năm</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Quy mô hỗ trợ đợt 1/2026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50 tỷ đồng</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Kd trong mô hình (Mục 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10,0%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sp>
        <p:nvSpPr>
          <p:cNvPr id="11" name="Text 8"/>
          <p:cNvSpPr txBox="1"/>
          <p:nvPr/>
        </p:nvSpPr>
        <p:spPr>
          <a:xfrm>
            <a:off x="405408" y="1953220"/>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NHNN (2026); Thanh tra (2026); NATIF (2026) – số liệu trong bài của nhóm; Kd: sheet Discount rate</a:t>
            </a:r>
            <a:endParaRPr lang="vi-VN" sz="600" dirty="0"/>
          </a:p>
        </p:txBody>
      </p:sp>
      <p:sp>
        <p:nvSpPr>
          <p:cNvPr id="12" name="Text 9"/>
          <p:cNvSpPr txBox="1"/>
          <p:nvPr/>
        </p:nvSpPr>
        <p:spPr>
          <a:xfrm>
            <a:off x="405408" y="2249855"/>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27:</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Tỷ giá dự báo 26.800–27.000 cuối 2026; mô hình giả định VND mất giá 2%/năm</a:t>
            </a:r>
            <a:endParaRPr lang="vi-VN" sz="720" dirty="0"/>
          </a:p>
        </p:txBody>
      </p:sp>
      <p:sp>
        <p:nvSpPr>
          <p:cNvPr id="13" name="Text 10"/>
          <p:cNvSpPr txBox="1"/>
          <p:nvPr/>
        </p:nvSpPr>
        <p:spPr>
          <a:xfrm>
            <a:off x="405408" y="2486918"/>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VND/USD</a:t>
            </a:r>
            <a:endParaRPr lang="vi-VN" sz="630" dirty="0"/>
          </a:p>
        </p:txBody>
      </p:sp>
      <p:graphicFrame>
        <p:nvGraphicFramePr>
          <p:cNvPr id="14" name="Chart 0" descr=""/>
          <p:cNvGraphicFramePr/>
          <p:nvPr/>
        </p:nvGraphicFramePr>
        <p:xfrm>
          <a:off x="405408" y="2602409"/>
          <a:ext cx="2159943" cy="893415"/>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405408" y="3513683"/>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Tạp chí Kinh tế – Tài chính (2026); Thời báo Tài chính Việt Nam (2026), MBS Research; mô hình (Drivers)</a:t>
            </a:r>
            <a:endParaRPr lang="vi-VN" sz="600" dirty="0"/>
          </a:p>
        </p:txBody>
      </p:sp>
      <p:sp>
        <p:nvSpPr>
          <p:cNvPr id="16" name="Text 12"/>
          <p:cNvSpPr txBox="1"/>
          <p:nvPr/>
        </p:nvSpPr>
        <p:spPr>
          <a:xfrm>
            <a:off x="405408" y="3810318"/>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28:</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Vốn VC phục hồi 28% năm 2025 sau ba năm giảm</a:t>
            </a:r>
            <a:endParaRPr lang="vi-VN" sz="720" dirty="0"/>
          </a:p>
        </p:txBody>
      </p:sp>
      <p:sp>
        <p:nvSpPr>
          <p:cNvPr id="17" name="Text 13"/>
          <p:cNvSpPr txBox="1"/>
          <p:nvPr/>
        </p:nvSpPr>
        <p:spPr>
          <a:xfrm>
            <a:off x="405408" y="3937843"/>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Triệu USD</a:t>
            </a:r>
            <a:endParaRPr lang="vi-VN" sz="630" dirty="0"/>
          </a:p>
        </p:txBody>
      </p:sp>
      <p:graphicFrame>
        <p:nvGraphicFramePr>
          <p:cNvPr id="18" name="Chart 1" descr=""/>
          <p:cNvGraphicFramePr/>
          <p:nvPr/>
        </p:nvGraphicFramePr>
        <p:xfrm>
          <a:off x="405408" y="4053334"/>
          <a:ext cx="2159943" cy="765721"/>
        </p:xfrm>
        <a:graphic xmlns:a="http://schemas.openxmlformats.org/drawingml/2006/main">
          <a:graphicData uri="http://schemas.openxmlformats.org/drawingml/2006/chart">
            <c:chart xmlns:c="http://schemas.openxmlformats.org/drawingml/2006/chart" r:id="rId2"/>
          </a:graphicData>
        </a:graphic>
      </p:graphicFrame>
      <p:sp>
        <p:nvSpPr>
          <p:cNvPr id="19" name="Text 14"/>
          <p:cNvSpPr txBox="1"/>
          <p:nvPr/>
        </p:nvSpPr>
        <p:spPr>
          <a:xfrm>
            <a:off x="405408" y="4836914"/>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NIC &amp; DO Ventures (2023, 2024); BCG, NIC &amp; VPCA (2026); 2024 suy ra từ mức tăng 28%</a:t>
            </a:r>
            <a:endParaRPr lang="vi-VN" sz="600" dirty="0"/>
          </a:p>
        </p:txBody>
      </p:sp>
      <p:sp>
        <p:nvSpPr>
          <p:cNvPr id="20" name="Text 15"/>
          <p:cNvSpPr txBox="1"/>
          <p:nvPr/>
        </p:nvSpPr>
        <p:spPr>
          <a:xfrm>
            <a:off x="2745284" y="558105"/>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Tuy nhiên, việc sử dụng bã mía và vỏ trứng vẫn tạo ra một lợi thế nhất định trong bối cảnh lạm phát. Startup ít phụ thuộc vào các nguyên liệu nguyên sinh có giá chịu ảnh hưởng trực tiếp từ thị trường hàng hóa quốc tế, qua đó giảm một phần rủi ro biến động chi phí nguyên liệu. Do đó, áp lực lạm phát đối với startup năm 2026 tập trung nhiều hơn vào chi phí thu gom, vận chuyển, xử lý và năng lượng thay vì giá nguyên liệu chính.</a:t>
            </a:r>
            <a:endParaRPr lang="vi-VN" sz="850" dirty="0"/>
          </a:p>
        </p:txBody>
      </p:sp>
      <p:sp>
        <p:nvSpPr>
          <p:cNvPr id="21" name="Text 16"/>
          <p:cNvSpPr txBox="1"/>
          <p:nvPr/>
        </p:nvSpPr>
        <p:spPr>
          <a:xfrm>
            <a:off x="2745284" y="1253579"/>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3.1.3. Lãi suất</a:t>
            </a:r>
            <a:endParaRPr lang="vi-VN" sz="820" dirty="0"/>
          </a:p>
        </p:txBody>
      </p:sp>
      <p:sp>
        <p:nvSpPr>
          <p:cNvPr id="22" name="Text 17"/>
          <p:cNvSpPr txBox="1"/>
          <p:nvPr/>
        </p:nvSpPr>
        <p:spPr>
          <a:xfrm>
            <a:off x="2745284" y="1400175"/>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Trong 6 tháng đầu năm 2026, NHNN tiếp tục giữ nguyên các mức lãi suất điều hành và định hướng ổn định mặt bằng lãi suất cho vay. Tuy nhiên, chi phí huy động vốn của ngân hàng có xu hướng tăng do tăng trưởng huy động thấp hơn tăng trưởng tín dụng, trong khi lãi suất cho vay chưa tăng tương ứng. Theo NHNN, trong tháng 6/2026, lãi suất cho vay VND bình quân đối với các khoản vay mới và dư nợ hiện hữu khoảng 8,1–10,5%/năm (Fig. 26).</a:t>
            </a:r>
            <a:endParaRPr lang="vi-VN" sz="850" dirty="0"/>
          </a:p>
        </p:txBody>
      </p:sp>
      <p:sp>
        <p:nvSpPr>
          <p:cNvPr id="23" name="Text 18"/>
          <p:cNvSpPr txBox="1"/>
          <p:nvPr/>
        </p:nvSpPr>
        <p:spPr>
          <a:xfrm>
            <a:off x="2745284" y="2095649"/>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Đối với startup sản xuất bao bì từ bã mía và vỏ trứng, mức lãi suất này có tác động trực tiếp đến chi phí đầu tư ban đầu do mô hình cần vốn cho máy móc, hệ thống sấy, nghiền, ép và tạo hình. Nếu phải vay ngân hàng với lãi suất 8,1–10,5%/năm, startup sẽ phát sinh chi phí lãi vay ngay cả khi dây chuyền chưa hoạt động hết công suất, làm tăng áp lực lên dòng tiền và thời gian hoàn vốn. Vì vậy, tỷ trọng vốn vay càng cao thì mức độ nhạy cảm của startup với lãi suất càng lớn.</a:t>
            </a:r>
            <a:endParaRPr lang="vi-VN" sz="850" dirty="0"/>
          </a:p>
        </p:txBody>
      </p:sp>
      <p:sp>
        <p:nvSpPr>
          <p:cNvPr id="24" name="Text 19"/>
          <p:cNvSpPr txBox="1"/>
          <p:nvPr/>
        </p:nvSpPr>
        <p:spPr>
          <a:xfrm>
            <a:off x="2745284" y="2791123"/>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Tuy nhiên, mặt bằng lãi suất cho vay chưa tăng mạnh trong năm 2026 giúp startup hạn chế được áp lực chi phí vốn trong ngắn hạn. Đồng thời, tín dụng dành cho DNNVV đang tăng: đến 28/8/2026, dư nợ DNNVV đạt trên 4,1 triệu tỷ đồng, tăng 12,4% so với cuối năm 2025. Dù vậy, startup mới thành lập vẫn có thể khó tiếp cận tín dụng do thiếu lịch sử tín dụng, dòng tiền ổn định và tài sản bảo đảm. Do đó, không thể mặc định rằng môi trường tín dụng thuận lợi sẽ giúp startup dễ vay vốn.</a:t>
            </a:r>
            <a:endParaRPr lang="vi-VN" sz="850" dirty="0"/>
          </a:p>
        </p:txBody>
      </p:sp>
      <p:sp>
        <p:nvSpPr>
          <p:cNvPr id="25" name="Text 20"/>
          <p:cNvSpPr txBox="1"/>
          <p:nvPr/>
        </p:nvSpPr>
        <p:spPr>
          <a:xfrm>
            <a:off x="2745284" y="3486596"/>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Lãi suất cũng ảnh hưởng đến khả năng huy động vốn từ nhà đầu tư. Khi lãi suất và lợi suất của các tài sản ít rủi ro tăng, chi phí cơ hội của việc đầu tư vào startup cũng tăng. Với một mô hình cần vốn lớn cho máy móc nhưng mất thời gian để đạt công suất và doanh thu ổn định, nhà đầu tư có thể yêu cầu doanh nghiệp chứng minh rõ hơn về chi phí sản xuất, doanh thu, biên lợi nhuận và thời gian hoàn vốn.</a:t>
            </a:r>
            <a:endParaRPr lang="vi-VN" sz="850" dirty="0"/>
          </a:p>
        </p:txBody>
      </p:sp>
      <p:sp>
        <p:nvSpPr>
          <p:cNvPr id="26" name="Text 21"/>
          <p:cNvSpPr txBox="1"/>
          <p:nvPr/>
        </p:nvSpPr>
        <p:spPr>
          <a:xfrm>
            <a:off x="2745284" y="4182070"/>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3.1.4. Tỷ giá</a:t>
            </a:r>
            <a:endParaRPr lang="vi-VN" sz="820" dirty="0"/>
          </a:p>
        </p:txBody>
      </p:sp>
      <p:sp>
        <p:nvSpPr>
          <p:cNvPr id="27" name="Text 22"/>
          <p:cNvSpPr txBox="1"/>
          <p:nvPr/>
        </p:nvSpPr>
        <p:spPr>
          <a:xfrm>
            <a:off x="2745284" y="4328666"/>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Đối với startup, bã mía và vỏ trứng dự kiến được thu mua trong nước, sản phẩm tiêu thụ nội địa nên rủi ro tỷ giá đối với hoạt động thường xuyên tương đối thấp. Tác động đáng chú ý chủ yếu xuất hiện khi doanh nghiệp nhập khẩu máy móc, dây chuyền hoặc thiết bị chuyên dụng.</a:t>
            </a:r>
            <a:endParaRPr lang="vi-VN" sz="850" dirty="0"/>
          </a:p>
        </p:txBody>
      </p:sp>
      <p:sp>
        <p:nvSpPr>
          <p:cNvPr id="28" name="Text 23"/>
          <p:cNvSpPr txBox="1"/>
          <p:nvPr/>
        </p:nvSpPr>
        <p:spPr>
          <a:xfrm>
            <a:off x="2745284" y="4761012"/>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Theo tạp chí kinh tế-tài chính, trong tháng 8/2026, tỷ giá liên ngân hàng cuối tháng ở khoảng 26.083 VND/USD, giảm 0,8% so với cuối tháng 7. Tuy nhiên, đến ngày 22/9, tỷ giá trung tâm tăng lên 25.640 VND/USD, trong khi tỷ giá bán USD tại Vietcombank ở mức 26.210 VND/USD, cho thấy áp lực tỷ giá vẫn tồn tại (Fig. 27).</a:t>
            </a:r>
            <a:endParaRPr lang="vi-VN" sz="850" dirty="0"/>
          </a:p>
        </p:txBody>
      </p:sp>
      <p:sp>
        <p:nvSpPr>
          <p:cNvPr id="29" name="Text 24"/>
          <p:cNvSpPr txBox="1"/>
          <p:nvPr/>
        </p:nvSpPr>
        <p:spPr>
          <a:xfrm>
            <a:off x="2745284" y="5324921"/>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Nếu máy móc khi nhập khẩu được định giá bằng USD, việc VND mất giá sẽ làm tăng số tiền VND cần thanh toán. Theo MBS Research, tỷ giá USD/VND có thể đạt 26.800–27.000 VND/USD vào cuối năm 2026, cho thấy startup vẫn cần tính đến rủi ro tăng chi phí thiết bị nhập khẩu.</a:t>
            </a:r>
            <a:endParaRPr lang="vi-VN" sz="850" dirty="0"/>
          </a:p>
        </p:txBody>
      </p:sp>
      <p:sp>
        <p:nvSpPr>
          <p:cNvPr id="30" name="Text 25"/>
          <p:cNvSpPr txBox="1"/>
          <p:nvPr/>
        </p:nvSpPr>
        <p:spPr>
          <a:xfrm>
            <a:off x="2745284" y="5757267"/>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Nhìn chung, tỷ giá không phải yếu tố ảnh hưởng lớn đến chi phí hoạt động thường xuyên mà chủ yếu tác động đến vốn đầu tư khi startup nhập khẩu máy móc. Mức độ ảnh hưởng phụ thuộc vào giá trị thiết bị và thời điểm thanh toán ngoại tệ. Vì vậy, để giảm rủi ro tỷ giá khi nhập khẩu máy móc, startup có thể sử dụng các công cụ phòng ngừa rủi ro như hợp đồng kỳ hạn ngoại tệ.</a:t>
            </a:r>
            <a:endParaRPr lang="vi-VN" sz="850" dirty="0"/>
          </a:p>
        </p:txBody>
      </p:sp>
      <p:sp>
        <p:nvSpPr>
          <p:cNvPr id="31" name="Text 26"/>
          <p:cNvSpPr txBox="1"/>
          <p:nvPr/>
        </p:nvSpPr>
        <p:spPr>
          <a:xfrm>
            <a:off x="2745284" y="6321177"/>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3.1.5. Môi trường đầu tư</a:t>
            </a:r>
            <a:endParaRPr lang="vi-VN" sz="820" dirty="0"/>
          </a:p>
        </p:txBody>
      </p:sp>
      <p:sp>
        <p:nvSpPr>
          <p:cNvPr id="32" name="Text 27"/>
          <p:cNvSpPr txBox="1"/>
          <p:nvPr/>
        </p:nvSpPr>
        <p:spPr>
          <a:xfrm>
            <a:off x="2745284" y="6467773"/>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Thị trường vốn cho startup tại Việt Nam có dấu hiệu phục hồi. Theo </a:t>
            </a:r>
            <a:pPr algn="just" indent="0" marL="0">
              <a:lnSpc>
                <a:spcPts val="1040"/>
              </a:lnSpc>
              <a:buNone/>
            </a:pPr>
            <a:r>
              <a:rPr lang="vi-VN" sz="850" i="1" dirty="0">
                <a:solidFill>
                  <a:srgbClr val="1F1F1F"/>
                </a:solidFill>
                <a:latin typeface="Calibri" pitchFamily="34" charset="0"/>
                <a:ea typeface="Calibri" pitchFamily="34" charset="-122"/>
                <a:cs typeface="Calibri" pitchFamily="34" charset="-120"/>
              </a:rPr>
              <a:t>Vietnam Innovation and Private Capital Report 2026</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của BCG, NIC và VPCA, tổng vốn đầu tư tư nhân vào Việt Nam năm 2025 đạt khoảng 4,5 tỷ USD qua 149 thương vụ, trong đó VC đạt 509 triệu USD, tăng 28% so với năm 2024. NIC cũng ghi nhận climate tech là một trong những xu hướng nổi bật của hoạt động đầu tư mạo hiểm (Fig. 28).</a:t>
            </a:r>
            <a:endParaRPr lang="vi-VN" sz="850" dirty="0"/>
          </a:p>
        </p:txBody>
      </p:sp>
      <p:sp>
        <p:nvSpPr>
          <p:cNvPr id="33" name="Text 28"/>
          <p:cNvSpPr txBox="1"/>
          <p:nvPr/>
        </p:nvSpPr>
        <p:spPr>
          <a:xfrm>
            <a:off x="2745284" y="7163246"/>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Đối với startup bao bì từ bã mía và vỏ trứng, xu hướng này tạo cơ hội tiếp cận các nhà đầu tư quan tâm đến vật liệu xanh và kinh tế tuần hoàn. Tuy nhiên, VC đang có xu hướng chọn lọc hơn, nên yếu tố “xanh” không đủ để bảo đảm khả năng huy động vốn. Startup cần chứng minh nguồn nguyên liệu ổn định, chi phí sản xuất, chất lượng sản phẩm, nhu cầu B2B và khả năng mở rộng.</a:t>
            </a:r>
            <a:endParaRPr lang="vi-VN" sz="850" dirty="0"/>
          </a:p>
        </p:txBody>
      </p:sp>
      <p:sp>
        <p:nvSpPr>
          <p:cNvPr id="34" name="Text 29"/>
          <p:cNvSpPr txBox="1"/>
          <p:nvPr/>
        </p:nvSpPr>
        <p:spPr>
          <a:xfrm>
            <a:off x="2745284" y="7727156"/>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Bên cạnh vốn tư nhân, năm 2026 Quỹ Đổi mới công nghệ quốc gia (NATIF) triển khai chương trình hỗ trợ lãi suất cho doanh nghiệp thực hiện dự án chuyển giao, ứng dụng hoặc đổi mới công nghệ. Mức hỗ trợ bằng 50% lãi suất vay nhưng không quá 6%/năm, tối đa 5 năm; đợt 1/2026 dự kiến hỗ trợ 50 tỷ đồng. Chính sách này có thể phù hợp với startup nếu đáp ứng điều kiện, đặc biệt khi doanh nghiệp đầu tư vào máy móc và công nghệ sạch, công nghệ xanh.</a:t>
            </a:r>
            <a:endParaRPr lang="vi-VN" sz="850" dirty="0"/>
          </a:p>
        </p:txBody>
      </p:sp>
      <p:sp>
        <p:nvSpPr>
          <p:cNvPr id="35" name="Text 30"/>
          <p:cNvSpPr txBox="1"/>
          <p:nvPr/>
        </p:nvSpPr>
        <p:spPr>
          <a:xfrm>
            <a:off x="2745284" y="8422630"/>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Nhìn chung, môi trường đầu tư năm 2026 tạo thêm cơ hội huy động vốn và hỗ trợ đổi mới công nghệ, nhưng startup vẫn phải chứng minh tính khả thi thương mại và hiệu quả tài chính thay vì chỉ dựa vào yếu tố bền vững.</a:t>
            </a:r>
            <a:endParaRPr lang="vi-VN" sz="850" dirty="0"/>
          </a:p>
        </p:txBody>
      </p:sp>
      <p:sp>
        <p:nvSpPr>
          <p:cNvPr id="36" name="Text 31"/>
          <p:cNvSpPr txBox="1"/>
          <p:nvPr/>
        </p:nvSpPr>
        <p:spPr>
          <a:xfrm>
            <a:off x="2745284" y="8854976"/>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3.1.6. Chính sách và pháp luật</a:t>
            </a:r>
            <a:endParaRPr lang="vi-VN" sz="820" dirty="0"/>
          </a:p>
        </p:txBody>
      </p:sp>
      <p:sp>
        <p:nvSpPr>
          <p:cNvPr id="37" name="Text 32"/>
          <p:cNvSpPr txBox="1"/>
          <p:nvPr/>
        </p:nvSpPr>
        <p:spPr>
          <a:xfrm>
            <a:off x="2745284" y="9001571"/>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3.1.6.1. Quy định liên quan trực tiếp đến ngành</a:t>
            </a:r>
            <a:endParaRPr lang="vi-VN" sz="820" dirty="0"/>
          </a:p>
        </p:txBody>
      </p:sp>
      <p:sp>
        <p:nvSpPr>
          <p:cNvPr id="38" name="Text 33"/>
          <p:cNvSpPr txBox="1"/>
          <p:nvPr/>
        </p:nvSpPr>
        <p:spPr>
          <a:xfrm>
            <a:off x="2745284" y="9148167"/>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Các quy định về an toàn sản phẩm và môi trường có ảnh hưởng trực tiếp đến startup sản xuất bao bì từ bã mía và vỏ trứng. Theo Thông tư 27/2026/TT-BYT, có hiệu lực từ 1/7/2026, bao bì tiếp xúc trực tiếp với thực phẩm thuộc nhóm sản phẩm do Bộ Y tế quản lý. Vì vậy, nếu startup hướng đến phân khúc bao bì thực phẩm, doanh nghiệp phải kiểm soát các tiêu chuẩn về an toàn vật liệu, độ bền và khả năng chống ẩm, đồng thời thực hiện kiểm nghiệm trước khi thương mại hóa. Điều này làm phát sinh chi phí R&amp;D, kiểm định và kiểm soát chất lượng nhưng cần thiết để sản phẩm có thể tiếp cận thị trường.</a:t>
            </a:r>
            <a:endParaRPr lang="vi-VN" sz="850" dirty="0"/>
          </a:p>
        </p:txBody>
      </p:sp>
      <p:sp>
        <p:nvSpPr>
          <p:cNvPr id="39" name="Text 34"/>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0" name="Text 35"/>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7</a:t>
            </a:r>
            <a:endParaRPr lang="vi-VN" sz="6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3058120"/>
            <a:ext cx="2159943" cy="0"/>
          </a:xfrm>
          <a:prstGeom prst="line">
            <a:avLst/>
          </a:prstGeom>
          <a:noFill/>
          <a:ln w="9525">
            <a:solidFill>
              <a:srgbClr val="7B1E2B"/>
            </a:solidFill>
            <a:prstDash val="solid"/>
          </a:ln>
        </p:spPr>
      </p:sp>
      <p:sp>
        <p:nvSpPr>
          <p:cNvPr id="5" name="Shape 3"/>
          <p:cNvSpPr/>
          <p:nvPr/>
        </p:nvSpPr>
        <p:spPr>
          <a:xfrm>
            <a:off x="405408" y="4641205"/>
            <a:ext cx="2159943" cy="0"/>
          </a:xfrm>
          <a:prstGeom prst="line">
            <a:avLst/>
          </a:prstGeom>
          <a:noFill/>
          <a:ln w="9525">
            <a:solidFill>
              <a:srgbClr val="7B1E2B"/>
            </a:solidFill>
            <a:prstDash val="solid"/>
          </a:ln>
        </p:spPr>
      </p:sp>
      <p:sp>
        <p:nvSpPr>
          <p:cNvPr id="6" name="Shape 4"/>
          <p:cNvSpPr/>
          <p:nvPr/>
        </p:nvSpPr>
        <p:spPr>
          <a:xfrm>
            <a:off x="405408" y="10364688"/>
            <a:ext cx="6749058" cy="0"/>
          </a:xfrm>
          <a:prstGeom prst="line">
            <a:avLst/>
          </a:prstGeom>
          <a:noFill/>
          <a:ln w="9525">
            <a:solidFill>
              <a:srgbClr val="BFBFBF"/>
            </a:solidFill>
            <a:prstDash val="solid"/>
          </a:ln>
        </p:spPr>
      </p:sp>
      <p:sp>
        <p:nvSpPr>
          <p:cNvPr id="7" name="Text 5"/>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8" name="Text 6"/>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9" name="Text 7"/>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29:</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Quy định mới tăng chi phí tuân thủ nhưng mở rộng cầu bao bì xanh</a:t>
            </a:r>
            <a:endParaRPr lang="vi-VN" sz="72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05408" y="840581"/>
          <a:ext cx="2159943" cy="914400"/>
        </p:xfrm>
        <a:graphic>
          <a:graphicData uri="http://schemas.openxmlformats.org/drawingml/2006/table">
            <a:tbl>
              <a:tblPr/>
              <a:tblGrid>
                <a:gridCol w="669578"/>
                <a:gridCol w="820638"/>
                <a:gridCol w="669727"/>
              </a:tblGrid>
              <a:tr h="230386">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Văn bản</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Nội dung chính</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Cách phản ánh trong mô hình</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421184">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TT 27/2026/TT-BYT (1/7/2026)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Bao bì tiếp xúc trực tiếp thực phẩm do Bộ Y tế quản lý; phải kiểm nghiệm</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Chi phí kiểm nghiệm, chứng nhận &amp; R&amp;D 0,6% DT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2594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NĐ 48/2026/NĐ-CP; NĐ 110/2026/NĐ-CP</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Sửa quy định bảo vệ môi trường; trách nhiệm tái chế, xử lý chất thải (EPR)</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Cầu chuyển đổi từ khách hàng; thủ tục môi trường cho nhà máy mới</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523280">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NQ 198/2025/QH15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Miễn thuế TNDN 2 năm, giảm 50% trong 4 năm cho DN khởi nghiệp sáng tạo đủ điều kiện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Không đưa vào mô hình (chưa chứng minh đủ điều kiện)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Luật Thuế TNDN 67/2025/QH15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15% (DT ≤ 3 tỷ), 17% (3–50 tỷ), 20% phổ thông</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Thuế suất 17% năm 2026, 20% từ 2027</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1" name="Text 8"/>
          <p:cNvSpPr txBox="1"/>
          <p:nvPr/>
        </p:nvSpPr>
        <p:spPr>
          <a:xfrm>
            <a:off x="405408" y="2792611"/>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Văn bản pháp luật trích trong bài của nhóm (Mục 3.1.6); cách phản ánh trong mô hình: Drivers</a:t>
            </a:r>
            <a:endParaRPr lang="vi-VN" sz="600" dirty="0"/>
          </a:p>
        </p:txBody>
      </p:sp>
      <p:sp>
        <p:nvSpPr>
          <p:cNvPr id="12" name="Text 9"/>
          <p:cNvSpPr txBox="1"/>
          <p:nvPr/>
        </p:nvSpPr>
        <p:spPr>
          <a:xfrm>
            <a:off x="405408" y="3089245"/>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30:</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Nếu đủ điều kiện ưu đãi, AgriPack được miễn thuế 2026–2027 và chịu 10% trong 4 năm sau</a:t>
            </a:r>
            <a:endParaRPr lang="vi-VN" sz="720" dirty="0"/>
          </a:p>
        </p:txBody>
      </p:sp>
      <p:sp>
        <p:nvSpPr>
          <p:cNvPr id="13" name="Text 10"/>
          <p:cNvSpPr txBox="1"/>
          <p:nvPr/>
        </p:nvSpPr>
        <p:spPr>
          <a:xfrm>
            <a:off x="405408" y="3326309"/>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Thuế suất TNDN</a:t>
            </a:r>
            <a:endParaRPr lang="vi-VN" sz="630" dirty="0"/>
          </a:p>
        </p:txBody>
      </p:sp>
      <p:graphicFrame>
        <p:nvGraphicFramePr>
          <p:cNvPr id="14" name="Chart 0" descr=""/>
          <p:cNvGraphicFramePr/>
          <p:nvPr/>
        </p:nvGraphicFramePr>
        <p:xfrm>
          <a:off x="405408" y="3441799"/>
          <a:ext cx="2159943" cy="824657"/>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405408" y="4284315"/>
            <a:ext cx="2214807" cy="27414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Luật Thuế TNDN 67/2025/QH15; Nghị quyết 198/2025/QH15; mô hình (Drivers). Ưu đãi chỉ áp dụng khi đủ điều kiện DN khởi nghiệp sáng tạo</a:t>
            </a:r>
            <a:endParaRPr lang="vi-VN" sz="600" dirty="0"/>
          </a:p>
        </p:txBody>
      </p:sp>
      <p:sp>
        <p:nvSpPr>
          <p:cNvPr id="16" name="Text 12"/>
          <p:cNvSpPr txBox="1"/>
          <p:nvPr/>
        </p:nvSpPr>
        <p:spPr>
          <a:xfrm>
            <a:off x="405408" y="4672330"/>
            <a:ext cx="2214807" cy="328593"/>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AgriPack dự phóng tăng nhanh gấp khoảng 6 lần thị trường mục tiêu: tăng trưởng phải đến từ giành thị phần</a:t>
            </a:r>
            <a:endParaRPr lang="vi-VN" sz="720" dirty="0"/>
          </a:p>
        </p:txBody>
      </p:sp>
      <p:sp>
        <p:nvSpPr>
          <p:cNvPr id="17" name="Text 13"/>
          <p:cNvSpPr txBox="1"/>
          <p:nvPr/>
        </p:nvSpPr>
        <p:spPr>
          <a:xfrm>
            <a:off x="405408" y="5018931"/>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CAGR, %/năm</a:t>
            </a:r>
            <a:endParaRPr lang="vi-VN" sz="630" dirty="0"/>
          </a:p>
        </p:txBody>
      </p:sp>
      <p:graphicFrame>
        <p:nvGraphicFramePr>
          <p:cNvPr id="18" name="Chart 1" descr=""/>
          <p:cNvGraphicFramePr/>
          <p:nvPr/>
        </p:nvGraphicFramePr>
        <p:xfrm>
          <a:off x="405408" y="5134421"/>
          <a:ext cx="2159943" cy="490835"/>
        </p:xfrm>
        <a:graphic xmlns:a="http://schemas.openxmlformats.org/drawingml/2006/main">
          <a:graphicData uri="http://schemas.openxmlformats.org/drawingml/2006/chart">
            <c:chart xmlns:c="http://schemas.openxmlformats.org/drawingml/2006/chart" r:id="rId2"/>
          </a:graphicData>
        </a:graphic>
      </p:graphicFrame>
      <p:sp>
        <p:nvSpPr>
          <p:cNvPr id="19" name="Text 14"/>
          <p:cNvSpPr txBox="1"/>
          <p:nvPr/>
        </p:nvSpPr>
        <p:spPr>
          <a:xfrm>
            <a:off x="405408" y="5643116"/>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(Mục 1.1.1, 1.2.1, 3.2.1; IMARC Group, 2025); dự phóng: mô hình (Drivers)</a:t>
            </a:r>
            <a:endParaRPr lang="vi-VN" sz="600" dirty="0"/>
          </a:p>
        </p:txBody>
      </p:sp>
      <p:sp>
        <p:nvSpPr>
          <p:cNvPr id="20" name="Text 15"/>
          <p:cNvSpPr txBox="1"/>
          <p:nvPr/>
        </p:nvSpPr>
        <p:spPr>
          <a:xfrm>
            <a:off x="2745284" y="558105"/>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Bên cạnh đó, Nghị định 48/2026/NĐ-CP sửa đổi quy định về bảo vệ môi trường và Nghị định 110/2026/NĐ-CP quy định chi tiết trách nhiệm tái chế, xử lý chất thải. Đối với startup, các quy định này đòi hỏi doanh nghiệp phải xác định nghĩa vụ môi trường phù hợp với quy mô và loại hình sản xuất, đồng thời bố trí chi phí cho xử lý chất thải và tuân thủ môi trường. Tuy nhiên, do sản phẩm sử dụng phụ phẩm nông nghiệp làm nguyên liệu, startup có thể tạo lợi thế về định vị kinh tế tuần hoàn nếu chứng minh được hiệu quả giảm chất thải và sử dụng tài nguyên (Fig. 29).</a:t>
            </a:r>
            <a:endParaRPr lang="vi-VN" sz="850" dirty="0"/>
          </a:p>
        </p:txBody>
      </p:sp>
      <p:sp>
        <p:nvSpPr>
          <p:cNvPr id="21" name="Text 16"/>
          <p:cNvSpPr txBox="1"/>
          <p:nvPr/>
        </p:nvSpPr>
        <p:spPr>
          <a:xfrm>
            <a:off x="2745284" y="1385143"/>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3.1.6.2. Chính sách hỗ trợ startup</a:t>
            </a:r>
            <a:endParaRPr lang="vi-VN" sz="820" dirty="0"/>
          </a:p>
        </p:txBody>
      </p:sp>
      <p:sp>
        <p:nvSpPr>
          <p:cNvPr id="22" name="Text 17"/>
          <p:cNvSpPr txBox="1"/>
          <p:nvPr/>
        </p:nvSpPr>
        <p:spPr>
          <a:xfrm>
            <a:off x="2745284" y="1531739"/>
            <a:ext cx="4464046" cy="1447205"/>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Từ yêu cầu tuân thủ nói trên, startup đồng thời có thể hưởng lợi từ nhóm chính sách thúc đẩy doanh nghiệp đổi mới sáng tạo. Nghị quyết 198/2025/QH15 về một số cơ chế, chính sách đặc biệt phát triển kinh tế tư nhân quy định doanh nghiệp khởi nghiệp sáng tạo đáp ứng điều kiện được miễn thuế TNDN trong 2 năm và giảm 50% số thuế phải nộp trong 4 năm tiếp theo đối với thu nhập từ hoạt động khởi nghiệp đổi mới sáng tạo. Ngoài ra, chính sách còn có các cơ chế hỗ trợ hoạt động nghiên cứu, phát triển và đổi mới công nghệ. Đây là yếu tố có ý nghĩa đối với startup bao bì từ bã mía và vỏ trứng vì giai đoạn đầu doanh nghiệp phải dành nguồn lực cho nghiên cứu công thức vật liệu, thử nghiệm độ bền, khả năng chống ẩm, an toàn thực phẩm và hoàn thiện dây chuyền sản xuất. Nhờ các chính sách này, nếu đáp ứng đầy đủ điều kiện pháp luật, startup có thể giảm một phần áp lực tài chính trong giai đoạn đầu tư và có thêm nguồn lực để tái đầu tư vào R&amp;D và mở rộng sản xuất (Fig. 30).</a:t>
            </a:r>
            <a:endParaRPr lang="vi-VN" sz="850" dirty="0"/>
          </a:p>
        </p:txBody>
      </p:sp>
      <p:sp>
        <p:nvSpPr>
          <p:cNvPr id="23" name="Text 18"/>
          <p:cNvSpPr txBox="1"/>
          <p:nvPr/>
        </p:nvSpPr>
        <p:spPr>
          <a:xfrm>
            <a:off x="2745284" y="3016597"/>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3.1.6.3. Thuế</a:t>
            </a:r>
            <a:endParaRPr lang="vi-VN" sz="820" dirty="0"/>
          </a:p>
        </p:txBody>
      </p:sp>
      <p:sp>
        <p:nvSpPr>
          <p:cNvPr id="24" name="Text 19"/>
          <p:cNvSpPr txBox="1"/>
          <p:nvPr/>
        </p:nvSpPr>
        <p:spPr>
          <a:xfrm>
            <a:off x="2745284" y="3163193"/>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Chính sách thuế có tác động trực tiếp đến chi phí, lợi nhuận sau thuế và khả năng tái đầu tư của startup sản xuất bao bì từ bã mía và vỏ trứng. Theo Luật Thuế thu nhập doanh nghiệp số 67/2025/QH15, thuế suất 15% áp dụng đối với doanh nghiệp có tổng doanh thu năm không quá 3 tỷ đồng và 17% đối với doanh nghiệp có tổng doanh thu năm trên 3 tỷ đồng đến không quá 50 tỷ đồng; mức thuế suất phổ thông là 20%. Việc áp dụng mức thuế suất thấp hơn đối với doanh nghiệp có quy mô doanh thu nhỏ giúp startup có thể giữ lại nhiều lợi nhuận hơn để phục vụ hoạt động kinh doanh. Đối với mô hình sản xuất bao bì, nguồn vốn giữ lại này có thể được tái đầu tư vào dây chuyền xử lý bã mía và vỏ trứng, hệ thống sấy, máy nghiền, máy ép, kiểm nghiệm chất lượng và mở rộng công suất, qua đó giảm mức độ phụ thuộc vào nguồn vốn bên ngoài trong giai đoạn đầu.</a:t>
            </a:r>
            <a:endParaRPr lang="vi-VN" sz="850" dirty="0"/>
          </a:p>
        </p:txBody>
      </p:sp>
      <p:sp>
        <p:nvSpPr>
          <p:cNvPr id="25" name="Text 20"/>
          <p:cNvSpPr txBox="1"/>
          <p:nvPr/>
        </p:nvSpPr>
        <p:spPr>
          <a:xfrm>
            <a:off x="2745284" y="4384923"/>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Tác động này càng đáng chú ý khi đặt trong bối cảnh chi phí vốn của startup đang chịu áp lực từ mặt bằng lãi suất cho vay. Theo số liệu đã phân tích tại mục 3.1.3, lãi suất cho vay đang ở khoảng 8,1–10,5%/năm. Vì vậy, phần lợi nhuận được giữ lại nhờ ưu đãi thuế không chỉ có giá trị ở việc tăng lợi nhuận sau thuế mà còn giúp startup giảm nhu cầu vay ngân hàng để tài trợ cho vốn lưu động và đầu tư máy móc. Chẳng hạn, nếu startup giữ lại được một khoản vốn thay vì phải vay ngân hàng với lãi suất 8,1–10,5%/năm, doanh nghiệp đồng thời tránh được khoản chi phí lãi vay tương ứng trong những năm tiếp theo, qua đó cải thiện dòng tiền và giảm áp lực trả nợ trong giai đoạn đầu.</a:t>
            </a:r>
            <a:endParaRPr lang="vi-VN" sz="850" dirty="0"/>
          </a:p>
        </p:txBody>
      </p:sp>
      <p:sp>
        <p:nvSpPr>
          <p:cNvPr id="26" name="Text 21"/>
          <p:cNvSpPr txBox="1"/>
          <p:nvPr/>
        </p:nvSpPr>
        <p:spPr>
          <a:xfrm>
            <a:off x="2745284" y="5343525"/>
            <a:ext cx="4464046" cy="1052513"/>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Bên cạnh đó, nếu startup đáp ứng điều kiện của chính sách ưu đãi dành cho doanh nghiệp khởi nghiệp đổi mới sáng tạo, thời gian miễn, giảm thuế trong những năm đầu có ý nghĩa đặc biệt đối với mô hình này. Giai đoạn đầu của startup thường đồng thời phát sinh chi phí đầu tư máy móc, khấu hao tài sản cố định và chi phí nghiên cứu, hoàn thiện vật liệu từ bã mía và vỏ trứng. Chi phí khấu hao của máy móc, đặc biệt đối với thiết bị nhập khẩu, có thể tạo áp lực lên chi phí sản xuất trong những năm đầu. Việc được miễn thuế trong 2 năm đầu có phát sinh thu nhập chịu thuế và giảm thuế trong các năm tiếp theo, nếu startup đủ điều kiện, giúp doanh nghiệp có thêm nguồn lực tài chính để hấp thụ các khoản chi phí này và duy trì vốn cho hoạt động sản xuất</a:t>
            </a:r>
            <a:endParaRPr lang="vi-VN" sz="850" dirty="0"/>
          </a:p>
        </p:txBody>
      </p:sp>
      <p:sp>
        <p:nvSpPr>
          <p:cNvPr id="27" name="Text 22"/>
          <p:cNvSpPr txBox="1"/>
          <p:nvPr/>
        </p:nvSpPr>
        <p:spPr>
          <a:xfrm>
            <a:off x="2745284" y="6433691"/>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3.2. Phân tích ngành bao bì sinh học tại Việt Nam</a:t>
            </a:r>
            <a:endParaRPr lang="vi-VN" sz="900" dirty="0"/>
          </a:p>
        </p:txBody>
      </p:sp>
      <p:sp>
        <p:nvSpPr>
          <p:cNvPr id="28" name="Text 23"/>
          <p:cNvSpPr txBox="1"/>
          <p:nvPr/>
        </p:nvSpPr>
        <p:spPr>
          <a:xfrm>
            <a:off x="2745284" y="6603057"/>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3.2.1. Tổng quan ngành bao bì sinh học tại Việt Nam</a:t>
            </a:r>
            <a:endParaRPr lang="vi-VN" sz="820" dirty="0"/>
          </a:p>
        </p:txBody>
      </p:sp>
      <p:sp>
        <p:nvSpPr>
          <p:cNvPr id="29" name="Text 24"/>
          <p:cNvSpPr txBox="1"/>
          <p:nvPr/>
        </p:nvSpPr>
        <p:spPr>
          <a:xfrm>
            <a:off x="2745284" y="6749653"/>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AgriPack hoạt động trực tiếp trong ngành bao bì sinh học với phân khúc bao bì sinh học từ phụ phẩm nông nghiệp mà cụ thể là bã mía và vỏ trứng.</a:t>
            </a:r>
            <a:endParaRPr lang="vi-VN" sz="850" dirty="0"/>
          </a:p>
        </p:txBody>
      </p:sp>
      <p:sp>
        <p:nvSpPr>
          <p:cNvPr id="30" name="Text 25"/>
          <p:cNvSpPr txBox="1"/>
          <p:nvPr/>
        </p:nvSpPr>
        <p:spPr>
          <a:xfrm>
            <a:off x="2745284" y="7050435"/>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Ngành bao bì sinh học là một trong những bộ phận có sự chuyển dịch bền vững trong tổng thể ngành bao bì Việt Nam và được ứng dụng trong hầu hết các ngành sản xuất và kinh doanh như ngành công nghiệp thực phẩm, đồ uống, y tế, chăm sóc sức khoẻ và điện tử.</a:t>
            </a:r>
            <a:endParaRPr lang="vi-VN" sz="850" dirty="0"/>
          </a:p>
        </p:txBody>
      </p:sp>
      <p:sp>
        <p:nvSpPr>
          <p:cNvPr id="31" name="Text 26"/>
          <p:cNvSpPr txBox="1"/>
          <p:nvPr/>
        </p:nvSpPr>
        <p:spPr>
          <a:xfrm>
            <a:off x="2745284" y="7482780"/>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Theo thống kê từ IMARC Group, quy mô thị trường bao bì “xanh” tại Việt Nam đạt 1.129,79 triệu USD vào năm 2025, dự kiến đạt 1.628,64 triệu USD vào năm 2034, tốc độ tăng trưởng kép hằng năm (CAGR) là 4,15% giai đoạn 2026–2034 và có xu hướng tăng trưởng dài hạn (Fig. 31).</a:t>
            </a:r>
            <a:endParaRPr lang="vi-VN" sz="850" dirty="0"/>
          </a:p>
        </p:txBody>
      </p:sp>
      <p:sp>
        <p:nvSpPr>
          <p:cNvPr id="32" name="Text 27"/>
          <p:cNvSpPr txBox="1"/>
          <p:nvPr/>
        </p:nvSpPr>
        <p:spPr>
          <a:xfrm>
            <a:off x="2745284" y="7915126"/>
            <a:ext cx="4464046" cy="13156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Bao bì sinh học gồm một số loại bao bì từ các chất liệu như sau:</a:t>
            </a:r>
            <a:endParaRPr lang="vi-VN" sz="850" dirty="0"/>
          </a:p>
        </p:txBody>
      </p:sp>
      <p:sp>
        <p:nvSpPr>
          <p:cNvPr id="33" name="Text 28"/>
          <p:cNvSpPr txBox="1"/>
          <p:nvPr/>
        </p:nvSpPr>
        <p:spPr>
          <a:xfrm>
            <a:off x="2759184" y="8084344"/>
            <a:ext cx="4450145" cy="263128"/>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Bao bì PLA: được làm từ tinh bột ngô, mía, có đặc tính nhẹ, trong suốt, dễ tạo hình và phân huỷ nhanh, thường dùng cho ly, hộp thực phẩm, ống hút, màng bọc.</a:t>
            </a:r>
            <a:endParaRPr lang="vi-VN" sz="850" dirty="0"/>
          </a:p>
        </p:txBody>
      </p:sp>
      <p:sp>
        <p:nvSpPr>
          <p:cNvPr id="34" name="Text 29"/>
          <p:cNvSpPr txBox="1"/>
          <p:nvPr/>
        </p:nvSpPr>
        <p:spPr>
          <a:xfrm>
            <a:off x="2759184" y="8356402"/>
            <a:ext cx="4450145" cy="263128"/>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Bao bì PHA/PHB: tạo ra từ vi sinh vật, khả năng chịu nhiệt tốt, phân huỷ cả trong đất lẫn nước biển, thường sử dụng trong ngành y tế, nông nghiệp và thực phẩm đông lạnh.</a:t>
            </a:r>
            <a:endParaRPr lang="vi-VN" sz="850" dirty="0"/>
          </a:p>
        </p:txBody>
      </p:sp>
      <p:sp>
        <p:nvSpPr>
          <p:cNvPr id="35" name="Text 30"/>
          <p:cNvSpPr txBox="1"/>
          <p:nvPr/>
        </p:nvSpPr>
        <p:spPr>
          <a:xfrm>
            <a:off x="2759184" y="8628459"/>
            <a:ext cx="4450145" cy="263128"/>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Bao bì Cellulose: làm từ sợi thực vật tự nhiên, có độ trong suốt cao, phù hợp để làm màng bọc hoặc túi đựng thực phẩm.</a:t>
            </a:r>
            <a:endParaRPr lang="vi-VN" sz="850" dirty="0"/>
          </a:p>
        </p:txBody>
      </p:sp>
      <p:sp>
        <p:nvSpPr>
          <p:cNvPr id="36" name="Text 31"/>
          <p:cNvSpPr txBox="1"/>
          <p:nvPr/>
        </p:nvSpPr>
        <p:spPr>
          <a:xfrm>
            <a:off x="2759184" y="8900517"/>
            <a:ext cx="4450145" cy="131564"/>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Bao bì từ phụ phẩm nông nghiệp: tận dụng phụ phẩm nông nghiệp, dễ sản xuất hàng loạt.</a:t>
            </a:r>
            <a:endParaRPr lang="vi-VN" sz="850" dirty="0"/>
          </a:p>
        </p:txBody>
      </p:sp>
      <p:sp>
        <p:nvSpPr>
          <p:cNvPr id="37" name="Text 32"/>
          <p:cNvSpPr txBox="1"/>
          <p:nvPr/>
        </p:nvSpPr>
        <p:spPr>
          <a:xfrm>
            <a:off x="2759184" y="9041011"/>
            <a:ext cx="4450145" cy="263128"/>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Bao bì Compostable: bao bì kết hợp nhiều loại vật liệu sinh học và có thể phân huỷ hoàn toàn trong đất hoặc nước chỉ sau vài tháng.</a:t>
            </a:r>
            <a:endParaRPr lang="vi-VN" sz="850" dirty="0"/>
          </a:p>
        </p:txBody>
      </p:sp>
      <p:sp>
        <p:nvSpPr>
          <p:cNvPr id="38" name="Text 33"/>
          <p:cNvSpPr txBox="1"/>
          <p:nvPr/>
        </p:nvSpPr>
        <p:spPr>
          <a:xfrm>
            <a:off x="2745284" y="9356229"/>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Bao bì sinh học từ phụ phẩm nông nghiệp thuộc phân khúc bao bì sinh học, sử dụng các nguồn nguyên liệu có nguồn gốc từ rơm rạ, trấu, bã mía, vỏ ngô, vỏ sắn, bã cà phê, phụ phẩm trái cây và các loại xơ thực vật. Đây là một ngách tiềm năng khi thực hiện đồng thời giảm phụ thuộc vào bao bì nhựa, nguồn cung dồi dào, gia tăng giá trị phụ phẩm nông nghiệp và phù hợp với kinh tế tuần hoàn.</a:t>
            </a:r>
            <a:endParaRPr lang="vi-VN" sz="850" dirty="0"/>
          </a:p>
        </p:txBody>
      </p:sp>
      <p:sp>
        <p:nvSpPr>
          <p:cNvPr id="39" name="Text 34"/>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0" name="Text 35"/>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8</a:t>
            </a:r>
            <a:endParaRPr lang="vi-VN" sz="6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2742009"/>
            <a:ext cx="2159943" cy="0"/>
          </a:xfrm>
          <a:prstGeom prst="line">
            <a:avLst/>
          </a:prstGeom>
          <a:noFill/>
          <a:ln w="9525">
            <a:solidFill>
              <a:srgbClr val="7B1E2B"/>
            </a:solidFill>
            <a:prstDash val="solid"/>
          </a:ln>
        </p:spPr>
      </p:sp>
      <p:sp>
        <p:nvSpPr>
          <p:cNvPr id="5" name="Shape 3"/>
          <p:cNvSpPr/>
          <p:nvPr/>
        </p:nvSpPr>
        <p:spPr>
          <a:xfrm>
            <a:off x="405408" y="3899892"/>
            <a:ext cx="2159943" cy="0"/>
          </a:xfrm>
          <a:prstGeom prst="line">
            <a:avLst/>
          </a:prstGeom>
          <a:noFill/>
          <a:ln w="9525">
            <a:solidFill>
              <a:srgbClr val="7B1E2B"/>
            </a:solidFill>
            <a:prstDash val="solid"/>
          </a:ln>
        </p:spPr>
      </p:sp>
      <p:sp>
        <p:nvSpPr>
          <p:cNvPr id="6" name="Shape 4"/>
          <p:cNvSpPr/>
          <p:nvPr/>
        </p:nvSpPr>
        <p:spPr>
          <a:xfrm>
            <a:off x="405408" y="10364688"/>
            <a:ext cx="6749058" cy="0"/>
          </a:xfrm>
          <a:prstGeom prst="line">
            <a:avLst/>
          </a:prstGeom>
          <a:noFill/>
          <a:ln w="9525">
            <a:solidFill>
              <a:srgbClr val="BFBFBF"/>
            </a:solidFill>
            <a:prstDash val="solid"/>
          </a:ln>
        </p:spPr>
      </p:sp>
      <p:sp>
        <p:nvSpPr>
          <p:cNvPr id="7" name="Text 5"/>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8" name="Text 6"/>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9" name="Text 7"/>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Động lực cầu: thương mại điện tử 38,5 tỷ USD, thị trường F&amp;B 760.000 tỷ đồng năm 2026</a:t>
            </a:r>
            <a:endParaRPr lang="vi-VN" sz="72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05408" y="840581"/>
          <a:ext cx="2159943" cy="914400"/>
        </p:xfrm>
        <a:graphic>
          <a:graphicData uri="http://schemas.openxmlformats.org/drawingml/2006/table">
            <a:tbl>
              <a:tblPr/>
              <a:tblGrid>
                <a:gridCol w="820638"/>
                <a:gridCol w="647849"/>
                <a:gridCol w="691455"/>
              </a:tblGrid>
              <a:tr h="230386">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Chỉ báo</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Giá trị</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Liên quan đến AgriPack</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Doanh thu TMĐT 2025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38,5 tỷ USD</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Đệm chống sốc cho hàng TMĐT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trưởng TMĐT 2021–2024</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18%/năm</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Cầu đệm bảo vệ</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Dân số mua sắm trực tuyến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~60%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Thị trường F&amp;B 2025 → 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726.500 → 760.000 tỷ đồng (+4,6%)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Hộp, khay F&amp;B: ~80% DT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Số điểm bán F&amp;B</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~333.600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Khách hàng B2B mục tiêu</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Đồ ăn trực tuyến 2025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2,1 tỷ USD</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Hộp mang đi</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1" name="Text 8"/>
          <p:cNvSpPr txBox="1"/>
          <p:nvPr/>
        </p:nvSpPr>
        <p:spPr>
          <a:xfrm>
            <a:off x="405408" y="2476500"/>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(Mục 3.2.2); +4,6%: tính toán từ số liệu trong bài</a:t>
            </a:r>
            <a:endParaRPr lang="vi-VN" sz="600" dirty="0"/>
          </a:p>
        </p:txBody>
      </p:sp>
      <p:sp>
        <p:nvSpPr>
          <p:cNvPr id="12" name="Text 9"/>
          <p:cNvSpPr txBox="1"/>
          <p:nvPr/>
        </p:nvSpPr>
        <p:spPr>
          <a:xfrm>
            <a:off x="405408" y="2773134"/>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Khoảng 160 triệu tấn phụ phẩm nông nghiệp mỗi năm, chỉ 10–35% được tái chế</a:t>
            </a:r>
            <a:endParaRPr lang="vi-VN" sz="720" dirty="0"/>
          </a:p>
        </p:txBody>
      </p:sp>
      <p:sp>
        <p:nvSpPr>
          <p:cNvPr id="13" name="Text 10"/>
          <p:cNvSpPr txBox="1"/>
          <p:nvPr/>
        </p:nvSpPr>
        <p:spPr>
          <a:xfrm>
            <a:off x="405408" y="3010198"/>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Triệu tấn/năm</a:t>
            </a:r>
            <a:endParaRPr lang="vi-VN" sz="630" dirty="0"/>
          </a:p>
        </p:txBody>
      </p:sp>
      <p:graphicFrame>
        <p:nvGraphicFramePr>
          <p:cNvPr id="14" name="Chart 0" descr=""/>
          <p:cNvGraphicFramePr/>
          <p:nvPr/>
        </p:nvGraphicFramePr>
        <p:xfrm>
          <a:off x="405408" y="3125688"/>
          <a:ext cx="2159943" cy="490835"/>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405408" y="3634383"/>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Tổng cục Thống kê – số liệu trong bài của nhóm (Mục 3.2.2); nhóm "khác" = 160 trừ ba loại đã nêu</a:t>
            </a:r>
            <a:endParaRPr lang="vi-VN" sz="600" dirty="0"/>
          </a:p>
        </p:txBody>
      </p:sp>
      <p:sp>
        <p:nvSpPr>
          <p:cNvPr id="16" name="Text 12"/>
          <p:cNvSpPr txBox="1"/>
          <p:nvPr/>
        </p:nvSpPr>
        <p:spPr>
          <a:xfrm>
            <a:off x="405408" y="3931017"/>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Cạnh tranh, khách hàng và sản phẩm thay thế đều ở mức cao; nguồn phụ phẩm là lợi thế đầu vào</a:t>
            </a:r>
            <a:endParaRPr lang="vi-VN" sz="72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05408" y="4182368"/>
          <a:ext cx="2159943" cy="914400"/>
        </p:xfrm>
        <a:graphic>
          <a:graphicData uri="http://schemas.openxmlformats.org/drawingml/2006/table">
            <a:tbl>
              <a:tblPr/>
              <a:tblGrid>
                <a:gridCol w="647849"/>
                <a:gridCol w="647849"/>
                <a:gridCol w="864245"/>
              </a:tblGrid>
              <a:tr h="230386">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Yếu tố</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Mức độ (bài của nhóm)</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Phản ánh trong mô hình</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Cạnh tranh nội bộ ngành</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Cao</a:t>
                      </a:r>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(3.2.3)</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Giá bán tăng 2%/năm (&lt; CPI)</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Rào cản gia nhập</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Cao</a:t>
                      </a:r>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(3.2.4)</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CAPEX 65% DT năm 2028; kiểm nghiệm, chứng nhận 0,6% DT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Nguồn cung nguyên liệu</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Dồi dào, chi phí thấp (3.2.2)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CP biến đổi 25,0% → 27,0% DT do thu gom, năng lượng (3.1.2)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Khách hàng (B2B)</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Cao</a:t>
                      </a:r>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(3.2.6)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DSO 14 → 30 ngày; giá bám đối thủ</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Sản phẩm thay thế</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Cao – rất cao</a:t>
                      </a:r>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(3.2.5)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Kịch bản Bear: sản lượng 70% Base</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8" name="Text 13"/>
          <p:cNvSpPr txBox="1"/>
          <p:nvPr/>
        </p:nvSpPr>
        <p:spPr>
          <a:xfrm>
            <a:off x="405408" y="5781675"/>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Mức độ: bài của nhóm (Mục 3.2.2–3.2.6); cột cuối: cách phản ánh trong mô hình</a:t>
            </a:r>
            <a:endParaRPr lang="vi-VN" sz="600" dirty="0"/>
          </a:p>
        </p:txBody>
      </p:sp>
      <p:sp>
        <p:nvSpPr>
          <p:cNvPr id="19" name="Text 14"/>
          <p:cNvSpPr txBox="1"/>
          <p:nvPr/>
        </p:nvSpPr>
        <p:spPr>
          <a:xfrm>
            <a:off x="2745284" y="558105"/>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3.2.2. Động lực tăng trưởng chính</a:t>
            </a:r>
            <a:endParaRPr lang="vi-VN" sz="820" dirty="0"/>
          </a:p>
        </p:txBody>
      </p:sp>
      <p:sp>
        <p:nvSpPr>
          <p:cNvPr id="20" name="Text 15"/>
          <p:cNvSpPr txBox="1"/>
          <p:nvPr/>
        </p:nvSpPr>
        <p:spPr>
          <a:xfrm>
            <a:off x="2745284" y="704701"/>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Ngành công nghiệp bao bì sinh học từ phụ phẩm nông nghiệp của Việt Nam đang được các chuyên gia và nhà đầu tư kỳ vọng sẽ tăng trưởng mạnh do được thúc đẩy bởi các động lực rõ ràng như sau:</a:t>
            </a:r>
            <a:endParaRPr lang="vi-VN" sz="850" dirty="0"/>
          </a:p>
        </p:txBody>
      </p:sp>
      <p:sp>
        <p:nvSpPr>
          <p:cNvPr id="21" name="Text 16"/>
          <p:cNvSpPr txBox="1"/>
          <p:nvPr/>
        </p:nvSpPr>
        <p:spPr>
          <a:xfrm>
            <a:off x="2745284" y="1005483"/>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Yếu tố đầu tiên là do chính sách hạn chế nhựa dùng một lần và chính sách thúc đẩy kinh tế tuần hoàn. Các chính sách EPR, ESG, cam kết Net Zero đến 2050, Luật Bảo vệ môi trường 2020, NĐ 08/2022/NĐ-CP, NĐ 110/2026/NĐ-CP đã tạo ra khung pháp lý dài hạn buộc các doanh nghiệp, đặc biệt là ngành F&amp;B, FMCG, phải chuyển đổi sang bao bì thân thiện với môi trường. Đồng thời với đó, chính sách hỗ trợ kinh tế tuần hoàn trong nông nghiệp (QĐ 540/QĐ-TTg, QĐ 882/QĐ-TTg) đã khuyến khích tái sử dụng phụ phẩm nông nghiệp. Đây chính là động lực tăng trưởng chính của phân khúc bao bì sinh học từ phụ phẩm nông nghiệp.</a:t>
            </a:r>
            <a:endParaRPr lang="vi-VN" sz="850" dirty="0"/>
          </a:p>
        </p:txBody>
      </p:sp>
      <p:sp>
        <p:nvSpPr>
          <p:cNvPr id="22" name="Text 17"/>
          <p:cNvSpPr txBox="1"/>
          <p:nvPr/>
        </p:nvSpPr>
        <p:spPr>
          <a:xfrm>
            <a:off x="2745284" y="1964085"/>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Yếu tố thứ hai là do sự bùng nổ của thương mại điện tử và dịch vụ F&amp;B mang đi. Thị trường thương mại điện tử Việt Nam đang tăng trưởng mạnh mẽ kể từ giai đoạn 2021–2024, tăng trưởng đạt 18%/năm, doanh thu đạt 38,5 tỷ USD vào năm 2025 với khoảng 60% dân số tham gia mua sắm trực tuyến. Trong khi đó, thị trường F&amp;B đạt 726.500 tỷ đồng năm 2025 và dự kiến tăng lên 760.000 tỷ đồng năm 2026 với số lượng điểm bán khoảng 333.600 cửa hàng, thị trường đồ ăn trực tuyến đạt 2,1 tỷ USD năm 2025 (Fig. 32). Ngành thương mại điện tử và dịch vụ mang đi tạo ra nhu cầu lớn về hộp đựng thực phẩm, đệm chống sốc cho sản phẩm. Bao bì từ phụ phẩm nông nghiệp, đặc biệt với chất liệu bã mía phù hợp với yêu cầu chống thấm dầu, chịu nhiệt và khả năng phân huỷ, đang dần thay thế hộp sử dụng một lần.</a:t>
            </a:r>
            <a:endParaRPr lang="vi-VN" sz="850" dirty="0"/>
          </a:p>
        </p:txBody>
      </p:sp>
      <p:sp>
        <p:nvSpPr>
          <p:cNvPr id="23" name="Text 18"/>
          <p:cNvSpPr txBox="1"/>
          <p:nvPr/>
        </p:nvSpPr>
        <p:spPr>
          <a:xfrm>
            <a:off x="2745284" y="3185815"/>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Hoạt động này thúc đẩy trực tiếp phân khúc bao bì đóng gói, chứa đựng thực phẩm (ngành F&amp;B) và FMCG của AgriPack. Bên cạnh đó, nhu cầu sử dụng đệm bảo vệ, chống sốc cho hàng hoá thương mại điện tử của AgriPack cũng gia tăng.</a:t>
            </a:r>
            <a:endParaRPr lang="vi-VN" sz="850" dirty="0"/>
          </a:p>
        </p:txBody>
      </p:sp>
      <p:sp>
        <p:nvSpPr>
          <p:cNvPr id="24" name="Text 19"/>
          <p:cNvSpPr txBox="1"/>
          <p:nvPr/>
        </p:nvSpPr>
        <p:spPr>
          <a:xfrm>
            <a:off x="2745284" y="3618161"/>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Yếu tố thứ ba, nguồn cung từ nông nghiệp dồi dào và có chi phí thấp. Theo số liệu của Tổng cục Thống kê, Việt Nam mỗi năm phát sinh khoảng 160 triệu tấn phụ phẩm nông nghiệp (gồm 42,8 triệu tấn rơm rạ, 15 triệu tấn bã mía, 1,4 triệu tấn vỏ cà phê, vỏ trấu, chất thải chăn nuôi và các loại khác) trong khi chỉ 10–35% được tái chế (Fig. 33). Nguồn cung đầu vào này có giá rẻ và dồi dào nên đây là lợi thế cho doanh nghiệp trong quá trình sản xuất bao bì sinh học, đồng thời tái tạo giá trị cho phụ phẩm và tạo kinh tế tuần hoàn.</a:t>
            </a:r>
            <a:endParaRPr lang="vi-VN" sz="850" dirty="0"/>
          </a:p>
        </p:txBody>
      </p:sp>
      <p:sp>
        <p:nvSpPr>
          <p:cNvPr id="25" name="Text 20"/>
          <p:cNvSpPr txBox="1"/>
          <p:nvPr/>
        </p:nvSpPr>
        <p:spPr>
          <a:xfrm>
            <a:off x="2745284" y="4445198"/>
            <a:ext cx="4464046" cy="13156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Đây là lợi thế về đầu vào của AgriPack khi tận dụng được tối đa lợi ích từ nguồn cung bã mía.</a:t>
            </a:r>
            <a:endParaRPr lang="vi-VN" sz="850" dirty="0"/>
          </a:p>
        </p:txBody>
      </p:sp>
      <p:sp>
        <p:nvSpPr>
          <p:cNvPr id="26" name="Text 21"/>
          <p:cNvSpPr txBox="1"/>
          <p:nvPr/>
        </p:nvSpPr>
        <p:spPr>
          <a:xfrm>
            <a:off x="2745284" y="4614416"/>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Yếu tố thứ tư, sự tiến bộ trong công nghệ sản xuất bao bì sinh học. Hiện nay, đã có nhiều sự phát triển trong hoạt động xử lý và tách chiết vật liệu xanh hoá (vật liệu nhựa sinh học từ bã cà phê, bao bì sinh học từ vỏ trái cây, nhựa sinh học PLA, nhựa sinh học PHA/PHB), công nghệ ép khuôn (gia công ướt/khô polyme từ vỏ giáp xác, ép khuôn bột bã mía, ép khuôn nhiệt ướt – wet press thermoforming), chống thấm ẩm mốc và tăng độ dẻo dai, lớp màng sản phẩm (lớp chống dầu/nước không chứa PFAS, sử dụng vỏ trứng để tăng tính cơ học, nhiệt học cho bao bì, màng nhựa từ bột sắn, BioResin, BioFilm,...). Các công nghệ xử lý và sản xuất vật liệu sinh học đang dần hoàn thiện, giảm thiểu tối đa những điểm yếu của bao bì sinh học. Điển hình như AgriPack sử dụng vỏ trứng để tăng tính cơ học cho sản phẩm.</a:t>
            </a:r>
            <a:endParaRPr lang="vi-VN" sz="850" dirty="0"/>
          </a:p>
        </p:txBody>
      </p:sp>
      <p:sp>
        <p:nvSpPr>
          <p:cNvPr id="27" name="Text 22"/>
          <p:cNvSpPr txBox="1"/>
          <p:nvPr/>
        </p:nvSpPr>
        <p:spPr>
          <a:xfrm>
            <a:off x="2745284" y="5836146"/>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3.2.3. Đối thủ cạnh tranh</a:t>
            </a:r>
            <a:endParaRPr lang="vi-VN" sz="820" dirty="0"/>
          </a:p>
        </p:txBody>
      </p:sp>
      <p:sp>
        <p:nvSpPr>
          <p:cNvPr id="28" name="Text 23"/>
          <p:cNvSpPr txBox="1"/>
          <p:nvPr/>
        </p:nvSpPr>
        <p:spPr>
          <a:xfrm>
            <a:off x="2745284" y="5982742"/>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Môi trường cạnh tranh nội bộ ngành bao bì sinh học từ phụ phẩm nông nghiệp có mức độ cạnh tranh cao. Điều này xuất phát từ sự phát triển của xu hướng tuần hoàn xanh của Chính phủ, số lượng doanh nghiệp tham gia phân khúc phụ phẩm nông nghiệp tăng trong 5 năm gần đây. Bên cạnh đó, các sản phẩm còn có sự tương đồng cao về công năng (đều là hộp/khay F&amp;B, FMCG, đệm bảo vệ) khiến yếu tố giá, chất lượng và khả năng giao hàng trở thành điểm cạnh tranh chính (Fig. 34).</a:t>
            </a:r>
            <a:endParaRPr lang="vi-VN" sz="850" dirty="0"/>
          </a:p>
        </p:txBody>
      </p:sp>
      <p:sp>
        <p:nvSpPr>
          <p:cNvPr id="29" name="Text 24"/>
          <p:cNvSpPr txBox="1"/>
          <p:nvPr/>
        </p:nvSpPr>
        <p:spPr>
          <a:xfrm>
            <a:off x="2745284" y="6678216"/>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Một số đối thủ cạnh tranh trực tiếp của AgriPack trong ngành bao bì sinh học từ phụ phẩm nông nghiệp được trình bày ở Fig. A04; công suất của các đối thủ đã công bố ở Fig. 35.</a:t>
            </a:r>
            <a:endParaRPr lang="vi-VN" sz="850" dirty="0"/>
          </a:p>
        </p:txBody>
      </p:sp>
      <p:sp>
        <p:nvSpPr>
          <p:cNvPr id="30" name="Text 25"/>
          <p:cNvSpPr txBox="1"/>
          <p:nvPr/>
        </p:nvSpPr>
        <p:spPr>
          <a:xfrm>
            <a:off x="2745284" y="6978997"/>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AgriPack đối mặt với hai nhóm đối thủ lớn. Nhóm thứ nhất là các doanh nghiệp nội địa có quy mô lớn như AnEco và HAPBIO – những doanh nghiệp có lợi thế về vốn, công suất, hệ thống sản xuất và hệ thống khách hàng, được công nhận trên thị trường. Nhóm thứ hai là các doanh nghiệp khởi nghiệp trong cùng lĩnh vực bao bì xanh như BioWraps, AIRX Coffee, Hapobe – đều là những doanh nghiệp có định hướng sử dụng phụ phẩm nông nghiệp thành vật liệu xanh.</a:t>
            </a:r>
            <a:endParaRPr lang="vi-VN" sz="850" dirty="0"/>
          </a:p>
        </p:txBody>
      </p:sp>
      <p:sp>
        <p:nvSpPr>
          <p:cNvPr id="31" name="Text 26"/>
          <p:cNvSpPr txBox="1"/>
          <p:nvPr/>
        </p:nvSpPr>
        <p:spPr>
          <a:xfrm>
            <a:off x="2745284" y="7674471"/>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Lợi thế cạnh tranh hiện tại của AgriPack nằm ở sự kết hợp giữa bã mía và vỏ trứng để tăng độ bền, kết hợp làm dịch vụ thiết kế – làm khuôn theo dự án và tập trung ở địa bàn miền Trung – Nam (Gia Lai – nơi có vùng mía đường lớn, gần các nhà máy mía đường lớn), giúp giảm chi phí logistics.</a:t>
            </a:r>
            <a:endParaRPr lang="vi-VN" sz="850" dirty="0"/>
          </a:p>
        </p:txBody>
      </p:sp>
      <p:sp>
        <p:nvSpPr>
          <p:cNvPr id="32" name="Text 27"/>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33" name="Text 28"/>
          <p:cNvSpPr txBox="1"/>
          <p:nvPr/>
        </p:nvSpPr>
        <p:spPr>
          <a:xfrm>
            <a:off x="7114580" y="10406509"/>
            <a:ext cx="94750"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9</a:t>
            </a:r>
            <a:endParaRPr lang="vi-VN" sz="6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2023318"/>
            <a:ext cx="2159943" cy="0"/>
          </a:xfrm>
          <a:prstGeom prst="line">
            <a:avLst/>
          </a:prstGeom>
          <a:noFill/>
          <a:ln w="9525">
            <a:solidFill>
              <a:srgbClr val="7B1E2B"/>
            </a:solidFill>
            <a:prstDash val="solid"/>
          </a:ln>
        </p:spPr>
      </p:sp>
      <p:sp>
        <p:nvSpPr>
          <p:cNvPr id="5" name="Shape 3"/>
          <p:cNvSpPr/>
          <p:nvPr/>
        </p:nvSpPr>
        <p:spPr>
          <a:xfrm>
            <a:off x="405408" y="10364688"/>
            <a:ext cx="6749058" cy="0"/>
          </a:xfrm>
          <a:prstGeom prst="line">
            <a:avLst/>
          </a:prstGeom>
          <a:noFill/>
          <a:ln w="9525">
            <a:solidFill>
              <a:srgbClr val="BFBFBF"/>
            </a:solidFill>
            <a:prstDash val="solid"/>
          </a:ln>
        </p:spPr>
      </p:sp>
      <p:sp>
        <p:nvSpPr>
          <p:cNvPr id="6" name="Text 4"/>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7" name="Text 5"/>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8" name="Text 6"/>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Đối thủ lớn nhất có công suất khoảng 108 nghìn tấn/năm</a:t>
            </a:r>
            <a:endParaRPr lang="vi-VN" sz="720" dirty="0"/>
          </a:p>
        </p:txBody>
      </p:sp>
      <p:sp>
        <p:nvSpPr>
          <p:cNvPr id="9" name="Text 7"/>
          <p:cNvSpPr txBox="1"/>
          <p:nvPr/>
        </p:nvSpPr>
        <p:spPr>
          <a:xfrm>
            <a:off x="405408" y="82629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Nghìn tấn/năm</a:t>
            </a:r>
            <a:endParaRPr lang="vi-VN" sz="630" dirty="0"/>
          </a:p>
        </p:txBody>
      </p:sp>
      <p:graphicFrame>
        <p:nvGraphicFramePr>
          <p:cNvPr id="10" name="Chart 0" descr=""/>
          <p:cNvGraphicFramePr/>
          <p:nvPr/>
        </p:nvGraphicFramePr>
        <p:xfrm>
          <a:off x="405408" y="941784"/>
          <a:ext cx="2159943" cy="706785"/>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405408" y="1666429"/>
            <a:ext cx="2214807" cy="27414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Bảng đối thủ của nhóm (Mục 3.2.3, Fig. A04); AgriPack chưa công bố công suất theo tấn (sản lượng 2025 khoảng 15 triệu hộp, khay)</a:t>
            </a:r>
            <a:endParaRPr lang="vi-VN" sz="600" dirty="0"/>
          </a:p>
        </p:txBody>
      </p:sp>
      <p:sp>
        <p:nvSpPr>
          <p:cNvPr id="12" name="Text 9"/>
          <p:cNvSpPr txBox="1"/>
          <p:nvPr/>
        </p:nvSpPr>
        <p:spPr>
          <a:xfrm>
            <a:off x="405408" y="2054443"/>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36:</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Nhựa truyền thống, hộp xốp là sản phẩm thay thế có áp lực rất cao</a:t>
            </a:r>
            <a:endParaRPr lang="vi-VN" sz="72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05408" y="2305794"/>
          <a:ext cx="2159943" cy="914400"/>
        </p:xfrm>
        <a:graphic>
          <a:graphicData uri="http://schemas.openxmlformats.org/drawingml/2006/table">
            <a:tbl>
              <a:tblPr/>
              <a:tblGrid>
                <a:gridCol w="1468636"/>
                <a:gridCol w="691307"/>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Sản phẩm thay thế</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Áp lực</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Nhựa truyền thống, hộp xốp dùng một lần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Rất 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Giấy, carton, kraft (giấy từ gỗ mềm)</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Nhựa sinh học</a:t>
                      </a:r>
                      <a:endParaRPr lang="vi-VN" sz="650" dirty="0">
                        <a:latin typeface="Calibri" charset="0"/>
                        <a:ea typeface="Calibri" charset="0"/>
                        <a:cs typeface="Calibri" charset="0"/>
                      </a:endParaRPr>
                    </a:p>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(PLA, PHA)</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Nhựa tái chế</a:t>
                      </a:r>
                      <a:endParaRPr lang="vi-VN" sz="650" dirty="0">
                        <a:latin typeface="Calibri" charset="0"/>
                        <a:ea typeface="Calibri" charset="0"/>
                        <a:cs typeface="Calibri" charset="0"/>
                      </a:endParaRPr>
                    </a:p>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(rPET, PCR)</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Trung bình – 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Bioplastic</a:t>
                      </a:r>
                      <a:endParaRPr lang="vi-VN" sz="650" dirty="0">
                        <a:latin typeface="Calibri" charset="0"/>
                        <a:ea typeface="Calibri" charset="0"/>
                        <a:cs typeface="Calibri" charset="0"/>
                      </a:endParaRPr>
                    </a:p>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(PLA/PBAT, nhựa phối trộn với nguyên liệu sinh học)</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Đệm xốp bảo vệ (EPE/PE Foam)</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Đệm xốp sinh học</a:t>
                      </a:r>
                      <a:endParaRPr lang="vi-VN" sz="650" dirty="0">
                        <a:latin typeface="Calibri" charset="0"/>
                        <a:ea typeface="Calibri" charset="0"/>
                        <a:cs typeface="Calibri" charset="0"/>
                      </a:endParaRPr>
                    </a:p>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(từ sợi nấm, tinh bột)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Trung bình – 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Đệm giấy tổ ong/giấy nhún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Trung bình – 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Bao bì vật liệu sinh học (bã cà phê, trấu, rơm rạ, vỏ dừa,...)</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4" name="Text 10"/>
          <p:cNvSpPr txBox="1"/>
          <p:nvPr/>
        </p:nvSpPr>
        <p:spPr>
          <a:xfrm>
            <a:off x="405408" y="4343549"/>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(Mục 3.2.5); ưu, nhược điểm chi tiết ở Fig. A05</a:t>
            </a:r>
            <a:endParaRPr lang="vi-VN" sz="600" dirty="0"/>
          </a:p>
        </p:txBody>
      </p:sp>
      <p:sp>
        <p:nvSpPr>
          <p:cNvPr id="15" name="Text 11"/>
          <p:cNvSpPr txBox="1"/>
          <p:nvPr/>
        </p:nvSpPr>
        <p:spPr>
          <a:xfrm>
            <a:off x="2745284" y="558105"/>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3.2.4. Rào cản gia nhập</a:t>
            </a:r>
            <a:endParaRPr lang="vi-VN" sz="820" dirty="0"/>
          </a:p>
        </p:txBody>
      </p:sp>
      <p:sp>
        <p:nvSpPr>
          <p:cNvPr id="16" name="Text 12"/>
          <p:cNvSpPr txBox="1"/>
          <p:nvPr/>
        </p:nvSpPr>
        <p:spPr>
          <a:xfrm>
            <a:off x="2745284" y="704701"/>
            <a:ext cx="4464046" cy="13156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Ngành sản xuất bao bì sinh học có một số rào cản gia nhập rõ ràng như sau:</a:t>
            </a:r>
            <a:endParaRPr lang="vi-VN" sz="850" dirty="0"/>
          </a:p>
        </p:txBody>
      </p:sp>
      <p:sp>
        <p:nvSpPr>
          <p:cNvPr id="17" name="Text 13"/>
          <p:cNvSpPr txBox="1"/>
          <p:nvPr/>
        </p:nvSpPr>
        <p:spPr>
          <a:xfrm>
            <a:off x="2745284" y="873919"/>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Yếu tố đầu tiên là về vốn đầu tư. Sản xuất bao bì xanh từ phụ phẩm nông nghiệp yêu cầu hệ thống máy móc từ thu gom, hệ thống phân loại, xử lý và làm sạch, chuẩn hoá nguyên liệu, máy móc tạo hình, máy sấy nhiệt, hệ thống kiểm tra chất lượng, khuôn, màng lọc theo từng sản phẩm được đặt hàng. Với khách hàng doanh nghiệp (B2B) còn phải có khả năng duy trì sản lượng ổn định. Do đó, vốn đầu tư ban đầu và vốn lưu động là rào cản lớn, đặc biệt trong giai đoạn startup.</a:t>
            </a:r>
            <a:endParaRPr lang="vi-VN" sz="850" dirty="0"/>
          </a:p>
        </p:txBody>
      </p:sp>
      <p:sp>
        <p:nvSpPr>
          <p:cNvPr id="18" name="Text 14"/>
          <p:cNvSpPr txBox="1"/>
          <p:nvPr/>
        </p:nvSpPr>
        <p:spPr>
          <a:xfrm>
            <a:off x="2745284" y="1569393"/>
            <a:ext cx="4464046" cy="1052513"/>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Yếu tố thứ hai là rào cản về công nghệ và hoạt động nghiên cứu R&amp;D, chứng nhận đạt chuẩn chất lượng. Phụ phẩm nông nghiệp có tính chất không đồng nhất, độ ẩm, thành phần có thể thay đổi theo mùa vụ, nguồn cung và quá trình xử lý. Vì vậy, doanh nghiệp phải nghiên cứu, thử nghiệm lâu dài, chuẩn bị các công nghệ, các dây chuyền xử lý và chuẩn hoá nguyên liệu trước khi tạo hình, điều này yêu cầu hệ thống xử lý và phân loại có công nghệ cao. Đồng thời, sản phẩm cũng phải đáp ứng đủ các yêu cầu về chất lượng (độ cứng, khả năng chịu nhiệt, cơ học, an toàn với thực phẩm) thông qua các chứng nhận quốc tế như: BPI và OK compost home/industrial, FDA, BRC/IOP, ISO 9001:2026, VSATTP để có thể được chứng nhận an toàn và lưu hành trên thị trường.</a:t>
            </a:r>
            <a:endParaRPr lang="vi-VN" sz="850" dirty="0"/>
          </a:p>
        </p:txBody>
      </p:sp>
      <p:sp>
        <p:nvSpPr>
          <p:cNvPr id="19" name="Text 15"/>
          <p:cNvSpPr txBox="1"/>
          <p:nvPr/>
        </p:nvSpPr>
        <p:spPr>
          <a:xfrm>
            <a:off x="2745284" y="2659559"/>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Đối với sản phẩm của AgriPack, thì sản phẩm hộp/khay F&amp;B phải đồng thời đáp ứng độ bền, độ chống thấm mốc, kích thước, khả năng chịu được thực phẩm và độ ổn định.</a:t>
            </a:r>
            <a:endParaRPr lang="vi-VN" sz="850" dirty="0"/>
          </a:p>
        </p:txBody>
      </p:sp>
      <p:sp>
        <p:nvSpPr>
          <p:cNvPr id="20" name="Text 16"/>
          <p:cNvSpPr txBox="1"/>
          <p:nvPr/>
        </p:nvSpPr>
        <p:spPr>
          <a:xfrm>
            <a:off x="2745284" y="2960340"/>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Yếu tố thứ ba là rào cản về thương hiệu và mạng lưới khách hàng B2B. Các khách hàng doanh nghiệp lớn thường yêu cầu nhà cung cấp có khả năng giao hàng ổn định, số lượng lớn, chất lượng đồng nhất, giá cả cạnh tranh và hỗ trợ thiết kế theo yêu cầu và họ thường ưu tiên tìm đến các doanh nghiệp đã có tên tuổi hoặc đối tác lâu năm. Các doanh nghiệp nhỏ hoặc startup mới thành lập sẽ khó cạnh tranh với các nhà cung cấp đã có hợp đồng dài hạn.</a:t>
            </a:r>
            <a:endParaRPr lang="vi-VN" sz="850" dirty="0"/>
          </a:p>
        </p:txBody>
      </p:sp>
      <p:sp>
        <p:nvSpPr>
          <p:cNvPr id="21" name="Text 17"/>
          <p:cNvSpPr txBox="1"/>
          <p:nvPr/>
        </p:nvSpPr>
        <p:spPr>
          <a:xfrm>
            <a:off x="2745284" y="3655814"/>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Nhìn chung, rào cản gia nhập ngành là cao. Doanh nghiệp mới gia nhập thị trường có thể tạo mẫu thử, thiết kế ở quy mô nhỏ nhưng không thể đáp ứng được các yêu cầu về giá cạnh tranh – số lượng sản phẩm – chất lượng sản phẩm – chứng minh tiêu chuẩn một cách đồng thời.</a:t>
            </a:r>
            <a:endParaRPr lang="vi-VN" sz="850" dirty="0"/>
          </a:p>
        </p:txBody>
      </p:sp>
      <p:sp>
        <p:nvSpPr>
          <p:cNvPr id="22" name="Text 18"/>
          <p:cNvSpPr txBox="1"/>
          <p:nvPr/>
        </p:nvSpPr>
        <p:spPr>
          <a:xfrm>
            <a:off x="2745284" y="4088160"/>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3.2.5. Sản phẩm thay thế</a:t>
            </a:r>
            <a:endParaRPr lang="vi-VN" sz="820" dirty="0"/>
          </a:p>
        </p:txBody>
      </p:sp>
      <p:sp>
        <p:nvSpPr>
          <p:cNvPr id="23" name="Text 19"/>
          <p:cNvSpPr txBox="1"/>
          <p:nvPr/>
        </p:nvSpPr>
        <p:spPr>
          <a:xfrm>
            <a:off x="2745284" y="4234755"/>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Phân khúc sản xuất bao bì sinh học bằng phụ phẩm nông nghiệp trong ngành F&amp;B, FMCG, đóng gói vận chuyển linh kiện điện tử có áp lực cao từ sản phẩm thay thế. Những sản phẩm thay thế này đến từ cả những ngành bao bì truyền thống (giấy, nhựa, kraft, carton) và trong chính những phân khúc bao bì sinh học từ vật liệu nhựa sinh học tổng hợp (PLA/PHA).</a:t>
            </a:r>
            <a:endParaRPr lang="vi-VN" sz="850" dirty="0"/>
          </a:p>
        </p:txBody>
      </p:sp>
      <p:sp>
        <p:nvSpPr>
          <p:cNvPr id="24" name="Text 20"/>
          <p:cNvSpPr txBox="1"/>
          <p:nvPr/>
        </p:nvSpPr>
        <p:spPr>
          <a:xfrm>
            <a:off x="2745284" y="4798665"/>
            <a:ext cx="4464046" cy="13156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Những sản phẩm thay thế chính được tóm tắt ở Fig. 36; ưu, nhược điểm của từng loại ở Fig. A05.</a:t>
            </a:r>
            <a:endParaRPr lang="vi-VN" sz="850" dirty="0"/>
          </a:p>
        </p:txBody>
      </p:sp>
      <p:sp>
        <p:nvSpPr>
          <p:cNvPr id="25" name="Text 21"/>
          <p:cNvSpPr txBox="1"/>
          <p:nvPr/>
        </p:nvSpPr>
        <p:spPr>
          <a:xfrm>
            <a:off x="2745284" y="4967883"/>
            <a:ext cx="4464046" cy="125016"/>
          </a:xfrm>
          <a:prstGeom prst="rect">
            <a:avLst/>
          </a:prstGeom>
          <a:noFill/>
          <a:ln/>
        </p:spPr>
        <p:txBody>
          <a:bodyPr wrap="square" lIns="0" tIns="0" rIns="0" bIns="0" rtlCol="0" anchor="t"/>
          <a:lstStyle/>
          <a:p>
            <a:pPr algn="l" indent="0" marL="0">
              <a:lnSpc>
                <a:spcPts val="980"/>
              </a:lnSpc>
              <a:buNone/>
            </a:pPr>
            <a:r>
              <a:rPr lang="vi-VN" sz="820" b="1" i="1" dirty="0">
                <a:solidFill>
                  <a:srgbClr val="404040"/>
                </a:solidFill>
                <a:latin typeface="Calibri" pitchFamily="34" charset="0"/>
                <a:ea typeface="Calibri" pitchFamily="34" charset="-122"/>
                <a:cs typeface="Calibri" pitchFamily="34" charset="-120"/>
              </a:rPr>
              <a:t>3.2.6. Hành vi khách hàng</a:t>
            </a:r>
            <a:endParaRPr lang="vi-VN" sz="820" dirty="0"/>
          </a:p>
        </p:txBody>
      </p:sp>
      <p:sp>
        <p:nvSpPr>
          <p:cNvPr id="26" name="Text 22"/>
          <p:cNvSpPr txBox="1"/>
          <p:nvPr/>
        </p:nvSpPr>
        <p:spPr>
          <a:xfrm>
            <a:off x="2745284" y="5114479"/>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Quyền thương lượng của khách hàng tới phân khúc bao bì sinh học bằng phụ phẩm nông nghiệp ở mức cao, đặc biệt với nhóm khách hàng B2B – khách hàng trực tiếp của các doanh nghiệp bao bì sinh học. Nhóm khách hàng B2B này bao gồm nhiều nhà hàng, quán cà phê, chuỗi F&amp;B, FMCG, doanh nghiệp điện tử, nội thất, thương mại điện tử. Bao bì là đầu vào thường được mua với số lượng lớn của các doanh nghiệp, đồng thời trên thị trường cũng có nhiều lựa chọn thay thế khác nên khả năng so sánh và chuyển đổi giữa các nhà cung cấp bao bì là cao.</a:t>
            </a:r>
            <a:endParaRPr lang="vi-VN" sz="850" dirty="0"/>
          </a:p>
        </p:txBody>
      </p:sp>
      <p:sp>
        <p:nvSpPr>
          <p:cNvPr id="27" name="Text 23"/>
          <p:cNvSpPr txBox="1"/>
          <p:nvPr/>
        </p:nvSpPr>
        <p:spPr>
          <a:xfrm>
            <a:off x="2745284" y="5941516"/>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Hành vi mua của khách hàng B2B chịu ảnh hưởng đầu tiên là giá và hiệu quả sử dụng; nhu cầu và tiêu chí lựa chọn của từng phân khúc được tóm tắt ở Fig. A03.</a:t>
            </a:r>
            <a:endParaRPr lang="vi-VN" sz="850" dirty="0"/>
          </a:p>
        </p:txBody>
      </p:sp>
      <p:sp>
        <p:nvSpPr>
          <p:cNvPr id="28" name="Text 24"/>
          <p:cNvSpPr txBox="1"/>
          <p:nvPr/>
        </p:nvSpPr>
        <p:spPr>
          <a:xfrm>
            <a:off x="2745284" y="6242298"/>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Bên cạnh đó, hành vi mua của khách hàng còn được quyết định bởi độ ổn định nguồn cung cùng sự đồng đều chất lượng giữa các lô hàng. Các khách hàng B2B yêu cầu nhà sản xuất đáp ứng đủ khả năng về số lượng cung ứng hàng hoá (thường là số lượng lớn), thời gian giao hàng, và chất lượng đồng nhất là điều kiện bắt buộc.</a:t>
            </a:r>
            <a:endParaRPr lang="vi-VN" sz="850" dirty="0"/>
          </a:p>
        </p:txBody>
      </p:sp>
      <p:sp>
        <p:nvSpPr>
          <p:cNvPr id="29" name="Text 25"/>
          <p:cNvSpPr txBox="1"/>
          <p:nvPr/>
        </p:nvSpPr>
        <p:spPr>
          <a:xfrm>
            <a:off x="2745284" y="6806208"/>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Điều này tạo lợi thế cho những doanh nghiệp đã có quy mô sản xuất và hệ thống cung ứng ổn định nhưng lại là rào cản với doanh nghiệp khởi nghiệp như AgriPack trong giai đoạn đầu.</a:t>
            </a:r>
            <a:endParaRPr lang="vi-VN" sz="850" dirty="0"/>
          </a:p>
        </p:txBody>
      </p:sp>
      <p:sp>
        <p:nvSpPr>
          <p:cNvPr id="30" name="Text 26"/>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31" name="Text 27"/>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10</a:t>
            </a:r>
            <a:endParaRPr lang="vi-VN" sz="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558105"/>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405408" y="1753195"/>
            <a:ext cx="6749058" cy="0"/>
          </a:xfrm>
          <a:prstGeom prst="line">
            <a:avLst/>
          </a:prstGeom>
          <a:noFill/>
          <a:ln w="9525">
            <a:solidFill>
              <a:srgbClr val="7B1E2B"/>
            </a:solidFill>
            <a:prstDash val="solid"/>
          </a:ln>
        </p:spPr>
      </p:sp>
      <p:sp>
        <p:nvSpPr>
          <p:cNvPr id="5" name="Shape 3"/>
          <p:cNvSpPr/>
          <p:nvPr/>
        </p:nvSpPr>
        <p:spPr>
          <a:xfrm>
            <a:off x="405408" y="4212878"/>
            <a:ext cx="2159943" cy="0"/>
          </a:xfrm>
          <a:prstGeom prst="line">
            <a:avLst/>
          </a:prstGeom>
          <a:noFill/>
          <a:ln w="9525">
            <a:solidFill>
              <a:srgbClr val="7B1E2B"/>
            </a:solidFill>
            <a:prstDash val="solid"/>
          </a:ln>
        </p:spPr>
      </p:sp>
      <p:sp>
        <p:nvSpPr>
          <p:cNvPr id="6" name="Shape 4"/>
          <p:cNvSpPr/>
          <p:nvPr/>
        </p:nvSpPr>
        <p:spPr>
          <a:xfrm>
            <a:off x="405408" y="5946130"/>
            <a:ext cx="2159943" cy="0"/>
          </a:xfrm>
          <a:prstGeom prst="line">
            <a:avLst/>
          </a:prstGeom>
          <a:noFill/>
          <a:ln w="9525">
            <a:solidFill>
              <a:srgbClr val="7B1E2B"/>
            </a:solidFill>
            <a:prstDash val="solid"/>
          </a:ln>
        </p:spPr>
      </p:sp>
      <p:sp>
        <p:nvSpPr>
          <p:cNvPr id="7" name="Shape 5"/>
          <p:cNvSpPr/>
          <p:nvPr/>
        </p:nvSpPr>
        <p:spPr>
          <a:xfrm>
            <a:off x="405408" y="10364688"/>
            <a:ext cx="6749058" cy="0"/>
          </a:xfrm>
          <a:prstGeom prst="line">
            <a:avLst/>
          </a:prstGeom>
          <a:noFill/>
          <a:ln w="9525">
            <a:solidFill>
              <a:srgbClr val="BFBFBF"/>
            </a:solidFill>
            <a:prstDash val="solid"/>
          </a:ln>
        </p:spPr>
      </p:sp>
      <p:sp>
        <p:nvSpPr>
          <p:cNvPr id="8" name="Text 6"/>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9" name="Text 7"/>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0" name="Text 8"/>
          <p:cNvSpPr txBox="1"/>
          <p:nvPr/>
        </p:nvSpPr>
        <p:spPr>
          <a:xfrm>
            <a:off x="484608" y="590505"/>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4. LẬP DỰ PHÓNG PRO FORMA 5 NĂM (2026E–2030E)</a:t>
            </a:r>
            <a:endParaRPr lang="vi-VN" sz="880" dirty="0"/>
          </a:p>
        </p:txBody>
      </p:sp>
      <p:sp>
        <p:nvSpPr>
          <p:cNvPr id="11" name="Text 9"/>
          <p:cNvSpPr txBox="1"/>
          <p:nvPr/>
        </p:nvSpPr>
        <p:spPr>
          <a:xfrm>
            <a:off x="2745284" y="845195"/>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4.1. Từ phân tích vĩ mô, ngành đến giả định dự phóng</a:t>
            </a:r>
            <a:endParaRPr lang="vi-VN" sz="900" dirty="0"/>
          </a:p>
        </p:txBody>
      </p:sp>
      <p:sp>
        <p:nvSpPr>
          <p:cNvPr id="12" name="Text 10"/>
          <p:cNvSpPr txBox="1"/>
          <p:nvPr/>
        </p:nvSpPr>
        <p:spPr>
          <a:xfrm>
            <a:off x="2745284" y="1014561"/>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Các giả định dự phóng không được đặt riêng lẻ mà đi ra từ những gì đã phân tích ở Mục 1–3. Với mỗi yếu tố, nhóm đi theo cùng một trình tự: bối cảnh vĩ mô tác động đến ngành bao bì như thế nào, ngành đó ảnh hưởng đến AgriPack ra sao, rồi chuyển ảnh hưởng ấy thành một con số cụ thể trong mô hình (Fig. 37). Lý do và nguồn của từng giả định được ghi ngay bên cạnh ô giả định trong file Excel và được tập hợp lại ở Phụ lục (Fig. A09, A11).</a:t>
            </a:r>
            <a:endParaRPr lang="vi-VN" sz="850" dirty="0"/>
          </a:p>
        </p:txBody>
      </p:sp>
      <p:sp>
        <p:nvSpPr>
          <p:cNvPr id="13" name="Text 11"/>
          <p:cNvSpPr txBox="1"/>
          <p:nvPr/>
        </p:nvSpPr>
        <p:spPr>
          <a:xfrm>
            <a:off x="405408" y="1784320"/>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37:</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Phân tích vĩ mô, ngành được chuyển thành giả định trong mô hình</a:t>
            </a:r>
            <a:endParaRPr lang="vi-VN" sz="72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05408" y="1926134"/>
          <a:ext cx="6749058" cy="914400"/>
        </p:xfrm>
        <a:graphic>
          <a:graphicData uri="http://schemas.openxmlformats.org/drawingml/2006/table">
            <a:tbl>
              <a:tblPr/>
              <a:tblGrid>
                <a:gridCol w="3172123"/>
                <a:gridCol w="1957239"/>
                <a:gridCol w="539800"/>
                <a:gridCol w="539800"/>
                <a:gridCol w="540097"/>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Yếu tố vĩ mô/ngành (mục phân tích)</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Giả định trong mô hình</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2026E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2028E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2030E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GDP 6T/2026 +8,18%, tiêu dùng +8,15% (3.1.1); TMĐT +18%/năm, F&amp;B 760.000 tỷ đồng 2026 (3.2.2)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trưởng sản lượng hộp/khay F&amp;B</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TMĐT, nội thất xuất khẩu (3.2.2)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trưởng diện tích đệm nội thất/TMĐT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28%</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CPI 8T/2026 +4,45%; khách hàng B2B có quyền thương lượng cao (3.1.2, 3.2.6)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giá bán F&amp;B và khuôn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Chi phí thu gom, vận chuyển, sấy, năng lượng tăng (3.1.2)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Chi phí biến đổi / doanh thu</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26,5%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Nhóm điện, nước +6,71%; giá điện +4,8% (3.1.2)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Điện, nước / doanh thu</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Lương tối thiểu vùng +7,2% từ 01/2026 (NĐ 293/2025)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Tiền lương / doanh thu</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22,5%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23%</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23%</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TT 27/2026/TT-BYT; rào cản chất lượng, chứng nhận (3.1.6.1, 3.2.4)</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Kiểm nghiệm, chứng nhận &amp; R&amp;D / DT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Rào cản vốn đầu tư (3.2.4); đề bài: đầu tư lớn 2028</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CAPEX / doanh thu (tái đầu tư)</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Lãi suất cho vay 8,1–10,5% (3.1.3)</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Lãi suất vay Kd</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Luật Thuế TNDN 67/2025/QH15 (3.1.6.3)</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Thuế suất TNDN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17%</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Tỷ giá: MBS 26.800–27.000 cuối 2026 (3.1.4)</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Tỷ giá bình quân USD/VND</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26.300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27.363</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28.468</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VC chọn lọc hơn (3.1.5); giai đoạn đầu tăng trưởng (Mục 2)</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Tỷ lệ thất bại z trong VC Method</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Lợi suất TPCP 10 năm ngày 01/10/2026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Lãi suất phi rủi ro Rf</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4,59%</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Bội số ngành bao bì (FiinX, 2026)</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EV/EBITDA thoái vốn (VC Method)</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8,0x</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5" name="Text 12"/>
          <p:cNvSpPr txBox="1"/>
          <p:nvPr/>
        </p:nvSpPr>
        <p:spPr>
          <a:xfrm>
            <a:off x="405408" y="4049613"/>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Phân tích Mục 1–3; giá trị giả định: mô hình (Drivers, VCM, Discount rate)</a:t>
            </a:r>
            <a:endParaRPr lang="vi-VN" sz="600" dirty="0"/>
          </a:p>
        </p:txBody>
      </p:sp>
      <p:sp>
        <p:nvSpPr>
          <p:cNvPr id="16" name="Text 13"/>
          <p:cNvSpPr txBox="1"/>
          <p:nvPr/>
        </p:nvSpPr>
        <p:spPr>
          <a:xfrm>
            <a:off x="405408" y="4244003"/>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38:</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Cầu là nhân tố vĩ mô – ngành tác động mạnh nhất đến pre-money</a:t>
            </a:r>
            <a:endParaRPr lang="vi-VN" sz="720" dirty="0"/>
          </a:p>
        </p:txBody>
      </p:sp>
      <p:sp>
        <p:nvSpPr>
          <p:cNvPr id="17" name="Text 14"/>
          <p:cNvSpPr txBox="1"/>
          <p:nvPr/>
        </p:nvSpPr>
        <p:spPr>
          <a:xfrm>
            <a:off x="405408" y="4481066"/>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Chênh lệch pre-money so với mức cơ sở 22,4 tỷ đồng (tỷ đồng)</a:t>
            </a:r>
            <a:endParaRPr lang="vi-VN" sz="630" dirty="0"/>
          </a:p>
        </p:txBody>
      </p:sp>
      <p:graphicFrame>
        <p:nvGraphicFramePr>
          <p:cNvPr id="18" name="Chart 0" descr=""/>
          <p:cNvGraphicFramePr/>
          <p:nvPr/>
        </p:nvGraphicFramePr>
        <p:xfrm>
          <a:off x="405408" y="4596557"/>
          <a:ext cx="2159943" cy="1066205"/>
        </p:xfrm>
        <a:graphic xmlns:a="http://schemas.openxmlformats.org/drawingml/2006/main">
          <a:graphicData uri="http://schemas.openxmlformats.org/drawingml/2006/chart">
            <c:chart xmlns:c="http://schemas.openxmlformats.org/drawingml/2006/chart" r:id="rId1"/>
          </a:graphicData>
        </a:graphic>
      </p:graphicFrame>
      <p:sp>
        <p:nvSpPr>
          <p:cNvPr id="19" name="Text 15"/>
          <p:cNvSpPr txBox="1"/>
          <p:nvPr/>
        </p:nvSpPr>
        <p:spPr>
          <a:xfrm>
            <a:off x="405408" y="5680621"/>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(Summary): tính lại toàn bộ mô hình với từng nhân tố ở mức bất lợi và thuận lợi, các giả định khác giữ nguyên</a:t>
            </a:r>
            <a:endParaRPr lang="vi-VN" sz="600" dirty="0"/>
          </a:p>
        </p:txBody>
      </p:sp>
      <p:sp>
        <p:nvSpPr>
          <p:cNvPr id="20" name="Text 16"/>
          <p:cNvSpPr txBox="1"/>
          <p:nvPr/>
        </p:nvSpPr>
        <p:spPr>
          <a:xfrm>
            <a:off x="405408" y="5977255"/>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39:</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Giá bán chỉ tăng 2%/năm, thấp hơn lạm phát, nên chi phí biến đổi tăng lên 25–27% doanh thu</a:t>
            </a:r>
            <a:endParaRPr lang="vi-VN" sz="720" dirty="0"/>
          </a:p>
        </p:txBody>
      </p:sp>
      <p:sp>
        <p:nvSpPr>
          <p:cNvPr id="21" name="Text 17"/>
          <p:cNvSpPr txBox="1"/>
          <p:nvPr/>
        </p:nvSpPr>
        <p:spPr>
          <a:xfrm>
            <a:off x="405408" y="6214318"/>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 doanh thu thuần</a:t>
            </a:r>
            <a:endParaRPr lang="vi-VN" sz="630" dirty="0"/>
          </a:p>
        </p:txBody>
      </p:sp>
      <p:graphicFrame>
        <p:nvGraphicFramePr>
          <p:cNvPr id="22" name="Chart 1" descr=""/>
          <p:cNvGraphicFramePr/>
          <p:nvPr/>
        </p:nvGraphicFramePr>
        <p:xfrm>
          <a:off x="405408" y="6329809"/>
          <a:ext cx="2159943" cy="726430"/>
        </p:xfrm>
        <a:graphic xmlns:a="http://schemas.openxmlformats.org/drawingml/2006/main">
          <a:graphicData uri="http://schemas.openxmlformats.org/drawingml/2006/chart">
            <c:chart xmlns:c="http://schemas.openxmlformats.org/drawingml/2006/chart" r:id="rId2"/>
          </a:graphicData>
        </a:graphic>
      </p:graphicFrame>
      <p:sp>
        <p:nvSpPr>
          <p:cNvPr id="23" name="Text 18"/>
          <p:cNvSpPr txBox="1"/>
          <p:nvPr/>
        </p:nvSpPr>
        <p:spPr>
          <a:xfrm>
            <a:off x="405408" y="7074098"/>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giả định dự phóng (Drivers)</a:t>
            </a:r>
            <a:endParaRPr lang="vi-VN" sz="600" dirty="0"/>
          </a:p>
        </p:txBody>
      </p:sp>
      <p:sp>
        <p:nvSpPr>
          <p:cNvPr id="24" name="Text 19"/>
          <p:cNvSpPr txBox="1"/>
          <p:nvPr/>
        </p:nvSpPr>
        <p:spPr>
          <a:xfrm>
            <a:off x="2745284" y="4212878"/>
            <a:ext cx="4464046" cy="1052513"/>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Cầu.</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GDP 6 tháng đầu năm 2026 tăng 8,18%, tiêu dùng cuối cùng tăng 8,15% và thương mại điện tử tăng khoảng 18% mỗi năm, thị trường F&amp;B dự kiến đạt 760.000 tỷ đồng năm 2026, nên nhu cầu bao bì nói chung còn rộng (Mục 3.1.1, 3.2.2). Tuy vậy, thị trường mà AgriPack thực sự nhắm tới là bao bì dùng một lần phân hủy sinh học cho ngành F&amp;B, và thị trường này chỉ tăng khoảng 4,7% mỗi năm. Vì vậy, tăng trưởng của AgriPack trong mô hình chủ yếu đến từ việc giành thêm thị phần, từ 4,3% lên khoảng 11,5% thị trường mục tiêu vào năm 2030, và bị giới hạn bởi công suất: sản lượng chỉ tăng mạnh trở lại khi nhà máy mới vận hành từ năm 2029. Đây cũng là giả định ảnh hưởng mạnh nhất đến giá trị doanh nghiệp (Fig. 38).</a:t>
            </a:r>
            <a:endParaRPr lang="vi-VN" sz="850" dirty="0"/>
          </a:p>
        </p:txBody>
      </p:sp>
      <p:sp>
        <p:nvSpPr>
          <p:cNvPr id="25" name="Text 20"/>
          <p:cNvSpPr txBox="1"/>
          <p:nvPr/>
        </p:nvSpPr>
        <p:spPr>
          <a:xfrm>
            <a:off x="2745284" y="5303044"/>
            <a:ext cx="4464046" cy="920948"/>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Giá bán và chi phí.</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Lạm phát 8 tháng đầu năm 2026 ở mức 4,45%, riêng nhóm nhà ở, điện, nước và chất đốt tăng 6,71% (Mục 3.1.2). Khách hàng của AgriPack là các doanh nghiệp F&amp;B có sức mạnh đàm phán cao và luôn có thể quay lại với bao bì nhựa rẻ hơn nhiều lần (Mục 3.2.5, 3.2.6), nên nhóm chỉ cho giá bán tăng 2% mỗi năm, thấp hơn lạm phát. Ngược lại, chi phí biến đổi, gồm nguyên liệu, thu gom, sấy và năng lượng, được nâng từ 24,5% doanh thu năm 2025 lên 25–27% (Fig. 39). Nói cách khác, mô hình giả định doanh nghiệp phải tự gánh phần lớn áp lực chi phí thay vì chuyển được sang khách hàng.</a:t>
            </a:r>
            <a:endParaRPr lang="vi-VN" sz="850" dirty="0"/>
          </a:p>
        </p:txBody>
      </p:sp>
      <p:sp>
        <p:nvSpPr>
          <p:cNvPr id="26" name="Text 21"/>
          <p:cNvSpPr txBox="1"/>
          <p:nvPr/>
        </p:nvSpPr>
        <p:spPr>
          <a:xfrm>
            <a:off x="2745284" y="6261646"/>
            <a:ext cx="4464046" cy="657820"/>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Chi phí vốn và rủi ro.</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Lãi suất cho vay doanh nghiệp đang ở khoảng 8,1–10,5%/năm (Mục 3.1.3), nên chi phí nợ trước thuế được đặt ở 10%. Lãi suất phi rủi ro lấy bằng lợi suất trái phiếu Chính phủ kỳ hạn 10 năm ngày 01/10/2026, tức 4,59%. Vì AgriPack đang ở giai đoạn đầu tăng trưởng và dòng vốn đầu tư mạo hiểm đã chọn lọc hơn (Mục 3.1.5), tỷ lệ thất bại dùng trong VC Method là 40% theo hướng dẫn của đề bài.</a:t>
            </a:r>
            <a:endParaRPr lang="vi-VN" sz="850" dirty="0"/>
          </a:p>
        </p:txBody>
      </p:sp>
      <p:sp>
        <p:nvSpPr>
          <p:cNvPr id="27" name="Text 22"/>
          <p:cNvSpPr txBox="1"/>
          <p:nvPr/>
        </p:nvSpPr>
        <p:spPr>
          <a:xfrm>
            <a:off x="2745284" y="6957120"/>
            <a:ext cx="4464046" cy="789384"/>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Pháp lý và thuế.</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Thông tư 27/2026/TT-BYT yêu cầu bao bì tiếp xúc trực tiếp với thực phẩm phải được kiểm nghiệm, vì vậy mô hình có thêm khoản chi phí kiểm nghiệm, chứng nhận và nghiên cứu phát triển bằng 0,6% doanh thu. Theo Luật Thuế TNDN số 67/2025/QH15, AgriPack chịu thuế suất 17% năm 2026 (doanh thu năm trước dưới 50 tỷ đồng) và 20% từ năm 2027. Ưu đãi dành cho doanh nghiệp khởi nghiệp sáng tạo theo Nghị quyết 198/2025/QH15 không được đưa vào kịch bản cơ sở vì doanh nghiệp chưa chứng minh được đủ điều kiện.</a:t>
            </a:r>
            <a:endParaRPr lang="vi-VN" sz="850" dirty="0"/>
          </a:p>
        </p:txBody>
      </p:sp>
      <p:sp>
        <p:nvSpPr>
          <p:cNvPr id="28" name="Text 23"/>
          <p:cNvSpPr txBox="1"/>
          <p:nvPr/>
        </p:nvSpPr>
        <p:spPr>
          <a:xfrm>
            <a:off x="2745284" y="7784157"/>
            <a:ext cx="4464046" cy="1447205"/>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Nhân tố nào quan trọng nhất.</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Để trả lời câu hỏi này, nhóm lần lượt đưa từng nhân tố về mức bất lợi và thuận lợi rồi tính lại toàn bộ mô hình, trong khi giữ nguyên các giả định còn lại (Fig. 38). Cầu là nhân tố chi phối. Nếu sản lượng chỉ tăng bằng 80% tốc độ ở kịch bản cơ sở, doanh thu năm 2030 còn 142,9 tỷ đồng, lợi nhuận sau thuế còn 5,9 tỷ đồng và pre-money giảm 25,3 tỷ đồng, xuống −2,9 tỷ đồng. Mức giảm lớn như vậy vì chi phí cố định và khấu hao của nhà máy mới không giảm theo sản lượng, trong khi giá trị cuối kỳ lại dựa trên lợi nhuận năm 2030. Khi chi phí nhân sự hoặc chi phí biến đổi thay đổi 1 điểm % doanh thu, pre-money thay đổi khoảng 8,5–10,5 tỷ đồng; còn giá bán thay đổi 1 điểm % mỗi năm, lãi suất hay phần bù rủi ro quốc gia thay đổi 1 điểm % chỉ tác động khoảng 4,0–6,2 tỷ đồng. Ưu đãi thuế, nếu được hưởng, cộng thêm khoảng 3,6 tỷ đồng. Vì thế, chỉ báo cần theo dõi sát nhất là sản lượng hộp, khay F&amp;B và mức độ lấp đầy công suất của nhà máy mới (biên độ, lý do và kết quả chi tiết ở Fig. A15).</a:t>
            </a:r>
            <a:endParaRPr lang="vi-VN" sz="850" dirty="0"/>
          </a:p>
        </p:txBody>
      </p:sp>
      <p:sp>
        <p:nvSpPr>
          <p:cNvPr id="29" name="Text 24"/>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30" name="Text 25"/>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11</a:t>
            </a:r>
            <a:endParaRPr lang="vi-VN" sz="6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2076152"/>
            <a:ext cx="2159943" cy="0"/>
          </a:xfrm>
          <a:prstGeom prst="line">
            <a:avLst/>
          </a:prstGeom>
          <a:noFill/>
          <a:ln w="9525">
            <a:solidFill>
              <a:srgbClr val="7B1E2B"/>
            </a:solidFill>
            <a:prstDash val="solid"/>
          </a:ln>
        </p:spPr>
      </p:sp>
      <p:sp>
        <p:nvSpPr>
          <p:cNvPr id="5" name="Shape 3"/>
          <p:cNvSpPr/>
          <p:nvPr/>
        </p:nvSpPr>
        <p:spPr>
          <a:xfrm>
            <a:off x="405408" y="4260949"/>
            <a:ext cx="6749058" cy="0"/>
          </a:xfrm>
          <a:prstGeom prst="line">
            <a:avLst/>
          </a:prstGeom>
          <a:noFill/>
          <a:ln w="9525">
            <a:solidFill>
              <a:srgbClr val="7B1E2B"/>
            </a:solidFill>
            <a:prstDash val="solid"/>
          </a:ln>
        </p:spPr>
      </p:sp>
      <p:sp>
        <p:nvSpPr>
          <p:cNvPr id="6" name="Shape 4"/>
          <p:cNvSpPr/>
          <p:nvPr/>
        </p:nvSpPr>
        <p:spPr>
          <a:xfrm>
            <a:off x="405408" y="6791474"/>
            <a:ext cx="2159943" cy="0"/>
          </a:xfrm>
          <a:prstGeom prst="line">
            <a:avLst/>
          </a:prstGeom>
          <a:noFill/>
          <a:ln w="9525">
            <a:solidFill>
              <a:srgbClr val="7B1E2B"/>
            </a:solidFill>
            <a:prstDash val="solid"/>
          </a:ln>
        </p:spPr>
      </p:sp>
      <p:sp>
        <p:nvSpPr>
          <p:cNvPr id="7" name="Shape 5"/>
          <p:cNvSpPr/>
          <p:nvPr/>
        </p:nvSpPr>
        <p:spPr>
          <a:xfrm>
            <a:off x="405408" y="8400901"/>
            <a:ext cx="2159943" cy="0"/>
          </a:xfrm>
          <a:prstGeom prst="line">
            <a:avLst/>
          </a:prstGeom>
          <a:noFill/>
          <a:ln w="9525">
            <a:solidFill>
              <a:srgbClr val="7B1E2B"/>
            </a:solidFill>
            <a:prstDash val="solid"/>
          </a:ln>
        </p:spPr>
      </p:sp>
      <p:sp>
        <p:nvSpPr>
          <p:cNvPr id="8" name="Shape 6"/>
          <p:cNvSpPr/>
          <p:nvPr/>
        </p:nvSpPr>
        <p:spPr>
          <a:xfrm>
            <a:off x="405408" y="10364688"/>
            <a:ext cx="6749058" cy="0"/>
          </a:xfrm>
          <a:prstGeom prst="line">
            <a:avLst/>
          </a:prstGeom>
          <a:noFill/>
          <a:ln w="9525">
            <a:solidFill>
              <a:srgbClr val="BFBFBF"/>
            </a:solidFill>
            <a:prstDash val="solid"/>
          </a:ln>
        </p:spPr>
      </p:sp>
      <p:sp>
        <p:nvSpPr>
          <p:cNvPr id="9" name="Text 7"/>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10" name="Text 8"/>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1" name="Text 9"/>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40:</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Doanh thu 2030E đạt 179 tỷ đồng; F&amp;B/FMCG vẫn chiếm gần 80%</a:t>
            </a:r>
            <a:endParaRPr lang="vi-VN" sz="720" dirty="0"/>
          </a:p>
        </p:txBody>
      </p:sp>
      <p:sp>
        <p:nvSpPr>
          <p:cNvPr id="12" name="Text 10"/>
          <p:cNvSpPr txBox="1"/>
          <p:nvPr/>
        </p:nvSpPr>
        <p:spPr>
          <a:xfrm>
            <a:off x="405408" y="82629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13" name="Chart 0" descr=""/>
          <p:cNvGraphicFramePr/>
          <p:nvPr/>
        </p:nvGraphicFramePr>
        <p:xfrm>
          <a:off x="405408" y="941784"/>
          <a:ext cx="2159943" cy="94238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05408" y="1902023"/>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Dự phóng của nhóm (Drivers)</a:t>
            </a:r>
            <a:endParaRPr lang="vi-VN" sz="600" dirty="0"/>
          </a:p>
        </p:txBody>
      </p:sp>
      <p:sp>
        <p:nvSpPr>
          <p:cNvPr id="15" name="Text 12"/>
          <p:cNvSpPr txBox="1"/>
          <p:nvPr/>
        </p:nvSpPr>
        <p:spPr>
          <a:xfrm>
            <a:off x="405408" y="2107277"/>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Giả định sản lượng, giá và chi phí (kịch bản cơ sở)</a:t>
            </a:r>
            <a:endParaRPr lang="vi-VN" sz="72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05408" y="2358628"/>
          <a:ext cx="2159943" cy="914400"/>
        </p:xfrm>
        <a:graphic>
          <a:graphicData uri="http://schemas.openxmlformats.org/drawingml/2006/table">
            <a:tbl>
              <a:tblPr/>
              <a:tblGrid>
                <a:gridCol w="799207"/>
                <a:gridCol w="272058"/>
                <a:gridCol w="272058"/>
                <a:gridCol w="272058"/>
                <a:gridCol w="272058"/>
                <a:gridCol w="272504"/>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Giả định</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26E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27E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28E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29E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30E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SL hộp/khay F&amp;B (tr. cái)</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30,1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40,7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50,9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SL F&amp;B</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số bộ khuôn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m² đệm NT/TMĐT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Tăng m² đệm điện tử</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70%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Giá bán F&amp;B, khuôn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Giá đệm bảo vệ</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CP biến đổi/DT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27,0%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26,5%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Tiền lương/DT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22,5%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22,5%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23,0%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23,5%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23,0%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CAPEX/DT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65%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7" name="Text 13"/>
          <p:cNvSpPr txBox="1"/>
          <p:nvPr/>
        </p:nvSpPr>
        <p:spPr>
          <a:xfrm>
            <a:off x="405408" y="4043660"/>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Drivers (kịch bản Base)</a:t>
            </a:r>
            <a:endParaRPr lang="vi-VN" sz="600" dirty="0"/>
          </a:p>
        </p:txBody>
      </p:sp>
      <p:sp>
        <p:nvSpPr>
          <p:cNvPr id="18" name="Text 14"/>
          <p:cNvSpPr txBox="1"/>
          <p:nvPr/>
        </p:nvSpPr>
        <p:spPr>
          <a:xfrm>
            <a:off x="2745284" y="572393"/>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4.2. Doanh thu: sản lượng nhân giá bán theo từng phân khúc</a:t>
            </a:r>
            <a:endParaRPr lang="vi-VN" sz="900" dirty="0"/>
          </a:p>
        </p:txBody>
      </p:sp>
      <p:sp>
        <p:nvSpPr>
          <p:cNvPr id="19" name="Text 15"/>
          <p:cNvSpPr txBox="1"/>
          <p:nvPr/>
        </p:nvSpPr>
        <p:spPr>
          <a:xfrm>
            <a:off x="2745284" y="741759"/>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Doanh thu được dự phóng riêng cho bốn phân khúc bằng cách nhân sản lượng với giá bán (Fig. 40, Fig. 41). Với mảng hộp, khay F&amp;B, nhóm quy đổi doanh thu năm 2025 ra sản lượng khoảng 15,2 triệu sản phẩm, dựa trên giá 2.500 đồng mỗi chiếc, là mức thấp nhất trong khung giá mà nhóm đã đưa ra ở Mục 1 (Fig. 08). Sản lượng tăng 32% năm 2026 nhờ lắp thêm máy ép, 25% năm 2027 khi khai thác tối đa nhà máy hiện hữu, chậm lại còn 20% năm 2028 khi nhà máy mới đang xây, tăng mạnh 35% năm 2029 khi hai dây chuyền mới đi vào vận hành, rồi 25% năm 2030, tương đương khoảng 50,9 triệu sản phẩm. Mảng thiết kế khuôn tăng theo số mẫu sản phẩm mới của khách hàng, còn hai mảng đệm bảo vệ cho nội thất, thương mại điện tử và điện tử tăng 28–70% mỗi năm nhưng từ một nền rất nhỏ.</a:t>
            </a:r>
            <a:endParaRPr lang="vi-VN" sz="850" dirty="0"/>
          </a:p>
        </p:txBody>
      </p:sp>
      <p:sp>
        <p:nvSpPr>
          <p:cNvPr id="20" name="Text 16"/>
          <p:cNvSpPr txBox="1"/>
          <p:nvPr/>
        </p:nvSpPr>
        <p:spPr>
          <a:xfrm>
            <a:off x="2745284" y="1963489"/>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Kết quả là doanh thu thuần đạt 178,9 tỷ đồng năm 2030, tăng bình quân 30,3% mỗi năm. Mức tăng này thấp hơn nhiều so với 54–59% của hai năm 2024–2025, vì doanh thu đã có nền lớn hơn trong khi thị trường mục tiêu chỉ tăng 4–5% mỗi năm. Nếu muốn giữ tốc độ 40–50% mỗi năm, AgriPack sẽ phải chiếm 15–18% thị trường mục tiêu toàn quốc, một mức khó giữ được với một doanh nghiệp chỉ có một nhà máy.</a:t>
            </a:r>
            <a:endParaRPr lang="vi-VN" sz="850" dirty="0"/>
          </a:p>
        </p:txBody>
      </p:sp>
      <p:sp>
        <p:nvSpPr>
          <p:cNvPr id="21" name="Text 17"/>
          <p:cNvSpPr txBox="1"/>
          <p:nvPr/>
        </p:nvSpPr>
        <p:spPr>
          <a:xfrm>
            <a:off x="2745284" y="2658963"/>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4.3. Chi phí và biên lợi nhuận</a:t>
            </a:r>
            <a:endParaRPr lang="vi-VN" sz="900" dirty="0"/>
          </a:p>
        </p:txBody>
      </p:sp>
      <p:sp>
        <p:nvSpPr>
          <p:cNvPr id="22" name="Text 18"/>
          <p:cNvSpPr txBox="1"/>
          <p:nvPr/>
        </p:nvSpPr>
        <p:spPr>
          <a:xfrm>
            <a:off x="2745284" y="2828330"/>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Báo cáo kết quả kinh doanh được trình bày theo chức năng, đúng như chuẩn mực kế toán Việt Nam (Fig. 42). Theo cách này, 70% tiền lương (công nhân ép, sấy, kiểm tra chất lượng và quản đốc) và 90% khấu hao (máy ép, hệ thống sấy, nhà xưởng) được tính vào giá vốn hàng bán; phần còn lại, gồm 30% tiền lương và 10% khấu hao, được đưa vào chi phí bán hàng và chi phí quản lý doanh nghiệp. Số liệu 2023–2025 cũng được trình bày lại theo cùng nguyên tắc để so sánh được với các năm dự phóng. Vì vậy, biên lợi nhuận gộp năm 2025 là 51,0%, khớp với Mục 2.2; nếu không phân bổ, biên gộp trên báo cáo gốc là 72,8% vì báo cáo gốc chưa đưa tiền lương và khấu hao vào giá vốn. Cách phân bổ này chỉ đổi vị trí của chi phí trên báo cáo, không làm thay đổi lợi nhuận trước lãi vay và thuế, lợi nhuận sau thuế hay dòng tiền.</a:t>
            </a:r>
            <a:endParaRPr lang="vi-VN" sz="850" dirty="0"/>
          </a:p>
        </p:txBody>
      </p:sp>
      <p:sp>
        <p:nvSpPr>
          <p:cNvPr id="23" name="Text 19"/>
          <p:cNvSpPr txBox="1"/>
          <p:nvPr/>
        </p:nvSpPr>
        <p:spPr>
          <a:xfrm>
            <a:off x="405408" y="4292074"/>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Dự phóng kết quả kinh doanh (trình bày theo chức năng)</a:t>
            </a:r>
            <a:endParaRPr lang="vi-VN" sz="720" dirty="0"/>
          </a:p>
        </p:txBody>
      </p:sp>
      <p:sp>
        <p:nvSpPr>
          <p:cNvPr id="24" name="Text 20"/>
          <p:cNvSpPr txBox="1"/>
          <p:nvPr/>
        </p:nvSpPr>
        <p:spPr>
          <a:xfrm>
            <a:off x="405408" y="4419600"/>
            <a:ext cx="6803922"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05408" y="4535091"/>
          <a:ext cx="6749058" cy="914400"/>
        </p:xfrm>
        <a:graphic>
          <a:graphicData uri="http://schemas.openxmlformats.org/drawingml/2006/table">
            <a:tbl>
              <a:tblPr/>
              <a:tblGrid>
                <a:gridCol w="1889820"/>
                <a:gridCol w="809774"/>
                <a:gridCol w="809774"/>
                <a:gridCol w="809774"/>
                <a:gridCol w="809774"/>
                <a:gridCol w="809774"/>
                <a:gridCol w="810369"/>
              </a:tblGrid>
              <a:tr h="137517">
                <a:tc>
                  <a:txBody>
                    <a:bodyPr/>
                    <a:lstStyle/>
                    <a:p>
                      <a:pPr algn="l" indent="0" marL="0">
                        <a:lnSpc>
                          <a:spcPts val="800"/>
                        </a:lnSpc>
                        <a:buNone/>
                      </a:pPr>
                      <a:r>
                        <a:rPr lang="vi-VN" sz="680" b="1" dirty="0">
                          <a:solidFill>
                            <a:srgbClr val="FFFFFF"/>
                          </a:solidFill>
                          <a:latin typeface="Calibri" pitchFamily="34" charset="0"/>
                          <a:ea typeface="Calibri" pitchFamily="34" charset="-122"/>
                          <a:cs typeface="Calibri" pitchFamily="34" charset="-120"/>
                        </a:rPr>
                        <a:t>Tỷ đồng</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2025A</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2026E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2027E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2028E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2029E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2030E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3648">
                <a:tc>
                  <a:txBody>
                    <a:bodyPr/>
                    <a:lstStyle/>
                    <a:p>
                      <a:pPr algn="l" indent="0" marL="0">
                        <a:lnSpc>
                          <a:spcPts val="800"/>
                        </a:lnSpc>
                        <a:buNone/>
                      </a:pPr>
                      <a:r>
                        <a:rPr lang="vi-VN" sz="680" b="1" dirty="0">
                          <a:solidFill>
                            <a:srgbClr val="1F1F1F"/>
                          </a:solidFill>
                          <a:latin typeface="Calibri" pitchFamily="34" charset="0"/>
                          <a:ea typeface="Calibri" pitchFamily="34" charset="-122"/>
                          <a:cs typeface="Calibri" pitchFamily="34" charset="-120"/>
                        </a:rPr>
                        <a:t>Doanh thu thuần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47,5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63,7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81,4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100,4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139,3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178,9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Tăng trưởng</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53,7%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33,9%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27,9%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23,3%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38,7%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28,4%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Giá vốn hàng bán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(23,3)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(30,7)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(39,5)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(49,5)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(76,4)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(94,2)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b="1" dirty="0">
                          <a:solidFill>
                            <a:srgbClr val="1F1F1F"/>
                          </a:solidFill>
                          <a:latin typeface="Calibri" pitchFamily="34" charset="0"/>
                          <a:ea typeface="Calibri" pitchFamily="34" charset="-122"/>
                          <a:cs typeface="Calibri" pitchFamily="34" charset="-120"/>
                        </a:rPr>
                        <a:t>Lợi nhuận gộp</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24,3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33,0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42,0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50,9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62,9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84,7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Biên gộp</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51,0%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51,8%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51,5%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50,7%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45,1%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47,4%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CPBH &amp; QLDN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(19,7)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(25,3)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(31,2)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(38,0)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(52,7)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(64,3)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b="1" dirty="0">
                          <a:solidFill>
                            <a:srgbClr val="1F1F1F"/>
                          </a:solidFill>
                          <a:latin typeface="Calibri" pitchFamily="34" charset="0"/>
                          <a:ea typeface="Calibri" pitchFamily="34" charset="-122"/>
                          <a:cs typeface="Calibri" pitchFamily="34" charset="-120"/>
                        </a:rPr>
                        <a:t>EBIT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4,6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7,6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10,7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12,8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10,1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20,4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Chi phí lãi vay</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(0,1)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(0,2)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(0,2)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Lợi nhuận trước thuế</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10,6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10,7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6,1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Thuế TNDN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(0,9)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b="1" dirty="0">
                          <a:solidFill>
                            <a:srgbClr val="1F1F1F"/>
                          </a:solidFill>
                          <a:latin typeface="Calibri" pitchFamily="34" charset="0"/>
                          <a:ea typeface="Calibri" pitchFamily="34" charset="-122"/>
                          <a:cs typeface="Calibri" pitchFamily="34" charset="-120"/>
                        </a:rPr>
                        <a:t>LNST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4,4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6,6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8,5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8,6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4,8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13,4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Biên LNST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9,3%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10,3%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10,4%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8,5%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3,5%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7,5%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Ghi nhớ: EBITDA</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7,7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11,4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16,0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19,6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24,7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37,0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Biên EBITDA</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16,2%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17,9%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19,6%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19,5%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17,7%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20,7%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26" name="Text 21"/>
          <p:cNvSpPr txBox="1"/>
          <p:nvPr/>
        </p:nvSpPr>
        <p:spPr>
          <a:xfrm>
            <a:off x="405408" y="6628209"/>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2025 (đề bài, trình bày lại theo chức năng); dự phóng (Income Statement)</a:t>
            </a:r>
            <a:endParaRPr lang="vi-VN" sz="600" dirty="0"/>
          </a:p>
        </p:txBody>
      </p:sp>
      <p:sp>
        <p:nvSpPr>
          <p:cNvPr id="27" name="Text 22"/>
          <p:cNvSpPr txBox="1"/>
          <p:nvPr/>
        </p:nvSpPr>
        <p:spPr>
          <a:xfrm>
            <a:off x="405408" y="6822599"/>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Biên gộp giảm năm 2029 khi khấu hao nhà máy mới vào giá vốn</a:t>
            </a:r>
            <a:endParaRPr lang="vi-VN" sz="720" dirty="0"/>
          </a:p>
        </p:txBody>
      </p:sp>
      <p:sp>
        <p:nvSpPr>
          <p:cNvPr id="28" name="Text 23"/>
          <p:cNvSpPr txBox="1"/>
          <p:nvPr/>
        </p:nvSpPr>
        <p:spPr>
          <a:xfrm>
            <a:off x="405408" y="7059662"/>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 doanh thu thuần</a:t>
            </a:r>
            <a:endParaRPr lang="vi-VN" sz="630" dirty="0"/>
          </a:p>
        </p:txBody>
      </p:sp>
      <p:graphicFrame>
        <p:nvGraphicFramePr>
          <p:cNvPr id="29" name="Chart 1" descr=""/>
          <p:cNvGraphicFramePr/>
          <p:nvPr/>
        </p:nvGraphicFramePr>
        <p:xfrm>
          <a:off x="405408" y="7175153"/>
          <a:ext cx="2159943" cy="942380"/>
        </p:xfrm>
        <a:graphic xmlns:a="http://schemas.openxmlformats.org/drawingml/2006/main">
          <a:graphicData uri="http://schemas.openxmlformats.org/drawingml/2006/chart">
            <c:chart xmlns:c="http://schemas.openxmlformats.org/drawingml/2006/chart" r:id="rId2"/>
          </a:graphicData>
        </a:graphic>
      </p:graphicFrame>
      <p:sp>
        <p:nvSpPr>
          <p:cNvPr id="30" name="Text 24"/>
          <p:cNvSpPr txBox="1"/>
          <p:nvPr/>
        </p:nvSpPr>
        <p:spPr>
          <a:xfrm>
            <a:off x="405408" y="8135392"/>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(trình bày lại theo chức năng); dự phóng (Drivers, Income Statement)</a:t>
            </a:r>
            <a:endParaRPr lang="vi-VN" sz="600" dirty="0"/>
          </a:p>
        </p:txBody>
      </p:sp>
      <p:sp>
        <p:nvSpPr>
          <p:cNvPr id="31" name="Text 25"/>
          <p:cNvSpPr txBox="1"/>
          <p:nvPr/>
        </p:nvSpPr>
        <p:spPr>
          <a:xfrm>
            <a:off x="405408" y="8432026"/>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Tỷ lệ tái đầu tư cao hơn ngành vì AgriPack còn đang xây công suất</a:t>
            </a:r>
            <a:endParaRPr lang="vi-VN" sz="720" dirty="0"/>
          </a:p>
        </p:txBody>
      </p:sp>
      <p:sp>
        <p:nvSpPr>
          <p:cNvPr id="32" name="Text 26"/>
          <p:cNvSpPr txBox="1"/>
          <p:nvPr/>
        </p:nvSpPr>
        <p:spPr>
          <a:xfrm>
            <a:off x="405408" y="8669089"/>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CAPEX / doanh thu thuần</a:t>
            </a:r>
            <a:endParaRPr lang="vi-VN" sz="630" dirty="0"/>
          </a:p>
        </p:txBody>
      </p:sp>
      <p:graphicFrame>
        <p:nvGraphicFramePr>
          <p:cNvPr id="33" name="Chart 2" descr=""/>
          <p:cNvGraphicFramePr/>
          <p:nvPr/>
        </p:nvGraphicFramePr>
        <p:xfrm>
          <a:off x="405408" y="8784580"/>
          <a:ext cx="2159943" cy="785366"/>
        </p:xfrm>
        <a:graphic xmlns:a="http://schemas.openxmlformats.org/drawingml/2006/main">
          <a:graphicData uri="http://schemas.openxmlformats.org/drawingml/2006/chart">
            <c:chart xmlns:c="http://schemas.openxmlformats.org/drawingml/2006/chart" r:id="rId3"/>
          </a:graphicData>
        </a:graphic>
      </p:graphicFrame>
      <p:sp>
        <p:nvSpPr>
          <p:cNvPr id="34" name="Text 27"/>
          <p:cNvSpPr txBox="1"/>
          <p:nvPr/>
        </p:nvSpPr>
        <p:spPr>
          <a:xfrm>
            <a:off x="405408" y="9587805"/>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(Drivers); FiinX – 16 DN bao bì niêm yết, bình quân 2023–2025 (Fig. A10)</a:t>
            </a:r>
            <a:endParaRPr lang="vi-VN" sz="600" dirty="0"/>
          </a:p>
        </p:txBody>
      </p:sp>
      <p:sp>
        <p:nvSpPr>
          <p:cNvPr id="35" name="Text 28"/>
          <p:cNvSpPr txBox="1"/>
          <p:nvPr/>
        </p:nvSpPr>
        <p:spPr>
          <a:xfrm>
            <a:off x="2745284" y="6791474"/>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Biên lợi nhuận gộp giữ quanh 51,5%–51,8% trong 2026–2027, giảm nhẹ còn 50,7% năm 2028 và xuống 45,1% năm 2029 (Fig. 43). Năm 2029 là năm đầu tiên nhà máy mới chạy: khấu hao tăng từ 6,7 lên 14,6 tỷ đồng trong khi công suất chưa được lấp đầy, và chi phí biến đổi lên 27% doanh thu do hao hụt trong giai đoạn chạy thử. Khi sản lượng tăng dần, biên gộp hồi lên 47,4% năm 2030. Biên EBITDA tăng từ 16,2% lên 20,7%, chỉ chững lại năm 2029 (17,7%) khi tiền thuê tăng 30% và chi phí cố định của nhà máy mới phát sinh. Lợi nhuận sau thuế vì thế giảm còn 4,8 tỷ đồng năm 2029, năm lãi vay lên cao nhất (4,1 tỷ đồng) và khấu hao tăng gấp đôi, rồi tăng lên 13,4 tỷ đồng năm 2030.</a:t>
            </a:r>
            <a:endParaRPr lang="vi-VN" sz="850" dirty="0"/>
          </a:p>
        </p:txBody>
      </p:sp>
      <p:sp>
        <p:nvSpPr>
          <p:cNvPr id="36" name="Text 29"/>
          <p:cNvSpPr txBox="1"/>
          <p:nvPr/>
        </p:nvSpPr>
        <p:spPr>
          <a:xfrm>
            <a:off x="2745284" y="7750076"/>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4.4. CAPEX và tỷ lệ tái đầu tư</a:t>
            </a:r>
            <a:endParaRPr lang="vi-VN" sz="900" dirty="0"/>
          </a:p>
        </p:txBody>
      </p:sp>
      <p:sp>
        <p:nvSpPr>
          <p:cNvPr id="37" name="Text 30"/>
          <p:cNvSpPr txBox="1"/>
          <p:nvPr/>
        </p:nvSpPr>
        <p:spPr>
          <a:xfrm>
            <a:off x="2745284" y="7919442"/>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Một doanh nghiệp đang tăng trưởng phải liên tục tái đầu tư. Nhóm đo mức tái đầu tư bằng tỷ lệ CAPEX trên doanh thu và đặt giả định cho từng năm (Fig. 44): 20% năm 2026 để mua thêm máy ép, xe tải và mở rộng kho, tương đương mức năm 2024; 15% năm 2027 để mở rộng nhà máy hiện hữu; 65% năm 2028 theo yêu cầu của đề bài, dành cho hai dây chuyền ép khuôn – sấy, kho bã mía và phòng kiểm nghiệm; 12% năm 2029 cho phần hoàn thiện và chạy thử; và 10% năm 2030.</a:t>
            </a:r>
            <a:endParaRPr lang="vi-VN" sz="850" dirty="0"/>
          </a:p>
        </p:txBody>
      </p:sp>
      <p:sp>
        <p:nvSpPr>
          <p:cNvPr id="38" name="Text 31"/>
          <p:cNvSpPr txBox="1"/>
          <p:nvPr/>
        </p:nvSpPr>
        <p:spPr>
          <a:xfrm>
            <a:off x="2745284" y="8614916"/>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Để kiểm tra mức 10% có hợp lý không, nhóm so sánh với 16 doanh nghiệp bao bì niêm yết. Tỷ lệ CAPEX/doanh thu bình quân 2023–2025 của nhóm này có trung vị 3,1% và tứ phân vị trên 8,3%, còn các doanh nghiệp đang mở rộng như AAA, APH (13,3% năm 2025) hay HHP (20–42%) cao hơn nhiều (Fig. A10). AgriPack cần tỷ lệ cao hơn trung vị ngành vì vẫn tăng trưởng 28–39% mỗi năm trong 2029–2030 và có cường độ tài sản lớn hơn: khấu hao chiếm 9,3%–10,5% doanh thu trong 2029–2030, so với 3,0% của ngành. Ở mức 10%, CAPEX chỉ cao hơn khấu hao khoảng 1,1 lần, tức vừa đủ để thay thế máy móc cũ và mở rộng thêm một phần. Sau năm 2030, phần lợi nhuận hoạt động sau thuế (NOPAT) phải giữ lại để tái đầu tư cho mức tăng trưởng 5% mỗi năm là 40,6%, bằng tốc độ tăng trưởng dài hạn chia cho ROIC năm 2030 (12,3%).</a:t>
            </a:r>
            <a:endParaRPr lang="vi-VN" sz="850" dirty="0"/>
          </a:p>
        </p:txBody>
      </p:sp>
      <p:sp>
        <p:nvSpPr>
          <p:cNvPr id="39" name="Text 32"/>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0" name="Text 33"/>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12</a:t>
            </a:r>
            <a:endParaRPr lang="vi-VN" sz="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6518970"/>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405408" y="558105"/>
            <a:ext cx="2159943" cy="0"/>
          </a:xfrm>
          <a:prstGeom prst="line">
            <a:avLst/>
          </a:prstGeom>
          <a:noFill/>
          <a:ln w="9525">
            <a:solidFill>
              <a:srgbClr val="7B1E2B"/>
            </a:solidFill>
            <a:prstDash val="solid"/>
          </a:ln>
        </p:spPr>
      </p:sp>
      <p:sp>
        <p:nvSpPr>
          <p:cNvPr id="5" name="Shape 3"/>
          <p:cNvSpPr/>
          <p:nvPr/>
        </p:nvSpPr>
        <p:spPr>
          <a:xfrm>
            <a:off x="405408" y="2731889"/>
            <a:ext cx="2159943" cy="0"/>
          </a:xfrm>
          <a:prstGeom prst="line">
            <a:avLst/>
          </a:prstGeom>
          <a:noFill/>
          <a:ln w="9525">
            <a:solidFill>
              <a:srgbClr val="7B1E2B"/>
            </a:solidFill>
            <a:prstDash val="solid"/>
          </a:ln>
        </p:spPr>
      </p:sp>
      <p:sp>
        <p:nvSpPr>
          <p:cNvPr id="6" name="Shape 4"/>
          <p:cNvSpPr/>
          <p:nvPr/>
        </p:nvSpPr>
        <p:spPr>
          <a:xfrm>
            <a:off x="2745284" y="3077021"/>
            <a:ext cx="4409182" cy="0"/>
          </a:xfrm>
          <a:prstGeom prst="line">
            <a:avLst/>
          </a:prstGeom>
          <a:noFill/>
          <a:ln w="9525">
            <a:solidFill>
              <a:srgbClr val="7B1E2B"/>
            </a:solidFill>
            <a:prstDash val="solid"/>
          </a:ln>
        </p:spPr>
      </p:sp>
      <p:sp>
        <p:nvSpPr>
          <p:cNvPr id="7" name="Shape 5"/>
          <p:cNvSpPr/>
          <p:nvPr/>
        </p:nvSpPr>
        <p:spPr>
          <a:xfrm>
            <a:off x="405408" y="6791771"/>
            <a:ext cx="2159943" cy="0"/>
          </a:xfrm>
          <a:prstGeom prst="line">
            <a:avLst/>
          </a:prstGeom>
          <a:noFill/>
          <a:ln w="9525">
            <a:solidFill>
              <a:srgbClr val="7B1E2B"/>
            </a:solidFill>
            <a:prstDash val="solid"/>
          </a:ln>
        </p:spPr>
      </p:sp>
      <p:sp>
        <p:nvSpPr>
          <p:cNvPr id="8" name="Shape 6"/>
          <p:cNvSpPr/>
          <p:nvPr/>
        </p:nvSpPr>
        <p:spPr>
          <a:xfrm>
            <a:off x="405408" y="10364688"/>
            <a:ext cx="6749058" cy="0"/>
          </a:xfrm>
          <a:prstGeom prst="line">
            <a:avLst/>
          </a:prstGeom>
          <a:noFill/>
          <a:ln w="9525">
            <a:solidFill>
              <a:srgbClr val="BFBFBF"/>
            </a:solidFill>
            <a:prstDash val="solid"/>
          </a:ln>
        </p:spPr>
      </p:sp>
      <p:sp>
        <p:nvSpPr>
          <p:cNvPr id="9" name="Text 7"/>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10" name="Text 8"/>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1" name="Text 9"/>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CAPEX bằng 65% doanh thu năm 2028 khiến FCFF âm bốn năm liên tiếp</a:t>
            </a:r>
            <a:endParaRPr lang="vi-VN" sz="720" dirty="0"/>
          </a:p>
        </p:txBody>
      </p:sp>
      <p:sp>
        <p:nvSpPr>
          <p:cNvPr id="12" name="Text 10"/>
          <p:cNvSpPr txBox="1"/>
          <p:nvPr/>
        </p:nvSpPr>
        <p:spPr>
          <a:xfrm>
            <a:off x="405408" y="840581"/>
            <a:ext cx="2214807" cy="109728"/>
          </a:xfrm>
          <a:prstGeom prst="rect">
            <a:avLst/>
          </a:prstGeom>
          <a:noFill/>
          <a:ln/>
        </p:spPr>
        <p:txBody>
          <a:bodyPr wrap="square" lIns="0" tIns="0" rIns="0" bIns="0" rtlCol="0" anchor="t"/>
          <a:lstStyle/>
          <a:p>
            <a:pPr algn="l" indent="0" marL="0">
              <a:lnSpc>
                <a:spcPts val="780"/>
              </a:lnSpc>
              <a:buNone/>
            </a:pPr>
            <a:r>
              <a:rPr lang="vi-VN" sz="640" b="1" dirty="0">
                <a:solidFill>
                  <a:srgbClr val="666666"/>
                </a:solidFill>
                <a:latin typeface="Calibri" pitchFamily="34" charset="0"/>
                <a:ea typeface="Calibri" pitchFamily="34" charset="-122"/>
                <a:cs typeface="Calibri" pitchFamily="34" charset="-120"/>
              </a:rPr>
              <a:t>CAPEX và khấu hao (tỷ đồng)</a:t>
            </a:r>
            <a:endParaRPr lang="vi-VN" sz="640" dirty="0"/>
          </a:p>
        </p:txBody>
      </p:sp>
      <p:graphicFrame>
        <p:nvGraphicFramePr>
          <p:cNvPr id="13" name="Chart 0" descr=""/>
          <p:cNvGraphicFramePr/>
          <p:nvPr/>
        </p:nvGraphicFramePr>
        <p:xfrm>
          <a:off x="405408" y="946845"/>
          <a:ext cx="2159943" cy="785366"/>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05408" y="1746498"/>
            <a:ext cx="2214807" cy="109728"/>
          </a:xfrm>
          <a:prstGeom prst="rect">
            <a:avLst/>
          </a:prstGeom>
          <a:noFill/>
          <a:ln/>
        </p:spPr>
        <p:txBody>
          <a:bodyPr wrap="square" lIns="0" tIns="0" rIns="0" bIns="0" rtlCol="0" anchor="t"/>
          <a:lstStyle/>
          <a:p>
            <a:pPr algn="l" indent="0" marL="0">
              <a:lnSpc>
                <a:spcPts val="780"/>
              </a:lnSpc>
              <a:buNone/>
            </a:pPr>
            <a:r>
              <a:rPr lang="vi-VN" sz="640" b="1" dirty="0">
                <a:solidFill>
                  <a:srgbClr val="666666"/>
                </a:solidFill>
                <a:latin typeface="Calibri" pitchFamily="34" charset="0"/>
                <a:ea typeface="Calibri" pitchFamily="34" charset="-122"/>
                <a:cs typeface="Calibri" pitchFamily="34" charset="-120"/>
              </a:rPr>
              <a:t>FCFF (tỷ đồng; 2025A = CFO − CAPEX)</a:t>
            </a:r>
            <a:endParaRPr lang="vi-VN" sz="640" dirty="0"/>
          </a:p>
        </p:txBody>
      </p:sp>
      <p:graphicFrame>
        <p:nvGraphicFramePr>
          <p:cNvPr id="15" name="Chart 1" descr=""/>
          <p:cNvGraphicFramePr/>
          <p:nvPr/>
        </p:nvGraphicFramePr>
        <p:xfrm>
          <a:off x="405408" y="1852761"/>
          <a:ext cx="2159943" cy="687139"/>
        </p:xfrm>
        <a:graphic xmlns:a="http://schemas.openxmlformats.org/drawingml/2006/main">
          <a:graphicData uri="http://schemas.openxmlformats.org/drawingml/2006/chart">
            <c:chart xmlns:c="http://schemas.openxmlformats.org/drawingml/2006/chart" r:id="rId2"/>
          </a:graphicData>
        </a:graphic>
      </p:graphicFrame>
      <p:sp>
        <p:nvSpPr>
          <p:cNvPr id="16" name="Text 12"/>
          <p:cNvSpPr txBox="1"/>
          <p:nvPr/>
        </p:nvSpPr>
        <p:spPr>
          <a:xfrm>
            <a:off x="405408" y="2557760"/>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(DCF, Drivers)</a:t>
            </a:r>
            <a:endParaRPr lang="vi-VN" sz="600" dirty="0"/>
          </a:p>
        </p:txBody>
      </p:sp>
      <p:sp>
        <p:nvSpPr>
          <p:cNvPr id="17" name="Text 13"/>
          <p:cNvSpPr txBox="1"/>
          <p:nvPr/>
        </p:nvSpPr>
        <p:spPr>
          <a:xfrm>
            <a:off x="405408" y="2763014"/>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47:</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ROIC giảm về 6,5% năm 2029, đến 2030 vẫn thấp hơn WACC</a:t>
            </a:r>
            <a:endParaRPr lang="vi-VN" sz="720" dirty="0"/>
          </a:p>
        </p:txBody>
      </p:sp>
      <p:sp>
        <p:nvSpPr>
          <p:cNvPr id="18" name="Text 14"/>
          <p:cNvSpPr txBox="1"/>
          <p:nvPr/>
        </p:nvSpPr>
        <p:spPr>
          <a:xfrm>
            <a:off x="405408" y="3000077"/>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a:t>
            </a:r>
            <a:endParaRPr lang="vi-VN" sz="630" dirty="0"/>
          </a:p>
        </p:txBody>
      </p:sp>
      <p:graphicFrame>
        <p:nvGraphicFramePr>
          <p:cNvPr id="19" name="Chart 2" descr=""/>
          <p:cNvGraphicFramePr/>
          <p:nvPr/>
        </p:nvGraphicFramePr>
        <p:xfrm>
          <a:off x="405408" y="3115568"/>
          <a:ext cx="2159943" cy="785366"/>
        </p:xfrm>
        <a:graphic xmlns:a="http://schemas.openxmlformats.org/drawingml/2006/main">
          <a:graphicData uri="http://schemas.openxmlformats.org/drawingml/2006/chart">
            <c:chart xmlns:c="http://schemas.openxmlformats.org/drawingml/2006/chart" r:id="rId3"/>
          </a:graphicData>
        </a:graphic>
      </p:graphicFrame>
      <p:sp>
        <p:nvSpPr>
          <p:cNvPr id="20" name="Text 15"/>
          <p:cNvSpPr txBox="1"/>
          <p:nvPr/>
        </p:nvSpPr>
        <p:spPr>
          <a:xfrm>
            <a:off x="405408" y="3918793"/>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a:t>
            </a:r>
            <a:endParaRPr lang="vi-VN" sz="600" dirty="0"/>
          </a:p>
        </p:txBody>
      </p:sp>
      <p:sp>
        <p:nvSpPr>
          <p:cNvPr id="21" name="Text 16"/>
          <p:cNvSpPr txBox="1"/>
          <p:nvPr/>
        </p:nvSpPr>
        <p:spPr>
          <a:xfrm>
            <a:off x="2745284" y="558105"/>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Hệ quả là dòng tiền tự do của doanh nghiệp (FCFF) âm 4,9 tỷ đồng năm 2026, âm 1,8 tỷ đồng năm 2027, âm 52,3 tỷ đồng năm 2028 và âm 3,4 tỷ đồng năm 2029, rồi mới dương năm 2030 với 8,4 tỷ đồng (Fig. 45). Cộng cả giai đoạn 2026–2030, FCFF âm 53,9 tỷ đồng, đúng với lưu ý của đề bài rằng startup hiếm khi có dòng tiền tự do dương ở giai đoạn đầu.</a:t>
            </a:r>
            <a:endParaRPr lang="vi-VN" sz="850" dirty="0"/>
          </a:p>
        </p:txBody>
      </p:sp>
      <p:sp>
        <p:nvSpPr>
          <p:cNvPr id="22" name="Text 17"/>
          <p:cNvSpPr txBox="1"/>
          <p:nvPr/>
        </p:nvSpPr>
        <p:spPr>
          <a:xfrm>
            <a:off x="2745284" y="1122015"/>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4.5. Vốn lưu động, bảng cân đối, dòng tiền và hiệu quả sử dụng vốn</a:t>
            </a:r>
            <a:endParaRPr lang="vi-VN" sz="900" dirty="0"/>
          </a:p>
        </p:txBody>
      </p:sp>
      <p:sp>
        <p:nvSpPr>
          <p:cNvPr id="23" name="Text 18"/>
          <p:cNvSpPr txBox="1"/>
          <p:nvPr/>
        </p:nvSpPr>
        <p:spPr>
          <a:xfrm>
            <a:off x="2745284" y="1291382"/>
            <a:ext cx="4464046" cy="789384"/>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Vốn lưu động.</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Tồn kho được giữ ở mức 100–105 ngày vì AgriPack phải tích trữ bã mía trong mùa ép, từ tháng 11 đến tháng 4 năm sau, và tăng lên 105 ngày năm 2029 để chuẩn bị nguyên liệu cho hai dây chuyền mới. Kỳ thu tiền kéo dài từ 14 lên 30 ngày khi khách hàng chuyển dần sang các chuỗi F&amp;B, doanh nghiệp FMCG và doanh nghiệp FDI, vốn thường đòi thời hạn thanh toán dài hơn; kỳ trả tiền cho nhà cung cấp tăng lên 15 ngày. Kết quả là vốn lưu động tăng từ 15% lên khoảng 19% doanh thu và giữ lại khoảng 26 tỷ đồng tiền mặt trong 5 năm.</a:t>
            </a:r>
            <a:endParaRPr lang="vi-VN" sz="850" dirty="0"/>
          </a:p>
        </p:txBody>
      </p:sp>
      <p:sp>
        <p:nvSpPr>
          <p:cNvPr id="24" name="Text 19"/>
          <p:cNvSpPr txBox="1"/>
          <p:nvPr/>
        </p:nvSpPr>
        <p:spPr>
          <a:xfrm>
            <a:off x="2745284" y="2118420"/>
            <a:ext cx="4464046" cy="920948"/>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Nguồn tài trợ.</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Phần thiếu hụt tiền được bù bằng 40,5 tỷ đồng vốn cổ phần gọi đầu năm 2026 và 39,2 tỷ đồng vay trung hạn năm 2028, tương đương 60% CAPEX của nhà máy (Fig. 46; báo cáo tài chính dự phóng đầy đủ ở Fig. A06–A08). Số vốn cổ phần này cũng chính là số tiền nhà đầu tư cần bỏ ra trong VC Method (Mục 5.4); nhu cầu vốn được trình bày ở Mục 6. Tổng tài sản tăng từ 31,9 lên 147,6 tỷ đồng; dòng tiền từ hoạt động kinh doanh tăng từ 7,7 lên 23,4 tỷ đồng nhưng chỉ vượt CAPEX vào năm 2030. Nợ vay lên tới 43% vốn chủ sở hữu năm 2028 rồi giảm dần khi doanh nghiệp bắt đầu trả gốc từ năm 2030.</a:t>
            </a:r>
            <a:endParaRPr lang="vi-VN" sz="850" dirty="0"/>
          </a:p>
        </p:txBody>
      </p:sp>
      <p:sp>
        <p:nvSpPr>
          <p:cNvPr id="25" name="Text 20"/>
          <p:cNvSpPr txBox="1"/>
          <p:nvPr/>
        </p:nvSpPr>
        <p:spPr>
          <a:xfrm>
            <a:off x="2745284" y="3108147"/>
            <a:ext cx="4464046"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46:</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Vốn cổ phần năm 2026 và khoản vay năm 2028 tài trợ nhà máy; tiền mặt luôn dương</a:t>
            </a:r>
            <a:endParaRPr lang="vi-VN" sz="720" dirty="0"/>
          </a:p>
        </p:txBody>
      </p:sp>
      <p:sp>
        <p:nvSpPr>
          <p:cNvPr id="26" name="Text 21"/>
          <p:cNvSpPr txBox="1"/>
          <p:nvPr/>
        </p:nvSpPr>
        <p:spPr>
          <a:xfrm>
            <a:off x="2745284" y="3235672"/>
            <a:ext cx="4464046"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5284" y="3351163"/>
          <a:ext cx="4409182" cy="914400"/>
        </p:xfrm>
        <a:graphic>
          <a:graphicData uri="http://schemas.openxmlformats.org/drawingml/2006/table">
            <a:tbl>
              <a:tblPr/>
              <a:tblGrid>
                <a:gridCol w="1234529"/>
                <a:gridCol w="529084"/>
                <a:gridCol w="529084"/>
                <a:gridCol w="529084"/>
                <a:gridCol w="529084"/>
                <a:gridCol w="529084"/>
                <a:gridCol w="529233"/>
              </a:tblGrid>
              <a:tr h="137517">
                <a:tc>
                  <a:txBody>
                    <a:bodyPr/>
                    <a:lstStyle/>
                    <a:p>
                      <a:pPr algn="l" indent="0" marL="0">
                        <a:lnSpc>
                          <a:spcPts val="800"/>
                        </a:lnSpc>
                        <a:buNone/>
                      </a:pPr>
                      <a:r>
                        <a:rPr lang="vi-VN" sz="680" b="1" dirty="0">
                          <a:solidFill>
                            <a:srgbClr val="FFFFFF"/>
                          </a:solidFill>
                          <a:latin typeface="Calibri" pitchFamily="34" charset="0"/>
                          <a:ea typeface="Calibri" pitchFamily="34" charset="-122"/>
                          <a:cs typeface="Calibri" pitchFamily="34" charset="-120"/>
                        </a:rPr>
                        <a:t>Tỷ đồng</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2025A</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2026E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2027E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2028E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2029E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800"/>
                        </a:lnSpc>
                        <a:buNone/>
                      </a:pPr>
                      <a:r>
                        <a:rPr lang="vi-VN" sz="680" b="1" dirty="0">
                          <a:solidFill>
                            <a:srgbClr val="FFFFFF"/>
                          </a:solidFill>
                          <a:latin typeface="Calibri" pitchFamily="34" charset="0"/>
                          <a:ea typeface="Calibri" pitchFamily="34" charset="-122"/>
                          <a:cs typeface="Calibri" pitchFamily="34" charset="-120"/>
                        </a:rPr>
                        <a:t>2030E</a:t>
                      </a:r>
                      <a:endParaRPr lang="vi-VN" sz="68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48828">
                <a:tc gridSpan="7">
                  <a:txBody>
                    <a:bodyPr/>
                    <a:lstStyle/>
                    <a:p>
                      <a:pPr algn="l" indent="0" marL="0">
                        <a:lnSpc>
                          <a:spcPts val="800"/>
                        </a:lnSpc>
                        <a:buNone/>
                      </a:pPr>
                      <a:r>
                        <a:rPr lang="vi-VN" sz="680" dirty="0">
                          <a:solidFill>
                            <a:srgbClr val="7B1E2B"/>
                          </a:solidFill>
                          <a:latin typeface="Calibri" pitchFamily="34" charset="0"/>
                          <a:ea typeface="Calibri" pitchFamily="34" charset="-122"/>
                          <a:cs typeface="Calibri" pitchFamily="34" charset="-120"/>
                        </a:rPr>
                        <a:t>Bảng cân đối (cuối kỳ)</a:t>
                      </a:r>
                      <a:endParaRPr lang="vi-VN" sz="680" dirty="0">
                        <a:latin typeface="Calibri" charset="0"/>
                        <a:ea typeface="Calibri" charset="0"/>
                        <a:cs typeface="Calibri" charset="0"/>
                      </a:endParaRPr>
                    </a:p>
                  </a:txBody>
                  <a:tcPr marL="28346" marR="28346" marT="28346" marB="13716" anchor="ctr">
                    <a:lnL w="0" cap="flat" cmpd="sng" algn="ctr">
                      <a:noFill/>
                    </a:lnL>
                    <a:lnR w="0" cap="flat" cmpd="sng" algn="ctr">
                      <a:noFill/>
                    </a:lnR>
                    <a:lnT w="0" cap="flat" cmpd="sng" algn="ctr">
                      <a:noFill/>
                    </a:lnT>
                    <a:lnB w="9525" cap="flat" cmpd="sng" algn="ctr">
                      <a:solidFill>
                        <a:srgbClr val="7B1E2B"/>
                      </a:solidFill>
                      <a:prstDash val="solid"/>
                      <a:round/>
                      <a:headEnd type="none" w="med" len="med"/>
                      <a:tailEnd type="none" w="med" len="med"/>
                    </a:lnB>
                  </a:tcPr>
                </a:tc>
                <a:tc hMerge="1">
                  <a:tcPr/>
                </a:tc>
                <a:tc hMerge="1">
                  <a:tcPr/>
                </a:tc>
                <a:tc hMerge="1">
                  <a:tcPr/>
                </a:tc>
                <a:tc hMerge="1">
                  <a:tcPr/>
                </a:tc>
                <a:tc hMerge="1">
                  <a:tcPr/>
                </a:tc>
                <a:tc hMerge="1">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Tiền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38,4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36,5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15,0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12,6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Phải thu khách hàng</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11,4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14,7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Hàng tồn kho</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6,0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13,8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Tài sản dài hạn ròng</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21,4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30,4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37,3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95,9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98,0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99,3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b="1" dirty="0">
                          <a:solidFill>
                            <a:srgbClr val="1F1F1F"/>
                          </a:solidFill>
                          <a:latin typeface="Calibri" pitchFamily="34" charset="0"/>
                          <a:ea typeface="Calibri" pitchFamily="34" charset="-122"/>
                          <a:cs typeface="Calibri" pitchFamily="34" charset="-120"/>
                        </a:rPr>
                        <a:t>Tổng tài sản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31,9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79,2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88,0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136,1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141,6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147,6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Nợ vay (ngắn + dài hạn)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40,8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40,8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32,9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b="1" dirty="0">
                          <a:solidFill>
                            <a:srgbClr val="1F1F1F"/>
                          </a:solidFill>
                          <a:latin typeface="Calibri" pitchFamily="34" charset="0"/>
                          <a:ea typeface="Calibri" pitchFamily="34" charset="-122"/>
                          <a:cs typeface="Calibri" pitchFamily="34" charset="-120"/>
                        </a:rPr>
                        <a:t>Vốn chủ sở hữu</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30,0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77,0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85,5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94,0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98,9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b="1" dirty="0">
                          <a:solidFill>
                            <a:srgbClr val="1F1F1F"/>
                          </a:solidFill>
                          <a:latin typeface="Calibri" pitchFamily="34" charset="0"/>
                          <a:ea typeface="Calibri" pitchFamily="34" charset="-122"/>
                          <a:cs typeface="Calibri" pitchFamily="34" charset="-120"/>
                        </a:rPr>
                        <a:t>112,3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i="1" dirty="0">
                          <a:solidFill>
                            <a:srgbClr val="555555"/>
                          </a:solidFill>
                          <a:latin typeface="Calibri" pitchFamily="34" charset="0"/>
                          <a:ea typeface="Calibri" pitchFamily="34" charset="-122"/>
                          <a:cs typeface="Calibri" pitchFamily="34" charset="-120"/>
                        </a:rPr>
                        <a:t>Nợ vay / VCSH</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43%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41%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i="1" dirty="0">
                          <a:solidFill>
                            <a:srgbClr val="555555"/>
                          </a:solidFill>
                          <a:latin typeface="Calibri" pitchFamily="34" charset="0"/>
                          <a:ea typeface="Calibri" pitchFamily="34" charset="-122"/>
                          <a:cs typeface="Calibri" pitchFamily="34" charset="-120"/>
                        </a:rPr>
                        <a:t>29%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53591">
                <a:tc gridSpan="7">
                  <a:txBody>
                    <a:bodyPr/>
                    <a:lstStyle/>
                    <a:p>
                      <a:pPr algn="l" indent="0" marL="0">
                        <a:lnSpc>
                          <a:spcPts val="800"/>
                        </a:lnSpc>
                        <a:buNone/>
                      </a:pPr>
                      <a:r>
                        <a:rPr lang="vi-VN" sz="680" dirty="0">
                          <a:solidFill>
                            <a:srgbClr val="7B1E2B"/>
                          </a:solidFill>
                          <a:latin typeface="Calibri" pitchFamily="34" charset="0"/>
                          <a:ea typeface="Calibri" pitchFamily="34" charset="-122"/>
                          <a:cs typeface="Calibri" pitchFamily="34" charset="-120"/>
                        </a:rPr>
                        <a:t>Lưu chuyển tiền tệ</a:t>
                      </a:r>
                      <a:endParaRPr lang="vi-VN" sz="680" dirty="0">
                        <a:latin typeface="Calibri" charset="0"/>
                        <a:ea typeface="Calibri" charset="0"/>
                        <a:cs typeface="Calibri" charset="0"/>
                      </a:endParaRPr>
                    </a:p>
                  </a:txBody>
                  <a:tcPr marL="28346" marR="28346" marT="28346" marB="13716" anchor="ctr">
                    <a:lnL w="0" cap="flat" cmpd="sng" algn="ctr">
                      <a:noFill/>
                    </a:lnL>
                    <a:lnR w="0" cap="flat" cmpd="sng" algn="ctr">
                      <a:noFill/>
                    </a:lnR>
                    <a:lnT w="0" cap="flat" cmpd="sng" algn="ctr">
                      <a:noFill/>
                    </a:lnT>
                    <a:lnB w="9525" cap="flat" cmpd="sng" algn="ctr">
                      <a:solidFill>
                        <a:srgbClr val="7B1E2B"/>
                      </a:solidFill>
                      <a:prstDash val="solid"/>
                      <a:round/>
                      <a:headEnd type="none" w="med" len="med"/>
                      <a:tailEnd type="none" w="med" len="med"/>
                    </a:lnB>
                  </a:tcPr>
                </a:tc>
                <a:tc hMerge="1">
                  <a:tcPr/>
                </a:tc>
                <a:tc hMerge="1">
                  <a:tcPr/>
                </a:tc>
                <a:tc hMerge="1">
                  <a:tcPr/>
                </a:tc>
                <a:tc hMerge="1">
                  <a:tcPr/>
                </a:tc>
                <a:tc hMerge="1">
                  <a:tcPr/>
                </a:tc>
                <a:tc hMerge="1">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CFO</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6,3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10,3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11,3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10,0</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23,4</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CAPEX</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(5,1)</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(12,7)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(12,2)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(65,3)</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(16,7)</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(17,9)</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Vốn góp cổ phần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40,5</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8410">
                <a:tc>
                  <a:txBody>
                    <a:bodyPr/>
                    <a:lstStyle/>
                    <a:p>
                      <a:pPr algn="l" indent="0" marL="0">
                        <a:lnSpc>
                          <a:spcPts val="800"/>
                        </a:lnSpc>
                        <a:buNone/>
                      </a:pPr>
                      <a:r>
                        <a:rPr lang="vi-VN" sz="680" dirty="0">
                          <a:solidFill>
                            <a:srgbClr val="1F1F1F"/>
                          </a:solidFill>
                          <a:latin typeface="Calibri" pitchFamily="34" charset="0"/>
                          <a:ea typeface="Calibri" pitchFamily="34" charset="-122"/>
                          <a:cs typeface="Calibri" pitchFamily="34" charset="-120"/>
                        </a:rPr>
                        <a:t>Vay (trả) nợ dài hạn</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39,2</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800"/>
                        </a:lnSpc>
                        <a:buNone/>
                      </a:pPr>
                      <a:r>
                        <a:rPr lang="vi-VN" sz="680" dirty="0">
                          <a:solidFill>
                            <a:srgbClr val="1F1F1F"/>
                          </a:solidFill>
                          <a:latin typeface="Calibri" pitchFamily="34" charset="0"/>
                          <a:ea typeface="Calibri" pitchFamily="34" charset="-122"/>
                          <a:cs typeface="Calibri" pitchFamily="34" charset="-120"/>
                        </a:rPr>
                        <a:t>(7,8)</a:t>
                      </a:r>
                      <a:endParaRPr lang="vi-VN" sz="68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28" name="Text 22"/>
          <p:cNvSpPr txBox="1"/>
          <p:nvPr/>
        </p:nvSpPr>
        <p:spPr>
          <a:xfrm>
            <a:off x="2745284" y="5474643"/>
            <a:ext cx="4464046"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2025 (đề bài); dự phóng (Balance Sheet, Cash Flow Statement)</a:t>
            </a:r>
            <a:endParaRPr lang="vi-VN" sz="600" dirty="0"/>
          </a:p>
        </p:txBody>
      </p:sp>
      <p:sp>
        <p:nvSpPr>
          <p:cNvPr id="29" name="Text 23"/>
          <p:cNvSpPr txBox="1"/>
          <p:nvPr/>
        </p:nvSpPr>
        <p:spPr>
          <a:xfrm>
            <a:off x="2745284" y="5648771"/>
            <a:ext cx="4464046" cy="789384"/>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Hiệu quả sử dụng vốn.</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Tỷ suất sinh lời trên vốn đầu tư (ROIC) tăng lên 17,0% năm 2027 rồi giảm còn 6,5% năm 2029, vì nhà máy mới đã đưa vào sử dụng nhưng công suất chưa được khai thác hết: mỗi đồng nguyên giá tài sản cố định chỉ tạo ra 1,07 đồng doanh thu, so với 1,66 đồng năm 2025. Đến năm 2030, ROIC (12,3%) vẫn thấp hơn WACC 14,1% (Fig. 47). Nói cách khác, khoản đầu tư năm 2028 chưa bù được chi phí vốn trong giai đoạn dự phóng; giá trị của nó nằm ở giai đoạn tăng trưởng sau năm 2030.</a:t>
            </a:r>
            <a:endParaRPr lang="vi-VN" sz="850" dirty="0"/>
          </a:p>
        </p:txBody>
      </p:sp>
      <p:sp>
        <p:nvSpPr>
          <p:cNvPr id="30" name="Text 24"/>
          <p:cNvSpPr txBox="1"/>
          <p:nvPr/>
        </p:nvSpPr>
        <p:spPr>
          <a:xfrm>
            <a:off x="484608" y="6551369"/>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5. ĐỊNH GIÁ</a:t>
            </a:r>
            <a:endParaRPr lang="vi-VN" sz="880" dirty="0"/>
          </a:p>
        </p:txBody>
      </p:sp>
      <p:sp>
        <p:nvSpPr>
          <p:cNvPr id="31" name="Text 25"/>
          <p:cNvSpPr txBox="1"/>
          <p:nvPr/>
        </p:nvSpPr>
        <p:spPr>
          <a:xfrm>
            <a:off x="405408" y="6822897"/>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48:</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WACC 14,1%: lãi suất phi rủi ro là lợi suất TPCP 10 năm hiện hành, beta tổng 1,50</a:t>
            </a:r>
            <a:endParaRPr lang="vi-VN" sz="72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405408" y="7074247"/>
          <a:ext cx="2159943" cy="914400"/>
        </p:xfrm>
        <a:graphic>
          <a:graphicData uri="http://schemas.openxmlformats.org/drawingml/2006/table">
            <a:tbl>
              <a:tblPr/>
              <a:tblGrid>
                <a:gridCol w="1511945"/>
                <a:gridCol w="647998"/>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Thành phần</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Giá trị</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918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Rf – TPCP 10 năm, ngày 01/10/2026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4,59%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ERP thị trường phát triển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4,23%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CRP Việt Nam (ước tính)</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3,90%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 ERP Việt Nam</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8,13%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βu ngành bao bì (Damodaran)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0,78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D/E mục tiêu (2028E)</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β có đòn bẩy</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1,05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ρ (đa dạng hóa một phần)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0,70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 Total beta</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1,50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Ke = Rf + β × ERP</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16,8%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Kd trước / sau thuế</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10% / 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Tỷ trọng E / D</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70% / 30%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WACC</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14,1%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sp>
        <p:nvSpPr>
          <p:cNvPr id="33" name="Text 26"/>
          <p:cNvSpPr txBox="1"/>
          <p:nvPr/>
        </p:nvSpPr>
        <p:spPr>
          <a:xfrm>
            <a:off x="405408" y="8966448"/>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(Discount rate: nguồn ghi ở cột C cạnh từng giả định); chi tiết ở Fig. A11, A12</a:t>
            </a:r>
            <a:endParaRPr lang="vi-VN" sz="600" dirty="0"/>
          </a:p>
        </p:txBody>
      </p:sp>
      <p:sp>
        <p:nvSpPr>
          <p:cNvPr id="34" name="Text 27"/>
          <p:cNvSpPr txBox="1"/>
          <p:nvPr/>
        </p:nvSpPr>
        <p:spPr>
          <a:xfrm>
            <a:off x="2745284" y="6806059"/>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5.1. Lựa chọn phương pháp</a:t>
            </a:r>
            <a:endParaRPr lang="vi-VN" sz="900" dirty="0"/>
          </a:p>
        </p:txBody>
      </p:sp>
      <p:sp>
        <p:nvSpPr>
          <p:cNvPr id="35" name="Text 28"/>
          <p:cNvSpPr txBox="1"/>
          <p:nvPr/>
        </p:nvSpPr>
        <p:spPr>
          <a:xfrm>
            <a:off x="2745284" y="6975425"/>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Nhóm dùng cả ba phương pháp mà đề bài cho phép, vì mỗi phương pháp trả lời một câu hỏi khác nhau. </a:t>
            </a:r>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DCF</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(chiết khấu dòng tiền tự do của doanh nghiệp) phù hợp vì AgriPack đã có ba năm doanh thu, EBITDA đã dương và có kế hoạch đầu tư cụ thể; phương pháp này cho biết doanh nghiệp đáng giá bao nhiêu nếu hoạt động đúng như dự phóng. </a:t>
            </a:r>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VC Method</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nhìn từ phía nhà đầu tư mạo hiểm: bắt đầu từ giá trị có thể bán lại vào năm 2030, rồi chiết khấu về hiện tại bằng một tỷ suất đã tính đến khả năng thất bại. </a:t>
            </a:r>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Multiples</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(so sánh bội số) neo kết quả vào mức giá mà thị trường đang trả cho 14 doanh nghiệp bao bì niêm yết.</a:t>
            </a:r>
            <a:endParaRPr lang="vi-VN" sz="850" dirty="0"/>
          </a:p>
        </p:txBody>
      </p:sp>
      <p:sp>
        <p:nvSpPr>
          <p:cNvPr id="36" name="Text 29"/>
          <p:cNvSpPr txBox="1"/>
          <p:nvPr/>
        </p:nvSpPr>
        <p:spPr>
          <a:xfrm>
            <a:off x="2745284" y="7934027"/>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Nhóm đặt trọng số 40% cho DCF, 40% cho VC Method và 20% cho Multiples. Multiples có trọng số thấp nhất vì các doanh nghiệp so sánh đều lớn và đã trưởng thành, còn bội số áp lên số liệu năm 2025 chỉ phản ánh quy mô hiện tại của AgriPack (ưu, nhược điểm của từng phương pháp ở Mục 5.6).</a:t>
            </a:r>
            <a:endParaRPr lang="vi-VN" sz="850" dirty="0"/>
          </a:p>
        </p:txBody>
      </p:sp>
      <p:sp>
        <p:nvSpPr>
          <p:cNvPr id="37" name="Text 30"/>
          <p:cNvSpPr txBox="1"/>
          <p:nvPr/>
        </p:nvSpPr>
        <p:spPr>
          <a:xfrm>
            <a:off x="2745284" y="8497937"/>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5.2. Chi phí vốn</a:t>
            </a:r>
            <a:endParaRPr lang="vi-VN" sz="900" dirty="0"/>
          </a:p>
        </p:txBody>
      </p:sp>
      <p:sp>
        <p:nvSpPr>
          <p:cNvPr id="38" name="Text 31"/>
          <p:cNvSpPr txBox="1"/>
          <p:nvPr/>
        </p:nvSpPr>
        <p:spPr>
          <a:xfrm>
            <a:off x="2745284" y="8667304"/>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WACC của AgriPack là 14,1% (Fig. 48). Lãi suất phi rủi ro được lấy bằng lợi suất trái phiếu Chính phủ kỳ hạn 10 năm tại ngày 01/10/2026, tức 4,588%, sát thời điểm lập báo cáo, để chi phí vốn phản ánh mặt bằng lãi suất mà nhà đầu tư đang đòi hỏi. Mức này cao hơn bình quân 3,92% của giai đoạn 2016–2025; lợi suất trong giai đoạn đó dao động mạnh, từ 2,1% năm 2021 đến 6,9% năm 2016 (Fig. A12), nên ảnh hưởng của Rf được kiểm tra riêng trong độ nhạy (Rf và Kd ±1 điểm %, Fig. 38).</a:t>
            </a:r>
            <a:endParaRPr lang="vi-VN" sz="850" dirty="0"/>
          </a:p>
        </p:txBody>
      </p:sp>
      <p:sp>
        <p:nvSpPr>
          <p:cNvPr id="39" name="Text 32"/>
          <p:cNvSpPr txBox="1"/>
          <p:nvPr/>
        </p:nvSpPr>
        <p:spPr>
          <a:xfrm>
            <a:off x="2745284" y="9362777"/>
            <a:ext cx="4464046" cy="92094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Phần bù rủi ro vốn cổ phần của Việt Nam là 8,13%, gồm 4,23% của thị trường phát triển và 3,9% phần bù rủi ro quốc gia. Beta không đòn bẩy của ngành bao bì là 0,78 theo số liệu của Damodaran; sau khi điều chỉnh theo cơ cấu vốn mục tiêu năm 2028 – năm đầu tư lớn (nợ vay bằng 43% vốn chủ sở hữu), beta có đòn bẩy là 1,05. Vì nhà đầu tư mạo hiểm chỉ đa dạng hóa được một phần danh mục, beta này được chia cho hệ số tương quan 0,7 để ra beta tổng 1,50, từ đó chi phí vốn chủ sở hữu là 16,8%. Chi phí nợ trước thuế là 10%. Rủi ro thất bại của startup không được cộng thêm vào WACC mà được xử lý riêng trong VC Method, để không bị tính hai lần.</a:t>
            </a:r>
            <a:endParaRPr lang="vi-VN" sz="850" dirty="0"/>
          </a:p>
        </p:txBody>
      </p:sp>
      <p:sp>
        <p:nvSpPr>
          <p:cNvPr id="40" name="Text 33"/>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41" name="Text 34"/>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13</a:t>
            </a:r>
            <a:endParaRPr lang="vi-VN" sz="6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2159943" cy="0"/>
          </a:xfrm>
          <a:prstGeom prst="line">
            <a:avLst/>
          </a:prstGeom>
          <a:noFill/>
          <a:ln w="9525">
            <a:solidFill>
              <a:srgbClr val="7B1E2B"/>
            </a:solidFill>
            <a:prstDash val="solid"/>
          </a:ln>
        </p:spPr>
      </p:sp>
      <p:sp>
        <p:nvSpPr>
          <p:cNvPr id="4" name="Shape 2"/>
          <p:cNvSpPr/>
          <p:nvPr/>
        </p:nvSpPr>
        <p:spPr>
          <a:xfrm>
            <a:off x="405408" y="2115443"/>
            <a:ext cx="2159943" cy="0"/>
          </a:xfrm>
          <a:prstGeom prst="line">
            <a:avLst/>
          </a:prstGeom>
          <a:noFill/>
          <a:ln w="9525">
            <a:solidFill>
              <a:srgbClr val="7B1E2B"/>
            </a:solidFill>
            <a:prstDash val="solid"/>
          </a:ln>
        </p:spPr>
      </p:sp>
      <p:sp>
        <p:nvSpPr>
          <p:cNvPr id="5" name="Shape 3"/>
          <p:cNvSpPr/>
          <p:nvPr/>
        </p:nvSpPr>
        <p:spPr>
          <a:xfrm>
            <a:off x="405408" y="4011513"/>
            <a:ext cx="2159943" cy="0"/>
          </a:xfrm>
          <a:prstGeom prst="line">
            <a:avLst/>
          </a:prstGeom>
          <a:noFill/>
          <a:ln w="9525">
            <a:solidFill>
              <a:srgbClr val="7B1E2B"/>
            </a:solidFill>
            <a:prstDash val="solid"/>
          </a:ln>
        </p:spPr>
      </p:sp>
      <p:sp>
        <p:nvSpPr>
          <p:cNvPr id="6" name="Shape 4"/>
          <p:cNvSpPr/>
          <p:nvPr/>
        </p:nvSpPr>
        <p:spPr>
          <a:xfrm>
            <a:off x="405408" y="5529560"/>
            <a:ext cx="2159943" cy="0"/>
          </a:xfrm>
          <a:prstGeom prst="line">
            <a:avLst/>
          </a:prstGeom>
          <a:noFill/>
          <a:ln w="9525">
            <a:solidFill>
              <a:srgbClr val="7B1E2B"/>
            </a:solidFill>
            <a:prstDash val="solid"/>
          </a:ln>
        </p:spPr>
      </p:sp>
      <p:sp>
        <p:nvSpPr>
          <p:cNvPr id="7" name="Shape 5"/>
          <p:cNvSpPr/>
          <p:nvPr/>
        </p:nvSpPr>
        <p:spPr>
          <a:xfrm>
            <a:off x="405408" y="7692777"/>
            <a:ext cx="2159943" cy="0"/>
          </a:xfrm>
          <a:prstGeom prst="line">
            <a:avLst/>
          </a:prstGeom>
          <a:noFill/>
          <a:ln w="9525">
            <a:solidFill>
              <a:srgbClr val="7B1E2B"/>
            </a:solidFill>
            <a:prstDash val="solid"/>
          </a:ln>
        </p:spPr>
      </p:sp>
      <p:sp>
        <p:nvSpPr>
          <p:cNvPr id="8" name="Shape 6"/>
          <p:cNvSpPr/>
          <p:nvPr/>
        </p:nvSpPr>
        <p:spPr>
          <a:xfrm>
            <a:off x="2745284" y="2828181"/>
            <a:ext cx="4409182" cy="0"/>
          </a:xfrm>
          <a:prstGeom prst="line">
            <a:avLst/>
          </a:prstGeom>
          <a:noFill/>
          <a:ln w="9525">
            <a:solidFill>
              <a:srgbClr val="7B1E2B"/>
            </a:solidFill>
            <a:prstDash val="solid"/>
          </a:ln>
        </p:spPr>
      </p:sp>
      <p:sp>
        <p:nvSpPr>
          <p:cNvPr id="9" name="Shape 7"/>
          <p:cNvSpPr/>
          <p:nvPr/>
        </p:nvSpPr>
        <p:spPr>
          <a:xfrm>
            <a:off x="2745284" y="7447955"/>
            <a:ext cx="4409182" cy="0"/>
          </a:xfrm>
          <a:prstGeom prst="line">
            <a:avLst/>
          </a:prstGeom>
          <a:noFill/>
          <a:ln w="9525">
            <a:solidFill>
              <a:srgbClr val="7B1E2B"/>
            </a:solidFill>
            <a:prstDash val="solid"/>
          </a:ln>
        </p:spPr>
      </p:sp>
      <p:sp>
        <p:nvSpPr>
          <p:cNvPr id="10" name="Shape 8"/>
          <p:cNvSpPr/>
          <p:nvPr/>
        </p:nvSpPr>
        <p:spPr>
          <a:xfrm>
            <a:off x="405408" y="10364688"/>
            <a:ext cx="6749058" cy="0"/>
          </a:xfrm>
          <a:prstGeom prst="line">
            <a:avLst/>
          </a:prstGeom>
          <a:noFill/>
          <a:ln w="9525">
            <a:solidFill>
              <a:srgbClr val="BFBFBF"/>
            </a:solidFill>
            <a:prstDash val="solid"/>
          </a:ln>
        </p:spPr>
      </p:sp>
      <p:sp>
        <p:nvSpPr>
          <p:cNvPr id="11" name="Text 9"/>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12" name="Text 10"/>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3" name="Text 11"/>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49:</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Giá trị cuối kỳ gấp ba lần EV vì FCFF 2026–2029 âm</a:t>
            </a:r>
            <a:endParaRPr lang="vi-VN" sz="720" dirty="0"/>
          </a:p>
        </p:txBody>
      </p:sp>
      <p:sp>
        <p:nvSpPr>
          <p:cNvPr id="14" name="Text 12"/>
          <p:cNvSpPr txBox="1"/>
          <p:nvPr/>
        </p:nvSpPr>
        <p:spPr>
          <a:xfrm>
            <a:off x="405408" y="82629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15" name="Chart 0" descr=""/>
          <p:cNvGraphicFramePr/>
          <p:nvPr/>
        </p:nvGraphicFramePr>
        <p:xfrm>
          <a:off x="405408" y="941784"/>
          <a:ext cx="2159943" cy="98167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405408" y="1941314"/>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(DCF)</a:t>
            </a:r>
            <a:endParaRPr lang="vi-VN" sz="600" dirty="0"/>
          </a:p>
        </p:txBody>
      </p:sp>
      <p:sp>
        <p:nvSpPr>
          <p:cNvPr id="17" name="Text 14"/>
          <p:cNvSpPr txBox="1"/>
          <p:nvPr/>
        </p:nvSpPr>
        <p:spPr>
          <a:xfrm>
            <a:off x="405408" y="2146568"/>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VC Method: pre-money 21,7 tỷ đồng</a:t>
            </a:r>
            <a:endParaRPr lang="vi-VN" sz="720" dirty="0"/>
          </a:p>
        </p:txBody>
      </p:sp>
      <p:sp>
        <p:nvSpPr>
          <p:cNvPr id="18" name="Text 15"/>
          <p:cNvSpPr txBox="1"/>
          <p:nvPr/>
        </p:nvSpPr>
        <p:spPr>
          <a:xfrm>
            <a:off x="405408" y="227409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05408" y="2389584"/>
          <a:ext cx="2159943" cy="914400"/>
        </p:xfrm>
        <a:graphic>
          <a:graphicData uri="http://schemas.openxmlformats.org/drawingml/2006/table">
            <a:tbl>
              <a:tblPr/>
              <a:tblGrid>
                <a:gridCol w="1598265"/>
                <a:gridCol w="561677"/>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Bước</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Tỷ đồng</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918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LNST 2030E × P/E 9,4 lần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125,7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EBITDA 2030E × EV/EBITDA 8,0 lần + tiền − nợ</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275,5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Giá trị thoái vốn 2030 (bình quân)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200,6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Tỷ lệ thất bại z (BTL: đầu tăng trưởng)</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WACC r</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14,1%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p = (1 + r)/(1 − z)</a:t>
                      </a:r>
                      <a:pPr algn="l" indent="0" marL="0">
                        <a:lnSpc>
                          <a:spcPts val="770"/>
                        </a:lnSpc>
                        <a:buNone/>
                      </a:pPr>
                      <a:r>
                        <a:rPr lang="vi-VN" sz="460" b="1" baseline="30000" dirty="0">
                          <a:solidFill>
                            <a:srgbClr val="1F1F1F"/>
                          </a:solidFill>
                          <a:latin typeface="Calibri" pitchFamily="34" charset="0"/>
                          <a:ea typeface="Calibri" pitchFamily="34" charset="-122"/>
                          <a:cs typeface="Calibri" pitchFamily="34" charset="-120"/>
                        </a:rPr>
                        <a:t>1/5</a:t>
                      </a:r>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 − 1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26,4%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Post-money = giá trị thoái vốn/(1 + p)</a:t>
                      </a:r>
                      <a:pPr algn="l" indent="0" marL="0">
                        <a:lnSpc>
                          <a:spcPts val="770"/>
                        </a:lnSpc>
                        <a:buNone/>
                      </a:pPr>
                      <a:r>
                        <a:rPr lang="vi-VN" sz="460" b="1" baseline="30000" dirty="0">
                          <a:solidFill>
                            <a:srgbClr val="1F1F1F"/>
                          </a:solidFill>
                          <a:latin typeface="Calibri" pitchFamily="34" charset="0"/>
                          <a:ea typeface="Calibri" pitchFamily="34" charset="-122"/>
                          <a:cs typeface="Calibri" pitchFamily="34" charset="-120"/>
                        </a:rPr>
                        <a:t>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62,2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Vốn cổ phần cần huy động</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40,5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Pre-money</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21,7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sp>
        <p:nvSpPr>
          <p:cNvPr id="20" name="Text 16"/>
          <p:cNvSpPr txBox="1"/>
          <p:nvPr/>
        </p:nvSpPr>
        <p:spPr>
          <a:xfrm>
            <a:off x="405408" y="3746004"/>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(VCM); bội số ngành Containers &amp; Packaging (FiinX, 2026)</a:t>
            </a:r>
            <a:endParaRPr lang="vi-VN" sz="600" dirty="0"/>
          </a:p>
        </p:txBody>
      </p:sp>
      <p:sp>
        <p:nvSpPr>
          <p:cNvPr id="21" name="Text 17"/>
          <p:cNvSpPr txBox="1"/>
          <p:nvPr/>
        </p:nvSpPr>
        <p:spPr>
          <a:xfrm>
            <a:off x="405408" y="4042638"/>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Chiết khấu theo tỷ suất p = 26,4% làm giá trị thoái vốn giảm còn khoảng một phần ba</a:t>
            </a:r>
            <a:endParaRPr lang="vi-VN" sz="720" dirty="0"/>
          </a:p>
        </p:txBody>
      </p:sp>
      <p:sp>
        <p:nvSpPr>
          <p:cNvPr id="22" name="Text 18"/>
          <p:cNvSpPr txBox="1"/>
          <p:nvPr/>
        </p:nvSpPr>
        <p:spPr>
          <a:xfrm>
            <a:off x="405408" y="4279702"/>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23" name="Chart 1" descr=""/>
          <p:cNvGraphicFramePr/>
          <p:nvPr/>
        </p:nvGraphicFramePr>
        <p:xfrm>
          <a:off x="405408" y="4395192"/>
          <a:ext cx="2159943" cy="942380"/>
        </p:xfrm>
        <a:graphic xmlns:a="http://schemas.openxmlformats.org/drawingml/2006/main">
          <a:graphicData uri="http://schemas.openxmlformats.org/drawingml/2006/chart">
            <c:chart xmlns:c="http://schemas.openxmlformats.org/drawingml/2006/chart" r:id="rId2"/>
          </a:graphicData>
        </a:graphic>
      </p:graphicFrame>
      <p:sp>
        <p:nvSpPr>
          <p:cNvPr id="24" name="Text 19"/>
          <p:cNvSpPr txBox="1"/>
          <p:nvPr/>
        </p:nvSpPr>
        <p:spPr>
          <a:xfrm>
            <a:off x="405408" y="5355431"/>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(VCM); p = (1 + r)/(1 − z)^(1/n) − 1</a:t>
            </a:r>
            <a:endParaRPr lang="vi-VN" sz="600" dirty="0"/>
          </a:p>
        </p:txBody>
      </p:sp>
      <p:sp>
        <p:nvSpPr>
          <p:cNvPr id="25" name="Text 20"/>
          <p:cNvSpPr txBox="1"/>
          <p:nvPr/>
        </p:nvSpPr>
        <p:spPr>
          <a:xfrm>
            <a:off x="405408" y="5560685"/>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EV/EBITDA của 14 DN bao bì niêm yết: trung vị 4,6 lần</a:t>
            </a:r>
            <a:endParaRPr lang="vi-VN" sz="720" dirty="0"/>
          </a:p>
        </p:txBody>
      </p:sp>
      <p:sp>
        <p:nvSpPr>
          <p:cNvPr id="26" name="Text 21"/>
          <p:cNvSpPr txBox="1"/>
          <p:nvPr/>
        </p:nvSpPr>
        <p:spPr>
          <a:xfrm>
            <a:off x="405408" y="5797748"/>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Lần (4 quý gần nhất)</a:t>
            </a:r>
            <a:endParaRPr lang="vi-VN" sz="630" dirty="0"/>
          </a:p>
        </p:txBody>
      </p:sp>
      <p:graphicFrame>
        <p:nvGraphicFramePr>
          <p:cNvPr id="27" name="Chart 2" descr=""/>
          <p:cNvGraphicFramePr/>
          <p:nvPr/>
        </p:nvGraphicFramePr>
        <p:xfrm>
          <a:off x="405408" y="5913239"/>
          <a:ext cx="2159943" cy="1496169"/>
        </p:xfrm>
        <a:graphic xmlns:a="http://schemas.openxmlformats.org/drawingml/2006/main">
          <a:graphicData uri="http://schemas.openxmlformats.org/drawingml/2006/chart">
            <c:chart xmlns:c="http://schemas.openxmlformats.org/drawingml/2006/chart" r:id="rId3"/>
          </a:graphicData>
        </a:graphic>
      </p:graphicFrame>
      <p:sp>
        <p:nvSpPr>
          <p:cNvPr id="28" name="Text 22"/>
          <p:cNvSpPr txBox="1"/>
          <p:nvPr/>
        </p:nvSpPr>
        <p:spPr>
          <a:xfrm>
            <a:off x="405408" y="7427268"/>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FiinX (giá đóng cửa 28/9/2026; BCTC 4 quý gần nhất đến Q2/2026); đủ 16 DN ở Fig. A13</a:t>
            </a:r>
            <a:endParaRPr lang="vi-VN" sz="600" dirty="0"/>
          </a:p>
        </p:txBody>
      </p:sp>
      <p:sp>
        <p:nvSpPr>
          <p:cNvPr id="29" name="Text 23"/>
          <p:cNvSpPr txBox="1"/>
          <p:nvPr/>
        </p:nvSpPr>
        <p:spPr>
          <a:xfrm>
            <a:off x="405408" y="7723902"/>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Các phương pháp nằm trong khoảng 18–28 tỷ khi cùng tính rủi ro thất bại</a:t>
            </a:r>
            <a:endParaRPr lang="vi-VN" sz="720" dirty="0"/>
          </a:p>
        </p:txBody>
      </p:sp>
      <p:sp>
        <p:nvSpPr>
          <p:cNvPr id="30" name="Text 24"/>
          <p:cNvSpPr txBox="1"/>
          <p:nvPr/>
        </p:nvSpPr>
        <p:spPr>
          <a:xfrm>
            <a:off x="405408" y="7960965"/>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Pre-money, tỷ đồng</a:t>
            </a:r>
            <a:endParaRPr lang="vi-VN" sz="630" dirty="0"/>
          </a:p>
        </p:txBody>
      </p:sp>
      <p:graphicFrame>
        <p:nvGraphicFramePr>
          <p:cNvPr id="31" name="Chart 3" descr=""/>
          <p:cNvGraphicFramePr/>
          <p:nvPr/>
        </p:nvGraphicFramePr>
        <p:xfrm>
          <a:off x="405408" y="8076456"/>
          <a:ext cx="2159943" cy="814834"/>
        </p:xfrm>
        <a:graphic xmlns:a="http://schemas.openxmlformats.org/drawingml/2006/main">
          <a:graphicData uri="http://schemas.openxmlformats.org/drawingml/2006/chart">
            <c:chart xmlns:c="http://schemas.openxmlformats.org/drawingml/2006/chart" r:id="rId4"/>
          </a:graphicData>
        </a:graphic>
      </p:graphicFrame>
      <p:sp>
        <p:nvSpPr>
          <p:cNvPr id="32" name="Text 25"/>
          <p:cNvSpPr txBox="1"/>
          <p:nvPr/>
        </p:nvSpPr>
        <p:spPr>
          <a:xfrm>
            <a:off x="405408" y="8909149"/>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(Summary)</a:t>
            </a:r>
            <a:endParaRPr lang="vi-VN" sz="600" dirty="0"/>
          </a:p>
        </p:txBody>
      </p:sp>
      <p:sp>
        <p:nvSpPr>
          <p:cNvPr id="33" name="Text 26"/>
          <p:cNvSpPr txBox="1"/>
          <p:nvPr/>
        </p:nvSpPr>
        <p:spPr>
          <a:xfrm>
            <a:off x="2745284" y="572393"/>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5.3. DCF</a:t>
            </a:r>
            <a:endParaRPr lang="vi-VN" sz="900" dirty="0"/>
          </a:p>
        </p:txBody>
      </p:sp>
      <p:sp>
        <p:nvSpPr>
          <p:cNvPr id="34" name="Text 27"/>
          <p:cNvSpPr txBox="1"/>
          <p:nvPr/>
        </p:nvSpPr>
        <p:spPr>
          <a:xfrm>
            <a:off x="2745284" y="741759"/>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DCF cho giá trị vốn chủ sở hữu trước khi gọi vốn (pre-money) là 20,4 tỷ đồng (Fig. 49, Fig. 50). Hiện giá của FCFF 2026–2030 âm 38,5 tỷ đồng do khoản đầu tư nhà máy năm 2028, nên toàn bộ giá trị đến từ giá trị cuối kỳ: 111,5 tỷ đồng tại năm 2030, tương đương 57,6 tỷ đồng hiện giá, gấp khoảng ba lần giá trị doanh nghiệp (302% EV).</a:t>
            </a:r>
            <a:endParaRPr lang="vi-VN" sz="850" dirty="0"/>
          </a:p>
        </p:txBody>
      </p:sp>
      <p:sp>
        <p:nvSpPr>
          <p:cNvPr id="35" name="Text 28"/>
          <p:cNvSpPr txBox="1"/>
          <p:nvPr/>
        </p:nvSpPr>
        <p:spPr>
          <a:xfrm>
            <a:off x="2745284" y="1305669"/>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Giá trị cuối kỳ được tính đúng theo công thức của file mẫu, bằng FCFF năm 2031 chia cho (WACC − g), với g = 5% (lạm phát mục tiêu cộng tăng trưởng thực thấp). Điểm khác duy nhất là FCFF năm 2031 được chuẩn hóa: lợi nhuận hoạt động sau thuế năm 2031 chỉ giữ lại phần tái đầu tư vừa đủ cho mức tăng 5%, tính bằng g chia cho ROIC năm 2030 (12,3%). Nếu lấy thẳng FCFF năm 2030 nhân (1 + g), mô hình sẽ vĩnh viễn hóa mức CAPEX của giai đoạn tăng 20% mỗi năm trong khi chỉ ghi nhận tăng trưởng 5%, và giá trị cuối kỳ sẽ thấp hơn khoảng 13%.</a:t>
            </a:r>
            <a:endParaRPr lang="vi-VN" sz="850" dirty="0"/>
          </a:p>
        </p:txBody>
      </p:sp>
      <p:sp>
        <p:nvSpPr>
          <p:cNvPr id="36" name="Text 29"/>
          <p:cNvSpPr txBox="1"/>
          <p:nvPr/>
        </p:nvSpPr>
        <p:spPr>
          <a:xfrm>
            <a:off x="2745284" y="2132707"/>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Vì ROIC năm 2030 (12,3%) thấp hơn WACC, tăng trưởng sau năm 2030 làm giảm nhẹ giá trị thay vì tạo thêm; đây là một giả định thận trọng. Khi WACC và g cùng thay đổi 1 điểm %, giá trị DCF nằm trong khoảng 11,7–29,7 tỷ đồng (Fig. A14). Kết quả tương đương EV/EBITDA năm 2025 khoảng 2,5 lần, thấp hơn trung vị 4,6 lần của ngành: DCF không trả thêm cho tăng trưởng, vì khoản đầu tư năm 2028 chưa bù được chi phí vốn trong kỳ dự phóng.</a:t>
            </a:r>
            <a:endParaRPr lang="vi-VN" sz="850" dirty="0"/>
          </a:p>
        </p:txBody>
      </p:sp>
      <p:sp>
        <p:nvSpPr>
          <p:cNvPr id="37" name="Text 30"/>
          <p:cNvSpPr txBox="1"/>
          <p:nvPr/>
        </p:nvSpPr>
        <p:spPr>
          <a:xfrm>
            <a:off x="2745284" y="2859306"/>
            <a:ext cx="4464046"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50:</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Bảng tính DCF: FCFF, hệ số chiết khấu và giá trị hiện tại</a:t>
            </a:r>
            <a:endParaRPr lang="vi-VN" sz="720" dirty="0"/>
          </a:p>
        </p:txBody>
      </p:sp>
      <p:sp>
        <p:nvSpPr>
          <p:cNvPr id="38" name="Text 31"/>
          <p:cNvSpPr txBox="1"/>
          <p:nvPr/>
        </p:nvSpPr>
        <p:spPr>
          <a:xfrm>
            <a:off x="2745284" y="2986832"/>
            <a:ext cx="4464046"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2745284" y="3102322"/>
          <a:ext cx="4409182" cy="914400"/>
        </p:xfrm>
        <a:graphic>
          <a:graphicData uri="http://schemas.openxmlformats.org/drawingml/2006/table">
            <a:tbl>
              <a:tblPr/>
              <a:tblGrid>
                <a:gridCol w="1234529"/>
                <a:gridCol w="529084"/>
                <a:gridCol w="529084"/>
                <a:gridCol w="529084"/>
                <a:gridCol w="529084"/>
                <a:gridCol w="529084"/>
                <a:gridCol w="529233"/>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Tỷ đồng</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26E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27E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28E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29E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30E</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TV</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918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NOPAT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8,6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10,3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8,1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16,3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Khấu hao</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14,6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16,6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Tăng vốn lưu động</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(9,4)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CAPEX</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(12,7)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(12,2)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(65,3)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(16,7)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(17,9)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FCFF</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(4,9)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(52,3)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(3,4)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8,4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111,5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Hệ số chiết khấu</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0,876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0,768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0,673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0,589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0,516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0,516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Giá trị hiện tại</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(4,3)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(35,2)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4,4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57,6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40" name="Text 32"/>
          <p:cNvSpPr txBox="1"/>
          <p:nvPr/>
        </p:nvSpPr>
        <p:spPr>
          <a:xfrm>
            <a:off x="2745284" y="4190851"/>
            <a:ext cx="4464046"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(DCF, Discount rate); chiết khấu cuối năm, t0 = 01/01/2026; cột "Cuối kỳ" = giá trị cuối kỳ tại 2030</a:t>
            </a:r>
            <a:endParaRPr lang="vi-VN" sz="600" dirty="0"/>
          </a:p>
        </p:txBody>
      </p:sp>
      <p:sp>
        <p:nvSpPr>
          <p:cNvPr id="41" name="Text 33"/>
          <p:cNvSpPr txBox="1"/>
          <p:nvPr/>
        </p:nvSpPr>
        <p:spPr>
          <a:xfrm>
            <a:off x="2745284" y="4364980"/>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5.4. VC Method</a:t>
            </a:r>
            <a:endParaRPr lang="vi-VN" sz="900" dirty="0"/>
          </a:p>
        </p:txBody>
      </p:sp>
      <p:sp>
        <p:nvSpPr>
          <p:cNvPr id="42" name="Text 34"/>
          <p:cNvSpPr txBox="1"/>
          <p:nvPr/>
        </p:nvSpPr>
        <p:spPr>
          <a:xfrm>
            <a:off x="2745284" y="4534346"/>
            <a:ext cx="4464046" cy="657820"/>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VC Method cho pre-money 21,7 tỷ đồng (Fig. 51, Fig. 52). Nhóm ước tính giá trị doanh nghiệp khi nhà đầu tư thoái vốn cuối năm 2030 bằng hai cách rồi lấy bình quân: nhân lợi nhuận sau thuế năm 2030 với P/E 9,4 lần được 125,7 tỷ đồng; nhân EBITDA năm 2030 với EV/EBITDA 8,0 lần, rồi cộng tiền mặt và trừ nợ vay, được 275,5 tỷ đồng. Hai bội số này là mức bình quân năm 2026 của ngành Containers &amp; Packaging theo FiinX. Giá trị thoái vốn dùng để định giá là 200,6 tỷ đồng.</a:t>
            </a:r>
            <a:endParaRPr lang="vi-VN" sz="850" dirty="0"/>
          </a:p>
        </p:txBody>
      </p:sp>
      <p:sp>
        <p:nvSpPr>
          <p:cNvPr id="43" name="Text 35"/>
          <p:cNvSpPr txBox="1"/>
          <p:nvPr/>
        </p:nvSpPr>
        <p:spPr>
          <a:xfrm>
            <a:off x="2745284" y="5229820"/>
            <a:ext cx="4464046" cy="789384"/>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Theo hướng dẫn của đề bài, doanh nghiệp ở giai đoạn đầu tăng trưởng có tỷ lệ thất bại 35–45%, và nhóm dùng z = 40%. Tỷ suất lợi nhuận yêu cầu của nhà đầu tư được tính theo công thức trong giáo trình: (1 + p)</a:t>
            </a:r>
            <a:pPr algn="just" indent="0" marL="0">
              <a:lnSpc>
                <a:spcPts val="1040"/>
              </a:lnSpc>
              <a:buNone/>
            </a:pPr>
            <a:r>
              <a:rPr lang="vi-VN" sz="590" baseline="30000" dirty="0">
                <a:solidFill>
                  <a:srgbClr val="1F1F1F"/>
                </a:solidFill>
                <a:latin typeface="Calibri" pitchFamily="34" charset="0"/>
                <a:ea typeface="Calibri" pitchFamily="34" charset="-122"/>
                <a:cs typeface="Calibri" pitchFamily="34" charset="-120"/>
              </a:rPr>
              <a:t>n</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 (1 + r)</a:t>
            </a:r>
            <a:pPr algn="just" indent="0" marL="0">
              <a:lnSpc>
                <a:spcPts val="1040"/>
              </a:lnSpc>
              <a:buNone/>
            </a:pPr>
            <a:r>
              <a:rPr lang="vi-VN" sz="590" baseline="30000" dirty="0">
                <a:solidFill>
                  <a:srgbClr val="1F1F1F"/>
                </a:solidFill>
                <a:latin typeface="Calibri" pitchFamily="34" charset="0"/>
                <a:ea typeface="Calibri" pitchFamily="34" charset="-122"/>
                <a:cs typeface="Calibri" pitchFamily="34" charset="-120"/>
              </a:rPr>
              <a:t>n</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/(1 − z), tức p = (1 + r)/(1 − z)</a:t>
            </a:r>
            <a:pPr algn="just" indent="0" marL="0">
              <a:lnSpc>
                <a:spcPts val="1040"/>
              </a:lnSpc>
              <a:buNone/>
            </a:pPr>
            <a:r>
              <a:rPr lang="vi-VN" sz="590" baseline="30000" dirty="0">
                <a:solidFill>
                  <a:srgbClr val="1F1F1F"/>
                </a:solidFill>
                <a:latin typeface="Calibri" pitchFamily="34" charset="0"/>
                <a:ea typeface="Calibri" pitchFamily="34" charset="-122"/>
                <a:cs typeface="Calibri" pitchFamily="34" charset="-120"/>
              </a:rPr>
              <a:t>1/n</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− 1, với r là WACC 14,1% và n = 5 năm. Kết quả p = 26,4%; phần cao hơn WACC chính là khoản bù cho rủi ro thất bại. Chiết khấu giá trị thoái vốn về hiện tại với tỷ suất này cho post-money 62,2 tỷ đồng; trừ đi 40,5 tỷ đồng vốn cổ phần cần huy động, pre-money còn 21,7 tỷ đồng, và nhà đầu tư mới sẽ nắm khoảng 65% cổ phần.</a:t>
            </a:r>
            <a:endParaRPr lang="vi-VN" sz="850" dirty="0"/>
          </a:p>
        </p:txBody>
      </p:sp>
      <p:sp>
        <p:nvSpPr>
          <p:cNvPr id="44" name="Text 36"/>
          <p:cNvSpPr txBox="1"/>
          <p:nvPr/>
        </p:nvSpPr>
        <p:spPr>
          <a:xfrm>
            <a:off x="2745284" y="6056858"/>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5.5. Multiples</a:t>
            </a:r>
            <a:endParaRPr lang="vi-VN" sz="900" dirty="0"/>
          </a:p>
        </p:txBody>
      </p:sp>
      <p:sp>
        <p:nvSpPr>
          <p:cNvPr id="45" name="Text 37"/>
          <p:cNvSpPr txBox="1"/>
          <p:nvPr/>
        </p:nvSpPr>
        <p:spPr>
          <a:xfrm>
            <a:off x="2745284" y="6226225"/>
            <a:ext cx="4464046" cy="1184077"/>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Phương pháp bội số cho pre-money 27,7 tỷ đồng (Fig. 53, Fig. 54). Mẫu so sánh gồm 14 doanh nghiệp bao bì niêm yết; nhóm loại MCP vì P/E lên tới 84 lần do lợi nhuận quá thấp, và loại PBT vì đây là doanh nghiệp thương mại. Trung vị EV/EBITDA của mẫu là 4,63 lần và P/E là 7,1 lần; bình quân ngành năm 2026 theo FiinX là 7,99 lần và 9,43 lần. Các bội số này được áp lên số liệu năm 2025 của AgriPack, gồm EBITDA 7,7 tỷ đồng và lợi nhuận sau thuế chuẩn hóa theo thuế suất 20% là 3,54 tỷ đồng (năm 2025 doanh nghiệp chưa phải nộp thuế nhờ chuyển lỗ), rồi chiết khấu 30% vì cổ phần AgriPack không giao dịch được và quy mô còn nhỏ. Nhóm không áp bội số lên số liệu năm 2026 (sẽ cho 54,0 tỷ đồng trước chiết khấu), vì EBITDA năm 2026 chỉ đạt được nhờ chính khoản vốn đang cần huy động.</a:t>
            </a:r>
            <a:endParaRPr lang="vi-VN" sz="850" dirty="0"/>
          </a:p>
        </p:txBody>
      </p:sp>
      <p:sp>
        <p:nvSpPr>
          <p:cNvPr id="46" name="Text 38"/>
          <p:cNvSpPr txBox="1"/>
          <p:nvPr/>
        </p:nvSpPr>
        <p:spPr>
          <a:xfrm>
            <a:off x="2745284" y="7479080"/>
            <a:ext cx="4464046"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Multiples trên số liệu 2025A: pre-money 27,7 tỷ sau chiết khấu 30%</a:t>
            </a:r>
            <a:endParaRPr lang="vi-VN" sz="720" dirty="0"/>
          </a:p>
        </p:txBody>
      </p:sp>
      <p:sp>
        <p:nvSpPr>
          <p:cNvPr id="47" name="Text 39"/>
          <p:cNvSpPr txBox="1"/>
          <p:nvPr/>
        </p:nvSpPr>
        <p:spPr>
          <a:xfrm>
            <a:off x="2745284" y="7606605"/>
            <a:ext cx="4464046"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43" name="Table 2"/>
          <p:cNvGraphicFramePr>
            <a:graphicFrameLocks noGrp="1"/>
          </p:cNvGraphicFramePr>
          <p:nvPr>
            <p:extLst>
              <p:ext uri="{D42A27DB-BD31-4B8C-83A1-F6EECF244321}">
                <p14:modId xmlns:p14="http://schemas.microsoft.com/office/powerpoint/2010/main" val="1579011935"/>
              </p:ext>
            </p:extLst>
          </p:nvPr>
        </p:nvGraphicFramePr>
        <p:xfrm>
          <a:off x="2745284" y="7722096"/>
          <a:ext cx="4409182" cy="914400"/>
        </p:xfrm>
        <a:graphic>
          <a:graphicData uri="http://schemas.openxmlformats.org/drawingml/2006/table">
            <a:tbl>
              <a:tblPr/>
              <a:tblGrid>
                <a:gridCol w="2028230"/>
                <a:gridCol w="705445"/>
                <a:gridCol w="837605"/>
                <a:gridCol w="837902"/>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Cách tính (chỉ tiêu 2025A)</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Bội số</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Trước DLOM</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Sau DLOM</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918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EV/EBITDA × trung vị mẫu</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4,63x</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37,0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EV/EBITDA × bình quân ngành</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7,99x</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62,8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44,0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P/E × trung vị mẫu</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7,13x</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17,7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P/E × bình quân ngành</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9,43x</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33,3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23,3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Bình quân 4 cách (pre-money)</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27,7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sp>
        <p:nvSpPr>
          <p:cNvPr id="49" name="Text 40"/>
          <p:cNvSpPr txBox="1"/>
          <p:nvPr/>
        </p:nvSpPr>
        <p:spPr>
          <a:xfrm>
            <a:off x="2745284" y="8542734"/>
            <a:ext cx="4464046"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Sheet Multiples; FiinX (28/9/2026)</a:t>
            </a:r>
            <a:endParaRPr lang="vi-VN" sz="600" dirty="0"/>
          </a:p>
        </p:txBody>
      </p:sp>
      <p:sp>
        <p:nvSpPr>
          <p:cNvPr id="50" name="Text 41"/>
          <p:cNvSpPr txBox="1"/>
          <p:nvPr/>
        </p:nvSpPr>
        <p:spPr>
          <a:xfrm>
            <a:off x="2745284" y="8716863"/>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5.6. So sánh, diễn giải kết quả và hạn chế của từng phương pháp</a:t>
            </a:r>
            <a:endParaRPr lang="vi-VN" sz="900" dirty="0"/>
          </a:p>
        </p:txBody>
      </p:sp>
      <p:sp>
        <p:nvSpPr>
          <p:cNvPr id="51" name="Text 42"/>
          <p:cNvSpPr txBox="1"/>
          <p:nvPr/>
        </p:nvSpPr>
        <p:spPr>
          <a:xfrm>
            <a:off x="2745284" y="8886230"/>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Ba phương pháp cho kết quả từ 20,4 đến 27,7 tỷ đồng. Tính bình quân gia quyền, pre-money của AgriPack là 22,4 tỷ đồng, nằm trong khoảng 11,4–35,5 tỷ đồng (Fig. 55).</a:t>
            </a:r>
            <a:endParaRPr lang="vi-VN" sz="850" dirty="0"/>
          </a:p>
        </p:txBody>
      </p:sp>
      <p:sp>
        <p:nvSpPr>
          <p:cNvPr id="52" name="Text 43"/>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53" name="Text 44"/>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14</a:t>
            </a:r>
            <a:endParaRPr lang="vi-VN" sz="6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6973639"/>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2745284" y="3001566"/>
            <a:ext cx="4409182" cy="0"/>
          </a:xfrm>
          <a:prstGeom prst="line">
            <a:avLst/>
          </a:prstGeom>
          <a:noFill/>
          <a:ln w="9525">
            <a:solidFill>
              <a:srgbClr val="7B1E2B"/>
            </a:solidFill>
            <a:prstDash val="solid"/>
          </a:ln>
        </p:spPr>
      </p:sp>
      <p:sp>
        <p:nvSpPr>
          <p:cNvPr id="5" name="Shape 3"/>
          <p:cNvSpPr/>
          <p:nvPr/>
        </p:nvSpPr>
        <p:spPr>
          <a:xfrm>
            <a:off x="405408" y="5306020"/>
            <a:ext cx="6749058" cy="0"/>
          </a:xfrm>
          <a:prstGeom prst="line">
            <a:avLst/>
          </a:prstGeom>
          <a:noFill/>
          <a:ln w="9525">
            <a:solidFill>
              <a:srgbClr val="7B1E2B"/>
            </a:solidFill>
            <a:prstDash val="solid"/>
          </a:ln>
        </p:spPr>
      </p:sp>
      <p:sp>
        <p:nvSpPr>
          <p:cNvPr id="6" name="Shape 4"/>
          <p:cNvSpPr/>
          <p:nvPr/>
        </p:nvSpPr>
        <p:spPr>
          <a:xfrm>
            <a:off x="405408" y="7246441"/>
            <a:ext cx="2159943" cy="0"/>
          </a:xfrm>
          <a:prstGeom prst="line">
            <a:avLst/>
          </a:prstGeom>
          <a:noFill/>
          <a:ln w="9525">
            <a:solidFill>
              <a:srgbClr val="7B1E2B"/>
            </a:solidFill>
            <a:prstDash val="solid"/>
          </a:ln>
        </p:spPr>
      </p:sp>
      <p:sp>
        <p:nvSpPr>
          <p:cNvPr id="7" name="Shape 5"/>
          <p:cNvSpPr/>
          <p:nvPr/>
        </p:nvSpPr>
        <p:spPr>
          <a:xfrm>
            <a:off x="405408" y="10364688"/>
            <a:ext cx="6749058" cy="0"/>
          </a:xfrm>
          <a:prstGeom prst="line">
            <a:avLst/>
          </a:prstGeom>
          <a:noFill/>
          <a:ln w="9525">
            <a:solidFill>
              <a:srgbClr val="BFBFBF"/>
            </a:solidFill>
            <a:prstDash val="solid"/>
          </a:ln>
        </p:spPr>
      </p:sp>
      <p:sp>
        <p:nvSpPr>
          <p:cNvPr id="8" name="Text 6"/>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9" name="Text 7"/>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0" name="Text 8"/>
          <p:cNvSpPr txBox="1"/>
          <p:nvPr/>
        </p:nvSpPr>
        <p:spPr>
          <a:xfrm>
            <a:off x="2745284" y="558105"/>
            <a:ext cx="4464046" cy="1315641"/>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Vì sao DCF thấp hơn VC Method và Multiples.</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DCF (20,4 tỷ đồng) giả định doanh nghiệp chắc chắn hoạt động như dự phóng, nhưng định giá doanh nghiệp năm 2030 bằng dòng tiền sau năm 2030 (giá trị cuối kỳ 111,5 tỷ đồng) với đúng ROIC của AgriPack năm 2030 (12,3%), thấp hơn WACC. VC Method thì dùng bội số ngành cho giá trị thoái vốn 200,6 tỷ đồng; các bội số này ngầm định doanh nghiệp sinh lời cao hơn chi phí vốn, nên VC Method (21,7 tỷ) vẫn cao hơn DCF dù đã tính 40% khả năng thất bại. Riêng cách tính theo EV/EBITDA cho tới 275 tỷ đồng, vì biên EBITDA năm 2030 (20,7%) cao hơn nhiều biên EBIT (11,4%) khi khấu hao lớn. Khi nhân giá trị DCF với xác suất sống sót 60% và cộng 40% khả năng thanh lý (giá trị thanh lý 15,0 tỷ đồng, bằng một nửa vốn chủ sở hữu sổ sách), giá trị còn 18,2 tỷ đồng. Multiples cho giá trị cao nhất (27,7 tỷ) vì chỉ định giá quy mô hoạt động năm 2025, chưa phải gánh khoản đầu tư 65 tỷ đồng năm 2028.</a:t>
            </a:r>
            <a:endParaRPr lang="vi-VN" sz="850" dirty="0"/>
          </a:p>
        </p:txBody>
      </p:sp>
      <p:sp>
        <p:nvSpPr>
          <p:cNvPr id="11" name="Text 9"/>
          <p:cNvSpPr txBox="1"/>
          <p:nvPr/>
        </p:nvSpPr>
        <p:spPr>
          <a:xfrm>
            <a:off x="2745284" y="1911400"/>
            <a:ext cx="4464046" cy="1052513"/>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Diễn giải.</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Mức 22,4 tỷ đồng chỉ bằng khoảng 0,75 lần vốn chủ sở hữu sổ sách, tương đương P/E năm 2025 khoảng 6,3 lần và EV/EBITDA khoảng 2,7 lần. Nói cách khác, nhà đầu tư chưa trả thêm cho tăng trưởng, vì để tăng trưởng doanh nghiệp cần thêm gần 80 tỷ đồng vốn bên ngoài và ROIC giai đoạn 2028–2030 thấp hơn WACC. Kết quả nhạy nhất với sản lượng: trong kịch bản xấu, khi sản lượng chỉ bằng 70% kịch bản cơ sở, giá trị vốn chủ sở hữu âm; kịch bản tốt cho 68,6 tỷ đồng; còn nếu chỉ huy động vốn cổ phần mà không vay, nhu cầu vốn cổ phần tăng lên 73,6 tỷ đồng và pre-money bình quân còn 15,4 tỷ đồng (Fig. 56). Ưu điểm và hạn chế của từng phương pháp được tóm tắt ở Fig. 57; phần diễn giải chi tiết và bảng độ nhạy nằm ở Phụ lục (Fig. A14).</a:t>
            </a:r>
            <a:endParaRPr lang="vi-VN" sz="850" dirty="0"/>
          </a:p>
        </p:txBody>
      </p:sp>
      <p:sp>
        <p:nvSpPr>
          <p:cNvPr id="12" name="Text 10"/>
          <p:cNvSpPr txBox="1"/>
          <p:nvPr/>
        </p:nvSpPr>
        <p:spPr>
          <a:xfrm>
            <a:off x="2745284" y="3032691"/>
            <a:ext cx="4464046"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56:</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Kịch bản xấu cho giá trị vốn chủ sở hữu âm; không vay làm pre-money giảm còn 15,4 tỷ</a:t>
            </a:r>
            <a:endParaRPr lang="vi-VN" sz="720" dirty="0"/>
          </a:p>
        </p:txBody>
      </p:sp>
      <p:sp>
        <p:nvSpPr>
          <p:cNvPr id="13" name="Text 11"/>
          <p:cNvSpPr txBox="1"/>
          <p:nvPr/>
        </p:nvSpPr>
        <p:spPr>
          <a:xfrm>
            <a:off x="2745284" y="3160216"/>
            <a:ext cx="4464046"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2745284" y="3275707"/>
          <a:ext cx="4409182" cy="914400"/>
        </p:xfrm>
        <a:graphic>
          <a:graphicData uri="http://schemas.openxmlformats.org/drawingml/2006/table">
            <a:tbl>
              <a:tblPr/>
              <a:tblGrid>
                <a:gridCol w="1322636"/>
                <a:gridCol w="573137"/>
                <a:gridCol w="573137"/>
                <a:gridCol w="573137"/>
                <a:gridCol w="683419"/>
                <a:gridCol w="683716"/>
              </a:tblGrid>
              <a:tr h="230386">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Tỷ đồng</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Cơ sở</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Xấu (Bear)</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Tốt (Bull)</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Chỉ vốn CP, không vay</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Vay 75% CAPEX 2028</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129183">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DT 2030E</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178,9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121,2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227,4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178,9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178,9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CAGR DT 2025–30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30,3%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36,8%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30,3%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30,3%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Biên EBITDA 2030E</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14,0%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24,1%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LNST 2030E</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13,4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16,2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12,7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Tổng FCFF 2026–30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(53,9)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(57,6)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(49,4)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(53,9)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(53,9)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Vốn cổ phần cần huy động</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40,5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47,3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34,3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73,6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33,9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Vay trung hạn 2028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39,2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31,4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44,9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48,9</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WACC</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14,1%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14,1%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14,2%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13,7%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14,2%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DCF</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20,4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(55,4)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90,3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24,3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19,6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VC Method</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21,7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(29,1)</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67,3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0,4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25,6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Bình quân gia quyền*</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22,4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(28,3)</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68,6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15,4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23,6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5" name="Text 12"/>
          <p:cNvSpPr txBox="1"/>
          <p:nvPr/>
        </p:nvSpPr>
        <p:spPr>
          <a:xfrm>
            <a:off x="2745284" y="4997351"/>
            <a:ext cx="4464046"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(Summary – chạy lại toàn bộ mô hình cho từng phương án); *DCF 40%, VC Method 40%, Multiples 20% (Multiples không đổi giữa các phương án)</a:t>
            </a:r>
            <a:endParaRPr lang="vi-VN" sz="600" dirty="0"/>
          </a:p>
        </p:txBody>
      </p:sp>
      <p:sp>
        <p:nvSpPr>
          <p:cNvPr id="16" name="Text 13"/>
          <p:cNvSpPr txBox="1"/>
          <p:nvPr/>
        </p:nvSpPr>
        <p:spPr>
          <a:xfrm>
            <a:off x="405408" y="5337145"/>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57:</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Sự phù hợp và hạn chế của từng phương pháp trong trường hợp AgriPack</a:t>
            </a:r>
            <a:endParaRPr lang="vi-VN" sz="72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05408" y="5478959"/>
          <a:ext cx="6749058" cy="914400"/>
        </p:xfrm>
        <a:graphic>
          <a:graphicData uri="http://schemas.openxmlformats.org/drawingml/2006/table">
            <a:tbl>
              <a:tblPr/>
              <a:tblGrid>
                <a:gridCol w="809774"/>
                <a:gridCol w="1687264"/>
                <a:gridCol w="2227064"/>
                <a:gridCol w="1552277"/>
                <a:gridCol w="472678"/>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Phương pháp</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Vì sao phù hợp với AgriPack</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Hạn chế trong trường hợp AgriPack</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Cách xử lý trong mô hình</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Trọng số</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421184">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DCF (FCFF)</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AgriPack đã có ba năm doanh thu, EBITDA dương và kế hoạch đầu tư cụ thể; DCF cho biết giá trị khi doanh nghiệp hoạt động đúng như dự phóng</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Giá trị cuối kỳ bằng 302% EV vì FCFF 2026–2029 âm; kết quả nhạy với WACC và g; một kịch bản duy nhất, chưa tính khả năng thất bại</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Giữ công thức giá trị cuối kỳ của file mẫu, chuẩn hóa FCFF 2031 với RONIC bằng ROIC 2030; dùng beta tổng; đối chiếu DCF nhân xác suất sống sót</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40%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VC Method</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Nhìn từ phía nhà đầu tư mạo hiểm ở giai đoạn đầu tăng trưởng; dùng trực tiếp tỷ lệ thất bại theo hướng dẫn của đề bài</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Phụ thuộc bội số thoái vốn của các doanh nghiệp niêm yết đã trưởng thành và năm thoái vốn 2030; P/E và EV/EBITDA cho giá trị thoái vốn chênh nhau gấp đôi (130 và 267 tỷ đồng)</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Lấy bình quân hai bội số; tính p theo công thức giáo trình; kiểm tra độ nhạy với z 35–45% và giá trị thoái vốn ±15%</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40%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25946">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Multiples</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Neo kết quả vào mức giá thị trường đang trả cho các doanh nghiệp bao bì niêm yết, dễ kiểm chứng</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Mẫu so sánh là doanh nghiệp lớn, trưởng thành (doanh thu trung vị khoảng 1.400 tỷ đồng); bội số quá khứ bỏ qua tăng trưởng; lợi nhuận 2025 được hưởng chuyển lỗ; mức chiết khấu 30% là ước lượng</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Dùng số liệu năm 2025 để không trả trước cho tăng trưởng cần vốn mới; chuẩn hóa thuế 20%; loại MCP và PBT khỏi mẫu</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20%</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8" name="Text 14"/>
          <p:cNvSpPr txBox="1"/>
          <p:nvPr/>
        </p:nvSpPr>
        <p:spPr>
          <a:xfrm>
            <a:off x="405408" y="6810375"/>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Phân tích của nhóm; số liệu: mô hình (DCF, VCM, Multiples)</a:t>
            </a:r>
            <a:endParaRPr lang="vi-VN" sz="600" dirty="0"/>
          </a:p>
        </p:txBody>
      </p:sp>
      <p:sp>
        <p:nvSpPr>
          <p:cNvPr id="19" name="Text 15"/>
          <p:cNvSpPr txBox="1"/>
          <p:nvPr/>
        </p:nvSpPr>
        <p:spPr>
          <a:xfrm>
            <a:off x="484608" y="7006039"/>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6. KẾ HOẠCH HUY ĐỘNG VỐN</a:t>
            </a:r>
            <a:endParaRPr lang="vi-VN" sz="880" dirty="0"/>
          </a:p>
        </p:txBody>
      </p:sp>
      <p:sp>
        <p:nvSpPr>
          <p:cNvPr id="20" name="Text 16"/>
          <p:cNvSpPr txBox="1"/>
          <p:nvPr/>
        </p:nvSpPr>
        <p:spPr>
          <a:xfrm>
            <a:off x="405408" y="7277566"/>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58:</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Thiếu hụt so với tiền mặt tối thiểu lớn nhất năm 2030: 36,8 tỷ; cộng 10% dự phòng thành 40,5 tỷ</a:t>
            </a:r>
            <a:endParaRPr lang="vi-VN" sz="720" dirty="0"/>
          </a:p>
        </p:txBody>
      </p:sp>
      <p:sp>
        <p:nvSpPr>
          <p:cNvPr id="21" name="Text 17"/>
          <p:cNvSpPr txBox="1"/>
          <p:nvPr/>
        </p:nvSpPr>
        <p:spPr>
          <a:xfrm>
            <a:off x="405408" y="7514630"/>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 trước khi gọi vốn cổ phần, đã gồm khoản vay 2028</a:t>
            </a:r>
            <a:endParaRPr lang="vi-VN" sz="630" dirty="0"/>
          </a:p>
        </p:txBody>
      </p:sp>
      <p:graphicFrame>
        <p:nvGraphicFramePr>
          <p:cNvPr id="22" name="Chart 0" descr=""/>
          <p:cNvGraphicFramePr/>
          <p:nvPr/>
        </p:nvGraphicFramePr>
        <p:xfrm>
          <a:off x="405408" y="7630120"/>
          <a:ext cx="2159943" cy="687139"/>
        </p:xfrm>
        <a:graphic xmlns:a="http://schemas.openxmlformats.org/drawingml/2006/main">
          <a:graphicData uri="http://schemas.openxmlformats.org/drawingml/2006/chart">
            <c:chart xmlns:c="http://schemas.openxmlformats.org/drawingml/2006/chart" r:id="rId1"/>
          </a:graphicData>
        </a:graphic>
      </p:graphicFrame>
      <p:sp>
        <p:nvSpPr>
          <p:cNvPr id="23" name="Text 18"/>
          <p:cNvSpPr txBox="1"/>
          <p:nvPr/>
        </p:nvSpPr>
        <p:spPr>
          <a:xfrm>
            <a:off x="405408" y="8335119"/>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(Pro Forma: dòng thiếu hụt so với tiền mặt tối thiểu 5% doanh thu)</a:t>
            </a:r>
            <a:endParaRPr lang="vi-VN" sz="600" dirty="0"/>
          </a:p>
        </p:txBody>
      </p:sp>
      <p:sp>
        <p:nvSpPr>
          <p:cNvPr id="24" name="Text 19"/>
          <p:cNvSpPr txBox="1"/>
          <p:nvPr/>
        </p:nvSpPr>
        <p:spPr>
          <a:xfrm>
            <a:off x="2745284" y="7260729"/>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6.1. Nhu cầu vốn</a:t>
            </a:r>
            <a:endParaRPr lang="vi-VN" sz="900" dirty="0"/>
          </a:p>
        </p:txBody>
      </p:sp>
      <p:sp>
        <p:nvSpPr>
          <p:cNvPr id="25" name="Text 20"/>
          <p:cNvSpPr txBox="1"/>
          <p:nvPr/>
        </p:nvSpPr>
        <p:spPr>
          <a:xfrm>
            <a:off x="2745284" y="7430095"/>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Để mở rộng quy mô sản xuất và tiếp tục thúc đẩy sự tăng trưởng của AgriPack trong giai đoạn 2026 – 2030, doanh nghiệp dự kiến mở thêm một nhà máy sản xuất vào năm 2028 với nhu cầu huy động vốn là 40,46 tỷ đồng.</a:t>
            </a:r>
            <a:endParaRPr lang="vi-VN" sz="850" dirty="0"/>
          </a:p>
        </p:txBody>
      </p:sp>
      <p:sp>
        <p:nvSpPr>
          <p:cNvPr id="26" name="Text 21"/>
          <p:cNvSpPr txBox="1"/>
          <p:nvPr/>
        </p:nvSpPr>
        <p:spPr>
          <a:xfrm>
            <a:off x="2745284" y="7862441"/>
            <a:ext cx="4464046" cy="1052513"/>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Trước hết, báo cáo tài chính ba năm 2023 – 2025 của AgriPack cho thấy doanh nghiệp đang trong giai đoạn đầu tăng trưởng, là thời điểm thích hợp để mở rộng quy mô sản xuất nhằm tiếp tục thúc đẩy tăng trưởng. Số liệu cho thấy CAGR doanh thu 2023–2025 là 56,4%, vòng quay tổng tài sản tăng nhanh trong ba năm từ 1,04 lần lên 1,6 lần và doanh nghiệp bắt đầu có lợi nhuận dương. CFO đã chuyển dương, đạt 6,28 tỷ đồng năm 2025 và đủ để tài trợ hoàn toàn CAPEX cùng năm, làm FCF cùng năm chuyển dương 1,2 tỷ đồng. Các dấu hiệu tích cực trong tình hình tài chính này đã thúc đẩy quyết định đầu tư thêm một nhà máy sản xuất năm 2028 nhằm đáp ứng việc thúc đẩy tăng trưởng của doanh nghiệp trong vòng ít nhất 5 năm tới.</a:t>
            </a:r>
            <a:endParaRPr lang="vi-VN" sz="850" dirty="0"/>
          </a:p>
        </p:txBody>
      </p:sp>
      <p:sp>
        <p:nvSpPr>
          <p:cNvPr id="27" name="Text 22"/>
          <p:cNvSpPr txBox="1"/>
          <p:nvPr/>
        </p:nvSpPr>
        <p:spPr>
          <a:xfrm>
            <a:off x="2745284" y="8952607"/>
            <a:ext cx="4464046" cy="394692"/>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Với nhu cầu mở rộng quy mô năm 2028, nhóm ước tính số vốn 40,46 tỷ đồng huy động từ bên ngoài sẽ đảm bảo tài trợ cho hoạt động đầu tư CAPEX và duy trì tiền mặt tối thiểu của doanh nghiệp trong giai đoạn 2026 – 2030 (Fig. 58, Fig. 59):</a:t>
            </a:r>
            <a:endParaRPr lang="vi-VN" sz="850" dirty="0"/>
          </a:p>
        </p:txBody>
      </p:sp>
      <p:sp>
        <p:nvSpPr>
          <p:cNvPr id="28" name="Text 23"/>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29" name="Text 24"/>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15</a:t>
            </a:r>
            <a:endParaRPr lang="vi-VN" sz="6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2898874"/>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405408" y="558105"/>
            <a:ext cx="2159943" cy="0"/>
          </a:xfrm>
          <a:prstGeom prst="line">
            <a:avLst/>
          </a:prstGeom>
          <a:noFill/>
          <a:ln w="9525">
            <a:solidFill>
              <a:srgbClr val="7B1E2B"/>
            </a:solidFill>
            <a:prstDash val="solid"/>
          </a:ln>
        </p:spPr>
      </p:sp>
      <p:sp>
        <p:nvSpPr>
          <p:cNvPr id="5" name="Shape 3"/>
          <p:cNvSpPr/>
          <p:nvPr/>
        </p:nvSpPr>
        <p:spPr>
          <a:xfrm>
            <a:off x="405408" y="3171676"/>
            <a:ext cx="2159943" cy="0"/>
          </a:xfrm>
          <a:prstGeom prst="line">
            <a:avLst/>
          </a:prstGeom>
          <a:noFill/>
          <a:ln w="9525">
            <a:solidFill>
              <a:srgbClr val="7B1E2B"/>
            </a:solidFill>
            <a:prstDash val="solid"/>
          </a:ln>
        </p:spPr>
      </p:sp>
      <p:sp>
        <p:nvSpPr>
          <p:cNvPr id="6" name="Shape 4"/>
          <p:cNvSpPr/>
          <p:nvPr/>
        </p:nvSpPr>
        <p:spPr>
          <a:xfrm>
            <a:off x="405408" y="4624090"/>
            <a:ext cx="2159943" cy="0"/>
          </a:xfrm>
          <a:prstGeom prst="line">
            <a:avLst/>
          </a:prstGeom>
          <a:noFill/>
          <a:ln w="9525">
            <a:solidFill>
              <a:srgbClr val="7B1E2B"/>
            </a:solidFill>
            <a:prstDash val="solid"/>
          </a:ln>
        </p:spPr>
      </p:sp>
      <p:sp>
        <p:nvSpPr>
          <p:cNvPr id="7" name="Shape 5"/>
          <p:cNvSpPr/>
          <p:nvPr/>
        </p:nvSpPr>
        <p:spPr>
          <a:xfrm>
            <a:off x="405408" y="10364688"/>
            <a:ext cx="6749058" cy="0"/>
          </a:xfrm>
          <a:prstGeom prst="line">
            <a:avLst/>
          </a:prstGeom>
          <a:noFill/>
          <a:ln w="9525">
            <a:solidFill>
              <a:srgbClr val="BFBFBF"/>
            </a:solidFill>
            <a:prstDash val="solid"/>
          </a:ln>
        </p:spPr>
      </p:sp>
      <p:sp>
        <p:nvSpPr>
          <p:cNvPr id="8" name="Text 6"/>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9" name="Text 7"/>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0" name="Text 8"/>
          <p:cNvSpPr txBox="1"/>
          <p:nvPr/>
        </p:nvSpPr>
        <p:spPr>
          <a:xfrm>
            <a:off x="405408" y="58923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59:</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Gọi 40,5 tỷ vốn cổ phần năm 2026: nhà đầu tư mới nắm khoảng 64%</a:t>
            </a:r>
            <a:endParaRPr lang="vi-VN" sz="720" dirty="0"/>
          </a:p>
        </p:txBody>
      </p:sp>
      <p:sp>
        <p:nvSpPr>
          <p:cNvPr id="11" name="Text 9"/>
          <p:cNvSpPr txBox="1"/>
          <p:nvPr/>
        </p:nvSpPr>
        <p:spPr>
          <a:xfrm>
            <a:off x="405408" y="82629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05408" y="941784"/>
          <a:ext cx="2159943" cy="914400"/>
        </p:xfrm>
        <a:graphic>
          <a:graphicData uri="http://schemas.openxmlformats.org/drawingml/2006/table">
            <a:tbl>
              <a:tblPr/>
              <a:tblGrid>
                <a:gridCol w="1425476"/>
                <a:gridCol w="734467"/>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Chỉ tiêu</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70"/>
                        </a:lnSpc>
                        <a:buNone/>
                      </a:pPr>
                      <a:r>
                        <a:rPr lang="vi-VN" sz="650" b="1" dirty="0">
                          <a:solidFill>
                            <a:srgbClr val="FFFFFF"/>
                          </a:solidFill>
                          <a:latin typeface="Calibri" pitchFamily="34" charset="0"/>
                          <a:ea typeface="Calibri" pitchFamily="34" charset="-122"/>
                          <a:cs typeface="Calibri" pitchFamily="34" charset="-120"/>
                        </a:rPr>
                        <a:t>Giá trị</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226516">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Tiền mặt cuối kỳ trước gọi vốn, 2026E → 2030E</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(2,1) → (27,8)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Thiếu hụt lớn nhất (2030E)</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36,8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Dự phòng 10%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3,7</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Vốn cổ phần cần huy động (2026)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b="1" dirty="0">
                          <a:solidFill>
                            <a:srgbClr val="1F1F1F"/>
                          </a:solidFill>
                          <a:latin typeface="Calibri" pitchFamily="34" charset="0"/>
                          <a:ea typeface="Calibri" pitchFamily="34" charset="-122"/>
                          <a:cs typeface="Calibri" pitchFamily="34" charset="-120"/>
                        </a:rPr>
                        <a:t>40,5</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Vay trung hạn/xanh 2028 (60% CAPEX nhà máy)</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39,2</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Tổng vốn bên ngoài 2026–2028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79,6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Pre-money (bình quân 40/40/20)</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22,4</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3945">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Post-money</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62,8</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1279">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Tỷ lệ sở hữu NĐT mới / cổ đông hiện hữu</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70"/>
                        </a:lnSpc>
                        <a:buNone/>
                      </a:pPr>
                      <a:r>
                        <a:rPr lang="vi-VN" sz="650" dirty="0">
                          <a:solidFill>
                            <a:srgbClr val="1F1F1F"/>
                          </a:solidFill>
                          <a:latin typeface="Calibri" pitchFamily="34" charset="0"/>
                          <a:ea typeface="Calibri" pitchFamily="34" charset="-122"/>
                          <a:cs typeface="Calibri" pitchFamily="34" charset="-120"/>
                        </a:rPr>
                        <a:t>64,4% / 35,6%</a:t>
                      </a:r>
                      <a:endParaRPr lang="vi-VN" sz="65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3" name="Text 10"/>
          <p:cNvSpPr txBox="1"/>
          <p:nvPr/>
        </p:nvSpPr>
        <p:spPr>
          <a:xfrm>
            <a:off x="405408" y="2590205"/>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(Pro Forma, Summary); tỷ lệ sở hữu theo pre-money bình quân</a:t>
            </a:r>
            <a:endParaRPr lang="vi-VN" sz="600" dirty="0"/>
          </a:p>
        </p:txBody>
      </p:sp>
      <p:sp>
        <p:nvSpPr>
          <p:cNvPr id="14" name="Text 11"/>
          <p:cNvSpPr txBox="1"/>
          <p:nvPr/>
        </p:nvSpPr>
        <p:spPr>
          <a:xfrm>
            <a:off x="2759184" y="558105"/>
            <a:ext cx="4450145" cy="394692"/>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Giả định vào năm 2028, 60% CAPEX của dự án mở rộng được tài trợ bằng vay trung hạn/xanh (~39,2 tỷ đồng). Số tiền này cùng CFO cùng năm (11,3 tỷ đồng) không đủ để bù đắp cho CAPEX (65,26 tỷ đồng), khiến biến động tiền mặt trong năm âm, số dư tiền mặt cuối kỳ âm.</a:t>
            </a:r>
            <a:endParaRPr lang="vi-VN" sz="850" dirty="0"/>
          </a:p>
        </p:txBody>
      </p:sp>
      <p:sp>
        <p:nvSpPr>
          <p:cNvPr id="15" name="Text 12"/>
          <p:cNvSpPr txBox="1"/>
          <p:nvPr/>
        </p:nvSpPr>
        <p:spPr>
          <a:xfrm>
            <a:off x="2759184" y="961727"/>
            <a:ext cx="4450145" cy="394692"/>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CFO dù được dự phóng tăng hằng năm nhưng không đủ lớn để bù đắp cho dòng tiền ra rất lớn đến từ CAPEX (2026–2029), cộng thêm việc trả nợ vay trung hạn (từ 2030), khiến cho số dư tiền mặt cuối kỳ của cả 5 năm đều âm nếu không gọi thêm vốn.</a:t>
            </a:r>
            <a:endParaRPr lang="vi-VN" sz="850" dirty="0"/>
          </a:p>
        </p:txBody>
      </p:sp>
      <p:sp>
        <p:nvSpPr>
          <p:cNvPr id="16" name="Text 13"/>
          <p:cNvSpPr txBox="1"/>
          <p:nvPr/>
        </p:nvSpPr>
        <p:spPr>
          <a:xfrm>
            <a:off x="2759184" y="1365349"/>
            <a:ext cx="4450145" cy="657820"/>
          </a:xfrm>
          <a:prstGeom prst="rect">
            <a:avLst/>
          </a:prstGeom>
          <a:noFill/>
          <a:ln/>
        </p:spPr>
        <p:txBody>
          <a:bodyPr wrap="square" lIns="0" tIns="0" rIns="0" bIns="0" rtlCol="0" anchor="t"/>
          <a:lstStyle/>
          <a:p>
            <a:pPr algn="just" marL="137160" indent="-137160">
              <a:lnSpc>
                <a:spcPts val="1040"/>
              </a:lnSpc>
              <a:buSzPct val="100000"/>
              <a:buChar char="•"/>
            </a:pPr>
            <a:r>
              <a:rPr lang="vi-VN" sz="850" dirty="0">
                <a:solidFill>
                  <a:srgbClr val="1F1F1F"/>
                </a:solidFill>
                <a:latin typeface="Calibri" pitchFamily="34" charset="0"/>
                <a:ea typeface="Calibri" pitchFamily="34" charset="-122"/>
                <a:cs typeface="Calibri" pitchFamily="34" charset="-120"/>
              </a:rPr>
              <a:t>Điều này tạo động lực cho doanh nghiệp huy động thêm vốn từ bên ngoài nhằm bù đắp sự thiếu hụt này và đảm bảo mức tiền mặt tối thiểu của doanh nghiệp bằng 5% doanh thu mỗi năm. Trong giai đoạn này, năm 2030 được ước tính có số tiền thiếu hụt so với tiền mặt tối thiểu cần dự trữ lớn nhất, đánh dấu nhu cầu huy động vốn của AgriPack cho 5 năm là ~36,8 tỷ đồng. Cộng thêm dự phòng 10%, tổng số vốn cần huy động là ~40,46 tỷ đồng.</a:t>
            </a:r>
            <a:endParaRPr lang="vi-VN" sz="850" dirty="0"/>
          </a:p>
        </p:txBody>
      </p:sp>
      <p:sp>
        <p:nvSpPr>
          <p:cNvPr id="17" name="Text 14"/>
          <p:cNvSpPr txBox="1"/>
          <p:nvPr/>
        </p:nvSpPr>
        <p:spPr>
          <a:xfrm>
            <a:off x="2745284" y="2075259"/>
            <a:ext cx="4464046" cy="263128"/>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Số vốn cổ phần này cũng là đầu vào của VC Method (Mục 5.4). Theo pre-money bình quân 22,4 tỷ đồng, post-money là 62,8 tỷ đồng và nhà đầu tư mới sẽ nắm khoảng 64% cổ phần (Fig. 59).</a:t>
            </a:r>
            <a:endParaRPr lang="vi-VN" sz="850" dirty="0"/>
          </a:p>
        </p:txBody>
      </p:sp>
      <p:sp>
        <p:nvSpPr>
          <p:cNvPr id="18" name="Text 15"/>
          <p:cNvSpPr txBox="1"/>
          <p:nvPr/>
        </p:nvSpPr>
        <p:spPr>
          <a:xfrm>
            <a:off x="484608" y="2931274"/>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8. CÂU HỎI BONUS: ĐỊNH GIÁ KHI CHƯA CÓ DOANH THU</a:t>
            </a:r>
            <a:endParaRPr lang="vi-VN" sz="880" dirty="0"/>
          </a:p>
        </p:txBody>
      </p:sp>
      <p:sp>
        <p:nvSpPr>
          <p:cNvPr id="19" name="Text 16"/>
          <p:cNvSpPr txBox="1"/>
          <p:nvPr/>
        </p:nvSpPr>
        <p:spPr>
          <a:xfrm>
            <a:off x="405408" y="3202801"/>
            <a:ext cx="2214807" cy="219055"/>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60:</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Cùng giá trị thoái vốn, tỷ lệ thất bại cao làm post-money giảm hơn một nửa</a:t>
            </a:r>
            <a:endParaRPr lang="vi-VN" sz="720" dirty="0"/>
          </a:p>
        </p:txBody>
      </p:sp>
      <p:sp>
        <p:nvSpPr>
          <p:cNvPr id="20" name="Text 17"/>
          <p:cNvSpPr txBox="1"/>
          <p:nvPr/>
        </p:nvSpPr>
        <p:spPr>
          <a:xfrm>
            <a:off x="405408" y="3439864"/>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Post-money, tỷ đồng</a:t>
            </a:r>
            <a:endParaRPr lang="vi-VN" sz="630" dirty="0"/>
          </a:p>
        </p:txBody>
      </p:sp>
      <p:graphicFrame>
        <p:nvGraphicFramePr>
          <p:cNvPr id="21" name="Chart 0" descr=""/>
          <p:cNvGraphicFramePr/>
          <p:nvPr/>
        </p:nvGraphicFramePr>
        <p:xfrm>
          <a:off x="405408" y="3555355"/>
          <a:ext cx="2159943" cy="785366"/>
        </p:xfrm>
        <a:graphic xmlns:a="http://schemas.openxmlformats.org/drawingml/2006/main">
          <a:graphicData uri="http://schemas.openxmlformats.org/drawingml/2006/chart">
            <c:chart xmlns:c="http://schemas.openxmlformats.org/drawingml/2006/chart" r:id="rId1"/>
          </a:graphicData>
        </a:graphic>
      </p:graphicFrame>
      <p:sp>
        <p:nvSpPr>
          <p:cNvPr id="22" name="Text 18"/>
          <p:cNvSpPr txBox="1"/>
          <p:nvPr/>
        </p:nvSpPr>
        <p:spPr>
          <a:xfrm>
            <a:off x="405408" y="4358580"/>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Minh họa trên mô hình (VCM): giữ nguyên giá trị thoái vốn và WACC, chỉ đổi z theo giai đoạn</a:t>
            </a:r>
            <a:endParaRPr lang="vi-VN" sz="600" dirty="0"/>
          </a:p>
        </p:txBody>
      </p:sp>
      <p:sp>
        <p:nvSpPr>
          <p:cNvPr id="23" name="Text 19"/>
          <p:cNvSpPr txBox="1"/>
          <p:nvPr/>
        </p:nvSpPr>
        <p:spPr>
          <a:xfrm>
            <a:off x="405408" y="4655215"/>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61: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Phương pháp và giả định khi chưa có doanh thu</a:t>
            </a:r>
            <a:endParaRPr lang="vi-VN" sz="72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405408" y="4797028"/>
          <a:ext cx="2159943" cy="914400"/>
        </p:xfrm>
        <a:graphic>
          <a:graphicData uri="http://schemas.openxmlformats.org/drawingml/2006/table">
            <a:tbl>
              <a:tblPr/>
              <a:tblGrid>
                <a:gridCol w="734318"/>
                <a:gridCol w="1425625"/>
              </a:tblGrid>
              <a:tr h="133052">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Phương pháp</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70"/>
                        </a:lnSpc>
                        <a:buNone/>
                      </a:pPr>
                      <a:r>
                        <a:rPr lang="vi-VN" sz="650" b="1" dirty="0">
                          <a:solidFill>
                            <a:srgbClr val="FFFFFF"/>
                          </a:solidFill>
                          <a:latin typeface="Calibri" pitchFamily="34" charset="0"/>
                          <a:ea typeface="Calibri" pitchFamily="34" charset="-122"/>
                          <a:cs typeface="Calibri" pitchFamily="34" charset="-120"/>
                        </a:rPr>
                        <a:t>Giả định cần có và cách dùng</a:t>
                      </a:r>
                      <a:endParaRPr lang="vi-VN" sz="650" dirty="0">
                        <a:latin typeface="Calibri" charset="0"/>
                        <a:ea typeface="Calibri" charset="0"/>
                        <a:cs typeface="Calibri" charset="0"/>
                      </a:endParaRPr>
                    </a:p>
                  </a:txBody>
                  <a:tcPr marL="28346" marR="28346" marT="18288" marB="18288" anchor="b">
                    <a:lnL w="0" cap="flat" cmpd="sng" algn="ctr">
                      <a:noFill/>
                    </a:lnL>
                    <a:lnR w="0" cap="flat" cmpd="sng" algn="ctr">
                      <a:noFill/>
                    </a:lnR>
                    <a:lnT w="0" cap="flat" cmpd="sng" algn="ctr">
                      <a:noFill/>
                    </a:lnT>
                    <a:lnB w="0" cap="flat" cmpd="sng" algn="ctr">
                      <a:noFill/>
                    </a:lnB>
                    <a:solidFill>
                      <a:srgbClr val="7B1E2B"/>
                    </a:solidFill>
                  </a:tcPr>
                </a:tc>
              </a:tr>
              <a:tr h="323850">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VC Method</a:t>
                      </a:r>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(z của giai đoạn ươm mầm, thử nghiệm)</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Giá trị thoái vốn 2030, z 57,5–72,5%, WACC; dùng lại mô hình hiện có, chỉ đổi z</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Scorecard</a:t>
                      </a:r>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 (Payne)</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Pre-money trung vị các vòng hạt giống cùng ngành; chấm điểm đội ngũ, thị trường, sản phẩm, cạnh tranh, kênh bán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Berkus</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Mức trần cho 5 cột mốc: ý tưởng, mẫu thử, đội ngũ, quan hệ chiến lược, đơn hàng đầu tiên; dùng để kiểm tra chéo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Risk factor summation</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Cộng, trừ theo 12 nhóm rủi ro (công nghệ, pháp lý, cạnh tranh, nguồn cung...); đầu vào là rủi ro ở Mục 3</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8613">
                <a:tc>
                  <a:txBody>
                    <a:bodyPr/>
                    <a:lstStyle/>
                    <a:p>
                      <a:pPr algn="l" indent="0" marL="0">
                        <a:lnSpc>
                          <a:spcPts val="770"/>
                        </a:lnSpc>
                        <a:buNone/>
                      </a:pPr>
                      <a:r>
                        <a:rPr lang="vi-VN" sz="650" b="1" dirty="0">
                          <a:solidFill>
                            <a:srgbClr val="1F1F1F"/>
                          </a:solidFill>
                          <a:latin typeface="Calibri" pitchFamily="34" charset="0"/>
                          <a:ea typeface="Calibri" pitchFamily="34" charset="-122"/>
                          <a:cs typeface="Calibri" pitchFamily="34" charset="-120"/>
                        </a:rPr>
                        <a:t>Chi phí tái tạo</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70"/>
                        </a:lnSpc>
                        <a:buNone/>
                      </a:pPr>
                      <a:r>
                        <a:rPr lang="vi-VN" sz="650" dirty="0">
                          <a:solidFill>
                            <a:srgbClr val="1F1F1F"/>
                          </a:solidFill>
                          <a:latin typeface="Calibri" pitchFamily="34" charset="0"/>
                          <a:ea typeface="Calibri" pitchFamily="34" charset="-122"/>
                          <a:cs typeface="Calibri" pitchFamily="34" charset="-120"/>
                        </a:rPr>
                        <a:t>Chi phí R&amp;D công thức, khuôn mẫu, dây chuyền thử, chứng nhận; là cận dưới của giá trị</a:t>
                      </a:r>
                      <a:endParaRPr lang="vi-VN" sz="65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25" name="Text 20"/>
          <p:cNvSpPr txBox="1"/>
          <p:nvPr/>
        </p:nvSpPr>
        <p:spPr>
          <a:xfrm>
            <a:off x="405408" y="6591002"/>
            <a:ext cx="2214807" cy="182761"/>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Tổng hợp của nhóm (Damodaran, 2009; Payne, 2011; Berkus, 2016)</a:t>
            </a:r>
            <a:endParaRPr lang="vi-VN" sz="600" dirty="0"/>
          </a:p>
        </p:txBody>
      </p:sp>
      <p:sp>
        <p:nvSpPr>
          <p:cNvPr id="26" name="Text 21"/>
          <p:cNvSpPr txBox="1"/>
          <p:nvPr/>
        </p:nvSpPr>
        <p:spPr>
          <a:xfrm>
            <a:off x="2745284" y="3171676"/>
            <a:ext cx="4464046" cy="526256"/>
          </a:xfrm>
          <a:prstGeom prst="rect">
            <a:avLst/>
          </a:prstGeom>
          <a:noFill/>
          <a:ln/>
        </p:spPr>
        <p:txBody>
          <a:bodyPr wrap="square" lIns="0" tIns="0" rIns="0" bIns="0" rtlCol="0" anchor="t"/>
          <a:lstStyle/>
          <a:p>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Nếu AgriPack chưa có doanh thu, DCF gần như mất cơ sở vì toàn bộ dòng tiền dự phóng đều là giả định, còn bội số trên doanh thu hay lợi nhuận cũng không áp dụng được. Khi đó nhóm sẽ dùng VC Method làm phương pháp chính (Fig. 60) và kiểm tra chéo bằng các phương pháp dành riêng cho doanh nghiệp chưa có doanh thu như Scorecard, Berkus và chi phí tái tạo (Fig. 61).</a:t>
            </a:r>
            <a:endParaRPr lang="vi-VN" sz="850" dirty="0"/>
          </a:p>
        </p:txBody>
      </p:sp>
      <p:sp>
        <p:nvSpPr>
          <p:cNvPr id="27" name="Text 22"/>
          <p:cNvSpPr txBox="1"/>
          <p:nvPr/>
        </p:nvSpPr>
        <p:spPr>
          <a:xfrm>
            <a:off x="2745284" y="3735586"/>
            <a:ext cx="4464046" cy="657820"/>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VC Method với tỷ lệ thất bại cao hơn.</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Giữ nguyên giá trị thoái vốn năm 2030 và WACC, chỉ nâng tỷ lệ thất bại lên 57,5% (giai đoạn thử nghiệm) hoặc 72,5% (giai đoạn ươm mầm), post-money giảm từ 62,2 tỷ đồng xuống còn 44,0 và 28,5 tỷ đồng. Trên thực tế, giá trị thoái vốn của một doanh nghiệp chưa có doanh thu cũng kém chắc chắn hơn nhiều, nên kết quả nên được trình bày thành một khoảng rộng và vốn nên được giải ngân theo từng mốc.</a:t>
            </a:r>
            <a:endParaRPr lang="vi-VN" sz="850" dirty="0"/>
          </a:p>
        </p:txBody>
      </p:sp>
      <p:sp>
        <p:nvSpPr>
          <p:cNvPr id="28" name="Text 23"/>
          <p:cNvSpPr txBox="1"/>
          <p:nvPr/>
        </p:nvSpPr>
        <p:spPr>
          <a:xfrm>
            <a:off x="2745284" y="4431060"/>
            <a:ext cx="4464046" cy="789384"/>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Những giả định cần có.</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Để định giá, nhóm cần: (i) quy mô thị trường theo IMARC và một mức thị phần mục tiêu có thể kiểm chứng; (ii) sản phẩm mẫu đã qua kiểm nghiệm vật liệu tiếp xúc thực phẩm theo Thông tư 27/2026/TT-BYT; (iii) thư ý định mua hàng của các chuỗi F&amp;B; (iv) chi phí dây chuyền thử nghiệm và hợp đồng thu mua bã mía; (v) một đội ngũ có kinh nghiệm sản xuất bột giấy đúc; và (vi) giả định về bội số và thời điểm thoái vốn. Mỗi mốc đạt được là căn cứ để giảm tỷ lệ thất bại và nâng giá trị ở vòng gọi vốn sau.</a:t>
            </a:r>
            <a:endParaRPr lang="vi-VN" sz="850" dirty="0"/>
          </a:p>
        </p:txBody>
      </p:sp>
      <p:sp>
        <p:nvSpPr>
          <p:cNvPr id="29" name="Text 24"/>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30" name="Text 25"/>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16</a:t>
            </a:r>
            <a:endParaRPr lang="vi-VN" sz="6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558105"/>
            <a:ext cx="6749058" cy="200918"/>
          </a:xfrm>
          <a:prstGeom prst="rect">
            <a:avLst/>
          </a:prstGeom>
          <a:solidFill>
            <a:srgbClr val="7B1E2B"/>
          </a:solidFill>
          <a:ln/>
        </p:spPr>
      </p:sp>
      <p:sp>
        <p:nvSpPr>
          <p:cNvPr id="3" name="Shape 1"/>
          <p:cNvSpPr/>
          <p:nvPr/>
        </p:nvSpPr>
        <p:spPr>
          <a:xfrm>
            <a:off x="405408" y="471785"/>
            <a:ext cx="6749058" cy="0"/>
          </a:xfrm>
          <a:prstGeom prst="line">
            <a:avLst/>
          </a:prstGeom>
          <a:noFill/>
          <a:ln w="9525">
            <a:solidFill>
              <a:srgbClr val="7B1E2B"/>
            </a:solidFill>
            <a:prstDash val="solid"/>
          </a:ln>
        </p:spPr>
      </p:sp>
      <p:sp>
        <p:nvSpPr>
          <p:cNvPr id="4" name="Shape 2"/>
          <p:cNvSpPr/>
          <p:nvPr/>
        </p:nvSpPr>
        <p:spPr>
          <a:xfrm>
            <a:off x="405408" y="830907"/>
            <a:ext cx="6749058" cy="0"/>
          </a:xfrm>
          <a:prstGeom prst="line">
            <a:avLst/>
          </a:prstGeom>
          <a:noFill/>
          <a:ln w="9525">
            <a:solidFill>
              <a:srgbClr val="7B1E2B"/>
            </a:solidFill>
            <a:prstDash val="solid"/>
          </a:ln>
        </p:spPr>
      </p:sp>
      <p:sp>
        <p:nvSpPr>
          <p:cNvPr id="5" name="Shape 3"/>
          <p:cNvSpPr/>
          <p:nvPr/>
        </p:nvSpPr>
        <p:spPr>
          <a:xfrm>
            <a:off x="405408" y="3073896"/>
            <a:ext cx="6749058" cy="0"/>
          </a:xfrm>
          <a:prstGeom prst="line">
            <a:avLst/>
          </a:prstGeom>
          <a:noFill/>
          <a:ln w="9525">
            <a:solidFill>
              <a:srgbClr val="7B1E2B"/>
            </a:solidFill>
            <a:prstDash val="solid"/>
          </a:ln>
        </p:spPr>
      </p:sp>
      <p:sp>
        <p:nvSpPr>
          <p:cNvPr id="6" name="Shape 4"/>
          <p:cNvSpPr/>
          <p:nvPr/>
        </p:nvSpPr>
        <p:spPr>
          <a:xfrm>
            <a:off x="405408" y="7041654"/>
            <a:ext cx="6749058" cy="0"/>
          </a:xfrm>
          <a:prstGeom prst="line">
            <a:avLst/>
          </a:prstGeom>
          <a:noFill/>
          <a:ln w="9525">
            <a:solidFill>
              <a:srgbClr val="7B1E2B"/>
            </a:solidFill>
            <a:prstDash val="solid"/>
          </a:ln>
        </p:spPr>
      </p:sp>
      <p:sp>
        <p:nvSpPr>
          <p:cNvPr id="7" name="Shape 5"/>
          <p:cNvSpPr/>
          <p:nvPr/>
        </p:nvSpPr>
        <p:spPr>
          <a:xfrm>
            <a:off x="405408" y="10364688"/>
            <a:ext cx="6749058" cy="0"/>
          </a:xfrm>
          <a:prstGeom prst="line">
            <a:avLst/>
          </a:prstGeom>
          <a:noFill/>
          <a:ln w="9525">
            <a:solidFill>
              <a:srgbClr val="BFBFBF"/>
            </a:solidFill>
            <a:prstDash val="solid"/>
          </a:ln>
        </p:spPr>
      </p:sp>
      <p:sp>
        <p:nvSpPr>
          <p:cNvPr id="8" name="Text 6"/>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9" name="Text 7"/>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10" name="Text 8"/>
          <p:cNvSpPr txBox="1"/>
          <p:nvPr/>
        </p:nvSpPr>
        <p:spPr>
          <a:xfrm>
            <a:off x="484608" y="590505"/>
            <a:ext cx="6645522" cy="136118"/>
          </a:xfrm>
          <a:prstGeom prst="rect">
            <a:avLst/>
          </a:prstGeom>
          <a:noFill/>
          <a:ln/>
        </p:spPr>
        <p:txBody>
          <a:bodyPr wrap="square" lIns="0" tIns="0" rIns="0" bIns="0" rtlCol="0" anchor="t"/>
          <a:lstStyle/>
          <a:p>
            <a:pPr algn="l" indent="0" marL="0">
              <a:lnSpc>
                <a:spcPts val="1070"/>
              </a:lnSpc>
              <a:buNone/>
            </a:pPr>
            <a:r>
              <a:rPr lang="vi-VN" sz="880" b="1" spc="40" kern="0" dirty="0">
                <a:solidFill>
                  <a:srgbClr val="FFFFFF"/>
                </a:solidFill>
                <a:latin typeface="Calibri" pitchFamily="34" charset="0"/>
                <a:ea typeface="Calibri" pitchFamily="34" charset="-122"/>
                <a:cs typeface="Calibri" pitchFamily="34" charset="-120"/>
              </a:rPr>
              <a:t>PHỤ LỤC</a:t>
            </a:r>
            <a:endParaRPr lang="vi-VN" sz="880" dirty="0"/>
          </a:p>
        </p:txBody>
      </p:sp>
      <p:sp>
        <p:nvSpPr>
          <p:cNvPr id="11" name="Text 9"/>
          <p:cNvSpPr txBox="1"/>
          <p:nvPr/>
        </p:nvSpPr>
        <p:spPr>
          <a:xfrm>
            <a:off x="405408" y="862032"/>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Tiêu chí lựa chọn khách hàng mục tiêu (bảng của nhóm, Mục 1.2.1)</a:t>
            </a:r>
            <a:endParaRPr lang="vi-VN" sz="72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05408" y="1003846"/>
          <a:ext cx="6749058" cy="914400"/>
        </p:xfrm>
        <a:graphic>
          <a:graphicData uri="http://schemas.openxmlformats.org/drawingml/2006/table">
            <a:tbl>
              <a:tblPr/>
              <a:tblGrid>
                <a:gridCol w="944761"/>
                <a:gridCol w="5804297"/>
              </a:tblGrid>
              <a:tr h="137815">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Tiêu chí</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Khách hàng mục tiêu</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r>
              <a:tr h="236041">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Ngành</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Hiện tại F&amp;B là ngành được tập trung: nhà hàng, cà phê, chuỗi F&amp;B, các tiệm bánh, nhà máy sản xuất thực phẩm chế biến, các bên cung cấp suất ăn, tiệc lưu động.</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Các bên sản xuất hoặc vận chuyển linh kiện/ thiết bị điện tử, đồ đạc nội thất/ e-commerce và yêu cầu thiết kế theo mẫu sản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8708">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Quy mô</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Các doanh nghiệp lớn, vừa và nhỏ</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4996">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Nhu cầu</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Bao bì, hộp, khay đóng gói, chứa đựng thực phẩm và FMCG</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Đệm bảo vệ, chống sốc cho linh kiện, thiết bị điện tử, nội thất</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Đệm bảo vệ, chống sốc cho sản phẩm e-commerce</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Đóng gói theo khuôn mẫu của sản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8708">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Sản lượng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Tần suất sử dụng thường xuyên, số lượng lớn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Khu vực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Các tỉnh/thành thuộc khu vực Tây Nguyên và miền Trung như Gia Lai, Đà Nẵng.</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Các tỉnh/thành có thị trường tiêu thụ lớn ở miền Nam như Đồng Nai, Hồ Chí Minh.</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Trong tương lai sẽ mở rộng ra Hà Nội, miền Bắc và về lâu dài mở rộng trên toàn quốc.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4996">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Nỗi đau và Nhu cầu</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Áp lực chuyển đổi từ chính sách Nhà nước về EPR</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Muốn giảm nhựa và sản phẩm thay thế cùng công năng</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Số lượng và chất lượng nguồn cung cùng giá cả ổn định</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=&gt; Sản phẩm thay thế thân thiện với môi trường, số lượng, chất lượng và giá cả ổn định và đáp ứng quy mô khách hàng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3" name="Text 10"/>
          <p:cNvSpPr txBox="1"/>
          <p:nvPr/>
        </p:nvSpPr>
        <p:spPr>
          <a:xfrm>
            <a:off x="405408" y="2910632"/>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(TTKN)</a:t>
            </a:r>
            <a:endParaRPr lang="vi-VN" sz="600" dirty="0"/>
          </a:p>
        </p:txBody>
      </p:sp>
      <p:sp>
        <p:nvSpPr>
          <p:cNvPr id="14" name="Text 11"/>
          <p:cNvSpPr txBox="1"/>
          <p:nvPr/>
        </p:nvSpPr>
        <p:spPr>
          <a:xfrm>
            <a:off x="405408" y="310502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Chuỗi giá trị AgriPack: nhà máy, nguồn nguyên liệu và khách hàng lớn (minh họa)</a:t>
            </a:r>
            <a:endParaRPr lang="vi-VN" sz="720" dirty="0"/>
          </a:p>
        </p:txBody>
      </p:sp>
      <p:pic>
        <p:nvPicPr>
          <p:cNvPr id="15" name="Image 0" descr="Chuỗi giá trị AgriPack (minh họa)">    </p:cNvPr>
          <p:cNvPicPr>
            <a:picLocks noChangeAspect="1"/>
          </p:cNvPicPr>
          <p:nvPr/>
        </p:nvPicPr>
        <p:blipFill>
          <a:blip r:embed="rId1"/>
          <a:stretch>
            <a:fillRect/>
          </a:stretch>
        </p:blipFill>
        <p:spPr>
          <a:xfrm>
            <a:off x="405408" y="3246834"/>
            <a:ext cx="6749058" cy="3613696"/>
          </a:xfrm>
          <a:prstGeom prst="rect">
            <a:avLst/>
          </a:prstGeom>
        </p:spPr>
      </p:pic>
      <p:sp>
        <p:nvSpPr>
          <p:cNvPr id="16" name="Text 12"/>
          <p:cNvSpPr txBox="1"/>
          <p:nvPr/>
        </p:nvSpPr>
        <p:spPr>
          <a:xfrm>
            <a:off x="405408" y="6878389"/>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Quy trình 7 hoạt động theo bài của nhóm (Mục 1.3.2); cơ cấu doanh thu 2025: BCTC. Địa điểm nhà máy, nhà máy mới năm 2028 và tên khách hàng là </a:t>
            </a:r>
            <a:pPr algn="l" indent="0" marL="0">
              <a:lnSpc>
                <a:spcPts val="720"/>
              </a:lnSpc>
              <a:buNone/>
            </a:pPr>
            <a:r>
              <a:rPr lang="vi-VN" sz="600" b="1" i="1" dirty="0">
                <a:solidFill>
                  <a:srgbClr val="666666"/>
                </a:solidFill>
                <a:latin typeface="Calibri" pitchFamily="34" charset="0"/>
                <a:ea typeface="Calibri" pitchFamily="34" charset="-122"/>
                <a:cs typeface="Calibri" pitchFamily="34" charset="-120"/>
              </a:rPr>
              <a:t>giả định minh họa</a:t>
            </a:r>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 không phải số liệu thực tế</a:t>
            </a:r>
            <a:endParaRPr lang="vi-VN" sz="600" dirty="0"/>
          </a:p>
        </p:txBody>
      </p:sp>
      <p:sp>
        <p:nvSpPr>
          <p:cNvPr id="17" name="Text 13"/>
          <p:cNvSpPr txBox="1"/>
          <p:nvPr/>
        </p:nvSpPr>
        <p:spPr>
          <a:xfrm>
            <a:off x="405408" y="7072779"/>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Hành vi mua theo phân khúc khách hàng B2B (bảng của nhóm, Mục 3.2.6)</a:t>
            </a:r>
            <a:endParaRPr lang="vi-VN" sz="72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405408" y="7214592"/>
          <a:ext cx="6749058" cy="914400"/>
        </p:xfrm>
        <a:graphic>
          <a:graphicData uri="http://schemas.openxmlformats.org/drawingml/2006/table">
            <a:tbl>
              <a:tblPr/>
              <a:tblGrid>
                <a:gridCol w="1349722"/>
                <a:gridCol w="1687264"/>
                <a:gridCol w="2362051"/>
                <a:gridCol w="1350020"/>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Phân khúc khách hàng</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Nhu cầu</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Tiêu chí lựa chọn</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Sản phẩm của AgriPack</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42713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F&amp;B, FMCG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Đựng, bảo quản và vận chuyển thực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Giá.</a:t>
                      </a:r>
                      <a:endParaRPr lang="vi-VN" sz="660" dirty="0">
                        <a:latin typeface="Calibri" charset="0"/>
                        <a:ea typeface="Calibri" charset="0"/>
                        <a:cs typeface="Calibri" charset="0"/>
                      </a:endParaRPr>
                    </a:p>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Độ bền cơ học, khả năng chống thấm dầu/nước.</a:t>
                      </a:r>
                      <a:endParaRPr lang="vi-VN" sz="660" dirty="0">
                        <a:latin typeface="Calibri" charset="0"/>
                        <a:ea typeface="Calibri" charset="0"/>
                        <a:cs typeface="Calibri" charset="0"/>
                      </a:endParaRPr>
                    </a:p>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Đảm bảo an toàn thực phẩm.</a:t>
                      </a:r>
                      <a:endParaRPr lang="vi-VN" sz="660" dirty="0">
                        <a:latin typeface="Calibri" charset="0"/>
                        <a:ea typeface="Calibri" charset="0"/>
                        <a:cs typeface="Calibri" charset="0"/>
                      </a:endParaRPr>
                    </a:p>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Chứng nhận về an toàn thực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Hộp/khay bã mía + vỏ trứng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Điện tử, nội thất, thương mại điện tử</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Bảo vệ sản phẩm trong quá trình lưu kho và vận chuyển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Giá.</a:t>
                      </a:r>
                      <a:endParaRPr lang="vi-VN" sz="660" dirty="0">
                        <a:latin typeface="Calibri" charset="0"/>
                        <a:ea typeface="Calibri" charset="0"/>
                        <a:cs typeface="Calibri" charset="0"/>
                      </a:endParaRPr>
                    </a:p>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Độ bền cơ học, khả năng chống va đập.</a:t>
                      </a:r>
                      <a:endParaRPr lang="vi-VN" sz="660" dirty="0">
                        <a:latin typeface="Calibri" charset="0"/>
                        <a:ea typeface="Calibri" charset="0"/>
                        <a:cs typeface="Calibri" charset="0"/>
                      </a:endParaRPr>
                    </a:p>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Độ chính xác kích thước, độ cứng, khả năng thiết kế theo sản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Khay/khuôn đệm bảo vệ</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9" name="Text 14"/>
          <p:cNvSpPr txBox="1"/>
          <p:nvPr/>
        </p:nvSpPr>
        <p:spPr>
          <a:xfrm>
            <a:off x="405408" y="8131969"/>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(TTKN)</a:t>
            </a:r>
            <a:endParaRPr lang="vi-VN" sz="600" dirty="0"/>
          </a:p>
        </p:txBody>
      </p:sp>
      <p:sp>
        <p:nvSpPr>
          <p:cNvPr id="20" name="Text 15"/>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21" name="Text 16"/>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17</a:t>
            </a:r>
            <a:endParaRPr lang="vi-VN" sz="6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6749058" cy="0"/>
          </a:xfrm>
          <a:prstGeom prst="line">
            <a:avLst/>
          </a:prstGeom>
          <a:noFill/>
          <a:ln w="9525">
            <a:solidFill>
              <a:srgbClr val="7B1E2B"/>
            </a:solidFill>
            <a:prstDash val="solid"/>
          </a:ln>
        </p:spPr>
      </p:sp>
      <p:sp>
        <p:nvSpPr>
          <p:cNvPr id="4" name="Shape 2"/>
          <p:cNvSpPr/>
          <p:nvPr/>
        </p:nvSpPr>
        <p:spPr>
          <a:xfrm>
            <a:off x="405408" y="5251400"/>
            <a:ext cx="6749058" cy="0"/>
          </a:xfrm>
          <a:prstGeom prst="line">
            <a:avLst/>
          </a:prstGeom>
          <a:noFill/>
          <a:ln w="9525">
            <a:solidFill>
              <a:srgbClr val="7B1E2B"/>
            </a:solidFill>
            <a:prstDash val="solid"/>
          </a:ln>
        </p:spPr>
      </p:sp>
      <p:sp>
        <p:nvSpPr>
          <p:cNvPr id="5" name="Shape 3"/>
          <p:cNvSpPr/>
          <p:nvPr/>
        </p:nvSpPr>
        <p:spPr>
          <a:xfrm>
            <a:off x="405408" y="10364688"/>
            <a:ext cx="6749058" cy="0"/>
          </a:xfrm>
          <a:prstGeom prst="line">
            <a:avLst/>
          </a:prstGeom>
          <a:noFill/>
          <a:ln w="9525">
            <a:solidFill>
              <a:srgbClr val="BFBFBF"/>
            </a:solidFill>
            <a:prstDash val="solid"/>
          </a:ln>
        </p:spPr>
      </p:sp>
      <p:sp>
        <p:nvSpPr>
          <p:cNvPr id="6" name="Text 4"/>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7" name="Text 5"/>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8" name="Text 6"/>
          <p:cNvSpPr txBox="1"/>
          <p:nvPr/>
        </p:nvSpPr>
        <p:spPr>
          <a:xfrm>
            <a:off x="405408" y="58923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Một số đối thủ cạnh tranh trực tiếp trong ngành bao bì sinh học (bảng của nhóm, Mục 3.2.3)</a:t>
            </a:r>
            <a:endParaRPr lang="vi-VN" sz="72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05408" y="731044"/>
          <a:ext cx="6749058" cy="914400"/>
        </p:xfrm>
        <a:graphic>
          <a:graphicData uri="http://schemas.openxmlformats.org/drawingml/2006/table">
            <a:tbl>
              <a:tblPr/>
              <a:tblGrid>
                <a:gridCol w="742355"/>
                <a:gridCol w="1147316"/>
                <a:gridCol w="1147316"/>
                <a:gridCol w="1012329"/>
                <a:gridCol w="1619696"/>
                <a:gridCol w="1080046"/>
              </a:tblGrid>
              <a:tr h="137815">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Đối thủ</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Sản phẩm</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Giá tham khảo</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Khách hàng</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Điểm mạnh</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Điểm yếu</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r>
              <a:tr h="95071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An Phát Holdings</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An Phát Eco)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Túi sinh học tự phân huỷ</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Cốc/ly, bát đĩa, khay, dao thìa nĩa sinh học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Màng bọc thực phẩm, hạt nhựa sinh học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Hạt nhựa sinh học từ PLA/PBAT/PBS (tinh bột ngô với nguyên liệu sinh học) và bã mía</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Túi đựng thực phẩm sinh học: 60.000 - 115.000 VNĐ/ hộp</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Túi rác sinh học : 105.000 - 190.000 VNĐ/ hộp.</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Dao, thìa, nĩa, ống hút sinh học: 38.000 VNĐ/ 30 chiếc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Găng tay sinh học : 170.000 - 190.000 VNĐ/ hộp.</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Người tiêu dùng, siêu thị, F&amp;B, doanh nghiệp trong và ngoài nước.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Là doanh nghiệp tiên phong về nhựa sinh học phân huỷ hoàn toàn, sở hữu công nghệ/ sáng chế được công nhận bởi tiêu chuẩn quốc tế, chuối sản xuất khép kín, hệ thống khách hàng rộng rãi.</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có quy mô lớn (TTS: 11.953 tỷ đồng năm 2025).</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thu 2025 là: 10.741,29 tỷ đồng.</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Công suất: 9.000 tấn/ tháng.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Cơ cấu sản phẩm rộng, quy mô lớn nên chi phí vận hành cao.</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Các sản phẩm sinh học từ doanh nghiệp này có giá thành cao, ít linh hoạt với các đơn hàng nhỏ, vừa.</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955477">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HAPBIO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Túi và bao bì tự phân huỷ từ bột ngô, sắn, PBAT và phụ gia nguồn gốc thực vật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Không công khai giá</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trong nước và xuất khẩu sang Mỹ và Châu Âu</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Hoạt động từ 2024 là một startup thuộc tập đoàn Haplast nên kế thừa kinh nghiệm xuất khẩu bao bì 20 năm của tập đoàn này; có chứng nhận BPI, OK Compost, định hướng xuất khẩu.</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Công suất lớn (54.000 tấn sản phẩm mỗi năm, 2025).</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Xuất khẩu 600 tấn sản phẩm, doanh thu 2 triệu USD.</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Gía cao do chi phí nguyên liệu - ngô/ sắn, tinh bột. Điều này là do ngô , sắn được sử dụng ở dạng tinh bột nguyên liệu - không phải phế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4996">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BioWraps Việt Nam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Bao bì sinh học từ vỏ trái cây ( vỏ cam), vật liệu sinh học, hạt nhựa sinh học, kháng khuẩn ( nano bạc)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Không công khai giá</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F&amp;B, bán lẻ, thực phẩm đóng gói, nông nghiệp, logistic, thương mại điện tử.</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Ra mắt thị trường từ 2025.</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có hơn 21 nhân sự, hơn 70 đối tác, hơn 15 quốc gia và hơn 250 sản phẩm.</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thu và công suất chưa công khai.</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Gía cao hơn nhựa tái chế.</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Quy mô sản xuất và tài chính còn hạn chế so với các doanh nghiệp lớn.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75128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AIRX Coffee</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 thương hiệu con của Veritas Việt Nam)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Cốc thìa dĩa bằng bã cà phê</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Ly cốc trung bình: 109.000 - 139.000 VND</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Ly vỏ lụa: 139.000 VND</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Ly giữ nhiệt: 319.000 - 349.000 VNĐ</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Các sản phẩm dành cho doanh nghiệp không công khai giá.</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Đối tác của nhiều doanh nghiệp lớn, doanh nghiệp đa quốc gia theo hoạt động Co-brand</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Thành lập 2019</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1 triệu ly bán ra</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50% sản phẩm xuất khẩu.</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Nhà máy tại Tây Ninh và Bình Dương có tổng công suất: 3.000 - 4.000 tấn vật liệu/ mỗi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Công nghệ sản phẩm phụ thuộc vào khả năng thu gom, xử lý và ổn định nguồn phụ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4996">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Thành Long Bioplastic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Bao bì từ bỏ trấu, cà phê, ngô sắn, phụ phẩm nông nghiệp.</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Không công khai giá</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FDI, doanh nghiệp xuất khẩu tại Việt Nam và quốc tế</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Tận dụng trực tiếp phụ phẩm nông nghiệp, quy mô nhà máy lớn.</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Công suất nhà máy tại Bắc Ninh: 20.000 tấn/ năm. Kế hoạch mở rộng 43.000 tấn/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chưa có quy mô lớn, nghiên cứu R&amp;D cần được mở rộng.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649188">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Hapobe</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Khay, hộp bã mía , dao/ thìa/ dĩa/đĩa, đũa gỗ và màng phân huỷ sinh học với bã mía, mo cau, xơ thực vật, nhựa sinh học.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Cung cấp giải pháp thiết kế bao bì.</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Không công khai giá</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F&amp;B, nhà hàng, thực phẩm- đồ uống, thương mại điện tử, logictics và các doanh nghiệp khác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Sản phẩm với danh mục phụ phẩm nông nghiệp đa dạng từ bã mía, mo cau đến rơm rạ, có khả năng thiết kế giải pháp bao bì theo nhu cầu khách hàng.</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Quy mô, doanh thu và công suất chưa công khai.</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Doanh nghiệp quy mô nhỏ.</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Danh mục sản phẩm rộng nên chưa chuyên môn hoá vào một loại phụ phẩm cụ thể.</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0" name="Text 7"/>
          <p:cNvSpPr txBox="1"/>
          <p:nvPr/>
        </p:nvSpPr>
        <p:spPr>
          <a:xfrm>
            <a:off x="405408" y="5088136"/>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(TTKN)</a:t>
            </a:r>
            <a:endParaRPr lang="vi-VN" sz="600" dirty="0"/>
          </a:p>
        </p:txBody>
      </p:sp>
      <p:sp>
        <p:nvSpPr>
          <p:cNvPr id="11" name="Text 8"/>
          <p:cNvSpPr txBox="1"/>
          <p:nvPr/>
        </p:nvSpPr>
        <p:spPr>
          <a:xfrm>
            <a:off x="405408" y="5282525"/>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Sản phẩm thay thế: áp lực, ưu điểm và nhược điểm (bảng của nhóm, Mục 3.2.5)</a:t>
            </a:r>
            <a:endParaRPr lang="vi-VN" sz="72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05408" y="5424339"/>
          <a:ext cx="6749058" cy="914400"/>
        </p:xfrm>
        <a:graphic>
          <a:graphicData uri="http://schemas.openxmlformats.org/drawingml/2006/table">
            <a:tbl>
              <a:tblPr/>
              <a:tblGrid>
                <a:gridCol w="1147316"/>
                <a:gridCol w="742355"/>
                <a:gridCol w="2429619"/>
                <a:gridCol w="2429768"/>
              </a:tblGrid>
              <a:tr h="137815">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Sản phẩm thay thế</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Áp lực thay thế</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Ưu điểm</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810"/>
                        </a:lnSpc>
                        <a:buNone/>
                      </a:pPr>
                      <a:r>
                        <a:rPr lang="vi-VN" sz="660" b="1" dirty="0">
                          <a:solidFill>
                            <a:srgbClr val="FFFFFF"/>
                          </a:solidFill>
                          <a:latin typeface="Calibri" pitchFamily="34" charset="0"/>
                          <a:ea typeface="Calibri" pitchFamily="34" charset="-122"/>
                          <a:cs typeface="Calibri" pitchFamily="34" charset="-120"/>
                        </a:rPr>
                        <a:t>Nhược điểm</a:t>
                      </a:r>
                      <a:endParaRPr lang="vi-VN" sz="660" dirty="0">
                        <a:latin typeface="Calibri" charset="0"/>
                        <a:ea typeface="Calibri" charset="0"/>
                        <a:cs typeface="Calibri" charset="0"/>
                      </a:endParaRPr>
                    </a:p>
                  </a:txBody>
                  <a:tcPr marL="28346" marR="28346" marT="18288" marB="18288" anchor="t">
                    <a:lnL w="0" cap="flat" cmpd="sng" algn="ctr">
                      <a:noFill/>
                    </a:lnL>
                    <a:lnR w="0" cap="flat" cmpd="sng" algn="ctr">
                      <a:noFill/>
                    </a:lnR>
                    <a:lnT w="0" cap="flat" cmpd="sng" algn="ctr">
                      <a:noFill/>
                    </a:lnT>
                    <a:lnB w="0" cap="flat" cmpd="sng" algn="ctr">
                      <a:noFill/>
                    </a:lnB>
                    <a:solidFill>
                      <a:srgbClr val="7B1E2B"/>
                    </a:solidFill>
                  </a:tcPr>
                </a:tc>
              </a:tr>
              <a:tr h="338138">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Nhựa truyền thống, hộp xốp dùng một lần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Rất 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Giá thấp, nhẹ, nguồn cung lớn, công nghệ sản xuất phổ biến, bảo quản tốt, độ bền cơ học 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Bị hạn chế mạnh bởi các chính sách từ Chính phủ trong cam kết Net Zero đến 2050, nên đang có xu hướng giảm dần.</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Khó phân huỷ</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44996">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Giấy, carton, kraft (giấy từ gỗ mềm)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Dễ dàng in, phổ biến, phù hợp cho ngành F&amp;B và FMCG (ngành hàng tiêu dùng nhanh). Đồng thời do làm từ giấy nên dễ phân huỷ hơn so với nhựa truyền thống. Giá cạnh tranh, nhẹ và dễ vận chuyển, có thể tái chế.</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Khả năng chống nước/dầu phụ thuộc vào cấu trúc và lớp phủ bề mặt, tuỳ thuộc vào lớp phủ mà thời gian phân huỷ có thể kéo dài, độ bền nhiệt/cơ học thấp, không phù hợp với sản phẩm cần độ cứng và khả năng chịu nhiệt 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Nhựa sinh học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(PLA, PHA)</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Phân huỷ sinh học, hình thức đẹp</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Giá cao hơn các sản phẩm phía trên, hạ tầng công nghệ sản xuất và tái chế tại Việt Nam còn hạn chế.</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Nhựa tái chế</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(rPET, PCR)</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Trung bình – 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Tận dụng nhựa sau sử dụng, giảm nhựa nguyên sinh, phù hợp với kinh tế tuần hoàn, có đặc tính cơ học của nhựa.</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Vẫn là chất liệu nhựa, khó phân huỷ, chất lượng phụ thuộc vào nguồn nguyên liệu và quy trình tái chế, hệ thống thu gom.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Bioplastic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(PLA/PBAT, nhựa phối trộn với nguyên liệu sinh học)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Có khả năng phối trộn và phân huỷ tuỳ theo công thức và điều kiện thực tế của môi trường phân huỷ, phù hợp với định vị xanh.</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Giá cao, yêu cầu cơ sở xử lý và công nghệ phù hợp.</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Về tính chất nhiệt/cơ học sẽ tuỳ thuộc vào từng loại chất liệu, cách phối trộn.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Đệm xốp bảo vệ (EPE/PE Foam)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Giá rẻ, chống va đập tốt, đàn hồi cao, giá cạnh tranh, phù hợp trong nhóm đồ điện tử, nội thất, thương mại điện tử</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Nguồn gốc chất liệu từ dầu mỏ, khó phân huỷ và không bảo vệ môi trường.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Đệm xốp sinh học</a:t>
                      </a:r>
                      <a:endParaRPr lang="vi-VN" sz="660" dirty="0">
                        <a:latin typeface="Calibri" charset="0"/>
                        <a:ea typeface="Calibri" charset="0"/>
                        <a:cs typeface="Calibri" charset="0"/>
                      </a:endParaRPr>
                    </a:p>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(từ sợi nấm, tinh bột)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Trung bình – 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Được làm hoàn toàn từ chất liệu sinh học, dễ phân huỷ</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Giá cao, độ bền/khả năng chịu ẩm thường thấp hơn đệm xốp bảo vệ EPE/PE Foam, hạn chế về công nghệ sản xuất.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40804">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Đệm giấy tổ ong/giấy nhún</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Trung bình – 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Nhẹ, có thể tái chế, bảo vệ môi trường, phân huỷ nhanh chóng, phù hợp đóng gói thương mại điện tử</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Khả năng chống nước, chống va đập phụ thuộc vào cấu trúc, không phù hợp với mọi sản phẩm.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42900">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Bao bì vật liệu sinh học (bã cà phê, trấu, rơm rạ, vỏ dừa,...)</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Cao</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Tận dụng được phụ phẩm nông nghiệp để tái sử dụng, phân huỷ sinh học tốt, tạo hình.</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810"/>
                        </a:lnSpc>
                        <a:buNone/>
                      </a:pPr>
                      <a:r>
                        <a:rPr lang="vi-VN" sz="660" dirty="0">
                          <a:solidFill>
                            <a:srgbClr val="1F1F1F"/>
                          </a:solidFill>
                          <a:latin typeface="Calibri" pitchFamily="34" charset="0"/>
                          <a:ea typeface="Calibri" pitchFamily="34" charset="-122"/>
                          <a:cs typeface="Calibri" pitchFamily="34" charset="-120"/>
                        </a:rPr>
                        <a:t>Khả năng chống thấm/ẩm/mốc/nhiệt còn hạn chế nếu không xử lý bằng lớp phủ, giá cao hơn và yêu cầu công nghệ hạ tầng kỹ thuật xử lý, phân loại.</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3" name="Text 9"/>
          <p:cNvSpPr txBox="1"/>
          <p:nvPr/>
        </p:nvSpPr>
        <p:spPr>
          <a:xfrm>
            <a:off x="405408" y="8257729"/>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Bài của nhóm (TTKN)</a:t>
            </a:r>
            <a:endParaRPr lang="vi-VN" sz="600" dirty="0"/>
          </a:p>
        </p:txBody>
      </p:sp>
      <p:sp>
        <p:nvSpPr>
          <p:cNvPr id="14" name="Text 10"/>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15" name="Text 11"/>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18</a:t>
            </a:r>
            <a:endParaRPr lang="vi-VN" sz="6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6749058" cy="0"/>
          </a:xfrm>
          <a:prstGeom prst="line">
            <a:avLst/>
          </a:prstGeom>
          <a:noFill/>
          <a:ln w="9525">
            <a:solidFill>
              <a:srgbClr val="7B1E2B"/>
            </a:solidFill>
            <a:prstDash val="solid"/>
          </a:ln>
        </p:spPr>
      </p:sp>
      <p:sp>
        <p:nvSpPr>
          <p:cNvPr id="4" name="Shape 2"/>
          <p:cNvSpPr/>
          <p:nvPr/>
        </p:nvSpPr>
        <p:spPr>
          <a:xfrm>
            <a:off x="405408" y="4804618"/>
            <a:ext cx="6749058" cy="0"/>
          </a:xfrm>
          <a:prstGeom prst="line">
            <a:avLst/>
          </a:prstGeom>
          <a:noFill/>
          <a:ln w="9525">
            <a:solidFill>
              <a:srgbClr val="7B1E2B"/>
            </a:solidFill>
            <a:prstDash val="solid"/>
          </a:ln>
        </p:spPr>
      </p:sp>
      <p:sp>
        <p:nvSpPr>
          <p:cNvPr id="5" name="Shape 3"/>
          <p:cNvSpPr/>
          <p:nvPr/>
        </p:nvSpPr>
        <p:spPr>
          <a:xfrm>
            <a:off x="405408" y="7832229"/>
            <a:ext cx="6749058" cy="0"/>
          </a:xfrm>
          <a:prstGeom prst="line">
            <a:avLst/>
          </a:prstGeom>
          <a:noFill/>
          <a:ln w="9525">
            <a:solidFill>
              <a:srgbClr val="7B1E2B"/>
            </a:solidFill>
            <a:prstDash val="solid"/>
          </a:ln>
        </p:spPr>
      </p:sp>
      <p:sp>
        <p:nvSpPr>
          <p:cNvPr id="6" name="Shape 4"/>
          <p:cNvSpPr/>
          <p:nvPr/>
        </p:nvSpPr>
        <p:spPr>
          <a:xfrm>
            <a:off x="405408" y="10364688"/>
            <a:ext cx="6749058" cy="0"/>
          </a:xfrm>
          <a:prstGeom prst="line">
            <a:avLst/>
          </a:prstGeom>
          <a:noFill/>
          <a:ln w="9525">
            <a:solidFill>
              <a:srgbClr val="BFBFBF"/>
            </a:solidFill>
            <a:prstDash val="solid"/>
          </a:ln>
        </p:spPr>
      </p:sp>
      <p:sp>
        <p:nvSpPr>
          <p:cNvPr id="7" name="Text 5"/>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8" name="Text 6"/>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9" name="Text 7"/>
          <p:cNvSpPr txBox="1"/>
          <p:nvPr/>
        </p:nvSpPr>
        <p:spPr>
          <a:xfrm>
            <a:off x="405408" y="58923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A06:</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Báo cáo kết quả kinh doanh 2023A–2030E (theo chức năng: 70% tiền lương, 90% khấu hao vào giá vốn)</a:t>
            </a:r>
            <a:endParaRPr lang="vi-VN" sz="720" dirty="0"/>
          </a:p>
        </p:txBody>
      </p:sp>
      <p:sp>
        <p:nvSpPr>
          <p:cNvPr id="10" name="Text 8"/>
          <p:cNvSpPr txBox="1"/>
          <p:nvPr/>
        </p:nvSpPr>
        <p:spPr>
          <a:xfrm>
            <a:off x="405408" y="716756"/>
            <a:ext cx="6803922"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05408" y="832247"/>
          <a:ext cx="6749058" cy="914400"/>
        </p:xfrm>
        <a:graphic>
          <a:graphicData uri="http://schemas.openxmlformats.org/drawingml/2006/table">
            <a:tbl>
              <a:tblPr/>
              <a:tblGrid>
                <a:gridCol w="1889671"/>
                <a:gridCol w="607368"/>
                <a:gridCol w="607368"/>
                <a:gridCol w="607368"/>
                <a:gridCol w="607368"/>
                <a:gridCol w="607368"/>
                <a:gridCol w="607368"/>
                <a:gridCol w="607368"/>
                <a:gridCol w="607814"/>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Tỷ đồng</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2023A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2024A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2025A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2026E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2027E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2028E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2029E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2030E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Doanh thu bán hàng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47,9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101,1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Các khoản giảm trừ</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Doanh thu thuần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19,4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47,5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63,7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100,4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139,3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178,9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Chi phí nguyên liệu, nhân công theo sản lượng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(37,6)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(47,4)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Chi phí sản xuất cố định</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Tiền lương bộ phận sản xuất (70%)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(28,8)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Khấu hao TSCĐ sản xuất (90%)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Giá vốn hàng bán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(16,4)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(23,3)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(76,4)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Lợi nhuận gộp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14,5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50,9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62,9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84,7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Biên lợi nhuận gộp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37,3%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46,9%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51,0%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51,8%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51,5%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50,7%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45,1%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47,4%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Tiền lương bán hàng &amp; quản lý (30%)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Thuê mặt bằng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Khấu hao TSCĐ bán hàng &amp; quản lý (10%)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Sửa chữa, bảo dưỡng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Điện, nước, dịch vụ chung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Hỗ trợ tiền ăn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Kiểm nghiệm, chứng nhận &amp; R&amp;D</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Marketing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Chi phí bán hàng &amp; QLDN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(19,7)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(25,3)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(38,0)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(52,7)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(64,3)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EBIT (lợi nhuận thuần từ HĐKD trước lãi vay)</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Chi phí lãi vay</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Lợi nhuận trước thuế</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Thuế TNDN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Lợi nhuận sau thuế</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Ghi nhớ: khấu hao</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2,4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3,7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5,3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Ghi nhớ: EBITDA = EBIT + khấu hao</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7,7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16,0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19,6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24,7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37,0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Biên EBITDA</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16,2%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17,9%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19,6%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17,7%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20,7%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12" name="Text 9"/>
          <p:cNvSpPr txBox="1"/>
          <p:nvPr/>
        </p:nvSpPr>
        <p:spPr>
          <a:xfrm>
            <a:off x="405408" y="4641354"/>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trình bày lại theo chức năng); dự phóng (Income Statement)</a:t>
            </a:r>
            <a:endParaRPr lang="vi-VN" sz="600" dirty="0"/>
          </a:p>
        </p:txBody>
      </p:sp>
      <p:sp>
        <p:nvSpPr>
          <p:cNvPr id="13" name="Text 10"/>
          <p:cNvSpPr txBox="1"/>
          <p:nvPr/>
        </p:nvSpPr>
        <p:spPr>
          <a:xfrm>
            <a:off x="405408" y="4835743"/>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A07:</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Bảng cân đối kế toán 2023A–2030E</a:t>
            </a:r>
            <a:endParaRPr lang="vi-VN" sz="720" dirty="0"/>
          </a:p>
        </p:txBody>
      </p:sp>
      <p:sp>
        <p:nvSpPr>
          <p:cNvPr id="14" name="Text 11"/>
          <p:cNvSpPr txBox="1"/>
          <p:nvPr/>
        </p:nvSpPr>
        <p:spPr>
          <a:xfrm>
            <a:off x="405408" y="4963269"/>
            <a:ext cx="6803922"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405408" y="5078760"/>
          <a:ext cx="6749058" cy="914400"/>
        </p:xfrm>
        <a:graphic>
          <a:graphicData uri="http://schemas.openxmlformats.org/drawingml/2006/table">
            <a:tbl>
              <a:tblPr/>
              <a:tblGrid>
                <a:gridCol w="1889671"/>
                <a:gridCol w="607368"/>
                <a:gridCol w="607368"/>
                <a:gridCol w="607368"/>
                <a:gridCol w="607368"/>
                <a:gridCol w="607368"/>
                <a:gridCol w="607368"/>
                <a:gridCol w="607368"/>
                <a:gridCol w="607814"/>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Tỷ đồng</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2023A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2024A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2025A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2026E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2027E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2028E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2029E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2030E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Tiền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38,4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Phải thu khách hàng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Hàng tồn kho</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Tài sản ngắn hạn khác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Tổng tài sản ngắn hạn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48,8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50,6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43,6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48,3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Nguyên giá TSCĐ (hữu hình + vô hình)</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156,0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Khấu hao lũy kế</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Tài sản dài hạn ròng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19,4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37,3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95,9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98,0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99,3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Tổng tài sản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27,4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79,2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88,0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136,1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141,6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147,6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Phải trả người bán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Vay ngắn hạn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Nợ ngắn hạn khác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Vay dài hạn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Tổng nợ phải trả</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42,7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35,4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Vốn góp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Lợi nhuận giữ lại</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26,3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39,7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Vốn chủ sở hữu</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19,1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25,6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30,0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98,9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112,3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Tổng nguồn vốn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27,4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79,2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88,0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136,1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141,6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147,6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16" name="Text 12"/>
          <p:cNvSpPr txBox="1"/>
          <p:nvPr/>
        </p:nvSpPr>
        <p:spPr>
          <a:xfrm>
            <a:off x="405408" y="7668964"/>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dự phóng (Balance Sheet)</a:t>
            </a:r>
            <a:endParaRPr lang="vi-VN" sz="600" dirty="0"/>
          </a:p>
        </p:txBody>
      </p:sp>
      <p:sp>
        <p:nvSpPr>
          <p:cNvPr id="17" name="Text 13"/>
          <p:cNvSpPr txBox="1"/>
          <p:nvPr/>
        </p:nvSpPr>
        <p:spPr>
          <a:xfrm>
            <a:off x="405408" y="7863354"/>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A08:</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Báo cáo lưu chuyển tiền tệ 2023A–2030E</a:t>
            </a:r>
            <a:endParaRPr lang="vi-VN" sz="720" dirty="0"/>
          </a:p>
        </p:txBody>
      </p:sp>
      <p:sp>
        <p:nvSpPr>
          <p:cNvPr id="18" name="Text 14"/>
          <p:cNvSpPr txBox="1"/>
          <p:nvPr/>
        </p:nvSpPr>
        <p:spPr>
          <a:xfrm>
            <a:off x="405408" y="7990880"/>
            <a:ext cx="6803922"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58" name="Table 2"/>
          <p:cNvGraphicFramePr>
            <a:graphicFrameLocks noGrp="1"/>
          </p:cNvGraphicFramePr>
          <p:nvPr>
            <p:extLst>
              <p:ext uri="{D42A27DB-BD31-4B8C-83A1-F6EECF244321}">
                <p14:modId xmlns:p14="http://schemas.microsoft.com/office/powerpoint/2010/main" val="1579011935"/>
              </p:ext>
            </p:extLst>
          </p:nvPr>
        </p:nvGraphicFramePr>
        <p:xfrm>
          <a:off x="405408" y="8106370"/>
          <a:ext cx="6749058" cy="914400"/>
        </p:xfrm>
        <a:graphic>
          <a:graphicData uri="http://schemas.openxmlformats.org/drawingml/2006/table">
            <a:tbl>
              <a:tblPr/>
              <a:tblGrid>
                <a:gridCol w="1889671"/>
                <a:gridCol w="607368"/>
                <a:gridCol w="607368"/>
                <a:gridCol w="607368"/>
                <a:gridCol w="607368"/>
                <a:gridCol w="607368"/>
                <a:gridCol w="607368"/>
                <a:gridCol w="607368"/>
                <a:gridCol w="607814"/>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Tỷ đồng</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2023A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2024A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2025A</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2026E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2027E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2028E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2029E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2030E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Lợi nhuận sau thuế</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Khấu hao</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Thay đổi vốn lưu động và khác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Lưu chuyển tiền thuần từ HĐKD (CFO)</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6,3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10,0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CAPEX (CFI)</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(65,3)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Vốn góp cổ phần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Vay (trả) nợ dài hạn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39,2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Lưu chuyển tiền thuần từ HĐTC (CFF)</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39,2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Tiền cuối kỳ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38,4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solidFill>
                      <a:srgbClr val="F3F1F1"/>
                    </a:solidFill>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FCFF (2023–25A: CFO − CAPEX)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(5,6)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(52,3)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F3F1F1"/>
                    </a:solidFill>
                  </a:tcPr>
                </a:tc>
              </a:tr>
            </a:tbl>
          </a:graphicData>
        </a:graphic>
      </p:graphicFrame>
      <p:sp>
        <p:nvSpPr>
          <p:cNvPr id="20" name="Text 15"/>
          <p:cNvSpPr txBox="1"/>
          <p:nvPr/>
        </p:nvSpPr>
        <p:spPr>
          <a:xfrm>
            <a:off x="405408" y="9613106"/>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BCTC 2023–2025 (đề bài); dự phóng (Cash Flow Statement, DCF)</a:t>
            </a:r>
            <a:endParaRPr lang="vi-VN" sz="600" dirty="0"/>
          </a:p>
        </p:txBody>
      </p:sp>
      <p:sp>
        <p:nvSpPr>
          <p:cNvPr id="21" name="Text 16"/>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22" name="Text 17"/>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19</a:t>
            </a:r>
            <a:endParaRPr lang="vi-VN" sz="6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6749058" cy="0"/>
          </a:xfrm>
          <a:prstGeom prst="line">
            <a:avLst/>
          </a:prstGeom>
          <a:noFill/>
          <a:ln w="9525">
            <a:solidFill>
              <a:srgbClr val="7B1E2B"/>
            </a:solidFill>
            <a:prstDash val="solid"/>
          </a:ln>
        </p:spPr>
      </p:sp>
      <p:sp>
        <p:nvSpPr>
          <p:cNvPr id="4" name="Shape 2"/>
          <p:cNvSpPr/>
          <p:nvPr/>
        </p:nvSpPr>
        <p:spPr>
          <a:xfrm>
            <a:off x="405408" y="10364688"/>
            <a:ext cx="6749058" cy="0"/>
          </a:xfrm>
          <a:prstGeom prst="line">
            <a:avLst/>
          </a:prstGeom>
          <a:noFill/>
          <a:ln w="9525">
            <a:solidFill>
              <a:srgbClr val="BFBFBF"/>
            </a:solidFill>
            <a:prstDash val="solid"/>
          </a:ln>
        </p:spPr>
      </p:sp>
      <p:sp>
        <p:nvSpPr>
          <p:cNvPr id="5" name="Text 3"/>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6" name="Text 4"/>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7" name="Text 5"/>
          <p:cNvSpPr txBox="1"/>
          <p:nvPr/>
        </p:nvSpPr>
        <p:spPr>
          <a:xfrm>
            <a:off x="405408" y="58923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A09:</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Giả định dự phóng: giá trị, lý do và nguồn (kịch bản cơ sở) – phần 1</a:t>
            </a:r>
            <a:endParaRPr lang="vi-VN" sz="72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05408" y="731044"/>
          <a:ext cx="6749058" cy="914400"/>
        </p:xfrm>
        <a:graphic>
          <a:graphicData uri="http://schemas.openxmlformats.org/drawingml/2006/table">
            <a:tbl>
              <a:tblPr/>
              <a:tblGrid>
                <a:gridCol w="1147316"/>
                <a:gridCol w="364331"/>
                <a:gridCol w="364331"/>
                <a:gridCol w="364331"/>
                <a:gridCol w="364331"/>
                <a:gridCol w="364331"/>
                <a:gridCol w="3780086"/>
              </a:tblGrid>
              <a:tr h="131713">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Giả định</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26E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27E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28E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29E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30E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Lý do và nguồn (ô ghi chú cạnh giả định trong model)</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319832">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trưởng sản lượng hộp/khay F&amp;B</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sản lượng bị giới hạn bởi công suất: 2026 +32% nhờ máy ép bổ sung (CAPEX 20% DT); 2027 +25% khi khai thác tối đa nhà máy hiện hữu; 2028 +20% vì nhà máy mới đang xây (đầu tư lớn theo đề bài); 2029 +35% khi 2 dây chuyền mới chạy; 2030 +25%. Lịch sử +60% (2024), +58% (2025). Nguồn: BCTC 2023–2025; giả định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Giá bán bình quân hộp/khay F&amp;B (nghìn đ/cái)</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giá 2025 lấy cận dưới khung giá hộp/khay 2.500–4.000đ/cái của nhóm vì doanh thu gồm cả khay nhỏ và đơn hàng sỉ; cao hơn hộp bã mía 500 ml bán lẻ 1.900–2.700đ nhờ ép khuôn theo mẫu. Nguồn: bảng chiến lược giá (Mục 1.2.2; ecoeshop.com), bảng giá hộp 500 ml (Mục 1.1.1; QueenPack.com, baobixanh.com).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giá bán F&amp;B và khuôn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Base +2%/năm, thấp hơn CPI 8T/2026 (+4,45%) vì khách hàng B2B có sức mạnh đàm phán rất cao và bao bì nhựa rẻ hơn nhiều lần (Mục 3.1.2, 3.2.6); Bear +1%, Bull +2,5%. Nguồn: Cục Thống kê (2026); phân tích ngành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trưởng số bộ khuôn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số bộ khuôn gắn với số SKU/khách hàng mới; chậm lại năm 2028 khi nhà máy mới đang xây, tăng nhanh năm 2029 khi có công suất mới và mở thị trường miền Bắc. Lịch sử +40% (2024), +39,5% (2025). Nguồn: BCTC 2023–2025; giả định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Giá bình quân bộ khuôn (nghìn đ)</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20.400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20.808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21.224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21.649</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22.082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~20 triệu đồng/bộ khuôn, bằng giá tham chiếu khuôn ép bã mía/tre. Nguồn: bảng chiến lược giá (Mục 1.2.2; HTAECO.com).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trưởng diện tích đệm nội thất/TMĐT</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bám theo tăng trưởng TMĐT ~18%/năm và khách hàng nội thất xuất khẩu; năm 2029 +40% nhờ công suất mới. Nguồn: Mục 3.2.2; BCTC 2023–2025.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Giá đệm nội thất/TMĐT (nghìn đ/m²)</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23,2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23,5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23,9</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24,2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trung điểm khung 15.000–30.000đ/m² của vật liệu đệm định hình (PE foam) mà sản phẩm thay thế. Nguồn: báo giá PE foam định hình trên thị trường (2026); Mục 3.2.5.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trưởng diện tích đệm điện tử</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60%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70%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nền nhỏ (1,2 tỷ đồng năm 2025); thay thế khay EPS/EPE cho khách hàng FDI điện tử khi chuỗi cung ứng xuất khẩu yêu cầu xanh hóa. Nguồn: xuất khẩu 475 tỷ USD năm 2025, FDI chiếm 80% (Bộ Công Thương); BCTC 2024–2025.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Giá đệm điện tử (nghìn đ/m²)</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40,6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41,8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43,1</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trung điểm khung 25.000–55.000đ/m² của khay EPE/EPE chống tĩnh điện mà sản phẩm thay thế. Nguồn: báo giá khay EPE trên thị trường (2026); Mục 3.2.5.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giá đệm bảo vệ</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đệm bảo vệ cạnh tranh trực tiếp với EPE/PE foam giá rẻ (áp lực thay thế cao, Mục 3.2.5) nên chỉ tăng 1,5%/năm (Base); Bear 0,5%, Bull 2%. Nguồn: phân tích ngành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Khoản giảm trừ / doanh thu gộp</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giữ mức 2025 (0,70% doanh thu gộp), xu hướng giảm từ 0,80% (2023). Nguồn: BCTC 2023–2025 (đề bài).</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20588">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Chi phí biến đổi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25,5%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26,5%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25,5% → 25,0% → 24,5% (2023–25). Tăng lên 25,0–27,0% vì lạm phát tác động chủ yếu vào chi phí thu gom, vận chuyển, sấy và năng lượng (Mục 3.1.2), bã mía bị cạnh tranh bởi lò hơi nhà máy đường và các nhà sản xuất bao bì sợi trước mốc dừng nhựa dùng một lần 2030; năm đầu chạy nhà máy mới hao hụt cao. Nguồn: BCTC 2023–2025; Cục Thống kê (CPI 8T/2026 +4,45%, nhóm nhà ở-điện-nước +6,71%).</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chi phí cố định sản xuất</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giữ mức tăng 10%/năm như 2024–2025. Nguồn: BCTC 2023–2025 (đề bài).</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Chi phí cố định tăng thêm của nhà máy mới (tỷ)</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0,9</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bước nhảy chi phí cố định (phòng QC, bảo trì, quản đốc) 0,9 tỷ đồng/năm khi 2 nhà máy mới vận hành. Nguồn: giả định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Tiền lương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23,5%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tuyển trước cho nhà máy mới (2028–29), sau đó đòn bẩy hoạt động. Nguồn: BCTC 2023–2025; Nghị định 293/2025/NĐ-CP.</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Tiền lương phân bổ vào giá vốn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70%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70%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70%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70%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70%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70% quỹ lương là lao động trực tiếp và quản lý phân xưởng (công nhân ép, sấy, QC, quản đốc) → giá vốn; 30% là bán hàng và quản lý DN → CPBH &amp; QLDN. Nguồn: giả định phân bổ của nhóm theo đặc thù DN sản xuất (BCTC gốc hạch toán tiền lương ngoài giá vốn).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Khấu hao phân bổ vào giá vốn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90%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90%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90%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90%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90%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~90% nguyên giá TSCĐ là máy ép khuôn, hệ thống sấy, nhà xưởng, kho nguyên liệu → giá vốn; ~10% là văn phòng, xe giao hàng, thiết bị quản lý → CPBH &amp; QLDN. Nguồn: giả định phân bổ của nhóm theo cơ cấu tài sản (Mục 2: TS dài hạn là nhà máy, dây chuyền ép, xe, kho).</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Hỗ trợ tiền ăn / tiền lương</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giữ ~mức 2025 (28,8% quỹ lương). Nguồn: BCTC 2023–2025.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tiền thuê mặt bằng</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tiền thuê tăng 35%, 41% (2024–25) khi thuê thêm kho, xưởng. Sau đó tăng chậm (12%/năm) vì nhà máy mới là tài sản tự đầu tư; năm sau đầu tư lớn +30% do thuê kho vệ tinh gần khách hàng. Nguồn: BCTC 2023–2025; giả định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Sửa chữa, bảo dưỡng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giữ ~mức 2025 (4,4% DT; 2023–24: 4,9%, 5,2%). Nguồn: BCTC 2023–2025.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Điện, nước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6,2% → 5,8% → 4,7% (2023–25). Nâng lên 5,0% vì sấy, ép nhiệt tốn điện và giá bán lẻ điện bình quân tăng 4,8% ngày 11/10/2024 và 4,8% ngày 10/5/2025 (2.204,07 đ/kWh). Nguồn: BCTC 2023–2025; Quyết định 1279/QĐ-BCT (2025); Mục 3.1.2.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Marketing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4,7% → 3,1% → 2,4% (2023–25). Tăng lại 2,8–3,0% khi mở rộng ra miền Bắc và khách hàng FDI (hội chợ, mẫu thử). Nguồn: BCTC 2023–2025; Mục 1.2.1.</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Kiểm nghiệm, chứng nhận &amp; R&amp;D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dòng chi phí mới 0,6% DT cho kiểm nghiệm bao bì tiếp xúc trực tiếp với thực phẩm, chứng nhận phân hủy (BPI, OK compost) và R&amp;D lớp chống thấm không PFAS. Nguồn: Thông tư 27/2026/TT-BYT (hiệu lực 01/7/2026); Mục 3.1.6.1, 3.2.4.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CAPEX / doanh thu (tỷ lệ tái đầu tư)</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65%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tỷ lệ tái đầu tư = CAPEX/DT từng năm: 2026 20% (máy ép, xe tải, kho), 2027 15% (mở rộng nhà máy hiện hữu), 2028 65% (đầu tư lớn theo đề bài), 2029 12% (hoàn thiện, chạy thử), 2030 10%. Ngành: trung vị CAPEX/DT của 16 DN bao bì niêm yết 2023–25 là 3,1%, tứ phân vị trên 8,3%, DN đang mở rộng 13–30% (Fig. A10).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Tỷ lệ khấu hao (% nguyên giá đầu kỳ)</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12% nguyên giá đầu kỳ, khớp số liệu 2024–2025. Nguồn: file Excel mẫu (Assumption!D17); BCTC 2024–2025.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Số ngày tồn kho (DIO)</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152 → 123 → 106 ngày (2023–25), cao do tích trữ bã mía theo vụ ép (khoảng tháng 11–4). Giữ ~100 ngày; 2029 tăng lên 105 ngày để tích trữ cho 2 dây chuyền mới. Nguồn: BCTC 2023–2025; lịch vụ ép mía.</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Số ngày phải thu (DSO)</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24 → 18 → 14 ngày (2023–25), rất ngắn cho B2B vì nhiều khách F&amp;B nhỏ trả ngay. Khi phục vụ chuỗi F&amp;B, FMCG, FDI điện tử (điều khoản 30–45 ngày), DSO tăng dần lên 30 ngày. Nguồn: BCTC 2023–2025; Mục 3.2.6 (khách hàng B2B có quyền thương lượng cao).</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Số ngày phải trả (DPO)</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9 → 8 → 7 ngày (2023–25). Quy mô lớn hơn giúp đàm phán kỳ hạn 15 ngày với nhà máy đường và đơn vị thu gom. Nguồn: BCTC 2023–2025.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TSNH khác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6,3% → 5,5% → 4,4% (2023–25); giữ 4,0%. Nguồn: BCTC 2023–2025.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Nợ ngắn hạn khác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giữ ~mức 2023–2025 (0,17–0,24% DT). Nguồn: BCTC 2023–2025.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Tiền mặt tối thiểu / doanh thu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5% DT ≈ 18 ngày chi phí tiền mặt, đệm cho vụ ép bã mía và kỳ thu tiền dài hơn. Nguồn: giả định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9" name="Text 6"/>
          <p:cNvSpPr txBox="1"/>
          <p:nvPr/>
        </p:nvSpPr>
        <p:spPr>
          <a:xfrm>
            <a:off x="405408" y="8735169"/>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Model (Drivers): giá trị theo năm và nội dung ô ghi chú ngay cạnh từng giả định (cột K)</a:t>
            </a:r>
            <a:endParaRPr lang="vi-VN" sz="600" dirty="0"/>
          </a:p>
        </p:txBody>
      </p:sp>
      <p:sp>
        <p:nvSpPr>
          <p:cNvPr id="10" name="Text 7"/>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11" name="Text 8"/>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20</a:t>
            </a:r>
            <a:endParaRPr lang="vi-VN" sz="6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6749058" cy="0"/>
          </a:xfrm>
          <a:prstGeom prst="line">
            <a:avLst/>
          </a:prstGeom>
          <a:noFill/>
          <a:ln w="9525">
            <a:solidFill>
              <a:srgbClr val="7B1E2B"/>
            </a:solidFill>
            <a:prstDash val="solid"/>
          </a:ln>
        </p:spPr>
      </p:sp>
      <p:sp>
        <p:nvSpPr>
          <p:cNvPr id="4" name="Shape 2"/>
          <p:cNvSpPr/>
          <p:nvPr/>
        </p:nvSpPr>
        <p:spPr>
          <a:xfrm>
            <a:off x="405408" y="2150269"/>
            <a:ext cx="6749058" cy="0"/>
          </a:xfrm>
          <a:prstGeom prst="line">
            <a:avLst/>
          </a:prstGeom>
          <a:noFill/>
          <a:ln w="9525">
            <a:solidFill>
              <a:srgbClr val="7B1E2B"/>
            </a:solidFill>
            <a:prstDash val="solid"/>
          </a:ln>
        </p:spPr>
      </p:sp>
      <p:sp>
        <p:nvSpPr>
          <p:cNvPr id="5" name="Shape 3"/>
          <p:cNvSpPr/>
          <p:nvPr/>
        </p:nvSpPr>
        <p:spPr>
          <a:xfrm>
            <a:off x="405408" y="5276701"/>
            <a:ext cx="6749058" cy="0"/>
          </a:xfrm>
          <a:prstGeom prst="line">
            <a:avLst/>
          </a:prstGeom>
          <a:noFill/>
          <a:ln w="9525">
            <a:solidFill>
              <a:srgbClr val="7B1E2B"/>
            </a:solidFill>
            <a:prstDash val="solid"/>
          </a:ln>
        </p:spPr>
      </p:sp>
      <p:sp>
        <p:nvSpPr>
          <p:cNvPr id="6" name="Shape 4"/>
          <p:cNvSpPr/>
          <p:nvPr/>
        </p:nvSpPr>
        <p:spPr>
          <a:xfrm>
            <a:off x="405408" y="10364688"/>
            <a:ext cx="6749058" cy="0"/>
          </a:xfrm>
          <a:prstGeom prst="line">
            <a:avLst/>
          </a:prstGeom>
          <a:noFill/>
          <a:ln w="9525">
            <a:solidFill>
              <a:srgbClr val="BFBFBF"/>
            </a:solidFill>
            <a:prstDash val="solid"/>
          </a:ln>
        </p:spPr>
      </p:sp>
      <p:sp>
        <p:nvSpPr>
          <p:cNvPr id="7" name="Text 5"/>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8" name="Text 6"/>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9" name="Text 7"/>
          <p:cNvSpPr txBox="1"/>
          <p:nvPr/>
        </p:nvSpPr>
        <p:spPr>
          <a:xfrm>
            <a:off x="405408" y="58923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A09 (tiếp):</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Giả định dự phóng: giá trị, lý do và nguồn (kịch bản cơ sở) – phần 2</a:t>
            </a:r>
            <a:endParaRPr lang="vi-VN" sz="72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05408" y="731044"/>
          <a:ext cx="6749058" cy="914400"/>
        </p:xfrm>
        <a:graphic>
          <a:graphicData uri="http://schemas.openxmlformats.org/drawingml/2006/table">
            <a:tbl>
              <a:tblPr/>
              <a:tblGrid>
                <a:gridCol w="1147316"/>
                <a:gridCol w="364331"/>
                <a:gridCol w="364331"/>
                <a:gridCol w="364331"/>
                <a:gridCol w="364331"/>
                <a:gridCol w="364331"/>
                <a:gridCol w="3780086"/>
              </a:tblGrid>
              <a:tr h="131713">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Giả định</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26E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27E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28E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29E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30E</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Lý do và nguồn (ô ghi chú cạnh giả định trong model)</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223838">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Tỷ lệ CAPEX 2028 tài trợ bằng vay trung hạn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60%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60%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60%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60%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60%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60% CAPEX nhà máy mới vay trung hạn có tài sản bảo đảm (nhà xưởng, máy); lãi suất cho vay 8,1–10,5% (Mục 3.1.3), có thể xin hỗ trợ lãi suất NATIF (Mục 3.1.5). Nguồn: NHNN (2026); NATIF (2026); giả định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Lãi suất vay</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lãi suất cho vay VND 8,1–10,5%/năm (6/2026); DN nhỏ vay ở nửa trên khung → 10%. Nguồn: NHNN (2026), Mục 3.1.3.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Thuế suất TNDN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17%</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17% nếu tổng DT năm trước ≤ 50 tỷ đồng (2026: DT 2025 = 47,5 tỷ), 20% từ 2027. Không giả định miễn, giảm thuế khởi nghiệp sáng tạo (NQ 198/2025/QH15) vì chưa chứng minh đủ điều kiện. Nguồn: Luật Thuế TNDN 67/2025/QH15; Mục 3.1.6.3.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Tỷ giá USD/VND bình quân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26.300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26.826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27.363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27.910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28.468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dùng để quy đổi doanh thu sang USD khi so với TAM/SAM của IMARC. 2025: 26.000; 2026: 26.300; sau đó VND mất giá 2%/năm. Nguồn: Vietcombank (tỷ giá bán ra); MBS Research dự báo 26.800–27.000 cuối 2026 (Mục 3.1.4).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1" name="Text 8"/>
          <p:cNvSpPr txBox="1"/>
          <p:nvPr/>
        </p:nvSpPr>
        <p:spPr>
          <a:xfrm>
            <a:off x="405408" y="1987004"/>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Model (Drivers): giá trị theo năm và nội dung ô ghi chú ngay cạnh từng giả định (cột K)</a:t>
            </a:r>
            <a:endParaRPr lang="vi-VN" sz="600" dirty="0"/>
          </a:p>
        </p:txBody>
      </p:sp>
      <p:sp>
        <p:nvSpPr>
          <p:cNvPr id="12" name="Text 9"/>
          <p:cNvSpPr txBox="1"/>
          <p:nvPr/>
        </p:nvSpPr>
        <p:spPr>
          <a:xfrm>
            <a:off x="405408" y="2181394"/>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A10:</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CAPEX/doanh thu của 16 DN bao bì niêm yết 2023–2025: cơ sở điều chỉnh tỷ lệ tái đầu tư theo ngành</a:t>
            </a:r>
            <a:endParaRPr lang="vi-VN" sz="720" dirty="0"/>
          </a:p>
        </p:txBody>
      </p:sp>
      <p:sp>
        <p:nvSpPr>
          <p:cNvPr id="13" name="Text 10"/>
          <p:cNvSpPr txBox="1"/>
          <p:nvPr/>
        </p:nvSpPr>
        <p:spPr>
          <a:xfrm>
            <a:off x="405408" y="2308920"/>
            <a:ext cx="6803922"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 tỷ lệ bình quân gia quyền 3 năm</a:t>
            </a:r>
            <a:endParaRPr lang="vi-VN" sz="63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405408" y="2424410"/>
          <a:ext cx="6749058" cy="914400"/>
        </p:xfrm>
        <a:graphic>
          <a:graphicData uri="http://schemas.openxmlformats.org/drawingml/2006/table">
            <a:tbl>
              <a:tblPr/>
              <a:tblGrid>
                <a:gridCol w="578644"/>
                <a:gridCol w="600373"/>
                <a:gridCol w="600373"/>
                <a:gridCol w="600373"/>
                <a:gridCol w="600373"/>
                <a:gridCol w="600373"/>
                <a:gridCol w="600373"/>
                <a:gridCol w="600373"/>
                <a:gridCol w="723305"/>
                <a:gridCol w="621953"/>
                <a:gridCol w="622548"/>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DN</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CAPEX 23</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CAPEX 24</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CAPEX 25</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DT 23</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DT 24</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DT 25</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KH 23–25</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CAPEX/DT</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KH/DT</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CAPEX/KH</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HHP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462,7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706,7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637,1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1.109,3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1.870,5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3.123,9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105,4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SVI</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331,1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1.505,5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1.506,0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1.522,1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4,24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AAA</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643,2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1.038,1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1.425,1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12.621,5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12.782,2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10.728,1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1.236,1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APH</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686,1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1.165,9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1.425,1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14.521,9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14.192,6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10.741,3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1.529,1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ILS</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180,8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185,4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222,9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2,38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INN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148,6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1.532,2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1.767,1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1.804,1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0,78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TPC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36,2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567,0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476,3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DHC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3.258,9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3.596,5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3.631,0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318,4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TPP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167,1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2.506,9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3.174,4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3.153,3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274,1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0,98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PMP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538,0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613,9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682,4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35,4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PBP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359,7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370,2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420,6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STP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195,2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0,88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BBS</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355,6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355,5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450,5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VBC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874,5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822,0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844,4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TDP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28,8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27,4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3.819,7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4.379,1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4.763,8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185,8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MCP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492,8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466,6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418,1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27,1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Trung vị</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1,02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r h="234255">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Tứ phân vị trên (P75)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8,3%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2,26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sp>
        <p:nvSpPr>
          <p:cNvPr id="15" name="Text 11"/>
          <p:cNvSpPr txBox="1"/>
          <p:nvPr/>
        </p:nvSpPr>
        <p:spPr>
          <a:xfrm>
            <a:off x="405408" y="5113437"/>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FiinX – BCTC hợp nhất năm 2023–2025 (lưu chuyển tiền: tiền chi mua sắm TSCĐ; khấu hao; doanh thu thuần), tỷ đồng; tính toán của nhóm</a:t>
            </a:r>
            <a:endParaRPr lang="vi-VN" sz="600" dirty="0"/>
          </a:p>
        </p:txBody>
      </p:sp>
      <p:sp>
        <p:nvSpPr>
          <p:cNvPr id="16" name="Text 12"/>
          <p:cNvSpPr txBox="1"/>
          <p:nvPr/>
        </p:nvSpPr>
        <p:spPr>
          <a:xfrm>
            <a:off x="405408" y="5307826"/>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A11:</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Giả định định giá: giá trị, lý do và nguồn</a:t>
            </a:r>
            <a:endParaRPr lang="vi-VN" sz="720" dirty="0"/>
          </a:p>
        </p:txBody>
      </p:sp>
      <p:graphicFrame>
        <p:nvGraphicFramePr>
          <p:cNvPr id="64" name="Table 2"/>
          <p:cNvGraphicFramePr>
            <a:graphicFrameLocks noGrp="1"/>
          </p:cNvGraphicFramePr>
          <p:nvPr>
            <p:extLst>
              <p:ext uri="{D42A27DB-BD31-4B8C-83A1-F6EECF244321}">
                <p14:modId xmlns:p14="http://schemas.microsoft.com/office/powerpoint/2010/main" val="1579011935"/>
              </p:ext>
            </p:extLst>
          </p:nvPr>
        </p:nvGraphicFramePr>
        <p:xfrm>
          <a:off x="405408" y="5449639"/>
          <a:ext cx="6749058" cy="914400"/>
        </p:xfrm>
        <a:graphic>
          <a:graphicData uri="http://schemas.openxmlformats.org/drawingml/2006/table">
            <a:tbl>
              <a:tblPr/>
              <a:tblGrid>
                <a:gridCol w="1282303"/>
                <a:gridCol w="742355"/>
                <a:gridCol w="4724400"/>
              </a:tblGrid>
              <a:tr h="131713">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Giả định định giá</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Giá trị</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60"/>
                        </a:lnSpc>
                        <a:buNone/>
                      </a:pPr>
                      <a:r>
                        <a:rPr lang="vi-VN" sz="630" b="1" dirty="0">
                          <a:solidFill>
                            <a:srgbClr val="FFFFFF"/>
                          </a:solidFill>
                          <a:latin typeface="Calibri" pitchFamily="34" charset="0"/>
                          <a:ea typeface="Calibri" pitchFamily="34" charset="-122"/>
                          <a:cs typeface="Calibri" pitchFamily="34" charset="-120"/>
                        </a:rPr>
                        <a:t>Lý do và nguồn (ô ghi chú cạnh giả định trong model)</a:t>
                      </a:r>
                      <a:endParaRPr lang="vi-VN" sz="63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223838">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Lãi suất phi rủi ro Rf</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4,59%</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Nguồn: lợi suất TPCP Việt Nam kỳ hạn 10 năm ngày 01/10/2026 = 4,588% (Discount rate, ô B12). Bình quân 2016–2025 là 3,92% (Fig. A12), chỉ dùng để đối chiếu.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ERP thị trường phát triển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4,23%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Nguồn: Damodaran (01/2026) – ERP thị trường trưởng thành (Aaa) 4,23%; bản 07/2026: 4,20%.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Phần bù rủi ro quốc gia (CRP)</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3,90%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ƯỚC TÍNH: Moody's Ba2 (triển vọng tích cực từ 5/2026); chênh lệch vỡ nợ Ba2 ~2,9% × hệ số biến động cổ phiếu/trái phiếu ~1,35 (phương pháp Damodaran). Nguồn: Moody's (2026); Damodaran (2026).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Beta không đòn bẩy βu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0,78</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Nguồn: Damodaran (01/2026) – beta không đòn bẩy ngành Packaging &amp; Container 0,78 (hiệu chỉnh tiền mặt 0,81). Beta 2 năm của DN bao bì niêm yết VN thấp (~0,6) do thanh khoản mỏng nên không dùng.</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24594">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Hệ số tương quan ρ</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0,70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Công thức: beta tổng = beta có đòn bẩy / ρ (B23 = B21/B22), trong đó ρ là hệ số tương quan giữa danh mục của nhà đầu tư VC và thị trường. ρ = 0,7 vì quỹ VC nắm 20–30 khoản đầu tư nên chỉ đa dạng hóa một phần. Nguồn: Damodaran (2009), Valuing Young, Start-up and Growth Companies.</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Chi phí nợ trước thuế Kd</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lãi suất cho vay VND 8,1–10,5%/năm (6/2026); DN nhỏ vay ở nửa trên khung → 10%. Nguồn: NHNN (2026), Mục 3.1.3.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D/E mục tiêu</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43,3%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Công thức: D/E theo BCĐKT dự phóng cuối 2028 – năm đầu tư lớn (sau huy động vốn cổ phần và khoản vay trung hạn).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Thuế suất dài hạn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Nguồn: Luật Thuế TNDN 67/2025/QH15 – thuế suất phổ thông 20% (dùng cho NOPAT dài hạn và P/E chuẩn hóa).</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Tăng trưởng dài hạn g</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5%</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tăng trưởng dài hạn danh nghĩa VND 5%: lạm phát mục tiêu ~4–4,5% cộng tăng trưởng thực thấp; thấp hơn GDP danh nghĩa VN (~10–12%) và thấp hơn Rf + tăng trưởng thực. Nguồn: NHNN, Quốc hội (mục tiêu CPI 2026 ~4,5%); Damodaran (2026).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516582">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RONIC sau 2030 (= ROIC 2030E)</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12,3%</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Công thức: RONIC = ROIC 2030E của chính mô hình (DCF!B39 = NOPAT 2030/(tài sản dài hạn ròng + VLĐ)). Lý do: file mẫu tính giá trị cuối kỳ = FCFF 2031/(WACC − g); FCFF 2031 được chuẩn hóa = NOPAT 2031 × (1 − g/RONIC) để phần tái đầu tư chỉ vừa đủ cho tăng trưởng 5%/năm, vì FCFF 2030 còn chứa CAPEX của giai đoạn tăng ~28%. Lấy RONIC bằng ROIC 2030 nghĩa là vốn mới sinh lời như năm cuối dự phóng, không giả định thêm lợi thế; ROIC 2030 thấp hơn WACC nên tăng trưởng sau 2030 làm giảm nhẹ giá trị (thận trọng). Nguồn: tính toán từ mô hình; Damodaran (2026).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Tỷ lệ thất bại z (VC Method)</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Giả định: theo hướng dẫn của BTL, DN giai đoạn đầu tăng trưởng có z = 35–45%; lấy 40% (trung điểm).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Tỷ suất lợi nhuận yêu cầu p (VC Method)</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26,4%</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Công thức giáo trình: (1 + p)^n = (1 + r)^n/(1 − z), với r = WACC (B7), z = B6, n = 5 năm.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Giai đoạn phát triển</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Đầu tăng trưởng</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doanh thu 47,5 tỷ, tăng 54–59%/năm, LNST và FCF vừa dương năm 2025, D/E 6,5%. Nguồn: kết luận Mục 2.</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P/E thoái vốn 2030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9,40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P/E ngành Containers &amp; Packaging (ICB cấp 4) năm 2026: 9,43x; trung vị mẫu 14 DN: xem Multiples!G22. Nguồn: FiinX (giá đóng cửa 28/9/2026).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EV/EBITDA thoái vốn 2030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8,00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EV/EBITDA ngành Containers &amp; Packaging 2026: 7,99x (2025: 7,5x). Nguồn: FiinX (giá đóng cửa 28/9/2026).</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Chiết khấu thanh khoản &amp; quy mô (DLOM)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30%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DN tư nhân, cổ phần không giao dịch, doanh thu 47,5 tỷ (trung vị mẫu ~1.400 tỷ), phụ thuộc đội ngũ sáng lập → 30% (khoảng 20–35% theo nghiên cứu chiết khấu DN tư nhân). Nguồn: Damodaran (2026); Koeplin, Sarin &amp; Shapiro (2000).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Trọng số DCF</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DCF 40% – phản ánh dự phóng dòng tiền và công suất; chưa trừ rủi ro thất bại. Nguồn: lựa chọn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2606">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Trọng số VC Method</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40%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VCM 40% – góc nhìn NĐT, có tỷ lệ thất bại 40% của giai đoạn đầu tăng trưởng (đề bài). Nguồn: lựa chọn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28600">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Trọng số Multiples</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60"/>
                        </a:lnSpc>
                        <a:buNone/>
                      </a:pPr>
                      <a:r>
                        <a:rPr lang="vi-VN" sz="630" dirty="0">
                          <a:solidFill>
                            <a:srgbClr val="1F1F1F"/>
                          </a:solidFill>
                          <a:latin typeface="Calibri" pitchFamily="34" charset="0"/>
                          <a:ea typeface="Calibri" pitchFamily="34" charset="-122"/>
                          <a:cs typeface="Calibri" pitchFamily="34" charset="-120"/>
                        </a:rPr>
                        <a:t>20%</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60"/>
                        </a:lnSpc>
                        <a:buNone/>
                      </a:pPr>
                      <a:r>
                        <a:rPr lang="vi-VN" sz="630" dirty="0">
                          <a:solidFill>
                            <a:srgbClr val="1F1F1F"/>
                          </a:solidFill>
                          <a:latin typeface="Calibri" pitchFamily="34" charset="0"/>
                          <a:ea typeface="Calibri" pitchFamily="34" charset="-122"/>
                          <a:cs typeface="Calibri" pitchFamily="34" charset="-120"/>
                        </a:rPr>
                        <a:t>Lý do: Multiples 20% – mẫu so sánh là DN niêm yết lớn, trưởng thành; chỉ phản ánh bộ máy 2025A nên chỉ dùng làm neo thị trường. Nguồn: lựa chọn của nhóm.</a:t>
                      </a:r>
                      <a:endParaRPr lang="vi-VN" sz="63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8" name="Text 13"/>
          <p:cNvSpPr txBox="1"/>
          <p:nvPr/>
        </p:nvSpPr>
        <p:spPr>
          <a:xfrm>
            <a:off x="405408" y="9462641"/>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Model: Discount rate (cột C), Assumption (cột E), VCM, Multiples, Summary (cột G) – ô ghi chú ngay cạnh giả định</a:t>
            </a:r>
            <a:endParaRPr lang="vi-VN" sz="600" dirty="0"/>
          </a:p>
        </p:txBody>
      </p:sp>
      <p:sp>
        <p:nvSpPr>
          <p:cNvPr id="19" name="Text 14"/>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20" name="Text 15"/>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21</a:t>
            </a:r>
            <a:endParaRPr lang="vi-VN" sz="6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6749058" cy="0"/>
          </a:xfrm>
          <a:prstGeom prst="line">
            <a:avLst/>
          </a:prstGeom>
          <a:noFill/>
          <a:ln w="9525">
            <a:solidFill>
              <a:srgbClr val="7B1E2B"/>
            </a:solidFill>
            <a:prstDash val="solid"/>
          </a:ln>
        </p:spPr>
      </p:sp>
      <p:sp>
        <p:nvSpPr>
          <p:cNvPr id="4" name="Shape 2"/>
          <p:cNvSpPr/>
          <p:nvPr/>
        </p:nvSpPr>
        <p:spPr>
          <a:xfrm>
            <a:off x="405408" y="2734121"/>
            <a:ext cx="6749058" cy="0"/>
          </a:xfrm>
          <a:prstGeom prst="line">
            <a:avLst/>
          </a:prstGeom>
          <a:noFill/>
          <a:ln w="9525">
            <a:solidFill>
              <a:srgbClr val="7B1E2B"/>
            </a:solidFill>
            <a:prstDash val="solid"/>
          </a:ln>
        </p:spPr>
      </p:sp>
      <p:sp>
        <p:nvSpPr>
          <p:cNvPr id="5" name="Shape 3"/>
          <p:cNvSpPr/>
          <p:nvPr/>
        </p:nvSpPr>
        <p:spPr>
          <a:xfrm>
            <a:off x="405408" y="5858173"/>
            <a:ext cx="2159943" cy="0"/>
          </a:xfrm>
          <a:prstGeom prst="line">
            <a:avLst/>
          </a:prstGeom>
          <a:noFill/>
          <a:ln w="9525">
            <a:solidFill>
              <a:srgbClr val="7B1E2B"/>
            </a:solidFill>
            <a:prstDash val="solid"/>
          </a:ln>
        </p:spPr>
      </p:sp>
      <p:sp>
        <p:nvSpPr>
          <p:cNvPr id="6" name="Shape 4"/>
          <p:cNvSpPr/>
          <p:nvPr/>
        </p:nvSpPr>
        <p:spPr>
          <a:xfrm>
            <a:off x="405408" y="10364688"/>
            <a:ext cx="6749058" cy="0"/>
          </a:xfrm>
          <a:prstGeom prst="line">
            <a:avLst/>
          </a:prstGeom>
          <a:noFill/>
          <a:ln w="9525">
            <a:solidFill>
              <a:srgbClr val="BFBFBF"/>
            </a:solidFill>
            <a:prstDash val="solid"/>
          </a:ln>
        </p:spPr>
      </p:sp>
      <p:sp>
        <p:nvSpPr>
          <p:cNvPr id="7" name="Text 5"/>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8" name="Text 6"/>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9" name="Text 7"/>
          <p:cNvSpPr txBox="1"/>
          <p:nvPr/>
        </p:nvSpPr>
        <p:spPr>
          <a:xfrm>
            <a:off x="405408" y="58923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A12:</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Lợi suất TPCP kỳ hạn 10 năm 2016–2025: bình quân 3,92%, thấp hơn mức 4,59% dùng làm Rf</a:t>
            </a:r>
            <a:endParaRPr lang="vi-VN" sz="72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05408" y="731044"/>
          <a:ext cx="6749058" cy="914400"/>
        </p:xfrm>
        <a:graphic>
          <a:graphicData uri="http://schemas.openxmlformats.org/drawingml/2006/table">
            <a:tbl>
              <a:tblPr/>
              <a:tblGrid>
                <a:gridCol w="1079748"/>
                <a:gridCol w="539800"/>
                <a:gridCol w="2092077"/>
                <a:gridCol w="3037433"/>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Năm</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Lợi suất</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Thời điểm quan sát</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Nguồn</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2016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6,95%</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Q1/2016 – lãi suất phát hành kỳ hạn 10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Oxford Business Group (2017). The Report: Vietnam 2017 – Attractive yields (bonds)</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2017</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5,42%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10/2017 – lãi suất trúng thầu kỳ hạn 10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Vietnam News (2017), tin đấu thầu TPCP tháng 10/2017; tháng 11/2017: 5,41–5,91%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2018</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5,00%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03/12/2018 – lợi suất spot kỳ hạn 10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CEIC Data (dữ liệu HNX), Vietnam Government Bond Yield: Spot</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2019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3,42%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12/2019 – thị trường thứ cấp (mức thấp kỷ lục)</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Vietnam News (2020). Gov't bond yields hit record low</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2020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2,24%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12/2020 – thị trường thứ cấp (−34 bps so với 11/2020)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VBMA (2021). Bond Market Report 12/2020; MBS Fixed Income 01/2021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2021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12/2021 – thị trường thứ cấp</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VBMA (2022). Bond Market Monthly Highlights 12/2021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2022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4,80%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31/12/2022 – thị trường thứ cấp</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ADB AsianBondsOnline (2023); VBMA Monthly Bond Market Report 12/2022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2023</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2,28%</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29/11/2023 – lãi suất trúng thầu kỳ hạn 10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VBMA (2023). Kết quả đấu thầu TPCP ngày 29/11/2023</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4255">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2024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2,97%</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Cuối năm 2024 – lợi suất kỳ hạn 10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Thị trường Tài chính Tiền tệ (2025). Thị trường TPCP: kỳ hạn 10 năm tiếp tục chi phối nhu cầu</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2025</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4,04%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Cuối năm 2025 – lợi suất kỳ hạn 10 năm</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VNDirect (2025). La bàn thị trường; Thị trường Tài chính Tiền tệ (2026)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234255">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Bình quân 2016–2025 (đối chiếu)</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3,92%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sp>
        <p:nvSpPr>
          <p:cNvPr id="11" name="Text 8"/>
          <p:cNvSpPr txBox="1"/>
          <p:nvPr/>
        </p:nvSpPr>
        <p:spPr>
          <a:xfrm>
            <a:off x="405408" y="2570857"/>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Tổng hợp của nhóm; Rf trong mô hình: 4,588% ngày 01/10/2026 (Discount rate). 2016–2017, 2023 dùng quan sát phát hành/đấu thầu gần cuối năm nhất có nguồn</a:t>
            </a:r>
            <a:endParaRPr lang="vi-VN" sz="600" dirty="0"/>
          </a:p>
        </p:txBody>
      </p:sp>
      <p:sp>
        <p:nvSpPr>
          <p:cNvPr id="12" name="Text 9"/>
          <p:cNvSpPr txBox="1"/>
          <p:nvPr/>
        </p:nvSpPr>
        <p:spPr>
          <a:xfrm>
            <a:off x="405408" y="2765247"/>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A13:</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Mẫu DN so sánh cho phương pháp Multiples (16 DN; loại MCP, PBT)</a:t>
            </a:r>
            <a:endParaRPr lang="vi-VN" sz="72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405408" y="2907060"/>
          <a:ext cx="6749058" cy="914400"/>
        </p:xfrm>
        <a:graphic>
          <a:graphicData uri="http://schemas.openxmlformats.org/drawingml/2006/table">
            <a:tbl>
              <a:tblPr/>
              <a:tblGrid>
                <a:gridCol w="539800"/>
                <a:gridCol w="607368"/>
                <a:gridCol w="1822252"/>
                <a:gridCol w="742355"/>
                <a:gridCol w="809774"/>
                <a:gridCol w="809774"/>
                <a:gridCol w="674787"/>
                <a:gridCol w="742950"/>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Mã</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Sàn</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Phân khúc</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DT TTM (tỷ)</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Biên EBITDA (%)</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EV/EBITDA (x)</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P/E (x)</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Trong mẫu</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DHC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HOSE</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Giấy, bao bì carton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3.938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6,35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7,48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TDP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HOSE</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nhựa</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5.488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8,98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AAA</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HOSE</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Nhựa, nhựa sinh học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9.243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3,85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APH</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HOSE</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nhựa (holding)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9.252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5,05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6,98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HHP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HOSE</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Giấy bao bì</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13,71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32,90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INN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giấy, in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2,66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ILS</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UPCoM</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khác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13,33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16,64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TPP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nhựa</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3.179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MCP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HOSE</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Bao bì kim loại, in</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431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36,45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84,23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Loại</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PBT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UPCoM</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i="1" dirty="0">
                          <a:solidFill>
                            <a:srgbClr val="555555"/>
                          </a:solidFill>
                          <a:latin typeface="Calibri" pitchFamily="34" charset="0"/>
                          <a:ea typeface="Calibri" pitchFamily="34" charset="-122"/>
                          <a:cs typeface="Calibri" pitchFamily="34" charset="-120"/>
                        </a:rPr>
                        <a:t>Thương mại vật tư bao bì</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2.042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0,04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9,97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i="1" dirty="0">
                          <a:solidFill>
                            <a:srgbClr val="555555"/>
                          </a:solidFill>
                          <a:latin typeface="Calibri" pitchFamily="34" charset="0"/>
                          <a:ea typeface="Calibri" pitchFamily="34" charset="-122"/>
                          <a:cs typeface="Calibri" pitchFamily="34" charset="-120"/>
                        </a:rPr>
                        <a:t>Loại</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TPC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HOSE</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Màng, túi nhựa</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490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VBC</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nhựa</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4,85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BBS</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giấy, bao xi măng</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484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9,19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STP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giấy</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PBP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PP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372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PMP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HNX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Bao bì PP</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5,53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Có</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Trung vị mẫu</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4,63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Bình quân ngành 2026 (FiinX)</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7,99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1F1F1F"/>
                          </a:solidFill>
                          <a:latin typeface="Calibri" pitchFamily="34" charset="0"/>
                          <a:ea typeface="Calibri" pitchFamily="34" charset="-122"/>
                          <a:cs typeface="Calibri" pitchFamily="34" charset="-120"/>
                        </a:rPr>
                        <a:t>9,43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9525" cap="flat" cmpd="sng" algn="ctr">
                      <a:solidFill>
                        <a:srgbClr val="555555"/>
                      </a:solidFill>
                      <a:prstDash val="solid"/>
                      <a:round/>
                      <a:headEnd type="none" w="med" len="med"/>
                      <a:tailEnd type="none" w="med" len="med"/>
                    </a:lnT>
                    <a:lnB w="9525" cap="flat" cmpd="sng" algn="ctr">
                      <a:solidFill>
                        <a:srgbClr val="E3E3E3"/>
                      </a:solidFill>
                      <a:prstDash val="solid"/>
                      <a:round/>
                      <a:headEnd type="none" w="med" len="med"/>
                      <a:tailEnd type="none" w="med" len="med"/>
                    </a:lnB>
                  </a:tcPr>
                </a:tc>
              </a:tr>
            </a:tbl>
          </a:graphicData>
        </a:graphic>
      </p:graphicFrame>
      <p:sp>
        <p:nvSpPr>
          <p:cNvPr id="14" name="Text 10"/>
          <p:cNvSpPr txBox="1"/>
          <p:nvPr/>
        </p:nvSpPr>
        <p:spPr>
          <a:xfrm>
            <a:off x="405408" y="5694908"/>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FiinX (giá đóng cửa 28/9/2026; BCTC 4 quý gần nhất đến Q2/2026); sheet Multiples</a:t>
            </a:r>
            <a:endParaRPr lang="vi-VN" sz="600" dirty="0"/>
          </a:p>
        </p:txBody>
      </p:sp>
      <p:sp>
        <p:nvSpPr>
          <p:cNvPr id="15" name="Text 11"/>
          <p:cNvSpPr txBox="1"/>
          <p:nvPr/>
        </p:nvSpPr>
        <p:spPr>
          <a:xfrm>
            <a:off x="405408" y="5889298"/>
            <a:ext cx="2214807"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A14:</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Độ nhạy DCF: WACC × g</a:t>
            </a:r>
            <a:endParaRPr lang="vi-VN" sz="720" dirty="0"/>
          </a:p>
        </p:txBody>
      </p:sp>
      <p:sp>
        <p:nvSpPr>
          <p:cNvPr id="16" name="Text 12"/>
          <p:cNvSpPr txBox="1"/>
          <p:nvPr/>
        </p:nvSpPr>
        <p:spPr>
          <a:xfrm>
            <a:off x="405408" y="6016823"/>
            <a:ext cx="2214807"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Pre-money, tỷ đồng</a:t>
            </a:r>
            <a:endParaRPr lang="vi-VN" sz="630" dirty="0"/>
          </a:p>
        </p:txBody>
      </p:sp>
      <p:graphicFrame>
        <p:nvGraphicFramePr>
          <p:cNvPr id="67" name="Table 2"/>
          <p:cNvGraphicFramePr>
            <a:graphicFrameLocks noGrp="1"/>
          </p:cNvGraphicFramePr>
          <p:nvPr>
            <p:extLst>
              <p:ext uri="{D42A27DB-BD31-4B8C-83A1-F6EECF244321}">
                <p14:modId xmlns:p14="http://schemas.microsoft.com/office/powerpoint/2010/main" val="1579011935"/>
              </p:ext>
            </p:extLst>
          </p:nvPr>
        </p:nvGraphicFramePr>
        <p:xfrm>
          <a:off x="405408" y="6132314"/>
          <a:ext cx="2159943" cy="914400"/>
        </p:xfrm>
        <a:graphic>
          <a:graphicData uri="http://schemas.openxmlformats.org/drawingml/2006/table">
            <a:tbl>
              <a:tblPr/>
              <a:tblGrid>
                <a:gridCol w="604838"/>
                <a:gridCol w="310902"/>
                <a:gridCol w="310902"/>
                <a:gridCol w="310902"/>
                <a:gridCol w="310902"/>
                <a:gridCol w="311497"/>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WACC \ g</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5,0%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6,0%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7,0%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39,6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42,7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43,9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28,3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7B1E2B"/>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17,4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14,6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9,3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8" name="Text 13"/>
          <p:cNvSpPr txBox="1"/>
          <p:nvPr/>
        </p:nvSpPr>
        <p:spPr>
          <a:xfrm>
            <a:off x="405408" y="6987183"/>
            <a:ext cx="2214807" cy="109728"/>
          </a:xfrm>
          <a:prstGeom prst="rect">
            <a:avLst/>
          </a:prstGeom>
          <a:noFill/>
          <a:ln/>
        </p:spPr>
        <p:txBody>
          <a:bodyPr wrap="square" lIns="0" tIns="0" rIns="0" bIns="0" rtlCol="0" anchor="t"/>
          <a:lstStyle/>
          <a:p>
            <a:pPr algn="l" indent="0" marL="0">
              <a:lnSpc>
                <a:spcPts val="780"/>
              </a:lnSpc>
              <a:buNone/>
            </a:pPr>
            <a:r>
              <a:rPr lang="vi-VN" sz="640" b="1" dirty="0">
                <a:solidFill>
                  <a:srgbClr val="666666"/>
                </a:solidFill>
                <a:latin typeface="Calibri" pitchFamily="34" charset="0"/>
                <a:ea typeface="Calibri" pitchFamily="34" charset="-122"/>
                <a:cs typeface="Calibri" pitchFamily="34" charset="-120"/>
              </a:rPr>
              <a:t>VC Method: z × thay đổi giá trị thoái vốn</a:t>
            </a:r>
            <a:endParaRPr lang="vi-VN" sz="640" dirty="0"/>
          </a:p>
        </p:txBody>
      </p:sp>
      <p:graphicFrame>
        <p:nvGraphicFramePr>
          <p:cNvPr id="89" name="Table 3"/>
          <p:cNvGraphicFramePr>
            <a:graphicFrameLocks noGrp="1"/>
          </p:cNvGraphicFramePr>
          <p:nvPr>
            <p:extLst>
              <p:ext uri="{D42A27DB-BD31-4B8C-83A1-F6EECF244321}">
                <p14:modId xmlns:p14="http://schemas.microsoft.com/office/powerpoint/2010/main" val="1579011935"/>
              </p:ext>
            </p:extLst>
          </p:nvPr>
        </p:nvGraphicFramePr>
        <p:xfrm>
          <a:off x="405408" y="7093446"/>
          <a:ext cx="2159943" cy="914400"/>
        </p:xfrm>
        <a:graphic>
          <a:graphicData uri="http://schemas.openxmlformats.org/drawingml/2006/table">
            <a:tbl>
              <a:tblPr/>
              <a:tblGrid>
                <a:gridCol w="431899"/>
                <a:gridCol w="345579"/>
                <a:gridCol w="345579"/>
                <a:gridCol w="345579"/>
                <a:gridCol w="345579"/>
                <a:gridCol w="345728"/>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z \ Exit</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42,9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53,8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35%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26,9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37,0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47,1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40%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7B1E2B"/>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31,0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45%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8,0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16,5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33,6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50%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(4,2)</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11,3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19,1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26,9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20" name="Text 14"/>
          <p:cNvSpPr txBox="1"/>
          <p:nvPr/>
        </p:nvSpPr>
        <p:spPr>
          <a:xfrm>
            <a:off x="405408" y="7948315"/>
            <a:ext cx="2214807" cy="109728"/>
          </a:xfrm>
          <a:prstGeom prst="rect">
            <a:avLst/>
          </a:prstGeom>
          <a:noFill/>
          <a:ln/>
        </p:spPr>
        <p:txBody>
          <a:bodyPr wrap="square" lIns="0" tIns="0" rIns="0" bIns="0" rtlCol="0" anchor="t"/>
          <a:lstStyle/>
          <a:p>
            <a:pPr algn="l" indent="0" marL="0">
              <a:lnSpc>
                <a:spcPts val="780"/>
              </a:lnSpc>
              <a:buNone/>
            </a:pPr>
            <a:r>
              <a:rPr lang="vi-VN" sz="640" b="1" dirty="0">
                <a:solidFill>
                  <a:srgbClr val="666666"/>
                </a:solidFill>
                <a:latin typeface="Calibri" pitchFamily="34" charset="0"/>
                <a:ea typeface="Calibri" pitchFamily="34" charset="-122"/>
                <a:cs typeface="Calibri" pitchFamily="34" charset="-120"/>
              </a:rPr>
              <a:t>DCF: WACC × RONIC</a:t>
            </a:r>
            <a:endParaRPr lang="vi-VN" sz="640" dirty="0"/>
          </a:p>
        </p:txBody>
      </p:sp>
      <p:graphicFrame>
        <p:nvGraphicFramePr>
          <p:cNvPr id="111" name="Table 4"/>
          <p:cNvGraphicFramePr>
            <a:graphicFrameLocks noGrp="1"/>
          </p:cNvGraphicFramePr>
          <p:nvPr>
            <p:extLst>
              <p:ext uri="{D42A27DB-BD31-4B8C-83A1-F6EECF244321}">
                <p14:modId xmlns:p14="http://schemas.microsoft.com/office/powerpoint/2010/main" val="1579011935"/>
              </p:ext>
            </p:extLst>
          </p:nvPr>
        </p:nvGraphicFramePr>
        <p:xfrm>
          <a:off x="405408" y="8054578"/>
          <a:ext cx="2159943" cy="914400"/>
        </p:xfrm>
        <a:graphic>
          <a:graphicData uri="http://schemas.openxmlformats.org/drawingml/2006/table">
            <a:tbl>
              <a:tblPr/>
              <a:tblGrid>
                <a:gridCol w="604838"/>
                <a:gridCol w="310902"/>
                <a:gridCol w="310902"/>
                <a:gridCol w="310902"/>
                <a:gridCol w="310902"/>
                <a:gridCol w="311497"/>
              </a:tblGrid>
              <a:tr h="134541">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WACC\RONIC</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8,3%</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10,3%</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12,3%</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14,3%</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16,3%</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41,6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49,3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55,1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7,3</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20,6</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29,5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36,0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40,8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14,1%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b="1" dirty="0">
                          <a:solidFill>
                            <a:srgbClr val="FFFFFF"/>
                          </a:solidFill>
                          <a:latin typeface="Calibri" pitchFamily="34" charset="0"/>
                          <a:ea typeface="Calibri" pitchFamily="34" charset="-122"/>
                          <a:cs typeface="Calibri" pitchFamily="34" charset="-120"/>
                        </a:rPr>
                        <a:t>20,4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solidFill>
                      <a:srgbClr val="7B1E2B"/>
                    </a:solidFill>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25,9</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(3,0)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13,4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18,1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21,7</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135434">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16,1%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(6,4)</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2,1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7,8</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12,0</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r" indent="0" marL="0">
                        <a:lnSpc>
                          <a:spcPts val="780"/>
                        </a:lnSpc>
                        <a:buNone/>
                      </a:pPr>
                      <a:r>
                        <a:rPr lang="vi-VN" sz="660" dirty="0">
                          <a:solidFill>
                            <a:srgbClr val="1F1F1F"/>
                          </a:solidFill>
                          <a:latin typeface="Calibri" pitchFamily="34" charset="0"/>
                          <a:ea typeface="Calibri" pitchFamily="34" charset="-122"/>
                          <a:cs typeface="Calibri" pitchFamily="34" charset="-120"/>
                        </a:rPr>
                        <a:t>15,1</a:t>
                      </a:r>
                      <a:endParaRPr lang="vi-VN" sz="660" dirty="0">
                        <a:latin typeface="Calibri" charset="0"/>
                        <a:ea typeface="Calibri" charset="0"/>
                        <a:cs typeface="Calibri" charset="0"/>
                      </a:endParaRPr>
                    </a:p>
                  </a:txBody>
                  <a:tcPr marL="28346" marR="28346" marT="13716" marB="13716" anchor="ctr">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22" name="Text 15"/>
          <p:cNvSpPr txBox="1"/>
          <p:nvPr/>
        </p:nvSpPr>
        <p:spPr>
          <a:xfrm>
            <a:off x="405408" y="8884146"/>
            <a:ext cx="2214807"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Mô hình (Sensitivity – mỗi ô tính lại toàn bộ DCF/VCM)</a:t>
            </a:r>
            <a:endParaRPr lang="vi-VN" sz="600" dirty="0"/>
          </a:p>
        </p:txBody>
      </p:sp>
      <p:sp>
        <p:nvSpPr>
          <p:cNvPr id="23" name="Text 16"/>
          <p:cNvSpPr txBox="1"/>
          <p:nvPr/>
        </p:nvSpPr>
        <p:spPr>
          <a:xfrm>
            <a:off x="2745284" y="5872460"/>
            <a:ext cx="4464046"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Diễn giải kết quả định giá</a:t>
            </a:r>
            <a:endParaRPr lang="vi-VN" sz="900" dirty="0"/>
          </a:p>
        </p:txBody>
      </p:sp>
      <p:sp>
        <p:nvSpPr>
          <p:cNvPr id="24" name="Text 17"/>
          <p:cNvSpPr txBox="1"/>
          <p:nvPr/>
        </p:nvSpPr>
        <p:spPr>
          <a:xfrm>
            <a:off x="2745284" y="6041827"/>
            <a:ext cx="4464046" cy="789384"/>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Giá trị khi thành công và giá trị kỳ vọng.</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DCF (20,4 tỷ đồng; độ nhạy ở Fig. A14) là giá trị nếu kế hoạch được thực hiện đúng: nhà máy năm 2028 xong đúng tiến độ và sản lượng đạt dự phóng. Nhà đầu tư mạo hiểm sẽ không trả mức này vì vẫn còn 40% khả năng doanh nghiệp thất bại. Khi nhân với xác suất sống sót và cộng giá trị thanh lý, DCF còn 18,2 tỷ đồng, thấp hơn VC Method (21,7 tỷ) và Multiples (27,7 tỷ) vì DCF dùng ROIC thực tế năm 2030 của AgriPack, thấp hơn mức sinh lời mà bội số ngành ngầm định. Khoảng 18–28 tỷ đồng vì vậy là vùng giá trị đã tính rủi ro.</a:t>
            </a:r>
            <a:endParaRPr lang="vi-VN" sz="850" dirty="0"/>
          </a:p>
        </p:txBody>
      </p:sp>
      <p:sp>
        <p:nvSpPr>
          <p:cNvPr id="25" name="Text 18"/>
          <p:cNvSpPr txBox="1"/>
          <p:nvPr/>
        </p:nvSpPr>
        <p:spPr>
          <a:xfrm>
            <a:off x="2745284" y="6868864"/>
            <a:ext cx="4464046" cy="657820"/>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Tăng trưởng chưa tạo ra giá trị trong 5 năm dự phóng.</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Hiện giá dòng tiền tự do 2026–2030 âm 38,5 tỷ đồng và ROIC giai đoạn 2028–2030 thấp hơn WACC, nên toàn bộ giá trị đến từ giai đoạn sau năm 2030 (giá trị cuối kỳ bằng 302% EV). Pre-money 22,4 tỷ đồng chỉ bằng 0,75 lần vốn chủ sở hữu sổ sách và khoảng 2,7 lần EBITDA năm 2025: thị trường sẽ chưa trả thêm cho tăng trưởng cho tới khi nhà máy mới chứng minh được công suất.</a:t>
            </a:r>
            <a:endParaRPr lang="vi-VN" sz="850" dirty="0"/>
          </a:p>
        </p:txBody>
      </p:sp>
      <p:sp>
        <p:nvSpPr>
          <p:cNvPr id="26" name="Text 19"/>
          <p:cNvSpPr txBox="1"/>
          <p:nvPr/>
        </p:nvSpPr>
        <p:spPr>
          <a:xfrm>
            <a:off x="2745284" y="7564338"/>
            <a:ext cx="4464046" cy="526256"/>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Giá trị thoái vốn là biến số lớn nhất của VC Method.</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P/E 9,4 lần cho 126 tỷ đồng, còn EV/EBITDA 8 lần cho 275 tỷ đồng; giá trị thoái vốn thay đổi 15% làm pre-money theo VC Method thay đổi khoảng 9 tỷ đồng. Với tỷ lệ thất bại 45%, cận trên của giai đoạn đầu tăng trưởng, pre-money còn khoảng 16,5 tỷ đồng.</a:t>
            </a:r>
            <a:endParaRPr lang="vi-VN" sz="850" dirty="0"/>
          </a:p>
        </p:txBody>
      </p:sp>
      <p:sp>
        <p:nvSpPr>
          <p:cNvPr id="27" name="Text 20"/>
          <p:cNvSpPr txBox="1"/>
          <p:nvPr/>
        </p:nvSpPr>
        <p:spPr>
          <a:xfrm>
            <a:off x="2745284" y="8128248"/>
            <a:ext cx="4464046" cy="526256"/>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DCF nhạy với WACC hơn với g.</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Vì dòng tiền dương đến muộn, WACC thay đổi 1 điểm % tác động đến pre-money mạnh hơn g thay đổi 1 điểm %; khi ROIC 2030 thấp hơn WACC, g cao hơn còn làm DCF giảm nhẹ. Nếu lợi nhuận trên vốn đầu tư mới sau năm 2030 thấp hơn ROIC năm 2030 hai điểm %, giá trị DCF giảm thêm 7,6 tỷ đồng.</a:t>
            </a:r>
            <a:endParaRPr lang="vi-VN" sz="850" dirty="0"/>
          </a:p>
        </p:txBody>
      </p:sp>
      <p:sp>
        <p:nvSpPr>
          <p:cNvPr id="28" name="Text 21"/>
          <p:cNvSpPr txBox="1"/>
          <p:nvPr/>
        </p:nvSpPr>
        <p:spPr>
          <a:xfrm>
            <a:off x="2745284" y="8692158"/>
            <a:ext cx="4464046" cy="657820"/>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Cách dùng khoảng giá trị.</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Khoảng 11,4–35,5 tỷ đồng phản ánh ba nguồn bất định: chi phí vốn, giá trị thoái vốn và xác suất thất bại. Cận dưới (11,4 tỷ đồng) thấp hơn cả giá trị tính theo P/E trung vị ngành (17,7 tỷ đồng) và giá trị sổ sách; cận trên đòi hỏi nhà máy đúng tiến độ và bội số thoái vốn ngang bình quân ngành. Giá trị tăng mạnh khi sản lượng F&amp;B đạt kế hoạch (kịch bản tốt cho 68,6 tỷ đồng) và giảm mạnh nếu cầu yếu (kịch bản xấu cho giá trị âm).</a:t>
            </a:r>
            <a:endParaRPr lang="vi-VN" sz="850" dirty="0"/>
          </a:p>
        </p:txBody>
      </p:sp>
      <p:sp>
        <p:nvSpPr>
          <p:cNvPr id="29" name="Text 22"/>
          <p:cNvSpPr txBox="1"/>
          <p:nvPr/>
        </p:nvSpPr>
        <p:spPr>
          <a:xfrm>
            <a:off x="2745284" y="9387632"/>
            <a:ext cx="4464046" cy="657820"/>
          </a:xfrm>
          <a:prstGeom prst="rect">
            <a:avLst/>
          </a:prstGeom>
          <a:noFill/>
          <a:ln/>
        </p:spPr>
        <p:txBody>
          <a:bodyPr wrap="square" lIns="0" tIns="0" rIns="0" bIns="0" rtlCol="0" anchor="t"/>
          <a:lstStyle/>
          <a:p>
            <a:pPr algn="just" indent="0" marL="0">
              <a:lnSpc>
                <a:spcPts val="1040"/>
              </a:lnSpc>
              <a:buNone/>
            </a:pPr>
            <a:r>
              <a:rPr lang="vi-VN" sz="850" b="1" dirty="0">
                <a:solidFill>
                  <a:srgbClr val="7B1E2B"/>
                </a:solidFill>
                <a:latin typeface="Calibri" pitchFamily="34" charset="0"/>
                <a:ea typeface="Calibri" pitchFamily="34" charset="-122"/>
                <a:cs typeface="Calibri" pitchFamily="34" charset="-120"/>
              </a:rPr>
              <a:t>Cầu quyết định giá trị nhiều hơn chi phí vốn.</a:t>
            </a:r>
            <a:pPr algn="just" indent="0" marL="0">
              <a:lnSpc>
                <a:spcPts val="1040"/>
              </a:lnSpc>
              <a:buNone/>
            </a:pPr>
            <a:r>
              <a:rPr lang="vi-VN" sz="850" dirty="0">
                <a:solidFill>
                  <a:srgbClr val="1F1F1F"/>
                </a:solidFill>
                <a:latin typeface="Calibri" pitchFamily="34" charset="0"/>
                <a:ea typeface="Calibri" pitchFamily="34" charset="-122"/>
                <a:cs typeface="Calibri" pitchFamily="34" charset="-120"/>
              </a:rPr>
              <a:t> Khi từng nhân tố ở Mục 3 được đưa về mức bất lợi hoặc thuận lợi và tính lại toàn bộ mô hình (Fig. A15), sản lượng thay đổi 20% làm pre-money đi từ −2,9 đến 53,0 tỷ đồng, trong khi lãi suất hay rủi ro quốc gia thay đổi 1 điểm % chỉ làm pre-money thay đổi khoảng 4–5 tỷ đồng. Theo dõi đơn hàng F&amp;B và tiến độ nhà máy năm 2028 vì vậy quan trọng hơn dự báo lãi suất.</a:t>
            </a:r>
            <a:endParaRPr lang="vi-VN" sz="850" dirty="0"/>
          </a:p>
        </p:txBody>
      </p:sp>
      <p:sp>
        <p:nvSpPr>
          <p:cNvPr id="30" name="Text 23"/>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31" name="Text 24"/>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22</a:t>
            </a:r>
            <a:endParaRPr lang="vi-VN" sz="6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558105"/>
            <a:ext cx="6749058" cy="0"/>
          </a:xfrm>
          <a:prstGeom prst="line">
            <a:avLst/>
          </a:prstGeom>
          <a:noFill/>
          <a:ln w="9525">
            <a:solidFill>
              <a:srgbClr val="7B1E2B"/>
            </a:solidFill>
            <a:prstDash val="solid"/>
          </a:ln>
        </p:spPr>
      </p:sp>
      <p:sp>
        <p:nvSpPr>
          <p:cNvPr id="4" name="Shape 2"/>
          <p:cNvSpPr/>
          <p:nvPr/>
        </p:nvSpPr>
        <p:spPr>
          <a:xfrm>
            <a:off x="405408" y="10364688"/>
            <a:ext cx="6749058" cy="0"/>
          </a:xfrm>
          <a:prstGeom prst="line">
            <a:avLst/>
          </a:prstGeom>
          <a:noFill/>
          <a:ln w="9525">
            <a:solidFill>
              <a:srgbClr val="BFBFBF"/>
            </a:solidFill>
            <a:prstDash val="solid"/>
          </a:ln>
        </p:spPr>
      </p:sp>
      <p:sp>
        <p:nvSpPr>
          <p:cNvPr id="5" name="Text 3"/>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6" name="Text 4"/>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7" name="Text 5"/>
          <p:cNvSpPr txBox="1"/>
          <p:nvPr/>
        </p:nvSpPr>
        <p:spPr>
          <a:xfrm>
            <a:off x="405408" y="589231"/>
            <a:ext cx="6803922" cy="109728"/>
          </a:xfrm>
          <a:prstGeom prst="rect">
            <a:avLst/>
          </a:prstGeom>
          <a:noFill/>
          <a:ln/>
        </p:spPr>
        <p:txBody>
          <a:bodyPr wrap="square" lIns="0" tIns="0" rIns="0" bIns="0" rtlCol="0" anchor="t"/>
          <a:lstStyle/>
          <a:p>
            <a:pPr algn="l" indent="0" marL="0">
              <a:lnSpc>
                <a:spcPts val="860"/>
              </a:lnSpc>
              <a:buNone/>
            </a:pPr>
            <a:r>
              <a:rPr lang="vi-VN" sz="720" b="1" dirty="0">
                <a:solidFill>
                  <a:srgbClr val="7B1E2B"/>
                </a:solidFill>
                <a:latin typeface="Calibri" pitchFamily="34" charset="0"/>
                <a:ea typeface="Calibri" pitchFamily="34" charset="-122"/>
                <a:cs typeface="Calibri" pitchFamily="34" charset="-120"/>
              </a:rPr>
              <a:t>Fig. A15:</a:t>
            </a:r>
            <a:pPr algn="l" indent="0" marL="0">
              <a:lnSpc>
                <a:spcPts val="860"/>
              </a:lnSpc>
              <a:buNone/>
            </a:pPr>
            <a:r>
              <a:rPr lang="vi-VN" sz="720" b="1" dirty="0">
                <a:solidFill>
                  <a:srgbClr val="1F1F1F"/>
                </a:solidFill>
                <a:latin typeface="Calibri" pitchFamily="34" charset="0"/>
                <a:ea typeface="Calibri" pitchFamily="34" charset="-122"/>
                <a:cs typeface="Calibri" pitchFamily="34" charset="-120"/>
              </a:rPr>
              <a:t> Độ nhạy theo nhân tố vĩ mô – ngành: biên độ, kết quả và lý do (bất lợi / thuận lợi)</a:t>
            </a:r>
            <a:endParaRPr lang="vi-VN" sz="720" dirty="0"/>
          </a:p>
        </p:txBody>
      </p:sp>
      <p:sp>
        <p:nvSpPr>
          <p:cNvPr id="8" name="Text 6"/>
          <p:cNvSpPr txBox="1"/>
          <p:nvPr/>
        </p:nvSpPr>
        <p:spPr>
          <a:xfrm>
            <a:off x="405408" y="716756"/>
            <a:ext cx="6803922" cy="109728"/>
          </a:xfrm>
          <a:prstGeom prst="rect">
            <a:avLst/>
          </a:prstGeom>
          <a:noFill/>
          <a:ln/>
        </p:spPr>
        <p:txBody>
          <a:bodyPr wrap="square" lIns="0" tIns="0" rIns="0" bIns="0" rtlCol="0" anchor="t"/>
          <a:lstStyle/>
          <a:p>
            <a:pPr algn="l" indent="0" marL="0">
              <a:lnSpc>
                <a:spcPts val="770"/>
              </a:lnSpc>
              <a:buNone/>
            </a:pPr>
            <a:r>
              <a:rPr lang="vi-VN" sz="630" dirty="0">
                <a:solidFill>
                  <a:srgbClr val="666666"/>
                </a:solidFill>
                <a:latin typeface="Calibri" pitchFamily="34" charset="0"/>
                <a:ea typeface="Calibri" pitchFamily="34" charset="-122"/>
                <a:cs typeface="Calibri" pitchFamily="34" charset="-120"/>
              </a:rPr>
              <a:t>Tỷ đồng</a:t>
            </a:r>
            <a:endParaRPr lang="vi-VN" sz="63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05408" y="832247"/>
          <a:ext cx="6749058" cy="914400"/>
        </p:xfrm>
        <a:graphic>
          <a:graphicData uri="http://schemas.openxmlformats.org/drawingml/2006/table">
            <a:tbl>
              <a:tblPr/>
              <a:tblGrid>
                <a:gridCol w="1417290"/>
                <a:gridCol w="512862"/>
                <a:gridCol w="512862"/>
                <a:gridCol w="512862"/>
                <a:gridCol w="512862"/>
                <a:gridCol w="512862"/>
                <a:gridCol w="2767459"/>
              </a:tblGrid>
              <a:tr h="233362">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Nhân tố → giả định thay đổi (bất lợi / thuận lợi)</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Pre-money</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DCF</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VCM</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DT 2030E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LNST 2030E</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c>
                  <a:txBody>
                    <a:bodyPr/>
                    <a:lstStyle/>
                    <a:p>
                      <a:pPr algn="l" indent="0" marL="0">
                        <a:lnSpc>
                          <a:spcPts val="780"/>
                        </a:lnSpc>
                        <a:buNone/>
                      </a:pPr>
                      <a:r>
                        <a:rPr lang="vi-VN" sz="660" b="1" dirty="0">
                          <a:solidFill>
                            <a:srgbClr val="FFFFFF"/>
                          </a:solidFill>
                          <a:latin typeface="Calibri" pitchFamily="34" charset="0"/>
                          <a:ea typeface="Calibri" pitchFamily="34" charset="-122"/>
                          <a:cs typeface="Calibri" pitchFamily="34" charset="-120"/>
                        </a:rPr>
                        <a:t>Lý do biên độ và nguồn (ô ghi chú cạnh giả định, Summary cột N)</a:t>
                      </a:r>
                      <a:endParaRPr lang="vi-VN" sz="660" dirty="0">
                        <a:latin typeface="Calibri" charset="0"/>
                        <a:ea typeface="Calibri" charset="0"/>
                        <a:cs typeface="Calibri" charset="0"/>
                      </a:endParaRPr>
                    </a:p>
                  </a:txBody>
                  <a:tcPr marL="28346" marR="28346" marT="18288" marB="18288" anchor="ctr">
                    <a:lnL w="0" cap="flat" cmpd="sng" algn="ctr">
                      <a:noFill/>
                    </a:lnL>
                    <a:lnR w="0" cap="flat" cmpd="sng" algn="ctr">
                      <a:noFill/>
                    </a:lnR>
                    <a:lnT w="0" cap="flat" cmpd="sng" algn="ctr">
                      <a:noFill/>
                    </a:lnT>
                    <a:lnB w="0" cap="flat" cmpd="sng" algn="ctr">
                      <a:noFill/>
                    </a:lnB>
                    <a:solidFill>
                      <a:srgbClr val="7B1E2B"/>
                    </a:solidFill>
                  </a:tcPr>
                </a:tc>
              </a:tr>
              <a:tr h="130671">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Kịch bản cơ sở (Base)</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22,4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20,4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21,7</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178,9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b="1" dirty="0">
                          <a:solidFill>
                            <a:srgbClr val="1F1F1F"/>
                          </a:solidFill>
                          <a:latin typeface="Calibri" pitchFamily="34" charset="0"/>
                          <a:ea typeface="Calibri" pitchFamily="34" charset="-122"/>
                          <a:cs typeface="Calibri" pitchFamily="34" charset="-120"/>
                        </a:rPr>
                        <a:t>13,4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431899">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Cầu: tăng trưởng sản lượng ×0,8 / ×1,2 (GDP, tiêu dùng, TMĐT – Mục 3.1.1, 3.2.2)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−2,9 / 53,0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−18,7 / 68,1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−2,4 / 50,6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142,9 / 221,9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5,9 / 22,5</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 tốc độ tăng sản lượng mọi phân khúc – GDP 6T/2026 +8,18%, tiêu dùng +8,15%, TMĐT +18–25%/năm nhưng SAM chỉ +4,73%/năm; tăng trưởng của AgriPack phụ thuộc giành thị phần và tiến độ nhà máy (kịch bản Bear dùng ×0,7).</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Giá bán: +1% / +3% mỗi năm, Base +2% (CPI, sức mạnh khách hàng B2B – Mục 3.1.2, 3.2.6)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16,4 / 28,6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11,1 / 30,1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16,0 / 27,6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170,3 / 187,8</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11,6 / 15,2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 điểm %/năm giá bán F&amp;B, khuôn và đệm – CPI 8T/2026 +4,45% cho phép tăng giá gần lạm phát, nhưng khách hàng B2B có sức mạnh đàm phán rất cao và bao bì nhựa rẻ hơn nhiều lần (Mục 3.2.5, 3.2.6).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Chi phí biến đổi/DT: +1 / −1 điểm % (lạm phát chi phí thu gom, năng lượng – Mục 3.1.2)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13,8 / 30,9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8,7 / 32,1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12,1 / 31,3</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178,9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11,9 / 14,8</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 điểm % doanh thu – nhóm nhà ở, điện, nước, chất đốt, VLXD +6,71% (8T/2026); bã mía bị cạnh tranh bởi lò hơi nhà máy đường và nhà sản xuất bao bì sợi (Mục 3.1.2).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Chi phí nhân sự/DT: +1 / −1 điểm % (lương tối thiểu vùng +7,2% – NĐ 293/2025)</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11,9 / 32,9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5,9 / 34,9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9,9 / 33,4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178,9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11,5 / 15,2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 điểm % doanh thu – lương tối thiểu vùng tăng 7,2% từ 01/01/2026 (NĐ 293/2025/NĐ-CP); tiền lương là khoản chi phí lớn thứ hai sau chi phí biến đổi.</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Lãi suất: Rf và Kd +1 / −1 điểm % (điều hành lãi suất, tín dụng – Mục 3.1.3)</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18,2 / 27,3</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13,8 / 28,9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17,9 / 25,6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178,9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13,1 / 13,7</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 điểm % cho cả lợi suất phi rủi ro (TPCP 10 năm 4,59% ngày 01/10/2026) và lãi vay (10%, khung cho vay 8,1–10,5%/năm); nhỏ hơn độ lệch chuẩn ~1,6 điểm % của lợi suất TPCP 10 năm 2016–2025.</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Rủi ro quốc gia CRP: +1 / −1 điểm % (xếp hạng Moody's Ba2, triển vọng tích cực – Mục 3.1)</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18,3 / 27,4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13,1 / 30,0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18,9 / 24,6</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178,9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 điểm % CRP 3,9% – Moody's nâng triển vọng Việt Nam lên tích cực (5/2026): nâng hạng làm CRP giảm; ngược lại nếu cú sốc bên ngoài làm chênh lệch lợi suất nới rộng.</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r h="333077">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Ưu đãi thuế NQ 198/2025/QH15 nếu đủ điều kiện (miễn 2026–27, giảm 50% 2028–29 – Mục 3.1.6.2)</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22,4 / 26,0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20,4 / 24,3</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21,7 / 26,8</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178,9</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13,4</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c>
                  <a:txBody>
                    <a:bodyPr/>
                    <a:lstStyle/>
                    <a:p>
                      <a:pPr algn="l" indent="0" marL="0">
                        <a:lnSpc>
                          <a:spcPts val="780"/>
                        </a:lnSpc>
                        <a:buNone/>
                      </a:pPr>
                      <a:r>
                        <a:rPr lang="vi-VN" sz="660" dirty="0">
                          <a:solidFill>
                            <a:srgbClr val="1F1F1F"/>
                          </a:solidFill>
                          <a:latin typeface="Calibri" pitchFamily="34" charset="0"/>
                          <a:ea typeface="Calibri" pitchFamily="34" charset="-122"/>
                          <a:cs typeface="Calibri" pitchFamily="34" charset="-120"/>
                        </a:rPr>
                        <a:t>chỉ có chiều thuận lợi vì mô hình Base chưa đưa ưu đãi vào (chưa chứng minh đủ điều kiện). Chỉ tính ưu đãi đến 2029 để ưu đãi tạm thời không đi vào giá trị cuối kỳ (LNST 2030 chuẩn hóa ở thuế suất 20%).</a:t>
                      </a:r>
                      <a:endParaRPr lang="vi-VN" sz="660" dirty="0">
                        <a:latin typeface="Calibri" charset="0"/>
                        <a:ea typeface="Calibri" charset="0"/>
                        <a:cs typeface="Calibri" charset="0"/>
                      </a:endParaRPr>
                    </a:p>
                  </a:txBody>
                  <a:tcPr marL="28346" marR="28346" marT="13716" marB="13716" anchor="t">
                    <a:lnL w="0" cap="flat" cmpd="sng" algn="ctr">
                      <a:noFill/>
                    </a:lnL>
                    <a:lnR w="0" cap="flat" cmpd="sng" algn="ctr">
                      <a:noFill/>
                    </a:lnR>
                    <a:lnT w="0" cap="flat" cmpd="sng" algn="ctr">
                      <a:noFill/>
                    </a:lnT>
                    <a:lnB w="9525" cap="flat" cmpd="sng" algn="ctr">
                      <a:solidFill>
                        <a:srgbClr val="E3E3E3"/>
                      </a:solidFill>
                      <a:prstDash val="solid"/>
                      <a:round/>
                      <a:headEnd type="none" w="med" len="med"/>
                      <a:tailEnd type="none" w="med" len="med"/>
                    </a:lnB>
                  </a:tcPr>
                </a:tc>
              </a:tr>
            </a:tbl>
          </a:graphicData>
        </a:graphic>
      </p:graphicFrame>
      <p:sp>
        <p:nvSpPr>
          <p:cNvPr id="10" name="Text 7"/>
          <p:cNvSpPr txBox="1"/>
          <p:nvPr/>
        </p:nvSpPr>
        <p:spPr>
          <a:xfrm>
            <a:off x="405408" y="3649266"/>
            <a:ext cx="6803922" cy="109728"/>
          </a:xfrm>
          <a:prstGeom prst="rect">
            <a:avLst/>
          </a:prstGeom>
          <a:noFill/>
          <a:ln/>
        </p:spPr>
        <p:txBody>
          <a:bodyPr wrap="square" lIns="0" tIns="0" rIns="0" bIns="0" rtlCol="0" anchor="t"/>
          <a:lstStyle/>
          <a:p>
            <a:pPr algn="l" indent="0" marL="0">
              <a:lnSpc>
                <a:spcPts val="720"/>
              </a:lnSpc>
              <a:buNone/>
            </a:pPr>
            <a:r>
              <a:rPr lang="vi-VN" sz="600" i="1" dirty="0">
                <a:solidFill>
                  <a:srgbClr val="666666"/>
                </a:solidFill>
                <a:latin typeface="Calibri" pitchFamily="34" charset="0"/>
                <a:ea typeface="Calibri" pitchFamily="34" charset="-122"/>
                <a:cs typeface="Calibri" pitchFamily="34" charset="-120"/>
              </a:rPr>
              <a:t>Nguồn: Chạy lại toàn bộ mô hình cho từng nhân tố (Summary, khối độ nhạy theo nhân tố vĩ mô – ngành; lý do ở cột N cạnh từng dòng)</a:t>
            </a:r>
            <a:endParaRPr lang="vi-VN" sz="600" dirty="0"/>
          </a:p>
        </p:txBody>
      </p:sp>
      <p:sp>
        <p:nvSpPr>
          <p:cNvPr id="11" name="Text 8"/>
          <p:cNvSpPr txBox="1"/>
          <p:nvPr/>
        </p:nvSpPr>
        <p:spPr>
          <a:xfrm>
            <a:off x="405408" y="3826818"/>
            <a:ext cx="6803922"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Ghi chú phương pháp</a:t>
            </a:r>
            <a:endParaRPr lang="vi-VN" sz="900" dirty="0"/>
          </a:p>
        </p:txBody>
      </p:sp>
      <p:sp>
        <p:nvSpPr>
          <p:cNvPr id="12" name="Text 9"/>
          <p:cNvSpPr txBox="1"/>
          <p:nvPr/>
        </p:nvSpPr>
        <p:spPr>
          <a:xfrm>
            <a:off x="394156" y="3996184"/>
            <a:ext cx="6815173" cy="333077"/>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Nội dung.</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Mục 1–3 và Mục 6.1 theo bài của nhóm (TTKN, bản cập nhật 06/10/2026); chỉ đánh số tiêu đề, thêm số Fig., chuyển đường dẫn nguồn xuống Tài liệu tham khảo và sửa một số lỗi dữ kiện, chính tả (văn bản pháp lý ở Mục 1; thị phần SAM F&amp;B ở Mục 2.1 thống nhất 4,3%; số liệu IMARC bị lặp, tên doanh nghiệp, dòng lặp trong bảng sản phẩm thay thế và một số lỗi chính tả ở Mục 3.2). Mục 4, 5, 8 và các phụ lục tính toán được viết từ mô hình. Các bảng số của Mục 2 được đối chiếu lại với BCTC trong mô hình và khớp.</a:t>
            </a:r>
            <a:endParaRPr lang="vi-VN" sz="700" dirty="0"/>
          </a:p>
        </p:txBody>
      </p:sp>
      <p:sp>
        <p:nvSpPr>
          <p:cNvPr id="13" name="Text 10"/>
          <p:cNvSpPr txBox="1"/>
          <p:nvPr/>
        </p:nvSpPr>
        <p:spPr>
          <a:xfrm>
            <a:off x="394156" y="4357985"/>
            <a:ext cx="6815173" cy="222052"/>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Giá trị cuối kỳ và VC Method.</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Giá trị cuối kỳ dùng đúng công thức của file mẫu, FCFF 2031/(WACC − g), với FCFF 2031 chuẩn hóa theo tỷ lệ tái đầu tư g/RONIC và RONIC bằng ROIC năm 2030 của mô hình. VC Method tính tỷ suất lợi nhuận yêu cầu theo công thức giáo trình p = (1 + r)/(1 − z)</a:t>
            </a:r>
            <a:pPr algn="just" indent="0" marL="0">
              <a:lnSpc>
                <a:spcPts val="880"/>
              </a:lnSpc>
              <a:buNone/>
            </a:pPr>
            <a:r>
              <a:rPr lang="vi-VN" sz="490" baseline="30000" dirty="0">
                <a:solidFill>
                  <a:srgbClr val="1F1F1F"/>
                </a:solidFill>
                <a:latin typeface="Calibri" pitchFamily="34" charset="0"/>
                <a:ea typeface="Calibri" pitchFamily="34" charset="-122"/>
                <a:cs typeface="Calibri" pitchFamily="34" charset="-120"/>
              </a:rPr>
              <a:t>1/n</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− 1, với z = 40% theo hướng dẫn của đề bài cho giai đoạn đầu tăng trưởng.</a:t>
            </a:r>
            <a:endParaRPr lang="vi-VN" sz="700" dirty="0"/>
          </a:p>
        </p:txBody>
      </p:sp>
      <p:sp>
        <p:nvSpPr>
          <p:cNvPr id="14" name="Text 11"/>
          <p:cNvSpPr txBox="1"/>
          <p:nvPr/>
        </p:nvSpPr>
        <p:spPr>
          <a:xfrm>
            <a:off x="394156" y="4608761"/>
            <a:ext cx="6815173" cy="222052"/>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Mô hình.</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AgriPack_Model_final.xlsx (dựng trên file mẫu của giảng viên): Drivers → Pro Forma → BCTC 2026–2030 → Discount rate → DCF, VCM, Multiples → Summary. nguồn và lý do của từng giả định ghi ngay ô bên cạnh giả định; sheet Checks xác nhận BCĐKT cân và các liên kết khớp.</a:t>
            </a:r>
            <a:endParaRPr lang="vi-VN" sz="700" dirty="0"/>
          </a:p>
        </p:txBody>
      </p:sp>
      <p:sp>
        <p:nvSpPr>
          <p:cNvPr id="15" name="Text 12"/>
          <p:cNvSpPr txBox="1"/>
          <p:nvPr/>
        </p:nvSpPr>
        <p:spPr>
          <a:xfrm>
            <a:off x="394156" y="4859536"/>
            <a:ext cx="6815173" cy="222052"/>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BCKQKD theo chức năng.</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70% tiền lương và 90% khấu hao vào giá vốn, phần còn lại vào CPBH &amp; QLDN, áp dụng cho cả 2023–2025 để so sánh. EBIT, LNST, dòng tiền và kết quả định giá không đổi so với cách trình bày theo tính chất.</a:t>
            </a:r>
            <a:endParaRPr lang="vi-VN" sz="700" dirty="0"/>
          </a:p>
        </p:txBody>
      </p:sp>
      <p:sp>
        <p:nvSpPr>
          <p:cNvPr id="16" name="Text 13"/>
          <p:cNvSpPr txBox="1"/>
          <p:nvPr/>
        </p:nvSpPr>
        <p:spPr>
          <a:xfrm>
            <a:off x="394156" y="5110311"/>
            <a:ext cx="6815173" cy="222052"/>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Rf.</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Lợi suất TPCP kỳ hạn 10 năm ngày 01/10/2026 = 4,588% (Discount rate, ô B12); bình quân 2016–2025 là 3,92% (Fig. A12), chỉ dùng để đối chiếu. Phần bù rủi ro quốc gia 3,9% là ước tính theo phương pháp Damodaran cho hạng Ba2.</a:t>
            </a:r>
            <a:endParaRPr lang="vi-VN" sz="700" dirty="0"/>
          </a:p>
        </p:txBody>
      </p:sp>
      <p:sp>
        <p:nvSpPr>
          <p:cNvPr id="17" name="Text 14"/>
          <p:cNvSpPr txBox="1"/>
          <p:nvPr/>
        </p:nvSpPr>
        <p:spPr>
          <a:xfrm>
            <a:off x="394156" y="5361087"/>
            <a:ext cx="6815173" cy="222052"/>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Độ nhạy theo nhân tố.</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Mỗi nhân tố vĩ mô – ngành được đổi một mình trên kịch bản cơ sở và toàn bộ mô hình được tính lại (Fig. 38, Fig. A15); kết quả lưu dạng giá trị chụp ở Summary, lý do biên độ ghi ở ô bên cạnh.</a:t>
            </a:r>
            <a:endParaRPr lang="vi-VN" sz="700" dirty="0"/>
          </a:p>
        </p:txBody>
      </p:sp>
      <p:sp>
        <p:nvSpPr>
          <p:cNvPr id="18" name="Text 15"/>
          <p:cNvSpPr txBox="1"/>
          <p:nvPr/>
        </p:nvSpPr>
        <p:spPr>
          <a:xfrm>
            <a:off x="394156" y="5611862"/>
            <a:ext cx="6815173" cy="222052"/>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Năm đầu tư lớn.</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Theo đề bài (đã thống nhất với giảng viên), đợt đầu tư lớn với CAPEX bằng 65% doanh thu diễn ra năm 2028; nhà máy mới vận hành từ năm 2029. Năm này được đặt ở một ô duy nhất (Drivers!C156); CAPEX, khoản vay trung hạn, chi phí cố định của nhà máy mới, tiền thuê và lịch trả nợ đều tham chiếu ô này.</a:t>
            </a:r>
            <a:endParaRPr lang="vi-VN" sz="700" dirty="0"/>
          </a:p>
        </p:txBody>
      </p:sp>
      <p:sp>
        <p:nvSpPr>
          <p:cNvPr id="19" name="Text 16"/>
          <p:cNvSpPr txBox="1"/>
          <p:nvPr/>
        </p:nvSpPr>
        <p:spPr>
          <a:xfrm>
            <a:off x="394156" y="5862638"/>
            <a:ext cx="6815173" cy="222052"/>
          </a:xfrm>
          <a:prstGeom prst="rect">
            <a:avLst/>
          </a:prstGeom>
          <a:noFill/>
          <a:ln/>
        </p:spPr>
        <p:txBody>
          <a:bodyPr wrap="square" lIns="0" tIns="0" rIns="0" bIns="0" rtlCol="0" anchor="t"/>
          <a:lstStyle/>
          <a:p>
            <a:pPr algn="just" marL="137160" indent="-137160">
              <a:lnSpc>
                <a:spcPts val="880"/>
              </a:lnSpc>
              <a:buSzPct val="100000"/>
              <a:buChar char="•"/>
            </a:pPr>
            <a:r>
              <a:rPr lang="vi-VN" sz="700" b="1" dirty="0">
                <a:solidFill>
                  <a:srgbClr val="1F1F1F"/>
                </a:solidFill>
                <a:latin typeface="Calibri" pitchFamily="34" charset="0"/>
                <a:ea typeface="Calibri" pitchFamily="34" charset="-122"/>
                <a:cs typeface="Calibri" pitchFamily="34" charset="-120"/>
              </a:rPr>
              <a:t>Quy ước.</a:t>
            </a:r>
            <a:pPr algn="just" indent="0" marL="0">
              <a:lnSpc>
                <a:spcPts val="880"/>
              </a:lnSpc>
              <a:buNone/>
            </a:pPr>
            <a:r>
              <a:rPr lang="vi-VN" sz="700" dirty="0">
                <a:solidFill>
                  <a:srgbClr val="1F1F1F"/>
                </a:solidFill>
                <a:latin typeface="Calibri" pitchFamily="34" charset="0"/>
                <a:ea typeface="Calibri" pitchFamily="34" charset="-122"/>
                <a:cs typeface="Calibri" pitchFamily="34" charset="-120"/>
              </a:rPr>
              <a:t> Tỷ đồng (bảng của nhóm ở Mục 2: nghìn đồng); t0 = 01/01/2026; chiết khấu cuối năm; A = thực tế, E = dự phóng (cột tô nền). FCFF = EBIT(1 − t) + khấu hao − ΔVLĐ − CAPEX. ROE, ROA, vòng quay tài sản tính trên số dư bình quân.</a:t>
            </a:r>
            <a:endParaRPr lang="vi-VN" sz="700" dirty="0"/>
          </a:p>
        </p:txBody>
      </p:sp>
      <p:sp>
        <p:nvSpPr>
          <p:cNvPr id="20" name="Text 17"/>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21" name="Text 18"/>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23</a:t>
            </a:r>
            <a:endParaRPr lang="vi-VN" sz="6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05408" y="471785"/>
            <a:ext cx="6749058" cy="0"/>
          </a:xfrm>
          <a:prstGeom prst="line">
            <a:avLst/>
          </a:prstGeom>
          <a:noFill/>
          <a:ln w="9525">
            <a:solidFill>
              <a:srgbClr val="7B1E2B"/>
            </a:solidFill>
            <a:prstDash val="solid"/>
          </a:ln>
        </p:spPr>
      </p:sp>
      <p:sp>
        <p:nvSpPr>
          <p:cNvPr id="3" name="Shape 1"/>
          <p:cNvSpPr/>
          <p:nvPr/>
        </p:nvSpPr>
        <p:spPr>
          <a:xfrm>
            <a:off x="405408" y="10364688"/>
            <a:ext cx="6749058" cy="0"/>
          </a:xfrm>
          <a:prstGeom prst="line">
            <a:avLst/>
          </a:prstGeom>
          <a:noFill/>
          <a:ln w="9525">
            <a:solidFill>
              <a:srgbClr val="BFBFBF"/>
            </a:solidFill>
            <a:prstDash val="solid"/>
          </a:ln>
        </p:spPr>
      </p:sp>
      <p:sp>
        <p:nvSpPr>
          <p:cNvPr id="4" name="Text 2"/>
          <p:cNvSpPr txBox="1"/>
          <p:nvPr/>
        </p:nvSpPr>
        <p:spPr>
          <a:xfrm>
            <a:off x="405408" y="315516"/>
            <a:ext cx="1709089" cy="114449"/>
          </a:xfrm>
          <a:prstGeom prst="rect">
            <a:avLst/>
          </a:prstGeom>
          <a:noFill/>
          <a:ln/>
        </p:spPr>
        <p:txBody>
          <a:bodyPr wrap="square" lIns="0" tIns="0" rIns="0" bIns="0" rtlCol="0" anchor="t"/>
          <a:lstStyle/>
          <a:p>
            <a:pPr algn="l" indent="0" marL="0">
              <a:lnSpc>
                <a:spcPts val="830"/>
              </a:lnSpc>
              <a:buNone/>
            </a:pPr>
            <a:r>
              <a:rPr lang="vi-VN" sz="740" b="1" spc="40" kern="0" dirty="0">
                <a:solidFill>
                  <a:srgbClr val="7B1E2B"/>
                </a:solidFill>
                <a:latin typeface="Calibri" pitchFamily="34" charset="0"/>
                <a:ea typeface="Calibri" pitchFamily="34" charset="-122"/>
                <a:cs typeface="Calibri" pitchFamily="34" charset="-120"/>
              </a:rPr>
              <a:t>AGRIPACK</a:t>
            </a:r>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 | Phân tích, dự phóng và định giá</a:t>
            </a:r>
            <a:endParaRPr lang="vi-VN" sz="680" dirty="0"/>
          </a:p>
        </p:txBody>
      </p:sp>
      <p:sp>
        <p:nvSpPr>
          <p:cNvPr id="5" name="Text 3"/>
          <p:cNvSpPr txBox="1"/>
          <p:nvPr/>
        </p:nvSpPr>
        <p:spPr>
          <a:xfrm>
            <a:off x="6056412" y="324743"/>
            <a:ext cx="1152918" cy="109728"/>
          </a:xfrm>
          <a:prstGeom prst="rect">
            <a:avLst/>
          </a:prstGeom>
          <a:noFill/>
          <a:ln/>
        </p:spPr>
        <p:txBody>
          <a:bodyPr wrap="square" lIns="0" tIns="0" rIns="0" bIns="0" rtlCol="0" anchor="t"/>
          <a:lstStyle/>
          <a:p>
            <a:pPr algn="l" indent="0" marL="0">
              <a:lnSpc>
                <a:spcPts val="830"/>
              </a:lnSpc>
              <a:buNone/>
            </a:pPr>
            <a:r>
              <a:rPr lang="vi-VN" sz="680" dirty="0">
                <a:solidFill>
                  <a:srgbClr val="666666"/>
                </a:solidFill>
                <a:latin typeface="Calibri" pitchFamily="34" charset="0"/>
                <a:ea typeface="Calibri" pitchFamily="34" charset="-122"/>
                <a:cs typeface="Calibri" pitchFamily="34" charset="-120"/>
              </a:rPr>
              <a:t>Báo cáo phân tích · 07/10/2026</a:t>
            </a:r>
            <a:endParaRPr lang="vi-VN" sz="680" dirty="0"/>
          </a:p>
        </p:txBody>
      </p:sp>
      <p:sp>
        <p:nvSpPr>
          <p:cNvPr id="6" name="Text 4"/>
          <p:cNvSpPr txBox="1"/>
          <p:nvPr/>
        </p:nvSpPr>
        <p:spPr>
          <a:xfrm>
            <a:off x="405408" y="572393"/>
            <a:ext cx="6803922" cy="137071"/>
          </a:xfrm>
          <a:prstGeom prst="rect">
            <a:avLst/>
          </a:prstGeom>
          <a:noFill/>
          <a:ln/>
        </p:spPr>
        <p:txBody>
          <a:bodyPr wrap="square" lIns="0" tIns="0" rIns="0" bIns="0" rtlCol="0" anchor="t"/>
          <a:lstStyle/>
          <a:p>
            <a:pPr algn="l" indent="0" marL="0">
              <a:lnSpc>
                <a:spcPts val="1080"/>
              </a:lnSpc>
              <a:buNone/>
            </a:pPr>
            <a:r>
              <a:rPr lang="vi-VN" sz="900" b="1" dirty="0">
                <a:solidFill>
                  <a:srgbClr val="7B1E2B"/>
                </a:solidFill>
                <a:latin typeface="Calibri" pitchFamily="34" charset="0"/>
                <a:ea typeface="Calibri" pitchFamily="34" charset="-122"/>
                <a:cs typeface="Calibri" pitchFamily="34" charset="-120"/>
              </a:rPr>
              <a:t>Tài liệu tham khảo (APA 7)</a:t>
            </a:r>
            <a:endParaRPr lang="vi-VN" sz="900" dirty="0"/>
          </a:p>
        </p:txBody>
      </p:sp>
      <p:sp>
        <p:nvSpPr>
          <p:cNvPr id="7" name="Text 5"/>
          <p:cNvSpPr txBox="1"/>
          <p:nvPr/>
        </p:nvSpPr>
        <p:spPr>
          <a:xfrm>
            <a:off x="419308" y="741759"/>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
            </a:pPr>
            <a:r>
              <a:rPr lang="vi-VN" sz="630" dirty="0">
                <a:solidFill>
                  <a:srgbClr val="1F1F1F"/>
                </a:solidFill>
                <a:latin typeface="Calibri" pitchFamily="34" charset="0"/>
                <a:ea typeface="Calibri" pitchFamily="34" charset="-122"/>
                <a:cs typeface="Calibri" pitchFamily="34" charset="-120"/>
              </a:rPr>
              <a:t>Asian Development Bank. (2023).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AsianBondsOnline: Viet Nam government bond yields, December 2022</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[Cơ sở dữ liệu].</a:t>
            </a:r>
            <a:endParaRPr lang="vi-VN" sz="630" dirty="0"/>
          </a:p>
        </p:txBody>
      </p:sp>
      <p:sp>
        <p:nvSpPr>
          <p:cNvPr id="8" name="Text 6"/>
          <p:cNvSpPr txBox="1"/>
          <p:nvPr/>
        </p:nvSpPr>
        <p:spPr>
          <a:xfrm>
            <a:off x="419308" y="953095"/>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
            </a:pPr>
            <a:r>
              <a:rPr lang="vi-VN" sz="630" dirty="0">
                <a:solidFill>
                  <a:srgbClr val="1F1F1F"/>
                </a:solidFill>
                <a:latin typeface="Calibri" pitchFamily="34" charset="0"/>
                <a:ea typeface="Calibri" pitchFamily="34" charset="-122"/>
                <a:cs typeface="Calibri" pitchFamily="34" charset="-120"/>
              </a:rPr>
              <a:t>BCG, National Innovation Center, &amp; Vietnam Private Capital Agency.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Vietnam innovation and private capital report 2026</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https://www.vpca.vn/insights/vietnam-innovation-private-capital-report-2026</a:t>
            </a:r>
            <a:endParaRPr lang="vi-VN" sz="630" dirty="0"/>
          </a:p>
        </p:txBody>
      </p:sp>
      <p:sp>
        <p:nvSpPr>
          <p:cNvPr id="9" name="Text 7"/>
          <p:cNvSpPr txBox="1"/>
          <p:nvPr/>
        </p:nvSpPr>
        <p:spPr>
          <a:xfrm>
            <a:off x="419308" y="1262063"/>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
            </a:pPr>
            <a:r>
              <a:rPr lang="vi-VN" sz="630" dirty="0">
                <a:solidFill>
                  <a:srgbClr val="1F1F1F"/>
                </a:solidFill>
                <a:latin typeface="Calibri" pitchFamily="34" charset="0"/>
                <a:ea typeface="Calibri" pitchFamily="34" charset="-122"/>
                <a:cs typeface="Calibri" pitchFamily="34" charset="-120"/>
              </a:rPr>
              <a:t>Berkus, D. (2016).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After 20 years: Updating the Berkus method of valuation</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Berkonomics.</a:t>
            </a:r>
            <a:endParaRPr lang="vi-VN" sz="630" dirty="0"/>
          </a:p>
        </p:txBody>
      </p:sp>
      <p:sp>
        <p:nvSpPr>
          <p:cNvPr id="10" name="Text 8"/>
          <p:cNvSpPr txBox="1"/>
          <p:nvPr/>
        </p:nvSpPr>
        <p:spPr>
          <a:xfrm>
            <a:off x="419308" y="1375767"/>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
            </a:pPr>
            <a:r>
              <a:rPr lang="vi-VN" sz="630" dirty="0">
                <a:solidFill>
                  <a:srgbClr val="1F1F1F"/>
                </a:solidFill>
                <a:latin typeface="Calibri" pitchFamily="34" charset="0"/>
                <a:ea typeface="Calibri" pitchFamily="34" charset="-122"/>
                <a:cs typeface="Calibri" pitchFamily="34" charset="-120"/>
              </a:rPr>
              <a:t>Báo Sài Gòn Giải Phóng. (2025). Chậm "xanh hóa", doanh nghiệp in – bao bì đối mặt sức ép giữ đơn hàng.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SGGP</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11" name="Text 9"/>
          <p:cNvSpPr txBox="1"/>
          <p:nvPr/>
        </p:nvSpPr>
        <p:spPr>
          <a:xfrm>
            <a:off x="419308" y="1587103"/>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
            </a:pPr>
            <a:r>
              <a:rPr lang="vi-VN" sz="630" dirty="0">
                <a:solidFill>
                  <a:srgbClr val="1F1F1F"/>
                </a:solidFill>
                <a:latin typeface="Calibri" pitchFamily="34" charset="0"/>
                <a:ea typeface="Calibri" pitchFamily="34" charset="-122"/>
                <a:cs typeface="Calibri" pitchFamily="34" charset="-120"/>
              </a:rPr>
              <a:t>Bộ Công Thương. (2025).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Quyết định số 1279/QĐ-BCT quy định về giá bán điện</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(hiệu lực 10/5/2025).</a:t>
            </a:r>
            <a:endParaRPr lang="vi-VN" sz="630" dirty="0"/>
          </a:p>
        </p:txBody>
      </p:sp>
      <p:sp>
        <p:nvSpPr>
          <p:cNvPr id="12" name="Text 10"/>
          <p:cNvSpPr txBox="1"/>
          <p:nvPr/>
        </p:nvSpPr>
        <p:spPr>
          <a:xfrm>
            <a:off x="419308" y="1798439"/>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6"/>
            </a:pPr>
            <a:r>
              <a:rPr lang="vi-VN" sz="630" dirty="0">
                <a:solidFill>
                  <a:srgbClr val="1F1F1F"/>
                </a:solidFill>
                <a:latin typeface="Calibri" pitchFamily="34" charset="0"/>
                <a:ea typeface="Calibri" pitchFamily="34" charset="-122"/>
                <a:cs typeface="Calibri" pitchFamily="34" charset="-120"/>
              </a:rPr>
              <a:t>Bộ Y tế.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Thông tư số 27/2026/TT-BYT ban hành danh mục thực phẩm, dụng cụ chứa đựng thực phẩm, vật liệu bao gói tiếp xúc trực tiếp với thực phẩm có mức độ rủi ro trung bình thuộc trách nhiệm quản lý của Bộ Y tế</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https://chinhphu.vn/?pageid=27160&amp;docid=216867</a:t>
            </a:r>
            <a:endParaRPr lang="vi-VN" sz="630" dirty="0"/>
          </a:p>
        </p:txBody>
      </p:sp>
      <p:sp>
        <p:nvSpPr>
          <p:cNvPr id="13" name="Text 11"/>
          <p:cNvSpPr txBox="1"/>
          <p:nvPr/>
        </p:nvSpPr>
        <p:spPr>
          <a:xfrm>
            <a:off x="419308" y="2107406"/>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7"/>
            </a:pPr>
            <a:r>
              <a:rPr lang="vi-VN" sz="630" dirty="0">
                <a:solidFill>
                  <a:srgbClr val="1F1F1F"/>
                </a:solidFill>
                <a:latin typeface="Calibri" pitchFamily="34" charset="0"/>
                <a:ea typeface="Calibri" pitchFamily="34" charset="-122"/>
                <a:cs typeface="Calibri" pitchFamily="34" charset="-120"/>
              </a:rPr>
              <a:t>CEIC Data. (2018).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Vietnam government bond yield: Spot: 10 years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[Dữ liệu HNX].</a:t>
            </a:r>
            <a:endParaRPr lang="vi-VN" sz="630" dirty="0"/>
          </a:p>
        </p:txBody>
      </p:sp>
      <p:sp>
        <p:nvSpPr>
          <p:cNvPr id="14" name="Text 12"/>
          <p:cNvSpPr txBox="1"/>
          <p:nvPr/>
        </p:nvSpPr>
        <p:spPr>
          <a:xfrm>
            <a:off x="419308" y="2221111"/>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8"/>
            </a:pPr>
            <a:r>
              <a:rPr lang="vi-VN" sz="630" dirty="0">
                <a:solidFill>
                  <a:srgbClr val="1F1F1F"/>
                </a:solidFill>
                <a:latin typeface="Calibri" pitchFamily="34" charset="0"/>
                <a:ea typeface="Calibri" pitchFamily="34" charset="-122"/>
                <a:cs typeface="Calibri" pitchFamily="34" charset="-120"/>
              </a:rPr>
              <a:t>Chính phủ. (2022).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Nghị định số 08/2022/NĐ-CP quy định chi tiết một số điều của Luật Bảo vệ môi trường</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(Điều 64: lộ trình hạn chế sản phẩm nhựa dùng một lần, bao bì nhựa khó phân hủy sinh học).</a:t>
            </a:r>
            <a:endParaRPr lang="vi-VN" sz="630" dirty="0"/>
          </a:p>
        </p:txBody>
      </p:sp>
      <p:sp>
        <p:nvSpPr>
          <p:cNvPr id="15" name="Text 13"/>
          <p:cNvSpPr txBox="1"/>
          <p:nvPr/>
        </p:nvSpPr>
        <p:spPr>
          <a:xfrm>
            <a:off x="419308" y="2530078"/>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9"/>
            </a:pPr>
            <a:r>
              <a:rPr lang="vi-VN" sz="630" dirty="0">
                <a:solidFill>
                  <a:srgbClr val="1F1F1F"/>
                </a:solidFill>
                <a:latin typeface="Calibri" pitchFamily="34" charset="0"/>
                <a:ea typeface="Calibri" pitchFamily="34" charset="-122"/>
                <a:cs typeface="Calibri" pitchFamily="34" charset="-120"/>
              </a:rPr>
              <a:t>Chính phủ. (2025).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Nghị định số 293/2025/NĐ-CP quy định mức lương tối thiểu đối với người lao động làm việc theo hợp đồng lao động</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16" name="Text 14"/>
          <p:cNvSpPr txBox="1"/>
          <p:nvPr/>
        </p:nvSpPr>
        <p:spPr>
          <a:xfrm>
            <a:off x="419308" y="2741414"/>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0"/>
            </a:pPr>
            <a:r>
              <a:rPr lang="vi-VN" sz="630" dirty="0">
                <a:solidFill>
                  <a:srgbClr val="1F1F1F"/>
                </a:solidFill>
                <a:latin typeface="Calibri" pitchFamily="34" charset="0"/>
                <a:ea typeface="Calibri" pitchFamily="34" charset="-122"/>
                <a:cs typeface="Calibri" pitchFamily="34" charset="-120"/>
              </a:rPr>
              <a:t>Chính phủ. (2026a).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Nghị định số 48/2026/NĐ-CP sửa đổi, bổ sung một số điều của các nghị định quy định chi tiết Luật Bảo vệ môi trường</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17" name="Text 15"/>
          <p:cNvSpPr txBox="1"/>
          <p:nvPr/>
        </p:nvSpPr>
        <p:spPr>
          <a:xfrm>
            <a:off x="419308" y="2952750"/>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1"/>
            </a:pPr>
            <a:r>
              <a:rPr lang="vi-VN" sz="630" dirty="0">
                <a:solidFill>
                  <a:srgbClr val="1F1F1F"/>
                </a:solidFill>
                <a:latin typeface="Calibri" pitchFamily="34" charset="0"/>
                <a:ea typeface="Calibri" pitchFamily="34" charset="-122"/>
                <a:cs typeface="Calibri" pitchFamily="34" charset="-120"/>
              </a:rPr>
              <a:t>Chính phủ. (2026b).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Nghị định số 110/2026/NĐ-CP quy định trách nhiệm tái chế, xử lý chất thải của tổ chức, cá nhân sản xuất, nhập khẩu</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18" name="Text 16"/>
          <p:cNvSpPr txBox="1"/>
          <p:nvPr/>
        </p:nvSpPr>
        <p:spPr>
          <a:xfrm>
            <a:off x="419308" y="3164086"/>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2"/>
            </a:pPr>
            <a:r>
              <a:rPr lang="vi-VN" sz="630" dirty="0">
                <a:solidFill>
                  <a:srgbClr val="1F1F1F"/>
                </a:solidFill>
                <a:latin typeface="Calibri" pitchFamily="34" charset="0"/>
                <a:ea typeface="Calibri" pitchFamily="34" charset="-122"/>
                <a:cs typeface="Calibri" pitchFamily="34" charset="-120"/>
              </a:rPr>
              <a:t>Cleverence. (2026). Typical gross margin by industry [Bài viết của Taylor]. https://www.cleverence.com/articles/for-business/typical-gross-margin-by-industry-4827/</a:t>
            </a:r>
            <a:endParaRPr lang="vi-VN" sz="630" dirty="0"/>
          </a:p>
        </p:txBody>
      </p:sp>
      <p:sp>
        <p:nvSpPr>
          <p:cNvPr id="19" name="Text 17"/>
          <p:cNvSpPr txBox="1"/>
          <p:nvPr/>
        </p:nvSpPr>
        <p:spPr>
          <a:xfrm>
            <a:off x="419308" y="3375422"/>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3"/>
            </a:pPr>
            <a:r>
              <a:rPr lang="vi-VN" sz="630" dirty="0">
                <a:solidFill>
                  <a:srgbClr val="1F1F1F"/>
                </a:solidFill>
                <a:latin typeface="Calibri" pitchFamily="34" charset="0"/>
                <a:ea typeface="Calibri" pitchFamily="34" charset="-122"/>
                <a:cs typeface="Calibri" pitchFamily="34" charset="-120"/>
              </a:rPr>
              <a:t>Cục Thống kê. (2026a). Động lực tăng trưởng kinh tế Việt Nam trong quý II và 6 tháng đầu năm 2026. https://www.nso.gov.vn/du-lieu-va-so-lieu-thong-ke/2026/07/</a:t>
            </a:r>
            <a:endParaRPr lang="vi-VN" sz="630" dirty="0"/>
          </a:p>
        </p:txBody>
      </p:sp>
      <p:sp>
        <p:nvSpPr>
          <p:cNvPr id="20" name="Text 18"/>
          <p:cNvSpPr txBox="1"/>
          <p:nvPr/>
        </p:nvSpPr>
        <p:spPr>
          <a:xfrm>
            <a:off x="419308" y="3586758"/>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4"/>
            </a:pPr>
            <a:r>
              <a:rPr lang="vi-VN" sz="630" dirty="0">
                <a:solidFill>
                  <a:srgbClr val="1F1F1F"/>
                </a:solidFill>
                <a:latin typeface="Calibri" pitchFamily="34" charset="0"/>
                <a:ea typeface="Calibri" pitchFamily="34" charset="-122"/>
                <a:cs typeface="Calibri" pitchFamily="34" charset="-120"/>
              </a:rPr>
              <a:t>Cục Thống kê. (2026b).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Tình hình kinh tế – xã hội tháng 8 và 8 tháng năm 2026</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21" name="Text 19"/>
          <p:cNvSpPr txBox="1"/>
          <p:nvPr/>
        </p:nvSpPr>
        <p:spPr>
          <a:xfrm>
            <a:off x="419308" y="3700463"/>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5"/>
            </a:pPr>
            <a:r>
              <a:rPr lang="vi-VN" sz="630" dirty="0">
                <a:solidFill>
                  <a:srgbClr val="1F1F1F"/>
                </a:solidFill>
                <a:latin typeface="Calibri" pitchFamily="34" charset="0"/>
                <a:ea typeface="Calibri" pitchFamily="34" charset="-122"/>
                <a:cs typeface="Calibri" pitchFamily="34" charset="-120"/>
              </a:rPr>
              <a:t>Damodaran, A. (2009).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Valuing young, start-up and growth companies: Estimation issues and valuation challenges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Stern School of Business, New York University.</a:t>
            </a:r>
            <a:endParaRPr lang="vi-VN" sz="630" dirty="0"/>
          </a:p>
        </p:txBody>
      </p:sp>
      <p:sp>
        <p:nvSpPr>
          <p:cNvPr id="22" name="Text 20"/>
          <p:cNvSpPr txBox="1"/>
          <p:nvPr/>
        </p:nvSpPr>
        <p:spPr>
          <a:xfrm>
            <a:off x="419308" y="3911798"/>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6"/>
            </a:pPr>
            <a:r>
              <a:rPr lang="vi-VN" sz="630" dirty="0">
                <a:solidFill>
                  <a:srgbClr val="1F1F1F"/>
                </a:solidFill>
                <a:latin typeface="Calibri" pitchFamily="34" charset="0"/>
                <a:ea typeface="Calibri" pitchFamily="34" charset="-122"/>
                <a:cs typeface="Calibri" pitchFamily="34" charset="-120"/>
              </a:rPr>
              <a:t>Damodaran, A. (2026a).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Betas by sector (US); Equity risk premiums; Country default spreads and risk premiums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[Bộ dữ liệu, cập nhật 01/2026 và 07/2026]. https://pages.stern.nyu.edu/~adamodar/</a:t>
            </a:r>
            <a:endParaRPr lang="vi-VN" sz="630" dirty="0"/>
          </a:p>
        </p:txBody>
      </p:sp>
      <p:sp>
        <p:nvSpPr>
          <p:cNvPr id="23" name="Text 21"/>
          <p:cNvSpPr txBox="1"/>
          <p:nvPr/>
        </p:nvSpPr>
        <p:spPr>
          <a:xfrm>
            <a:off x="419308" y="4220766"/>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7"/>
            </a:pPr>
            <a:r>
              <a:rPr lang="vi-VN" sz="630" dirty="0">
                <a:solidFill>
                  <a:srgbClr val="1F1F1F"/>
                </a:solidFill>
                <a:latin typeface="Calibri" pitchFamily="34" charset="0"/>
                <a:ea typeface="Calibri" pitchFamily="34" charset="-122"/>
                <a:cs typeface="Calibri" pitchFamily="34" charset="-120"/>
              </a:rPr>
              <a:t>Damodaran, A. (2026b).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The fundamental determinants of growth</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Stern School of Business, New York University. https://pages.stern.nyu.edu/adamodar/New_Home_Page/littlebook/growthvaluedrivers.htm</a:t>
            </a:r>
            <a:endParaRPr lang="vi-VN" sz="630" dirty="0"/>
          </a:p>
        </p:txBody>
      </p:sp>
      <p:sp>
        <p:nvSpPr>
          <p:cNvPr id="24" name="Text 22"/>
          <p:cNvSpPr txBox="1"/>
          <p:nvPr/>
        </p:nvSpPr>
        <p:spPr>
          <a:xfrm>
            <a:off x="419308" y="4529733"/>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8"/>
            </a:pPr>
            <a:r>
              <a:rPr lang="vi-VN" sz="630" dirty="0">
                <a:solidFill>
                  <a:srgbClr val="1F1F1F"/>
                </a:solidFill>
                <a:latin typeface="Calibri" pitchFamily="34" charset="0"/>
                <a:ea typeface="Calibri" pitchFamily="34" charset="-122"/>
                <a:cs typeface="Calibri" pitchFamily="34" charset="-120"/>
              </a:rPr>
              <a:t>ecoeshop.com.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Bảng giá hộp bã mía nhập khẩu Thái Lan, Trung Quốc</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[Trang bán hàng].</a:t>
            </a:r>
            <a:endParaRPr lang="vi-VN" sz="630" dirty="0"/>
          </a:p>
        </p:txBody>
      </p:sp>
      <p:sp>
        <p:nvSpPr>
          <p:cNvPr id="25" name="Text 23"/>
          <p:cNvSpPr txBox="1"/>
          <p:nvPr/>
        </p:nvSpPr>
        <p:spPr>
          <a:xfrm>
            <a:off x="419308" y="4643438"/>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19"/>
            </a:pPr>
            <a:r>
              <a:rPr lang="vi-VN" sz="630" dirty="0">
                <a:solidFill>
                  <a:srgbClr val="1F1F1F"/>
                </a:solidFill>
                <a:latin typeface="Calibri" pitchFamily="34" charset="0"/>
                <a:ea typeface="Calibri" pitchFamily="34" charset="-122"/>
                <a:cs typeface="Calibri" pitchFamily="34" charset="-120"/>
              </a:rPr>
              <a:t>FiinGroup.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FiinX: báo cáo tài chính, bội số định giá của doanh nghiệp bao bì niêm yết; thống kê ngành Containers &amp; Packaging</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[Cơ sở dữ liệu, truy xuất 28–30/9/2026].</a:t>
            </a:r>
            <a:endParaRPr lang="vi-VN" sz="630" dirty="0"/>
          </a:p>
        </p:txBody>
      </p:sp>
      <p:sp>
        <p:nvSpPr>
          <p:cNvPr id="26" name="Text 24"/>
          <p:cNvSpPr txBox="1"/>
          <p:nvPr/>
        </p:nvSpPr>
        <p:spPr>
          <a:xfrm>
            <a:off x="419308" y="4854773"/>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0"/>
            </a:pPr>
            <a:r>
              <a:rPr lang="vi-VN" sz="630" dirty="0">
                <a:solidFill>
                  <a:srgbClr val="1F1F1F"/>
                </a:solidFill>
                <a:latin typeface="Calibri" pitchFamily="34" charset="0"/>
                <a:ea typeface="Calibri" pitchFamily="34" charset="-122"/>
                <a:cs typeface="Calibri" pitchFamily="34" charset="-120"/>
              </a:rPr>
              <a:t>Hiệp hội Bao bì. (2025). Xu hướng bao bì bền vững; Xu hướng sử dụng vật liệu xanh. https://www.hhbb.vn/</a:t>
            </a:r>
            <a:endParaRPr lang="vi-VN" sz="630" dirty="0"/>
          </a:p>
        </p:txBody>
      </p:sp>
      <p:sp>
        <p:nvSpPr>
          <p:cNvPr id="27" name="Text 25"/>
          <p:cNvSpPr txBox="1"/>
          <p:nvPr/>
        </p:nvSpPr>
        <p:spPr>
          <a:xfrm>
            <a:off x="419308" y="5066109"/>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1"/>
            </a:pPr>
            <a:r>
              <a:rPr lang="vi-VN" sz="630" dirty="0">
                <a:solidFill>
                  <a:srgbClr val="1F1F1F"/>
                </a:solidFill>
                <a:latin typeface="Calibri" pitchFamily="34" charset="0"/>
                <a:ea typeface="Calibri" pitchFamily="34" charset="-122"/>
                <a:cs typeface="Calibri" pitchFamily="34" charset="-120"/>
              </a:rPr>
              <a:t>In bao bì Đà Nẵng. (2025). Ngành công nghiệp in ấn. https://inbaobidanang.com/in-bao-bi/nganh-cong-nghiep-in-an/</a:t>
            </a:r>
            <a:endParaRPr lang="vi-VN" sz="630" dirty="0"/>
          </a:p>
        </p:txBody>
      </p:sp>
      <p:sp>
        <p:nvSpPr>
          <p:cNvPr id="28" name="Text 26"/>
          <p:cNvSpPr txBox="1"/>
          <p:nvPr/>
        </p:nvSpPr>
        <p:spPr>
          <a:xfrm>
            <a:off x="419308" y="5277445"/>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2"/>
            </a:pPr>
            <a:r>
              <a:rPr lang="vi-VN" sz="630" dirty="0">
                <a:solidFill>
                  <a:srgbClr val="1F1F1F"/>
                </a:solidFill>
                <a:latin typeface="Calibri" pitchFamily="34" charset="0"/>
                <a:ea typeface="Calibri" pitchFamily="34" charset="-122"/>
                <a:cs typeface="Calibri" pitchFamily="34" charset="-120"/>
              </a:rPr>
              <a:t>Bao bì Minh Khang. (2025). Bao bì sinh học. https://baobiminhkhang.com.vn/tin-tuc/bao-bi-sinh-hoc.html</a:t>
            </a:r>
            <a:endParaRPr lang="vi-VN" sz="630" dirty="0"/>
          </a:p>
        </p:txBody>
      </p:sp>
      <p:sp>
        <p:nvSpPr>
          <p:cNvPr id="29" name="Text 27"/>
          <p:cNvSpPr txBox="1"/>
          <p:nvPr/>
        </p:nvSpPr>
        <p:spPr>
          <a:xfrm>
            <a:off x="419308" y="5488781"/>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3"/>
            </a:pPr>
            <a:r>
              <a:rPr lang="vi-VN" sz="630" dirty="0">
                <a:solidFill>
                  <a:srgbClr val="1F1F1F"/>
                </a:solidFill>
                <a:latin typeface="Calibri" pitchFamily="34" charset="0"/>
                <a:ea typeface="Calibri" pitchFamily="34" charset="-122"/>
                <a:cs typeface="Calibri" pitchFamily="34" charset="-120"/>
              </a:rPr>
              <a:t>HTAECO.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Sản phẩm ép khuôn theo mẫu từ bã mía và tre</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[Trang giới thiệu sản phẩm]. HTAECO.com.</a:t>
            </a:r>
            <a:endParaRPr lang="vi-VN" sz="630" dirty="0"/>
          </a:p>
        </p:txBody>
      </p:sp>
      <p:sp>
        <p:nvSpPr>
          <p:cNvPr id="30" name="Text 28"/>
          <p:cNvSpPr txBox="1"/>
          <p:nvPr/>
        </p:nvSpPr>
        <p:spPr>
          <a:xfrm>
            <a:off x="419308" y="5700117"/>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4"/>
            </a:pPr>
            <a:r>
              <a:rPr lang="vi-VN" sz="630" dirty="0">
                <a:solidFill>
                  <a:srgbClr val="1F1F1F"/>
                </a:solidFill>
                <a:latin typeface="Calibri" pitchFamily="34" charset="0"/>
                <a:ea typeface="Calibri" pitchFamily="34" charset="-122"/>
                <a:cs typeface="Calibri" pitchFamily="34" charset="-120"/>
              </a:rPr>
              <a:t>IMARC Group. (2025).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Vietnam green packaging market: Industry trends, share, size, growth, opportunity and forecast 2026–2034</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https://www.imarcgroup.com/vietnam-green-packaging-market</a:t>
            </a:r>
            <a:endParaRPr lang="vi-VN" sz="630" dirty="0"/>
          </a:p>
        </p:txBody>
      </p:sp>
      <p:sp>
        <p:nvSpPr>
          <p:cNvPr id="31" name="Text 29"/>
          <p:cNvSpPr txBox="1"/>
          <p:nvPr/>
        </p:nvSpPr>
        <p:spPr>
          <a:xfrm>
            <a:off x="419308" y="6009084"/>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5"/>
            </a:pPr>
            <a:r>
              <a:rPr lang="vi-VN" sz="630" dirty="0">
                <a:solidFill>
                  <a:srgbClr val="1F1F1F"/>
                </a:solidFill>
                <a:latin typeface="Calibri" pitchFamily="34" charset="0"/>
                <a:ea typeface="Calibri" pitchFamily="34" charset="-122"/>
                <a:cs typeface="Calibri" pitchFamily="34" charset="-120"/>
              </a:rPr>
              <a:t>Koeplin, J., Sarin, A., &amp; Shapiro, A. C. (2000). The private company discount.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Journal of Applied Corporate Finance, 12</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(4), 94–101.</a:t>
            </a:r>
            <a:endParaRPr lang="vi-VN" sz="630" dirty="0"/>
          </a:p>
        </p:txBody>
      </p:sp>
      <p:sp>
        <p:nvSpPr>
          <p:cNvPr id="32" name="Text 30"/>
          <p:cNvSpPr txBox="1"/>
          <p:nvPr/>
        </p:nvSpPr>
        <p:spPr>
          <a:xfrm>
            <a:off x="419308" y="6220420"/>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6"/>
            </a:pPr>
            <a:r>
              <a:rPr lang="vi-VN" sz="630" dirty="0">
                <a:solidFill>
                  <a:srgbClr val="1F1F1F"/>
                </a:solidFill>
                <a:latin typeface="Calibri" pitchFamily="34" charset="0"/>
                <a:ea typeface="Calibri" pitchFamily="34" charset="-122"/>
                <a:cs typeface="Calibri" pitchFamily="34" charset="-120"/>
              </a:rPr>
              <a:t>Moody's Ratings. (2026, 4 tháng 5).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Moody's changes Vietnam's outlook to positive, affirms Ba2 ratings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33" name="Text 31"/>
          <p:cNvSpPr txBox="1"/>
          <p:nvPr/>
        </p:nvSpPr>
        <p:spPr>
          <a:xfrm>
            <a:off x="419308" y="6431756"/>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7"/>
            </a:pPr>
            <a:r>
              <a:rPr lang="vi-VN" sz="630" dirty="0">
                <a:solidFill>
                  <a:srgbClr val="1F1F1F"/>
                </a:solidFill>
                <a:latin typeface="Calibri" pitchFamily="34" charset="0"/>
                <a:ea typeface="Calibri" pitchFamily="34" charset="-122"/>
                <a:cs typeface="Calibri" pitchFamily="34" charset="-120"/>
              </a:rPr>
              <a:t>Mordor Intelligence. (2025).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Vietnam paper packaging market – growth, trends, and forecasts (2025–2030)</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Global packaging market</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https://www.mordorintelligence.com/industry-reports/global-packaging-market</a:t>
            </a:r>
            <a:endParaRPr lang="vi-VN" sz="630" dirty="0"/>
          </a:p>
        </p:txBody>
      </p:sp>
      <p:sp>
        <p:nvSpPr>
          <p:cNvPr id="34" name="Text 32"/>
          <p:cNvSpPr txBox="1"/>
          <p:nvPr/>
        </p:nvSpPr>
        <p:spPr>
          <a:xfrm>
            <a:off x="419308" y="6740723"/>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8"/>
            </a:pPr>
            <a:r>
              <a:rPr lang="vi-VN" sz="630" dirty="0">
                <a:solidFill>
                  <a:srgbClr val="1F1F1F"/>
                </a:solidFill>
                <a:latin typeface="Calibri" pitchFamily="34" charset="0"/>
                <a:ea typeface="Calibri" pitchFamily="34" charset="-122"/>
                <a:cs typeface="Calibri" pitchFamily="34" charset="-120"/>
              </a:rPr>
              <a:t>Ngân hàng Nhà nước Việt Nam – Chi nhánh Hà Nội. (2026). Thông tin kết quả điều hành chính sách tiền tệ và hoạt động ngân hàng 6 tháng đầu năm 2026. https://sbv.hanoi.gov.vn/</a:t>
            </a:r>
            <a:endParaRPr lang="vi-VN" sz="630" dirty="0"/>
          </a:p>
        </p:txBody>
      </p:sp>
      <p:sp>
        <p:nvSpPr>
          <p:cNvPr id="35" name="Text 33"/>
          <p:cNvSpPr txBox="1"/>
          <p:nvPr/>
        </p:nvSpPr>
        <p:spPr>
          <a:xfrm>
            <a:off x="419308" y="6952059"/>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29"/>
            </a:pPr>
            <a:r>
              <a:rPr lang="vi-VN" sz="630" dirty="0">
                <a:solidFill>
                  <a:srgbClr val="1F1F1F"/>
                </a:solidFill>
                <a:latin typeface="Calibri" pitchFamily="34" charset="0"/>
                <a:ea typeface="Calibri" pitchFamily="34" charset="-122"/>
                <a:cs typeface="Calibri" pitchFamily="34" charset="-120"/>
              </a:rPr>
              <a:t>Oxford Business Group. (2017).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The report: Vietnam 2017 – Attractive yields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36" name="Text 34"/>
          <p:cNvSpPr txBox="1"/>
          <p:nvPr/>
        </p:nvSpPr>
        <p:spPr>
          <a:xfrm>
            <a:off x="3826282" y="741759"/>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0"/>
            </a:pPr>
            <a:r>
              <a:rPr lang="vi-VN" sz="630" dirty="0">
                <a:solidFill>
                  <a:srgbClr val="1F1F1F"/>
                </a:solidFill>
                <a:latin typeface="Calibri" pitchFamily="34" charset="0"/>
                <a:ea typeface="Calibri" pitchFamily="34" charset="-122"/>
                <a:cs typeface="Calibri" pitchFamily="34" charset="-120"/>
              </a:rPr>
              <a:t>Payne, B. (2011).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Scorecard valuation methodology: Establishing the valuation of pre-revenue, start-up companies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Angel Capital Association.</a:t>
            </a:r>
            <a:endParaRPr lang="vi-VN" sz="630" dirty="0"/>
          </a:p>
        </p:txBody>
      </p:sp>
      <p:sp>
        <p:nvSpPr>
          <p:cNvPr id="37" name="Text 35"/>
          <p:cNvSpPr txBox="1"/>
          <p:nvPr/>
        </p:nvSpPr>
        <p:spPr>
          <a:xfrm>
            <a:off x="3826282" y="953095"/>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1"/>
            </a:pPr>
            <a:r>
              <a:rPr lang="vi-VN" sz="630" dirty="0">
                <a:solidFill>
                  <a:srgbClr val="1F1F1F"/>
                </a:solidFill>
                <a:latin typeface="Calibri" pitchFamily="34" charset="0"/>
                <a:ea typeface="Calibri" pitchFamily="34" charset="-122"/>
                <a:cs typeface="Calibri" pitchFamily="34" charset="-120"/>
              </a:rPr>
              <a:t>Profectus. (2025). Current ratio.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Financial Ratios Advisor</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https://www.profectus.com/financialratiosadvisor/resources/CurrentRatio.asp</a:t>
            </a:r>
            <a:endParaRPr lang="vi-VN" sz="630" dirty="0"/>
          </a:p>
        </p:txBody>
      </p:sp>
      <p:sp>
        <p:nvSpPr>
          <p:cNvPr id="38" name="Text 36"/>
          <p:cNvSpPr txBox="1"/>
          <p:nvPr/>
        </p:nvSpPr>
        <p:spPr>
          <a:xfrm>
            <a:off x="3826282" y="1164431"/>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2"/>
            </a:pPr>
            <a:r>
              <a:rPr lang="vi-VN" sz="630" dirty="0">
                <a:solidFill>
                  <a:srgbClr val="1F1F1F"/>
                </a:solidFill>
                <a:latin typeface="Calibri" pitchFamily="34" charset="0"/>
                <a:ea typeface="Calibri" pitchFamily="34" charset="-122"/>
                <a:cs typeface="Calibri" pitchFamily="34" charset="-120"/>
              </a:rPr>
              <a:t>Quốc hội. (2025a).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Luật Thuế thu nhập doanh nghiệp số 67/2025/QH15</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39" name="Text 37"/>
          <p:cNvSpPr txBox="1"/>
          <p:nvPr/>
        </p:nvSpPr>
        <p:spPr>
          <a:xfrm>
            <a:off x="3826282" y="1278136"/>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3"/>
            </a:pPr>
            <a:r>
              <a:rPr lang="vi-VN" sz="630" dirty="0">
                <a:solidFill>
                  <a:srgbClr val="1F1F1F"/>
                </a:solidFill>
                <a:latin typeface="Calibri" pitchFamily="34" charset="0"/>
                <a:ea typeface="Calibri" pitchFamily="34" charset="-122"/>
                <a:cs typeface="Calibri" pitchFamily="34" charset="-120"/>
              </a:rPr>
              <a:t>Quốc hội. (2025b).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Nghị quyết số 198/2025/QH15 về một số cơ chế, chính sách đặc biệt phát triển kinh tế tư nhân</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a:t>
            </a:r>
            <a:endParaRPr lang="vi-VN" sz="630" dirty="0"/>
          </a:p>
        </p:txBody>
      </p:sp>
      <p:sp>
        <p:nvSpPr>
          <p:cNvPr id="40" name="Text 38"/>
          <p:cNvSpPr txBox="1"/>
          <p:nvPr/>
        </p:nvSpPr>
        <p:spPr>
          <a:xfrm>
            <a:off x="3826282" y="1489472"/>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4"/>
            </a:pPr>
            <a:r>
              <a:rPr lang="vi-VN" sz="630" dirty="0">
                <a:solidFill>
                  <a:srgbClr val="1F1F1F"/>
                </a:solidFill>
                <a:latin typeface="Calibri" pitchFamily="34" charset="0"/>
                <a:ea typeface="Calibri" pitchFamily="34" charset="-122"/>
                <a:cs typeface="Calibri" pitchFamily="34" charset="-120"/>
              </a:rPr>
              <a:t>QueenPack. (2026); Bao Bì Xanh.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Bảng giá hộp đựng thực phẩm 500 ml</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[Trang bán hàng]. QueenPack.com; baobixanh.com.</a:t>
            </a:r>
            <a:endParaRPr lang="vi-VN" sz="630" dirty="0"/>
          </a:p>
        </p:txBody>
      </p:sp>
      <p:sp>
        <p:nvSpPr>
          <p:cNvPr id="41" name="Text 39"/>
          <p:cNvSpPr txBox="1"/>
          <p:nvPr/>
        </p:nvSpPr>
        <p:spPr>
          <a:xfrm>
            <a:off x="3826282" y="1700808"/>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5"/>
            </a:pPr>
            <a:r>
              <a:rPr lang="vi-VN" sz="630" dirty="0">
                <a:solidFill>
                  <a:srgbClr val="1F1F1F"/>
                </a:solidFill>
                <a:latin typeface="Calibri" pitchFamily="34" charset="0"/>
                <a:ea typeface="Calibri" pitchFamily="34" charset="-122"/>
                <a:cs typeface="Calibri" pitchFamily="34" charset="-120"/>
              </a:rPr>
              <a:t>Provietnam. (2025). Xanh hóa bao bì thực phẩm: xu hướng tất yếu để phát triển bền vững. https://provietnam.com.vn/tin-tuc-chung/xanh-hoa-bao-bi-thuc-pham-xu-huong-tat-yeu-de-phat-trien-ben-vung/</a:t>
            </a:r>
            <a:endParaRPr lang="vi-VN" sz="630" dirty="0"/>
          </a:p>
        </p:txBody>
      </p:sp>
      <p:sp>
        <p:nvSpPr>
          <p:cNvPr id="42" name="Text 40"/>
          <p:cNvSpPr txBox="1"/>
          <p:nvPr/>
        </p:nvSpPr>
        <p:spPr>
          <a:xfrm>
            <a:off x="3826282" y="2009775"/>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6"/>
            </a:pPr>
            <a:r>
              <a:rPr lang="vi-VN" sz="630" dirty="0">
                <a:solidFill>
                  <a:srgbClr val="1F1F1F"/>
                </a:solidFill>
                <a:latin typeface="Calibri" pitchFamily="34" charset="0"/>
                <a:ea typeface="Calibri" pitchFamily="34" charset="-122"/>
                <a:cs typeface="Calibri" pitchFamily="34" charset="-120"/>
              </a:rPr>
              <a:t>Quỹ Đổi mới công nghệ quốc gia.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Hỗ trợ lãi suất vay</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https://natif.mst.gov.vn/ho-tro-lai-suat-vay/</a:t>
            </a:r>
            <a:endParaRPr lang="vi-VN" sz="630" dirty="0"/>
          </a:p>
        </p:txBody>
      </p:sp>
      <p:sp>
        <p:nvSpPr>
          <p:cNvPr id="43" name="Text 41"/>
          <p:cNvSpPr txBox="1"/>
          <p:nvPr/>
        </p:nvSpPr>
        <p:spPr>
          <a:xfrm>
            <a:off x="3826282" y="2221111"/>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7"/>
            </a:pPr>
            <a:r>
              <a:rPr lang="vi-VN" sz="630" dirty="0">
                <a:solidFill>
                  <a:srgbClr val="1F1F1F"/>
                </a:solidFill>
                <a:latin typeface="Calibri" pitchFamily="34" charset="0"/>
                <a:ea typeface="Calibri" pitchFamily="34" charset="-122"/>
                <a:cs typeface="Calibri" pitchFamily="34" charset="-120"/>
              </a:rPr>
              <a:t>Tạp chí Kinh tế – Tài chính. (2026). Tỷ giá USD/VND duy trì đà hạ nhiệt; Tỷ giá hôm nay 22/9: tỷ giá trung tâm lập đỉnh mới, USD ngân hàng đồng loạt tăng.</a:t>
            </a:r>
            <a:endParaRPr lang="vi-VN" sz="630" dirty="0"/>
          </a:p>
        </p:txBody>
      </p:sp>
      <p:sp>
        <p:nvSpPr>
          <p:cNvPr id="44" name="Text 42"/>
          <p:cNvSpPr txBox="1"/>
          <p:nvPr/>
        </p:nvSpPr>
        <p:spPr>
          <a:xfrm>
            <a:off x="3826282" y="2432447"/>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8"/>
            </a:pPr>
            <a:r>
              <a:rPr lang="vi-VN" sz="630" dirty="0">
                <a:solidFill>
                  <a:srgbClr val="1F1F1F"/>
                </a:solidFill>
                <a:latin typeface="Calibri" pitchFamily="34" charset="0"/>
                <a:ea typeface="Calibri" pitchFamily="34" charset="-122"/>
                <a:cs typeface="Calibri" pitchFamily="34" charset="-120"/>
              </a:rPr>
              <a:t>Tạp chí Khoa học Thương mại. (2025). Các yếu tố tác động tới ý định mua sản phẩm có bao bì thân thiện với môi trường của giới trẻ Việt Nam tại Hà Nội. Trường Đại học Thương mại. https://tckhtm.tmu.edu.vn/j/tmu/articles/1052</a:t>
            </a:r>
            <a:endParaRPr lang="vi-VN" sz="630" dirty="0"/>
          </a:p>
        </p:txBody>
      </p:sp>
      <p:sp>
        <p:nvSpPr>
          <p:cNvPr id="45" name="Text 43"/>
          <p:cNvSpPr txBox="1"/>
          <p:nvPr/>
        </p:nvSpPr>
        <p:spPr>
          <a:xfrm>
            <a:off x="3826282" y="2741414"/>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39"/>
            </a:pPr>
            <a:r>
              <a:rPr lang="vi-VN" sz="630" dirty="0">
                <a:solidFill>
                  <a:srgbClr val="1F1F1F"/>
                </a:solidFill>
                <a:latin typeface="Calibri" pitchFamily="34" charset="0"/>
                <a:ea typeface="Calibri" pitchFamily="34" charset="-122"/>
                <a:cs typeface="Calibri" pitchFamily="34" charset="-120"/>
              </a:rPr>
              <a:t>Tạp chí Khoa học Đại học Tân Trào. (2025). Bài báo số 676. https://tnjos.vn/index.php/tckh/article/view/676</a:t>
            </a:r>
            <a:endParaRPr lang="vi-VN" sz="630" dirty="0"/>
          </a:p>
        </p:txBody>
      </p:sp>
      <p:sp>
        <p:nvSpPr>
          <p:cNvPr id="46" name="Text 44"/>
          <p:cNvSpPr txBox="1"/>
          <p:nvPr/>
        </p:nvSpPr>
        <p:spPr>
          <a:xfrm>
            <a:off x="3826282" y="2952750"/>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0"/>
            </a:pPr>
            <a:r>
              <a:rPr lang="vi-VN" sz="630" dirty="0">
                <a:solidFill>
                  <a:srgbClr val="1F1F1F"/>
                </a:solidFill>
                <a:latin typeface="Calibri" pitchFamily="34" charset="0"/>
                <a:ea typeface="Calibri" pitchFamily="34" charset="-122"/>
                <a:cs typeface="Calibri" pitchFamily="34" charset="-120"/>
              </a:rPr>
              <a:t>Thanh tra. (2026). Hơn 4,1 triệu tỷ đồng tín dụng chảy vào doanh nghiệp nhỏ và vừa. https://thanhtra.com.vn/tai-chinh-701717FFD/hon-41-trieu-ty-dong-tin-dung-chay-vao-doanh-nghiep-nho-va-vua-d663ec2fb.html</a:t>
            </a:r>
            <a:endParaRPr lang="vi-VN" sz="630" dirty="0"/>
          </a:p>
        </p:txBody>
      </p:sp>
      <p:sp>
        <p:nvSpPr>
          <p:cNvPr id="47" name="Text 45"/>
          <p:cNvSpPr txBox="1"/>
          <p:nvPr/>
        </p:nvSpPr>
        <p:spPr>
          <a:xfrm>
            <a:off x="3826282" y="3261717"/>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1"/>
            </a:pPr>
            <a:r>
              <a:rPr lang="vi-VN" sz="630" dirty="0">
                <a:solidFill>
                  <a:srgbClr val="1F1F1F"/>
                </a:solidFill>
                <a:latin typeface="Calibri" pitchFamily="34" charset="0"/>
                <a:ea typeface="Calibri" pitchFamily="34" charset="-122"/>
                <a:cs typeface="Calibri" pitchFamily="34" charset="-120"/>
              </a:rPr>
              <a:t>The PAN Group. (2024).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Sustainability report 2023</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CTCP Tập đoàn PAN.</a:t>
            </a:r>
            <a:endParaRPr lang="vi-VN" sz="630" dirty="0"/>
          </a:p>
        </p:txBody>
      </p:sp>
      <p:sp>
        <p:nvSpPr>
          <p:cNvPr id="48" name="Text 46"/>
          <p:cNvSpPr txBox="1"/>
          <p:nvPr/>
        </p:nvSpPr>
        <p:spPr>
          <a:xfrm>
            <a:off x="3826282" y="3375422"/>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2"/>
            </a:pPr>
            <a:r>
              <a:rPr lang="vi-VN" sz="630" dirty="0">
                <a:solidFill>
                  <a:srgbClr val="1F1F1F"/>
                </a:solidFill>
                <a:latin typeface="Calibri" pitchFamily="34" charset="0"/>
                <a:ea typeface="Calibri" pitchFamily="34" charset="-122"/>
                <a:cs typeface="Calibri" pitchFamily="34" charset="-120"/>
              </a:rPr>
              <a:t>Thị trường Tài chính Tiền tệ. (2025, 2026). Thị trường trái phiếu Chính phủ: lợi suất kỳ hạn 10 năm cuối năm 2024, 2025.</a:t>
            </a:r>
            <a:endParaRPr lang="vi-VN" sz="630" dirty="0"/>
          </a:p>
        </p:txBody>
      </p:sp>
      <p:sp>
        <p:nvSpPr>
          <p:cNvPr id="49" name="Text 47"/>
          <p:cNvSpPr txBox="1"/>
          <p:nvPr/>
        </p:nvSpPr>
        <p:spPr>
          <a:xfrm>
            <a:off x="3826282" y="3586758"/>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3"/>
            </a:pPr>
            <a:r>
              <a:rPr lang="vi-VN" sz="630" dirty="0">
                <a:solidFill>
                  <a:srgbClr val="1F1F1F"/>
                </a:solidFill>
                <a:latin typeface="Calibri" pitchFamily="34" charset="0"/>
                <a:ea typeface="Calibri" pitchFamily="34" charset="-122"/>
                <a:cs typeface="Calibri" pitchFamily="34" charset="-120"/>
              </a:rPr>
              <a:t>Thời báo Tài chính Việt Nam. (2026). MBS dự báo tỷ giá USD/VND có thể hướng mốc 27.000 đồng cuối năm 2026.</a:t>
            </a:r>
            <a:endParaRPr lang="vi-VN" sz="630" dirty="0"/>
          </a:p>
        </p:txBody>
      </p:sp>
      <p:sp>
        <p:nvSpPr>
          <p:cNvPr id="50" name="Text 48"/>
          <p:cNvSpPr txBox="1"/>
          <p:nvPr/>
        </p:nvSpPr>
        <p:spPr>
          <a:xfrm>
            <a:off x="3826282" y="3798094"/>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4"/>
            </a:pPr>
            <a:r>
              <a:rPr lang="vi-VN" sz="630" dirty="0">
                <a:solidFill>
                  <a:srgbClr val="1F1F1F"/>
                </a:solidFill>
                <a:latin typeface="Calibri" pitchFamily="34" charset="0"/>
                <a:ea typeface="Calibri" pitchFamily="34" charset="-122"/>
                <a:cs typeface="Calibri" pitchFamily="34" charset="-120"/>
              </a:rPr>
              <a:t>United Nations Environment Programme. (2021).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Drowning in plastics: Marine litter and plastic waste vital graphics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UNEP. (Nguồn của số liệu 46% rác thải nhựa đến từ bao bì; bài của nhóm ghi năm 2022.)</a:t>
            </a:r>
            <a:endParaRPr lang="vi-VN" sz="630" dirty="0"/>
          </a:p>
        </p:txBody>
      </p:sp>
      <p:sp>
        <p:nvSpPr>
          <p:cNvPr id="51" name="Text 49"/>
          <p:cNvSpPr txBox="1"/>
          <p:nvPr/>
        </p:nvSpPr>
        <p:spPr>
          <a:xfrm>
            <a:off x="3826282" y="4107061"/>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5"/>
            </a:pPr>
            <a:r>
              <a:rPr lang="vi-VN" sz="630" dirty="0">
                <a:solidFill>
                  <a:srgbClr val="1F1F1F"/>
                </a:solidFill>
                <a:latin typeface="Calibri" pitchFamily="34" charset="0"/>
                <a:ea typeface="Calibri" pitchFamily="34" charset="-122"/>
                <a:cs typeface="Calibri" pitchFamily="34" charset="-120"/>
              </a:rPr>
              <a:t>Viện Kinh tế – Tài chính (NIEF). (2025). Doanh nghiệp bao bì Việt Nam trên hành trình xanh hóa. https://nief.mof.gov.vn/kinh-te-xa-hoi/doanh-nghiep-bao-bi-viet-nam-tren-hanh-trinh-xanh-hoa-11741.html</a:t>
            </a:r>
            <a:endParaRPr lang="vi-VN" sz="630" dirty="0"/>
          </a:p>
        </p:txBody>
      </p:sp>
      <p:sp>
        <p:nvSpPr>
          <p:cNvPr id="52" name="Text 50"/>
          <p:cNvSpPr txBox="1"/>
          <p:nvPr/>
        </p:nvSpPr>
        <p:spPr>
          <a:xfrm>
            <a:off x="3826282" y="4416028"/>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6"/>
            </a:pPr>
            <a:r>
              <a:rPr lang="vi-VN" sz="630" dirty="0">
                <a:solidFill>
                  <a:srgbClr val="1F1F1F"/>
                </a:solidFill>
                <a:latin typeface="Calibri" pitchFamily="34" charset="0"/>
                <a:ea typeface="Calibri" pitchFamily="34" charset="-122"/>
                <a:cs typeface="Calibri" pitchFamily="34" charset="-120"/>
              </a:rPr>
              <a:t>Viện Nghiên cứu Chiến lược, Chính sách Công Thương. (2025). Tổng quan ngành nhựa Việt Nam – phần 1. https://vioit.org.vn/vn/chien-luoc-chinh-sach/tong-quan-nganh-nhua-viet-nam---phan-1--4666.4050.html</a:t>
            </a:r>
            <a:endParaRPr lang="vi-VN" sz="630" dirty="0"/>
          </a:p>
        </p:txBody>
      </p:sp>
      <p:sp>
        <p:nvSpPr>
          <p:cNvPr id="53" name="Text 51"/>
          <p:cNvSpPr txBox="1"/>
          <p:nvPr/>
        </p:nvSpPr>
        <p:spPr>
          <a:xfrm>
            <a:off x="3826282" y="4724995"/>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7"/>
            </a:pPr>
            <a:r>
              <a:rPr lang="vi-VN" sz="630" dirty="0">
                <a:solidFill>
                  <a:srgbClr val="1F1F1F"/>
                </a:solidFill>
                <a:latin typeface="Calibri" pitchFamily="34" charset="0"/>
                <a:ea typeface="Calibri" pitchFamily="34" charset="-122"/>
                <a:cs typeface="Calibri" pitchFamily="34" charset="-120"/>
              </a:rPr>
              <a:t>VnBusiness. (2026). Kinh tế 8 tháng: nhập siêu 2,046 tỷ USD, lạm phát cơ bản tăng 4,24%; CPI 8 tháng năm 2026 tăng 4,45%. https://vnbusiness.vn/</a:t>
            </a:r>
            <a:endParaRPr lang="vi-VN" sz="630" dirty="0"/>
          </a:p>
        </p:txBody>
      </p:sp>
      <p:sp>
        <p:nvSpPr>
          <p:cNvPr id="54" name="Text 52"/>
          <p:cNvSpPr txBox="1"/>
          <p:nvPr/>
        </p:nvSpPr>
        <p:spPr>
          <a:xfrm>
            <a:off x="3826282" y="4936331"/>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8"/>
            </a:pPr>
            <a:r>
              <a:rPr lang="vi-VN" sz="630" dirty="0">
                <a:solidFill>
                  <a:srgbClr val="1F1F1F"/>
                </a:solidFill>
                <a:latin typeface="Calibri" pitchFamily="34" charset="0"/>
                <a:ea typeface="Calibri" pitchFamily="34" charset="-122"/>
                <a:cs typeface="Calibri" pitchFamily="34" charset="-120"/>
              </a:rPr>
              <a:t>VnEconomy. (2026a). Tăng trưởng GDP 6 tháng đầu năm 2026 của Việt Nam đạt mức 8,18%. https://vneconomy.vn/</a:t>
            </a:r>
            <a:endParaRPr lang="vi-VN" sz="630" dirty="0"/>
          </a:p>
        </p:txBody>
      </p:sp>
      <p:sp>
        <p:nvSpPr>
          <p:cNvPr id="55" name="Text 53"/>
          <p:cNvSpPr txBox="1"/>
          <p:nvPr/>
        </p:nvSpPr>
        <p:spPr>
          <a:xfrm>
            <a:off x="3826282" y="5147667"/>
            <a:ext cx="3383048" cy="292894"/>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49"/>
            </a:pPr>
            <a:r>
              <a:rPr lang="vi-VN" sz="630" dirty="0">
                <a:solidFill>
                  <a:srgbClr val="1F1F1F"/>
                </a:solidFill>
                <a:latin typeface="Calibri" pitchFamily="34" charset="0"/>
                <a:ea typeface="Calibri" pitchFamily="34" charset="-122"/>
                <a:cs typeface="Calibri" pitchFamily="34" charset="-120"/>
              </a:rPr>
              <a:t>VnEconomy. (2026b). Ngành in và bao bì trước sức ép cạnh tranh với FDI cùng thách thức chuyển đổi xanh. https://vneconomy.vn/nganh-in-va-bao-bi-truoc-suc-ep-canh-tranh-voi-fdi-cung-thach-thuc-chuyen-doi-xanh.htm</a:t>
            </a:r>
            <a:endParaRPr lang="vi-VN" sz="630" dirty="0"/>
          </a:p>
        </p:txBody>
      </p:sp>
      <p:sp>
        <p:nvSpPr>
          <p:cNvPr id="56" name="Text 54"/>
          <p:cNvSpPr txBox="1"/>
          <p:nvPr/>
        </p:nvSpPr>
        <p:spPr>
          <a:xfrm>
            <a:off x="3826282" y="5456634"/>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0"/>
            </a:pPr>
            <a:r>
              <a:rPr lang="vi-VN" sz="630" dirty="0">
                <a:solidFill>
                  <a:srgbClr val="1F1F1F"/>
                </a:solidFill>
                <a:latin typeface="Calibri" pitchFamily="34" charset="0"/>
                <a:ea typeface="Calibri" pitchFamily="34" charset="-122"/>
                <a:cs typeface="Calibri" pitchFamily="34" charset="-120"/>
              </a:rPr>
              <a:t>VBMA – Hiệp hội Thị trường Trái phiếu Việt Nam. (2021–2023).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Bond market report</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(12/2020, 12/2021, 12/2022); Kết quả đấu thầu TPCP ngày 29/11/2023.</a:t>
            </a:r>
            <a:endParaRPr lang="vi-VN" sz="630" dirty="0"/>
          </a:p>
        </p:txBody>
      </p:sp>
      <p:sp>
        <p:nvSpPr>
          <p:cNvPr id="57" name="Text 55"/>
          <p:cNvSpPr txBox="1"/>
          <p:nvPr/>
        </p:nvSpPr>
        <p:spPr>
          <a:xfrm>
            <a:off x="3826282" y="5667970"/>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1"/>
            </a:pPr>
            <a:r>
              <a:rPr lang="vi-VN" sz="630" dirty="0">
                <a:solidFill>
                  <a:srgbClr val="1F1F1F"/>
                </a:solidFill>
                <a:latin typeface="Calibri" pitchFamily="34" charset="0"/>
                <a:ea typeface="Calibri" pitchFamily="34" charset="-122"/>
                <a:cs typeface="Calibri" pitchFamily="34" charset="-120"/>
              </a:rPr>
              <a:t>Vietcombank. (2026).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Tỷ giá ngoại tệ</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[Số liệu tỷ giá bán ra].</a:t>
            </a:r>
            <a:endParaRPr lang="vi-VN" sz="630" dirty="0"/>
          </a:p>
        </p:txBody>
      </p:sp>
      <p:sp>
        <p:nvSpPr>
          <p:cNvPr id="58" name="Text 56"/>
          <p:cNvSpPr txBox="1"/>
          <p:nvPr/>
        </p:nvSpPr>
        <p:spPr>
          <a:xfrm>
            <a:off x="3826282" y="5781675"/>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2"/>
            </a:pPr>
            <a:r>
              <a:rPr lang="vi-VN" sz="630" dirty="0">
                <a:solidFill>
                  <a:srgbClr val="1F1F1F"/>
                </a:solidFill>
                <a:latin typeface="Calibri" pitchFamily="34" charset="0"/>
                <a:ea typeface="Calibri" pitchFamily="34" charset="-122"/>
                <a:cs typeface="Calibri" pitchFamily="34" charset="-120"/>
              </a:rPr>
              <a:t>Vietnam News. (2017, 2020). Tin đấu thầu TPCP tháng 10/2017; Gov't bond yields hit record low.</a:t>
            </a:r>
            <a:endParaRPr lang="vi-VN" sz="630" dirty="0"/>
          </a:p>
        </p:txBody>
      </p:sp>
      <p:sp>
        <p:nvSpPr>
          <p:cNvPr id="59" name="Text 57"/>
          <p:cNvSpPr txBox="1"/>
          <p:nvPr/>
        </p:nvSpPr>
        <p:spPr>
          <a:xfrm>
            <a:off x="3826282" y="5895380"/>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3"/>
            </a:pPr>
            <a:r>
              <a:rPr lang="vi-VN" sz="630" dirty="0">
                <a:solidFill>
                  <a:srgbClr val="1F1F1F"/>
                </a:solidFill>
                <a:latin typeface="Calibri" pitchFamily="34" charset="0"/>
                <a:ea typeface="Calibri" pitchFamily="34" charset="-122"/>
                <a:cs typeface="Calibri" pitchFamily="34" charset="-120"/>
              </a:rPr>
              <a:t>Vietnam Report. (2024, 2025).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Top 10 Công ty uy tín ngành Bao bì</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khảo sát người tiêu dùng về bao bì thân thiện môi trường. https://vietnamreport.net/</a:t>
            </a:r>
            <a:endParaRPr lang="vi-VN" sz="630" dirty="0"/>
          </a:p>
        </p:txBody>
      </p:sp>
      <p:sp>
        <p:nvSpPr>
          <p:cNvPr id="60" name="Text 58"/>
          <p:cNvSpPr txBox="1"/>
          <p:nvPr/>
        </p:nvSpPr>
        <p:spPr>
          <a:xfrm>
            <a:off x="3826282" y="6106716"/>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4"/>
            </a:pPr>
            <a:r>
              <a:rPr lang="vi-VN" sz="630" dirty="0">
                <a:solidFill>
                  <a:srgbClr val="1F1F1F"/>
                </a:solidFill>
                <a:latin typeface="Calibri" pitchFamily="34" charset="0"/>
                <a:ea typeface="Calibri" pitchFamily="34" charset="-122"/>
                <a:cs typeface="Calibri" pitchFamily="34" charset="-120"/>
              </a:rPr>
              <a:t>VNDirect. (2025).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La bàn thị trường</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[Báo cáo vĩ mô, lợi suất TPCP kỳ hạn 10 năm].</a:t>
            </a:r>
            <a:endParaRPr lang="vi-VN" sz="630" dirty="0"/>
          </a:p>
        </p:txBody>
      </p:sp>
      <p:sp>
        <p:nvSpPr>
          <p:cNvPr id="61" name="Text 59"/>
          <p:cNvSpPr txBox="1"/>
          <p:nvPr/>
        </p:nvSpPr>
        <p:spPr>
          <a:xfrm>
            <a:off x="3826282" y="6220420"/>
            <a:ext cx="3383048" cy="195263"/>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5"/>
            </a:pPr>
            <a:r>
              <a:rPr lang="vi-VN" sz="630" dirty="0">
                <a:solidFill>
                  <a:srgbClr val="1F1F1F"/>
                </a:solidFill>
                <a:latin typeface="Calibri" pitchFamily="34" charset="0"/>
                <a:ea typeface="Calibri" pitchFamily="34" charset="-122"/>
                <a:cs typeface="Calibri" pitchFamily="34" charset="-120"/>
              </a:rPr>
              <a:t>Wagner, S. M., &amp; Zanger, S. (2023). [Tiêu đề bài báo cần đối chiếu theo DOI]. </a:t>
            </a:r>
            <a:pPr algn="l" indent="0" marL="0">
              <a:lnSpc>
                <a:spcPts val="770"/>
              </a:lnSpc>
              <a:buNone/>
            </a:pPr>
            <a:r>
              <a:rPr lang="vi-VN" sz="630" i="1" dirty="0">
                <a:solidFill>
                  <a:srgbClr val="1F1F1F"/>
                </a:solidFill>
                <a:latin typeface="Calibri" pitchFamily="34" charset="0"/>
                <a:ea typeface="Calibri" pitchFamily="34" charset="-122"/>
                <a:cs typeface="Calibri" pitchFamily="34" charset="-120"/>
              </a:rPr>
              <a:t>International Journal of Logistics Research and Applications</a:t>
            </a:r>
            <a:pPr algn="l" indent="0" marL="0">
              <a:lnSpc>
                <a:spcPts val="770"/>
              </a:lnSpc>
              <a:buNone/>
            </a:pPr>
            <a:r>
              <a:rPr lang="vi-VN" sz="630" dirty="0">
                <a:solidFill>
                  <a:srgbClr val="1F1F1F"/>
                </a:solidFill>
                <a:latin typeface="Calibri" pitchFamily="34" charset="0"/>
                <a:ea typeface="Calibri" pitchFamily="34" charset="-122"/>
                <a:cs typeface="Calibri" pitchFamily="34" charset="-120"/>
              </a:rPr>
              <a:t>. https://doi.org/10.1080/13675567.2023.2175802</a:t>
            </a:r>
            <a:endParaRPr lang="vi-VN" sz="630" dirty="0"/>
          </a:p>
        </p:txBody>
      </p:sp>
      <p:sp>
        <p:nvSpPr>
          <p:cNvPr id="62" name="Text 60"/>
          <p:cNvSpPr txBox="1"/>
          <p:nvPr/>
        </p:nvSpPr>
        <p:spPr>
          <a:xfrm>
            <a:off x="3826282" y="6431756"/>
            <a:ext cx="3383048" cy="488156"/>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6"/>
            </a:pPr>
            <a:r>
              <a:rPr lang="vi-VN" sz="630" dirty="0">
                <a:solidFill>
                  <a:srgbClr val="1F1F1F"/>
                </a:solidFill>
                <a:latin typeface="Calibri" pitchFamily="34" charset="0"/>
                <a:ea typeface="Calibri" pitchFamily="34" charset="-122"/>
                <a:cs typeface="Calibri" pitchFamily="34" charset="-120"/>
              </a:rPr>
              <a:t>Các bài báo, trang web khác được nhóm tham khảo ở Mục 3.2: inbaobidanang.com; baobiminhkhang.com.vn; paper-vietnam.com (2 bài); Tạp chí Khoa học Thương mại (Trường ĐH Thương mại); tnjos.vn; zenodo.org/records/19198976; thuehaiquan.tapchikinhtetaichinh.vn; plastech-expo.com; viracresearch.com; provietnam.com.vn; Vietstock (BCTC kiểm toán 2025 của APH, DHC, SVI).</a:t>
            </a:r>
            <a:endParaRPr lang="vi-VN" sz="630" dirty="0"/>
          </a:p>
        </p:txBody>
      </p:sp>
      <p:sp>
        <p:nvSpPr>
          <p:cNvPr id="63" name="Text 61"/>
          <p:cNvSpPr txBox="1"/>
          <p:nvPr/>
        </p:nvSpPr>
        <p:spPr>
          <a:xfrm>
            <a:off x="3826282" y="6935986"/>
            <a:ext cx="3383048" cy="109728"/>
          </a:xfrm>
          <a:prstGeom prst="rect">
            <a:avLst/>
          </a:prstGeom>
          <a:noFill/>
          <a:ln/>
        </p:spPr>
        <p:txBody>
          <a:bodyPr wrap="square" lIns="0" tIns="0" rIns="0" bIns="0" rtlCol="0" anchor="t"/>
          <a:lstStyle/>
          <a:p>
            <a:pPr algn="l" marL="137160" indent="-137160">
              <a:lnSpc>
                <a:spcPts val="770"/>
              </a:lnSpc>
              <a:buSzPct val="100000"/>
              <a:buFont typeface="Cambria"/>
              <a:buAutoNum type="arabicPeriod" startAt="57"/>
            </a:pPr>
            <a:r>
              <a:rPr lang="vi-VN" sz="630" dirty="0">
                <a:solidFill>
                  <a:srgbClr val="1F1F1F"/>
                </a:solidFill>
                <a:latin typeface="Calibri" pitchFamily="34" charset="0"/>
                <a:ea typeface="Calibri" pitchFamily="34" charset="-122"/>
                <a:cs typeface="Calibri" pitchFamily="34" charset="-120"/>
              </a:rPr>
              <a:t>Zenodo. (2026). Bản ghi 19198976 [Bộ dữ liệu]. https://zenodo.org/records/19198976</a:t>
            </a:r>
            <a:endParaRPr lang="vi-VN" sz="630" dirty="0"/>
          </a:p>
        </p:txBody>
      </p:sp>
      <p:sp>
        <p:nvSpPr>
          <p:cNvPr id="64" name="Text 62"/>
          <p:cNvSpPr txBox="1"/>
          <p:nvPr/>
        </p:nvSpPr>
        <p:spPr>
          <a:xfrm>
            <a:off x="405408" y="10406509"/>
            <a:ext cx="2438049"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AGRIPACK · BÀI TẬP LỚN HỌC PHẦN TTKN · Số liệu tỷ đồng, trừ khi ghi khác</a:t>
            </a:r>
            <a:endParaRPr lang="vi-VN" sz="620" dirty="0"/>
          </a:p>
        </p:txBody>
      </p:sp>
      <p:sp>
        <p:nvSpPr>
          <p:cNvPr id="65" name="Text 63"/>
          <p:cNvSpPr txBox="1"/>
          <p:nvPr/>
        </p:nvSpPr>
        <p:spPr>
          <a:xfrm>
            <a:off x="7074694" y="10406509"/>
            <a:ext cx="134636" cy="109728"/>
          </a:xfrm>
          <a:prstGeom prst="rect">
            <a:avLst/>
          </a:prstGeom>
          <a:noFill/>
          <a:ln/>
        </p:spPr>
        <p:txBody>
          <a:bodyPr wrap="square" lIns="0" tIns="0" rIns="0" bIns="0" rtlCol="0" anchor="t"/>
          <a:lstStyle/>
          <a:p>
            <a:pPr algn="l" indent="0" marL="0">
              <a:lnSpc>
                <a:spcPts val="760"/>
              </a:lnSpc>
              <a:buNone/>
            </a:pPr>
            <a:r>
              <a:rPr lang="vi-VN" sz="620" dirty="0">
                <a:solidFill>
                  <a:srgbClr val="666666"/>
                </a:solidFill>
                <a:latin typeface="Calibri" pitchFamily="34" charset="0"/>
                <a:ea typeface="Calibri" pitchFamily="34" charset="-122"/>
                <a:cs typeface="Calibri" pitchFamily="34" charset="-120"/>
              </a:rPr>
              <a:t>24</a:t>
            </a:r>
            <a:endParaRPr lang="vi-VN" sz="6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Nhóm AgriPack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CTCP AgriPack – Báo cáo phân tích, dự phóng và định giá</dc:title>
  <dc:subject>PptxGenJS Presentation</dc:subject>
  <dc:creator>Nhóm AgriPack</dc:creator>
  <cp:lastModifiedBy>Nhóm AgriPack</cp:lastModifiedBy>
  <cp:revision>1</cp:revision>
  <dcterms:created xsi:type="dcterms:W3CDTF">2026-10-07T03:12:41Z</dcterms:created>
  <dcterms:modified xsi:type="dcterms:W3CDTF">2026-10-07T03:12:41Z</dcterms:modified>
</cp:coreProperties>
</file>