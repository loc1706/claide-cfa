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 thuần</c:v>
                </c:pt>
              </c:strCache>
            </c:strRef>
          </c:tx>
          <c:spPr>
            <a:solidFill>
              <a:srgbClr val="7B1E2B"/>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19.4</c:v>
                </c:pt>
                <c:pt idx="1">
                  <c:v>30.9</c:v>
                </c:pt>
                <c:pt idx="2">
                  <c:v>47.5</c:v>
                </c:pt>
                <c:pt idx="3">
                  <c:v>63.7</c:v>
                </c:pt>
                <c:pt idx="4">
                  <c:v>79.7</c:v>
                </c:pt>
                <c:pt idx="5">
                  <c:v>110.4</c:v>
                </c:pt>
                <c:pt idx="6">
                  <c:v>141.6</c:v>
                </c:pt>
                <c:pt idx="7">
                  <c:v>170.3</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Biên EBITDA (%)</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dLblPos val="t"/>
            <c:showLegendKey val="0"/>
            <c:showVal val="1"/>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-14.2</c:v>
                </c:pt>
                <c:pt idx="1">
                  <c:v>6.5</c:v>
                </c:pt>
                <c:pt idx="2">
                  <c:v>16.2</c:v>
                </c:pt>
                <c:pt idx="3">
                  <c:v>17.9</c:v>
                </c:pt>
                <c:pt idx="4">
                  <c:v>17.9</c:v>
                </c:pt>
                <c:pt idx="5">
                  <c:v>16.1</c:v>
                </c:pt>
                <c:pt idx="6">
                  <c:v>19</c:v>
                </c:pt>
                <c:pt idx="7">
                  <c:v>20.2</c:v>
                </c:pt>
              </c:numCache>
            </c:numRef>
          </c:val>
          <c:smooth val="0"/>
        </c:ser>
        <c:dLbls>
          <c:numFmt formatCode="0" sourceLinked="0"/>
          <c:txPr>
            <a:bodyPr/>
            <a:lstStyle/>
            <a:p>
              <a:pPr>
                <a:defRPr lang="vi-VN" b="0" i="0" strike="noStrike" sz="700" u="none">
                  <a:solidFill>
                    <a:srgbClr val="262626"/>
                  </a:solidFill>
                  <a:latin typeface="Calibri"/>
                  <a:ea typeface="Calibri"/>
                  <a:cs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Sheet1!$A$2:$A$5</c:f>
              <c:multiLvlStrCache>
                <c:ptCount val="4"/>
                <c:lvl>
                  <c:pt idx="0">
                    <c:v>DCF (28,4)</c:v>
                  </c:pt>
                  <c:pt idx="1">
                    <c:v>VC Method (24,0)</c:v>
                  </c:pt>
                  <c:pt idx="2">
                    <c:v>Multiples 2025A (27,7)</c:v>
                  </c:pt>
                  <c:pt idx="3">
                    <c:v>Bình quân 40/40/20 (26,5)</c:v>
                  </c:pt>
                </c:lvl>
              </c:multiLvlStrCache>
            </c:multiLvlStrRef>
          </c:cat>
          <c:val>
            <c:numRef>
              <c:f>Sheet1!$B$2:$B$5</c:f>
              <c:numCache>
                <c:formatCode>General</c:formatCode>
                <c:ptCount val="4"/>
                <c:pt idx="0">
                  <c:v>20.2</c:v>
                </c:pt>
                <c:pt idx="1">
                  <c:v>10.4</c:v>
                </c:pt>
                <c:pt idx="2">
                  <c:v>17.7</c:v>
                </c:pt>
                <c:pt idx="3">
                  <c:v>15.8</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Sheet1!$A$2:$A$5</c:f>
              <c:multiLvlStrCache>
                <c:ptCount val="4"/>
                <c:lvl>
                  <c:pt idx="0">
                    <c:v>DCF (28,4)</c:v>
                  </c:pt>
                  <c:pt idx="1">
                    <c:v>VC Method (24,0)</c:v>
                  </c:pt>
                  <c:pt idx="2">
                    <c:v>Multiples 2025A (27,7)</c:v>
                  </c:pt>
                  <c:pt idx="3">
                    <c:v>Bình quân 40/40/20 (26,5)</c:v>
                  </c:pt>
                </c:lvl>
              </c:multiLvlStrCache>
            </c:multiLvlStrRef>
          </c:cat>
          <c:val>
            <c:numRef>
              <c:f>Sheet1!$C$2:$C$5</c:f>
              <c:numCache>
                <c:formatCode>General</c:formatCode>
                <c:ptCount val="4"/>
                <c:pt idx="0">
                  <c:v>19.7</c:v>
                </c:pt>
                <c:pt idx="1">
                  <c:v>28.8</c:v>
                </c:pt>
                <c:pt idx="2">
                  <c:v>26.3</c:v>
                </c:pt>
                <c:pt idx="3">
                  <c:v>24.6</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0"/>
          <c:min val="0"/>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Triệu tấn</c:v>
                </c:pt>
              </c:strCache>
            </c:strRef>
          </c:tx>
          <c:spPr>
            <a:solidFill>
              <a:srgbClr val="404040"/>
            </a:solidFill>
            <a:effectLst/>
          </c:spPr>
          <c:invertIfNegative val="0"/>
          <c:dLbls>
            <c:numFmt formatCode="0.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7B1E2B"/>
              </a:solidFill>
              <a:effectLst/>
            </c:spPr>
          </c:dPt>
          <c:cat>
            <c:multiLvlStrRef>
              <c:f>Sheet1!$A$2:$A$3</c:f>
              <c:multiLvlStrCache>
                <c:ptCount val="2"/>
                <c:lvl>
                  <c:pt idx="0">
                    <c:v>2026</c:v>
                  </c:pt>
                  <c:pt idx="1">
                    <c:v>2031</c:v>
                  </c:pt>
                </c:lvl>
              </c:multiLvlStrCache>
            </c:multiLvlStrRef>
          </c:cat>
          <c:val>
            <c:numRef>
              <c:f>Sheet1!$B$2:$B$3</c:f>
              <c:numCache>
                <c:formatCode>General</c:formatCode>
                <c:ptCount val="2"/>
                <c:pt idx="0">
                  <c:v>12.83</c:v>
                </c:pt>
                <c:pt idx="1">
                  <c:v>19.16</c:v>
                </c:pt>
              </c:numCache>
            </c:numRef>
          </c:val>
        </c:ser>
        <c:dLbls>
          <c:numFmt formatCode="0.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Sheet1!$B$2:$B$6</c:f>
              <c:numCache>
                <c:formatCode>General</c:formatCode>
                <c:ptCount val="5"/>
                <c:pt idx="0">
                  <c:v>400</c:v>
                </c:pt>
                <c:pt idx="1">
                  <c:v>978</c:v>
                </c:pt>
                <c:pt idx="2">
                  <c:v>1350</c:v>
                </c:pt>
                <c:pt idx="3">
                  <c:v>1900</c:v>
                </c:pt>
                <c:pt idx="4">
                  <c:v>2500</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Sheet1!$C$2:$C$6</c:f>
              <c:numCache>
                <c:formatCode>General</c:formatCode>
                <c:ptCount val="5"/>
                <c:pt idx="0">
                  <c:v>200</c:v>
                </c:pt>
                <c:pt idx="1">
                  <c:v>20</c:v>
                </c:pt>
                <c:pt idx="2">
                  <c:v>200</c:v>
                </c:pt>
                <c:pt idx="3">
                  <c:v>800</c:v>
                </c:pt>
                <c:pt idx="4">
                  <c:v>1500</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00"/>
          <c:min val="0"/>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Thực phẩm/FMCG</c:v>
                </c:pt>
              </c:strCache>
            </c:strRef>
          </c:tx>
          <c:spPr>
            <a:solidFill>
              <a:srgbClr val="7B1E2B"/>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15.1</c:v>
                </c:pt>
                <c:pt idx="1">
                  <c:v>24.1</c:v>
                </c:pt>
                <c:pt idx="2">
                  <c:v>38.1</c:v>
                </c:pt>
              </c:numCache>
            </c:numRef>
          </c:val>
        </c:ser>
        <c:ser>
          <c:idx val="1"/>
          <c:order val="1"/>
          <c:tx>
            <c:strRef>
              <c:f>Sheet1!$C$1</c:f>
              <c:strCache>
                <c:ptCount val="1"/>
                <c:pt idx="0">
                  <c:v>Thiết kế theo mẫu</c:v>
                </c:pt>
              </c:strCache>
            </c:strRef>
          </c:tx>
          <c:spPr>
            <a:solidFill>
              <a:srgbClr val="40404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3</c:v>
                </c:pt>
                <c:pt idx="1">
                  <c:v>4.2</c:v>
                </c:pt>
                <c:pt idx="2">
                  <c:v>5.9</c:v>
                </c:pt>
              </c:numCache>
            </c:numRef>
          </c:val>
        </c:ser>
        <c:ser>
          <c:idx val="2"/>
          <c:order val="2"/>
          <c:tx>
            <c:strRef>
              <c:f>Sheet1!$D$1</c:f>
              <c:strCache>
                <c:ptCount val="1"/>
                <c:pt idx="0">
                  <c:v>Nội thất/E-com</c:v>
                </c:pt>
              </c:strCache>
            </c:strRef>
          </c:tx>
          <c:spPr>
            <a:solidFill>
              <a:srgbClr val="A3A3A3"/>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1.5</c:v>
                </c:pt>
                <c:pt idx="1">
                  <c:v>2.3</c:v>
                </c:pt>
                <c:pt idx="2">
                  <c:v>2.7</c:v>
                </c:pt>
              </c:numCache>
            </c:numRef>
          </c:val>
        </c:ser>
        <c:ser>
          <c:idx val="3"/>
          <c:order val="3"/>
          <c:tx>
            <c:strRef>
              <c:f>Sheet1!$E$1</c:f>
              <c:strCache>
                <c:ptCount val="1"/>
                <c:pt idx="0">
                  <c:v>Điện tử</c:v>
                </c:pt>
              </c:strCache>
            </c:strRef>
          </c:tx>
          <c:spPr>
            <a:solidFill>
              <a:srgbClr val="D0D0D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Sheet1!$E$2:$E$4</c:f>
              <c:numCache>
                <c:formatCode>General</c:formatCode>
                <c:ptCount val="3"/>
                <c:pt idx="0">
                  <c:v>0</c:v>
                </c:pt>
                <c:pt idx="1">
                  <c:v>0.6</c:v>
                </c:pt>
                <c:pt idx="2">
                  <c:v>1.2</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COGS</c:v>
                </c:pt>
              </c:strCache>
            </c:strRef>
          </c:tx>
          <c:spPr>
            <a:solidFill>
              <a:srgbClr val="40404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6</c:v>
                </c:pt>
                <c:pt idx="1">
                  <c:v>8.9</c:v>
                </c:pt>
                <c:pt idx="2">
                  <c:v>12.9</c:v>
                </c:pt>
              </c:numCache>
            </c:numRef>
          </c:val>
        </c:ser>
        <c:ser>
          <c:idx val="1"/>
          <c:order val="1"/>
          <c:tx>
            <c:strRef>
              <c:f>Sheet1!$C$1</c:f>
              <c:strCache>
                <c:ptCount val="1"/>
                <c:pt idx="0">
                  <c:v>SG&amp;A</c:v>
                </c:pt>
              </c:strCache>
            </c:strRef>
          </c:tx>
          <c:spPr>
            <a:solidFill>
              <a:srgbClr val="A3A3A3"/>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9.2</c:v>
                </c:pt>
                <c:pt idx="1">
                  <c:v>12.3</c:v>
                </c:pt>
                <c:pt idx="2">
                  <c:v>16.2</c:v>
                </c:pt>
              </c:numCache>
            </c:numRef>
          </c:val>
        </c:ser>
        <c:ser>
          <c:idx val="2"/>
          <c:order val="2"/>
          <c:tx>
            <c:strRef>
              <c:f>Sheet1!$D$1</c:f>
              <c:strCache>
                <c:ptCount val="1"/>
                <c:pt idx="0">
                  <c:v>Payroll</c:v>
                </c:pt>
              </c:strCache>
            </c:strRef>
          </c:tx>
          <c:spPr>
            <a:solidFill>
              <a:srgbClr val="7B1E2B"/>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7</c:v>
                </c:pt>
                <c:pt idx="1">
                  <c:v>7.7</c:v>
                </c:pt>
                <c:pt idx="2">
                  <c:v>10.8</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7B1E2B"/>
              </a:solidFill>
              <a:effectLst/>
            </c:spPr>
          </c:dPt>
          <c:cat>
            <c:multiLvlStrRef>
              <c:f>Sheet1!$A$2:$A$4</c:f>
              <c:multiLvlStrCache>
                <c:ptCount val="3"/>
                <c:lvl>
                  <c:pt idx="0">
                    <c:v>An Phát Holdings</c:v>
                  </c:pt>
                  <c:pt idx="1">
                    <c:v>Đông Hải Bến Tre</c:v>
                  </c:pt>
                  <c:pt idx="2">
                    <c:v>AgriPack</c:v>
                  </c:pt>
                </c:lvl>
              </c:multiLvlStrCache>
            </c:multiLvlStrRef>
          </c:cat>
          <c:val>
            <c:numRef>
              <c:f>Sheet1!$B$2:$B$4</c:f>
              <c:numCache>
                <c:formatCode>General</c:formatCode>
                <c:ptCount val="3"/>
                <c:pt idx="0">
                  <c:v>10746</c:v>
                </c:pt>
                <c:pt idx="1">
                  <c:v>3633</c:v>
                </c:pt>
                <c:pt idx="2">
                  <c:v>47.5</c:v>
                </c:pt>
              </c:numCache>
            </c:numRef>
          </c:val>
        </c:ser>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Sheet1!$B$2:$B$5</c:f>
              <c:numCache>
                <c:formatCode>General</c:formatCode>
                <c:ptCount val="4"/>
                <c:pt idx="0">
                  <c:v>0</c:v>
                </c:pt>
                <c:pt idx="1">
                  <c:v>0</c:v>
                </c:pt>
                <c:pt idx="2">
                  <c:v>25</c:v>
                </c:pt>
                <c:pt idx="3">
                  <c:v>12</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Sheet1!$C$2:$C$5</c:f>
              <c:numCache>
                <c:formatCode>General</c:formatCode>
                <c:ptCount val="4"/>
                <c:pt idx="0">
                  <c:v>72.8</c:v>
                </c:pt>
                <c:pt idx="1">
                  <c:v>51</c:v>
                </c:pt>
                <c:pt idx="2">
                  <c:v>15</c:v>
                </c:pt>
                <c:pt idx="3">
                  <c:v>4</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Tiền lương</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dLblPos val="t"/>
            <c:showLegendKey val="0"/>
            <c:showVal val="1"/>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Sheet1!$A$2:$A$4</c:f>
              <c:multiLvlStrCache>
                <c:ptCount val="3"/>
                <c:lvl>
                  <c:pt idx="0">
                    <c:v>2023</c:v>
                  </c:pt>
                  <c:pt idx="1">
                    <c:v>2024</c:v>
                  </c:pt>
                  <c:pt idx="2">
                    <c:v>2025</c:v>
                  </c:pt>
                </c:lvl>
              </c:multiLvlStrCache>
            </c:multiLvlStrRef>
          </c:cat>
          <c:val>
            <c:numRef>
              <c:f>Sheet1!$B$2:$B$4</c:f>
              <c:numCache>
                <c:formatCode>General</c:formatCode>
                <c:ptCount val="3"/>
                <c:pt idx="0">
                  <c:v>36</c:v>
                </c:pt>
                <c:pt idx="1">
                  <c:v>24.9</c:v>
                </c:pt>
                <c:pt idx="2">
                  <c:v>22.6</c:v>
                </c:pt>
              </c:numCache>
            </c:numRef>
          </c:val>
          <c:smooth val="0"/>
        </c:ser>
        <c:ser>
          <c:idx val="1"/>
          <c:order val="1"/>
          <c:tx>
            <c:strRef>
              <c:f>Sheet1!$C$1</c:f>
              <c:strCache>
                <c:ptCount val="1"/>
                <c:pt idx="0">
                  <c:v>Thuê mặt bằng</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dLblPos val="t"/>
            <c:showLegendKey val="0"/>
            <c:showVal val="1"/>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Sheet1!$A$2:$A$4</c:f>
              <c:multiLvlStrCache>
                <c:ptCount val="3"/>
                <c:lvl>
                  <c:pt idx="0">
                    <c:v>2023</c:v>
                  </c:pt>
                  <c:pt idx="1">
                    <c:v>2024</c:v>
                  </c:pt>
                  <c:pt idx="2">
                    <c:v>2025</c:v>
                  </c:pt>
                </c:lvl>
              </c:multiLvlStrCache>
            </c:multiLvlStrRef>
          </c:cat>
          <c:val>
            <c:numRef>
              <c:f>Sheet1!$C$2:$C$4</c:f>
              <c:numCache>
                <c:formatCode>General</c:formatCode>
                <c:ptCount val="3"/>
                <c:pt idx="0">
                  <c:v>20.5</c:v>
                </c:pt>
                <c:pt idx="1">
                  <c:v>17.4</c:v>
                </c:pt>
                <c:pt idx="2">
                  <c:v>15.9</c:v>
                </c:pt>
              </c:numCache>
            </c:numRef>
          </c:val>
          <c:smooth val="0"/>
        </c:ser>
        <c:dLbls>
          <c:numFmt formatCode="0" sourceLinked="0"/>
          <c:txPr>
            <a:bodyPr/>
            <a:lstStyle/>
            <a:p>
              <a:pPr>
                <a:defRPr lang="vi-VN" b="0" i="0" strike="noStrike" sz="700" u="none">
                  <a:solidFill>
                    <a:srgbClr val="262626"/>
                  </a:solidFill>
                  <a:latin typeface="Calibri"/>
                  <a:ea typeface="Calibri"/>
                  <a:cs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Sheet1!$B$2:$B$5</c:f>
              <c:numCache>
                <c:formatCode>General</c:formatCode>
                <c:ptCount val="4"/>
                <c:pt idx="0">
                  <c:v>65</c:v>
                </c:pt>
                <c:pt idx="1">
                  <c:v>50</c:v>
                </c:pt>
                <c:pt idx="2">
                  <c:v>35</c:v>
                </c:pt>
                <c:pt idx="3">
                  <c:v>20</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Sheet1!$C$2:$C$5</c:f>
              <c:numCache>
                <c:formatCode>General</c:formatCode>
                <c:ptCount val="4"/>
                <c:pt idx="0">
                  <c:v>15</c:v>
                </c:pt>
                <c:pt idx="1">
                  <c:v>15</c:v>
                </c:pt>
                <c:pt idx="2">
                  <c:v>10</c:v>
                </c:pt>
                <c:pt idx="3">
                  <c:v>10</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0"/>
        <c:axPos val="b"/>
        <c:majorGridlines>
          <c:spPr>
            <a:ln w="6350" cap="flat">
              <a:solidFill>
                <a:srgbClr val="E4E4E4"/>
              </a:solidFill>
              <a:prstDash val="solid"/>
              <a:round/>
            </a:ln>
          </c:spPr>
        </c:majorGridlines>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6 tháng 2025</c:v>
                </c:pt>
              </c:strCache>
            </c:strRef>
          </c:tx>
          <c:spPr>
            <a:solidFill>
              <a:srgbClr val="A3A3A3"/>
            </a:solidFill>
            <a:effectLst/>
          </c:spPr>
          <c:invertIfNegative val="0"/>
          <c:dLbls>
            <c:numFmt formatCode="0.00"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Sheet1!$B$2:$B$5</c:f>
              <c:numCache>
                <c:formatCode>General</c:formatCode>
                <c:ptCount val="4"/>
                <c:pt idx="0">
                  <c:v>7.63</c:v>
                </c:pt>
                <c:pt idx="1">
                  <c:v>3.88</c:v>
                </c:pt>
                <c:pt idx="2">
                  <c:v>8.44</c:v>
                </c:pt>
                <c:pt idx="3">
                  <c:v>8.36</c:v>
                </c:pt>
              </c:numCache>
            </c:numRef>
          </c:val>
        </c:ser>
        <c:ser>
          <c:idx val="1"/>
          <c:order val="1"/>
          <c:tx>
            <c:strRef>
              <c:f>Sheet1!$C$1</c:f>
              <c:strCache>
                <c:ptCount val="1"/>
                <c:pt idx="0">
                  <c:v>6 tháng 2026</c:v>
                </c:pt>
              </c:strCache>
            </c:strRef>
          </c:tx>
          <c:spPr>
            <a:solidFill>
              <a:srgbClr val="7B1E2B"/>
            </a:solidFill>
            <a:effectLst/>
          </c:spPr>
          <c:invertIfNegative val="0"/>
          <c:dLbls>
            <c:numFmt formatCode="0.00"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Sheet1!$C$2:$C$5</c:f>
              <c:numCache>
                <c:formatCode>General</c:formatCode>
                <c:ptCount val="4"/>
                <c:pt idx="0">
                  <c:v>8.18</c:v>
                </c:pt>
                <c:pt idx="1">
                  <c:v>3.87</c:v>
                </c:pt>
                <c:pt idx="2">
                  <c:v>9.81</c:v>
                </c:pt>
                <c:pt idx="3">
                  <c:v>8.09</c:v>
                </c:pt>
              </c:numCache>
            </c:numRef>
          </c:val>
        </c:ser>
        <c:dLbls>
          <c:numFmt formatCode="0.00"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00&quot;%&quot;"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CPI bình quân 8T/2026</c:v>
                  </c:pt>
                  <c:pt idx="1">
                    <c:v>Lạm phát cơ bản 8T/2026</c:v>
                  </c:pt>
                  <c:pt idx="2">
                    <c:v>Nhà ở, điện, nước, VLXD</c:v>
                  </c:pt>
                  <c:pt idx="3">
                    <c:v>Giá bán AgriPack 2026E (giả định)</c:v>
                  </c:pt>
                </c:lvl>
              </c:multiLvlStrCache>
            </c:multiLvlStrRef>
          </c:cat>
          <c:val>
            <c:numRef>
              <c:f>Sheet1!$B$2:$B$5</c:f>
              <c:numCache>
                <c:formatCode>General</c:formatCode>
                <c:ptCount val="4"/>
                <c:pt idx="0">
                  <c:v>4.45</c:v>
                </c:pt>
                <c:pt idx="1">
                  <c:v>4.24</c:v>
                </c:pt>
                <c:pt idx="2">
                  <c:v>6.71</c:v>
                </c:pt>
                <c:pt idx="3">
                  <c:v>2</c:v>
                </c:pt>
              </c:numCache>
            </c:numRef>
          </c:val>
        </c:ser>
        <c:dLbls>
          <c:numFmt formatCode="0.00&quot;%&quot;"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A3A3A3"/>
              </a:solidFill>
              <a:effectLst/>
            </c:spPr>
          </c:dPt>
          <c:dPt>
            <c:idx val="4"/>
            <c:invertIfNegative val="0"/>
            <c:bubble3D val="0"/>
            <c:spPr>
              <a:solidFill>
                <a:srgbClr val="7B1E2B"/>
              </a:solidFill>
              <a:effectLst/>
            </c:spPr>
          </c:dPt>
          <c:dPt>
            <c:idx val="5"/>
            <c:invertIfNegative val="0"/>
            <c:bubble3D val="0"/>
            <c:spPr>
              <a:solidFill>
                <a:srgbClr val="7B1E2B"/>
              </a:solidFill>
              <a:effectLst/>
            </c:spPr>
          </c:dPt>
          <c:cat>
            <c:multiLvlStrRef>
              <c:f>Sheet1!$A$2:$A$7</c:f>
              <c:multiLvlStrCache>
                <c:ptCount val="6"/>
                <c:lvl>
                  <c:pt idx="0">
                    <c:v>Liên ngân hàng cuối 8/2026</c:v>
                  </c:pt>
                  <c:pt idx="1">
                    <c:v>Trung tâm 22/9/2026</c:v>
                  </c:pt>
                  <c:pt idx="2">
                    <c:v>Vietcombank bán 22/9/2026</c:v>
                  </c:pt>
                  <c:pt idx="3">
                    <c:v>MBS dự báo cuối 2026 (cận trên)</c:v>
                  </c:pt>
                  <c:pt idx="4">
                    <c:v>Mô hình: bình quân 2026E</c:v>
                  </c:pt>
                  <c:pt idx="5">
                    <c:v>Mô hình: bình quân 2030E</c:v>
                  </c:pt>
                </c:lvl>
              </c:multiLvlStrCache>
            </c:multiLvlStrRef>
          </c:cat>
          <c:val>
            <c:numRef>
              <c:f>Sheet1!$B$2:$B$7</c:f>
              <c:numCache>
                <c:formatCode>General</c:formatCode>
                <c:ptCount val="6"/>
                <c:pt idx="0">
                  <c:v>26083</c:v>
                </c:pt>
                <c:pt idx="1">
                  <c:v>25640</c:v>
                </c:pt>
                <c:pt idx="2">
                  <c:v>26210</c:v>
                </c:pt>
                <c:pt idx="3">
                  <c:v>27000</c:v>
                </c:pt>
                <c:pt idx="4">
                  <c:v>26300</c:v>
                </c:pt>
                <c:pt idx="5">
                  <c:v>28468</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9000"/>
          <c:min val="25000"/>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VC</c:v>
                </c:pt>
              </c:strCache>
            </c:strRef>
          </c:tx>
          <c:spPr>
            <a:solidFill>
              <a:srgbClr val="A3A3A3"/>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634</c:v>
                </c:pt>
                <c:pt idx="1">
                  <c:v>529</c:v>
                </c:pt>
                <c:pt idx="2">
                  <c:v>398</c:v>
                </c:pt>
                <c:pt idx="3">
                  <c:v>509</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Mô hình (Luật 67/2025)</c:v>
                </c:pt>
              </c:strCache>
            </c:strRef>
          </c:tx>
          <c:spPr>
            <a:solidFill>
              <a:srgbClr val="40404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17</c:v>
                </c:pt>
                <c:pt idx="1">
                  <c:v>20</c:v>
                </c:pt>
                <c:pt idx="2">
                  <c:v>20</c:v>
                </c:pt>
                <c:pt idx="3">
                  <c:v>20</c:v>
                </c:pt>
                <c:pt idx="4">
                  <c:v>20</c:v>
                </c:pt>
                <c:pt idx="5">
                  <c:v>20</c:v>
                </c:pt>
              </c:numCache>
            </c:numRef>
          </c:val>
        </c:ser>
        <c:ser>
          <c:idx val="1"/>
          <c:order val="1"/>
          <c:tx>
            <c:strRef>
              <c:f>Sheet1!$C$1</c:f>
              <c:strCache>
                <c:ptCount val="1"/>
                <c:pt idx="0">
                  <c:v>Nếu hưởng ưu đãi NQ 198</c:v>
                </c:pt>
              </c:strCache>
            </c:strRef>
          </c:tx>
          <c:spPr>
            <a:solidFill>
              <a:srgbClr val="7B1E2B"/>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Sheet1!$C$2:$C$7</c:f>
              <c:numCache>
                <c:formatCode>General</c:formatCode>
                <c:ptCount val="6"/>
                <c:pt idx="0">
                  <c:v>0</c:v>
                </c:pt>
                <c:pt idx="1">
                  <c:v>0</c:v>
                </c:pt>
                <c:pt idx="2">
                  <c:v>10</c:v>
                </c:pt>
                <c:pt idx="3">
                  <c:v>10</c:v>
                </c:pt>
                <c:pt idx="4">
                  <c:v>10</c:v>
                </c:pt>
                <c:pt idx="5">
                  <c:v>10</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A3A3A3"/>
            </a:solidFill>
            <a:effectLst/>
          </c:spPr>
          <c:invertIfNegative val="0"/>
          <c:dLbls>
            <c:numFmt formatCode="0.0&quot;%&quot;"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Thị trường nhựa, tấn (26–31)</c:v>
                  </c:pt>
                  <c:pt idx="1">
                    <c:v>SAM F&amp;B phân hủy (26–34)</c:v>
                  </c:pt>
                  <c:pt idx="2">
                    <c:v>TAM bao bì xanh (26–34)</c:v>
                  </c:pt>
                  <c:pt idx="3">
                    <c:v>AgriPack dự phóng (25–30E)</c:v>
                  </c:pt>
                </c:lvl>
              </c:multiLvlStrCache>
            </c:multiLvlStrRef>
          </c:cat>
          <c:val>
            <c:numRef>
              <c:f>Sheet1!$B$2:$B$5</c:f>
              <c:numCache>
                <c:formatCode>General</c:formatCode>
                <c:ptCount val="4"/>
                <c:pt idx="0">
                  <c:v>8.35</c:v>
                </c:pt>
                <c:pt idx="1">
                  <c:v>4.73</c:v>
                </c:pt>
                <c:pt idx="2">
                  <c:v>4.15</c:v>
                </c:pt>
                <c:pt idx="3">
                  <c:v>29.07</c:v>
                </c:pt>
              </c:numCache>
            </c:numRef>
          </c:val>
        </c:ser>
        <c:dLbls>
          <c:numFmt formatCode="0.0&quot;%&quot;"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A3A3A3"/>
            </a:solidFill>
            <a:effectLst/>
          </c:spPr>
          <c:invertIfNegative val="0"/>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7B1E2B"/>
              </a:solidFill>
              <a:effectLst/>
            </c:spPr>
          </c:dPt>
          <c:dPt>
            <c:idx val="2"/>
            <c:invertIfNegative val="0"/>
            <c:bubble3D val="0"/>
            <c:spPr>
              <a:solidFill>
                <a:srgbClr val="A3A3A3"/>
              </a:solidFill>
              <a:effectLst/>
            </c:spPr>
          </c:dPt>
          <c:dPt>
            <c:idx val="3"/>
            <c:invertIfNegative val="0"/>
            <c:bubble3D val="0"/>
            <c:spPr>
              <a:solidFill>
                <a:srgbClr val="D0D0D0"/>
              </a:solidFill>
              <a:effectLst/>
            </c:spPr>
          </c:dPt>
          <c:cat>
            <c:multiLvlStrRef>
              <c:f>Sheet1!$A$2:$A$5</c:f>
              <c:multiLvlStrCache>
                <c:ptCount val="4"/>
                <c:lvl>
                  <c:pt idx="0">
                    <c:v>Rơm rạ</c:v>
                  </c:pt>
                  <c:pt idx="1">
                    <c:v>Bã mía</c:v>
                  </c:pt>
                  <c:pt idx="2">
                    <c:v>Vỏ cà phê</c:v>
                  </c:pt>
                  <c:pt idx="3">
                    <c:v>Vỏ trấu, chăn nuôi và khác</c:v>
                  </c:pt>
                </c:lvl>
              </c:multiLvlStrCache>
            </c:multiLvlStrRef>
          </c:cat>
          <c:val>
            <c:numRef>
              <c:f>Sheet1!$B$2:$B$5</c:f>
              <c:numCache>
                <c:formatCode>General</c:formatCode>
                <c:ptCount val="4"/>
                <c:pt idx="0">
                  <c:v>42.8</c:v>
                </c:pt>
                <c:pt idx="1">
                  <c:v>15</c:v>
                </c:pt>
                <c:pt idx="2">
                  <c:v>1.4</c:v>
                </c:pt>
                <c:pt idx="3">
                  <c:v>100.8</c:v>
                </c:pt>
              </c:numCache>
            </c:numRef>
          </c:val>
        </c:ser>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A3A3A3"/>
              </a:solidFill>
              <a:effectLst/>
            </c:spPr>
          </c:dPt>
          <c:dPt>
            <c:idx val="3"/>
            <c:invertIfNegative val="0"/>
            <c:bubble3D val="0"/>
            <c:spPr>
              <a:solidFill>
                <a:srgbClr val="A3A3A3"/>
              </a:solidFill>
              <a:effectLst/>
            </c:spPr>
          </c:dPt>
          <c:cat>
            <c:multiLvlStrRef>
              <c:f>Sheet1!$A$2:$A$5</c:f>
              <c:multiLvlStrCache>
                <c:ptCount val="4"/>
                <c:lvl>
                  <c:pt idx="0">
                    <c:v>An Phát (AnEco)</c:v>
                  </c:pt>
                  <c:pt idx="1">
                    <c:v>HAPBIO</c:v>
                  </c:pt>
                  <c:pt idx="2">
                    <c:v>Thành Long (20 → 43)</c:v>
                  </c:pt>
                  <c:pt idx="3">
                    <c:v>AIRX Coffee (3–4)</c:v>
                  </c:pt>
                </c:lvl>
              </c:multiLvlStrCache>
            </c:multiLvlStrRef>
          </c:cat>
          <c:val>
            <c:numRef>
              <c:f>Sheet1!$B$2:$B$5</c:f>
              <c:numCache>
                <c:formatCode>General</c:formatCode>
                <c:ptCount val="4"/>
                <c:pt idx="0">
                  <c:v>108</c:v>
                </c:pt>
                <c:pt idx="1">
                  <c:v>54</c:v>
                </c:pt>
                <c:pt idx="2">
                  <c:v>43</c:v>
                </c:pt>
                <c:pt idx="3">
                  <c:v>4</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Bất lợi</c:v>
                </c:pt>
              </c:strCache>
            </c:strRef>
          </c:tx>
          <c:spPr>
            <a:solidFill>
              <a:srgbClr val="A3A3A3"/>
            </a:solidFill>
            <a:effectLst/>
          </c:spPr>
          <c:invertIfNegative val="0"/>
          <c:dLbls>
            <c:numFmt formatCode="0.0;-0.0;&quot;&quot;"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CRP ±1 điểm %</c:v>
                  </c:pt>
                  <c:pt idx="5">
                    <c:v>Lãi suất Rf, Kd ±1 điểm %</c:v>
                  </c:pt>
                  <c:pt idx="6">
                    <c:v>Ưu đãi thuế NQ 198</c:v>
                  </c:pt>
                </c:lvl>
              </c:multiLvlStrCache>
            </c:multiLvlStrRef>
          </c:cat>
          <c:val>
            <c:numRef>
              <c:f>Sheet1!$B$2:$B$8</c:f>
              <c:numCache>
                <c:formatCode>General</c:formatCode>
                <c:ptCount val="7"/>
                <c:pt idx="0">
                  <c:v>-26.2</c:v>
                </c:pt>
                <c:pt idx="1">
                  <c:v>-10.2</c:v>
                </c:pt>
                <c:pt idx="2">
                  <c:v>-8.3</c:v>
                </c:pt>
                <c:pt idx="3">
                  <c:v>-6.5</c:v>
                </c:pt>
                <c:pt idx="4">
                  <c:v>-4.4</c:v>
                </c:pt>
                <c:pt idx="5">
                  <c:v>-4.4</c:v>
                </c:pt>
                <c:pt idx="6">
                  <c:v>0</c:v>
                </c:pt>
              </c:numCache>
            </c:numRef>
          </c:val>
        </c:ser>
        <c:ser>
          <c:idx val="1"/>
          <c:order val="1"/>
          <c:tx>
            <c:strRef>
              <c:f>Sheet1!$C$1</c:f>
              <c:strCache>
                <c:ptCount val="1"/>
                <c:pt idx="0">
                  <c:v>Thuận lợi</c:v>
                </c:pt>
              </c:strCache>
            </c:strRef>
          </c:tx>
          <c:spPr>
            <a:solidFill>
              <a:srgbClr val="7B1E2B"/>
            </a:solidFill>
            <a:effectLst/>
          </c:spPr>
          <c:invertIfNegative val="0"/>
          <c:dLbls>
            <c:numFmt formatCode="0.0;-0.0;&quot;&quot;"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CRP ±1 điểm %</c:v>
                  </c:pt>
                  <c:pt idx="5">
                    <c:v>Lãi suất Rf, Kd ±1 điểm %</c:v>
                  </c:pt>
                  <c:pt idx="6">
                    <c:v>Ưu đãi thuế NQ 198</c:v>
                  </c:pt>
                </c:lvl>
              </c:multiLvlStrCache>
            </c:multiLvlStrRef>
          </c:cat>
          <c:val>
            <c:numRef>
              <c:f>Sheet1!$C$2:$C$8</c:f>
              <c:numCache>
                <c:formatCode>General</c:formatCode>
                <c:ptCount val="7"/>
                <c:pt idx="0">
                  <c:v>30.6</c:v>
                </c:pt>
                <c:pt idx="1">
                  <c:v>9.9</c:v>
                </c:pt>
                <c:pt idx="2">
                  <c:v>8.1</c:v>
                </c:pt>
                <c:pt idx="3">
                  <c:v>6.8</c:v>
                </c:pt>
                <c:pt idx="4">
                  <c:v>5.4</c:v>
                </c:pt>
                <c:pt idx="5">
                  <c:v>5.2</c:v>
                </c:pt>
                <c:pt idx="6">
                  <c:v>3</c:v>
                </c:pt>
              </c:numCache>
            </c:numRef>
          </c:val>
        </c:ser>
        <c:dLbls>
          <c:numFmt formatCode="0.0;-0.0;&quot;&quot;"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BFBFBF"/>
            </a:solidFill>
            <a:prstDash val="solid"/>
            <a:round/>
          </a:ln>
        </c:spPr>
        <c:txPr>
          <a:bodyPr/>
          <a:lstStyle/>
          <a:p>
            <a:pPr>
              <a:defRPr lang="vi-VN" sz="6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
          <c:min val="-42"/>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CP biến đổi/DT (%)</c:v>
                </c:pt>
              </c:strCache>
            </c:strRef>
          </c:tx>
          <c:spPr>
            <a:solidFill>
              <a:srgbClr val="7B1E2B"/>
            </a:solidFill>
            <a:effectLst/>
          </c:spPr>
          <c:invertIfNegative val="0"/>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25.5</c:v>
                </c:pt>
                <c:pt idx="1">
                  <c:v>25</c:v>
                </c:pt>
                <c:pt idx="2">
                  <c:v>24.5</c:v>
                </c:pt>
                <c:pt idx="3">
                  <c:v>25</c:v>
                </c:pt>
                <c:pt idx="4">
                  <c:v>25.5</c:v>
                </c:pt>
                <c:pt idx="5">
                  <c:v>27</c:v>
                </c:pt>
                <c:pt idx="6">
                  <c:v>26.5</c:v>
                </c:pt>
                <c:pt idx="7">
                  <c:v>27</c:v>
                </c:pt>
              </c:numCache>
            </c:numRef>
          </c:val>
        </c:ser>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in val="0"/>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Bao bì F&amp;B/FMCG</c:v>
                </c:pt>
              </c:strCache>
            </c:strRef>
          </c:tx>
          <c:spPr>
            <a:solidFill>
              <a:srgbClr val="7B1E2B"/>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Sheet1!$B$2:$B$7</c:f>
              <c:numCache>
                <c:formatCode>General</c:formatCode>
                <c:ptCount val="6"/>
                <c:pt idx="0">
                  <c:v>38.1</c:v>
                </c:pt>
                <c:pt idx="1">
                  <c:v>51.2</c:v>
                </c:pt>
                <c:pt idx="2">
                  <c:v>63.8</c:v>
                </c:pt>
                <c:pt idx="3">
                  <c:v>87.8</c:v>
                </c:pt>
                <c:pt idx="4">
                  <c:v>112</c:v>
                </c:pt>
                <c:pt idx="5">
                  <c:v>133.6</c:v>
                </c:pt>
              </c:numCache>
            </c:numRef>
          </c:val>
        </c:ser>
        <c:ser>
          <c:idx val="1"/>
          <c:order val="1"/>
          <c:tx>
            <c:strRef>
              <c:f>Sheet1!$C$1</c:f>
              <c:strCache>
                <c:ptCount val="1"/>
                <c:pt idx="0">
                  <c:v>Thiết kế &amp; khuôn</c:v>
                </c:pt>
              </c:strCache>
            </c:strRef>
          </c:tx>
          <c:spPr>
            <a:solidFill>
              <a:srgbClr val="40404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Sheet1!$C$2:$C$7</c:f>
              <c:numCache>
                <c:formatCode>General</c:formatCode>
                <c:ptCount val="6"/>
                <c:pt idx="0">
                  <c:v>5.9</c:v>
                </c:pt>
                <c:pt idx="1">
                  <c:v>7.3</c:v>
                </c:pt>
                <c:pt idx="2">
                  <c:v>8.8</c:v>
                </c:pt>
                <c:pt idx="3">
                  <c:v>11.5</c:v>
                </c:pt>
                <c:pt idx="4">
                  <c:v>14.1</c:v>
                </c:pt>
                <c:pt idx="5">
                  <c:v>16.6</c:v>
                </c:pt>
              </c:numCache>
            </c:numRef>
          </c:val>
        </c:ser>
        <c:ser>
          <c:idx val="2"/>
          <c:order val="2"/>
          <c:tx>
            <c:strRef>
              <c:f>Sheet1!$D$1</c:f>
              <c:strCache>
                <c:ptCount val="1"/>
                <c:pt idx="0">
                  <c:v>Đệm nội thất/TMĐT</c:v>
                </c:pt>
              </c:strCache>
            </c:strRef>
          </c:tx>
          <c:spPr>
            <a:solidFill>
              <a:srgbClr val="A3A3A3"/>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Sheet1!$D$2:$D$7</c:f>
              <c:numCache>
                <c:formatCode>General</c:formatCode>
                <c:ptCount val="6"/>
                <c:pt idx="0">
                  <c:v>2.7</c:v>
                </c:pt>
                <c:pt idx="1">
                  <c:v>3.6</c:v>
                </c:pt>
                <c:pt idx="2">
                  <c:v>4.8</c:v>
                </c:pt>
                <c:pt idx="3">
                  <c:v>6.8</c:v>
                </c:pt>
                <c:pt idx="4">
                  <c:v>9.1</c:v>
                </c:pt>
                <c:pt idx="5">
                  <c:v>11.5</c:v>
                </c:pt>
              </c:numCache>
            </c:numRef>
          </c:val>
        </c:ser>
        <c:ser>
          <c:idx val="3"/>
          <c:order val="3"/>
          <c:tx>
            <c:strRef>
              <c:f>Sheet1!$E$1</c:f>
              <c:strCache>
                <c:ptCount val="1"/>
                <c:pt idx="0">
                  <c:v>Đệm điện tử</c:v>
                </c:pt>
              </c:strCache>
            </c:strRef>
          </c:tx>
          <c:spPr>
            <a:solidFill>
              <a:srgbClr val="D0D0D0"/>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Sheet1!$E$2:$E$7</c:f>
              <c:numCache>
                <c:formatCode>General</c:formatCode>
                <c:ptCount val="6"/>
                <c:pt idx="0">
                  <c:v>1.2</c:v>
                </c:pt>
                <c:pt idx="1">
                  <c:v>1.9</c:v>
                </c:pt>
                <c:pt idx="2">
                  <c:v>2.9</c:v>
                </c:pt>
                <c:pt idx="3">
                  <c:v>5.1</c:v>
                </c:pt>
                <c:pt idx="4">
                  <c:v>7.5</c:v>
                </c:pt>
                <c:pt idx="5">
                  <c:v>9.8</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Gộp</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37.3</c:v>
                </c:pt>
                <c:pt idx="1">
                  <c:v>46.9</c:v>
                </c:pt>
                <c:pt idx="2">
                  <c:v>51</c:v>
                </c:pt>
                <c:pt idx="3">
                  <c:v>51.8</c:v>
                </c:pt>
                <c:pt idx="4">
                  <c:v>50.5</c:v>
                </c:pt>
                <c:pt idx="5">
                  <c:v>44.8</c:v>
                </c:pt>
                <c:pt idx="6">
                  <c:v>47.1</c:v>
                </c:pt>
                <c:pt idx="7">
                  <c:v>47.6</c:v>
                </c:pt>
              </c:numCache>
            </c:numRef>
          </c:val>
          <c:smooth val="0"/>
        </c:ser>
        <c:ser>
          <c:idx val="1"/>
          <c:order val="1"/>
          <c:tx>
            <c:strRef>
              <c:f>Sheet1!$C$1</c:f>
              <c:strCache>
                <c:ptCount val="1"/>
                <c:pt idx="0">
                  <c:v>EBITDA</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Sheet1!$C$2:$C$9</c:f>
              <c:numCache>
                <c:formatCode>General</c:formatCode>
                <c:ptCount val="8"/>
                <c:pt idx="0">
                  <c:v>-14.2</c:v>
                </c:pt>
                <c:pt idx="1">
                  <c:v>6.5</c:v>
                </c:pt>
                <c:pt idx="2">
                  <c:v>16.2</c:v>
                </c:pt>
                <c:pt idx="3">
                  <c:v>17.9</c:v>
                </c:pt>
                <c:pt idx="4">
                  <c:v>17.9</c:v>
                </c:pt>
                <c:pt idx="5">
                  <c:v>16.1</c:v>
                </c:pt>
                <c:pt idx="6">
                  <c:v>19</c:v>
                </c:pt>
                <c:pt idx="7">
                  <c:v>20.2</c:v>
                </c:pt>
              </c:numCache>
            </c:numRef>
          </c:val>
          <c:smooth val="0"/>
        </c:ser>
        <c:ser>
          <c:idx val="2"/>
          <c:order val="2"/>
          <c:tx>
            <c:strRef>
              <c:f>Sheet1!$D$1</c:f>
              <c:strCache>
                <c:ptCount val="1"/>
                <c:pt idx="0">
                  <c:v>EBIT</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Sheet1!$D$2:$D$9</c:f>
              <c:numCache>
                <c:formatCode>General</c:formatCode>
                <c:ptCount val="8"/>
                <c:pt idx="0">
                  <c:v>-21.6</c:v>
                </c:pt>
                <c:pt idx="1">
                  <c:v>-1.2</c:v>
                </c:pt>
                <c:pt idx="2">
                  <c:v>9.6</c:v>
                </c:pt>
                <c:pt idx="3">
                  <c:v>12</c:v>
                </c:pt>
                <c:pt idx="4">
                  <c:v>11.3</c:v>
                </c:pt>
                <c:pt idx="5">
                  <c:v>5.7</c:v>
                </c:pt>
                <c:pt idx="6">
                  <c:v>9.8</c:v>
                </c:pt>
                <c:pt idx="7">
                  <c:v>11.5</c:v>
                </c:pt>
              </c:numCache>
            </c:numRef>
          </c:val>
          <c:smooth val="0"/>
        </c:ser>
        <c:ser>
          <c:idx val="3"/>
          <c:order val="3"/>
          <c:tx>
            <c:strRef>
              <c:f>Sheet1!$E$1</c:f>
              <c:strCache>
                <c:ptCount val="1"/>
                <c:pt idx="0">
                  <c:v>LNST</c:v>
                </c:pt>
              </c:strCache>
            </c:strRef>
          </c:tx>
          <c:spPr>
            <a:solidFill>
              <a:srgbClr val="B08D57"/>
            </a:solidFill>
            <a:ln w="19050" cap="flat">
              <a:solidFill>
                <a:srgbClr val="B08D57"/>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marker>
            <c:symbol val="circle"/>
            <c:size val="4"/>
            <c:spPr>
              <a:solidFill>
                <a:srgbClr val="B08D57"/>
              </a:solidFill>
              <a:ln w="9525" cap="flat">
                <a:solidFill>
                  <a:srgbClr val="B08D57"/>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Sheet1!$E$2:$E$9</c:f>
              <c:numCache>
                <c:formatCode>General</c:formatCode>
                <c:ptCount val="8"/>
                <c:pt idx="0">
                  <c:v>-22.2</c:v>
                </c:pt>
                <c:pt idx="1">
                  <c:v>-1.6</c:v>
                </c:pt>
                <c:pt idx="2">
                  <c:v>9.3</c:v>
                </c:pt>
                <c:pt idx="3">
                  <c:v>10.3</c:v>
                </c:pt>
                <c:pt idx="4">
                  <c:v>7.3</c:v>
                </c:pt>
                <c:pt idx="5">
                  <c:v>2.2</c:v>
                </c:pt>
                <c:pt idx="6">
                  <c:v>6.2</c:v>
                </c:pt>
                <c:pt idx="7">
                  <c:v>8.1</c:v>
                </c:pt>
              </c:numCache>
            </c:numRef>
          </c:val>
          <c:smooth val="0"/>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CAPEX/DT (%)</c:v>
                </c:pt>
              </c:strCache>
            </c:strRef>
          </c:tx>
          <c:spPr>
            <a:solidFill>
              <a:srgbClr val="7B1E2B"/>
            </a:solidFill>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25.8</c:v>
                </c:pt>
                <c:pt idx="1">
                  <c:v>20.4</c:v>
                </c:pt>
                <c:pt idx="2">
                  <c:v>10.7</c:v>
                </c:pt>
                <c:pt idx="3">
                  <c:v>20</c:v>
                </c:pt>
                <c:pt idx="4">
                  <c:v>65</c:v>
                </c:pt>
                <c:pt idx="5">
                  <c:v>12</c:v>
                </c:pt>
                <c:pt idx="6">
                  <c:v>10</c:v>
                </c:pt>
                <c:pt idx="7">
                  <c:v>10</c:v>
                </c:pt>
              </c:numCache>
            </c:numRef>
          </c:val>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CAPEX</c:v>
                </c:pt>
              </c:strCache>
            </c:strRef>
          </c:tx>
          <c:spPr>
            <a:solidFill>
              <a:srgbClr val="7B1E2B"/>
            </a:solidFill>
            <a:effectLst/>
          </c:spPr>
          <c:invertIfNegative val="0"/>
          <c:dLbls>
            <c:numFmt formatCode="0.0"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5.1</c:v>
                </c:pt>
                <c:pt idx="1">
                  <c:v>12.7</c:v>
                </c:pt>
                <c:pt idx="2">
                  <c:v>51.8</c:v>
                </c:pt>
                <c:pt idx="3">
                  <c:v>13.2</c:v>
                </c:pt>
                <c:pt idx="4">
                  <c:v>14.2</c:v>
                </c:pt>
                <c:pt idx="5">
                  <c:v>17</c:v>
                </c:pt>
              </c:numCache>
            </c:numRef>
          </c:val>
        </c:ser>
        <c:ser>
          <c:idx val="1"/>
          <c:order val="1"/>
          <c:tx>
            <c:strRef>
              <c:f>Sheet1!$C$1</c:f>
              <c:strCache>
                <c:ptCount val="1"/>
                <c:pt idx="0">
                  <c:v>Khấu hao</c:v>
                </c:pt>
              </c:strCache>
            </c:strRef>
          </c:tx>
          <c:spPr>
            <a:solidFill>
              <a:srgbClr val="A3A3A3"/>
            </a:solidFill>
            <a:effectLst/>
          </c:spPr>
          <c:invertIfNegative val="0"/>
          <c:dLbls>
            <c:numFmt formatCode="0.0"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3.1</c:v>
                </c:pt>
                <c:pt idx="1">
                  <c:v>3.7</c:v>
                </c:pt>
                <c:pt idx="2">
                  <c:v>5.3</c:v>
                </c:pt>
                <c:pt idx="3">
                  <c:v>11.5</c:v>
                </c:pt>
                <c:pt idx="4">
                  <c:v>13.1</c:v>
                </c:pt>
                <c:pt idx="5">
                  <c:v>14.8</c:v>
                </c:pt>
              </c:numCache>
            </c:numRef>
          </c:val>
        </c:ser>
        <c:dLbls>
          <c:numFmt formatCode="0.0" sourceLinked="0"/>
          <c:txPr>
            <a:bodyPr/>
            <a:lstStyle/>
            <a:p>
              <a:pPr>
                <a:defRPr lang="vi-VN" b="0" i="0" strike="noStrike" sz="6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b"/>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FCFF</c:v>
                </c:pt>
              </c:strCache>
            </c:strRef>
          </c:tx>
          <c:spPr>
            <a:solidFill>
              <a:srgbClr val="404040"/>
            </a:solidFill>
            <a:effectLst/>
          </c:spPr>
          <c:invertIfNegative val="0"/>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c:v>
                </c:pt>
                <c:pt idx="1">
                  <c:v>-4.9</c:v>
                </c:pt>
                <c:pt idx="2">
                  <c:v>-42.6</c:v>
                </c:pt>
                <c:pt idx="3">
                  <c:v>-3.7</c:v>
                </c:pt>
                <c:pt idx="4">
                  <c:v>3.6</c:v>
                </c:pt>
                <c:pt idx="5">
                  <c:v>8.7</c:v>
                </c:pt>
              </c:numCache>
            </c:numRef>
          </c:val>
        </c:ser>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ROIC</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12.7</c:v>
                </c:pt>
                <c:pt idx="1">
                  <c:v>16.7</c:v>
                </c:pt>
                <c:pt idx="2">
                  <c:v>8</c:v>
                </c:pt>
                <c:pt idx="3">
                  <c:v>5.1</c:v>
                </c:pt>
                <c:pt idx="4">
                  <c:v>10.4</c:v>
                </c:pt>
                <c:pt idx="5">
                  <c:v>13.9</c:v>
                </c:pt>
              </c:numCache>
            </c:numRef>
          </c:val>
          <c:smooth val="0"/>
        </c:ser>
        <c:ser>
          <c:idx val="1"/>
          <c:order val="1"/>
          <c:tx>
            <c:strRef>
              <c:f>Sheet1!$C$1</c:f>
              <c:strCache>
                <c:ptCount val="1"/>
                <c:pt idx="0">
                  <c:v>WACC</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14.1</c:v>
                </c:pt>
                <c:pt idx="1">
                  <c:v>14.1</c:v>
                </c:pt>
                <c:pt idx="2">
                  <c:v>14.1</c:v>
                </c:pt>
                <c:pt idx="3">
                  <c:v>14.1</c:v>
                </c:pt>
                <c:pt idx="4">
                  <c:v>14.1</c:v>
                </c:pt>
                <c:pt idx="5">
                  <c:v>14.1</c:v>
                </c:pt>
              </c:numCache>
            </c:numRef>
          </c:val>
          <c:smooth val="0"/>
        </c:ser>
        <c:dLbls>
          <c:numFmt formatCode="#,##0" sourceLinked="0"/>
          <c:txPr>
            <a:bodyPr/>
            <a:lstStyle/>
            <a:p>
              <a:pPr>
                <a:defRPr lang="vi-VN" b="0" i="0" strike="noStrike" sz="700" u="none">
                  <a:solidFill>
                    <a:srgbClr val="262626"/>
                  </a:solidFill>
                  <a:latin typeface="Calibri"/>
                  <a:ea typeface="Calibri"/>
                  <a:cs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legend>
      <c:legendPos val="r"/>
      <c:overlay val="0"/>
      <c:txPr>
        <a:bodyPr/>
        <a:lstStyle/>
        <a:p>
          <a:pPr>
            <a:defRPr lang="vi-VN" sz="700">
              <a:solidFill>
                <a:srgbClr val="666666"/>
              </a:solidFill>
              <a:latin typeface="Calibri"/>
              <a:ea typeface="Calibri"/>
              <a:cs typeface="Calibri"/>
              <a:cs typeface="Calibri"/>
            </a:defRPr>
          </a:pPr>
          <a:endParaRPr lang="vi-VN"/>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Sheet1!$B$2:$B$7</c:f>
              <c:numCache>
                <c:formatCode>General</c:formatCode>
                <c:ptCount val="6"/>
                <c:pt idx="0">
                  <c:v>0</c:v>
                </c:pt>
                <c:pt idx="1">
                  <c:v>0</c:v>
                </c:pt>
                <c:pt idx="2">
                  <c:v>0</c:v>
                </c:pt>
                <c:pt idx="3">
                  <c:v>27</c:v>
                </c:pt>
                <c:pt idx="4">
                  <c:v>28.4</c:v>
                </c:pt>
                <c:pt idx="5">
                  <c:v>0</c:v>
                </c:pt>
              </c:numCache>
            </c:numRef>
          </c:val>
        </c:ser>
        <c:ser>
          <c:idx val="1"/>
          <c:order val="1"/>
          <c:tx>
            <c:strRef>
              <c:f>Sheet1!$C$1</c:f>
              <c:strCache>
                <c:ptCount val="1"/>
                <c:pt idx="0">
                  <c:v>Tăng</c:v>
                </c:pt>
              </c:strCache>
            </c:strRef>
          </c:tx>
          <c:spPr>
            <a:solidFill>
              <a:srgbClr val="404040"/>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Sheet1!$C$2:$C$7</c:f>
              <c:numCache>
                <c:formatCode>General</c:formatCode>
                <c:ptCount val="6"/>
                <c:pt idx="0">
                  <c:v>0</c:v>
                </c:pt>
                <c:pt idx="1">
                  <c:v>27</c:v>
                </c:pt>
                <c:pt idx="2">
                  <c:v>0</c:v>
                </c:pt>
                <c:pt idx="3">
                  <c:v>2.9</c:v>
                </c:pt>
                <c:pt idx="4">
                  <c:v>0</c:v>
                </c:pt>
                <c:pt idx="5">
                  <c:v>0</c:v>
                </c:pt>
              </c:numCache>
            </c:numRef>
          </c:val>
        </c:ser>
        <c:ser>
          <c:idx val="2"/>
          <c:order val="2"/>
          <c:tx>
            <c:strRef>
              <c:f>Sheet1!$D$1</c:f>
              <c:strCache>
                <c:ptCount val="1"/>
                <c:pt idx="0">
                  <c:v>Tăng (âm)</c:v>
                </c:pt>
              </c:strCache>
            </c:strRef>
          </c:tx>
          <c:spPr>
            <a:solidFill>
              <a:srgbClr val="404040"/>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Sheet1!$D$2:$D$7</c:f>
              <c:numCache>
                <c:formatCode>General</c:formatCode>
                <c:ptCount val="6"/>
                <c:pt idx="0">
                  <c:v>0</c:v>
                </c:pt>
                <c:pt idx="1">
                  <c:v>-32.9</c:v>
                </c:pt>
                <c:pt idx="2">
                  <c:v>0</c:v>
                </c:pt>
                <c:pt idx="3">
                  <c:v>0</c:v>
                </c:pt>
                <c:pt idx="4">
                  <c:v>0</c:v>
                </c:pt>
                <c:pt idx="5">
                  <c:v>0</c:v>
                </c:pt>
              </c:numCache>
            </c:numRef>
          </c:val>
        </c:ser>
        <c:ser>
          <c:idx val="3"/>
          <c:order val="3"/>
          <c:tx>
            <c:strRef>
              <c:f>Sheet1!$E$1</c:f>
              <c:strCache>
                <c:ptCount val="1"/>
                <c:pt idx="0">
                  <c:v>Giảm</c:v>
                </c:pt>
              </c:strCache>
            </c:strRef>
          </c:tx>
          <c:spPr>
            <a:solidFill>
              <a:srgbClr val="A3A3A3"/>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Sheet1!$E$2:$E$7</c:f>
              <c:numCache>
                <c:formatCode>General</c:formatCode>
                <c:ptCount val="6"/>
                <c:pt idx="0">
                  <c:v>-32.9</c:v>
                </c:pt>
                <c:pt idx="1">
                  <c:v>0</c:v>
                </c:pt>
                <c:pt idx="2">
                  <c:v>0</c:v>
                </c:pt>
                <c:pt idx="3">
                  <c:v>0</c:v>
                </c:pt>
                <c:pt idx="4">
                  <c:v>1.6</c:v>
                </c:pt>
                <c:pt idx="5">
                  <c:v>0</c:v>
                </c:pt>
              </c:numCache>
            </c:numRef>
          </c:val>
        </c:ser>
        <c:ser>
          <c:idx val="4"/>
          <c:order val="4"/>
          <c:tx>
            <c:strRef>
              <c:f>Sheet1!$F$1</c:f>
              <c:strCache>
                <c:ptCount val="1"/>
                <c:pt idx="0">
                  <c:v>Tổng</c:v>
                </c:pt>
              </c:strCache>
            </c:strRef>
          </c:tx>
          <c:spPr>
            <a:solidFill>
              <a:srgbClr val="7B1E2B"/>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Sheet1!$A$2:$A$7</c:f>
              <c:multiLvlStrCache>
                <c:ptCount val="6"/>
                <c:lvl>
                  <c:pt idx="0">
                    <c:v>PV FCFF</c:v>
                  </c:pt>
                  <c:pt idx="1">
                    <c:v>PV TV</c:v>
                  </c:pt>
                  <c:pt idx="2">
                    <c:v>EV</c:v>
                  </c:pt>
                  <c:pt idx="3">
                    <c:v>+Tiền</c:v>
                  </c:pt>
                  <c:pt idx="4">
                    <c:v>−Nợ</c:v>
                  </c:pt>
                  <c:pt idx="5">
                    <c:v>Pre</c:v>
                  </c:pt>
                </c:lvl>
              </c:multiLvlStrCache>
            </c:multiLvlStrRef>
          </c:cat>
          <c:val>
            <c:numRef>
              <c:f>Sheet1!$F$2:$F$7</c:f>
              <c:numCache>
                <c:formatCode>General</c:formatCode>
                <c:ptCount val="6"/>
                <c:pt idx="0">
                  <c:v>0</c:v>
                </c:pt>
                <c:pt idx="1">
                  <c:v>0</c:v>
                </c:pt>
                <c:pt idx="2">
                  <c:v>27</c:v>
                </c:pt>
                <c:pt idx="3">
                  <c:v>0</c:v>
                </c:pt>
                <c:pt idx="4">
                  <c:v>0</c:v>
                </c:pt>
                <c:pt idx="5">
                  <c:v>28.4</c:v>
                </c:pt>
              </c:numCache>
            </c:numRef>
          </c:val>
        </c:ser>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Sheet1!$B$2:$B$6</c:f>
              <c:numCache>
                <c:formatCode>General</c:formatCode>
                <c:ptCount val="5"/>
                <c:pt idx="0">
                  <c:v>0</c:v>
                </c:pt>
                <c:pt idx="1">
                  <c:v>61.6</c:v>
                </c:pt>
                <c:pt idx="2">
                  <c:v>0</c:v>
                </c:pt>
                <c:pt idx="3">
                  <c:v>24</c:v>
                </c:pt>
                <c:pt idx="4">
                  <c:v>0</c:v>
                </c:pt>
              </c:numCache>
            </c:numRef>
          </c:val>
        </c:ser>
        <c:ser>
          <c:idx val="1"/>
          <c:order val="1"/>
          <c:tx>
            <c:strRef>
              <c:f>Sheet1!$C$1</c:f>
              <c:strCache>
                <c:ptCount val="1"/>
                <c:pt idx="0">
                  <c:v>Tăng</c:v>
                </c:pt>
              </c:strCache>
            </c:strRef>
          </c:tx>
          <c:spPr>
            <a:solidFill>
              <a:srgbClr val="404040"/>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Sheet1!$C$2:$C$6</c:f>
              <c:numCache>
                <c:formatCode>General</c:formatCode>
                <c:ptCount val="5"/>
                <c:pt idx="0">
                  <c:v>0</c:v>
                </c:pt>
                <c:pt idx="1">
                  <c:v>0</c:v>
                </c:pt>
                <c:pt idx="2">
                  <c:v>0</c:v>
                </c:pt>
                <c:pt idx="3">
                  <c:v>0</c:v>
                </c:pt>
                <c:pt idx="4">
                  <c:v>0</c:v>
                </c:pt>
              </c:numCache>
            </c:numRef>
          </c:val>
        </c:ser>
        <c:ser>
          <c:idx val="2"/>
          <c:order val="2"/>
          <c:tx>
            <c:strRef>
              <c:f>Sheet1!$D$1</c:f>
              <c:strCache>
                <c:ptCount val="1"/>
                <c:pt idx="0">
                  <c:v>Tăng (âm)</c:v>
                </c:pt>
              </c:strCache>
            </c:strRef>
          </c:tx>
          <c:spPr>
            <a:solidFill>
              <a:srgbClr val="404040"/>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Sheet1!$D$2:$D$6</c:f>
              <c:numCache>
                <c:formatCode>General</c:formatCode>
                <c:ptCount val="5"/>
                <c:pt idx="0">
                  <c:v>0</c:v>
                </c:pt>
                <c:pt idx="1">
                  <c:v>0</c:v>
                </c:pt>
                <c:pt idx="2">
                  <c:v>0</c:v>
                </c:pt>
                <c:pt idx="3">
                  <c:v>0</c:v>
                </c:pt>
                <c:pt idx="4">
                  <c:v>0</c:v>
                </c:pt>
              </c:numCache>
            </c:numRef>
          </c:val>
        </c:ser>
        <c:ser>
          <c:idx val="3"/>
          <c:order val="3"/>
          <c:tx>
            <c:strRef>
              <c:f>Sheet1!$E$1</c:f>
              <c:strCache>
                <c:ptCount val="1"/>
                <c:pt idx="0">
                  <c:v>Giảm</c:v>
                </c:pt>
              </c:strCache>
            </c:strRef>
          </c:tx>
          <c:spPr>
            <a:solidFill>
              <a:srgbClr val="A3A3A3"/>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Sheet1!$E$2:$E$6</c:f>
              <c:numCache>
                <c:formatCode>General</c:formatCode>
                <c:ptCount val="5"/>
                <c:pt idx="0">
                  <c:v>0</c:v>
                </c:pt>
                <c:pt idx="1">
                  <c:v>137.1</c:v>
                </c:pt>
                <c:pt idx="2">
                  <c:v>0</c:v>
                </c:pt>
                <c:pt idx="3">
                  <c:v>37.6</c:v>
                </c:pt>
                <c:pt idx="4">
                  <c:v>0</c:v>
                </c:pt>
              </c:numCache>
            </c:numRef>
          </c:val>
        </c:ser>
        <c:ser>
          <c:idx val="4"/>
          <c:order val="4"/>
          <c:tx>
            <c:strRef>
              <c:f>Sheet1!$F$1</c:f>
              <c:strCache>
                <c:ptCount val="1"/>
                <c:pt idx="0">
                  <c:v>Tổng</c:v>
                </c:pt>
              </c:strCache>
            </c:strRef>
          </c:tx>
          <c:spPr>
            <a:solidFill>
              <a:srgbClr val="7B1E2B"/>
            </a:solidFill>
            <a:effectLst/>
          </c:spPr>
          <c:invertIfNegative val="0"/>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cat>
            <c:multiLvlStrRef>
              <c:f>Sheet1!$A$2:$A$6</c:f>
              <c:multiLvlStrCache>
                <c:ptCount val="5"/>
                <c:lvl>
                  <c:pt idx="0">
                    <c:v>Thoái vốn</c:v>
                  </c:pt>
                  <c:pt idx="1">
                    <c:v>Chiết khấu</c:v>
                  </c:pt>
                  <c:pt idx="2">
                    <c:v>Post</c:v>
                  </c:pt>
                  <c:pt idx="3">
                    <c:v>−Vốn</c:v>
                  </c:pt>
                  <c:pt idx="4">
                    <c:v>Pre</c:v>
                  </c:pt>
                </c:lvl>
              </c:multiLvlStrCache>
            </c:multiLvlStrRef>
          </c:cat>
          <c:val>
            <c:numRef>
              <c:f>Sheet1!$F$2:$F$6</c:f>
              <c:numCache>
                <c:formatCode>General</c:formatCode>
                <c:ptCount val="5"/>
                <c:pt idx="0">
                  <c:v>198.7</c:v>
                </c:pt>
                <c:pt idx="1">
                  <c:v>0</c:v>
                </c:pt>
                <c:pt idx="2">
                  <c:v>61.6</c:v>
                </c:pt>
                <c:pt idx="3">
                  <c:v>0</c:v>
                </c:pt>
                <c:pt idx="4">
                  <c:v>24</c:v>
                </c:pt>
              </c:numCache>
            </c:numRef>
          </c:val>
        </c:ser>
        <c:dLbls>
          <c:numFmt formatCode="0.0;0.0;&quot;&quot;" sourceLinked="0"/>
          <c:txPr>
            <a:bodyPr/>
            <a:lstStyle/>
            <a:p>
              <a:pPr>
                <a:defRPr lang="vi-VN" b="0" i="0" strike="noStrike" sz="650" u="none">
                  <a:solidFill>
                    <a:srgbClr val="FFFFFF"/>
                  </a:solidFill>
                  <a:latin typeface="Calibri"/>
                  <a:ea typeface="Calibri"/>
                  <a:cs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0&quot;x&quot;"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cat>
            <c:multiLvlStrRef>
              <c:f>Sheet1!$A$2:$A$15</c:f>
              <c:multiLvlStrCache>
                <c:ptCount val="14"/>
                <c:lvl>
                  <c:pt idx="0">
                    <c:v>HHP</c:v>
                  </c:pt>
                  <c:pt idx="1">
                    <c:v>ILS</c:v>
                  </c:pt>
                  <c:pt idx="2">
                    <c:v>TDP</c:v>
                  </c:pt>
                  <c:pt idx="3">
                    <c:v>DHC</c:v>
                  </c:pt>
                  <c:pt idx="4">
                    <c:v>BBS</c:v>
                  </c:pt>
                  <c:pt idx="5">
                    <c:v>PMP</c:v>
                  </c:pt>
                  <c:pt idx="6">
                    <c:v>APH</c:v>
                  </c:pt>
                  <c:pt idx="7">
                    <c:v>TPC</c:v>
                  </c:pt>
                  <c:pt idx="8">
                    <c:v>VBC</c:v>
                  </c:pt>
                  <c:pt idx="9">
                    <c:v>AAA</c:v>
                  </c:pt>
                  <c:pt idx="10">
                    <c:v>TPP</c:v>
                  </c:pt>
                  <c:pt idx="11">
                    <c:v>STP</c:v>
                  </c:pt>
                  <c:pt idx="12">
                    <c:v>INN</c:v>
                  </c:pt>
                  <c:pt idx="13">
                    <c:v>PBP</c:v>
                  </c:pt>
                </c:lvl>
              </c:multiLvlStrCache>
            </c:multiLvlStrRef>
          </c:cat>
          <c:val>
            <c:numRef>
              <c:f>Sheet1!$B$2:$B$15</c:f>
              <c:numCache>
                <c:formatCode>General</c:formatCode>
                <c:ptCount val="14"/>
                <c:pt idx="0">
                  <c:v>13.7</c:v>
                </c:pt>
                <c:pt idx="1">
                  <c:v>13.3</c:v>
                </c:pt>
                <c:pt idx="2">
                  <c:v>9</c:v>
                </c:pt>
                <c:pt idx="3">
                  <c:v>6.4</c:v>
                </c:pt>
                <c:pt idx="4">
                  <c:v>5.5</c:v>
                </c:pt>
                <c:pt idx="5">
                  <c:v>5.4</c:v>
                </c:pt>
                <c:pt idx="6">
                  <c:v>5.1</c:v>
                </c:pt>
                <c:pt idx="7">
                  <c:v>4.2</c:v>
                </c:pt>
                <c:pt idx="8">
                  <c:v>4.2</c:v>
                </c:pt>
                <c:pt idx="9">
                  <c:v>3.9</c:v>
                </c:pt>
                <c:pt idx="10">
                  <c:v>3.3</c:v>
                </c:pt>
                <c:pt idx="11">
                  <c:v>3</c:v>
                </c:pt>
                <c:pt idx="12">
                  <c:v>2.7</c:v>
                </c:pt>
                <c:pt idx="13">
                  <c:v>2.1</c:v>
                </c:pt>
              </c:numCache>
            </c:numRef>
          </c:val>
        </c:ser>
        <c:dLbls>
          <c:numFmt formatCode="0.0&quot;x&quot;"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404040"/>
            </a:solidFill>
            <a:effectLst/>
          </c:spPr>
          <c:invertIfNegative val="0"/>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dPt>
            <c:idx val="4"/>
            <c:invertIfNegative val="0"/>
            <c:bubble3D val="0"/>
            <c:spPr>
              <a:solidFill>
                <a:srgbClr val="D0D0D0"/>
              </a:solidFill>
              <a:effectLst/>
            </c:spPr>
          </c:dPt>
          <c:dPt>
            <c:idx val="5"/>
            <c:invertIfNegative val="0"/>
            <c:bubble3D val="0"/>
            <c:spPr>
              <a:solidFill>
                <a:srgbClr val="D0D0D0"/>
              </a:solidFill>
              <a:effectLst/>
            </c:spPr>
          </c:dPt>
          <c:dPt>
            <c:idx val="6"/>
            <c:invertIfNegative val="0"/>
            <c:bubble3D val="0"/>
            <c:spPr>
              <a:solidFill>
                <a:srgbClr val="D0D0D0"/>
              </a:solidFill>
              <a:effectLst/>
            </c:spPr>
          </c:dPt>
          <c:cat>
            <c:multiLvlStrRef>
              <c:f>Sheet1!$A$2:$A$8</c:f>
              <c:multiLvlStrCache>
                <c:ptCount val="7"/>
                <c:lvl>
                  <c:pt idx="0">
                    <c:v>DCF</c:v>
                  </c:pt>
                  <c:pt idx="1">
                    <c:v>Multiples 2025A</c:v>
                  </c:pt>
                  <c:pt idx="2">
                    <c:v>VC Method</c:v>
                  </c:pt>
                  <c:pt idx="3">
                    <c:v>Bình quân 40/40/20</c:v>
                  </c:pt>
                  <c:pt idx="4">
                    <c:v>DCF × xác suất sống sót</c:v>
                  </c:pt>
                  <c:pt idx="5">
                    <c:v>VCSH sổ sách 2025</c:v>
                  </c:pt>
                  <c:pt idx="6">
                    <c:v>Giá trị thanh lý</c:v>
                  </c:pt>
                </c:lvl>
              </c:multiLvlStrCache>
            </c:multiLvlStrRef>
          </c:cat>
          <c:val>
            <c:numRef>
              <c:f>Sheet1!$B$2:$B$8</c:f>
              <c:numCache>
                <c:formatCode>General</c:formatCode>
                <c:ptCount val="7"/>
                <c:pt idx="0">
                  <c:v>28.4</c:v>
                </c:pt>
                <c:pt idx="1">
                  <c:v>27.7</c:v>
                </c:pt>
                <c:pt idx="2">
                  <c:v>24</c:v>
                </c:pt>
                <c:pt idx="3">
                  <c:v>26.5</c:v>
                </c:pt>
                <c:pt idx="4">
                  <c:v>23</c:v>
                </c:pt>
                <c:pt idx="5">
                  <c:v>30</c:v>
                </c:pt>
                <c:pt idx="6">
                  <c:v>15</c:v>
                </c:pt>
              </c:numCache>
            </c:numRef>
          </c:val>
        </c:ser>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Thiếu hụt</c:v>
                </c:pt>
              </c:strCache>
            </c:strRef>
          </c:tx>
          <c:spPr>
            <a:solidFill>
              <a:srgbClr val="A3A3A3"/>
            </a:solidFill>
            <a:effectLst/>
          </c:spPr>
          <c:invertIfNegative val="0"/>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A3A3A3"/>
              </a:solidFill>
              <a:effectLst/>
            </c:spPr>
          </c:dPt>
          <c:dPt>
            <c:idx val="4"/>
            <c:invertIfNegative val="0"/>
            <c:bubble3D val="0"/>
            <c:spPr>
              <a:solidFill>
                <a:srgbClr val="7B1E2B"/>
              </a:solidFill>
              <a:effectLst/>
            </c:spPr>
          </c:dPt>
          <c:cat>
            <c:multiLvlStrRef>
              <c:f>Sheet1!$A$2:$A$6</c:f>
              <c:multiLvlStrCache>
                <c:ptCount val="5"/>
                <c:lvl>
                  <c:pt idx="0">
                    <c:v>2026</c:v>
                  </c:pt>
                  <c:pt idx="1">
                    <c:v>2027</c:v>
                  </c:pt>
                  <c:pt idx="2">
                    <c:v>2028</c:v>
                  </c:pt>
                  <c:pt idx="3">
                    <c:v>2029</c:v>
                  </c:pt>
                  <c:pt idx="4">
                    <c:v>2030</c:v>
                  </c:pt>
                </c:lvl>
              </c:multiLvlStrCache>
            </c:multiLvlStrRef>
          </c:cat>
          <c:val>
            <c:numRef>
              <c:f>Sheet1!$B$2:$B$6</c:f>
              <c:numCache>
                <c:formatCode>General</c:formatCode>
                <c:ptCount val="5"/>
                <c:pt idx="0">
                  <c:v>5.2</c:v>
                </c:pt>
                <c:pt idx="1">
                  <c:v>19</c:v>
                </c:pt>
                <c:pt idx="2">
                  <c:v>26.8</c:v>
                </c:pt>
                <c:pt idx="3">
                  <c:v>33.3</c:v>
                </c:pt>
                <c:pt idx="4">
                  <c:v>34.2</c:v>
                </c:pt>
              </c:numCache>
            </c:numRef>
          </c:val>
        </c:ser>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Post-money</c:v>
                </c:pt>
              </c:strCache>
            </c:strRef>
          </c:tx>
          <c:spPr>
            <a:solidFill>
              <a:srgbClr val="7B1E2B"/>
            </a:solidFill>
            <a:effectLst/>
          </c:spPr>
          <c:invertIfNegative val="0"/>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A3A3A3"/>
              </a:solidFill>
              <a:effectLst/>
            </c:spPr>
          </c:dPt>
          <c:dPt>
            <c:idx val="2"/>
            <c:invertIfNegative val="0"/>
            <c:bubble3D val="0"/>
            <c:spPr>
              <a:solidFill>
                <a:srgbClr val="D0D0D0"/>
              </a:solidFill>
              <a:effectLst/>
            </c:spPr>
          </c:dPt>
          <c:cat>
            <c:multiLvlStrRef>
              <c:f>Sheet1!$A$2:$A$4</c:f>
              <c:multiLvlStrCache>
                <c:ptCount val="3"/>
                <c:lvl>
                  <c:pt idx="0">
                    <c:v>Đầu tăng trưởng (z 40%)</c:v>
                  </c:pt>
                  <c:pt idx="1">
                    <c:v>Thử nghiệm (z 57,5%)</c:v>
                  </c:pt>
                  <c:pt idx="2">
                    <c:v>Ươm mầm (z 72,5%)</c:v>
                  </c:pt>
                </c:lvl>
              </c:multiLvlStrCache>
            </c:multiLvlStrRef>
          </c:cat>
          <c:val>
            <c:numRef>
              <c:f>Sheet1!$B$2:$B$4</c:f>
              <c:numCache>
                <c:formatCode>General</c:formatCode>
                <c:ptCount val="3"/>
                <c:pt idx="0">
                  <c:v>61.6</c:v>
                </c:pt>
                <c:pt idx="1">
                  <c:v>43.6</c:v>
                </c:pt>
                <c:pt idx="2">
                  <c:v>28.2</c:v>
                </c:pt>
              </c:numCache>
            </c:numRef>
          </c:val>
        </c:ser>
        <c:dLbls>
          <c:numFmt formatCode="0.0" sourceLinked="0"/>
          <c:txPr>
            <a:bodyPr/>
            <a:lstStyle/>
            <a:p>
              <a:pPr>
                <a:defRPr lang="vi-VN" b="0" i="0" strike="noStrike" sz="700" u="none">
                  <a:solidFill>
                    <a:srgbClr val="262626"/>
                  </a:solidFill>
                  <a:latin typeface="Calibri"/>
                  <a:ea typeface="Calibri"/>
                  <a:cs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70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4E4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lang="vi-VN" sz="65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chart" Target="/ppt/charts/chart31.xm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7540823" cy="656779"/>
          </a:xfrm>
          <a:prstGeom prst="rect">
            <a:avLst/>
          </a:prstGeom>
          <a:solidFill>
            <a:srgbClr val="7B1E2B"/>
          </a:solidFill>
          <a:ln/>
        </p:spPr>
      </p:sp>
      <p:sp>
        <p:nvSpPr>
          <p:cNvPr id="3" name="Shape 1"/>
          <p:cNvSpPr/>
          <p:nvPr/>
        </p:nvSpPr>
        <p:spPr>
          <a:xfrm>
            <a:off x="405408" y="774204"/>
            <a:ext cx="2159943" cy="158651"/>
          </a:xfrm>
          <a:prstGeom prst="rect">
            <a:avLst/>
          </a:prstGeom>
          <a:solidFill>
            <a:srgbClr val="404040"/>
          </a:solidFill>
          <a:ln/>
        </p:spPr>
      </p:sp>
      <p:sp>
        <p:nvSpPr>
          <p:cNvPr id="4" name="Shape 2"/>
          <p:cNvSpPr/>
          <p:nvPr/>
        </p:nvSpPr>
        <p:spPr>
          <a:xfrm>
            <a:off x="405408" y="7672239"/>
            <a:ext cx="2159943" cy="158651"/>
          </a:xfrm>
          <a:prstGeom prst="rect">
            <a:avLst/>
          </a:prstGeom>
          <a:solidFill>
            <a:srgbClr val="404040"/>
          </a:solidFill>
          <a:ln/>
        </p:spPr>
      </p:sp>
      <p:sp>
        <p:nvSpPr>
          <p:cNvPr id="5" name="Shape 3"/>
          <p:cNvSpPr/>
          <p:nvPr/>
        </p:nvSpPr>
        <p:spPr>
          <a:xfrm>
            <a:off x="2745284" y="1205359"/>
            <a:ext cx="4409182" cy="881063"/>
          </a:xfrm>
          <a:prstGeom prst="rect">
            <a:avLst/>
          </a:prstGeom>
          <a:solidFill>
            <a:srgbClr val="F7F4F4"/>
          </a:solidFill>
          <a:ln/>
        </p:spPr>
      </p:sp>
      <p:sp>
        <p:nvSpPr>
          <p:cNvPr id="6" name="Shape 4"/>
          <p:cNvSpPr/>
          <p:nvPr/>
        </p:nvSpPr>
        <p:spPr>
          <a:xfrm>
            <a:off x="405408" y="3849588"/>
            <a:ext cx="2159943" cy="0"/>
          </a:xfrm>
          <a:prstGeom prst="line">
            <a:avLst/>
          </a:prstGeom>
          <a:noFill/>
          <a:ln w="9525">
            <a:solidFill>
              <a:srgbClr val="7B1E2B"/>
            </a:solidFill>
            <a:prstDash val="solid"/>
          </a:ln>
        </p:spPr>
      </p:sp>
      <p:sp>
        <p:nvSpPr>
          <p:cNvPr id="7" name="Shape 5"/>
          <p:cNvSpPr/>
          <p:nvPr/>
        </p:nvSpPr>
        <p:spPr>
          <a:xfrm>
            <a:off x="405408" y="6055965"/>
            <a:ext cx="2159943" cy="0"/>
          </a:xfrm>
          <a:prstGeom prst="line">
            <a:avLst/>
          </a:prstGeom>
          <a:noFill/>
          <a:ln w="9525">
            <a:solidFill>
              <a:srgbClr val="7B1E2B"/>
            </a:solidFill>
            <a:prstDash val="solid"/>
          </a:ln>
        </p:spPr>
      </p:sp>
      <p:sp>
        <p:nvSpPr>
          <p:cNvPr id="8" name="Shape 6"/>
          <p:cNvSpPr/>
          <p:nvPr/>
        </p:nvSpPr>
        <p:spPr>
          <a:xfrm>
            <a:off x="2745284" y="1205359"/>
            <a:ext cx="4409182" cy="0"/>
          </a:xfrm>
          <a:prstGeom prst="line">
            <a:avLst/>
          </a:prstGeom>
          <a:noFill/>
          <a:ln w="9525">
            <a:solidFill>
              <a:srgbClr val="7B1E2B"/>
            </a:solidFill>
            <a:prstDash val="solid"/>
          </a:ln>
        </p:spPr>
      </p:sp>
      <p:sp>
        <p:nvSpPr>
          <p:cNvPr id="9" name="Shape 7"/>
          <p:cNvSpPr/>
          <p:nvPr/>
        </p:nvSpPr>
        <p:spPr>
          <a:xfrm>
            <a:off x="2745284" y="2086421"/>
            <a:ext cx="4409182" cy="0"/>
          </a:xfrm>
          <a:prstGeom prst="line">
            <a:avLst/>
          </a:prstGeom>
          <a:noFill/>
          <a:ln w="9525">
            <a:solidFill>
              <a:srgbClr val="7B1E2B"/>
            </a:solidFill>
            <a:prstDash val="solid"/>
          </a:ln>
        </p:spPr>
      </p:sp>
      <p:sp>
        <p:nvSpPr>
          <p:cNvPr id="10" name="Shape 8"/>
          <p:cNvSpPr/>
          <p:nvPr/>
        </p:nvSpPr>
        <p:spPr>
          <a:xfrm>
            <a:off x="2745284" y="1205359"/>
            <a:ext cx="0" cy="881063"/>
          </a:xfrm>
          <a:prstGeom prst="line">
            <a:avLst/>
          </a:prstGeom>
          <a:noFill/>
          <a:ln w="38100">
            <a:solidFill>
              <a:srgbClr val="7B1E2B"/>
            </a:solidFill>
            <a:prstDash val="solid"/>
          </a:ln>
        </p:spPr>
      </p:sp>
      <p:sp>
        <p:nvSpPr>
          <p:cNvPr id="11" name="Shape 9"/>
          <p:cNvSpPr/>
          <p:nvPr/>
        </p:nvSpPr>
        <p:spPr>
          <a:xfrm>
            <a:off x="7154466" y="1205359"/>
            <a:ext cx="0" cy="881063"/>
          </a:xfrm>
          <a:prstGeom prst="line">
            <a:avLst/>
          </a:prstGeom>
          <a:noFill/>
          <a:ln w="9525">
            <a:solidFill>
              <a:srgbClr val="7B1E2B"/>
            </a:solidFill>
            <a:prstDash val="solid"/>
          </a:ln>
        </p:spPr>
      </p:sp>
      <p:sp>
        <p:nvSpPr>
          <p:cNvPr id="12" name="Shape 10"/>
          <p:cNvSpPr/>
          <p:nvPr/>
        </p:nvSpPr>
        <p:spPr>
          <a:xfrm>
            <a:off x="2745284" y="6470005"/>
            <a:ext cx="4409182" cy="0"/>
          </a:xfrm>
          <a:prstGeom prst="line">
            <a:avLst/>
          </a:prstGeom>
          <a:noFill/>
          <a:ln w="9525">
            <a:solidFill>
              <a:srgbClr val="7B1E2B"/>
            </a:solidFill>
            <a:prstDash val="solid"/>
          </a:ln>
        </p:spPr>
      </p:sp>
      <p:sp>
        <p:nvSpPr>
          <p:cNvPr id="13" name="Shape 11"/>
          <p:cNvSpPr/>
          <p:nvPr/>
        </p:nvSpPr>
        <p:spPr>
          <a:xfrm>
            <a:off x="405408" y="10364688"/>
            <a:ext cx="6749058" cy="0"/>
          </a:xfrm>
          <a:prstGeom prst="line">
            <a:avLst/>
          </a:prstGeom>
          <a:noFill/>
          <a:ln w="9525">
            <a:solidFill>
              <a:srgbClr val="BFBFBF"/>
            </a:solidFill>
            <a:prstDash val="solid"/>
          </a:ln>
        </p:spPr>
      </p:sp>
      <p:sp>
        <p:nvSpPr>
          <p:cNvPr id="14" name="Text 12"/>
          <p:cNvSpPr txBox="1"/>
          <p:nvPr/>
        </p:nvSpPr>
        <p:spPr>
          <a:xfrm>
            <a:off x="405408" y="139005"/>
            <a:ext cx="2351431" cy="266700"/>
          </a:xfrm>
          <a:prstGeom prst="rect">
            <a:avLst/>
          </a:prstGeom>
          <a:noFill/>
          <a:ln/>
        </p:spPr>
        <p:txBody>
          <a:bodyPr wrap="square" lIns="0" tIns="0" rIns="0" bIns="0" rtlCol="0" anchor="t"/>
          <a:lstStyle/>
          <a:p>
            <a:pPr algn="l" indent="0" marL="0">
              <a:lnSpc>
                <a:spcPts val="2100"/>
              </a:lnSpc>
              <a:buNone/>
            </a:pPr>
            <a:r>
              <a:rPr lang="vi-VN" sz="2000" b="1" spc="80" kern="0" dirty="0">
                <a:solidFill>
                  <a:srgbClr val="FFFFFF"/>
                </a:solidFill>
                <a:latin typeface="Calibri" pitchFamily="34" charset="0"/>
                <a:ea typeface="Calibri" pitchFamily="34" charset="-122"/>
                <a:cs typeface="Calibri" pitchFamily="34" charset="-120"/>
              </a:rPr>
              <a:t>CTCP AGRIPACK</a:t>
            </a:r>
            <a:endParaRPr lang="vi-VN" sz="2000" dirty="0"/>
          </a:p>
        </p:txBody>
      </p:sp>
      <p:sp>
        <p:nvSpPr>
          <p:cNvPr id="15" name="Text 13"/>
          <p:cNvSpPr txBox="1"/>
          <p:nvPr/>
        </p:nvSpPr>
        <p:spPr>
          <a:xfrm>
            <a:off x="405408" y="434429"/>
            <a:ext cx="2351431" cy="123974"/>
          </a:xfrm>
          <a:prstGeom prst="rect">
            <a:avLst/>
          </a:prstGeom>
          <a:noFill/>
          <a:ln/>
        </p:spPr>
        <p:txBody>
          <a:bodyPr wrap="square" lIns="0" tIns="0" rIns="0" bIns="0" rtlCol="0" anchor="t"/>
          <a:lstStyle/>
          <a:p>
            <a:pPr algn="l" indent="0" marL="0">
              <a:lnSpc>
                <a:spcPts val="980"/>
              </a:lnSpc>
              <a:buNone/>
            </a:pPr>
            <a:r>
              <a:rPr lang="vi-VN" sz="800" dirty="0">
                <a:solidFill>
                  <a:srgbClr val="FFFFFF"/>
                </a:solidFill>
                <a:latin typeface="Calibri" pitchFamily="34" charset="0"/>
                <a:ea typeface="Calibri" pitchFamily="34" charset="-122"/>
                <a:cs typeface="Calibri" pitchFamily="34" charset="-120"/>
              </a:rPr>
              <a:t>Bao bì từ bã mía – vỏ trứng · B2B · Gia Lai</a:t>
            </a:r>
            <a:endParaRPr lang="vi-VN" sz="800" dirty="0"/>
          </a:p>
        </p:txBody>
      </p:sp>
      <p:sp>
        <p:nvSpPr>
          <p:cNvPr id="16" name="Text 14"/>
          <p:cNvSpPr txBox="1"/>
          <p:nvPr/>
        </p:nvSpPr>
        <p:spPr>
          <a:xfrm>
            <a:off x="2863060" y="176510"/>
            <a:ext cx="4291405" cy="381893"/>
          </a:xfrm>
          <a:prstGeom prst="rect">
            <a:avLst/>
          </a:prstGeom>
          <a:noFill/>
          <a:ln/>
        </p:spPr>
        <p:txBody>
          <a:bodyPr wrap="square" lIns="0" tIns="0" rIns="0" bIns="0" rtlCol="0" anchor="t"/>
          <a:lstStyle/>
          <a:p>
            <a:pPr algn="r" indent="0" marL="0">
              <a:lnSpc>
                <a:spcPts val="940"/>
              </a:lnSpc>
              <a:buNone/>
            </a:pPr>
            <a:r>
              <a:rPr lang="vi-VN"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Ngày báo cáo: 06/10/2026 · Thời điểm định giá: 01/01/2026</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vi-VN" sz="680" dirty="0"/>
          </a:p>
        </p:txBody>
      </p:sp>
      <p:sp>
        <p:nvSpPr>
          <p:cNvPr id="17" name="Text 15"/>
          <p:cNvSpPr txBox="1"/>
          <p:nvPr/>
        </p:nvSpPr>
        <p:spPr>
          <a:xfrm>
            <a:off x="463008" y="799404"/>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THÔNG TIN CHÍNH</a:t>
            </a:r>
            <a:endParaRPr lang="vi-VN"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408" y="932855"/>
          <a:ext cx="2159943" cy="914400"/>
        </p:xfrm>
        <a:graphic>
          <a:graphicData uri="http://schemas.openxmlformats.org/drawingml/2006/table">
            <a:tbl>
              <a:tblPr/>
              <a:tblGrid>
                <a:gridCol w="843707"/>
                <a:gridCol w="1316236"/>
              </a:tblGrid>
              <a:tr h="139898">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Ngành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Bao bì bền vững (B2B)</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Sản phẩm</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Hộp, khay, đệm từ bã mía + vỏ trứng</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Gia Lai (1 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Thành lập (giả định)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2021</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Giai đoạn</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Đầu tăng trưởng (z 35–45%)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Doanh thu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47,5 tỷ (+53,7%)</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Biên EBITDA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16,2%</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LNST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VCSH 31/12/2025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30,0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D/E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6,5%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ROE 2025A / Ke</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15,9% / 16,6%</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Thị phần SAM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4,3%</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WACC / g / z</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14,1% / 5,0% / 40%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DCF / VCM / Multiples</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28,4 / 24,0 / 27,7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Pre-money (40/40/20)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26,5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Khoảng giá trị</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15,8–40,4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6"/>
          <p:cNvSpPr txBox="1"/>
          <p:nvPr/>
        </p:nvSpPr>
        <p:spPr>
          <a:xfrm>
            <a:off x="405408" y="358050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vi-VN" sz="600" dirty="0"/>
          </a:p>
        </p:txBody>
      </p:sp>
      <p:sp>
        <p:nvSpPr>
          <p:cNvPr id="20" name="Text 17"/>
          <p:cNvSpPr txBox="1"/>
          <p:nvPr/>
        </p:nvSpPr>
        <p:spPr>
          <a:xfrm>
            <a:off x="405408" y="388071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3,6 lần đến 2030E; biên EBITDA giảm năm 2028 khi nhà máy mới chạy</a:t>
            </a:r>
            <a:endParaRPr lang="vi-VN" sz="720" dirty="0"/>
          </a:p>
        </p:txBody>
      </p:sp>
      <p:sp>
        <p:nvSpPr>
          <p:cNvPr id="21" name="Text 18"/>
          <p:cNvSpPr txBox="1"/>
          <p:nvPr/>
        </p:nvSpPr>
        <p:spPr>
          <a:xfrm>
            <a:off x="405408" y="4132064"/>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Doanh thu thuần (tỷ đồng)</a:t>
            </a:r>
            <a:endParaRPr lang="vi-VN" sz="640" dirty="0"/>
          </a:p>
        </p:txBody>
      </p:sp>
      <p:graphicFrame>
        <p:nvGraphicFramePr>
          <p:cNvPr id="22" name="Chart 0" descr=""/>
          <p:cNvGraphicFramePr/>
          <p:nvPr/>
        </p:nvGraphicFramePr>
        <p:xfrm>
          <a:off x="405408" y="4238327"/>
          <a:ext cx="2159943" cy="844302"/>
        </p:xfrm>
        <a:graphic xmlns:a="http://schemas.openxmlformats.org/drawingml/2006/main">
          <a:graphicData uri="http://schemas.openxmlformats.org/drawingml/2006/chart">
            <c:chart xmlns:c="http://schemas.openxmlformats.org/drawingml/2006/chart" r:id="rId1"/>
          </a:graphicData>
        </a:graphic>
      </p:graphicFrame>
      <p:sp>
        <p:nvSpPr>
          <p:cNvPr id="23" name="Text 19"/>
          <p:cNvSpPr txBox="1"/>
          <p:nvPr/>
        </p:nvSpPr>
        <p:spPr>
          <a:xfrm>
            <a:off x="405408" y="5096917"/>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Biên EBITDA (%)</a:t>
            </a:r>
            <a:endParaRPr lang="vi-VN" sz="640" dirty="0"/>
          </a:p>
        </p:txBody>
      </p:sp>
      <p:graphicFrame>
        <p:nvGraphicFramePr>
          <p:cNvPr id="24" name="Chart 1" descr=""/>
          <p:cNvGraphicFramePr/>
          <p:nvPr/>
        </p:nvGraphicFramePr>
        <p:xfrm>
          <a:off x="405408" y="5203180"/>
          <a:ext cx="2159943" cy="569416"/>
        </p:xfrm>
        <a:graphic xmlns:a="http://schemas.openxmlformats.org/drawingml/2006/main">
          <a:graphicData uri="http://schemas.openxmlformats.org/drawingml/2006/chart">
            <c:chart xmlns:c="http://schemas.openxmlformats.org/drawingml/2006/chart" r:id="rId2"/>
          </a:graphicData>
        </a:graphic>
      </p:graphicFrame>
      <p:sp>
        <p:nvSpPr>
          <p:cNvPr id="25" name="Text 20"/>
          <p:cNvSpPr txBox="1"/>
          <p:nvPr/>
        </p:nvSpPr>
        <p:spPr>
          <a:xfrm>
            <a:off x="405408" y="579045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vi-VN" sz="600" dirty="0"/>
          </a:p>
        </p:txBody>
      </p:sp>
      <p:sp>
        <p:nvSpPr>
          <p:cNvPr id="26" name="Text 21"/>
          <p:cNvSpPr txBox="1"/>
          <p:nvPr/>
        </p:nvSpPr>
        <p:spPr>
          <a:xfrm>
            <a:off x="405408" y="6087090"/>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Ba phương pháp cho 24,0–28,4 tỷ; bình quân thấp hơn VCSH sổ sách</a:t>
            </a:r>
            <a:endParaRPr lang="vi-VN" sz="720" dirty="0"/>
          </a:p>
        </p:txBody>
      </p:sp>
      <p:sp>
        <p:nvSpPr>
          <p:cNvPr id="27" name="Text 22"/>
          <p:cNvSpPr txBox="1"/>
          <p:nvPr/>
        </p:nvSpPr>
        <p:spPr>
          <a:xfrm>
            <a:off x="405408" y="632415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28" name="Chart 2" descr=""/>
          <p:cNvGraphicFramePr/>
          <p:nvPr/>
        </p:nvGraphicFramePr>
        <p:xfrm>
          <a:off x="405408" y="6439644"/>
          <a:ext cx="2159943" cy="1040606"/>
        </p:xfrm>
        <a:graphic xmlns:a="http://schemas.openxmlformats.org/drawingml/2006/main">
          <a:graphicData uri="http://schemas.openxmlformats.org/drawingml/2006/chart">
            <c:chart xmlns:c="http://schemas.openxmlformats.org/drawingml/2006/chart" r:id="rId3"/>
          </a:graphicData>
        </a:graphic>
      </p:graphicFrame>
      <p:sp>
        <p:nvSpPr>
          <p:cNvPr id="29" name="Text 23"/>
          <p:cNvSpPr txBox="1"/>
          <p:nvPr/>
        </p:nvSpPr>
        <p:spPr>
          <a:xfrm>
            <a:off x="405408" y="749811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Sensitivity, Multiples)</a:t>
            </a:r>
            <a:endParaRPr lang="vi-VN" sz="600" dirty="0"/>
          </a:p>
        </p:txBody>
      </p:sp>
      <p:sp>
        <p:nvSpPr>
          <p:cNvPr id="30" name="Text 24"/>
          <p:cNvSpPr txBox="1"/>
          <p:nvPr/>
        </p:nvSpPr>
        <p:spPr>
          <a:xfrm>
            <a:off x="463008" y="7697439"/>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NỘI DUNG BÁO CÁO</a:t>
            </a:r>
            <a:endParaRPr lang="vi-VN" sz="7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408" y="7830889"/>
          <a:ext cx="2159943" cy="914400"/>
        </p:xfrm>
        <a:graphic>
          <a:graphicData uri="http://schemas.openxmlformats.org/drawingml/2006/table">
            <a:tbl>
              <a:tblPr/>
              <a:tblGrid>
                <a:gridCol w="1998018"/>
                <a:gridCol w="161925"/>
              </a:tblGrid>
              <a:tr h="140791">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1. Đề xuất ý tưởng khởi nghiệp</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2</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2. Báo cáo tài chính và xác định giai đoạn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4</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3. Phân tích vĩ mô và phân tích ngành</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4. Lập dự phóng pro forma 5 năm (2026E–2030E)</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11</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5. Định giá</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13</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6. Kế hoạch huy động vốn (6.1. Nhu cầu vốn)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15</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8. Câu hỏi Bonus: định giá khi chưa có doanh thu</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0">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17</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2" name="Text 25"/>
          <p:cNvSpPr txBox="1"/>
          <p:nvPr/>
        </p:nvSpPr>
        <p:spPr>
          <a:xfrm>
            <a:off x="405408" y="912420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Mục 1–3 và 6.1 theo bài của nhóm (bản TTKN cập nhật); Mục 7 (pitching) không thuộc phạm vi báo cáo này.</a:t>
            </a:r>
            <a:endParaRPr lang="vi-VN" sz="600" dirty="0"/>
          </a:p>
        </p:txBody>
      </p:sp>
      <p:sp>
        <p:nvSpPr>
          <p:cNvPr id="33" name="Text 26"/>
          <p:cNvSpPr txBox="1"/>
          <p:nvPr/>
        </p:nvSpPr>
        <p:spPr>
          <a:xfrm>
            <a:off x="2745284" y="774204"/>
            <a:ext cx="4464046" cy="359271"/>
          </a:xfrm>
          <a:prstGeom prst="rect">
            <a:avLst/>
          </a:prstGeom>
          <a:noFill/>
          <a:ln/>
        </p:spPr>
        <p:txBody>
          <a:bodyPr wrap="square" lIns="0" tIns="0" rIns="0" bIns="0" rtlCol="0" anchor="t"/>
          <a:lstStyle/>
          <a:p>
            <a:pPr algn="l" indent="0" marL="0">
              <a:lnSpc>
                <a:spcPts val="1420"/>
              </a:lnSpc>
              <a:buNone/>
            </a:pPr>
            <a:r>
              <a:rPr lang="vi-VN" sz="1220" b="1" dirty="0">
                <a:solidFill>
                  <a:srgbClr val="7B1E2B"/>
                </a:solidFill>
                <a:latin typeface="Calibri" pitchFamily="34" charset="0"/>
                <a:ea typeface="Calibri" pitchFamily="34" charset="-122"/>
                <a:cs typeface="Calibri" pitchFamily="34" charset="-120"/>
              </a:rPr>
              <a:t>AgriPack đã qua giai đoạn thử nghiệm; pre-money 26,5 tỷ đồng, thấp hơn giá trị sổ sách vì tăng trưởng còn cần nhiều vốn</a:t>
            </a:r>
            <a:endParaRPr lang="vi-VN" sz="1220" dirty="0"/>
          </a:p>
        </p:txBody>
      </p:sp>
      <p:sp>
        <p:nvSpPr>
          <p:cNvPr id="34" name="Text 27"/>
          <p:cNvSpPr txBox="1"/>
          <p:nvPr/>
        </p:nvSpPr>
        <p:spPr>
          <a:xfrm>
            <a:off x="2855268" y="1258044"/>
            <a:ext cx="4272653" cy="109728"/>
          </a:xfrm>
          <a:prstGeom prst="rect">
            <a:avLst/>
          </a:prstGeom>
          <a:noFill/>
          <a:ln/>
        </p:spPr>
        <p:txBody>
          <a:bodyPr wrap="square" lIns="0" tIns="0" rIns="0" bIns="0" rtlCol="0" anchor="t"/>
          <a:lstStyle/>
          <a:p>
            <a:pPr algn="l" indent="0" marL="0">
              <a:lnSpc>
                <a:spcPts val="840"/>
              </a:lnSpc>
              <a:buNone/>
            </a:pPr>
            <a:r>
              <a:rPr lang="vi-VN" sz="690" b="1" spc="40" kern="0" dirty="0">
                <a:solidFill>
                  <a:srgbClr val="7B1E2B"/>
                </a:solidFill>
                <a:latin typeface="Calibri" pitchFamily="34" charset="0"/>
                <a:ea typeface="Calibri" pitchFamily="34" charset="-122"/>
                <a:cs typeface="Calibri" pitchFamily="34" charset="-120"/>
              </a:rPr>
              <a:t>KẾT QUẢ ĐỊNH GIÁ (T0 = 01/01/2026)</a:t>
            </a:r>
            <a:endParaRPr lang="vi-VN" sz="690" dirty="0"/>
          </a:p>
        </p:txBody>
      </p:sp>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268" y="1386483"/>
          <a:ext cx="4217789" cy="914400"/>
        </p:xfrm>
        <a:graphic>
          <a:graphicData uri="http://schemas.openxmlformats.org/drawingml/2006/table">
            <a:tbl>
              <a:tblPr/>
              <a:tblGrid>
                <a:gridCol w="1307455"/>
                <a:gridCol w="2910334"/>
              </a:tblGrid>
              <a:tr h="246757">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Pre-money bình quân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b="1" dirty="0">
                          <a:solidFill>
                            <a:srgbClr val="1F1F1F"/>
                          </a:solidFill>
                          <a:latin typeface="Calibri" pitchFamily="34" charset="0"/>
                          <a:ea typeface="Calibri" pitchFamily="34" charset="-122"/>
                          <a:cs typeface="Calibri" pitchFamily="34" charset="-120"/>
                        </a:rPr>
                        <a:t>26,5 tỷ đồng</a:t>
                      </a:r>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 (khoảng 15,8–40,4 tỷ), trọng số DCF 40%, VC Method 40%, Multiples 20%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DCF / VC Method / Multiples</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28,4 / 24,0 / 27,7 tỷ; DCF điều chỉnh xác suất sống sót 23,0 tỷ</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Chi phí vốn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WACC 14,1%; Rf 4,59% (TPCP 10 năm, ngày 01/10/2026); beta 1,48</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Hàm ý</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0,88 lần VCSH sổ sách; P/E 2025A 7,5 lần; EV/EBITDA 2025A 3,3 lần</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bl>
          </a:graphicData>
        </a:graphic>
      </p:graphicFrame>
      <p:sp>
        <p:nvSpPr>
          <p:cNvPr id="36" name="Text 28"/>
          <p:cNvSpPr txBox="1"/>
          <p:nvPr/>
        </p:nvSpPr>
        <p:spPr>
          <a:xfrm>
            <a:off x="2745284" y="216559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Doanh nghiệp (Mục 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cho các doanh nghiệp trong ngành F&amp;B, điện tử, nội thất và thương mại điện tử ở miền Trung và miền Nam. Thực phẩm và hàng tiêu dùng nhanh chiếm gần 80% doanh thu (Fig. 09).</a:t>
            </a:r>
            <a:endParaRPr lang="vi-VN" sz="850" dirty="0"/>
          </a:p>
        </p:txBody>
      </p:sp>
      <p:sp>
        <p:nvSpPr>
          <p:cNvPr id="37" name="Text 29"/>
          <p:cNvSpPr txBox="1"/>
          <p:nvPr/>
        </p:nvSpPr>
        <p:spPr>
          <a:xfrm>
            <a:off x="2745284" y="272950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Giai đoạn phát triển (Mục 2).</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tăng 59,1% năm 2024 và 53,7% năm 2025. Năm 2025 là năm đầu tiên doanh nghiệp có lãi và dòng tiền tự do dương, trong khi nợ phải trả chỉ bằng 6,5% vốn chủ sở hữu. Quy mô vẫn còn rất nhỏ so với các doanh nghiệp dẫn đầu, nên nhóm xếp AgriPack vào giai đoạn đầu tăng trưởng, với tỷ lệ thất bại 35–45% (dùng 40%).</a:t>
            </a:r>
            <a:endParaRPr lang="vi-VN" sz="850" dirty="0"/>
          </a:p>
        </p:txBody>
      </p:sp>
      <p:sp>
        <p:nvSpPr>
          <p:cNvPr id="38" name="Text 30"/>
          <p:cNvSpPr txBox="1"/>
          <p:nvPr/>
        </p:nvSpPr>
        <p:spPr>
          <a:xfrm>
            <a:off x="2745284" y="329341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Từ vĩ mô, ngành đến giả định (Mục 3, 4.1).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thương mại điện tử và lộ trình hạn chế nhựa dùng một lần đều hỗ trợ nhu cầu. Tuy vậy, thị trường mục tiêu của AgriPack chỉ tăng khoảng 4,7% mỗi năm và khách hàng doanh nghiệp có sức mạnh đàm phán cao, nên mô hình chỉ cho giá bán tăng 2% mỗi năm, thấp hơn lạm phát 4,45%, và nâng chi phí biến đổi lên khoảng 27% doanh thu; tăng trưởng chủ yếu đến từ việc giành thêm thị phần, từ 4,3% lên 11,0%. Khi tính lại mô hình cho từng nhân tố, cầu là nhân tố quan trọng nhất: sản lượng thay đổi 20% làm pre-money thay đổi −26,2/+30,6 tỷ đồng, gấp khoảng 4–7 lần tác động của giá bán, lãi suất hay rủi ro quốc gia (Fig. 38).</a:t>
            </a:r>
            <a:endParaRPr lang="vi-VN" sz="850" dirty="0"/>
          </a:p>
        </p:txBody>
      </p:sp>
      <p:sp>
        <p:nvSpPr>
          <p:cNvPr id="39" name="Text 31"/>
          <p:cNvSpPr txBox="1"/>
          <p:nvPr/>
        </p:nvSpPr>
        <p:spPr>
          <a:xfrm>
            <a:off x="2745284" y="4383584"/>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Dự phóng (Mục 4).</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đạt 170,3 tỷ đồng năm 2030, tăng bình quân 29% mỗi năm; biên EBITDA tăng từ 16,2% lên 20,2% (Fig. 01). Khi trình bày theo chức năng, với 70% tiền lương và 90% khấu hao vào giá vốn, biên lợi nhuận gộp đi từ 51,0% năm 2025 xuống 47,6% năm 2030. Khoản CAPEX bằng 65% doanh thu năm 2027 khiến dòng tiền tự do âm ba năm liền; từ năm 2029, tỷ lệ tái đầu tư ổn định ở 10% doanh thu, cao hơn trung vị 3,1% của ngành vì AgriPack vẫn tăng trưởng 17–28% mỗi năm (Fig. 03).</a:t>
            </a:r>
            <a:endParaRPr lang="vi-VN" sz="850" dirty="0"/>
          </a:p>
        </p:txBody>
      </p:sp>
      <p:sp>
        <p:nvSpPr>
          <p:cNvPr id="40" name="Text 32"/>
          <p:cNvSpPr txBox="1"/>
          <p:nvPr/>
        </p:nvSpPr>
        <p:spPr>
          <a:xfrm>
            <a:off x="2745284" y="5210621"/>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Định giá (Mục 5).</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cho 28,4 tỷ đồng, VC Method 24,0 tỷ và Multiples 27,7 tỷ; bình quân gia quyền là 26,5 tỷ đồng (Fig. 02). Khi DCF được điều chỉnh theo xác suất sống sót (23,0 tỷ đồng), cả ba phương pháp hội tụ quanh 23–28 tỷ đồng. Mức 26,5 tỷ đồng chỉ bằng khoảng 0,88 lần vốn chủ sở hữu sổ sách, tức nhà đầu tư chưa trả thêm cho tăng trưởng, vì tăng trưởng đòi hỏi gần 69 tỷ đồng vốn bên ngoài và ROIC giai đoạn 2027–2029 thấp hơn WACC.</a:t>
            </a:r>
            <a:endParaRPr lang="vi-VN" sz="850" dirty="0"/>
          </a:p>
        </p:txBody>
      </p:sp>
      <p:sp>
        <p:nvSpPr>
          <p:cNvPr id="41" name="Text 33"/>
          <p:cNvSpPr txBox="1"/>
          <p:nvPr/>
        </p:nvSpPr>
        <p:spPr>
          <a:xfrm>
            <a:off x="2745284" y="5906095"/>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Điều cần theo dõi.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Trong kịch bản xấu, khi sản lượng chỉ bằng 70% kịch bản cơ sở, giá trị vốn chủ sở hữu âm. Các tín hiệu cảnh báo sớm gồm sản lượng F&amp;B năm 2026 tăng dưới 25% (mô hình giả định 32%), chưa có chứng nhận vật liệu tiếp xúc thực phẩm trước quý II/2027, hoặc nhà máy mới chưa vận hành trước ngày 31/12/2027.</a:t>
            </a:r>
            <a:endParaRPr lang="vi-VN" sz="850" dirty="0"/>
          </a:p>
        </p:txBody>
      </p:sp>
      <p:sp>
        <p:nvSpPr>
          <p:cNvPr id="42" name="Text 34"/>
          <p:cNvSpPr txBox="1"/>
          <p:nvPr/>
        </p:nvSpPr>
        <p:spPr>
          <a:xfrm>
            <a:off x="2745284" y="650113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Tóm tắt tài chính</a:t>
            </a:r>
            <a:endParaRPr lang="vi-VN" sz="720" dirty="0"/>
          </a:p>
        </p:txBody>
      </p:sp>
      <p:sp>
        <p:nvSpPr>
          <p:cNvPr id="43" name="Text 35"/>
          <p:cNvSpPr txBox="1"/>
          <p:nvPr/>
        </p:nvSpPr>
        <p:spPr>
          <a:xfrm>
            <a:off x="2745284" y="662865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284" y="6744146"/>
          <a:ext cx="4409182" cy="914400"/>
        </p:xfrm>
        <a:graphic>
          <a:graphicData uri="http://schemas.openxmlformats.org/drawingml/2006/table">
            <a:tbl>
              <a:tblPr/>
              <a:tblGrid>
                <a:gridCol w="1016050"/>
                <a:gridCol w="424011"/>
                <a:gridCol w="424011"/>
                <a:gridCol w="424011"/>
                <a:gridCol w="424011"/>
                <a:gridCol w="424011"/>
                <a:gridCol w="424011"/>
                <a:gridCol w="424011"/>
                <a:gridCol w="42505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2023A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2024A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19,4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25,2%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09">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 (70% lương, 90% KH vào GVHB)</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FCF/FCFF*</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CAPEX/doanh thu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ROIC</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82,4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105,0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5" name="Text 36"/>
          <p:cNvSpPr txBox="1"/>
          <p:nvPr/>
        </p:nvSpPr>
        <p:spPr>
          <a:xfrm>
            <a:off x="2745284" y="852383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vi-VN" sz="600" dirty="0"/>
          </a:p>
        </p:txBody>
      </p:sp>
      <p:sp>
        <p:nvSpPr>
          <p:cNvPr id="46" name="Text 3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7" name="Text 38"/>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a:t>
            </a:r>
            <a:endParaRPr lang="vi-VN"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2401193"/>
            <a:ext cx="2159943" cy="0"/>
          </a:xfrm>
          <a:prstGeom prst="line">
            <a:avLst/>
          </a:prstGeom>
          <a:noFill/>
          <a:ln w="9525">
            <a:solidFill>
              <a:srgbClr val="7B1E2B"/>
            </a:solidFill>
            <a:prstDash val="solid"/>
          </a:ln>
        </p:spPr>
      </p:sp>
      <p:sp>
        <p:nvSpPr>
          <p:cNvPr id="6" name="Shape 4"/>
          <p:cNvSpPr/>
          <p:nvPr/>
        </p:nvSpPr>
        <p:spPr>
          <a:xfrm>
            <a:off x="405408" y="4203948"/>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1. ĐỀ XUẤT Ý TƯỞNG KHỞI NGHIỆP</a:t>
            </a:r>
            <a:endParaRPr lang="vi-VN" sz="880" dirty="0"/>
          </a:p>
        </p:txBody>
      </p:sp>
      <p:sp>
        <p:nvSpPr>
          <p:cNvPr id="11" name="Text 9"/>
          <p:cNvSpPr txBox="1"/>
          <p:nvPr/>
        </p:nvSpPr>
        <p:spPr>
          <a:xfrm>
            <a:off x="405408" y="86203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Thị trường nhựa tăng 8,35%/năm; một nửa sản lượng là nhựa bao bì</a:t>
            </a:r>
            <a:endParaRPr lang="vi-VN" sz="720" dirty="0"/>
          </a:p>
        </p:txBody>
      </p:sp>
      <p:sp>
        <p:nvSpPr>
          <p:cNvPr id="12" name="Text 10"/>
          <p:cNvSpPr txBox="1"/>
          <p:nvPr/>
        </p:nvSpPr>
        <p:spPr>
          <a:xfrm>
            <a:off x="405408" y="109909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a:t>
            </a:r>
            <a:endParaRPr lang="vi-VN" sz="630" dirty="0"/>
          </a:p>
        </p:txBody>
      </p:sp>
      <p:graphicFrame>
        <p:nvGraphicFramePr>
          <p:cNvPr id="13" name="Chart 0" descr=""/>
          <p:cNvGraphicFramePr/>
          <p:nvPr/>
        </p:nvGraphicFramePr>
        <p:xfrm>
          <a:off x="405408" y="1214586"/>
          <a:ext cx="2159943" cy="90323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05408" y="213568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Số liệu trong bài của nhóm (Mục 1.1.1); tỷ lệ 46%: UNEP (2021)</a:t>
            </a:r>
            <a:endParaRPr lang="vi-VN" sz="600" dirty="0"/>
          </a:p>
        </p:txBody>
      </p:sp>
      <p:sp>
        <p:nvSpPr>
          <p:cNvPr id="15" name="Text 12"/>
          <p:cNvSpPr txBox="1"/>
          <p:nvPr/>
        </p:nvSpPr>
        <p:spPr>
          <a:xfrm>
            <a:off x="405408" y="243231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Nhà máy mới của AgriPack đi trước mốc dừng nhựa dùng một lần sau năm 2030</a:t>
            </a:r>
            <a:endParaRPr lang="vi-VN" sz="720" dirty="0"/>
          </a:p>
        </p:txBody>
      </p:sp>
      <p:sp>
        <p:nvSpPr>
          <p:cNvPr id="16" name="Shape 13"/>
          <p:cNvSpPr/>
          <p:nvPr/>
        </p:nvSpPr>
        <p:spPr>
          <a:xfrm>
            <a:off x="464437" y="2752386"/>
            <a:ext cx="0" cy="883508"/>
          </a:xfrm>
          <a:prstGeom prst="line">
            <a:avLst/>
          </a:prstGeom>
          <a:noFill/>
          <a:ln w="11430">
            <a:solidFill>
              <a:srgbClr val="D0D0D0"/>
            </a:solidFill>
            <a:prstDash val="solid"/>
          </a:ln>
        </p:spPr>
      </p:sp>
      <p:sp>
        <p:nvSpPr>
          <p:cNvPr id="17" name="Shape 14"/>
          <p:cNvSpPr/>
          <p:nvPr/>
        </p:nvSpPr>
        <p:spPr>
          <a:xfrm>
            <a:off x="434005" y="2721954"/>
            <a:ext cx="60864" cy="60865"/>
          </a:xfrm>
          <a:prstGeom prst="ellipse">
            <a:avLst/>
          </a:prstGeom>
          <a:solidFill>
            <a:srgbClr val="404040"/>
          </a:solidFill>
          <a:ln w="6350">
            <a:solidFill>
              <a:srgbClr val="FFFFFF"/>
            </a:solidFill>
            <a:prstDash val="solid"/>
          </a:ln>
        </p:spPr>
      </p:sp>
      <p:sp>
        <p:nvSpPr>
          <p:cNvPr id="18" name="Shape 15"/>
          <p:cNvSpPr/>
          <p:nvPr/>
        </p:nvSpPr>
        <p:spPr>
          <a:xfrm>
            <a:off x="434005" y="3016457"/>
            <a:ext cx="60864" cy="60864"/>
          </a:xfrm>
          <a:prstGeom prst="ellipse">
            <a:avLst/>
          </a:prstGeom>
          <a:solidFill>
            <a:srgbClr val="404040"/>
          </a:solidFill>
          <a:ln w="6350">
            <a:solidFill>
              <a:srgbClr val="FFFFFF"/>
            </a:solidFill>
            <a:prstDash val="solid"/>
          </a:ln>
        </p:spPr>
      </p:sp>
      <p:sp>
        <p:nvSpPr>
          <p:cNvPr id="19" name="Shape 16"/>
          <p:cNvSpPr/>
          <p:nvPr/>
        </p:nvSpPr>
        <p:spPr>
          <a:xfrm>
            <a:off x="434005" y="3310960"/>
            <a:ext cx="60864" cy="60864"/>
          </a:xfrm>
          <a:prstGeom prst="ellipse">
            <a:avLst/>
          </a:prstGeom>
          <a:solidFill>
            <a:srgbClr val="7B1E2B"/>
          </a:solidFill>
          <a:ln w="6350">
            <a:solidFill>
              <a:srgbClr val="FFFFFF"/>
            </a:solidFill>
            <a:prstDash val="solid"/>
          </a:ln>
        </p:spPr>
      </p:sp>
      <p:sp>
        <p:nvSpPr>
          <p:cNvPr id="20" name="Shape 17"/>
          <p:cNvSpPr/>
          <p:nvPr/>
        </p:nvSpPr>
        <p:spPr>
          <a:xfrm>
            <a:off x="434005" y="3605461"/>
            <a:ext cx="60864" cy="60864"/>
          </a:xfrm>
          <a:prstGeom prst="ellipse">
            <a:avLst/>
          </a:prstGeom>
          <a:solidFill>
            <a:srgbClr val="404040"/>
          </a:solidFill>
          <a:ln w="6350">
            <a:solidFill>
              <a:srgbClr val="FFFFFF"/>
            </a:solidFill>
            <a:prstDash val="solid"/>
          </a:ln>
        </p:spPr>
      </p:sp>
      <p:sp>
        <p:nvSpPr>
          <p:cNvPr id="21" name="Text 18"/>
          <p:cNvSpPr txBox="1"/>
          <p:nvPr/>
        </p:nvSpPr>
        <p:spPr>
          <a:xfrm>
            <a:off x="496578" y="2687348"/>
            <a:ext cx="598396"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năm 2025</a:t>
            </a:r>
            <a:endParaRPr lang="vi-VN" sz="650" dirty="0"/>
          </a:p>
        </p:txBody>
      </p:sp>
      <p:sp>
        <p:nvSpPr>
          <p:cNvPr id="22" name="Text 19"/>
          <p:cNvSpPr txBox="1"/>
          <p:nvPr/>
        </p:nvSpPr>
        <p:spPr>
          <a:xfrm>
            <a:off x="496578" y="2785225"/>
            <a:ext cx="1879557"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Không lưu hành, sử dụng sản phẩm nhựa dùng một lần tại</a:t>
            </a:r>
            <a:endParaRPr lang="vi-VN" sz="590" dirty="0"/>
          </a:p>
        </p:txBody>
      </p:sp>
      <p:sp>
        <p:nvSpPr>
          <p:cNvPr id="23" name="Text 20"/>
          <p:cNvSpPr txBox="1"/>
          <p:nvPr/>
        </p:nvSpPr>
        <p:spPr>
          <a:xfrm>
            <a:off x="496578" y="2865721"/>
            <a:ext cx="174883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trung tâm thương mại, siêu thị, khách sạn, khu du lịch</a:t>
            </a:r>
            <a:endParaRPr lang="vi-VN" sz="590" dirty="0"/>
          </a:p>
        </p:txBody>
      </p:sp>
      <p:sp>
        <p:nvSpPr>
          <p:cNvPr id="24" name="Text 21"/>
          <p:cNvSpPr txBox="1"/>
          <p:nvPr/>
        </p:nvSpPr>
        <p:spPr>
          <a:xfrm>
            <a:off x="496578" y="2981851"/>
            <a:ext cx="529220"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01/01/2026</a:t>
            </a:r>
            <a:endParaRPr lang="vi-VN" sz="650" dirty="0"/>
          </a:p>
        </p:txBody>
      </p:sp>
      <p:sp>
        <p:nvSpPr>
          <p:cNvPr id="25" name="Text 22"/>
          <p:cNvSpPr txBox="1"/>
          <p:nvPr/>
        </p:nvSpPr>
        <p:spPr>
          <a:xfrm>
            <a:off x="496578" y="3079726"/>
            <a:ext cx="189855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túi ni lông khó phân hủy cỡ nhỏ;</a:t>
            </a:r>
            <a:endParaRPr lang="vi-VN" sz="590" dirty="0"/>
          </a:p>
        </p:txBody>
      </p:sp>
      <p:sp>
        <p:nvSpPr>
          <p:cNvPr id="26" name="Text 23"/>
          <p:cNvSpPr txBox="1"/>
          <p:nvPr/>
        </p:nvSpPr>
        <p:spPr>
          <a:xfrm>
            <a:off x="496578" y="3160224"/>
            <a:ext cx="2000330"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nhà sản xuất, nhập khẩu nhựa dùng một lần phải tái chế, xử lý</a:t>
            </a:r>
            <a:endParaRPr lang="vi-VN" sz="590" dirty="0"/>
          </a:p>
        </p:txBody>
      </p:sp>
      <p:sp>
        <p:nvSpPr>
          <p:cNvPr id="27" name="Text 24"/>
          <p:cNvSpPr txBox="1"/>
          <p:nvPr/>
        </p:nvSpPr>
        <p:spPr>
          <a:xfrm>
            <a:off x="496578" y="3276353"/>
            <a:ext cx="1299512" cy="131826"/>
          </a:xfrm>
          <a:prstGeom prst="rect">
            <a:avLst/>
          </a:prstGeom>
          <a:noFill/>
          <a:ln/>
        </p:spPr>
        <p:txBody>
          <a:bodyPr wrap="none" lIns="0" tIns="0" rIns="0" bIns="0" rtlCol="0" anchor="ctr"/>
          <a:lstStyle/>
          <a:p>
            <a:pPr algn="l" indent="0" marL="0">
              <a:buNone/>
            </a:pPr>
            <a:r>
              <a:rPr lang="vi-VN" sz="650" b="1" dirty="0">
                <a:solidFill>
                  <a:srgbClr val="7B1E2B"/>
                </a:solidFill>
                <a:latin typeface="Calibri" pitchFamily="34" charset="0"/>
                <a:ea typeface="Calibri" pitchFamily="34" charset="-122"/>
                <a:cs typeface="Calibri" pitchFamily="34" charset="-120"/>
              </a:rPr>
              <a:t>2026–2028: kế hoạch của AgriPack</a:t>
            </a:r>
            <a:endParaRPr lang="vi-VN" sz="650" dirty="0"/>
          </a:p>
        </p:txBody>
      </p:sp>
      <p:sp>
        <p:nvSpPr>
          <p:cNvPr id="28" name="Text 25"/>
          <p:cNvSpPr txBox="1"/>
          <p:nvPr/>
        </p:nvSpPr>
        <p:spPr>
          <a:xfrm>
            <a:off x="496578" y="3374229"/>
            <a:ext cx="1799199"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Gọi vốn cổ phần (2026), xây nhà máy mới (2027, CAPEX</a:t>
            </a:r>
            <a:endParaRPr lang="vi-VN" sz="590" dirty="0"/>
          </a:p>
        </p:txBody>
      </p:sp>
      <p:sp>
        <p:nvSpPr>
          <p:cNvPr id="29" name="Text 26"/>
          <p:cNvSpPr txBox="1"/>
          <p:nvPr/>
        </p:nvSpPr>
        <p:spPr>
          <a:xfrm>
            <a:off x="496578" y="3454727"/>
            <a:ext cx="1897814"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bằng 65% doanh thu), hai dây chuyền mới vận hành (2028)</a:t>
            </a:r>
            <a:endParaRPr lang="vi-VN" sz="590" dirty="0"/>
          </a:p>
        </p:txBody>
      </p:sp>
      <p:sp>
        <p:nvSpPr>
          <p:cNvPr id="30" name="Text 27"/>
          <p:cNvSpPr txBox="1"/>
          <p:nvPr/>
        </p:nvSpPr>
        <p:spPr>
          <a:xfrm>
            <a:off x="496578" y="3570856"/>
            <a:ext cx="671521"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31/12/2030</a:t>
            </a:r>
            <a:endParaRPr lang="vi-VN" sz="650" dirty="0"/>
          </a:p>
        </p:txBody>
      </p:sp>
      <p:sp>
        <p:nvSpPr>
          <p:cNvPr id="31" name="Text 28"/>
          <p:cNvSpPr txBox="1"/>
          <p:nvPr/>
        </p:nvSpPr>
        <p:spPr>
          <a:xfrm>
            <a:off x="496578" y="3668731"/>
            <a:ext cx="2103573"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sản phẩm nhựa dùng một lần và bao bì</a:t>
            </a:r>
            <a:endParaRPr lang="vi-VN" sz="590" dirty="0"/>
          </a:p>
        </p:txBody>
      </p:sp>
      <p:sp>
        <p:nvSpPr>
          <p:cNvPr id="32" name="Text 29"/>
          <p:cNvSpPr txBox="1"/>
          <p:nvPr/>
        </p:nvSpPr>
        <p:spPr>
          <a:xfrm>
            <a:off x="496578" y="3749229"/>
            <a:ext cx="1974461"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nhựa khó phân hủy, trừ sản phẩm có nhãn sinh thái Việt Nam</a:t>
            </a:r>
            <a:endParaRPr lang="vi-VN" sz="590" dirty="0"/>
          </a:p>
        </p:txBody>
      </p:sp>
      <p:sp>
        <p:nvSpPr>
          <p:cNvPr id="33" name="Text 30"/>
          <p:cNvSpPr txBox="1"/>
          <p:nvPr/>
        </p:nvSpPr>
        <p:spPr>
          <a:xfrm>
            <a:off x="405408" y="393843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Nghị định 08/2022/NĐ-CP, Điều 64 (bài của nhóm, Mục 1.1.1); kế hoạch đầu tư: đề bài và mô hình</a:t>
            </a:r>
            <a:endParaRPr lang="vi-VN" sz="600" dirty="0"/>
          </a:p>
        </p:txBody>
      </p:sp>
      <p:sp>
        <p:nvSpPr>
          <p:cNvPr id="34" name="Text 31"/>
          <p:cNvSpPr txBox="1"/>
          <p:nvPr/>
        </p:nvSpPr>
        <p:spPr>
          <a:xfrm>
            <a:off x="405408" y="423507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vi-VN" sz="720" dirty="0"/>
          </a:p>
        </p:txBody>
      </p:sp>
      <p:sp>
        <p:nvSpPr>
          <p:cNvPr id="35" name="Text 32"/>
          <p:cNvSpPr txBox="1"/>
          <p:nvPr/>
        </p:nvSpPr>
        <p:spPr>
          <a:xfrm>
            <a:off x="405408" y="447213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Giá tham khảo hộp 500 ml có nắp, đồng/chiếc</a:t>
            </a:r>
            <a:endParaRPr lang="vi-VN" sz="630" dirty="0"/>
          </a:p>
        </p:txBody>
      </p:sp>
      <p:graphicFrame>
        <p:nvGraphicFramePr>
          <p:cNvPr id="36" name="Chart 1" descr=""/>
          <p:cNvGraphicFramePr/>
          <p:nvPr/>
        </p:nvGraphicFramePr>
        <p:xfrm>
          <a:off x="405408" y="4587627"/>
          <a:ext cx="2159943" cy="834479"/>
        </p:xfrm>
        <a:graphic xmlns:a="http://schemas.openxmlformats.org/drawingml/2006/main">
          <a:graphicData uri="http://schemas.openxmlformats.org/drawingml/2006/chart">
            <c:chart xmlns:c="http://schemas.openxmlformats.org/drawingml/2006/chart" r:id="rId2"/>
          </a:graphicData>
        </a:graphic>
      </p:graphicFrame>
      <p:sp>
        <p:nvSpPr>
          <p:cNvPr id="37" name="Text 33"/>
          <p:cNvSpPr txBox="1"/>
          <p:nvPr/>
        </p:nvSpPr>
        <p:spPr>
          <a:xfrm>
            <a:off x="405408" y="543996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vi-VN" sz="600" dirty="0"/>
          </a:p>
        </p:txBody>
      </p:sp>
      <p:sp>
        <p:nvSpPr>
          <p:cNvPr id="38" name="Text 34"/>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Tổng quan doanh nghiệp</a:t>
            </a:r>
            <a:endParaRPr lang="vi-VN" sz="900" dirty="0"/>
          </a:p>
        </p:txBody>
      </p:sp>
      <p:sp>
        <p:nvSpPr>
          <p:cNvPr id="39" name="Text 35"/>
          <p:cNvSpPr txBox="1"/>
          <p:nvPr/>
        </p:nvSpPr>
        <p:spPr>
          <a:xfrm>
            <a:off x="2745284" y="1014561"/>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vi-VN" sz="850" dirty="0"/>
          </a:p>
        </p:txBody>
      </p:sp>
      <p:sp>
        <p:nvSpPr>
          <p:cNvPr id="40" name="Text 36"/>
          <p:cNvSpPr txBox="1"/>
          <p:nvPr/>
        </p:nvSpPr>
        <p:spPr>
          <a:xfrm>
            <a:off x="2745284" y="19731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1.1 Sản phẩm kinh doanh</a:t>
            </a:r>
            <a:endParaRPr lang="vi-VN" sz="900" dirty="0"/>
          </a:p>
        </p:txBody>
      </p:sp>
      <p:sp>
        <p:nvSpPr>
          <p:cNvPr id="41" name="Text 37"/>
          <p:cNvSpPr txBox="1"/>
          <p:nvPr/>
        </p:nvSpPr>
        <p:spPr>
          <a:xfrm>
            <a:off x="2745284" y="214253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1.1.1. Vấn đề thị trường</a:t>
            </a:r>
            <a:endParaRPr lang="vi-VN" sz="820" dirty="0"/>
          </a:p>
        </p:txBody>
      </p:sp>
      <p:sp>
        <p:nvSpPr>
          <p:cNvPr id="42" name="Text 38"/>
          <p:cNvSpPr txBox="1"/>
          <p:nvPr/>
        </p:nvSpPr>
        <p:spPr>
          <a:xfrm>
            <a:off x="2745284" y="22891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 (Fig. 04).</a:t>
            </a:r>
            <a:endParaRPr lang="vi-VN" sz="850" dirty="0"/>
          </a:p>
        </p:txBody>
      </p:sp>
      <p:sp>
        <p:nvSpPr>
          <p:cNvPr id="43" name="Text 39"/>
          <p:cNvSpPr txBox="1"/>
          <p:nvPr/>
        </p:nvSpPr>
        <p:spPr>
          <a:xfrm>
            <a:off x="2745284" y="32477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định số 08/2022/NĐ-CP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vi-VN" sz="850" dirty="0"/>
          </a:p>
        </p:txBody>
      </p:sp>
      <p:sp>
        <p:nvSpPr>
          <p:cNvPr id="44" name="Text 40"/>
          <p:cNvSpPr txBox="1"/>
          <p:nvPr/>
        </p:nvSpPr>
        <p:spPr>
          <a:xfrm>
            <a:off x="2759184" y="381163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Từ 01/01/2026, không sản xuất và nhập khẩu túi ni lông khó phân hủy sinh học có kích thước nhỏ. Tổ chức, cá nhân sản xuất hay nhập khẩu sản phẩm nhựa sử dụng một lần, bao bì nhựa khó phân hủy sinh học (gồm túi ni lông, hộp nhựa xốp đóng gói, chứa đựng thực phẩm) phải thực hiện trách nhiệm tái chế, xử lý theo quy định.</a:t>
            </a:r>
            <a:endParaRPr lang="vi-VN" sz="850" dirty="0"/>
          </a:p>
        </p:txBody>
      </p:sp>
      <p:sp>
        <p:nvSpPr>
          <p:cNvPr id="45" name="Text 41"/>
          <p:cNvSpPr txBox="1"/>
          <p:nvPr/>
        </p:nvSpPr>
        <p:spPr>
          <a:xfrm>
            <a:off x="2759184" y="434682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vi-VN" sz="850" dirty="0"/>
          </a:p>
        </p:txBody>
      </p:sp>
      <p:sp>
        <p:nvSpPr>
          <p:cNvPr id="46" name="Text 42"/>
          <p:cNvSpPr txBox="1"/>
          <p:nvPr/>
        </p:nvSpPr>
        <p:spPr>
          <a:xfrm>
            <a:off x="2759184" y="4750445"/>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 (Fig. 05)</a:t>
            </a:r>
            <a:endParaRPr lang="vi-VN" sz="850" dirty="0"/>
          </a:p>
        </p:txBody>
      </p:sp>
      <p:sp>
        <p:nvSpPr>
          <p:cNvPr id="47" name="Text 43"/>
          <p:cNvSpPr txBox="1"/>
          <p:nvPr/>
        </p:nvSpPr>
        <p:spPr>
          <a:xfrm>
            <a:off x="2745284" y="5065663"/>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vi-VN" sz="850" dirty="0"/>
          </a:p>
        </p:txBody>
      </p:sp>
      <p:sp>
        <p:nvSpPr>
          <p:cNvPr id="48" name="Text 44"/>
          <p:cNvSpPr txBox="1"/>
          <p:nvPr/>
        </p:nvSpPr>
        <p:spPr>
          <a:xfrm>
            <a:off x="2745284" y="5234880"/>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06).</a:t>
            </a:r>
            <a:endParaRPr lang="vi-VN" sz="850" dirty="0"/>
          </a:p>
        </p:txBody>
      </p:sp>
      <p:sp>
        <p:nvSpPr>
          <p:cNvPr id="49" name="Text 45"/>
          <p:cNvSpPr txBox="1"/>
          <p:nvPr/>
        </p:nvSpPr>
        <p:spPr>
          <a:xfrm>
            <a:off x="2745284" y="63250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1.1.2. Giải pháp sản phẩm</a:t>
            </a:r>
            <a:endParaRPr lang="vi-VN" sz="820" dirty="0"/>
          </a:p>
        </p:txBody>
      </p:sp>
      <p:sp>
        <p:nvSpPr>
          <p:cNvPr id="50" name="Text 46"/>
          <p:cNvSpPr txBox="1"/>
          <p:nvPr/>
        </p:nvSpPr>
        <p:spPr>
          <a:xfrm>
            <a:off x="2745284" y="6471642"/>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cung ứng bốn loại sản phẩm:</a:t>
            </a:r>
            <a:endParaRPr lang="vi-VN" sz="850" dirty="0"/>
          </a:p>
        </p:txBody>
      </p:sp>
      <p:sp>
        <p:nvSpPr>
          <p:cNvPr id="51" name="Text 47"/>
          <p:cNvSpPr txBox="1"/>
          <p:nvPr/>
        </p:nvSpPr>
        <p:spPr>
          <a:xfrm>
            <a:off x="2759184" y="6640860"/>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vi-VN" sz="850" dirty="0"/>
          </a:p>
        </p:txBody>
      </p:sp>
      <p:sp>
        <p:nvSpPr>
          <p:cNvPr id="52" name="Text 48"/>
          <p:cNvSpPr txBox="1"/>
          <p:nvPr/>
        </p:nvSpPr>
        <p:spPr>
          <a:xfrm>
            <a:off x="2759184" y="7044482"/>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vi-VN" sz="850" dirty="0"/>
          </a:p>
        </p:txBody>
      </p:sp>
      <p:sp>
        <p:nvSpPr>
          <p:cNvPr id="53" name="Text 49"/>
          <p:cNvSpPr txBox="1"/>
          <p:nvPr/>
        </p:nvSpPr>
        <p:spPr>
          <a:xfrm>
            <a:off x="2759184" y="7184975"/>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vi-VN" sz="850" dirty="0"/>
          </a:p>
        </p:txBody>
      </p:sp>
      <p:sp>
        <p:nvSpPr>
          <p:cNvPr id="54" name="Text 50"/>
          <p:cNvSpPr txBox="1"/>
          <p:nvPr/>
        </p:nvSpPr>
        <p:spPr>
          <a:xfrm>
            <a:off x="2759184" y="7325469"/>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vi-VN" sz="850" dirty="0"/>
          </a:p>
        </p:txBody>
      </p:sp>
      <p:sp>
        <p:nvSpPr>
          <p:cNvPr id="55" name="Text 51"/>
          <p:cNvSpPr txBox="1"/>
          <p:nvPr/>
        </p:nvSpPr>
        <p:spPr>
          <a:xfrm>
            <a:off x="2745284" y="7509123"/>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vi-VN" sz="850" dirty="0"/>
          </a:p>
        </p:txBody>
      </p:sp>
      <p:sp>
        <p:nvSpPr>
          <p:cNvPr id="56" name="Text 52"/>
          <p:cNvSpPr txBox="1"/>
          <p:nvPr/>
        </p:nvSpPr>
        <p:spPr>
          <a:xfrm>
            <a:off x="2745284" y="8073033"/>
            <a:ext cx="4464046" cy="1315641"/>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vi-VN" sz="850" dirty="0"/>
          </a:p>
        </p:txBody>
      </p:sp>
      <p:sp>
        <p:nvSpPr>
          <p:cNvPr id="57" name="Text 53"/>
          <p:cNvSpPr txBox="1"/>
          <p:nvPr/>
        </p:nvSpPr>
        <p:spPr>
          <a:xfrm>
            <a:off x="2745284" y="942632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vi-VN" sz="900" dirty="0"/>
          </a:p>
        </p:txBody>
      </p:sp>
      <p:sp>
        <p:nvSpPr>
          <p:cNvPr id="58" name="Text 54"/>
          <p:cNvSpPr txBox="1"/>
          <p:nvPr/>
        </p:nvSpPr>
        <p:spPr>
          <a:xfrm>
            <a:off x="2745284" y="959569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1.2.1. Khách hàng mục tiêu</a:t>
            </a:r>
            <a:endParaRPr lang="vi-VN" sz="820" dirty="0"/>
          </a:p>
        </p:txBody>
      </p:sp>
      <p:sp>
        <p:nvSpPr>
          <p:cNvPr id="59" name="Text 55"/>
          <p:cNvSpPr txBox="1"/>
          <p:nvPr/>
        </p:nvSpPr>
        <p:spPr>
          <a:xfrm>
            <a:off x="2745284" y="9742289"/>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vi-VN" sz="850" dirty="0"/>
          </a:p>
        </p:txBody>
      </p:sp>
      <p:sp>
        <p:nvSpPr>
          <p:cNvPr id="60" name="Text 5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1" name="Text 57"/>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a:t>
            </a:r>
            <a:endParaRPr lang="vi-VN"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697361"/>
            <a:ext cx="6749058" cy="0"/>
          </a:xfrm>
          <a:prstGeom prst="line">
            <a:avLst/>
          </a:prstGeom>
          <a:noFill/>
          <a:ln w="9525">
            <a:solidFill>
              <a:srgbClr val="7B1E2B"/>
            </a:solidFill>
            <a:prstDash val="solid"/>
          </a:ln>
        </p:spPr>
      </p:sp>
      <p:sp>
        <p:nvSpPr>
          <p:cNvPr id="5" name="Shape 3"/>
          <p:cNvSpPr/>
          <p:nvPr/>
        </p:nvSpPr>
        <p:spPr>
          <a:xfrm>
            <a:off x="405408" y="4458742"/>
            <a:ext cx="2159943" cy="0"/>
          </a:xfrm>
          <a:prstGeom prst="line">
            <a:avLst/>
          </a:prstGeom>
          <a:noFill/>
          <a:ln w="9525">
            <a:solidFill>
              <a:srgbClr val="7B1E2B"/>
            </a:solidFill>
            <a:prstDash val="solid"/>
          </a:ln>
        </p:spPr>
      </p:sp>
      <p:sp>
        <p:nvSpPr>
          <p:cNvPr id="6" name="Shape 4"/>
          <p:cNvSpPr/>
          <p:nvPr/>
        </p:nvSpPr>
        <p:spPr>
          <a:xfrm>
            <a:off x="405408" y="6205686"/>
            <a:ext cx="2159943" cy="0"/>
          </a:xfrm>
          <a:prstGeom prst="line">
            <a:avLst/>
          </a:prstGeom>
          <a:noFill/>
          <a:ln w="9525">
            <a:solidFill>
              <a:srgbClr val="7B1E2B"/>
            </a:solidFill>
            <a:prstDash val="solid"/>
          </a:ln>
        </p:spPr>
      </p:sp>
      <p:sp>
        <p:nvSpPr>
          <p:cNvPr id="7" name="Shape 5"/>
          <p:cNvSpPr/>
          <p:nvPr/>
        </p:nvSpPr>
        <p:spPr>
          <a:xfrm>
            <a:off x="405408" y="7893695"/>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1" name="Text 9"/>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SOM tăng từ 4,3% lên 11,0% SAM đến 2030E</a:t>
            </a:r>
            <a:endParaRPr lang="vi-VN" sz="72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2159943" cy="914400"/>
        </p:xfrm>
        <a:graphic>
          <a:graphicData uri="http://schemas.openxmlformats.org/drawingml/2006/table">
            <a:tbl>
              <a:tblPr/>
              <a:tblGrid>
                <a:gridCol w="993428"/>
                <a:gridCol w="367159"/>
                <a:gridCol w="367159"/>
                <a:gridCol w="4321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Triệu USD</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2025</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CAGR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TAM – bao bì xanh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1.129,8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1.384,5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SOM – doanh thu F&amp;B/FMCG của AgriPack</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4,69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i="1" dirty="0">
                          <a:solidFill>
                            <a:srgbClr val="555555"/>
                          </a:solidFill>
                          <a:latin typeface="Calibri" pitchFamily="34" charset="0"/>
                          <a:ea typeface="Calibri" pitchFamily="34" charset="-122"/>
                          <a:cs typeface="Calibri" pitchFamily="34" charset="-120"/>
                        </a:rPr>
                        <a:t>SOM / SAM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11,0%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180707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vi-VN" sz="600" dirty="0"/>
          </a:p>
        </p:txBody>
      </p:sp>
      <p:sp>
        <p:nvSpPr>
          <p:cNvPr id="14" name="Text 11"/>
          <p:cNvSpPr txBox="1"/>
          <p:nvPr/>
        </p:nvSpPr>
        <p:spPr>
          <a:xfrm>
            <a:off x="2745284" y="55810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vi-VN" sz="850" dirty="0"/>
          </a:p>
        </p:txBody>
      </p:sp>
      <p:sp>
        <p:nvSpPr>
          <p:cNvPr id="15" name="Text 12"/>
          <p:cNvSpPr txBox="1"/>
          <p:nvPr/>
        </p:nvSpPr>
        <p:spPr>
          <a:xfrm>
            <a:off x="2759184" y="990451"/>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vi-VN" sz="850" dirty="0"/>
          </a:p>
        </p:txBody>
      </p:sp>
      <p:sp>
        <p:nvSpPr>
          <p:cNvPr id="16" name="Text 13"/>
          <p:cNvSpPr txBox="1"/>
          <p:nvPr/>
        </p:nvSpPr>
        <p:spPr>
          <a:xfrm>
            <a:off x="2759184" y="139407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vi-VN" sz="850" dirty="0"/>
          </a:p>
        </p:txBody>
      </p:sp>
      <p:sp>
        <p:nvSpPr>
          <p:cNvPr id="17" name="Text 14"/>
          <p:cNvSpPr txBox="1"/>
          <p:nvPr/>
        </p:nvSpPr>
        <p:spPr>
          <a:xfrm>
            <a:off x="2759184" y="1797695"/>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 thị trường SAM với mức doanh thu ~4,7 triệu USD. Thị trường miền Trung và Nam là hai thị trường AgriPack tập trung khai thác, sau đó sẽ mở rộng ra Hà Nội và miền Bắc (Fig. 07).</a:t>
            </a:r>
            <a:endParaRPr lang="vi-VN" sz="850" dirty="0"/>
          </a:p>
        </p:txBody>
      </p:sp>
      <p:sp>
        <p:nvSpPr>
          <p:cNvPr id="18" name="Text 15"/>
          <p:cNvSpPr txBox="1"/>
          <p:nvPr/>
        </p:nvSpPr>
        <p:spPr>
          <a:xfrm>
            <a:off x="405408" y="2550765"/>
            <a:ext cx="6803922"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1.2.2. Chiến lược giá bán</a:t>
            </a:r>
            <a:endParaRPr lang="vi-VN" sz="820" dirty="0"/>
          </a:p>
        </p:txBody>
      </p:sp>
      <p:sp>
        <p:nvSpPr>
          <p:cNvPr id="19" name="Text 16"/>
          <p:cNvSpPr txBox="1"/>
          <p:nvPr/>
        </p:nvSpPr>
        <p:spPr>
          <a:xfrm>
            <a:off x="405408" y="2728486"/>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vi-VN" sz="72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408" y="2870299"/>
          <a:ext cx="6749058" cy="914400"/>
        </p:xfrm>
        <a:graphic>
          <a:graphicData uri="http://schemas.openxmlformats.org/drawingml/2006/table">
            <a:tbl>
              <a:tblPr/>
              <a:tblGrid>
                <a:gridCol w="1147316"/>
                <a:gridCol w="1619696"/>
                <a:gridCol w="1957090"/>
                <a:gridCol w="2024955"/>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Phân khúc sản phẩm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 tham chiếu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thị trường tham chiếu (Cơ sở xác định giá)</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bán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Hộp/khay 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 bã mía Thái Lan và Trung Quốc (ecoeshop.com)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Thái Lan: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2.100 – 2.4000đ/cái (dung tích 600ml)</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Trung Quốc: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1.900 – 4.000đ/cái (dung tích 600 - 750ml)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4.000 đ/cái (tùy dung tích từ 500ml – 800ml)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thiết bị, linh kiện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2.600 - 18.200đ/cái (ép khuôn tiêu chuẩn)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nội thất/e-commerce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520 - 11.700đ/cái (ép khuôn cơ bản)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Thiết kế - Chế tạo khuôn – Ép mẫu thử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1" name="Text 17"/>
          <p:cNvSpPr txBox="1"/>
          <p:nvPr/>
        </p:nvSpPr>
        <p:spPr>
          <a:xfrm>
            <a:off x="405408" y="429547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vi-VN" sz="600" dirty="0"/>
          </a:p>
        </p:txBody>
      </p:sp>
      <p:sp>
        <p:nvSpPr>
          <p:cNvPr id="22" name="Text 18"/>
          <p:cNvSpPr txBox="1"/>
          <p:nvPr/>
        </p:nvSpPr>
        <p:spPr>
          <a:xfrm>
            <a:off x="405408" y="448986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Thực phẩm/FMCG chiếm gần 80% doanh thu bán hàng</a:t>
            </a:r>
            <a:endParaRPr lang="vi-VN" sz="720" dirty="0"/>
          </a:p>
        </p:txBody>
      </p:sp>
      <p:sp>
        <p:nvSpPr>
          <p:cNvPr id="23" name="Text 19"/>
          <p:cNvSpPr txBox="1"/>
          <p:nvPr/>
        </p:nvSpPr>
        <p:spPr>
          <a:xfrm>
            <a:off x="405408" y="47269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Chart 0" descr=""/>
          <p:cNvGraphicFramePr/>
          <p:nvPr/>
        </p:nvGraphicFramePr>
        <p:xfrm>
          <a:off x="405408" y="4842421"/>
          <a:ext cx="2159943" cy="1079897"/>
        </p:xfrm>
        <a:graphic xmlns:a="http://schemas.openxmlformats.org/drawingml/2006/main">
          <a:graphicData uri="http://schemas.openxmlformats.org/drawingml/2006/chart">
            <c:chart xmlns:c="http://schemas.openxmlformats.org/drawingml/2006/chart" r:id="rId1"/>
          </a:graphicData>
        </a:graphic>
      </p:graphicFrame>
      <p:sp>
        <p:nvSpPr>
          <p:cNvPr id="25" name="Text 20"/>
          <p:cNvSpPr txBox="1"/>
          <p:nvPr/>
        </p:nvSpPr>
        <p:spPr>
          <a:xfrm>
            <a:off x="405408" y="594017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vi-VN" sz="600" dirty="0"/>
          </a:p>
        </p:txBody>
      </p:sp>
      <p:sp>
        <p:nvSpPr>
          <p:cNvPr id="26" name="Text 21"/>
          <p:cNvSpPr txBox="1"/>
          <p:nvPr/>
        </p:nvSpPr>
        <p:spPr>
          <a:xfrm>
            <a:off x="405408" y="623681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vi-VN" sz="720" dirty="0"/>
          </a:p>
        </p:txBody>
      </p:sp>
      <p:sp>
        <p:nvSpPr>
          <p:cNvPr id="27" name="Text 22"/>
          <p:cNvSpPr txBox="1"/>
          <p:nvPr/>
        </p:nvSpPr>
        <p:spPr>
          <a:xfrm>
            <a:off x="405408" y="647387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8" name="Chart 1" descr=""/>
          <p:cNvGraphicFramePr/>
          <p:nvPr/>
        </p:nvGraphicFramePr>
        <p:xfrm>
          <a:off x="405408" y="6589365"/>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29" name="Text 23"/>
          <p:cNvSpPr txBox="1"/>
          <p:nvPr/>
        </p:nvSpPr>
        <p:spPr>
          <a:xfrm>
            <a:off x="405408" y="762818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vi-VN" sz="600" dirty="0"/>
          </a:p>
        </p:txBody>
      </p:sp>
      <p:sp>
        <p:nvSpPr>
          <p:cNvPr id="30" name="Text 24"/>
          <p:cNvSpPr txBox="1"/>
          <p:nvPr/>
        </p:nvSpPr>
        <p:spPr>
          <a:xfrm>
            <a:off x="405408" y="7924820"/>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vi-VN" sz="720" dirty="0"/>
          </a:p>
        </p:txBody>
      </p:sp>
      <p:sp>
        <p:nvSpPr>
          <p:cNvPr id="31" name="Shape 25"/>
          <p:cNvSpPr/>
          <p:nvPr/>
        </p:nvSpPr>
        <p:spPr>
          <a:xfrm>
            <a:off x="425096" y="8195807"/>
            <a:ext cx="147262" cy="107991"/>
          </a:xfrm>
          <a:prstGeom prst="rect">
            <a:avLst/>
          </a:prstGeom>
          <a:solidFill>
            <a:srgbClr val="7B1E2B"/>
          </a:solidFill>
          <a:ln/>
        </p:spPr>
      </p:sp>
      <p:sp>
        <p:nvSpPr>
          <p:cNvPr id="32" name="Shape 26"/>
          <p:cNvSpPr/>
          <p:nvPr/>
        </p:nvSpPr>
        <p:spPr>
          <a:xfrm>
            <a:off x="572358" y="8195807"/>
            <a:ext cx="1973304" cy="107991"/>
          </a:xfrm>
          <a:prstGeom prst="rect">
            <a:avLst/>
          </a:prstGeom>
          <a:solidFill>
            <a:srgbClr val="F4EEEE"/>
          </a:solidFill>
          <a:ln/>
        </p:spPr>
      </p:sp>
      <p:sp>
        <p:nvSpPr>
          <p:cNvPr id="33" name="Shape 27"/>
          <p:cNvSpPr/>
          <p:nvPr/>
        </p:nvSpPr>
        <p:spPr>
          <a:xfrm flipV="1">
            <a:off x="473202" y="8309688"/>
            <a:ext cx="51051" cy="25524"/>
          </a:xfrm>
          <a:prstGeom prst="triangle">
            <a:avLst/>
          </a:prstGeom>
          <a:solidFill>
            <a:srgbClr val="A3A3A3"/>
          </a:solidFill>
          <a:ln/>
        </p:spPr>
      </p:sp>
      <p:sp>
        <p:nvSpPr>
          <p:cNvPr id="34" name="Shape 28"/>
          <p:cNvSpPr/>
          <p:nvPr/>
        </p:nvSpPr>
        <p:spPr>
          <a:xfrm>
            <a:off x="425096" y="8339140"/>
            <a:ext cx="147262" cy="107991"/>
          </a:xfrm>
          <a:prstGeom prst="rect">
            <a:avLst/>
          </a:prstGeom>
          <a:solidFill>
            <a:srgbClr val="7B1E2B"/>
          </a:solidFill>
          <a:ln/>
        </p:spPr>
      </p:sp>
      <p:sp>
        <p:nvSpPr>
          <p:cNvPr id="35" name="Shape 29"/>
          <p:cNvSpPr/>
          <p:nvPr/>
        </p:nvSpPr>
        <p:spPr>
          <a:xfrm>
            <a:off x="572358" y="8339140"/>
            <a:ext cx="1973304" cy="107991"/>
          </a:xfrm>
          <a:prstGeom prst="rect">
            <a:avLst/>
          </a:prstGeom>
          <a:solidFill>
            <a:srgbClr val="F4EEEE"/>
          </a:solidFill>
          <a:ln/>
        </p:spPr>
      </p:sp>
      <p:sp>
        <p:nvSpPr>
          <p:cNvPr id="36" name="Shape 30"/>
          <p:cNvSpPr/>
          <p:nvPr/>
        </p:nvSpPr>
        <p:spPr>
          <a:xfrm flipV="1">
            <a:off x="473202" y="8453021"/>
            <a:ext cx="51051" cy="25526"/>
          </a:xfrm>
          <a:prstGeom prst="triangle">
            <a:avLst/>
          </a:prstGeom>
          <a:solidFill>
            <a:srgbClr val="A3A3A3"/>
          </a:solidFill>
          <a:ln/>
        </p:spPr>
      </p:sp>
      <p:sp>
        <p:nvSpPr>
          <p:cNvPr id="37" name="Shape 31"/>
          <p:cNvSpPr/>
          <p:nvPr/>
        </p:nvSpPr>
        <p:spPr>
          <a:xfrm>
            <a:off x="425096" y="8482475"/>
            <a:ext cx="147262" cy="107991"/>
          </a:xfrm>
          <a:prstGeom prst="rect">
            <a:avLst/>
          </a:prstGeom>
          <a:solidFill>
            <a:srgbClr val="7B1E2B"/>
          </a:solidFill>
          <a:ln/>
        </p:spPr>
      </p:sp>
      <p:sp>
        <p:nvSpPr>
          <p:cNvPr id="38" name="Shape 32"/>
          <p:cNvSpPr/>
          <p:nvPr/>
        </p:nvSpPr>
        <p:spPr>
          <a:xfrm>
            <a:off x="572358" y="8482475"/>
            <a:ext cx="1973304" cy="107991"/>
          </a:xfrm>
          <a:prstGeom prst="rect">
            <a:avLst/>
          </a:prstGeom>
          <a:solidFill>
            <a:srgbClr val="F4EEEE"/>
          </a:solidFill>
          <a:ln/>
        </p:spPr>
      </p:sp>
      <p:sp>
        <p:nvSpPr>
          <p:cNvPr id="39" name="Shape 33"/>
          <p:cNvSpPr/>
          <p:nvPr/>
        </p:nvSpPr>
        <p:spPr>
          <a:xfrm flipV="1">
            <a:off x="473202" y="8596357"/>
            <a:ext cx="51051" cy="25526"/>
          </a:xfrm>
          <a:prstGeom prst="triangle">
            <a:avLst/>
          </a:prstGeom>
          <a:solidFill>
            <a:srgbClr val="A3A3A3"/>
          </a:solidFill>
          <a:ln/>
        </p:spPr>
      </p:sp>
      <p:sp>
        <p:nvSpPr>
          <p:cNvPr id="40" name="Shape 34"/>
          <p:cNvSpPr/>
          <p:nvPr/>
        </p:nvSpPr>
        <p:spPr>
          <a:xfrm>
            <a:off x="425096" y="8625808"/>
            <a:ext cx="147262" cy="107993"/>
          </a:xfrm>
          <a:prstGeom prst="rect">
            <a:avLst/>
          </a:prstGeom>
          <a:solidFill>
            <a:srgbClr val="7B1E2B"/>
          </a:solidFill>
          <a:ln/>
        </p:spPr>
      </p:sp>
      <p:sp>
        <p:nvSpPr>
          <p:cNvPr id="41" name="Shape 35"/>
          <p:cNvSpPr/>
          <p:nvPr/>
        </p:nvSpPr>
        <p:spPr>
          <a:xfrm>
            <a:off x="572358" y="8625808"/>
            <a:ext cx="1973304" cy="107993"/>
          </a:xfrm>
          <a:prstGeom prst="rect">
            <a:avLst/>
          </a:prstGeom>
          <a:solidFill>
            <a:srgbClr val="F4EEEE"/>
          </a:solidFill>
          <a:ln/>
        </p:spPr>
      </p:sp>
      <p:sp>
        <p:nvSpPr>
          <p:cNvPr id="42" name="Shape 36"/>
          <p:cNvSpPr/>
          <p:nvPr/>
        </p:nvSpPr>
        <p:spPr>
          <a:xfrm flipV="1">
            <a:off x="473202" y="8739692"/>
            <a:ext cx="51051" cy="25524"/>
          </a:xfrm>
          <a:prstGeom prst="triangle">
            <a:avLst/>
          </a:prstGeom>
          <a:solidFill>
            <a:srgbClr val="A3A3A3"/>
          </a:solidFill>
          <a:ln/>
        </p:spPr>
      </p:sp>
      <p:sp>
        <p:nvSpPr>
          <p:cNvPr id="43" name="Shape 37"/>
          <p:cNvSpPr/>
          <p:nvPr/>
        </p:nvSpPr>
        <p:spPr>
          <a:xfrm>
            <a:off x="425096" y="8769144"/>
            <a:ext cx="147262" cy="107991"/>
          </a:xfrm>
          <a:prstGeom prst="rect">
            <a:avLst/>
          </a:prstGeom>
          <a:solidFill>
            <a:srgbClr val="7B1E2B"/>
          </a:solidFill>
          <a:ln/>
        </p:spPr>
      </p:sp>
      <p:sp>
        <p:nvSpPr>
          <p:cNvPr id="44" name="Shape 38"/>
          <p:cNvSpPr/>
          <p:nvPr/>
        </p:nvSpPr>
        <p:spPr>
          <a:xfrm>
            <a:off x="572358" y="8769144"/>
            <a:ext cx="1973304" cy="107991"/>
          </a:xfrm>
          <a:prstGeom prst="rect">
            <a:avLst/>
          </a:prstGeom>
          <a:solidFill>
            <a:srgbClr val="F4EEEE"/>
          </a:solidFill>
          <a:ln/>
        </p:spPr>
      </p:sp>
      <p:sp>
        <p:nvSpPr>
          <p:cNvPr id="45" name="Shape 39"/>
          <p:cNvSpPr/>
          <p:nvPr/>
        </p:nvSpPr>
        <p:spPr>
          <a:xfrm flipV="1">
            <a:off x="473202" y="8883025"/>
            <a:ext cx="51051" cy="25526"/>
          </a:xfrm>
          <a:prstGeom prst="triangle">
            <a:avLst/>
          </a:prstGeom>
          <a:solidFill>
            <a:srgbClr val="A3A3A3"/>
          </a:solidFill>
          <a:ln/>
        </p:spPr>
      </p:sp>
      <p:sp>
        <p:nvSpPr>
          <p:cNvPr id="46" name="Shape 40"/>
          <p:cNvSpPr/>
          <p:nvPr/>
        </p:nvSpPr>
        <p:spPr>
          <a:xfrm>
            <a:off x="425096" y="8912479"/>
            <a:ext cx="147262" cy="107991"/>
          </a:xfrm>
          <a:prstGeom prst="rect">
            <a:avLst/>
          </a:prstGeom>
          <a:solidFill>
            <a:srgbClr val="7B1E2B"/>
          </a:solidFill>
          <a:ln/>
        </p:spPr>
      </p:sp>
      <p:sp>
        <p:nvSpPr>
          <p:cNvPr id="47" name="Shape 41"/>
          <p:cNvSpPr/>
          <p:nvPr/>
        </p:nvSpPr>
        <p:spPr>
          <a:xfrm>
            <a:off x="572358" y="8912479"/>
            <a:ext cx="1973304" cy="107991"/>
          </a:xfrm>
          <a:prstGeom prst="rect">
            <a:avLst/>
          </a:prstGeom>
          <a:solidFill>
            <a:srgbClr val="F4EEEE"/>
          </a:solidFill>
          <a:ln/>
        </p:spPr>
      </p:sp>
      <p:sp>
        <p:nvSpPr>
          <p:cNvPr id="48" name="Shape 42"/>
          <p:cNvSpPr/>
          <p:nvPr/>
        </p:nvSpPr>
        <p:spPr>
          <a:xfrm flipV="1">
            <a:off x="473202" y="9026361"/>
            <a:ext cx="51051" cy="25524"/>
          </a:xfrm>
          <a:prstGeom prst="triangle">
            <a:avLst/>
          </a:prstGeom>
          <a:solidFill>
            <a:srgbClr val="A3A3A3"/>
          </a:solidFill>
          <a:ln/>
        </p:spPr>
      </p:sp>
      <p:sp>
        <p:nvSpPr>
          <p:cNvPr id="49" name="Shape 43"/>
          <p:cNvSpPr/>
          <p:nvPr/>
        </p:nvSpPr>
        <p:spPr>
          <a:xfrm>
            <a:off x="425096" y="9055812"/>
            <a:ext cx="147262" cy="107991"/>
          </a:xfrm>
          <a:prstGeom prst="rect">
            <a:avLst/>
          </a:prstGeom>
          <a:solidFill>
            <a:srgbClr val="7B1E2B"/>
          </a:solidFill>
          <a:ln/>
        </p:spPr>
      </p:sp>
      <p:sp>
        <p:nvSpPr>
          <p:cNvPr id="50" name="Shape 44"/>
          <p:cNvSpPr/>
          <p:nvPr/>
        </p:nvSpPr>
        <p:spPr>
          <a:xfrm>
            <a:off x="572358" y="9055812"/>
            <a:ext cx="1973304" cy="107991"/>
          </a:xfrm>
          <a:prstGeom prst="rect">
            <a:avLst/>
          </a:prstGeom>
          <a:solidFill>
            <a:srgbClr val="F4EEEE"/>
          </a:solidFill>
          <a:ln/>
        </p:spPr>
      </p:sp>
      <p:sp>
        <p:nvSpPr>
          <p:cNvPr id="51" name="Text 45"/>
          <p:cNvSpPr txBox="1"/>
          <p:nvPr/>
        </p:nvSpPr>
        <p:spPr>
          <a:xfrm>
            <a:off x="441241" y="8184765"/>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1</a:t>
            </a:r>
            <a:endParaRPr lang="vi-VN" sz="650" dirty="0"/>
          </a:p>
        </p:txBody>
      </p:sp>
      <p:sp>
        <p:nvSpPr>
          <p:cNvPr id="52" name="Text 46"/>
          <p:cNvSpPr txBox="1"/>
          <p:nvPr/>
        </p:nvSpPr>
        <p:spPr>
          <a:xfrm>
            <a:off x="584869" y="8183783"/>
            <a:ext cx="134030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Thu gom nguyên liệu (bã mía, vỏ trứng)</a:t>
            </a:r>
            <a:endParaRPr lang="vi-VN" sz="600" dirty="0"/>
          </a:p>
        </p:txBody>
      </p:sp>
      <p:sp>
        <p:nvSpPr>
          <p:cNvPr id="53" name="Text 47"/>
          <p:cNvSpPr txBox="1"/>
          <p:nvPr/>
        </p:nvSpPr>
        <p:spPr>
          <a:xfrm>
            <a:off x="441241" y="8328100"/>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2</a:t>
            </a:r>
            <a:endParaRPr lang="vi-VN" sz="650" dirty="0"/>
          </a:p>
        </p:txBody>
      </p:sp>
      <p:sp>
        <p:nvSpPr>
          <p:cNvPr id="54" name="Text 48"/>
          <p:cNvSpPr txBox="1"/>
          <p:nvPr/>
        </p:nvSpPr>
        <p:spPr>
          <a:xfrm>
            <a:off x="584869" y="8327119"/>
            <a:ext cx="115698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Xử lý, chuẩn hóa bã mía, vỏ trứng</a:t>
            </a:r>
            <a:endParaRPr lang="vi-VN" sz="600" dirty="0"/>
          </a:p>
        </p:txBody>
      </p:sp>
      <p:sp>
        <p:nvSpPr>
          <p:cNvPr id="55" name="Text 49"/>
          <p:cNvSpPr txBox="1"/>
          <p:nvPr/>
        </p:nvSpPr>
        <p:spPr>
          <a:xfrm>
            <a:off x="441241" y="8471436"/>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3</a:t>
            </a:r>
            <a:endParaRPr lang="vi-VN" sz="650" dirty="0"/>
          </a:p>
        </p:txBody>
      </p:sp>
      <p:sp>
        <p:nvSpPr>
          <p:cNvPr id="56" name="Text 50"/>
          <p:cNvSpPr txBox="1"/>
          <p:nvPr/>
        </p:nvSpPr>
        <p:spPr>
          <a:xfrm>
            <a:off x="584869" y="8470452"/>
            <a:ext cx="93340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Phối trộn, tạo sợi tự nhiên</a:t>
            </a:r>
            <a:endParaRPr lang="vi-VN" sz="600" dirty="0"/>
          </a:p>
        </p:txBody>
      </p:sp>
      <p:sp>
        <p:nvSpPr>
          <p:cNvPr id="57" name="Text 51"/>
          <p:cNvSpPr txBox="1"/>
          <p:nvPr/>
        </p:nvSpPr>
        <p:spPr>
          <a:xfrm>
            <a:off x="441241" y="8614769"/>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4</a:t>
            </a:r>
            <a:endParaRPr lang="vi-VN" sz="650" dirty="0"/>
          </a:p>
        </p:txBody>
      </p:sp>
      <p:sp>
        <p:nvSpPr>
          <p:cNvPr id="58" name="Text 52"/>
          <p:cNvSpPr txBox="1"/>
          <p:nvPr/>
        </p:nvSpPr>
        <p:spPr>
          <a:xfrm>
            <a:off x="584869" y="8613787"/>
            <a:ext cx="576965"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Thiết kế khuôn</a:t>
            </a:r>
            <a:endParaRPr lang="vi-VN" sz="600" dirty="0"/>
          </a:p>
        </p:txBody>
      </p:sp>
      <p:sp>
        <p:nvSpPr>
          <p:cNvPr id="59" name="Text 53"/>
          <p:cNvSpPr txBox="1"/>
          <p:nvPr/>
        </p:nvSpPr>
        <p:spPr>
          <a:xfrm>
            <a:off x="441241" y="8758104"/>
            <a:ext cx="160693"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5</a:t>
            </a:r>
            <a:endParaRPr lang="vi-VN" sz="650" dirty="0"/>
          </a:p>
        </p:txBody>
      </p:sp>
      <p:sp>
        <p:nvSpPr>
          <p:cNvPr id="60" name="Text 54"/>
          <p:cNvSpPr txBox="1"/>
          <p:nvPr/>
        </p:nvSpPr>
        <p:spPr>
          <a:xfrm>
            <a:off x="584869" y="8757123"/>
            <a:ext cx="1258747"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Ép khuôn, tạo hình và sấy hoàn thiện</a:t>
            </a:r>
            <a:endParaRPr lang="vi-VN" sz="600" dirty="0"/>
          </a:p>
        </p:txBody>
      </p:sp>
      <p:sp>
        <p:nvSpPr>
          <p:cNvPr id="61" name="Text 55"/>
          <p:cNvSpPr txBox="1"/>
          <p:nvPr/>
        </p:nvSpPr>
        <p:spPr>
          <a:xfrm>
            <a:off x="441241" y="8901437"/>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6</a:t>
            </a:r>
            <a:endParaRPr lang="vi-VN" sz="650" dirty="0"/>
          </a:p>
        </p:txBody>
      </p:sp>
      <p:sp>
        <p:nvSpPr>
          <p:cNvPr id="62" name="Text 56"/>
          <p:cNvSpPr txBox="1"/>
          <p:nvPr/>
        </p:nvSpPr>
        <p:spPr>
          <a:xfrm>
            <a:off x="584869" y="8900456"/>
            <a:ext cx="733723"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Kiểm tra chất lượng</a:t>
            </a:r>
            <a:endParaRPr lang="vi-VN" sz="600" dirty="0"/>
          </a:p>
        </p:txBody>
      </p:sp>
      <p:sp>
        <p:nvSpPr>
          <p:cNvPr id="63" name="Text 57"/>
          <p:cNvSpPr txBox="1"/>
          <p:nvPr/>
        </p:nvSpPr>
        <p:spPr>
          <a:xfrm>
            <a:off x="441241" y="9044773"/>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7</a:t>
            </a:r>
            <a:endParaRPr lang="vi-VN" sz="650" dirty="0"/>
          </a:p>
        </p:txBody>
      </p:sp>
      <p:sp>
        <p:nvSpPr>
          <p:cNvPr id="64" name="Text 58"/>
          <p:cNvSpPr txBox="1"/>
          <p:nvPr/>
        </p:nvSpPr>
        <p:spPr>
          <a:xfrm>
            <a:off x="584869" y="9043791"/>
            <a:ext cx="133592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Phân phối trực tiếp tới khách hàng B2B</a:t>
            </a:r>
            <a:endParaRPr lang="vi-VN" sz="600" dirty="0"/>
          </a:p>
        </p:txBody>
      </p:sp>
      <p:sp>
        <p:nvSpPr>
          <p:cNvPr id="65" name="Text 59"/>
          <p:cNvSpPr txBox="1"/>
          <p:nvPr/>
        </p:nvSpPr>
        <p:spPr>
          <a:xfrm>
            <a:off x="405408" y="920129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vi-VN" sz="600" dirty="0"/>
          </a:p>
        </p:txBody>
      </p:sp>
      <p:sp>
        <p:nvSpPr>
          <p:cNvPr id="66" name="Text 60"/>
          <p:cNvSpPr txBox="1"/>
          <p:nvPr/>
        </p:nvSpPr>
        <p:spPr>
          <a:xfrm>
            <a:off x="2745284" y="44730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1.3. Mô hình kinh doanh và Chuỗi giá trị</a:t>
            </a:r>
            <a:endParaRPr lang="vi-VN" sz="900" dirty="0"/>
          </a:p>
        </p:txBody>
      </p:sp>
      <p:sp>
        <p:nvSpPr>
          <p:cNvPr id="67" name="Text 61"/>
          <p:cNvSpPr txBox="1"/>
          <p:nvPr/>
        </p:nvSpPr>
        <p:spPr>
          <a:xfrm>
            <a:off x="2745284" y="464239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1.3.1. Mô hình kinh doanh</a:t>
            </a:r>
            <a:endParaRPr lang="vi-VN" sz="820" dirty="0"/>
          </a:p>
        </p:txBody>
      </p:sp>
      <p:sp>
        <p:nvSpPr>
          <p:cNvPr id="68" name="Text 62"/>
          <p:cNvSpPr txBox="1"/>
          <p:nvPr/>
        </p:nvSpPr>
        <p:spPr>
          <a:xfrm>
            <a:off x="2745284" y="478899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vi-VN" sz="850" dirty="0"/>
          </a:p>
        </p:txBody>
      </p:sp>
      <p:sp>
        <p:nvSpPr>
          <p:cNvPr id="69" name="Text 63"/>
          <p:cNvSpPr txBox="1"/>
          <p:nvPr/>
        </p:nvSpPr>
        <p:spPr>
          <a:xfrm>
            <a:off x="2745284" y="5616029"/>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09, Fig. 10).</a:t>
            </a:r>
            <a:endParaRPr lang="vi-VN" sz="850" dirty="0"/>
          </a:p>
        </p:txBody>
      </p:sp>
      <p:sp>
        <p:nvSpPr>
          <p:cNvPr id="70" name="Text 64"/>
          <p:cNvSpPr txBox="1"/>
          <p:nvPr/>
        </p:nvSpPr>
        <p:spPr>
          <a:xfrm>
            <a:off x="2745284" y="657463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1.3.2 Chuỗi giá trị</a:t>
            </a:r>
            <a:endParaRPr lang="vi-VN" sz="820" dirty="0"/>
          </a:p>
        </p:txBody>
      </p:sp>
      <p:sp>
        <p:nvSpPr>
          <p:cNvPr id="71" name="Text 65"/>
          <p:cNvSpPr txBox="1"/>
          <p:nvPr/>
        </p:nvSpPr>
        <p:spPr>
          <a:xfrm>
            <a:off x="2745284" y="6721227"/>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11; sơ đồ chi tiết ở Fig. A02)</a:t>
            </a:r>
            <a:endParaRPr lang="vi-VN" sz="850" dirty="0"/>
          </a:p>
        </p:txBody>
      </p:sp>
      <p:sp>
        <p:nvSpPr>
          <p:cNvPr id="72" name="Text 66"/>
          <p:cNvSpPr txBox="1"/>
          <p:nvPr/>
        </p:nvSpPr>
        <p:spPr>
          <a:xfrm>
            <a:off x="2759184" y="7022009"/>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1"/>
            </a:pPr>
            <a:r>
              <a:rPr lang="vi-VN"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vi-VN" sz="850" dirty="0"/>
          </a:p>
        </p:txBody>
      </p:sp>
      <p:sp>
        <p:nvSpPr>
          <p:cNvPr id="73" name="Text 67"/>
          <p:cNvSpPr txBox="1"/>
          <p:nvPr/>
        </p:nvSpPr>
        <p:spPr>
          <a:xfrm>
            <a:off x="2759184" y="7162502"/>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2"/>
            </a:pPr>
            <a:r>
              <a:rPr lang="vi-VN"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vi-VN" sz="850" dirty="0"/>
          </a:p>
        </p:txBody>
      </p:sp>
      <p:sp>
        <p:nvSpPr>
          <p:cNvPr id="74" name="Text 68"/>
          <p:cNvSpPr txBox="1"/>
          <p:nvPr/>
        </p:nvSpPr>
        <p:spPr>
          <a:xfrm>
            <a:off x="2759184" y="7302996"/>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3"/>
            </a:pPr>
            <a:r>
              <a:rPr lang="vi-VN" sz="850" dirty="0">
                <a:solidFill>
                  <a:srgbClr val="1F1F1F"/>
                </a:solidFill>
                <a:latin typeface="Calibri" pitchFamily="34" charset="0"/>
                <a:ea typeface="Calibri" pitchFamily="34" charset="-122"/>
                <a:cs typeface="Calibri" pitchFamily="34" charset="-120"/>
              </a:rPr>
              <a:t>Phối trộn, tạo sợi tự nhiên</a:t>
            </a:r>
            <a:endParaRPr lang="vi-VN" sz="850" dirty="0"/>
          </a:p>
        </p:txBody>
      </p:sp>
      <p:sp>
        <p:nvSpPr>
          <p:cNvPr id="75" name="Text 69"/>
          <p:cNvSpPr txBox="1"/>
          <p:nvPr/>
        </p:nvSpPr>
        <p:spPr>
          <a:xfrm>
            <a:off x="2759184" y="7443490"/>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4"/>
            </a:pPr>
            <a:r>
              <a:rPr lang="vi-VN"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vi-VN" sz="850" dirty="0"/>
          </a:p>
        </p:txBody>
      </p:sp>
      <p:sp>
        <p:nvSpPr>
          <p:cNvPr id="76" name="Text 70"/>
          <p:cNvSpPr txBox="1"/>
          <p:nvPr/>
        </p:nvSpPr>
        <p:spPr>
          <a:xfrm>
            <a:off x="2759184" y="7583984"/>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5"/>
            </a:pPr>
            <a:r>
              <a:rPr lang="vi-VN" sz="850" dirty="0">
                <a:solidFill>
                  <a:srgbClr val="1F1F1F"/>
                </a:solidFill>
                <a:latin typeface="Calibri" pitchFamily="34" charset="0"/>
                <a:ea typeface="Calibri" pitchFamily="34" charset="-122"/>
                <a:cs typeface="Calibri" pitchFamily="34" charset="-120"/>
              </a:rPr>
              <a:t>Ép khuôn, tạo hình và sấy hoàn thiện</a:t>
            </a:r>
            <a:endParaRPr lang="vi-VN" sz="850" dirty="0"/>
          </a:p>
        </p:txBody>
      </p:sp>
      <p:sp>
        <p:nvSpPr>
          <p:cNvPr id="77" name="Text 71"/>
          <p:cNvSpPr txBox="1"/>
          <p:nvPr/>
        </p:nvSpPr>
        <p:spPr>
          <a:xfrm>
            <a:off x="2759184" y="7724477"/>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6"/>
            </a:pPr>
            <a:r>
              <a:rPr lang="vi-VN"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vi-VN" sz="850" dirty="0"/>
          </a:p>
        </p:txBody>
      </p:sp>
      <p:sp>
        <p:nvSpPr>
          <p:cNvPr id="78" name="Text 72"/>
          <p:cNvSpPr txBox="1"/>
          <p:nvPr/>
        </p:nvSpPr>
        <p:spPr>
          <a:xfrm>
            <a:off x="2759184" y="7864971"/>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7"/>
            </a:pPr>
            <a:r>
              <a:rPr lang="vi-VN" sz="850" dirty="0">
                <a:solidFill>
                  <a:srgbClr val="1F1F1F"/>
                </a:solidFill>
                <a:latin typeface="Calibri" pitchFamily="34" charset="0"/>
                <a:ea typeface="Calibri" pitchFamily="34" charset="-122"/>
                <a:cs typeface="Calibri" pitchFamily="34" charset="-120"/>
              </a:rPr>
              <a:t>Phân phối trực tiếp tới khách hàng B2B</a:t>
            </a:r>
            <a:endParaRPr lang="vi-VN" sz="850" dirty="0"/>
          </a:p>
        </p:txBody>
      </p:sp>
      <p:sp>
        <p:nvSpPr>
          <p:cNvPr id="79" name="Text 7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80" name="Text 7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3</a:t>
            </a:r>
            <a:endParaRPr lang="vi-VN"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1789361"/>
            <a:ext cx="2159943" cy="0"/>
          </a:xfrm>
          <a:prstGeom prst="line">
            <a:avLst/>
          </a:prstGeom>
          <a:noFill/>
          <a:ln w="9525">
            <a:solidFill>
              <a:srgbClr val="7B1E2B"/>
            </a:solidFill>
            <a:prstDash val="solid"/>
          </a:ln>
        </p:spPr>
      </p:sp>
      <p:sp>
        <p:nvSpPr>
          <p:cNvPr id="6" name="Shape 4"/>
          <p:cNvSpPr/>
          <p:nvPr/>
        </p:nvSpPr>
        <p:spPr>
          <a:xfrm>
            <a:off x="405408" y="2907953"/>
            <a:ext cx="2159943" cy="0"/>
          </a:xfrm>
          <a:prstGeom prst="line">
            <a:avLst/>
          </a:prstGeom>
          <a:noFill/>
          <a:ln w="9525">
            <a:solidFill>
              <a:srgbClr val="7B1E2B"/>
            </a:solidFill>
            <a:prstDash val="solid"/>
          </a:ln>
        </p:spPr>
      </p:sp>
      <p:sp>
        <p:nvSpPr>
          <p:cNvPr id="7" name="Shape 5"/>
          <p:cNvSpPr/>
          <p:nvPr/>
        </p:nvSpPr>
        <p:spPr>
          <a:xfrm>
            <a:off x="405408" y="5711577"/>
            <a:ext cx="2159943" cy="0"/>
          </a:xfrm>
          <a:prstGeom prst="line">
            <a:avLst/>
          </a:prstGeom>
          <a:noFill/>
          <a:ln w="9525">
            <a:solidFill>
              <a:srgbClr val="7B1E2B"/>
            </a:solidFill>
            <a:prstDash val="solid"/>
          </a:ln>
        </p:spPr>
      </p:sp>
      <p:sp>
        <p:nvSpPr>
          <p:cNvPr id="8" name="Shape 6"/>
          <p:cNvSpPr/>
          <p:nvPr/>
        </p:nvSpPr>
        <p:spPr>
          <a:xfrm>
            <a:off x="405408" y="7085409"/>
            <a:ext cx="2159943"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2" name="Text 10"/>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2. BÁO CÁO TÀI CHÍNH VÀ XÁC ĐỊNH GIAI ĐOẠN</a:t>
            </a:r>
            <a:endParaRPr lang="vi-VN" sz="880" dirty="0"/>
          </a:p>
        </p:txBody>
      </p:sp>
      <p:sp>
        <p:nvSpPr>
          <p:cNvPr id="13" name="Text 11"/>
          <p:cNvSpPr txBox="1"/>
          <p:nvPr/>
        </p:nvSpPr>
        <p:spPr>
          <a:xfrm>
            <a:off x="405408" y="862032"/>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59,1% và 53,7%</a:t>
            </a:r>
            <a:endParaRPr lang="vi-VN" sz="720" dirty="0"/>
          </a:p>
        </p:txBody>
      </p:sp>
      <p:sp>
        <p:nvSpPr>
          <p:cNvPr id="14" name="Text 12"/>
          <p:cNvSpPr txBox="1"/>
          <p:nvPr/>
        </p:nvSpPr>
        <p:spPr>
          <a:xfrm>
            <a:off x="405408" y="98955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408" y="1105049"/>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Tăng trưởng 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59,1%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53,7%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13"/>
          <p:cNvSpPr txBox="1"/>
          <p:nvPr/>
        </p:nvSpPr>
        <p:spPr>
          <a:xfrm>
            <a:off x="405408" y="161523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17" name="Text 14"/>
          <p:cNvSpPr txBox="1"/>
          <p:nvPr/>
        </p:nvSpPr>
        <p:spPr>
          <a:xfrm>
            <a:off x="405408" y="182048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An Phát gấp 226 lần, Đông Hải Bến Tre gấp 76 lần AgriPack</a:t>
            </a:r>
            <a:endParaRPr lang="vi-VN" sz="720" dirty="0"/>
          </a:p>
        </p:txBody>
      </p:sp>
      <p:sp>
        <p:nvSpPr>
          <p:cNvPr id="18" name="Text 15"/>
          <p:cNvSpPr txBox="1"/>
          <p:nvPr/>
        </p:nvSpPr>
        <p:spPr>
          <a:xfrm>
            <a:off x="405408" y="205754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Doanh thu thuần 2025, tỷ đồng</a:t>
            </a:r>
            <a:endParaRPr lang="vi-VN" sz="630" dirty="0"/>
          </a:p>
        </p:txBody>
      </p:sp>
      <p:graphicFrame>
        <p:nvGraphicFramePr>
          <p:cNvPr id="19" name="Chart 0" descr=""/>
          <p:cNvGraphicFramePr/>
          <p:nvPr/>
        </p:nvGraphicFramePr>
        <p:xfrm>
          <a:off x="405408" y="2173039"/>
          <a:ext cx="2159943" cy="451545"/>
        </p:xfrm>
        <a:graphic xmlns:a="http://schemas.openxmlformats.org/drawingml/2006/main">
          <a:graphicData uri="http://schemas.openxmlformats.org/drawingml/2006/chart">
            <c:chart xmlns:c="http://schemas.openxmlformats.org/drawingml/2006/chart" r:id="rId1"/>
          </a:graphicData>
        </a:graphic>
      </p:graphicFrame>
      <p:sp>
        <p:nvSpPr>
          <p:cNvPr id="20" name="Text 16"/>
          <p:cNvSpPr txBox="1"/>
          <p:nvPr/>
        </p:nvSpPr>
        <p:spPr>
          <a:xfrm>
            <a:off x="405408" y="264244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2.1), BCTC 2025 của An Phát Holdings, Đông Hải Bến Tre; AgriPack: BCTC 2025 (đề bài)</a:t>
            </a:r>
            <a:endParaRPr lang="vi-VN" sz="600" dirty="0"/>
          </a:p>
        </p:txBody>
      </p:sp>
      <p:sp>
        <p:nvSpPr>
          <p:cNvPr id="21" name="Text 17"/>
          <p:cNvSpPr txBox="1"/>
          <p:nvPr/>
        </p:nvSpPr>
        <p:spPr>
          <a:xfrm>
            <a:off x="405408" y="293907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vi-VN" sz="720" dirty="0"/>
          </a:p>
        </p:txBody>
      </p:sp>
      <p:sp>
        <p:nvSpPr>
          <p:cNvPr id="22" name="Text 18"/>
          <p:cNvSpPr txBox="1"/>
          <p:nvPr/>
        </p:nvSpPr>
        <p:spPr>
          <a:xfrm>
            <a:off x="405408" y="317614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408" y="3291632"/>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7.243.109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14.514.122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24.264.946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51,0%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chi phí hoạt động (CPBH &amp; QLDN)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11.437.820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14.874.838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19.702.269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EBITDA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(2.762.511)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2.014.564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7.694.629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EBITDA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(4.194.711)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(360.716)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4.562.677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sau thuế</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(4.309.011)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(503.276)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4.420.495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lợi nhuận ròng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Vòng quay tổng tài sản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4" name="Text 19"/>
          <p:cNvSpPr txBox="1"/>
          <p:nvPr/>
        </p:nvSpPr>
        <p:spPr>
          <a:xfrm>
            <a:off x="405408" y="5354687"/>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theo chức năng (70% tiền lương, 90% khấu hao vào giá vốn); tính toán của nhóm (ROE, ROA, vòng quay trên số dư bình quân)</a:t>
            </a:r>
            <a:endParaRPr lang="vi-VN" sz="600" dirty="0"/>
          </a:p>
        </p:txBody>
      </p:sp>
      <p:sp>
        <p:nvSpPr>
          <p:cNvPr id="25" name="Text 20"/>
          <p:cNvSpPr txBox="1"/>
          <p:nvPr/>
        </p:nvSpPr>
        <p:spPr>
          <a:xfrm>
            <a:off x="405408" y="57427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của AgriPack vẫn cao hơn ngành khi đã đưa tiền lương, khấu hao vào giá vốn</a:t>
            </a:r>
            <a:endParaRPr lang="vi-VN" sz="720" dirty="0"/>
          </a:p>
        </p:txBody>
      </p:sp>
      <p:sp>
        <p:nvSpPr>
          <p:cNvPr id="26" name="Text 21"/>
          <p:cNvSpPr txBox="1"/>
          <p:nvPr/>
        </p:nvSpPr>
        <p:spPr>
          <a:xfrm>
            <a:off x="405408" y="59797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27" name="Chart 1" descr=""/>
          <p:cNvGraphicFramePr/>
          <p:nvPr/>
        </p:nvGraphicFramePr>
        <p:xfrm>
          <a:off x="405408" y="6095256"/>
          <a:ext cx="2159943" cy="706785"/>
        </p:xfrm>
        <a:graphic xmlns:a="http://schemas.openxmlformats.org/drawingml/2006/main">
          <a:graphicData uri="http://schemas.openxmlformats.org/drawingml/2006/chart">
            <c:chart xmlns:c="http://schemas.openxmlformats.org/drawingml/2006/chart" r:id="rId2"/>
          </a:graphicData>
        </a:graphic>
      </p:graphicFrame>
      <p:sp>
        <p:nvSpPr>
          <p:cNvPr id="28" name="Text 22"/>
          <p:cNvSpPr txBox="1"/>
          <p:nvPr/>
        </p:nvSpPr>
        <p:spPr>
          <a:xfrm>
            <a:off x="405408" y="68199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mô hình (Income Statement); Cleverence (2026); bài của nhóm (Mục 2.2)</a:t>
            </a:r>
            <a:endParaRPr lang="vi-VN" sz="600" dirty="0"/>
          </a:p>
        </p:txBody>
      </p:sp>
      <p:sp>
        <p:nvSpPr>
          <p:cNvPr id="29" name="Text 23"/>
          <p:cNvSpPr txBox="1"/>
          <p:nvPr/>
        </p:nvSpPr>
        <p:spPr>
          <a:xfrm>
            <a:off x="405408" y="71165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Tiền lương và tiền thuê giảm theo tỷ lệ doanh thu, biên EBITDA tăng tương ứng</a:t>
            </a:r>
            <a:endParaRPr lang="vi-VN" sz="720" dirty="0"/>
          </a:p>
        </p:txBody>
      </p:sp>
      <p:sp>
        <p:nvSpPr>
          <p:cNvPr id="30" name="Text 24"/>
          <p:cNvSpPr txBox="1"/>
          <p:nvPr/>
        </p:nvSpPr>
        <p:spPr>
          <a:xfrm>
            <a:off x="405408" y="73535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31" name="Chart 2" descr=""/>
          <p:cNvGraphicFramePr/>
          <p:nvPr/>
        </p:nvGraphicFramePr>
        <p:xfrm>
          <a:off x="405408" y="7469088"/>
          <a:ext cx="2159943" cy="765721"/>
        </p:xfrm>
        <a:graphic xmlns:a="http://schemas.openxmlformats.org/drawingml/2006/main">
          <a:graphicData uri="http://schemas.openxmlformats.org/drawingml/2006/chart">
            <c:chart xmlns:c="http://schemas.openxmlformats.org/drawingml/2006/chart" r:id="rId3"/>
          </a:graphicData>
        </a:graphic>
      </p:graphicFrame>
      <p:sp>
        <p:nvSpPr>
          <p:cNvPr id="32" name="Text 25"/>
          <p:cNvSpPr txBox="1"/>
          <p:nvPr/>
        </p:nvSpPr>
        <p:spPr>
          <a:xfrm>
            <a:off x="405408" y="825266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mô hình (Drivers)</a:t>
            </a:r>
            <a:endParaRPr lang="vi-VN" sz="600" dirty="0"/>
          </a:p>
        </p:txBody>
      </p:sp>
      <p:sp>
        <p:nvSpPr>
          <p:cNvPr id="33" name="Text 26"/>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2.1. Quy mô doanh thu</a:t>
            </a:r>
            <a:endParaRPr lang="vi-VN" sz="900" dirty="0"/>
          </a:p>
        </p:txBody>
      </p:sp>
      <p:sp>
        <p:nvSpPr>
          <p:cNvPr id="34" name="Text 27"/>
          <p:cNvSpPr txBox="1"/>
          <p:nvPr/>
        </p:nvSpPr>
        <p:spPr>
          <a:xfrm>
            <a:off x="2745284" y="101456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12).</a:t>
            </a:r>
            <a:endParaRPr lang="vi-VN" sz="850" dirty="0"/>
          </a:p>
        </p:txBody>
      </p:sp>
      <p:sp>
        <p:nvSpPr>
          <p:cNvPr id="35" name="Text 28"/>
          <p:cNvSpPr txBox="1"/>
          <p:nvPr/>
        </p:nvSpPr>
        <p:spPr>
          <a:xfrm>
            <a:off x="2745284" y="144690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tổng doanh thu 47,5 tỷ đồng và doanh thu phân khúc bao bì đóng gói thực phẩm 38 tỷ đồng (tương đương khoảng 1,83 triệu USD và 1,46 triệu USD) năm 2025, AgriPack hiện chiếm 0,16% quy mô thị trường bao bì xanh toàn quốc và 4,3% thị trường bao bì xanh ngành F&amp;B. Điều này cho thấy AgriPack đang có vị thế tương đối vững chắc trong phân khúc F&amp;B, với năng lực cạnh tranh, kênh phân phối và nhận diện thương hiệu tốt trong ngành F&amp;B nội địa.</a:t>
            </a:r>
            <a:endParaRPr lang="vi-VN" sz="850" dirty="0"/>
          </a:p>
        </p:txBody>
      </p:sp>
      <p:sp>
        <p:nvSpPr>
          <p:cNvPr id="36" name="Text 29"/>
          <p:cNvSpPr txBox="1"/>
          <p:nvPr/>
        </p:nvSpPr>
        <p:spPr>
          <a:xfrm>
            <a:off x="2745284" y="240550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thị phần khoảng 0,16% trên quy mô thị trường bao bì xanh toàn quốc cho thấy AgriPack vẫn còn ở quy mô nhỏ so với toàn ngành. Mặt khác, mức thâm nhập còn thấp cũng cho thấy dư địa mở rộng đáng kể, đặc biệt khi doanh nghiệp hiện mới tập trung chủ yếu tại miền Trung - Nam và phân khúc F&amp;B. Trong các năm tới, dư địa tăng trưởng có thể đến từ việc mở rộng ra miền Bắc và phát triển thêm các nhóm khách hàng như FMCG, logistics và nông sản xuất khẩu.</a:t>
            </a:r>
            <a:endParaRPr lang="vi-VN" sz="850" dirty="0"/>
          </a:p>
        </p:txBody>
      </p:sp>
      <p:sp>
        <p:nvSpPr>
          <p:cNvPr id="37" name="Text 30"/>
          <p:cNvSpPr txBox="1"/>
          <p:nvPr/>
        </p:nvSpPr>
        <p:spPr>
          <a:xfrm>
            <a:off x="2745284" y="31009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vi-VN" sz="850" dirty="0"/>
          </a:p>
        </p:txBody>
      </p:sp>
      <p:sp>
        <p:nvSpPr>
          <p:cNvPr id="38" name="Text 31"/>
          <p:cNvSpPr txBox="1"/>
          <p:nvPr/>
        </p:nvSpPr>
        <p:spPr>
          <a:xfrm>
            <a:off x="2745284" y="405958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 (Fig. 13).</a:t>
            </a:r>
            <a:endParaRPr lang="vi-VN" sz="850" dirty="0"/>
          </a:p>
        </p:txBody>
      </p:sp>
      <p:sp>
        <p:nvSpPr>
          <p:cNvPr id="39" name="Text 32"/>
          <p:cNvSpPr txBox="1"/>
          <p:nvPr/>
        </p:nvSpPr>
        <p:spPr>
          <a:xfrm>
            <a:off x="2745284" y="4755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2.2. Mức độ sinh lời</a:t>
            </a:r>
            <a:endParaRPr lang="vi-VN" sz="900" dirty="0"/>
          </a:p>
        </p:txBody>
      </p:sp>
      <p:sp>
        <p:nvSpPr>
          <p:cNvPr id="40" name="Text 33"/>
          <p:cNvSpPr txBox="1"/>
          <p:nvPr/>
        </p:nvSpPr>
        <p:spPr>
          <a:xfrm>
            <a:off x="2745284" y="492442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tăng đều đặn qua ba năm: 37,3% (2023) → 46,9% (2024) → 51%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14, Fig. 15).</a:t>
            </a:r>
            <a:endParaRPr lang="vi-VN" sz="850" dirty="0"/>
          </a:p>
        </p:txBody>
      </p:sp>
      <p:sp>
        <p:nvSpPr>
          <p:cNvPr id="41" name="Text 34"/>
          <p:cNvSpPr txBox="1"/>
          <p:nvPr/>
        </p:nvSpPr>
        <p:spPr>
          <a:xfrm>
            <a:off x="2745284" y="561989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31,3%/năm.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 (Fig. 16).</a:t>
            </a:r>
            <a:endParaRPr lang="vi-VN" sz="850" dirty="0"/>
          </a:p>
        </p:txBody>
      </p:sp>
      <p:sp>
        <p:nvSpPr>
          <p:cNvPr id="42" name="Text 35"/>
          <p:cNvSpPr txBox="1"/>
          <p:nvPr/>
        </p:nvSpPr>
        <p:spPr>
          <a:xfrm>
            <a:off x="2745284" y="684162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vi-VN" sz="850" dirty="0"/>
          </a:p>
        </p:txBody>
      </p:sp>
      <p:sp>
        <p:nvSpPr>
          <p:cNvPr id="43" name="Text 36"/>
          <p:cNvSpPr txBox="1"/>
          <p:nvPr/>
        </p:nvSpPr>
        <p:spPr>
          <a:xfrm>
            <a:off x="2745284" y="76686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vi-VN" sz="850" dirty="0"/>
          </a:p>
        </p:txBody>
      </p:sp>
      <p:sp>
        <p:nvSpPr>
          <p:cNvPr id="44" name="Text 37"/>
          <p:cNvSpPr txBox="1"/>
          <p:nvPr/>
        </p:nvSpPr>
        <p:spPr>
          <a:xfrm>
            <a:off x="2745284" y="862726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vi-VN" sz="850" dirty="0"/>
          </a:p>
        </p:txBody>
      </p:sp>
      <p:sp>
        <p:nvSpPr>
          <p:cNvPr id="45"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6"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4</a:t>
            </a:r>
            <a:endParaRPr lang="vi-VN"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1553170"/>
            <a:ext cx="2159943" cy="0"/>
          </a:xfrm>
          <a:prstGeom prst="line">
            <a:avLst/>
          </a:prstGeom>
          <a:noFill/>
          <a:ln w="9525">
            <a:solidFill>
              <a:srgbClr val="7B1E2B"/>
            </a:solidFill>
            <a:prstDash val="solid"/>
          </a:ln>
        </p:spPr>
      </p:sp>
      <p:sp>
        <p:nvSpPr>
          <p:cNvPr id="5" name="Shape 3"/>
          <p:cNvSpPr/>
          <p:nvPr/>
        </p:nvSpPr>
        <p:spPr>
          <a:xfrm>
            <a:off x="405408" y="2739926"/>
            <a:ext cx="2159943" cy="0"/>
          </a:xfrm>
          <a:prstGeom prst="line">
            <a:avLst/>
          </a:prstGeom>
          <a:noFill/>
          <a:ln w="9525">
            <a:solidFill>
              <a:srgbClr val="7B1E2B"/>
            </a:solidFill>
            <a:prstDash val="solid"/>
          </a:ln>
        </p:spPr>
      </p:sp>
      <p:sp>
        <p:nvSpPr>
          <p:cNvPr id="6" name="Shape 4"/>
          <p:cNvSpPr/>
          <p:nvPr/>
        </p:nvSpPr>
        <p:spPr>
          <a:xfrm>
            <a:off x="405408" y="3963293"/>
            <a:ext cx="2159943" cy="0"/>
          </a:xfrm>
          <a:prstGeom prst="line">
            <a:avLst/>
          </a:prstGeom>
          <a:noFill/>
          <a:ln w="9525">
            <a:solidFill>
              <a:srgbClr val="7B1E2B"/>
            </a:solidFill>
            <a:prstDash val="solid"/>
          </a:ln>
        </p:spPr>
      </p:sp>
      <p:sp>
        <p:nvSpPr>
          <p:cNvPr id="7" name="Shape 5"/>
          <p:cNvSpPr/>
          <p:nvPr/>
        </p:nvSpPr>
        <p:spPr>
          <a:xfrm>
            <a:off x="405408" y="5378351"/>
            <a:ext cx="2159943" cy="0"/>
          </a:xfrm>
          <a:prstGeom prst="line">
            <a:avLst/>
          </a:prstGeom>
          <a:noFill/>
          <a:ln w="9525">
            <a:solidFill>
              <a:srgbClr val="7B1E2B"/>
            </a:solidFill>
            <a:prstDash val="solid"/>
          </a:ln>
        </p:spPr>
      </p:sp>
      <p:sp>
        <p:nvSpPr>
          <p:cNvPr id="8" name="Shape 6"/>
          <p:cNvSpPr/>
          <p:nvPr/>
        </p:nvSpPr>
        <p:spPr>
          <a:xfrm>
            <a:off x="405408" y="7476976"/>
            <a:ext cx="6749058"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2" name="Text 10"/>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Tài sản dài hạn chiếm 67–76% tổng tài sản</a:t>
            </a:r>
            <a:endParaRPr lang="vi-VN" sz="720" dirty="0"/>
          </a:p>
        </p:txBody>
      </p:sp>
      <p:sp>
        <p:nvSpPr>
          <p:cNvPr id="13" name="Text 11"/>
          <p:cNvSpPr txBox="1"/>
          <p:nvPr/>
        </p:nvSpPr>
        <p:spPr>
          <a:xfrm>
            <a:off x="405408" y="71675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Tài sản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15.511.800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19.442.120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21.394.688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Nợ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137904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16" name="Text 13"/>
          <p:cNvSpPr txBox="1"/>
          <p:nvPr/>
        </p:nvSpPr>
        <p:spPr>
          <a:xfrm>
            <a:off x="405408" y="158429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giảm từ 25,8% xuống 10,7%</a:t>
            </a:r>
            <a:endParaRPr lang="vi-VN" sz="720" dirty="0"/>
          </a:p>
        </p:txBody>
      </p:sp>
      <p:sp>
        <p:nvSpPr>
          <p:cNvPr id="17" name="Text 14"/>
          <p:cNvSpPr txBox="1"/>
          <p:nvPr/>
        </p:nvSpPr>
        <p:spPr>
          <a:xfrm>
            <a:off x="405408" y="171182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408" y="1827312"/>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CAPEX/Khấu hao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5"/>
          <p:cNvSpPr txBox="1"/>
          <p:nvPr/>
        </p:nvSpPr>
        <p:spPr>
          <a:xfrm>
            <a:off x="405408" y="256579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0" name="Text 16"/>
          <p:cNvSpPr txBox="1"/>
          <p:nvPr/>
        </p:nvSpPr>
        <p:spPr>
          <a:xfrm>
            <a:off x="405408" y="277105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D/E giảm từ 7,8% xuống 6,5%</a:t>
            </a:r>
            <a:endParaRPr lang="vi-VN" sz="720" dirty="0"/>
          </a:p>
        </p:txBody>
      </p:sp>
      <p:sp>
        <p:nvSpPr>
          <p:cNvPr id="21" name="Text 17"/>
          <p:cNvSpPr txBox="1"/>
          <p:nvPr/>
        </p:nvSpPr>
        <p:spPr>
          <a:xfrm>
            <a:off x="405408" y="28985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408" y="301406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nợ phải trả</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1.492.800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1.871.640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1.945.332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Vốn chủ sở hữu</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19.054.989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25.551.713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29.972.208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Tỷ lệ Nợ/Vốn CSH (D/E)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8"/>
          <p:cNvSpPr txBox="1"/>
          <p:nvPr/>
        </p:nvSpPr>
        <p:spPr>
          <a:xfrm>
            <a:off x="405408" y="378916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4" name="Text 19"/>
          <p:cNvSpPr txBox="1"/>
          <p:nvPr/>
        </p:nvSpPr>
        <p:spPr>
          <a:xfrm>
            <a:off x="405408" y="39944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FCF chuyển dương lần đầu năm 2025</a:t>
            </a:r>
            <a:endParaRPr lang="vi-VN" sz="720" dirty="0"/>
          </a:p>
        </p:txBody>
      </p:sp>
      <p:sp>
        <p:nvSpPr>
          <p:cNvPr id="25" name="Text 20"/>
          <p:cNvSpPr txBox="1"/>
          <p:nvPr/>
        </p:nvSpPr>
        <p:spPr>
          <a:xfrm>
            <a:off x="405408" y="41219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408" y="4237434"/>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Lưu chuyển tiền thuần từ HĐKD</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(3.957.011)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697.144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6.282.469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Dòng tiền tự do (FCF = OCF − 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(8.966.011)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(5.608.456)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1.197.949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Số dư tiền mặt cuối kỳ</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1.735.533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2.933.482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1"/>
          <p:cNvSpPr txBox="1"/>
          <p:nvPr/>
        </p:nvSpPr>
        <p:spPr>
          <a:xfrm>
            <a:off x="405408" y="520422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28" name="Text 22"/>
          <p:cNvSpPr txBox="1"/>
          <p:nvPr/>
        </p:nvSpPr>
        <p:spPr>
          <a:xfrm>
            <a:off x="405408" y="540947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vi-VN" sz="720" dirty="0"/>
          </a:p>
        </p:txBody>
      </p:sp>
      <p:sp>
        <p:nvSpPr>
          <p:cNvPr id="29" name="Text 23"/>
          <p:cNvSpPr txBox="1"/>
          <p:nvPr/>
        </p:nvSpPr>
        <p:spPr>
          <a:xfrm>
            <a:off x="405408" y="564653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a:t>
            </a:r>
            <a:endParaRPr lang="vi-VN" sz="63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408" y="5762030"/>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hiện hành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nhanh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13,4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4"/>
          <p:cNvSpPr txBox="1"/>
          <p:nvPr/>
        </p:nvSpPr>
        <p:spPr>
          <a:xfrm>
            <a:off x="405408" y="636805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32" name="Text 25"/>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vi-VN" sz="900" dirty="0"/>
          </a:p>
        </p:txBody>
      </p:sp>
      <p:sp>
        <p:nvSpPr>
          <p:cNvPr id="33" name="Text 26"/>
          <p:cNvSpPr txBox="1"/>
          <p:nvPr/>
        </p:nvSpPr>
        <p:spPr>
          <a:xfrm>
            <a:off x="2745284" y="74175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17).</a:t>
            </a:r>
            <a:endParaRPr lang="vi-VN" sz="850" dirty="0"/>
          </a:p>
        </p:txBody>
      </p:sp>
      <p:sp>
        <p:nvSpPr>
          <p:cNvPr id="34" name="Text 27"/>
          <p:cNvSpPr txBox="1"/>
          <p:nvPr/>
        </p:nvSpPr>
        <p:spPr>
          <a:xfrm>
            <a:off x="2745284" y="1568797"/>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18).</a:t>
            </a:r>
            <a:endParaRPr lang="vi-VN" sz="850" dirty="0"/>
          </a:p>
        </p:txBody>
      </p:sp>
      <p:sp>
        <p:nvSpPr>
          <p:cNvPr id="35" name="Text 28"/>
          <p:cNvSpPr txBox="1"/>
          <p:nvPr/>
        </p:nvSpPr>
        <p:spPr>
          <a:xfrm>
            <a:off x="2745284" y="305365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19).</a:t>
            </a:r>
            <a:endParaRPr lang="vi-VN" sz="850" dirty="0"/>
          </a:p>
        </p:txBody>
      </p:sp>
      <p:sp>
        <p:nvSpPr>
          <p:cNvPr id="36" name="Text 29"/>
          <p:cNvSpPr txBox="1"/>
          <p:nvPr/>
        </p:nvSpPr>
        <p:spPr>
          <a:xfrm>
            <a:off x="2745284" y="414382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2.4. Dòng tiền</a:t>
            </a:r>
            <a:endParaRPr lang="vi-VN" sz="900" dirty="0"/>
          </a:p>
        </p:txBody>
      </p:sp>
      <p:sp>
        <p:nvSpPr>
          <p:cNvPr id="37" name="Text 30"/>
          <p:cNvSpPr txBox="1"/>
          <p:nvPr/>
        </p:nvSpPr>
        <p:spPr>
          <a:xfrm>
            <a:off x="2745284" y="4313188"/>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20).</a:t>
            </a:r>
            <a:endParaRPr lang="vi-VN" sz="850" dirty="0"/>
          </a:p>
        </p:txBody>
      </p:sp>
      <p:sp>
        <p:nvSpPr>
          <p:cNvPr id="38" name="Text 31"/>
          <p:cNvSpPr txBox="1"/>
          <p:nvPr/>
        </p:nvSpPr>
        <p:spPr>
          <a:xfrm>
            <a:off x="2745284" y="514022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vi-VN" sz="850" dirty="0"/>
          </a:p>
        </p:txBody>
      </p:sp>
      <p:sp>
        <p:nvSpPr>
          <p:cNvPr id="39" name="Text 32"/>
          <p:cNvSpPr txBox="1"/>
          <p:nvPr/>
        </p:nvSpPr>
        <p:spPr>
          <a:xfrm>
            <a:off x="2745284" y="570413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2.5. Thanh khoản và vốn lưu động</a:t>
            </a:r>
            <a:endParaRPr lang="vi-VN" sz="900" dirty="0"/>
          </a:p>
        </p:txBody>
      </p:sp>
      <p:sp>
        <p:nvSpPr>
          <p:cNvPr id="40" name="Text 33"/>
          <p:cNvSpPr txBox="1"/>
          <p:nvPr/>
        </p:nvSpPr>
        <p:spPr>
          <a:xfrm>
            <a:off x="2745284" y="5873502"/>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21).</a:t>
            </a:r>
            <a:endParaRPr lang="vi-VN" sz="850" dirty="0"/>
          </a:p>
        </p:txBody>
      </p:sp>
      <p:sp>
        <p:nvSpPr>
          <p:cNvPr id="41" name="Text 34"/>
          <p:cNvSpPr txBox="1"/>
          <p:nvPr/>
        </p:nvSpPr>
        <p:spPr>
          <a:xfrm>
            <a:off x="2745284" y="6832104"/>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2.6. Kết luận: xác định giai đoạn phát triển</a:t>
            </a:r>
            <a:endParaRPr lang="vi-VN" sz="900" dirty="0"/>
          </a:p>
        </p:txBody>
      </p:sp>
      <p:sp>
        <p:nvSpPr>
          <p:cNvPr id="42" name="Text 35"/>
          <p:cNvSpPr txBox="1"/>
          <p:nvPr/>
        </p:nvSpPr>
        <p:spPr>
          <a:xfrm>
            <a:off x="2745284" y="700147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22).</a:t>
            </a:r>
            <a:endParaRPr lang="vi-VN" sz="850" dirty="0"/>
          </a:p>
        </p:txBody>
      </p:sp>
      <p:sp>
        <p:nvSpPr>
          <p:cNvPr id="43" name="Text 36"/>
          <p:cNvSpPr txBox="1"/>
          <p:nvPr/>
        </p:nvSpPr>
        <p:spPr>
          <a:xfrm>
            <a:off x="405408" y="750810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408" y="764991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Quy mô tương đối so với 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47,5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khi An Phát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10.746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và Đông Hải Bến Tre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3.633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Tăng trưởng doanh thu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19,4 tỷ đồng (2023) → 30,9 tỷ (2024) → 47,5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tương ứng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59,1% và 53,7%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CAGR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56,4%/năm</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mở rộng thị trường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Mức độ sinh lời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Biên gộp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37,3% (2023) → 46,9% (2024) → 51%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biên ròng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9,3%</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đầu giai đoạn tăng trưởng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Hiệu quả sử dụng tài sản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Vòng quay tổng tài sản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1,04 lần → 1,29 lần → 1,60 lần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lấp đầy công suất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Năng lực sản xuất và tài sản dài hạn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dài hạn ròng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15,5 tỷ → 21,4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chiếm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67-76% tổng tài sản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đã sở hữu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vận hành ổn định qua 3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đã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Cường độ CAPEX</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CAPEX/Doanh thu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25,8% → 20,4% → 10,7%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CAPEX/khấu hao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3,50x → 2,65x → 1,62x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vẫn &gt;1.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phù hợp với đầu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45" name="Text 37"/>
          <p:cNvSpPr txBox="1"/>
          <p:nvPr/>
        </p:nvSpPr>
        <p:spPr>
          <a:xfrm>
            <a:off x="405408" y="945460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46"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7"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5</a:t>
            </a:r>
            <a:endParaRPr lang="vi-VN"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346263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6749058" cy="0"/>
          </a:xfrm>
          <a:prstGeom prst="line">
            <a:avLst/>
          </a:prstGeom>
          <a:noFill/>
          <a:ln w="9525">
            <a:solidFill>
              <a:srgbClr val="7B1E2B"/>
            </a:solidFill>
            <a:prstDash val="solid"/>
          </a:ln>
        </p:spPr>
      </p:sp>
      <p:sp>
        <p:nvSpPr>
          <p:cNvPr id="5" name="Shape 3"/>
          <p:cNvSpPr/>
          <p:nvPr/>
        </p:nvSpPr>
        <p:spPr>
          <a:xfrm>
            <a:off x="405408" y="2180779"/>
            <a:ext cx="2159943" cy="0"/>
          </a:xfrm>
          <a:prstGeom prst="line">
            <a:avLst/>
          </a:prstGeom>
          <a:noFill/>
          <a:ln w="9525">
            <a:solidFill>
              <a:srgbClr val="7B1E2B"/>
            </a:solidFill>
            <a:prstDash val="solid"/>
          </a:ln>
        </p:spPr>
      </p:sp>
      <p:sp>
        <p:nvSpPr>
          <p:cNvPr id="6" name="Shape 4"/>
          <p:cNvSpPr/>
          <p:nvPr/>
        </p:nvSpPr>
        <p:spPr>
          <a:xfrm>
            <a:off x="405408" y="3735437"/>
            <a:ext cx="2159943" cy="0"/>
          </a:xfrm>
          <a:prstGeom prst="line">
            <a:avLst/>
          </a:prstGeom>
          <a:noFill/>
          <a:ln w="9525">
            <a:solidFill>
              <a:srgbClr val="7B1E2B"/>
            </a:solidFill>
            <a:prstDash val="solid"/>
          </a:ln>
        </p:spPr>
      </p:sp>
      <p:sp>
        <p:nvSpPr>
          <p:cNvPr id="7" name="Shape 5"/>
          <p:cNvSpPr/>
          <p:nvPr/>
        </p:nvSpPr>
        <p:spPr>
          <a:xfrm>
            <a:off x="405408" y="5305723"/>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1" name="Text 9"/>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Khả năng tự tài trợ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D/E giảm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7,8% → 7,3% → 6,5%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 lợi nhuận giữ lại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bắt đầu chuyển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phụ thuộc vốn bên ngoài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Dòng tiền từ HĐKD và FCF</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CFO: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-3,96 tỷ (2023) → 0,70 tỷ (2024) → 6,28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FCF: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-8,97 tỷ → -5,61 tỷ → +1,20 tỷ</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Đây là dấu hiệu rất quan trọng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điểm chuyển sang tăng trưởng thực chất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Thanh khoản và cơ cấu nợ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hiện hành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17,2x → 21,5x → 23,6x</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nhanh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8,7x → 13,4x → 15,2x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nợ ngắn hạn rất thấp và D/E chỉ 6,5% năm 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01751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14" name="Text 11"/>
          <p:cNvSpPr txBox="1"/>
          <p:nvPr/>
        </p:nvSpPr>
        <p:spPr>
          <a:xfrm>
            <a:off x="405408" y="2211904"/>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vi-VN" sz="720" dirty="0"/>
          </a:p>
        </p:txBody>
      </p:sp>
      <p:graphicFrame>
        <p:nvGraphicFramePr>
          <p:cNvPr id="15" name="Chart 0" descr=""/>
          <p:cNvGraphicFramePr/>
          <p:nvPr/>
        </p:nvGraphicFramePr>
        <p:xfrm>
          <a:off x="405408" y="2353717"/>
          <a:ext cx="2159943" cy="873770"/>
        </p:xfrm>
        <a:graphic xmlns:a="http://schemas.openxmlformats.org/drawingml/2006/main">
          <a:graphicData uri="http://schemas.openxmlformats.org/drawingml/2006/chart">
            <c:chart xmlns:c="http://schemas.openxmlformats.org/drawingml/2006/chart" r:id="rId1"/>
          </a:graphicData>
        </a:graphic>
      </p:graphicFrame>
      <p:sp>
        <p:nvSpPr>
          <p:cNvPr id="16" name="Text 12"/>
          <p:cNvSpPr txBox="1"/>
          <p:nvPr/>
        </p:nvSpPr>
        <p:spPr>
          <a:xfrm>
            <a:off x="405408" y="32453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vi-VN" sz="600" dirty="0"/>
          </a:p>
        </p:txBody>
      </p:sp>
      <p:sp>
        <p:nvSpPr>
          <p:cNvPr id="17" name="Text 13"/>
          <p:cNvSpPr txBox="1"/>
          <p:nvPr/>
        </p:nvSpPr>
        <p:spPr>
          <a:xfrm>
            <a:off x="2745284" y="2180779"/>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Kết luận. </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2027, nhóm xác định AgriPack đang ở giai đoạn </a:t>
            </a:r>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đầu tăng trưởng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Mục 4, cho mức lợi suất yêu cầu trong phương pháp VC và mức WACC trong DCF ở Mục 5, và cho nhu cầu vốn bên ngoài – đầu vào của VC Method (Mục 5.4) (Fig. 23).</a:t>
            </a:r>
            <a:endParaRPr lang="vi-VN" sz="850" dirty="0"/>
          </a:p>
        </p:txBody>
      </p:sp>
      <p:sp>
        <p:nvSpPr>
          <p:cNvPr id="18" name="Text 14"/>
          <p:cNvSpPr txBox="1"/>
          <p:nvPr/>
        </p:nvSpPr>
        <p:spPr>
          <a:xfrm>
            <a:off x="484608" y="349503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3. PHÂN TÍCH VĨ MÔ VÀ PHÂN TÍCH NGÀNH</a:t>
            </a:r>
            <a:endParaRPr lang="vi-VN" sz="880" dirty="0"/>
          </a:p>
        </p:txBody>
      </p:sp>
      <p:sp>
        <p:nvSpPr>
          <p:cNvPr id="19" name="Text 15"/>
          <p:cNvSpPr txBox="1"/>
          <p:nvPr/>
        </p:nvSpPr>
        <p:spPr>
          <a:xfrm>
            <a:off x="405408" y="376656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vi-VN" sz="720" dirty="0"/>
          </a:p>
        </p:txBody>
      </p:sp>
      <p:sp>
        <p:nvSpPr>
          <p:cNvPr id="20" name="Text 16"/>
          <p:cNvSpPr txBox="1"/>
          <p:nvPr/>
        </p:nvSpPr>
        <p:spPr>
          <a:xfrm>
            <a:off x="405408" y="400362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a:t>
            </a:r>
            <a:endParaRPr lang="vi-VN" sz="630" dirty="0"/>
          </a:p>
        </p:txBody>
      </p:sp>
      <p:graphicFrame>
        <p:nvGraphicFramePr>
          <p:cNvPr id="21" name="Chart 1" descr=""/>
          <p:cNvGraphicFramePr/>
          <p:nvPr/>
        </p:nvGraphicFramePr>
        <p:xfrm>
          <a:off x="405408" y="4119116"/>
          <a:ext cx="2159943" cy="903238"/>
        </p:xfrm>
        <a:graphic xmlns:a="http://schemas.openxmlformats.org/drawingml/2006/main">
          <a:graphicData uri="http://schemas.openxmlformats.org/drawingml/2006/chart">
            <c:chart xmlns:c="http://schemas.openxmlformats.org/drawingml/2006/chart" r:id="rId2"/>
          </a:graphicData>
        </a:graphic>
      </p:graphicFrame>
      <p:sp>
        <p:nvSpPr>
          <p:cNvPr id="22" name="Text 17"/>
          <p:cNvSpPr txBox="1"/>
          <p:nvPr/>
        </p:nvSpPr>
        <p:spPr>
          <a:xfrm>
            <a:off x="405408" y="504021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vi-VN" sz="600" dirty="0"/>
          </a:p>
        </p:txBody>
      </p:sp>
      <p:sp>
        <p:nvSpPr>
          <p:cNvPr id="23" name="Text 18"/>
          <p:cNvSpPr txBox="1"/>
          <p:nvPr/>
        </p:nvSpPr>
        <p:spPr>
          <a:xfrm>
            <a:off x="405408" y="533684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vi-VN" sz="720" dirty="0"/>
          </a:p>
        </p:txBody>
      </p:sp>
      <p:sp>
        <p:nvSpPr>
          <p:cNvPr id="24" name="Text 19"/>
          <p:cNvSpPr txBox="1"/>
          <p:nvPr/>
        </p:nvSpPr>
        <p:spPr>
          <a:xfrm>
            <a:off x="405408" y="557391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 giả định giá bán: %/năm</a:t>
            </a:r>
            <a:endParaRPr lang="vi-VN" sz="630" dirty="0"/>
          </a:p>
        </p:txBody>
      </p:sp>
      <p:graphicFrame>
        <p:nvGraphicFramePr>
          <p:cNvPr id="25" name="Chart 2" descr=""/>
          <p:cNvGraphicFramePr/>
          <p:nvPr/>
        </p:nvGraphicFramePr>
        <p:xfrm>
          <a:off x="405408" y="5689402"/>
          <a:ext cx="2159943" cy="569416"/>
        </p:xfrm>
        <a:graphic xmlns:a="http://schemas.openxmlformats.org/drawingml/2006/main">
          <a:graphicData uri="http://schemas.openxmlformats.org/drawingml/2006/chart">
            <c:chart xmlns:c="http://schemas.openxmlformats.org/drawingml/2006/chart" r:id="rId3"/>
          </a:graphicData>
        </a:graphic>
      </p:graphicFrame>
      <p:sp>
        <p:nvSpPr>
          <p:cNvPr id="26" name="Text 20"/>
          <p:cNvSpPr txBox="1"/>
          <p:nvPr/>
        </p:nvSpPr>
        <p:spPr>
          <a:xfrm>
            <a:off x="405408" y="627667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vi-VN" sz="600" dirty="0"/>
          </a:p>
        </p:txBody>
      </p:sp>
      <p:sp>
        <p:nvSpPr>
          <p:cNvPr id="27" name="Text 21"/>
          <p:cNvSpPr txBox="1"/>
          <p:nvPr/>
        </p:nvSpPr>
        <p:spPr>
          <a:xfrm>
            <a:off x="2745284" y="374972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3.1. Phân tích vĩ mô</a:t>
            </a:r>
            <a:endParaRPr lang="vi-VN" sz="900" dirty="0"/>
          </a:p>
        </p:txBody>
      </p:sp>
      <p:sp>
        <p:nvSpPr>
          <p:cNvPr id="28" name="Text 22"/>
          <p:cNvSpPr txBox="1"/>
          <p:nvPr/>
        </p:nvSpPr>
        <p:spPr>
          <a:xfrm>
            <a:off x="2745284" y="391909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3.1.1. Tăng trưởng GDP</a:t>
            </a:r>
            <a:endParaRPr lang="vi-VN" sz="820" dirty="0"/>
          </a:p>
        </p:txBody>
      </p:sp>
      <p:sp>
        <p:nvSpPr>
          <p:cNvPr id="29" name="Text 23"/>
          <p:cNvSpPr txBox="1"/>
          <p:nvPr/>
        </p:nvSpPr>
        <p:spPr>
          <a:xfrm>
            <a:off x="2745284" y="406568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24).</a:t>
            </a:r>
            <a:endParaRPr lang="vi-VN" sz="850" dirty="0"/>
          </a:p>
        </p:txBody>
      </p:sp>
      <p:sp>
        <p:nvSpPr>
          <p:cNvPr id="30" name="Text 24"/>
          <p:cNvSpPr txBox="1"/>
          <p:nvPr/>
        </p:nvSpPr>
        <p:spPr>
          <a:xfrm>
            <a:off x="2745284" y="462959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vi-VN" sz="850" dirty="0"/>
          </a:p>
        </p:txBody>
      </p:sp>
      <p:sp>
        <p:nvSpPr>
          <p:cNvPr id="31" name="Text 25"/>
          <p:cNvSpPr txBox="1"/>
          <p:nvPr/>
        </p:nvSpPr>
        <p:spPr>
          <a:xfrm>
            <a:off x="2745284" y="519350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vi-VN" sz="850" dirty="0"/>
          </a:p>
        </p:txBody>
      </p:sp>
      <p:sp>
        <p:nvSpPr>
          <p:cNvPr id="32" name="Text 26"/>
          <p:cNvSpPr txBox="1"/>
          <p:nvPr/>
        </p:nvSpPr>
        <p:spPr>
          <a:xfrm>
            <a:off x="2745284" y="562585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vi-VN" sz="850" dirty="0"/>
          </a:p>
        </p:txBody>
      </p:sp>
      <p:sp>
        <p:nvSpPr>
          <p:cNvPr id="33" name="Text 27"/>
          <p:cNvSpPr txBox="1"/>
          <p:nvPr/>
        </p:nvSpPr>
        <p:spPr>
          <a:xfrm>
            <a:off x="2745284" y="6189762"/>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vi-VN" sz="850" dirty="0"/>
          </a:p>
        </p:txBody>
      </p:sp>
      <p:sp>
        <p:nvSpPr>
          <p:cNvPr id="34" name="Text 28"/>
          <p:cNvSpPr txBox="1"/>
          <p:nvPr/>
        </p:nvSpPr>
        <p:spPr>
          <a:xfrm>
            <a:off x="2745284" y="662210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3.1.2. Lạm phát</a:t>
            </a:r>
            <a:endParaRPr lang="vi-VN" sz="820" dirty="0"/>
          </a:p>
        </p:txBody>
      </p:sp>
      <p:sp>
        <p:nvSpPr>
          <p:cNvPr id="35" name="Text 29"/>
          <p:cNvSpPr txBox="1"/>
          <p:nvPr/>
        </p:nvSpPr>
        <p:spPr>
          <a:xfrm>
            <a:off x="2745284" y="676870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25).</a:t>
            </a:r>
            <a:endParaRPr lang="vi-VN" sz="850" dirty="0"/>
          </a:p>
        </p:txBody>
      </p:sp>
      <p:sp>
        <p:nvSpPr>
          <p:cNvPr id="36" name="Text 30"/>
          <p:cNvSpPr txBox="1"/>
          <p:nvPr/>
        </p:nvSpPr>
        <p:spPr>
          <a:xfrm>
            <a:off x="2745284" y="7464177"/>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vi-VN" sz="850" dirty="0"/>
          </a:p>
        </p:txBody>
      </p:sp>
      <p:sp>
        <p:nvSpPr>
          <p:cNvPr id="37" name="Text 31"/>
          <p:cNvSpPr txBox="1"/>
          <p:nvPr/>
        </p:nvSpPr>
        <p:spPr>
          <a:xfrm>
            <a:off x="2745284" y="829121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vi-VN" sz="850" dirty="0"/>
          </a:p>
        </p:txBody>
      </p:sp>
      <p:sp>
        <p:nvSpPr>
          <p:cNvPr id="38" name="Text 32"/>
          <p:cNvSpPr txBox="1"/>
          <p:nvPr/>
        </p:nvSpPr>
        <p:spPr>
          <a:xfrm>
            <a:off x="2745284" y="911825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vi-VN" sz="850" dirty="0"/>
          </a:p>
        </p:txBody>
      </p:sp>
      <p:sp>
        <p:nvSpPr>
          <p:cNvPr id="39" name="Text 3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6</a:t>
            </a:r>
            <a:endParaRPr lang="vi-VN"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218730"/>
            <a:ext cx="2159943" cy="0"/>
          </a:xfrm>
          <a:prstGeom prst="line">
            <a:avLst/>
          </a:prstGeom>
          <a:noFill/>
          <a:ln w="9525">
            <a:solidFill>
              <a:srgbClr val="7B1E2B"/>
            </a:solidFill>
            <a:prstDash val="solid"/>
          </a:ln>
        </p:spPr>
      </p:sp>
      <p:sp>
        <p:nvSpPr>
          <p:cNvPr id="5" name="Shape 3"/>
          <p:cNvSpPr/>
          <p:nvPr/>
        </p:nvSpPr>
        <p:spPr>
          <a:xfrm>
            <a:off x="405408" y="377919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vi-VN" sz="72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1187946"/>
                <a:gridCol w="971996"/>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VND bình quân (6/2026)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8,1–10,5%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Dư nợ tín dụng DNNVV (28/8/2026)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&gt;4,1 triệu tỷ, +12,4%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NATIF hỗ trợ lãi suất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lãi vay, ≤ 6%/năm, ≤ 5 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Quy mô hỗ trợ đợt 1/2026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Kd trong mô hình (Mục 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5322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vi-VN" sz="600" dirty="0"/>
          </a:p>
        </p:txBody>
      </p:sp>
      <p:sp>
        <p:nvSpPr>
          <p:cNvPr id="12" name="Text 9"/>
          <p:cNvSpPr txBox="1"/>
          <p:nvPr/>
        </p:nvSpPr>
        <p:spPr>
          <a:xfrm>
            <a:off x="405408" y="22498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vi-VN" sz="720" dirty="0"/>
          </a:p>
        </p:txBody>
      </p:sp>
      <p:sp>
        <p:nvSpPr>
          <p:cNvPr id="13" name="Text 10"/>
          <p:cNvSpPr txBox="1"/>
          <p:nvPr/>
        </p:nvSpPr>
        <p:spPr>
          <a:xfrm>
            <a:off x="405408" y="24869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VND/USD</a:t>
            </a:r>
            <a:endParaRPr lang="vi-VN" sz="630" dirty="0"/>
          </a:p>
        </p:txBody>
      </p:sp>
      <p:graphicFrame>
        <p:nvGraphicFramePr>
          <p:cNvPr id="14" name="Chart 0" descr=""/>
          <p:cNvGraphicFramePr/>
          <p:nvPr/>
        </p:nvGraphicFramePr>
        <p:xfrm>
          <a:off x="405408" y="2602409"/>
          <a:ext cx="2159943" cy="893415"/>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405408" y="35136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vi-VN" sz="600" dirty="0"/>
          </a:p>
        </p:txBody>
      </p:sp>
      <p:sp>
        <p:nvSpPr>
          <p:cNvPr id="16" name="Text 12"/>
          <p:cNvSpPr txBox="1"/>
          <p:nvPr/>
        </p:nvSpPr>
        <p:spPr>
          <a:xfrm>
            <a:off x="405408" y="38103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VC phục hồi 28% năm 2025 sau ba năm giảm</a:t>
            </a:r>
            <a:endParaRPr lang="vi-VN" sz="720" dirty="0"/>
          </a:p>
        </p:txBody>
      </p:sp>
      <p:sp>
        <p:nvSpPr>
          <p:cNvPr id="17" name="Text 13"/>
          <p:cNvSpPr txBox="1"/>
          <p:nvPr/>
        </p:nvSpPr>
        <p:spPr>
          <a:xfrm>
            <a:off x="405408" y="393784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USD</a:t>
            </a:r>
            <a:endParaRPr lang="vi-VN" sz="630" dirty="0"/>
          </a:p>
        </p:txBody>
      </p:sp>
      <p:graphicFrame>
        <p:nvGraphicFramePr>
          <p:cNvPr id="18" name="Chart 1" descr=""/>
          <p:cNvGraphicFramePr/>
          <p:nvPr/>
        </p:nvGraphicFramePr>
        <p:xfrm>
          <a:off x="405408" y="4053334"/>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19" name="Text 14"/>
          <p:cNvSpPr txBox="1"/>
          <p:nvPr/>
        </p:nvSpPr>
        <p:spPr>
          <a:xfrm>
            <a:off x="405408" y="483691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vi-VN" sz="600" dirty="0"/>
          </a:p>
        </p:txBody>
      </p:sp>
      <p:sp>
        <p:nvSpPr>
          <p:cNvPr id="20" name="Text 15"/>
          <p:cNvSpPr txBox="1"/>
          <p:nvPr/>
        </p:nvSpPr>
        <p:spPr>
          <a:xfrm>
            <a:off x="2745284" y="55810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vi-VN" sz="850" dirty="0"/>
          </a:p>
        </p:txBody>
      </p:sp>
      <p:sp>
        <p:nvSpPr>
          <p:cNvPr id="21" name="Text 16"/>
          <p:cNvSpPr txBox="1"/>
          <p:nvPr/>
        </p:nvSpPr>
        <p:spPr>
          <a:xfrm>
            <a:off x="2745284" y="1253579"/>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3.1.3. Lãi suất</a:t>
            </a:r>
            <a:endParaRPr lang="vi-VN" sz="820" dirty="0"/>
          </a:p>
        </p:txBody>
      </p:sp>
      <p:sp>
        <p:nvSpPr>
          <p:cNvPr id="22" name="Text 17"/>
          <p:cNvSpPr txBox="1"/>
          <p:nvPr/>
        </p:nvSpPr>
        <p:spPr>
          <a:xfrm>
            <a:off x="2745284" y="140017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26).</a:t>
            </a:r>
            <a:endParaRPr lang="vi-VN" sz="850" dirty="0"/>
          </a:p>
        </p:txBody>
      </p:sp>
      <p:sp>
        <p:nvSpPr>
          <p:cNvPr id="23" name="Text 18"/>
          <p:cNvSpPr txBox="1"/>
          <p:nvPr/>
        </p:nvSpPr>
        <p:spPr>
          <a:xfrm>
            <a:off x="2745284" y="209564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vi-VN" sz="850" dirty="0"/>
          </a:p>
        </p:txBody>
      </p:sp>
      <p:sp>
        <p:nvSpPr>
          <p:cNvPr id="24" name="Text 19"/>
          <p:cNvSpPr txBox="1"/>
          <p:nvPr/>
        </p:nvSpPr>
        <p:spPr>
          <a:xfrm>
            <a:off x="2745284" y="279112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vi-VN" sz="850" dirty="0"/>
          </a:p>
        </p:txBody>
      </p:sp>
      <p:sp>
        <p:nvSpPr>
          <p:cNvPr id="25" name="Text 20"/>
          <p:cNvSpPr txBox="1"/>
          <p:nvPr/>
        </p:nvSpPr>
        <p:spPr>
          <a:xfrm>
            <a:off x="2745284" y="348659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vi-VN" sz="850" dirty="0"/>
          </a:p>
        </p:txBody>
      </p:sp>
      <p:sp>
        <p:nvSpPr>
          <p:cNvPr id="26" name="Text 21"/>
          <p:cNvSpPr txBox="1"/>
          <p:nvPr/>
        </p:nvSpPr>
        <p:spPr>
          <a:xfrm>
            <a:off x="2745284" y="418207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3.1.4. Tỷ giá</a:t>
            </a:r>
            <a:endParaRPr lang="vi-VN" sz="820" dirty="0"/>
          </a:p>
        </p:txBody>
      </p:sp>
      <p:sp>
        <p:nvSpPr>
          <p:cNvPr id="27" name="Text 22"/>
          <p:cNvSpPr txBox="1"/>
          <p:nvPr/>
        </p:nvSpPr>
        <p:spPr>
          <a:xfrm>
            <a:off x="2745284" y="432866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vi-VN" sz="850" dirty="0"/>
          </a:p>
        </p:txBody>
      </p:sp>
      <p:sp>
        <p:nvSpPr>
          <p:cNvPr id="28" name="Text 23"/>
          <p:cNvSpPr txBox="1"/>
          <p:nvPr/>
        </p:nvSpPr>
        <p:spPr>
          <a:xfrm>
            <a:off x="2745284" y="476101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27).</a:t>
            </a:r>
            <a:endParaRPr lang="vi-VN" sz="850" dirty="0"/>
          </a:p>
        </p:txBody>
      </p:sp>
      <p:sp>
        <p:nvSpPr>
          <p:cNvPr id="29" name="Text 24"/>
          <p:cNvSpPr txBox="1"/>
          <p:nvPr/>
        </p:nvSpPr>
        <p:spPr>
          <a:xfrm>
            <a:off x="2745284" y="532492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vi-VN" sz="850" dirty="0"/>
          </a:p>
        </p:txBody>
      </p:sp>
      <p:sp>
        <p:nvSpPr>
          <p:cNvPr id="30" name="Text 25"/>
          <p:cNvSpPr txBox="1"/>
          <p:nvPr/>
        </p:nvSpPr>
        <p:spPr>
          <a:xfrm>
            <a:off x="2745284" y="575726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vi-VN" sz="850" dirty="0"/>
          </a:p>
        </p:txBody>
      </p:sp>
      <p:sp>
        <p:nvSpPr>
          <p:cNvPr id="31" name="Text 26"/>
          <p:cNvSpPr txBox="1"/>
          <p:nvPr/>
        </p:nvSpPr>
        <p:spPr>
          <a:xfrm>
            <a:off x="2745284" y="632117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3.1.5. Môi trường đầu tư</a:t>
            </a:r>
            <a:endParaRPr lang="vi-VN" sz="820" dirty="0"/>
          </a:p>
        </p:txBody>
      </p:sp>
      <p:sp>
        <p:nvSpPr>
          <p:cNvPr id="32" name="Text 27"/>
          <p:cNvSpPr txBox="1"/>
          <p:nvPr/>
        </p:nvSpPr>
        <p:spPr>
          <a:xfrm>
            <a:off x="2745284" y="646777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40"/>
              </a:lnSpc>
              <a:buNone/>
            </a:pPr>
            <a:r>
              <a:rPr lang="vi-VN"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28).</a:t>
            </a:r>
            <a:endParaRPr lang="vi-VN" sz="850" dirty="0"/>
          </a:p>
        </p:txBody>
      </p:sp>
      <p:sp>
        <p:nvSpPr>
          <p:cNvPr id="33" name="Text 28"/>
          <p:cNvSpPr txBox="1"/>
          <p:nvPr/>
        </p:nvSpPr>
        <p:spPr>
          <a:xfrm>
            <a:off x="2745284" y="716324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vi-VN" sz="850" dirty="0"/>
          </a:p>
        </p:txBody>
      </p:sp>
      <p:sp>
        <p:nvSpPr>
          <p:cNvPr id="34" name="Text 29"/>
          <p:cNvSpPr txBox="1"/>
          <p:nvPr/>
        </p:nvSpPr>
        <p:spPr>
          <a:xfrm>
            <a:off x="2745284" y="772715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vi-VN" sz="850" dirty="0"/>
          </a:p>
        </p:txBody>
      </p:sp>
      <p:sp>
        <p:nvSpPr>
          <p:cNvPr id="35" name="Text 30"/>
          <p:cNvSpPr txBox="1"/>
          <p:nvPr/>
        </p:nvSpPr>
        <p:spPr>
          <a:xfrm>
            <a:off x="2745284" y="842263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vi-VN" sz="850" dirty="0"/>
          </a:p>
        </p:txBody>
      </p:sp>
      <p:sp>
        <p:nvSpPr>
          <p:cNvPr id="36" name="Text 31"/>
          <p:cNvSpPr txBox="1"/>
          <p:nvPr/>
        </p:nvSpPr>
        <p:spPr>
          <a:xfrm>
            <a:off x="2745284" y="885497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 Chính sách và pháp luật</a:t>
            </a:r>
            <a:endParaRPr lang="vi-VN" sz="820" dirty="0"/>
          </a:p>
        </p:txBody>
      </p:sp>
      <p:sp>
        <p:nvSpPr>
          <p:cNvPr id="37" name="Text 32"/>
          <p:cNvSpPr txBox="1"/>
          <p:nvPr/>
        </p:nvSpPr>
        <p:spPr>
          <a:xfrm>
            <a:off x="2745284" y="900157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vi-VN" sz="820" dirty="0"/>
          </a:p>
        </p:txBody>
      </p:sp>
      <p:sp>
        <p:nvSpPr>
          <p:cNvPr id="38" name="Text 33"/>
          <p:cNvSpPr txBox="1"/>
          <p:nvPr/>
        </p:nvSpPr>
        <p:spPr>
          <a:xfrm>
            <a:off x="2745284" y="91481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vi-VN" sz="850" dirty="0"/>
          </a:p>
        </p:txBody>
      </p:sp>
      <p:sp>
        <p:nvSpPr>
          <p:cNvPr id="39" name="Text 3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7</a:t>
            </a:r>
            <a:endParaRPr lang="vi-VN"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3058120"/>
            <a:ext cx="2159943" cy="0"/>
          </a:xfrm>
          <a:prstGeom prst="line">
            <a:avLst/>
          </a:prstGeom>
          <a:noFill/>
          <a:ln w="9525">
            <a:solidFill>
              <a:srgbClr val="7B1E2B"/>
            </a:solidFill>
            <a:prstDash val="solid"/>
          </a:ln>
        </p:spPr>
      </p:sp>
      <p:sp>
        <p:nvSpPr>
          <p:cNvPr id="5" name="Shape 3"/>
          <p:cNvSpPr/>
          <p:nvPr/>
        </p:nvSpPr>
        <p:spPr>
          <a:xfrm>
            <a:off x="405408" y="4641205"/>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vi-VN"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669578"/>
                <a:gridCol w="820638"/>
                <a:gridCol w="669727"/>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Văn bản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Nội dung chính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(1/7/2026)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kiểm nghiệm, chứng nhận &amp; R&amp;D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NĐ 48/2026/NĐ-CP; NĐ 110/2026/NĐ-CP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280">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NQ 198/2025/QH15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Luật Thuế TNDN 67/2025/QH15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15% (DT ≤ 3 tỷ), 17% (3–50 tỷ), 20% phổ thông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Thuế suất 17% năm 2026, 20% từ 2027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79261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vi-VN" sz="600" dirty="0"/>
          </a:p>
        </p:txBody>
      </p:sp>
      <p:sp>
        <p:nvSpPr>
          <p:cNvPr id="12" name="Text 9"/>
          <p:cNvSpPr txBox="1"/>
          <p:nvPr/>
        </p:nvSpPr>
        <p:spPr>
          <a:xfrm>
            <a:off x="405408" y="308924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Nếu đủ điều kiện ưu đãi, AgriPack được miễn thuế 2026–2027 và chịu 10% trong 4 năm sau</a:t>
            </a:r>
            <a:endParaRPr lang="vi-VN" sz="720" dirty="0"/>
          </a:p>
        </p:txBody>
      </p:sp>
      <p:sp>
        <p:nvSpPr>
          <p:cNvPr id="13" name="Text 10"/>
          <p:cNvSpPr txBox="1"/>
          <p:nvPr/>
        </p:nvSpPr>
        <p:spPr>
          <a:xfrm>
            <a:off x="405408" y="332630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Thuế suất TNDN</a:t>
            </a:r>
            <a:endParaRPr lang="vi-VN" sz="630" dirty="0"/>
          </a:p>
        </p:txBody>
      </p:sp>
      <p:graphicFrame>
        <p:nvGraphicFramePr>
          <p:cNvPr id="14" name="Chart 0" descr=""/>
          <p:cNvGraphicFramePr/>
          <p:nvPr/>
        </p:nvGraphicFramePr>
        <p:xfrm>
          <a:off x="405408" y="3441799"/>
          <a:ext cx="2159943" cy="824657"/>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405408" y="4284315"/>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Luật Thuế TNDN 67/2025/QH15; Nghị quyết 198/2025/QH15; mô hình (Drivers). Ưu đãi chỉ áp dụng khi đủ điều kiện DN khởi nghiệp sáng tạo</a:t>
            </a:r>
            <a:endParaRPr lang="vi-VN" sz="600" dirty="0"/>
          </a:p>
        </p:txBody>
      </p:sp>
      <p:sp>
        <p:nvSpPr>
          <p:cNvPr id="16" name="Text 12"/>
          <p:cNvSpPr txBox="1"/>
          <p:nvPr/>
        </p:nvSpPr>
        <p:spPr>
          <a:xfrm>
            <a:off x="405408" y="4672330"/>
            <a:ext cx="2214807" cy="328593"/>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AgriPack dự phóng tăng nhanh gấp khoảng 6 lần thị trường mục tiêu: tăng trưởng phải đến từ giành thị phần</a:t>
            </a:r>
            <a:endParaRPr lang="vi-VN" sz="720" dirty="0"/>
          </a:p>
        </p:txBody>
      </p:sp>
      <p:sp>
        <p:nvSpPr>
          <p:cNvPr id="17" name="Text 13"/>
          <p:cNvSpPr txBox="1"/>
          <p:nvPr/>
        </p:nvSpPr>
        <p:spPr>
          <a:xfrm>
            <a:off x="405408" y="501893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CAGR, %/năm</a:t>
            </a:r>
            <a:endParaRPr lang="vi-VN" sz="630" dirty="0"/>
          </a:p>
        </p:txBody>
      </p:sp>
      <p:graphicFrame>
        <p:nvGraphicFramePr>
          <p:cNvPr id="18" name="Chart 1" descr=""/>
          <p:cNvGraphicFramePr/>
          <p:nvPr/>
        </p:nvGraphicFramePr>
        <p:xfrm>
          <a:off x="405408" y="5134421"/>
          <a:ext cx="2159943" cy="490835"/>
        </p:xfrm>
        <a:graphic xmlns:a="http://schemas.openxmlformats.org/drawingml/2006/main">
          <a:graphicData uri="http://schemas.openxmlformats.org/drawingml/2006/chart">
            <c:chart xmlns:c="http://schemas.openxmlformats.org/drawingml/2006/chart" r:id="rId2"/>
          </a:graphicData>
        </a:graphic>
      </p:graphicFrame>
      <p:sp>
        <p:nvSpPr>
          <p:cNvPr id="19" name="Text 14"/>
          <p:cNvSpPr txBox="1"/>
          <p:nvPr/>
        </p:nvSpPr>
        <p:spPr>
          <a:xfrm>
            <a:off x="405408" y="564311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1.1.1, 1.2.1, 3.2.1; IMARC Group, 2025); dự phóng: mô hình (Drivers)</a:t>
            </a:r>
            <a:endParaRPr lang="vi-VN" sz="600" dirty="0"/>
          </a:p>
        </p:txBody>
      </p:sp>
      <p:sp>
        <p:nvSpPr>
          <p:cNvPr id="20" name="Text 15"/>
          <p:cNvSpPr txBox="1"/>
          <p:nvPr/>
        </p:nvSpPr>
        <p:spPr>
          <a:xfrm>
            <a:off x="2745284" y="55810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29).</a:t>
            </a:r>
            <a:endParaRPr lang="vi-VN" sz="850" dirty="0"/>
          </a:p>
        </p:txBody>
      </p:sp>
      <p:sp>
        <p:nvSpPr>
          <p:cNvPr id="21" name="Text 16"/>
          <p:cNvSpPr txBox="1"/>
          <p:nvPr/>
        </p:nvSpPr>
        <p:spPr>
          <a:xfrm>
            <a:off x="2745284" y="138514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3.1.6.2. Chính sách hỗ trợ startup</a:t>
            </a:r>
            <a:endParaRPr lang="vi-VN" sz="820" dirty="0"/>
          </a:p>
        </p:txBody>
      </p:sp>
      <p:sp>
        <p:nvSpPr>
          <p:cNvPr id="22" name="Text 17"/>
          <p:cNvSpPr txBox="1"/>
          <p:nvPr/>
        </p:nvSpPr>
        <p:spPr>
          <a:xfrm>
            <a:off x="2745284" y="1531739"/>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 (Fig. 30).</a:t>
            </a:r>
            <a:endParaRPr lang="vi-VN" sz="850" dirty="0"/>
          </a:p>
        </p:txBody>
      </p:sp>
      <p:sp>
        <p:nvSpPr>
          <p:cNvPr id="23" name="Text 18"/>
          <p:cNvSpPr txBox="1"/>
          <p:nvPr/>
        </p:nvSpPr>
        <p:spPr>
          <a:xfrm>
            <a:off x="2745284" y="301659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3.1.6.3. Thuế</a:t>
            </a:r>
            <a:endParaRPr lang="vi-VN" sz="820" dirty="0"/>
          </a:p>
        </p:txBody>
      </p:sp>
      <p:sp>
        <p:nvSpPr>
          <p:cNvPr id="24" name="Text 19"/>
          <p:cNvSpPr txBox="1"/>
          <p:nvPr/>
        </p:nvSpPr>
        <p:spPr>
          <a:xfrm>
            <a:off x="2745284" y="3163193"/>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vi-VN" sz="850" dirty="0"/>
          </a:p>
        </p:txBody>
      </p:sp>
      <p:sp>
        <p:nvSpPr>
          <p:cNvPr id="25" name="Text 20"/>
          <p:cNvSpPr txBox="1"/>
          <p:nvPr/>
        </p:nvSpPr>
        <p:spPr>
          <a:xfrm>
            <a:off x="2745284" y="438492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vi-VN" sz="850" dirty="0"/>
          </a:p>
        </p:txBody>
      </p:sp>
      <p:sp>
        <p:nvSpPr>
          <p:cNvPr id="26" name="Text 21"/>
          <p:cNvSpPr txBox="1"/>
          <p:nvPr/>
        </p:nvSpPr>
        <p:spPr>
          <a:xfrm>
            <a:off x="2745284" y="534352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vi-VN" sz="850" dirty="0"/>
          </a:p>
        </p:txBody>
      </p:sp>
      <p:sp>
        <p:nvSpPr>
          <p:cNvPr id="27" name="Text 22"/>
          <p:cNvSpPr txBox="1"/>
          <p:nvPr/>
        </p:nvSpPr>
        <p:spPr>
          <a:xfrm>
            <a:off x="2745284" y="643369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3.2. Phân tích ngành bao bì sinh học tại Việt Nam</a:t>
            </a:r>
            <a:endParaRPr lang="vi-VN" sz="900" dirty="0"/>
          </a:p>
        </p:txBody>
      </p:sp>
      <p:sp>
        <p:nvSpPr>
          <p:cNvPr id="28" name="Text 23"/>
          <p:cNvSpPr txBox="1"/>
          <p:nvPr/>
        </p:nvSpPr>
        <p:spPr>
          <a:xfrm>
            <a:off x="2745284" y="660305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3.2.1. Tổng quan ngành bao bì sinh học tại Việt Nam</a:t>
            </a:r>
            <a:endParaRPr lang="vi-VN" sz="820" dirty="0"/>
          </a:p>
        </p:txBody>
      </p:sp>
      <p:sp>
        <p:nvSpPr>
          <p:cNvPr id="29" name="Text 24"/>
          <p:cNvSpPr txBox="1"/>
          <p:nvPr/>
        </p:nvSpPr>
        <p:spPr>
          <a:xfrm>
            <a:off x="2745284" y="6749653"/>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trực tiếp trong ngành bao bì sinh học với phân khúc bao bì sinh học từ phụ phẩm nông nghiệp mà cụ thể là bã mía và vỏ trứng.</a:t>
            </a:r>
            <a:endParaRPr lang="vi-VN" sz="850" dirty="0"/>
          </a:p>
        </p:txBody>
      </p:sp>
      <p:sp>
        <p:nvSpPr>
          <p:cNvPr id="30" name="Text 25"/>
          <p:cNvSpPr txBox="1"/>
          <p:nvPr/>
        </p:nvSpPr>
        <p:spPr>
          <a:xfrm>
            <a:off x="2745284" y="705043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bao bì sinh học là một trong những bộ phận có sự chuyển dịch bền vững trong tổng thể ngành bao bì Việt Nam và được ứng dụng trong hầu hết các ngành sản xuất và kinh doanh như ngành công nghiệp thực phẩm, đồ uống, y tế, chăm sóc sức khoẻ và điện tử.</a:t>
            </a:r>
            <a:endParaRPr lang="vi-VN" sz="850" dirty="0"/>
          </a:p>
        </p:txBody>
      </p:sp>
      <p:sp>
        <p:nvSpPr>
          <p:cNvPr id="31" name="Text 26"/>
          <p:cNvSpPr txBox="1"/>
          <p:nvPr/>
        </p:nvSpPr>
        <p:spPr>
          <a:xfrm>
            <a:off x="2745284" y="748278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vào năm 2034, tốc độ tăng trưởng kép hằng năm (CAGR) là 4,15% giai đoạn 2026–2034 và có xu hướng tăng trưởng dài hạn (Fig. 31).</a:t>
            </a:r>
            <a:endParaRPr lang="vi-VN" sz="850" dirty="0"/>
          </a:p>
        </p:txBody>
      </p:sp>
      <p:sp>
        <p:nvSpPr>
          <p:cNvPr id="32" name="Text 27"/>
          <p:cNvSpPr txBox="1"/>
          <p:nvPr/>
        </p:nvSpPr>
        <p:spPr>
          <a:xfrm>
            <a:off x="2745284" y="7915126"/>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vi-VN" sz="850" dirty="0"/>
          </a:p>
        </p:txBody>
      </p:sp>
      <p:sp>
        <p:nvSpPr>
          <p:cNvPr id="33" name="Text 28"/>
          <p:cNvSpPr txBox="1"/>
          <p:nvPr/>
        </p:nvSpPr>
        <p:spPr>
          <a:xfrm>
            <a:off x="2759184" y="8084344"/>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PLA: được làm từ tinh bột ngô, mía, có đặc tính nhẹ, trong suốt, dễ tạo hình và phân huỷ nhanh, thường dùng cho ly, hộp thực phẩm, ống hút, màng bọc.</a:t>
            </a:r>
            <a:endParaRPr lang="vi-VN" sz="850" dirty="0"/>
          </a:p>
        </p:txBody>
      </p:sp>
      <p:sp>
        <p:nvSpPr>
          <p:cNvPr id="34" name="Text 29"/>
          <p:cNvSpPr txBox="1"/>
          <p:nvPr/>
        </p:nvSpPr>
        <p:spPr>
          <a:xfrm>
            <a:off x="2759184" y="8356402"/>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PHA/PHB: tạo ra từ vi sinh vật, khả năng chịu nhiệt tốt, phân huỷ cả trong đất lẫn nước biển, thường sử dụng trong ngành y tế, nông nghiệp và thực phẩm đông lạnh.</a:t>
            </a:r>
            <a:endParaRPr lang="vi-VN" sz="850" dirty="0"/>
          </a:p>
        </p:txBody>
      </p:sp>
      <p:sp>
        <p:nvSpPr>
          <p:cNvPr id="35" name="Text 30"/>
          <p:cNvSpPr txBox="1"/>
          <p:nvPr/>
        </p:nvSpPr>
        <p:spPr>
          <a:xfrm>
            <a:off x="2759184" y="8628459"/>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Cellulose: làm từ sợi thực vật tự nhiên, có độ trong suốt cao, phù hợp để làm màng bọc hoặc túi đựng thực phẩm.</a:t>
            </a:r>
            <a:endParaRPr lang="vi-VN" sz="850" dirty="0"/>
          </a:p>
        </p:txBody>
      </p:sp>
      <p:sp>
        <p:nvSpPr>
          <p:cNvPr id="36" name="Text 31"/>
          <p:cNvSpPr txBox="1"/>
          <p:nvPr/>
        </p:nvSpPr>
        <p:spPr>
          <a:xfrm>
            <a:off x="2759184" y="8900517"/>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từ phụ phẩm nông nghiệp: tận dụng phụ phẩm nông nghiệp, dễ sản xuất hàng loạt.</a:t>
            </a:r>
            <a:endParaRPr lang="vi-VN" sz="850" dirty="0"/>
          </a:p>
        </p:txBody>
      </p:sp>
      <p:sp>
        <p:nvSpPr>
          <p:cNvPr id="37" name="Text 32"/>
          <p:cNvSpPr txBox="1"/>
          <p:nvPr/>
        </p:nvSpPr>
        <p:spPr>
          <a:xfrm>
            <a:off x="2759184" y="9041011"/>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vi-VN" sz="850" dirty="0"/>
          </a:p>
        </p:txBody>
      </p:sp>
      <p:sp>
        <p:nvSpPr>
          <p:cNvPr id="38" name="Text 33"/>
          <p:cNvSpPr txBox="1"/>
          <p:nvPr/>
        </p:nvSpPr>
        <p:spPr>
          <a:xfrm>
            <a:off x="2745284" y="935622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từ phụ phẩm nông nghiệp thuộc phân khúc bao bì sinh học, sử dụng các nguồn nguyên liệu có nguồn gốc từ rơm rạ, trấu, bã mía, vỏ ngô, vỏ sắn, bã cà phê, phụ phẩm trái cây và các loại xơ thực vật. Đây là một ngách tiềm năng khi thực hiện đồng thời giảm phụ thuộc vào bao bì nhựa, nguồn cung dồi dào, gia tăng giá trị phụ phẩm nông nghiệp và phù hợp với kinh tế tuần hoàn.</a:t>
            </a:r>
            <a:endParaRPr lang="vi-VN" sz="850" dirty="0"/>
          </a:p>
        </p:txBody>
      </p:sp>
      <p:sp>
        <p:nvSpPr>
          <p:cNvPr id="39" name="Text 3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8</a:t>
            </a:r>
            <a:endParaRPr lang="vi-VN"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742009"/>
            <a:ext cx="2159943" cy="0"/>
          </a:xfrm>
          <a:prstGeom prst="line">
            <a:avLst/>
          </a:prstGeom>
          <a:noFill/>
          <a:ln w="9525">
            <a:solidFill>
              <a:srgbClr val="7B1E2B"/>
            </a:solidFill>
            <a:prstDash val="solid"/>
          </a:ln>
        </p:spPr>
      </p:sp>
      <p:sp>
        <p:nvSpPr>
          <p:cNvPr id="5" name="Shape 3"/>
          <p:cNvSpPr/>
          <p:nvPr/>
        </p:nvSpPr>
        <p:spPr>
          <a:xfrm>
            <a:off x="405408" y="3899892"/>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Động lực cầu: thương mại điện tử 38,5 tỷ USD, thị trường F&amp;B 760.000 tỷ đồng năm 2026</a:t>
            </a:r>
            <a:endParaRPr lang="vi-VN" sz="72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820638"/>
                <a:gridCol w="647849"/>
                <a:gridCol w="69145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Liên quan đến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Doanh thu TMĐT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38,5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chống sốc cho hàng 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TMĐT 2021–2024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18%/năm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đệm bảo vệ</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Dân số mua sắm trực tuyến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Thị trường F&amp;B 2025 →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726.500 → 760.000 tỷ đồng (+4,6%)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khay F&amp;B: ~80%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Số điểm bán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~333.600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 mục tiêu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Đồ ăn trực tuyến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2,1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mang đi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4765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3.2.2); +4,6%: tính toán từ số liệu trong bài</a:t>
            </a:r>
            <a:endParaRPr lang="vi-VN" sz="600" dirty="0"/>
          </a:p>
        </p:txBody>
      </p:sp>
      <p:sp>
        <p:nvSpPr>
          <p:cNvPr id="12" name="Text 9"/>
          <p:cNvSpPr txBox="1"/>
          <p:nvPr/>
        </p:nvSpPr>
        <p:spPr>
          <a:xfrm>
            <a:off x="405408" y="27731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Khoảng 160 triệu tấn phụ phẩm nông nghiệp mỗi năm, chỉ 10–35% được tái chế</a:t>
            </a:r>
            <a:endParaRPr lang="vi-VN" sz="720" dirty="0"/>
          </a:p>
        </p:txBody>
      </p:sp>
      <p:sp>
        <p:nvSpPr>
          <p:cNvPr id="13" name="Text 10"/>
          <p:cNvSpPr txBox="1"/>
          <p:nvPr/>
        </p:nvSpPr>
        <p:spPr>
          <a:xfrm>
            <a:off x="405408" y="30101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tấn/năm</a:t>
            </a:r>
            <a:endParaRPr lang="vi-VN" sz="630" dirty="0"/>
          </a:p>
        </p:txBody>
      </p:sp>
      <p:graphicFrame>
        <p:nvGraphicFramePr>
          <p:cNvPr id="14" name="Chart 0" descr=""/>
          <p:cNvGraphicFramePr/>
          <p:nvPr/>
        </p:nvGraphicFramePr>
        <p:xfrm>
          <a:off x="405408" y="3125688"/>
          <a:ext cx="2159943" cy="490835"/>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405408" y="36343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cục Thống kê – số liệu trong bài của nhóm (Mục 3.2.2); nhóm "khác" = 160 trừ ba loại đã nêu</a:t>
            </a:r>
            <a:endParaRPr lang="vi-VN" sz="600" dirty="0"/>
          </a:p>
        </p:txBody>
      </p:sp>
      <p:sp>
        <p:nvSpPr>
          <p:cNvPr id="16" name="Text 12"/>
          <p:cNvSpPr txBox="1"/>
          <p:nvPr/>
        </p:nvSpPr>
        <p:spPr>
          <a:xfrm>
            <a:off x="405408" y="393101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Cạnh tranh, khách hàng và sản phẩm thay thế đều ở mức cao; nguồn phụ phẩm là lợi thế đầu vào</a:t>
            </a:r>
            <a:endParaRPr lang="vi-VN" sz="72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05408" y="4182368"/>
          <a:ext cx="2159943" cy="914400"/>
        </p:xfrm>
        <a:graphic>
          <a:graphicData uri="http://schemas.openxmlformats.org/drawingml/2006/table">
            <a:tbl>
              <a:tblPr/>
              <a:tblGrid>
                <a:gridCol w="647849"/>
                <a:gridCol w="647849"/>
                <a:gridCol w="86424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Mức độ (bài của nhóm)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Cạnh tranh nội bộ ngành</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tăng 2%/năm (&lt; CPI)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gia nhập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65% DT năm 2027; kiểm nghiệm, chứng nhận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Nguồn cung nguyên liệu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Dồi dào, chi phí thấp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 25,0% → 27,0% DT do thu gom, năng lượng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DSO 14 → 30 ngày; giá bám đối thủ</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 – rất 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Kịch bản Bear: sản lượng 70% Base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578167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Mức độ: bài của nhóm (Mục 3.2.2–3.2.6); cột cuối: cách phản ánh trong mô hình</a:t>
            </a:r>
            <a:endParaRPr lang="vi-VN" sz="600" dirty="0"/>
          </a:p>
        </p:txBody>
      </p:sp>
      <p:sp>
        <p:nvSpPr>
          <p:cNvPr id="19" name="Text 14"/>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3.2.2. Động lực tăng trưởng chính</a:t>
            </a:r>
            <a:endParaRPr lang="vi-VN" sz="820" dirty="0"/>
          </a:p>
        </p:txBody>
      </p:sp>
      <p:sp>
        <p:nvSpPr>
          <p:cNvPr id="20" name="Text 15"/>
          <p:cNvSpPr txBox="1"/>
          <p:nvPr/>
        </p:nvSpPr>
        <p:spPr>
          <a:xfrm>
            <a:off x="2745284" y="704701"/>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công nghiệp bao bì sinh học từ phụ phẩm nông nghiệp của Việt Nam đang được các chuyên gia và nhà đầu tư kỳ vọng sẽ tăng trưởng mạnh do được thúc đẩy bởi các động lực rõ ràng như sau:</a:t>
            </a:r>
            <a:endParaRPr lang="vi-VN" sz="850" dirty="0"/>
          </a:p>
        </p:txBody>
      </p:sp>
      <p:sp>
        <p:nvSpPr>
          <p:cNvPr id="21" name="Text 16"/>
          <p:cNvSpPr txBox="1"/>
          <p:nvPr/>
        </p:nvSpPr>
        <p:spPr>
          <a:xfrm>
            <a:off x="2745284" y="10054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do chính sách hạn chế nhựa dùng một lần và chính sách thúc đẩy kinh tế tuần hoàn. Các chính sách EPR, ESG, cam kết Net Zero đến 2050, Luật Bảo vệ môi trường 2020, NĐ 08/2022/NĐ-CP, NĐ 110/2026/NĐ-CP đã tạo ra khung pháp lý dài hạn buộc các doanh nghiệp, đặc biệt là ngành F&amp;B, FMCG, phải chuyển đổi sang bao bì thân thiện với môi trường. Đồng thời với đó, chính sách hỗ trợ kinh tế tuần hoàn trong nông nghiệp (QĐ 540/QĐ-TTg, QĐ 882/QĐ-TTg) đã khuyến khích tái sử dụng phụ phẩm nông nghiệp. Đây chính là động lực tăng trưởng chính của phân khúc bao bì sinh học từ phụ phẩm nông nghiệp.</a:t>
            </a:r>
            <a:endParaRPr lang="vi-VN" sz="850" dirty="0"/>
          </a:p>
        </p:txBody>
      </p:sp>
      <p:sp>
        <p:nvSpPr>
          <p:cNvPr id="22" name="Text 17"/>
          <p:cNvSpPr txBox="1"/>
          <p:nvPr/>
        </p:nvSpPr>
        <p:spPr>
          <a:xfrm>
            <a:off x="2745284" y="196408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do sự bùng nổ của thương mại điện tử và dịch vụ F&amp;B mang đi. Thị trường thương mại điện tử Việt Nam đang tăng trưởng mạnh mẽ kể từ giai đoạn 2021–2024, tăng trưởng đạt 18%/năm, doanh thu đạt 38,5 tỷ USD vào năm 2025 với khoảng 60% dân số tham gia mua sắm trực tuyến. Trong khi đó, thị trường F&amp;B đạt 726.500 tỷ đồng năm 2025 và dự kiến tăng lên 760.000 tỷ đồng năm 2026 với số lượng điểm bán khoảng 333.600 cửa hàng, thị trường đồ ăn trực tuyến đạt 2,1 tỷ USD năm 2025 (Fig. 32). Ngành thương mại điện tử và dịch vụ mang đi tạo ra nhu cầu lớn về hộp đựng thực phẩm, đệm chống sốc cho sản phẩm. Bao bì từ phụ phẩm nông nghiệp, đặc biệt với chất liệu bã mía phù hợp với yêu cầu chống thấm dầu, chịu nhiệt và khả năng phân huỷ, đang dần thay thế hộp sử dụng một lần.</a:t>
            </a:r>
            <a:endParaRPr lang="vi-VN" sz="850" dirty="0"/>
          </a:p>
        </p:txBody>
      </p:sp>
      <p:sp>
        <p:nvSpPr>
          <p:cNvPr id="23" name="Text 18"/>
          <p:cNvSpPr txBox="1"/>
          <p:nvPr/>
        </p:nvSpPr>
        <p:spPr>
          <a:xfrm>
            <a:off x="2745284" y="318581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Hoạt động này thúc đẩy trực tiếp phân khúc bao bì đóng gói, chứa đựng thực phẩm (ngành F&amp;B) và FMCG của AgriPack. Bên cạnh đó, nhu cầu sử dụng đệm bảo vệ, chống sốc cho hàng hoá thương mại điện tử của AgriPack cũng gia tăng.</a:t>
            </a:r>
            <a:endParaRPr lang="vi-VN" sz="850" dirty="0"/>
          </a:p>
        </p:txBody>
      </p:sp>
      <p:sp>
        <p:nvSpPr>
          <p:cNvPr id="24" name="Text 19"/>
          <p:cNvSpPr txBox="1"/>
          <p:nvPr/>
        </p:nvSpPr>
        <p:spPr>
          <a:xfrm>
            <a:off x="2745284" y="361816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nguồn cung từ nông nghiệp dồi dào và có chi phí thấp. Theo số liệu của Tổng cục Thống kê, Việt Nam mỗi năm phát sinh khoảng 160 triệu tấn phụ phẩm nông nghiệp (gồm 42,8 triệu tấn rơm rạ, 15 triệu tấn bã mía, 1,4 triệu tấn vỏ cà phê, vỏ trấu, chất thải chăn nuôi và các loại khác) trong khi chỉ 10–35% được tái chế (Fig. 33). Nguồn cung đầu vào này có giá rẻ và dồi dào nên đây là lợi thế cho doanh nghiệp trong quá trình sản xuất bao bì sinh học, đồng thời tái tạo giá trị cho phụ phẩm và tạo kinh tế tuần hoàn.</a:t>
            </a:r>
            <a:endParaRPr lang="vi-VN" sz="850" dirty="0"/>
          </a:p>
        </p:txBody>
      </p:sp>
      <p:sp>
        <p:nvSpPr>
          <p:cNvPr id="25" name="Text 20"/>
          <p:cNvSpPr txBox="1"/>
          <p:nvPr/>
        </p:nvSpPr>
        <p:spPr>
          <a:xfrm>
            <a:off x="2745284" y="4445198"/>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Đây là lợi thế về đầu vào của AgriPack khi tận dụng được tối đa lợi ích từ nguồn cung bã mía.</a:t>
            </a:r>
            <a:endParaRPr lang="vi-VN" sz="850" dirty="0"/>
          </a:p>
        </p:txBody>
      </p:sp>
      <p:sp>
        <p:nvSpPr>
          <p:cNvPr id="26" name="Text 21"/>
          <p:cNvSpPr txBox="1"/>
          <p:nvPr/>
        </p:nvSpPr>
        <p:spPr>
          <a:xfrm>
            <a:off x="2745284" y="46144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tư, sự tiến bộ trong công nghệ sản xuất bao bì sinh học. Hiện nay, đã có nhiều sự phát triển trong hoạt động xử lý và tách chiết vật liệu xanh hoá (vật liệu nhựa sinh học từ bã cà phê, bao bì sinh học từ vỏ trái cây, nhựa sinh học PLA, nhựa sinh học PHA/PHB), công nghệ ép khuôn (gia công ướt/khô polyme từ vỏ giáp xác, ép khuôn bột bã mía, ép khuôn nhiệt ướt – wet press thermoforming), chống thấm ẩm mốc và tăng độ dẻo dai, lớp màng sản phẩm (lớp chống dầu/nước không chứa PFAS, sử dụng vỏ trứng để tăng tính cơ học, nhiệt học cho bao bì, màng nhựa từ bột sắn, BioResin, BioFilm,...). Các công nghệ xử lý và sản xuất vật liệu sinh học đang dần hoàn thiện, giảm thiểu tối đa những điểm yếu của bao bì sinh học. Điển hình như AgriPack sử dụng vỏ trứng để tăng tính cơ học cho sản phẩm.</a:t>
            </a:r>
            <a:endParaRPr lang="vi-VN" sz="850" dirty="0"/>
          </a:p>
        </p:txBody>
      </p:sp>
      <p:sp>
        <p:nvSpPr>
          <p:cNvPr id="27" name="Text 22"/>
          <p:cNvSpPr txBox="1"/>
          <p:nvPr/>
        </p:nvSpPr>
        <p:spPr>
          <a:xfrm>
            <a:off x="2745284" y="58361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3.2.3. Đối thủ cạnh tranh</a:t>
            </a:r>
            <a:endParaRPr lang="vi-VN" sz="820" dirty="0"/>
          </a:p>
        </p:txBody>
      </p:sp>
      <p:sp>
        <p:nvSpPr>
          <p:cNvPr id="28" name="Text 23"/>
          <p:cNvSpPr txBox="1"/>
          <p:nvPr/>
        </p:nvSpPr>
        <p:spPr>
          <a:xfrm>
            <a:off x="2745284" y="59827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Môi trường cạnh tranh nội bộ ngành bao bì sinh học từ phụ phẩm nông nghiệp có mức độ cạnh tranh cao. Điều này xuất phát từ sự phát triển của xu hướng tuần hoàn xanh của Chính phủ, số lượng doanh nghiệp tham gia phân khúc phụ phẩm nông nghiệp tăng trong 5 năm gần đây. Bên cạnh đó, các sản phẩm còn có sự tương đồng cao về công năng (đều là hộp/khay F&amp;B, FMCG, đệm bảo vệ) khiến yếu tố giá, chất lượng và khả năng giao hàng trở thành điểm cạnh tranh chính (Fig. 34).</a:t>
            </a:r>
            <a:endParaRPr lang="vi-VN" sz="850" dirty="0"/>
          </a:p>
        </p:txBody>
      </p:sp>
      <p:sp>
        <p:nvSpPr>
          <p:cNvPr id="29" name="Text 24"/>
          <p:cNvSpPr txBox="1"/>
          <p:nvPr/>
        </p:nvSpPr>
        <p:spPr>
          <a:xfrm>
            <a:off x="2745284" y="66782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số đối thủ cạnh tranh trực tiếp của AgriPack trong ngành bao bì sinh học từ phụ phẩm nông nghiệp được trình bày ở Fig. A04; công suất của các đối thủ đã công bố ở Fig. 35.</a:t>
            </a:r>
            <a:endParaRPr lang="vi-VN" sz="850" dirty="0"/>
          </a:p>
        </p:txBody>
      </p:sp>
      <p:sp>
        <p:nvSpPr>
          <p:cNvPr id="30" name="Text 25"/>
          <p:cNvSpPr txBox="1"/>
          <p:nvPr/>
        </p:nvSpPr>
        <p:spPr>
          <a:xfrm>
            <a:off x="2745284" y="697899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đối mặt với hai nhóm đối thủ lớn. Nhóm thứ nhất là các doanh nghiệp nội địa có quy mô lớn như AnEco và HAPBIO – những doanh nghiệp có lợi thế về vốn, công suất, hệ thống sản xuất và hệ thống khách hàng, được công nhận trên thị trường. Nhóm thứ hai là các doanh nghiệp khởi nghiệp trong cùng lĩnh vực bao bì xanh như BioWraps, AIRX Coffee, Hapobe – đều là những doanh nghiệp có định hướng sử dụng phụ phẩm nông nghiệp thành vật liệu xanh.</a:t>
            </a:r>
            <a:endParaRPr lang="vi-VN" sz="850" dirty="0"/>
          </a:p>
        </p:txBody>
      </p:sp>
      <p:sp>
        <p:nvSpPr>
          <p:cNvPr id="31" name="Text 26"/>
          <p:cNvSpPr txBox="1"/>
          <p:nvPr/>
        </p:nvSpPr>
        <p:spPr>
          <a:xfrm>
            <a:off x="2745284" y="767447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thế cạnh tranh hiện tại của AgriPack nằm ở sự kết hợp giữa bã mía và vỏ trứng để tăng độ bền, kết hợp làm dịch vụ thiết kế – làm khuôn theo dự án và tập trung ở địa bàn miền Trung – Nam (Gia Lai – nơi có vùng mía đường lớn, gần các nhà máy mía đường lớn), giúp giảm chi phí logistics.</a:t>
            </a:r>
            <a:endParaRPr lang="vi-VN" sz="850" dirty="0"/>
          </a:p>
        </p:txBody>
      </p:sp>
      <p:sp>
        <p:nvSpPr>
          <p:cNvPr id="32" name="Text 2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3" name="Text 28"/>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9</a:t>
            </a:r>
            <a:endParaRPr lang="vi-VN"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23318"/>
            <a:ext cx="2159943"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8" name="Text 6"/>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Đối thủ lớn nhất có công suất khoảng 108 nghìn tấn/năm</a:t>
            </a:r>
            <a:endParaRPr lang="vi-VN" sz="720" dirty="0"/>
          </a:p>
        </p:txBody>
      </p:sp>
      <p:sp>
        <p:nvSpPr>
          <p:cNvPr id="9" name="Text 7"/>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tấn/năm</a:t>
            </a:r>
            <a:endParaRPr lang="vi-VN" sz="630" dirty="0"/>
          </a:p>
        </p:txBody>
      </p:sp>
      <p:graphicFrame>
        <p:nvGraphicFramePr>
          <p:cNvPr id="10" name="Chart 0" descr=""/>
          <p:cNvGraphicFramePr/>
          <p:nvPr/>
        </p:nvGraphicFramePr>
        <p:xfrm>
          <a:off x="405408" y="941784"/>
          <a:ext cx="2159943" cy="706785"/>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405408" y="1666429"/>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đối thủ của nhóm (Mục 3.2.3, Fig. A04); AgriPack chưa công bố công suất theo tấn (sản lượng 2025 khoảng 15 triệu hộp, khay)</a:t>
            </a:r>
            <a:endParaRPr lang="vi-VN" sz="600" dirty="0"/>
          </a:p>
        </p:txBody>
      </p:sp>
      <p:sp>
        <p:nvSpPr>
          <p:cNvPr id="12" name="Text 9"/>
          <p:cNvSpPr txBox="1"/>
          <p:nvPr/>
        </p:nvSpPr>
        <p:spPr>
          <a:xfrm>
            <a:off x="405408" y="205444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vi-VN"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408" y="2305794"/>
          <a:ext cx="2159943" cy="914400"/>
        </p:xfrm>
        <a:graphic>
          <a:graphicData uri="http://schemas.openxmlformats.org/drawingml/2006/table">
            <a:tbl>
              <a:tblPr/>
              <a:tblGrid>
                <a:gridCol w="1468636"/>
                <a:gridCol w="69130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Áp lực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truyền thống, hộp xốp dùng một lần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Rất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Giấy, carton, kraft (giấy từ gỗ mềm)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 PHA)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tái chế</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(rPET, PCR)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Bioplastic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bảo vệ (EPE/PE Foam)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(từ sợi nấm, tinh bột)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giấy tổ ong/giấy nhún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43435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3.2.5); ưu, nhược điểm chi tiết ở Fig. A05</a:t>
            </a:r>
            <a:endParaRPr lang="vi-VN" sz="600" dirty="0"/>
          </a:p>
        </p:txBody>
      </p:sp>
      <p:sp>
        <p:nvSpPr>
          <p:cNvPr id="15" name="Text 11"/>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3.2.4. Rào cản gia nhập</a:t>
            </a:r>
            <a:endParaRPr lang="vi-VN" sz="820" dirty="0"/>
          </a:p>
        </p:txBody>
      </p:sp>
      <p:sp>
        <p:nvSpPr>
          <p:cNvPr id="16" name="Text 12"/>
          <p:cNvSpPr txBox="1"/>
          <p:nvPr/>
        </p:nvSpPr>
        <p:spPr>
          <a:xfrm>
            <a:off x="2745284" y="704701"/>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sản xuất bao bì sinh học có một số rào cản gia nhập rõ ràng như sau:</a:t>
            </a:r>
            <a:endParaRPr lang="vi-VN" sz="850" dirty="0"/>
          </a:p>
        </p:txBody>
      </p:sp>
      <p:sp>
        <p:nvSpPr>
          <p:cNvPr id="17" name="Text 13"/>
          <p:cNvSpPr txBox="1"/>
          <p:nvPr/>
        </p:nvSpPr>
        <p:spPr>
          <a:xfrm>
            <a:off x="2745284" y="87391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chuẩn hoá nguyên liệu, máy móc tạo hình, máy sấy nhiệt, hệ thống kiểm tra chất lượng, khuôn, màng lọc theo từng sản phẩm được đặt hàng. Với khách hàng doanh nghiệp (B2B) còn phải có khả năng duy trì sản lượng ổn định. Do đó, vốn đầu tư ban đầu và vốn lưu động là rào cản lớn, đặc biệt trong giai đoạn startup.</a:t>
            </a:r>
            <a:endParaRPr lang="vi-VN" sz="850" dirty="0"/>
          </a:p>
        </p:txBody>
      </p:sp>
      <p:sp>
        <p:nvSpPr>
          <p:cNvPr id="18" name="Text 14"/>
          <p:cNvSpPr txBox="1"/>
          <p:nvPr/>
        </p:nvSpPr>
        <p:spPr>
          <a:xfrm>
            <a:off x="2745284" y="1569393"/>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chứng nhận đạt chuẩn chất lượng. Phụ phẩm nông nghiệp có tính chất không đồng nhất, độ ẩm, thành phần có thể thay đổi theo mùa vụ, nguồn cung và quá trình xử lý. Vì vậy, doanh nghiệp phải nghiên cứu, thử nghiệm lâu dài, chuẩn bị các công nghệ, các dây chuyền xử lý và chuẩn hoá nguyên liệu trước khi tạo hình, điều này yêu cầu hệ thống xử lý và phân loại có công nghệ cao. Đồng thời, sản phẩm cũng phải đáp ứng đủ các yêu cầu về chất lượng (độ cứng, khả năng chịu nhiệt, cơ học, an toàn với thực phẩm) thông qua các chứng nhận quốc tế như: BPI và OK compost home/industrial, FDA, BRC/IOP, ISO 9001:2026, VSATTP để có thể được chứng nhận an toàn và lưu hành trên thị trường.</a:t>
            </a:r>
            <a:endParaRPr lang="vi-VN" sz="850" dirty="0"/>
          </a:p>
        </p:txBody>
      </p:sp>
      <p:sp>
        <p:nvSpPr>
          <p:cNvPr id="19" name="Text 15"/>
          <p:cNvSpPr txBox="1"/>
          <p:nvPr/>
        </p:nvSpPr>
        <p:spPr>
          <a:xfrm>
            <a:off x="2745284" y="26595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sản phẩm của AgriPack, thì sản phẩm hộp/khay F&amp;B phải đồng thời đáp ứng độ bền, độ chống thấm mốc, kích thước, khả năng chịu được thực phẩm và độ ổn định.</a:t>
            </a:r>
            <a:endParaRPr lang="vi-VN" sz="850" dirty="0"/>
          </a:p>
        </p:txBody>
      </p:sp>
      <p:sp>
        <p:nvSpPr>
          <p:cNvPr id="20" name="Text 16"/>
          <p:cNvSpPr txBox="1"/>
          <p:nvPr/>
        </p:nvSpPr>
        <p:spPr>
          <a:xfrm>
            <a:off x="2745284" y="2960340"/>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vi-VN" sz="850" dirty="0"/>
          </a:p>
        </p:txBody>
      </p:sp>
      <p:sp>
        <p:nvSpPr>
          <p:cNvPr id="21" name="Text 17"/>
          <p:cNvSpPr txBox="1"/>
          <p:nvPr/>
        </p:nvSpPr>
        <p:spPr>
          <a:xfrm>
            <a:off x="2745284" y="3655814"/>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vi-VN" sz="850" dirty="0"/>
          </a:p>
        </p:txBody>
      </p:sp>
      <p:sp>
        <p:nvSpPr>
          <p:cNvPr id="22" name="Text 18"/>
          <p:cNvSpPr txBox="1"/>
          <p:nvPr/>
        </p:nvSpPr>
        <p:spPr>
          <a:xfrm>
            <a:off x="2745284" y="408816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3.2.5. Sản phẩm thay thế</a:t>
            </a:r>
            <a:endParaRPr lang="vi-VN" sz="820" dirty="0"/>
          </a:p>
        </p:txBody>
      </p:sp>
      <p:sp>
        <p:nvSpPr>
          <p:cNvPr id="23" name="Text 19"/>
          <p:cNvSpPr txBox="1"/>
          <p:nvPr/>
        </p:nvSpPr>
        <p:spPr>
          <a:xfrm>
            <a:off x="2745284" y="423475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Phân khúc sản xuất bao bì sinh học bằng phụ phẩm nông nghiệp trong ngành F&amp;B, FMCG, đóng gói vận chuyển linh kiện điện tử có áp lực cao từ sản phẩm thay thế. Những sản phẩm thay thế này đến từ cả những ngành bao bì truyền thống (giấy, nhựa, kraft, carton) và trong chính những phân khúc bao bì sinh học từ vật liệu nhựa sinh học tổng hợp (PLA/PHA).</a:t>
            </a:r>
            <a:endParaRPr lang="vi-VN" sz="850" dirty="0"/>
          </a:p>
        </p:txBody>
      </p:sp>
      <p:sp>
        <p:nvSpPr>
          <p:cNvPr id="24" name="Text 20"/>
          <p:cNvSpPr txBox="1"/>
          <p:nvPr/>
        </p:nvSpPr>
        <p:spPr>
          <a:xfrm>
            <a:off x="2745284" y="4798665"/>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Những sản phẩm thay thế chính được tóm tắt ở Fig. 36; ưu, nhược điểm của từng loại ở Fig. A05.</a:t>
            </a:r>
            <a:endParaRPr lang="vi-VN" sz="850" dirty="0"/>
          </a:p>
        </p:txBody>
      </p:sp>
      <p:sp>
        <p:nvSpPr>
          <p:cNvPr id="25" name="Text 21"/>
          <p:cNvSpPr txBox="1"/>
          <p:nvPr/>
        </p:nvSpPr>
        <p:spPr>
          <a:xfrm>
            <a:off x="2745284" y="496788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3.2.6. Hành vi khách hàng</a:t>
            </a:r>
            <a:endParaRPr lang="vi-VN" sz="820" dirty="0"/>
          </a:p>
        </p:txBody>
      </p:sp>
      <p:sp>
        <p:nvSpPr>
          <p:cNvPr id="26" name="Text 22"/>
          <p:cNvSpPr txBox="1"/>
          <p:nvPr/>
        </p:nvSpPr>
        <p:spPr>
          <a:xfrm>
            <a:off x="2745284" y="511447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Quyền thương lượng của khách hàng tới phân khúc bao bì sinh học bằng phụ phẩm nông nghiệp ở mức cao, đặc biệt với nhóm khách hàng B2B – khách hàng trực tiếp của các doanh nghiệp bao bì sinh học. Nhóm khách hàng B2B này bao gồm nhiều nhà hàng, quán cà phê, chuỗi F&amp;B, FMCG, doanh nghiệp điện tử, nội thất, thương mại điện tử. Bao bì là đầu vào thường được mua với số lượng lớn của các doanh nghiệp, đồng thời trên thị trường cũng có nhiều lựa chọn thay thế khác nên khả năng so sánh và chuyển đổi giữa các nhà cung cấp bao bì là cao.</a:t>
            </a:r>
            <a:endParaRPr lang="vi-VN" sz="850" dirty="0"/>
          </a:p>
        </p:txBody>
      </p:sp>
      <p:sp>
        <p:nvSpPr>
          <p:cNvPr id="27" name="Text 23"/>
          <p:cNvSpPr txBox="1"/>
          <p:nvPr/>
        </p:nvSpPr>
        <p:spPr>
          <a:xfrm>
            <a:off x="2745284" y="59415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Hành vi mua của khách hàng B2B chịu ảnh hưởng đầu tiên là giá và hiệu quả sử dụng; nhu cầu và tiêu chí lựa chọn của từng phân khúc được tóm tắt ở Fig. A03.</a:t>
            </a:r>
            <a:endParaRPr lang="vi-VN" sz="850" dirty="0"/>
          </a:p>
        </p:txBody>
      </p:sp>
      <p:sp>
        <p:nvSpPr>
          <p:cNvPr id="28" name="Text 24"/>
          <p:cNvSpPr txBox="1"/>
          <p:nvPr/>
        </p:nvSpPr>
        <p:spPr>
          <a:xfrm>
            <a:off x="2745284" y="6242298"/>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hành vi mua của khách hàng còn được quyết định bởi độ ổn định nguồn cung cùng sự đồng đều chất lượng giữa các lô hàng. Các khách hàng B2B yêu cầu nhà sản xuất đáp ứng đủ khả năng về số lượng cung ứng hàng hoá (thường là số lượng lớn), thời gian giao hàng, và chất lượng đồng nhất là điều kiện bắt buộc.</a:t>
            </a:r>
            <a:endParaRPr lang="vi-VN" sz="850" dirty="0"/>
          </a:p>
        </p:txBody>
      </p:sp>
      <p:sp>
        <p:nvSpPr>
          <p:cNvPr id="29" name="Text 25"/>
          <p:cNvSpPr txBox="1"/>
          <p:nvPr/>
        </p:nvSpPr>
        <p:spPr>
          <a:xfrm>
            <a:off x="2745284" y="6806208"/>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lợi thế cho những doanh nghiệp đã có quy mô sản xuất và hệ thống cung ứng ổn định nhưng lại là rào cản với doanh nghiệp khởi nghiệp như AgriPack trong giai đoạn đầu.</a:t>
            </a:r>
            <a:endParaRPr lang="vi-VN" sz="850" dirty="0"/>
          </a:p>
        </p:txBody>
      </p:sp>
      <p:sp>
        <p:nvSpPr>
          <p:cNvPr id="30" name="Text 2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1" name="Text 2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10</a:t>
            </a:r>
            <a:endParaRPr lang="vi-VN"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1753195"/>
            <a:ext cx="6749058" cy="0"/>
          </a:xfrm>
          <a:prstGeom prst="line">
            <a:avLst/>
          </a:prstGeom>
          <a:noFill/>
          <a:ln w="9525">
            <a:solidFill>
              <a:srgbClr val="7B1E2B"/>
            </a:solidFill>
            <a:prstDash val="solid"/>
          </a:ln>
        </p:spPr>
      </p:sp>
      <p:sp>
        <p:nvSpPr>
          <p:cNvPr id="5" name="Shape 3"/>
          <p:cNvSpPr/>
          <p:nvPr/>
        </p:nvSpPr>
        <p:spPr>
          <a:xfrm>
            <a:off x="405408" y="4212878"/>
            <a:ext cx="2159943" cy="0"/>
          </a:xfrm>
          <a:prstGeom prst="line">
            <a:avLst/>
          </a:prstGeom>
          <a:noFill/>
          <a:ln w="9525">
            <a:solidFill>
              <a:srgbClr val="7B1E2B"/>
            </a:solidFill>
            <a:prstDash val="solid"/>
          </a:ln>
        </p:spPr>
      </p:sp>
      <p:sp>
        <p:nvSpPr>
          <p:cNvPr id="6" name="Shape 4"/>
          <p:cNvSpPr/>
          <p:nvPr/>
        </p:nvSpPr>
        <p:spPr>
          <a:xfrm>
            <a:off x="405408" y="594613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4. LẬP DỰ PHÓNG PRO FORMA 5 NĂM (2026E–2030E)</a:t>
            </a:r>
            <a:endParaRPr lang="vi-VN" sz="880" dirty="0"/>
          </a:p>
        </p:txBody>
      </p:sp>
      <p:sp>
        <p:nvSpPr>
          <p:cNvPr id="11" name="Text 9"/>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vi-VN" sz="900" dirty="0"/>
          </a:p>
        </p:txBody>
      </p:sp>
      <p:sp>
        <p:nvSpPr>
          <p:cNvPr id="12" name="Text 10"/>
          <p:cNvSpPr txBox="1"/>
          <p:nvPr/>
        </p:nvSpPr>
        <p:spPr>
          <a:xfrm>
            <a:off x="2745284" y="1014561"/>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 định dự phóng không được đặt riêng lẻ mà đi ra từ những gì đã phân tích ở Mục 1–3. Với mỗi yếu tố, nhóm đi theo cùng một trình tự: bối cảnh vĩ mô tác động đến ngành bao bì như thế nào, ngành đó ảnh hưởng đến AgriPack ra sao, rồi chuyển ảnh hưởng ấy thành một con số cụ thể trong mô hình (Fig. 37). Lý do và nguồn của từng giả định được ghi ngay bên cạnh ô giả định trong file Excel và được tập hợp lại ở Phụ lục (Fig. A09, A11).</a:t>
            </a:r>
            <a:endParaRPr lang="vi-VN" sz="850" dirty="0"/>
          </a:p>
        </p:txBody>
      </p:sp>
      <p:sp>
        <p:nvSpPr>
          <p:cNvPr id="13" name="Text 11"/>
          <p:cNvSpPr txBox="1"/>
          <p:nvPr/>
        </p:nvSpPr>
        <p:spPr>
          <a:xfrm>
            <a:off x="405408" y="1784320"/>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vi-VN"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408" y="1926134"/>
          <a:ext cx="6749058" cy="914400"/>
        </p:xfrm>
        <a:graphic>
          <a:graphicData uri="http://schemas.openxmlformats.org/drawingml/2006/table">
            <a:tbl>
              <a:tblPr/>
              <a:tblGrid>
                <a:gridCol w="3172123"/>
                <a:gridCol w="1957239"/>
                <a:gridCol w="539800"/>
                <a:gridCol w="539800"/>
                <a:gridCol w="5400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 vĩ mô/ngành (mục phân tích)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GDP 6T/2026 +8,18%, tiêu dùng +8,15% (3.1.1); TMĐT +18%/năm, F&amp;B 760.000 tỷ đồng 2026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sản lượng hộp/khay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TMĐT, nội thất xuất khẩu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diện tích đệm nội thất/TMĐT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CPI 8T/2026 +4,45%; khách hàng B2B có quyền thương lượng cao (3.1.2,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giá bán F&amp;B và khuôn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thu gom, vận chuyển, sấy, năng lượng tăng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biến đổi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Nhóm điện, nước +6,71%; giá điện +4,8%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Điện, nước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Lương tối thiểu vùng +7,2% từ 01/2026 (NĐ 293/2025)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rào cản chất lượng, chứng nhận (3.1.6.1,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Kiểm nghiệm, chứng nhận &amp; R&amp;D /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vốn đầu tư (3.2.4); đề bài: đầu tư lớn 2027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 doanh thu (tái đầu tư)</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8,1–10,5% (3.1.3)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vay Kd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Luật Thuế TNDN 67/2025/QH15 (3.1.6.3)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Thuế suất TNDN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MBS 26.800–27.000 cuối 2026 (3.1.4)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bình quân USD/VND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26.300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26.826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28.468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trong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Lợi suất TPCP 10 năm ngày 01/10/2026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phi rủi ro Rf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Bội số ngành bao bì (FiinX,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thoái vốn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8,0x</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404961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Mục 1–3; giá trị giả định: mô hình (Drivers, VCM, Discount rate)</a:t>
            </a:r>
            <a:endParaRPr lang="vi-VN" sz="600" dirty="0"/>
          </a:p>
        </p:txBody>
      </p:sp>
      <p:sp>
        <p:nvSpPr>
          <p:cNvPr id="16" name="Text 13"/>
          <p:cNvSpPr txBox="1"/>
          <p:nvPr/>
        </p:nvSpPr>
        <p:spPr>
          <a:xfrm>
            <a:off x="405408" y="424400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vi-VN" sz="720" dirty="0"/>
          </a:p>
        </p:txBody>
      </p:sp>
      <p:sp>
        <p:nvSpPr>
          <p:cNvPr id="17" name="Text 14"/>
          <p:cNvSpPr txBox="1"/>
          <p:nvPr/>
        </p:nvSpPr>
        <p:spPr>
          <a:xfrm>
            <a:off x="405408" y="448106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Chênh lệch pre-money so với mức cơ sở 26,5 tỷ đồng (tỷ đồng)</a:t>
            </a:r>
            <a:endParaRPr lang="vi-VN" sz="630" dirty="0"/>
          </a:p>
        </p:txBody>
      </p:sp>
      <p:graphicFrame>
        <p:nvGraphicFramePr>
          <p:cNvPr id="18" name="Chart 0" descr=""/>
          <p:cNvGraphicFramePr/>
          <p:nvPr/>
        </p:nvGraphicFramePr>
        <p:xfrm>
          <a:off x="405408" y="4596557"/>
          <a:ext cx="2159943" cy="1066205"/>
        </p:xfrm>
        <a:graphic xmlns:a="http://schemas.openxmlformats.org/drawingml/2006/main">
          <a:graphicData uri="http://schemas.openxmlformats.org/drawingml/2006/chart">
            <c:chart xmlns:c="http://schemas.openxmlformats.org/drawingml/2006/chart" r:id="rId1"/>
          </a:graphicData>
        </a:graphic>
      </p:graphicFrame>
      <p:sp>
        <p:nvSpPr>
          <p:cNvPr id="19" name="Text 15"/>
          <p:cNvSpPr txBox="1"/>
          <p:nvPr/>
        </p:nvSpPr>
        <p:spPr>
          <a:xfrm>
            <a:off x="405408" y="568062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tính lại toàn bộ mô hình với từng nhân tố ở mức bất lợi và thuận lợi, các giả định khác giữ nguyên</a:t>
            </a:r>
            <a:endParaRPr lang="vi-VN" sz="600" dirty="0"/>
          </a:p>
        </p:txBody>
      </p:sp>
      <p:sp>
        <p:nvSpPr>
          <p:cNvPr id="20" name="Text 16"/>
          <p:cNvSpPr txBox="1"/>
          <p:nvPr/>
        </p:nvSpPr>
        <p:spPr>
          <a:xfrm>
            <a:off x="405408" y="59772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bán chỉ tăng 2%/năm, thấp hơn lạm phát, nên chi phí biến đổi tăng lên 25–27% doanh thu</a:t>
            </a:r>
            <a:endParaRPr lang="vi-VN" sz="720" dirty="0"/>
          </a:p>
        </p:txBody>
      </p:sp>
      <p:sp>
        <p:nvSpPr>
          <p:cNvPr id="21" name="Text 17"/>
          <p:cNvSpPr txBox="1"/>
          <p:nvPr/>
        </p:nvSpPr>
        <p:spPr>
          <a:xfrm>
            <a:off x="405408" y="62143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22" name="Chart 1" descr=""/>
          <p:cNvGraphicFramePr/>
          <p:nvPr/>
        </p:nvGraphicFramePr>
        <p:xfrm>
          <a:off x="405408" y="6329809"/>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23" name="Text 18"/>
          <p:cNvSpPr txBox="1"/>
          <p:nvPr/>
        </p:nvSpPr>
        <p:spPr>
          <a:xfrm>
            <a:off x="405408" y="711338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giả định dự phóng (Drivers)</a:t>
            </a:r>
            <a:endParaRPr lang="vi-VN" sz="600" dirty="0"/>
          </a:p>
        </p:txBody>
      </p:sp>
      <p:sp>
        <p:nvSpPr>
          <p:cNvPr id="24" name="Text 19"/>
          <p:cNvSpPr txBox="1"/>
          <p:nvPr/>
        </p:nvSpPr>
        <p:spPr>
          <a:xfrm>
            <a:off x="2745284" y="4212878"/>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tiêu dùng cuối cùng tăng 8,15% và thương mại điện tử tăng khoảng 18% mỗi năm, thị trường F&amp;B dự kiến đạt 760.000 tỷ đồng năm 2026, nên nhu cầu bao bì nói chung còn rộng (Mục 3.1.1, 3.2.2). Tuy vậy, thị trường mà AgriPack thực sự nhắm tới là bao bì dùng một lần phân hủy sinh học cho ngành F&amp;B, và thị trường này chỉ tăng khoảng 4,7% mỗi năm. Vì vậy, tăng trưởng của AgriPack trong mô hình chủ yếu đến từ việc giành thêm thị phần, từ 4,3% lên khoảng 11,0% thị trường mục tiêu vào năm 2030, và bị giới hạn bởi công suất nhà máy. Đây cũng là giả định ảnh hưởng mạnh nhất đến giá trị doanh nghiệp (Fig. 38).</a:t>
            </a:r>
            <a:endParaRPr lang="vi-VN" sz="850" dirty="0"/>
          </a:p>
        </p:txBody>
      </p:sp>
      <p:sp>
        <p:nvSpPr>
          <p:cNvPr id="25" name="Text 20"/>
          <p:cNvSpPr txBox="1"/>
          <p:nvPr/>
        </p:nvSpPr>
        <p:spPr>
          <a:xfrm>
            <a:off x="2745284" y="5171480"/>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bán và chi phí.</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Lạm phát 8 tháng đầu năm 2026 ở mức 4,45%, riêng nhóm nhà ở, điện, nước và chất đốt tăng 6,71% (Mục 3.1.2). Khách hàng của AgriPack là các doanh nghiệp F&amp;B có sức mạnh đàm phán cao và luôn có thể quay lại với bao bì nhựa rẻ hơn nhiều lần (Mục 3.2.5, 3.2.6), nên nhóm chỉ cho giá bán tăng 2% mỗi năm, thấp hơn lạm phát. Ngược lại, chi phí biến đổi, gồm nguyên liệu, thu gom, sấy và năng lượng, được nâng từ 24,5% doanh thu năm 2025 lên 25–27% (Fig. 39). Nói cách khác, mô hình giả định doanh nghiệp phải tự gánh phần lớn áp lực chi phí thay vì chuyển được sang khách hàng.</a:t>
            </a:r>
            <a:endParaRPr lang="vi-VN" sz="850" dirty="0"/>
          </a:p>
        </p:txBody>
      </p:sp>
      <p:sp>
        <p:nvSpPr>
          <p:cNvPr id="26" name="Text 21"/>
          <p:cNvSpPr txBox="1"/>
          <p:nvPr/>
        </p:nvSpPr>
        <p:spPr>
          <a:xfrm>
            <a:off x="2745284" y="6130082"/>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Chi phí vốn và rủi ro.</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Lãi suất cho vay doanh nghiệp đang ở khoảng 8,1–10,5%/năm (Mục 3.1.3), nên chi phí nợ trước thuế được đặt ở 10%. Lãi suất phi rủi ro lấy bằng lợi suất trái phiếu Chính phủ kỳ hạn 10 năm ngày 01/10/2026, tức 4,59%. Vì AgriPack đang ở giai đoạn đầu tăng trưởng và dòng vốn đầu tư mạo hiểm đã chọn lọc hơn (Mục 3.1.5), tỷ lệ thất bại dùng trong VC Method là 40% theo hướng dẫn của đề bài.</a:t>
            </a:r>
            <a:endParaRPr lang="vi-VN" sz="850" dirty="0"/>
          </a:p>
        </p:txBody>
      </p:sp>
      <p:sp>
        <p:nvSpPr>
          <p:cNvPr id="27" name="Text 22"/>
          <p:cNvSpPr txBox="1"/>
          <p:nvPr/>
        </p:nvSpPr>
        <p:spPr>
          <a:xfrm>
            <a:off x="2745284" y="6825555"/>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Pháp lý và thuế.</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Thông tư 27/2026/TT-BYT yêu cầu bao bì tiếp xúc trực tiếp với thực phẩm phải được kiểm nghiệm, vì vậy mô hình có thêm khoản chi phí kiểm nghiệm, chứng nhận và nghiên cứu phát triển bằng 0,6% doanh thu. Theo Luật Thuế TNDN số 67/2025/QH15, AgriPack chịu thuế suất 17% năm 2026 (doanh thu năm trước dưới 50 tỷ đồng) và 20% từ năm 2027. Ưu đãi dành cho doanh nghiệp khởi nghiệp sáng tạo theo Nghị quyết 198/2025/QH15 không được đưa vào kịch bản cơ sở vì doanh nghiệp chưa chứng minh được đủ điều kiện.</a:t>
            </a:r>
            <a:endParaRPr lang="vi-VN" sz="850" dirty="0"/>
          </a:p>
        </p:txBody>
      </p:sp>
      <p:sp>
        <p:nvSpPr>
          <p:cNvPr id="28" name="Text 23"/>
          <p:cNvSpPr txBox="1"/>
          <p:nvPr/>
        </p:nvSpPr>
        <p:spPr>
          <a:xfrm>
            <a:off x="2745284" y="7652593"/>
            <a:ext cx="4464046" cy="1447205"/>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Nhân tố nào quan trọng nhất.</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trả lời câu hỏi này, nhóm lần lượt đưa từng nhân tố về mức bất lợi và thuận lợi rồi tính lại toàn bộ mô hình, trong khi giữ nguyên các giả định còn lại (Fig. 38). Cầu là nhân tố chi phối. Nếu sản lượng chỉ tăng bằng 80% tốc độ ở kịch bản cơ sở, doanh thu năm 2030 còn 137,3 tỷ đồng, lợi nhuận sau thuế còn 6,6 tỷ đồng và pre-money giảm 26,2 tỷ đồng. Mức giảm lớn như vậy vì chi phí cố định và khấu hao của nhà máy mới không giảm theo sản lượng, trong khi giá trị cuối kỳ lại dựa trên lợi nhuận năm 2030. Khi chi phí nhân sự hoặc chi phí biến đổi thay đổi 1 điểm % doanh thu, pre-money thay đổi khoảng 8,1–10,2 tỷ đồng; còn giá bán thay đổi 1 điểm % mỗi năm, lãi suất hay phần bù rủi ro quốc gia thay đổi 1 điểm % chỉ tác động khoảng 4,4–6,8 tỷ đồng. Ưu đãi thuế, nếu được hưởng, chỉ cộng thêm khoảng 3,0 tỷ đồng vì lợi nhuận trong những năm được ưu đãi còn nhỏ. Vì thế, chỉ báo cần theo dõi sát nhất là sản lượng hộp, khay F&amp;B và mức độ lấp đầy công suất của nhà máy mới (biên độ, lý do và kết quả chi tiết ở Fig. A15).</a:t>
            </a:r>
            <a:endParaRPr lang="vi-VN" sz="850" dirty="0"/>
          </a:p>
        </p:txBody>
      </p:sp>
      <p:sp>
        <p:nvSpPr>
          <p:cNvPr id="29" name="Text 2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0" name="Text 2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11</a:t>
            </a:r>
            <a:endParaRPr lang="vi-VN"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74379"/>
            <a:ext cx="2159943" cy="0"/>
          </a:xfrm>
          <a:prstGeom prst="line">
            <a:avLst/>
          </a:prstGeom>
          <a:noFill/>
          <a:ln w="9525">
            <a:solidFill>
              <a:srgbClr val="7B1E2B"/>
            </a:solidFill>
            <a:prstDash val="solid"/>
          </a:ln>
        </p:spPr>
      </p:sp>
      <p:sp>
        <p:nvSpPr>
          <p:cNvPr id="5" name="Shape 3"/>
          <p:cNvSpPr/>
          <p:nvPr/>
        </p:nvSpPr>
        <p:spPr>
          <a:xfrm>
            <a:off x="405408" y="4359176"/>
            <a:ext cx="6749058" cy="0"/>
          </a:xfrm>
          <a:prstGeom prst="line">
            <a:avLst/>
          </a:prstGeom>
          <a:noFill/>
          <a:ln w="9525">
            <a:solidFill>
              <a:srgbClr val="7B1E2B"/>
            </a:solidFill>
            <a:prstDash val="solid"/>
          </a:ln>
        </p:spPr>
      </p:sp>
      <p:sp>
        <p:nvSpPr>
          <p:cNvPr id="6" name="Shape 4"/>
          <p:cNvSpPr/>
          <p:nvPr/>
        </p:nvSpPr>
        <p:spPr>
          <a:xfrm>
            <a:off x="405408" y="6889700"/>
            <a:ext cx="2159943" cy="0"/>
          </a:xfrm>
          <a:prstGeom prst="line">
            <a:avLst/>
          </a:prstGeom>
          <a:noFill/>
          <a:ln w="9525">
            <a:solidFill>
              <a:srgbClr val="7B1E2B"/>
            </a:solidFill>
            <a:prstDash val="solid"/>
          </a:ln>
        </p:spPr>
      </p:sp>
      <p:sp>
        <p:nvSpPr>
          <p:cNvPr id="7" name="Shape 5"/>
          <p:cNvSpPr/>
          <p:nvPr/>
        </p:nvSpPr>
        <p:spPr>
          <a:xfrm>
            <a:off x="405408" y="8577709"/>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2030E đạt 170 tỷ đồng; F&amp;B/FMCG vẫn chiếm gần 80%</a:t>
            </a:r>
            <a:endParaRPr lang="vi-VN" sz="720" dirty="0"/>
          </a:p>
        </p:txBody>
      </p:sp>
      <p:sp>
        <p:nvSpPr>
          <p:cNvPr id="12" name="Text 10"/>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3" name="Chart 0" descr=""/>
          <p:cNvGraphicFramePr/>
          <p:nvPr/>
        </p:nvGraphicFramePr>
        <p:xfrm>
          <a:off x="405408" y="941784"/>
          <a:ext cx="2159943" cy="1040606"/>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05408" y="200025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Dự phóng của nhóm (Drivers)</a:t>
            </a:r>
            <a:endParaRPr lang="vi-VN" sz="600" dirty="0"/>
          </a:p>
        </p:txBody>
      </p:sp>
      <p:sp>
        <p:nvSpPr>
          <p:cNvPr id="15" name="Text 12"/>
          <p:cNvSpPr txBox="1"/>
          <p:nvPr/>
        </p:nvSpPr>
        <p:spPr>
          <a:xfrm>
            <a:off x="405408" y="220550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vi-VN"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408" y="2456855"/>
          <a:ext cx="2159943" cy="914400"/>
        </p:xfrm>
        <a:graphic>
          <a:graphicData uri="http://schemas.openxmlformats.org/drawingml/2006/table">
            <a:tbl>
              <a:tblPr/>
              <a:tblGrid>
                <a:gridCol w="799207"/>
                <a:gridCol w="272058"/>
                <a:gridCol w="272058"/>
                <a:gridCol w="272058"/>
                <a:gridCol w="272058"/>
                <a:gridCol w="272504"/>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SL hộp/khay F&amp;B (tr. cái)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SL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số bộ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NT/TMĐT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điện tử</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F&amp;B,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đệm bảo vệ</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CAPEX/DT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7" name="Text 13"/>
          <p:cNvSpPr txBox="1"/>
          <p:nvPr/>
        </p:nvSpPr>
        <p:spPr>
          <a:xfrm>
            <a:off x="405408" y="414188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Drivers (kịch bản Base)</a:t>
            </a:r>
            <a:endParaRPr lang="vi-VN" sz="600" dirty="0"/>
          </a:p>
        </p:txBody>
      </p:sp>
      <p:sp>
        <p:nvSpPr>
          <p:cNvPr id="18" name="Text 14"/>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4.2. Doanh thu: sản lượng nhân giá bán theo từng phân khúc</a:t>
            </a:r>
            <a:endParaRPr lang="vi-VN" sz="900" dirty="0"/>
          </a:p>
        </p:txBody>
      </p:sp>
      <p:sp>
        <p:nvSpPr>
          <p:cNvPr id="19" name="Text 15"/>
          <p:cNvSpPr txBox="1"/>
          <p:nvPr/>
        </p:nvSpPr>
        <p:spPr>
          <a:xfrm>
            <a:off x="2745284" y="741759"/>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Doanh thu được dự phóng riêng cho bốn phân khúc bằng cách nhân sản lượng với giá bán (Fig. 40, Fig. 41). Với mảng hộp, khay F&amp;B, nhóm quy đổi doanh thu năm 2025 ra sản lượng khoảng 15,2 triệu sản phẩm, dựa trên giá 2.500 đồng mỗi chiếc, là mức thấp nhất trong khung giá mà nhóm đã đưa ra ở Mục 1 (Fig. 08). Sản lượng tăng 32% năm 2026 nhờ lắp thêm máy ép, chậm lại còn 22% năm 2027 khi nhà máy mới đang xây, tăng mạnh 35% năm 2028 khi hai dây chuyền mới đi vào vận hành, rồi giảm dần về 17% năm 2030, tương đương khoảng 48,4 triệu sản phẩm. Mảng thiết kế khuôn tăng theo số mẫu sản phẩm mới của khách hàng, còn hai mảng đệm bảo vệ cho nội thất, thương mại điện tử và điện tử tăng 25–70% mỗi năm nhưng từ một nền rất nhỏ.</a:t>
            </a:r>
            <a:endParaRPr lang="vi-VN" sz="850" dirty="0"/>
          </a:p>
        </p:txBody>
      </p:sp>
      <p:sp>
        <p:nvSpPr>
          <p:cNvPr id="20" name="Text 16"/>
          <p:cNvSpPr txBox="1"/>
          <p:nvPr/>
        </p:nvSpPr>
        <p:spPr>
          <a:xfrm>
            <a:off x="2745284" y="183192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Kết quả là doanh thu thuần đạt 170,3 tỷ đồng năm 2030, tăng bình quân 29,1% mỗi năm. Mức tăng này thấp hơn nhiều so với 54–59% của hai năm 2024–2025, vì doanh thu đã có nền lớn hơn trong khi thị trường mục tiêu chỉ tăng 4–5% mỗi năm. Nếu muốn giữ tốc độ 40–50% mỗi năm, AgriPack sẽ phải chiếm 15–18% thị trường mục tiêu toàn quốc, một mức khó giữ được với một doanh nghiệp chỉ có một nhà máy.</a:t>
            </a:r>
            <a:endParaRPr lang="vi-VN" sz="850" dirty="0"/>
          </a:p>
        </p:txBody>
      </p:sp>
      <p:sp>
        <p:nvSpPr>
          <p:cNvPr id="21" name="Text 17"/>
          <p:cNvSpPr txBox="1"/>
          <p:nvPr/>
        </p:nvSpPr>
        <p:spPr>
          <a:xfrm>
            <a:off x="2745284" y="252739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4.3. Chi phí và biên lợi nhuận</a:t>
            </a:r>
            <a:endParaRPr lang="vi-VN" sz="900" dirty="0"/>
          </a:p>
        </p:txBody>
      </p:sp>
      <p:sp>
        <p:nvSpPr>
          <p:cNvPr id="22" name="Text 18"/>
          <p:cNvSpPr txBox="1"/>
          <p:nvPr/>
        </p:nvSpPr>
        <p:spPr>
          <a:xfrm>
            <a:off x="2745284" y="269676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Báo cáo kết quả kinh doanh được trình bày theo chức năng, đúng như chuẩn mực kế toán Việt Nam (Fig. 42). Theo cách này, 70% tiền lương (công nhân ép, sấy, kiểm tra chất lượng và quản đốc) và 90% khấu hao (máy ép, hệ thống sấy, nhà xưởng) được tính vào giá vốn hàng bán; phần còn lại, gồm 30% tiền lương và 10% khấu hao, được đưa vào chi phí bán hàng và chi phí quản lý doanh nghiệp. Số liệu 2023–2025 cũng được trình bày lại theo cùng nguyên tắc để so sánh được với các năm dự phóng. Vì vậy, biên lợi nhuận gộp năm 2025 là 51,0%, khớp với Mục 2.2; nếu không phân bổ, biên gộp trên báo cáo gốc là 72,8% vì báo cáo gốc chưa đưa tiền lương và khấu hao vào giá vốn. Cách phân bổ này chỉ đổi vị trí của chi phí trên báo cáo, không làm thay đổi lợi nhuận trước lãi vay và thuế, lợi nhuận sau thuế hay dòng tiền.</a:t>
            </a:r>
            <a:endParaRPr lang="vi-VN" sz="850" dirty="0"/>
          </a:p>
        </p:txBody>
      </p:sp>
      <p:sp>
        <p:nvSpPr>
          <p:cNvPr id="23" name="Text 19"/>
          <p:cNvSpPr txBox="1"/>
          <p:nvPr/>
        </p:nvSpPr>
        <p:spPr>
          <a:xfrm>
            <a:off x="405408" y="439030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Dự phóng kết quả kinh doanh (trình bày theo chức năng)</a:t>
            </a:r>
            <a:endParaRPr lang="vi-VN" sz="720" dirty="0"/>
          </a:p>
        </p:txBody>
      </p:sp>
      <p:sp>
        <p:nvSpPr>
          <p:cNvPr id="24" name="Text 20"/>
          <p:cNvSpPr txBox="1"/>
          <p:nvPr/>
        </p:nvSpPr>
        <p:spPr>
          <a:xfrm>
            <a:off x="405408" y="4517827"/>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408" y="4633317"/>
          <a:ext cx="6749058" cy="914400"/>
        </p:xfrm>
        <a:graphic>
          <a:graphicData uri="http://schemas.openxmlformats.org/drawingml/2006/table">
            <a:tbl>
              <a:tblPr/>
              <a:tblGrid>
                <a:gridCol w="1889820"/>
                <a:gridCol w="809774"/>
                <a:gridCol w="809774"/>
                <a:gridCol w="809774"/>
                <a:gridCol w="809774"/>
                <a:gridCol w="809774"/>
                <a:gridCol w="810369"/>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25,2%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Giá vốn hàng bán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Lợi nhuận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33,0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CPBH &amp; QLDN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(43,2)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EBIT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Chi phí lãi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Lợi nhuận trước thuế</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Thuế TNDN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5,8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8,1%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Ghi nhớ: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6" name="Text 21"/>
          <p:cNvSpPr txBox="1"/>
          <p:nvPr/>
        </p:nvSpPr>
        <p:spPr>
          <a:xfrm>
            <a:off x="405408" y="672643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vi-VN" sz="600" dirty="0"/>
          </a:p>
        </p:txBody>
      </p:sp>
      <p:sp>
        <p:nvSpPr>
          <p:cNvPr id="27" name="Text 22"/>
          <p:cNvSpPr txBox="1"/>
          <p:nvPr/>
        </p:nvSpPr>
        <p:spPr>
          <a:xfrm>
            <a:off x="405408" y="692082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giảm năm 2028 khi khấu hao nhà máy mới vào giá vốn</a:t>
            </a:r>
            <a:endParaRPr lang="vi-VN" sz="720" dirty="0"/>
          </a:p>
        </p:txBody>
      </p:sp>
      <p:sp>
        <p:nvSpPr>
          <p:cNvPr id="28" name="Text 23"/>
          <p:cNvSpPr txBox="1"/>
          <p:nvPr/>
        </p:nvSpPr>
        <p:spPr>
          <a:xfrm>
            <a:off x="405408" y="715788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29" name="Chart 1" descr=""/>
          <p:cNvGraphicFramePr/>
          <p:nvPr/>
        </p:nvGraphicFramePr>
        <p:xfrm>
          <a:off x="405408" y="7273379"/>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30" name="Text 24"/>
          <p:cNvSpPr txBox="1"/>
          <p:nvPr/>
        </p:nvSpPr>
        <p:spPr>
          <a:xfrm>
            <a:off x="405408" y="83122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vi-VN" sz="600" dirty="0"/>
          </a:p>
        </p:txBody>
      </p:sp>
      <p:sp>
        <p:nvSpPr>
          <p:cNvPr id="31" name="Text 25"/>
          <p:cNvSpPr txBox="1"/>
          <p:nvPr/>
        </p:nvSpPr>
        <p:spPr>
          <a:xfrm>
            <a:off x="405408" y="86088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vi-VN" sz="720" dirty="0"/>
          </a:p>
        </p:txBody>
      </p:sp>
      <p:sp>
        <p:nvSpPr>
          <p:cNvPr id="32" name="Text 26"/>
          <p:cNvSpPr txBox="1"/>
          <p:nvPr/>
        </p:nvSpPr>
        <p:spPr>
          <a:xfrm>
            <a:off x="405408" y="884589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CAPEX / doanh thu thuần</a:t>
            </a:r>
            <a:endParaRPr lang="vi-VN" sz="630" dirty="0"/>
          </a:p>
        </p:txBody>
      </p:sp>
      <p:graphicFrame>
        <p:nvGraphicFramePr>
          <p:cNvPr id="33" name="Chart 2" descr=""/>
          <p:cNvGraphicFramePr/>
          <p:nvPr/>
        </p:nvGraphicFramePr>
        <p:xfrm>
          <a:off x="405408" y="8961388"/>
          <a:ext cx="2159943" cy="922883"/>
        </p:xfrm>
        <a:graphic xmlns:a="http://schemas.openxmlformats.org/drawingml/2006/main">
          <a:graphicData uri="http://schemas.openxmlformats.org/drawingml/2006/chart">
            <c:chart xmlns:c="http://schemas.openxmlformats.org/drawingml/2006/chart" r:id="rId3"/>
          </a:graphicData>
        </a:graphic>
      </p:graphicFrame>
      <p:sp>
        <p:nvSpPr>
          <p:cNvPr id="34" name="Text 27"/>
          <p:cNvSpPr txBox="1"/>
          <p:nvPr/>
        </p:nvSpPr>
        <p:spPr>
          <a:xfrm>
            <a:off x="405408" y="990213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vi-VN" sz="600" dirty="0"/>
          </a:p>
        </p:txBody>
      </p:sp>
      <p:sp>
        <p:nvSpPr>
          <p:cNvPr id="35" name="Text 28"/>
          <p:cNvSpPr txBox="1"/>
          <p:nvPr/>
        </p:nvSpPr>
        <p:spPr>
          <a:xfrm>
            <a:off x="2745284" y="6889700"/>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giảm từ 51,8% năm 2026 xuống 44,8% năm 2028 (Fig. 43). Năm 2028 là năm đầu tiên nhà máy mới chạy: khấu hao tăng từ 5,3 lên 11,5 tỷ đồng trong khi công suất chưa được lấp đầy, và chi phí biến đổi lên 27% doanh thu do hao hụt trong giai đoạn chạy thử. Khi sản lượng tăng dần, biên gộp hồi lên 47,6% năm 2030. Biên EBITDA lại đi theo hướng khác, tăng đều từ 16,2% lên 20,2%, vì tiền thuê mặt bằng và tiền lương tăng chậm hơn doanh thu. Lợi nhuận sau thuế vì thế giảm còn 2,4 tỷ đồng năm 2028, năm mà khấu hao và lãi vay cùng lên cao nhất, rồi tăng lên 13,9 tỷ đồng năm 2030.</a:t>
            </a:r>
            <a:endParaRPr lang="vi-VN" sz="850" dirty="0"/>
          </a:p>
        </p:txBody>
      </p:sp>
      <p:sp>
        <p:nvSpPr>
          <p:cNvPr id="36" name="Text 29"/>
          <p:cNvSpPr txBox="1"/>
          <p:nvPr/>
        </p:nvSpPr>
        <p:spPr>
          <a:xfrm>
            <a:off x="2745284" y="7848302"/>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4.4. CAPEX và tỷ lệ tái đầu tư</a:t>
            </a:r>
            <a:endParaRPr lang="vi-VN" sz="900" dirty="0"/>
          </a:p>
        </p:txBody>
      </p:sp>
      <p:sp>
        <p:nvSpPr>
          <p:cNvPr id="37" name="Text 30"/>
          <p:cNvSpPr txBox="1"/>
          <p:nvPr/>
        </p:nvSpPr>
        <p:spPr>
          <a:xfrm>
            <a:off x="2745284" y="801766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doanh nghiệp đang tăng trưởng phải liên tục tái đầu tư. Nhóm đo mức tái đầu tư bằng tỷ lệ CAPEX trên doanh thu và đặt giả định cho từng năm (Fig. 44): 20% năm 2026 để mua thêm máy ép, xe tải và mở rộng kho, tương đương mức năm 2024; 65% năm 2027 theo yêu cầu của đề bài, dành cho hai dây chuyền ép khuôn – sấy, kho bã mía và phòng kiểm nghiệm; 12% năm 2028 cho phần hoàn thiện và chạy thử; và 10% trong hai năm 2029–2030.</a:t>
            </a:r>
            <a:endParaRPr lang="vi-VN" sz="850" dirty="0"/>
          </a:p>
        </p:txBody>
      </p:sp>
      <p:sp>
        <p:nvSpPr>
          <p:cNvPr id="38" name="Text 31"/>
          <p:cNvSpPr txBox="1"/>
          <p:nvPr/>
        </p:nvSpPr>
        <p:spPr>
          <a:xfrm>
            <a:off x="2745284" y="8713143"/>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kiểm tra mức 10% có hợp lý không, nhóm so sánh với 16 doanh nghiệp bao bì niêm yết. Tỷ lệ CAPEX/doanh thu bình quân 2023–2025 của nhóm này có trung vị 3,1% và tứ phân vị trên 8,3%, còn các doanh nghiệp đang mở rộng như AAA, APH (13,3% năm 2025) hay HHP (20–42%) cao hơn nhiều (Fig. A10). AgriPack cần tỷ lệ cao hơn trung vị ngành vì vẫn tăng trưởng 17–28% mỗi năm và có cường độ tài sản lớn hơn: khấu hao chiếm 8,7–10,4% doanh thu trong 2028–2030, so với 3,0% của ngành. Ở mức 10%, CAPEX chỉ cao hơn khấu hao khoảng 1,1 lần, tức vừa đủ để thay thế máy móc cũ và mở rộng thêm một phần. Sau năm 2030, phần lợi nhuận hoạt động sau thuế (NOPAT) phải giữ lại để tái đầu tư cho mức tăng trưởng 5% mỗi năm là 36,0%, bằng tốc độ tăng trưởng dài hạn chia cho ROIC năm 2030.</a:t>
            </a:r>
            <a:endParaRPr lang="vi-VN" sz="850" dirty="0"/>
          </a:p>
        </p:txBody>
      </p:sp>
      <p:sp>
        <p:nvSpPr>
          <p:cNvPr id="39" name="Text 3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12</a:t>
            </a:r>
            <a:endParaRPr lang="vi-VN"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3874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2712244"/>
            <a:ext cx="2159943" cy="0"/>
          </a:xfrm>
          <a:prstGeom prst="line">
            <a:avLst/>
          </a:prstGeom>
          <a:noFill/>
          <a:ln w="9525">
            <a:solidFill>
              <a:srgbClr val="7B1E2B"/>
            </a:solidFill>
            <a:prstDash val="solid"/>
          </a:ln>
        </p:spPr>
      </p:sp>
      <p:sp>
        <p:nvSpPr>
          <p:cNvPr id="6" name="Shape 4"/>
          <p:cNvSpPr/>
          <p:nvPr/>
        </p:nvSpPr>
        <p:spPr>
          <a:xfrm>
            <a:off x="2745284" y="2945457"/>
            <a:ext cx="4409182" cy="0"/>
          </a:xfrm>
          <a:prstGeom prst="line">
            <a:avLst/>
          </a:prstGeom>
          <a:noFill/>
          <a:ln w="9525">
            <a:solidFill>
              <a:srgbClr val="7B1E2B"/>
            </a:solidFill>
            <a:prstDash val="solid"/>
          </a:ln>
        </p:spPr>
      </p:sp>
      <p:sp>
        <p:nvSpPr>
          <p:cNvPr id="7" name="Shape 5"/>
          <p:cNvSpPr/>
          <p:nvPr/>
        </p:nvSpPr>
        <p:spPr>
          <a:xfrm>
            <a:off x="405408" y="6660207"/>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 bằng 65% doanh thu năm 2027 khiến FCFF âm ba năm liên tiếp</a:t>
            </a:r>
            <a:endParaRPr lang="vi-VN" sz="720" dirty="0"/>
          </a:p>
        </p:txBody>
      </p:sp>
      <p:sp>
        <p:nvSpPr>
          <p:cNvPr id="12" name="Text 10"/>
          <p:cNvSpPr txBox="1"/>
          <p:nvPr/>
        </p:nvSpPr>
        <p:spPr>
          <a:xfrm>
            <a:off x="405408" y="840581"/>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CAPEX và khấu hao (tỷ đồng)</a:t>
            </a:r>
            <a:endParaRPr lang="vi-VN" sz="640" dirty="0"/>
          </a:p>
        </p:txBody>
      </p:sp>
      <p:graphicFrame>
        <p:nvGraphicFramePr>
          <p:cNvPr id="13" name="Chart 0" descr=""/>
          <p:cNvGraphicFramePr/>
          <p:nvPr/>
        </p:nvGraphicFramePr>
        <p:xfrm>
          <a:off x="405408" y="946845"/>
          <a:ext cx="2159943" cy="765721"/>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05408" y="1726853"/>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FCFF (tỷ đồng; 2025A = CFO − CAPEX)</a:t>
            </a:r>
            <a:endParaRPr lang="vi-VN" sz="640" dirty="0"/>
          </a:p>
        </p:txBody>
      </p:sp>
      <p:graphicFrame>
        <p:nvGraphicFramePr>
          <p:cNvPr id="15" name="Chart 1" descr=""/>
          <p:cNvGraphicFramePr/>
          <p:nvPr/>
        </p:nvGraphicFramePr>
        <p:xfrm>
          <a:off x="405408" y="1833116"/>
          <a:ext cx="2159943" cy="687139"/>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txBox="1"/>
          <p:nvPr/>
        </p:nvSpPr>
        <p:spPr>
          <a:xfrm>
            <a:off x="405408" y="2538115"/>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Drivers)</a:t>
            </a:r>
            <a:endParaRPr lang="vi-VN" sz="600" dirty="0"/>
          </a:p>
        </p:txBody>
      </p:sp>
      <p:sp>
        <p:nvSpPr>
          <p:cNvPr id="17" name="Text 13"/>
          <p:cNvSpPr txBox="1"/>
          <p:nvPr/>
        </p:nvSpPr>
        <p:spPr>
          <a:xfrm>
            <a:off x="405408" y="2743369"/>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ROIC giảm về 5% năm 2028, đến 2030 vẫn chỉ xấp xỉ WACC</a:t>
            </a:r>
            <a:endParaRPr lang="vi-VN" sz="720" dirty="0"/>
          </a:p>
        </p:txBody>
      </p:sp>
      <p:sp>
        <p:nvSpPr>
          <p:cNvPr id="18" name="Text 14"/>
          <p:cNvSpPr txBox="1"/>
          <p:nvPr/>
        </p:nvSpPr>
        <p:spPr>
          <a:xfrm>
            <a:off x="405408" y="298043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a:t>
            </a:r>
            <a:endParaRPr lang="vi-VN" sz="630" dirty="0"/>
          </a:p>
        </p:txBody>
      </p:sp>
      <p:graphicFrame>
        <p:nvGraphicFramePr>
          <p:cNvPr id="19" name="Chart 2" descr=""/>
          <p:cNvGraphicFramePr/>
          <p:nvPr/>
        </p:nvGraphicFramePr>
        <p:xfrm>
          <a:off x="405408" y="3095923"/>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20" name="Text 15"/>
          <p:cNvSpPr txBox="1"/>
          <p:nvPr/>
        </p:nvSpPr>
        <p:spPr>
          <a:xfrm>
            <a:off x="405408" y="389914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a:t>
            </a:r>
            <a:endParaRPr lang="vi-VN" sz="600" dirty="0"/>
          </a:p>
        </p:txBody>
      </p:sp>
      <p:sp>
        <p:nvSpPr>
          <p:cNvPr id="21" name="Text 16"/>
          <p:cNvSpPr txBox="1"/>
          <p:nvPr/>
        </p:nvSpPr>
        <p:spPr>
          <a:xfrm>
            <a:off x="2745284" y="55810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quả là dòng tiền tự do của doanh nghiệp (FCFF) âm 4,9 tỷ đồng năm 2026, âm 42,6 tỷ đồng năm 2027 và âm 3,7 tỷ đồng năm 2028, rồi mới dương từ năm 2029 và đạt 8,7 tỷ đồng năm 2030 (Fig. 45). Cộng cả giai đoạn 2026–2030, FCFF âm 38,9 tỷ đồng, đúng với lưu ý của đề bài rằng startup hiếm khi có dòng tiền tự do dương ở giai đoạn đầu.</a:t>
            </a:r>
            <a:endParaRPr lang="vi-VN" sz="850" dirty="0"/>
          </a:p>
        </p:txBody>
      </p:sp>
      <p:sp>
        <p:nvSpPr>
          <p:cNvPr id="22" name="Text 17"/>
          <p:cNvSpPr txBox="1"/>
          <p:nvPr/>
        </p:nvSpPr>
        <p:spPr>
          <a:xfrm>
            <a:off x="2745284" y="112201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4.5. Vốn lưu động, bảng cân đối, dòng tiền và hiệu quả sử dụng vốn</a:t>
            </a:r>
            <a:endParaRPr lang="vi-VN" sz="900" dirty="0"/>
          </a:p>
        </p:txBody>
      </p:sp>
      <p:sp>
        <p:nvSpPr>
          <p:cNvPr id="23" name="Text 18"/>
          <p:cNvSpPr txBox="1"/>
          <p:nvPr/>
        </p:nvSpPr>
        <p:spPr>
          <a:xfrm>
            <a:off x="2745284" y="1291382"/>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Vốn lưu động.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Tồn kho được giữ ở mức 95–105 ngày vì AgriPack phải tích trữ bã mía trong mùa ép, từ tháng 11 đến tháng 4 năm sau. Kỳ thu tiền kéo dài từ 14 lên 30 ngày khi khách hàng chuyển dần sang các chuỗi F&amp;B, doanh nghiệp FMCG và doanh nghiệp FDI, vốn thường đòi thời hạn thanh toán dài hơn; kỳ trả tiền cho nhà cung cấp tăng lên 15 ngày. Kết quả là vốn lưu động tăng từ 15% lên 18% doanh thu và giữ lại khoảng 24 tỷ đồng tiền mặt trong 5 năm.</a:t>
            </a:r>
            <a:endParaRPr lang="vi-VN" sz="850" dirty="0"/>
          </a:p>
        </p:txBody>
      </p:sp>
      <p:sp>
        <p:nvSpPr>
          <p:cNvPr id="24" name="Text 19"/>
          <p:cNvSpPr txBox="1"/>
          <p:nvPr/>
        </p:nvSpPr>
        <p:spPr>
          <a:xfrm>
            <a:off x="2745284" y="1986855"/>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Nguồn tài trợ.</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Phần thiếu hụt tiền được bù bằng 37,6 tỷ đồng vốn cổ phần gọi đầu năm 2026 và 31,1 tỷ đồng vay trung hạn năm 2027, tương đương 60% CAPEX của nhà máy (Fig. 46; báo cáo tài chính dự phóng đầy đủ ở Fig. A06–A08). Số vốn cổ phần này cũng chính là số tiền nhà đầu tư cần bỏ ra trong VC Method (Mục 5.4); kế hoạch huy động chi tiết thuộc Mục 6. Tổng tài sản tăng từ 31,9 lên 127,6 tỷ đồng; dòng tiền từ hoạt động kinh doanh tăng từ 7,7 lên 23,8 tỷ đồng nhưng chỉ vượt CAPEX từ năm 2029. Nợ vay lên tới 41% vốn chủ sở hữu năm 2027 rồi giảm dần khi doanh nghiệp bắt đầu trả gốc từ năm 2029.</a:t>
            </a:r>
            <a:endParaRPr lang="vi-VN" sz="850" dirty="0"/>
          </a:p>
        </p:txBody>
      </p:sp>
      <p:sp>
        <p:nvSpPr>
          <p:cNvPr id="25" name="Text 20"/>
          <p:cNvSpPr txBox="1"/>
          <p:nvPr/>
        </p:nvSpPr>
        <p:spPr>
          <a:xfrm>
            <a:off x="2745284" y="2976582"/>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cổ phần năm 2026 và khoản vay năm 2027 tài trợ nhà máy; tiền mặt luôn dương</a:t>
            </a:r>
            <a:endParaRPr lang="vi-VN" sz="720" dirty="0"/>
          </a:p>
        </p:txBody>
      </p:sp>
      <p:sp>
        <p:nvSpPr>
          <p:cNvPr id="26" name="Text 21"/>
          <p:cNvSpPr txBox="1"/>
          <p:nvPr/>
        </p:nvSpPr>
        <p:spPr>
          <a:xfrm>
            <a:off x="2745284" y="3104108"/>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5284" y="3219599"/>
          <a:ext cx="4409182" cy="914400"/>
        </p:xfrm>
        <a:graphic>
          <a:graphicData uri="http://schemas.openxmlformats.org/drawingml/2006/table">
            <a:tbl>
              <a:tblPr/>
              <a:tblGrid>
                <a:gridCol w="1234529"/>
                <a:gridCol w="529084"/>
                <a:gridCol w="529084"/>
                <a:gridCol w="529084"/>
                <a:gridCol w="529084"/>
                <a:gridCol w="529084"/>
                <a:gridCol w="52923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48828">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Bảng cân đối (cuối kỳ)</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Tiền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Phải thu khách hàng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Hàng tồn kho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Tài sản dài hạn ròng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79,8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Tổng tài sản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31,9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76,4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113,6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127,6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 (ngắn +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82,4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105,0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Nợ vay / VCSH</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591">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Lưu chuyển tiền tệ</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CFO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15,4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CAPEX</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góp cổ phần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Vay (trả) nợ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8" name="Text 22"/>
          <p:cNvSpPr txBox="1"/>
          <p:nvPr/>
        </p:nvSpPr>
        <p:spPr>
          <a:xfrm>
            <a:off x="2745284" y="5343079"/>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vi-VN" sz="600" dirty="0"/>
          </a:p>
        </p:txBody>
      </p:sp>
      <p:sp>
        <p:nvSpPr>
          <p:cNvPr id="29" name="Text 23"/>
          <p:cNvSpPr txBox="1"/>
          <p:nvPr/>
        </p:nvSpPr>
        <p:spPr>
          <a:xfrm>
            <a:off x="2745284" y="5517207"/>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Hiệu quả sử dụng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Tỷ suất sinh lời trên vốn đầu tư (ROIC) giảm từ 16,7% năm 2026 xuống 5,1% năm 2028, vì nhà máy mới đã đưa vào sử dụng nhưng công suất chưa được khai thác hết: mỗi đồng nguyên giá tài sản cố định chỉ tạo ra 1,08 đồng doanh thu, so với 1,66 đồng năm 2025. Đến năm 2030, ROIC (13,9%) vẫn thấp hơn một chút so với WACC 14,1% (Fig. 47). Nói cách khác, khoản đầu tư năm 2027 chỉ vừa bù được chi phí vốn trong 5 năm dự phóng; giá trị của nó nằm ở giai đoạn tăng trưởng sau năm 2030.</a:t>
            </a:r>
            <a:endParaRPr lang="vi-VN" sz="850" dirty="0"/>
          </a:p>
        </p:txBody>
      </p:sp>
      <p:sp>
        <p:nvSpPr>
          <p:cNvPr id="30" name="Text 24"/>
          <p:cNvSpPr txBox="1"/>
          <p:nvPr/>
        </p:nvSpPr>
        <p:spPr>
          <a:xfrm>
            <a:off x="484608" y="64198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5. ĐỊNH GIÁ</a:t>
            </a:r>
            <a:endParaRPr lang="vi-VN" sz="880" dirty="0"/>
          </a:p>
        </p:txBody>
      </p:sp>
      <p:sp>
        <p:nvSpPr>
          <p:cNvPr id="31" name="Text 25"/>
          <p:cNvSpPr txBox="1"/>
          <p:nvPr/>
        </p:nvSpPr>
        <p:spPr>
          <a:xfrm>
            <a:off x="405408" y="669133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WACC 14,1%: lãi suất phi rủi ro là lợi suất TPCP 10 năm hiện hành, beta tổng 1,48</a:t>
            </a:r>
            <a:endParaRPr lang="vi-VN" sz="72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05408" y="6942683"/>
          <a:ext cx="2159943" cy="914400"/>
        </p:xfrm>
        <a:graphic>
          <a:graphicData uri="http://schemas.openxmlformats.org/drawingml/2006/table">
            <a:tbl>
              <a:tblPr/>
              <a:tblGrid>
                <a:gridCol w="1511945"/>
                <a:gridCol w="64799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Thành phần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Rf – TPCP 10 năm, ngày 01/10/2026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ERP thị trường phát triển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CRP Việt Nam (ước tính)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ERP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8,13%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βu ngành bao bì (Damodaran)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D/E mục tiêu (2027E)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 có đòn bẩy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ρ (đa dạng hóa một phần)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Total beta</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Ke = Rf + β × ERP</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Kd trước / sau thuế</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 / 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trọng E / 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71% / 29%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33" name="Text 26"/>
          <p:cNvSpPr txBox="1"/>
          <p:nvPr/>
        </p:nvSpPr>
        <p:spPr>
          <a:xfrm>
            <a:off x="405408" y="883488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(Discount rate: nguồn ghi ở cột C cạnh từng giả định); chi tiết ở Fig. A11, A12</a:t>
            </a:r>
            <a:endParaRPr lang="vi-VN" sz="600" dirty="0"/>
          </a:p>
        </p:txBody>
      </p:sp>
      <p:sp>
        <p:nvSpPr>
          <p:cNvPr id="34" name="Text 27"/>
          <p:cNvSpPr txBox="1"/>
          <p:nvPr/>
        </p:nvSpPr>
        <p:spPr>
          <a:xfrm>
            <a:off x="2745284" y="66744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5.1. Lựa chọn phương pháp</a:t>
            </a:r>
            <a:endParaRPr lang="vi-VN" sz="900" dirty="0"/>
          </a:p>
        </p:txBody>
      </p:sp>
      <p:sp>
        <p:nvSpPr>
          <p:cNvPr id="35" name="Text 28"/>
          <p:cNvSpPr txBox="1"/>
          <p:nvPr/>
        </p:nvSpPr>
        <p:spPr>
          <a:xfrm>
            <a:off x="2745284" y="6843861"/>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dùng cả ba phương pháp mà đề bài cho phép, vì mỗi phương pháp trả lời một câu hỏi khác nhau.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(chiết khấu dòng tiền tự do của doanh nghiệp) phù hợp vì AgriPack đã có ba năm doanh thu, EBITDA đã dương và có kế hoạch đầu tư cụ thể; phương pháp này cho biết doanh nghiệp đáng giá bao nhiêu nếu hoạt động đúng như dự phóng.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nhìn từ phía nhà đầu tư mạo hiểm: bắt đầu từ giá trị có thể bán lại vào năm 2030, rồi chiết khấu về hiện tại bằng một tỷ suất đã tính đến khả năng thất bại.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(so sánh bội số) neo kết quả vào mức giá mà thị trường đang trả cho 14 doanh nghiệp bao bì niêm yết.</a:t>
            </a:r>
            <a:endParaRPr lang="vi-VN" sz="850" dirty="0"/>
          </a:p>
        </p:txBody>
      </p:sp>
      <p:sp>
        <p:nvSpPr>
          <p:cNvPr id="36" name="Text 29"/>
          <p:cNvSpPr txBox="1"/>
          <p:nvPr/>
        </p:nvSpPr>
        <p:spPr>
          <a:xfrm>
            <a:off x="2745284" y="7802463"/>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đặt trọng số 40% cho DCF, 40% cho VC Method và 20% cho Multiples. Multiples có trọng số thấp nhất vì các doanh nghiệp so sánh đều lớn và đã trưởng thành, còn bội số áp lên số liệu năm 2025 chỉ phản ánh quy mô hiện tại của AgriPack (ưu, nhược điểm của từng phương pháp ở Mục 5.6).</a:t>
            </a:r>
            <a:endParaRPr lang="vi-VN" sz="850" dirty="0"/>
          </a:p>
        </p:txBody>
      </p:sp>
      <p:sp>
        <p:nvSpPr>
          <p:cNvPr id="37" name="Text 30"/>
          <p:cNvSpPr txBox="1"/>
          <p:nvPr/>
        </p:nvSpPr>
        <p:spPr>
          <a:xfrm>
            <a:off x="2745284" y="836637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5.2. Chi phí vốn</a:t>
            </a:r>
            <a:endParaRPr lang="vi-VN" sz="900" dirty="0"/>
          </a:p>
        </p:txBody>
      </p:sp>
      <p:sp>
        <p:nvSpPr>
          <p:cNvPr id="38" name="Text 31"/>
          <p:cNvSpPr txBox="1"/>
          <p:nvPr/>
        </p:nvSpPr>
        <p:spPr>
          <a:xfrm>
            <a:off x="2745284" y="853573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WACC của AgriPack là 14,1% (Fig. 48). Lãi suất phi rủi ro được lấy bằng lợi suất trái phiếu Chính phủ kỳ hạn 10 năm tại ngày 01/10/2026, tức 4,588%, sát thời điểm lập báo cáo, để chi phí vốn phản ánh mặt bằng lãi suất mà nhà đầu tư đang đòi hỏi. Mức này cao hơn bình quân 3,92% của giai đoạn 2016–2025; lợi suất trong giai đoạn đó dao động mạnh, từ 2,1% năm 2021 đến 6,9% năm 2016 (Fig. A12), nên ảnh hưởng của Rf được kiểm tra riêng trong độ nhạy (Rf và Kd ±1 điểm %, Fig. 38).</a:t>
            </a:r>
            <a:endParaRPr lang="vi-VN" sz="850" dirty="0"/>
          </a:p>
        </p:txBody>
      </p:sp>
      <p:sp>
        <p:nvSpPr>
          <p:cNvPr id="39" name="Text 32"/>
          <p:cNvSpPr txBox="1"/>
          <p:nvPr/>
        </p:nvSpPr>
        <p:spPr>
          <a:xfrm>
            <a:off x="2745284" y="923121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Phần bù rủi ro vốn cổ phần của Việt Nam là 8,13%, gồm 4,23% của thị trường phát triển và 3,9% phần bù rủi ro quốc gia. Beta không đòn bẩy của ngành bao bì là 0,78 theo số liệu của Damodaran; sau khi điều chỉnh theo cơ cấu vốn mục tiêu năm 2027 (nợ vay bằng 41% vốn chủ sở hữu), beta có đòn bẩy là 1,04. Vì nhà đầu tư mạo hiểm chỉ đa dạng hóa được một phần danh mục, beta này được chia cho hệ số tương quan 0,7 để ra beta tổng 1,48, từ đó chi phí vốn chủ sở hữu là 16,6%. Chi phí nợ trước thuế là 10%. Rủi ro thất bại của startup không được cộng thêm vào WACC mà được xử lý riêng trong VC Method, để không bị tính hai lần.</a:t>
            </a:r>
            <a:endParaRPr lang="vi-VN" sz="850" dirty="0"/>
          </a:p>
        </p:txBody>
      </p:sp>
      <p:sp>
        <p:nvSpPr>
          <p:cNvPr id="40" name="Text 3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1" name="Text 3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13</a:t>
            </a:r>
            <a:endParaRPr lang="vi-VN"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15443"/>
            <a:ext cx="2159943" cy="0"/>
          </a:xfrm>
          <a:prstGeom prst="line">
            <a:avLst/>
          </a:prstGeom>
          <a:noFill/>
          <a:ln w="9525">
            <a:solidFill>
              <a:srgbClr val="7B1E2B"/>
            </a:solidFill>
            <a:prstDash val="solid"/>
          </a:ln>
        </p:spPr>
      </p:sp>
      <p:sp>
        <p:nvSpPr>
          <p:cNvPr id="5" name="Shape 3"/>
          <p:cNvSpPr/>
          <p:nvPr/>
        </p:nvSpPr>
        <p:spPr>
          <a:xfrm>
            <a:off x="405408" y="4011513"/>
            <a:ext cx="2159943" cy="0"/>
          </a:xfrm>
          <a:prstGeom prst="line">
            <a:avLst/>
          </a:prstGeom>
          <a:noFill/>
          <a:ln w="9525">
            <a:solidFill>
              <a:srgbClr val="7B1E2B"/>
            </a:solidFill>
            <a:prstDash val="solid"/>
          </a:ln>
        </p:spPr>
      </p:sp>
      <p:sp>
        <p:nvSpPr>
          <p:cNvPr id="6" name="Shape 4"/>
          <p:cNvSpPr/>
          <p:nvPr/>
        </p:nvSpPr>
        <p:spPr>
          <a:xfrm>
            <a:off x="405408" y="5529560"/>
            <a:ext cx="2159943" cy="0"/>
          </a:xfrm>
          <a:prstGeom prst="line">
            <a:avLst/>
          </a:prstGeom>
          <a:noFill/>
          <a:ln w="9525">
            <a:solidFill>
              <a:srgbClr val="7B1E2B"/>
            </a:solidFill>
            <a:prstDash val="solid"/>
          </a:ln>
        </p:spPr>
      </p:sp>
      <p:sp>
        <p:nvSpPr>
          <p:cNvPr id="7" name="Shape 5"/>
          <p:cNvSpPr/>
          <p:nvPr/>
        </p:nvSpPr>
        <p:spPr>
          <a:xfrm>
            <a:off x="405408" y="7692777"/>
            <a:ext cx="2159943" cy="0"/>
          </a:xfrm>
          <a:prstGeom prst="line">
            <a:avLst/>
          </a:prstGeom>
          <a:noFill/>
          <a:ln w="9525">
            <a:solidFill>
              <a:srgbClr val="7B1E2B"/>
            </a:solidFill>
            <a:prstDash val="solid"/>
          </a:ln>
        </p:spPr>
      </p:sp>
      <p:sp>
        <p:nvSpPr>
          <p:cNvPr id="8" name="Shape 6"/>
          <p:cNvSpPr/>
          <p:nvPr/>
        </p:nvSpPr>
        <p:spPr>
          <a:xfrm>
            <a:off x="2745284" y="2828181"/>
            <a:ext cx="4409182" cy="0"/>
          </a:xfrm>
          <a:prstGeom prst="line">
            <a:avLst/>
          </a:prstGeom>
          <a:noFill/>
          <a:ln w="9525">
            <a:solidFill>
              <a:srgbClr val="7B1E2B"/>
            </a:solidFill>
            <a:prstDash val="solid"/>
          </a:ln>
        </p:spPr>
      </p:sp>
      <p:sp>
        <p:nvSpPr>
          <p:cNvPr id="9" name="Shape 7"/>
          <p:cNvSpPr/>
          <p:nvPr/>
        </p:nvSpPr>
        <p:spPr>
          <a:xfrm>
            <a:off x="2745284" y="7447955"/>
            <a:ext cx="4409182" cy="0"/>
          </a:xfrm>
          <a:prstGeom prst="line">
            <a:avLst/>
          </a:prstGeom>
          <a:noFill/>
          <a:ln w="9525">
            <a:solidFill>
              <a:srgbClr val="7B1E2B"/>
            </a:solidFill>
            <a:prstDash val="solid"/>
          </a:ln>
        </p:spPr>
      </p:sp>
      <p:sp>
        <p:nvSpPr>
          <p:cNvPr id="10" name="Shape 8"/>
          <p:cNvSpPr/>
          <p:nvPr/>
        </p:nvSpPr>
        <p:spPr>
          <a:xfrm>
            <a:off x="405408" y="10364688"/>
            <a:ext cx="6749058" cy="0"/>
          </a:xfrm>
          <a:prstGeom prst="line">
            <a:avLst/>
          </a:prstGeom>
          <a:noFill/>
          <a:ln w="9525">
            <a:solidFill>
              <a:srgbClr val="BFBFBF"/>
            </a:solidFill>
            <a:prstDash val="solid"/>
          </a:ln>
        </p:spPr>
      </p:sp>
      <p:sp>
        <p:nvSpPr>
          <p:cNvPr id="11" name="Text 9"/>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2" name="Text 10"/>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3" name="Text 11"/>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trị cuối kỳ lớn hơn toàn bộ EV vì FCFF 2026–2028 âm</a:t>
            </a:r>
            <a:endParaRPr lang="vi-VN" sz="720" dirty="0"/>
          </a:p>
        </p:txBody>
      </p:sp>
      <p:sp>
        <p:nvSpPr>
          <p:cNvPr id="14" name="Text 12"/>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Chart 0" descr=""/>
          <p:cNvGraphicFramePr/>
          <p:nvPr/>
        </p:nvGraphicFramePr>
        <p:xfrm>
          <a:off x="405408" y="941784"/>
          <a:ext cx="2159943" cy="98167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405408" y="194131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a:t>
            </a:r>
            <a:endParaRPr lang="vi-VN" sz="600" dirty="0"/>
          </a:p>
        </p:txBody>
      </p:sp>
      <p:sp>
        <p:nvSpPr>
          <p:cNvPr id="17" name="Text 14"/>
          <p:cNvSpPr txBox="1"/>
          <p:nvPr/>
        </p:nvSpPr>
        <p:spPr>
          <a:xfrm>
            <a:off x="405408" y="214656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VC Method: pre-money 24,0 tỷ đồng</a:t>
            </a:r>
            <a:endParaRPr lang="vi-VN" sz="720" dirty="0"/>
          </a:p>
        </p:txBody>
      </p:sp>
      <p:sp>
        <p:nvSpPr>
          <p:cNvPr id="18" name="Text 15"/>
          <p:cNvSpPr txBox="1"/>
          <p:nvPr/>
        </p:nvSpPr>
        <p:spPr>
          <a:xfrm>
            <a:off x="405408" y="22740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5408" y="2389584"/>
          <a:ext cx="2159943" cy="914400"/>
        </p:xfrm>
        <a:graphic>
          <a:graphicData uri="http://schemas.openxmlformats.org/drawingml/2006/table">
            <a:tbl>
              <a:tblPr/>
              <a:tblGrid>
                <a:gridCol w="1598265"/>
                <a:gridCol w="56167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Bước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 × P/E 9,4 lần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EBITDA 2030E × EV/EBITDA 8,0 lần + tiền − nợ</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267,2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thoái vốn 2030 (bình quân)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198,7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(BTL: đầu tăng trưởng)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 r</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 = (1 + r)/(1 − z)</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1/5</a:t>
                      </a:r>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− 1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Post-money = giá trị thoái vốn/(1 + p)</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20" name="Text 16"/>
          <p:cNvSpPr txBox="1"/>
          <p:nvPr/>
        </p:nvSpPr>
        <p:spPr>
          <a:xfrm>
            <a:off x="405408" y="374600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vi-VN" sz="600" dirty="0"/>
          </a:p>
        </p:txBody>
      </p:sp>
      <p:sp>
        <p:nvSpPr>
          <p:cNvPr id="21" name="Text 17"/>
          <p:cNvSpPr txBox="1"/>
          <p:nvPr/>
        </p:nvSpPr>
        <p:spPr>
          <a:xfrm>
            <a:off x="405408" y="404263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Chiết khấu theo tỷ suất p = 26,4% làm giá trị thoái vốn giảm còn khoảng một phần ba</a:t>
            </a:r>
            <a:endParaRPr lang="vi-VN" sz="720" dirty="0"/>
          </a:p>
        </p:txBody>
      </p:sp>
      <p:sp>
        <p:nvSpPr>
          <p:cNvPr id="22" name="Text 18"/>
          <p:cNvSpPr txBox="1"/>
          <p:nvPr/>
        </p:nvSpPr>
        <p:spPr>
          <a:xfrm>
            <a:off x="405408" y="427970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3" name="Chart 1" descr=""/>
          <p:cNvGraphicFramePr/>
          <p:nvPr/>
        </p:nvGraphicFramePr>
        <p:xfrm>
          <a:off x="405408" y="4395192"/>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24" name="Text 19"/>
          <p:cNvSpPr txBox="1"/>
          <p:nvPr/>
        </p:nvSpPr>
        <p:spPr>
          <a:xfrm>
            <a:off x="405408" y="535543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p = (1 + r)/(1 − z)^(1/n) − 1</a:t>
            </a:r>
            <a:endParaRPr lang="vi-VN" sz="600" dirty="0"/>
          </a:p>
        </p:txBody>
      </p:sp>
      <p:sp>
        <p:nvSpPr>
          <p:cNvPr id="25" name="Text 20"/>
          <p:cNvSpPr txBox="1"/>
          <p:nvPr/>
        </p:nvSpPr>
        <p:spPr>
          <a:xfrm>
            <a:off x="405408" y="556068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vi-VN" sz="720" dirty="0"/>
          </a:p>
        </p:txBody>
      </p:sp>
      <p:sp>
        <p:nvSpPr>
          <p:cNvPr id="26" name="Text 21"/>
          <p:cNvSpPr txBox="1"/>
          <p:nvPr/>
        </p:nvSpPr>
        <p:spPr>
          <a:xfrm>
            <a:off x="405408" y="579774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 (4 quý gần nhất)</a:t>
            </a:r>
            <a:endParaRPr lang="vi-VN" sz="630" dirty="0"/>
          </a:p>
        </p:txBody>
      </p:sp>
      <p:graphicFrame>
        <p:nvGraphicFramePr>
          <p:cNvPr id="27" name="Chart 2" descr=""/>
          <p:cNvGraphicFramePr/>
          <p:nvPr/>
        </p:nvGraphicFramePr>
        <p:xfrm>
          <a:off x="405408" y="5913239"/>
          <a:ext cx="2159943" cy="1496169"/>
        </p:xfrm>
        <a:graphic xmlns:a="http://schemas.openxmlformats.org/drawingml/2006/main">
          <a:graphicData uri="http://schemas.openxmlformats.org/drawingml/2006/chart">
            <c:chart xmlns:c="http://schemas.openxmlformats.org/drawingml/2006/chart" r:id="rId3"/>
          </a:graphicData>
        </a:graphic>
      </p:graphicFrame>
      <p:sp>
        <p:nvSpPr>
          <p:cNvPr id="28" name="Text 22"/>
          <p:cNvSpPr txBox="1"/>
          <p:nvPr/>
        </p:nvSpPr>
        <p:spPr>
          <a:xfrm>
            <a:off x="405408" y="742726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vi-VN" sz="600" dirty="0"/>
          </a:p>
        </p:txBody>
      </p:sp>
      <p:sp>
        <p:nvSpPr>
          <p:cNvPr id="29" name="Text 23"/>
          <p:cNvSpPr txBox="1"/>
          <p:nvPr/>
        </p:nvSpPr>
        <p:spPr>
          <a:xfrm>
            <a:off x="405408" y="77239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Ba phương pháp hội tụ quanh 23–28 tỷ khi cùng tính rủi ro thất bại</a:t>
            </a:r>
            <a:endParaRPr lang="vi-VN" sz="720" dirty="0"/>
          </a:p>
        </p:txBody>
      </p:sp>
      <p:sp>
        <p:nvSpPr>
          <p:cNvPr id="30" name="Text 24"/>
          <p:cNvSpPr txBox="1"/>
          <p:nvPr/>
        </p:nvSpPr>
        <p:spPr>
          <a:xfrm>
            <a:off x="405408" y="79609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31" name="Chart 3" descr=""/>
          <p:cNvGraphicFramePr/>
          <p:nvPr/>
        </p:nvGraphicFramePr>
        <p:xfrm>
          <a:off x="405408" y="8076456"/>
          <a:ext cx="2159943" cy="814834"/>
        </p:xfrm>
        <a:graphic xmlns:a="http://schemas.openxmlformats.org/drawingml/2006/main">
          <a:graphicData uri="http://schemas.openxmlformats.org/drawingml/2006/chart">
            <c:chart xmlns:c="http://schemas.openxmlformats.org/drawingml/2006/chart" r:id="rId4"/>
          </a:graphicData>
        </a:graphic>
      </p:graphicFrame>
      <p:sp>
        <p:nvSpPr>
          <p:cNvPr id="32" name="Text 25"/>
          <p:cNvSpPr txBox="1"/>
          <p:nvPr/>
        </p:nvSpPr>
        <p:spPr>
          <a:xfrm>
            <a:off x="405408" y="89091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a:t>
            </a:r>
            <a:endParaRPr lang="vi-VN" sz="600" dirty="0"/>
          </a:p>
        </p:txBody>
      </p:sp>
      <p:sp>
        <p:nvSpPr>
          <p:cNvPr id="33" name="Text 26"/>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5.3. DCF</a:t>
            </a:r>
            <a:endParaRPr lang="vi-VN" sz="900" dirty="0"/>
          </a:p>
        </p:txBody>
      </p:sp>
      <p:sp>
        <p:nvSpPr>
          <p:cNvPr id="34" name="Text 27"/>
          <p:cNvSpPr txBox="1"/>
          <p:nvPr/>
        </p:nvSpPr>
        <p:spPr>
          <a:xfrm>
            <a:off x="2745284" y="74175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DCF cho giá trị vốn chủ sở hữu trước khi gọi vốn (pre-money) là 28,4 tỷ đồng (Fig. 49, Fig. 50). Hiện giá của FCFF 2026–2030 âm 32,9 tỷ đồng do khoản đầu tư nhà máy năm 2027, nên toàn bộ giá trị đến từ giá trị cuối kỳ: 115,9 tỷ đồng tại năm 2030, tương đương 59,9 tỷ đồng hiện giá, lớn gấp hơn hai lần giá trị doanh nghiệp (222% EV).</a:t>
            </a:r>
            <a:endParaRPr lang="vi-VN" sz="850" dirty="0"/>
          </a:p>
        </p:txBody>
      </p:sp>
      <p:sp>
        <p:nvSpPr>
          <p:cNvPr id="35" name="Text 28"/>
          <p:cNvSpPr txBox="1"/>
          <p:nvPr/>
        </p:nvSpPr>
        <p:spPr>
          <a:xfrm>
            <a:off x="2745284" y="130566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Giá trị cuối kỳ được tính đúng theo công thức của file mẫu, bằng FCFF năm 2031 chia cho (WACC − g), với g = 5% (lạm phát mục tiêu cộng tăng trưởng thực thấp). Điểm khác duy nhất là FCFF năm 2031 được chuẩn hóa: lợi nhuận hoạt động sau thuế năm 2031 chỉ giữ lại phần tái đầu tư vừa đủ cho mức tăng 5%, tính bằng g chia cho ROIC năm 2030 (13,9%). Nếu lấy thẳng FCFF năm 2030 nhân (1 + g), mô hình sẽ vĩnh viễn hóa mức CAPEX của giai đoạn tăng 20% mỗi năm trong khi chỉ ghi nhận tăng trưởng 5%, và giá trị cuối kỳ sẽ thấp hơn khoảng 14%.</a:t>
            </a:r>
            <a:endParaRPr lang="vi-VN" sz="850" dirty="0"/>
          </a:p>
        </p:txBody>
      </p:sp>
      <p:sp>
        <p:nvSpPr>
          <p:cNvPr id="36" name="Text 29"/>
          <p:cNvSpPr txBox="1"/>
          <p:nvPr/>
        </p:nvSpPr>
        <p:spPr>
          <a:xfrm>
            <a:off x="2745284" y="213270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Vì ROIC năm 2030 (13,9%) thấp hơn WACC một chút, tăng trưởng sau năm 2030 gần như không tạo thêm giá trị; đây là một giả định thận trọng. Khi WACC và g cùng thay đổi 1 điểm %, giá trị DCF nằm trong khoảng 20,2–39,9 tỷ đồng (Fig. A14). Kết quả tương đương EV/EBITDA năm 2025 khoảng 3,5 lần, thấp hơn trung vị 4,6 lần của ngành: DCF gần như không trả thêm cho tăng trưởng, vì khoản đầu tư năm 2027 chỉ vừa bù được chi phí vốn.</a:t>
            </a:r>
            <a:endParaRPr lang="vi-VN" sz="850" dirty="0"/>
          </a:p>
        </p:txBody>
      </p:sp>
      <p:sp>
        <p:nvSpPr>
          <p:cNvPr id="37" name="Text 30"/>
          <p:cNvSpPr txBox="1"/>
          <p:nvPr/>
        </p:nvSpPr>
        <p:spPr>
          <a:xfrm>
            <a:off x="2745284" y="2859306"/>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vi-VN" sz="720" dirty="0"/>
          </a:p>
        </p:txBody>
      </p:sp>
      <p:sp>
        <p:nvSpPr>
          <p:cNvPr id="38" name="Text 31"/>
          <p:cNvSpPr txBox="1"/>
          <p:nvPr/>
        </p:nvSpPr>
        <p:spPr>
          <a:xfrm>
            <a:off x="2745284" y="298683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2745284" y="3102322"/>
          <a:ext cx="4409182" cy="914400"/>
        </p:xfrm>
        <a:graphic>
          <a:graphicData uri="http://schemas.openxmlformats.org/drawingml/2006/table">
            <a:tbl>
              <a:tblPr/>
              <a:tblGrid>
                <a:gridCol w="1234529"/>
                <a:gridCol w="529084"/>
                <a:gridCol w="529084"/>
                <a:gridCol w="529084"/>
                <a:gridCol w="529084"/>
                <a:gridCol w="529084"/>
                <a:gridCol w="529233"/>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TV</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NOPAT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Khấu hao</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Tăng vốn lưu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CAPEX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(51,8)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FCFF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115,9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Hệ số chiết khấu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0,876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0,590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hiện tại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59,9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0" name="Text 32"/>
          <p:cNvSpPr txBox="1"/>
          <p:nvPr/>
        </p:nvSpPr>
        <p:spPr>
          <a:xfrm>
            <a:off x="2745284" y="4190851"/>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Discount rate); chiết khấu cuối năm, t0 = 01/01/2026; cột "Cuối kỳ" = giá trị cuối kỳ tại 2030</a:t>
            </a:r>
            <a:endParaRPr lang="vi-VN" sz="600" dirty="0"/>
          </a:p>
        </p:txBody>
      </p:sp>
      <p:sp>
        <p:nvSpPr>
          <p:cNvPr id="41" name="Text 33"/>
          <p:cNvSpPr txBox="1"/>
          <p:nvPr/>
        </p:nvSpPr>
        <p:spPr>
          <a:xfrm>
            <a:off x="2745284" y="436498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5.4. VC Method</a:t>
            </a:r>
            <a:endParaRPr lang="vi-VN" sz="900" dirty="0"/>
          </a:p>
        </p:txBody>
      </p:sp>
      <p:sp>
        <p:nvSpPr>
          <p:cNvPr id="42" name="Text 34"/>
          <p:cNvSpPr txBox="1"/>
          <p:nvPr/>
        </p:nvSpPr>
        <p:spPr>
          <a:xfrm>
            <a:off x="2745284" y="453434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VC Method cho pre-money 24,0 tỷ đồng (Fig. 51, Fig. 52). Nhóm ước tính giá trị doanh nghiệp khi nhà đầu tư thoái vốn cuối năm 2030 bằng hai cách rồi lấy bình quân: nhân lợi nhuận sau thuế năm 2030 với P/E 9,4 lần được 130,2 tỷ đồng; nhân EBITDA năm 2030 với EV/EBITDA 8,0 lần, rồi cộng tiền mặt và trừ nợ vay, được 267,2 tỷ đồng. Hai bội số này là mức bình quân năm 2026 của ngành Containers &amp; Packaging theo FiinX. Giá trị thoái vốn dùng để định giá là 198,7 tỷ đồng.</a:t>
            </a:r>
            <a:endParaRPr lang="vi-VN" sz="850" dirty="0"/>
          </a:p>
        </p:txBody>
      </p:sp>
      <p:sp>
        <p:nvSpPr>
          <p:cNvPr id="43" name="Text 35"/>
          <p:cNvSpPr txBox="1"/>
          <p:nvPr/>
        </p:nvSpPr>
        <p:spPr>
          <a:xfrm>
            <a:off x="2745284" y="5229820"/>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hướng dẫn của đề bài, doanh nghiệp ở giai đoạn đầu tăng trưởng có tỷ lệ thất bại 35–45%, và nhóm dùng z = 40%. Tỷ suất lợi nhuận yêu cầu của nhà đầu tư được tính theo công thức trong giáo trình: (1 + p)</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 r)</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/(1 − z), tức p = (1 + r)/(1 − z)</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1/n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với r là WACC 14,1% và n = 5 năm. Kết quả p = 26,4%; phần cao hơn WACC chính là khoản bù cho rủi ro thất bại. Chiết khấu giá trị thoái vốn về hiện tại với tỷ suất này cho post-money 61,6 tỷ đồng; trừ đi 37,6 tỷ đồng vốn cổ phần cần huy động, pre-money còn 24,0 tỷ đồng, và nhà đầu tư mới sẽ nắm khoảng 61% cổ phần.</a:t>
            </a:r>
            <a:endParaRPr lang="vi-VN" sz="850" dirty="0"/>
          </a:p>
        </p:txBody>
      </p:sp>
      <p:sp>
        <p:nvSpPr>
          <p:cNvPr id="44" name="Text 36"/>
          <p:cNvSpPr txBox="1"/>
          <p:nvPr/>
        </p:nvSpPr>
        <p:spPr>
          <a:xfrm>
            <a:off x="2745284" y="6056858"/>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5.5. Multiples</a:t>
            </a:r>
            <a:endParaRPr lang="vi-VN" sz="900" dirty="0"/>
          </a:p>
        </p:txBody>
      </p:sp>
      <p:sp>
        <p:nvSpPr>
          <p:cNvPr id="45" name="Text 37"/>
          <p:cNvSpPr txBox="1"/>
          <p:nvPr/>
        </p:nvSpPr>
        <p:spPr>
          <a:xfrm>
            <a:off x="2745284" y="622622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Phương pháp bội số cho pre-money 27,7 tỷ đồng (Fig. 53, Fig. 54). Mẫu so sánh gồm 14 doanh nghiệp bao bì niêm yết; nhóm loại MCP vì P/E lên tới 84 lần do lợi nhuận quá thấp, và loại PBT vì đây là doanh nghiệp thương mại. Trung vị EV/EBITDA của mẫu là 4,63 lần và P/E là 7,1 lần; bình quân ngành năm 2026 theo FiinX là 7,99 lần và 9,43 lần. Các bội số này được áp lên số liệu năm 2025 của AgriPack, gồm EBITDA 7,7 tỷ đồng và lợi nhuận sau thuế chuẩn hóa theo thuế suất 20% là 3,54 tỷ đồng (năm 2025 doanh nghiệp chưa phải nộp thuế nhờ chuyển lỗ), rồi chiết khấu 30% vì cổ phần AgriPack không giao dịch được và quy mô còn nhỏ. Nhóm không áp bội số lên số liệu năm 2026 (sẽ cho 54,0 tỷ đồng trước chiết khấu), vì EBITDA năm 2026 chỉ đạt được nhờ chính khoản vốn đang cần huy động.</a:t>
            </a:r>
            <a:endParaRPr lang="vi-VN" sz="850" dirty="0"/>
          </a:p>
        </p:txBody>
      </p:sp>
      <p:sp>
        <p:nvSpPr>
          <p:cNvPr id="46" name="Text 38"/>
          <p:cNvSpPr txBox="1"/>
          <p:nvPr/>
        </p:nvSpPr>
        <p:spPr>
          <a:xfrm>
            <a:off x="2745284" y="747908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Multiples trên số liệu 2025A: pre-money 27,7 tỷ sau chiết khấu 30%</a:t>
            </a:r>
            <a:endParaRPr lang="vi-VN" sz="720" dirty="0"/>
          </a:p>
        </p:txBody>
      </p:sp>
      <p:sp>
        <p:nvSpPr>
          <p:cNvPr id="47" name="Text 39"/>
          <p:cNvSpPr txBox="1"/>
          <p:nvPr/>
        </p:nvSpPr>
        <p:spPr>
          <a:xfrm>
            <a:off x="2745284" y="7606605"/>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2745284" y="7722096"/>
          <a:ext cx="4409182" cy="914400"/>
        </p:xfrm>
        <a:graphic>
          <a:graphicData uri="http://schemas.openxmlformats.org/drawingml/2006/table">
            <a:tbl>
              <a:tblPr/>
              <a:tblGrid>
                <a:gridCol w="2028230"/>
                <a:gridCol w="705445"/>
                <a:gridCol w="837605"/>
                <a:gridCol w="837902"/>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tính (chỉ tiêu 2025A)</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Bội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Trước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Sau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4,63x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7,99x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7,13x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4 cách (pre-money)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49" name="Text 40"/>
          <p:cNvSpPr txBox="1"/>
          <p:nvPr/>
        </p:nvSpPr>
        <p:spPr>
          <a:xfrm>
            <a:off x="2745284" y="8542734"/>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Sheet Multiples; FiinX (28/9/2026)</a:t>
            </a:r>
            <a:endParaRPr lang="vi-VN" sz="600" dirty="0"/>
          </a:p>
        </p:txBody>
      </p:sp>
      <p:sp>
        <p:nvSpPr>
          <p:cNvPr id="50" name="Text 41"/>
          <p:cNvSpPr txBox="1"/>
          <p:nvPr/>
        </p:nvSpPr>
        <p:spPr>
          <a:xfrm>
            <a:off x="2745284" y="87168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vi-VN" sz="900" dirty="0"/>
          </a:p>
        </p:txBody>
      </p:sp>
      <p:sp>
        <p:nvSpPr>
          <p:cNvPr id="51" name="Text 42"/>
          <p:cNvSpPr txBox="1"/>
          <p:nvPr/>
        </p:nvSpPr>
        <p:spPr>
          <a:xfrm>
            <a:off x="2745284" y="8886230"/>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 phương pháp cho kết quả từ 24,0 đến 28,4 tỷ đồng. Tính bình quân gia quyền, pre-money của AgriPack là 26,5 tỷ đồng, nằm trong khoảng 15,8–40,4 tỷ đồng (Fig. 55).</a:t>
            </a:r>
            <a:endParaRPr lang="vi-VN" sz="850" dirty="0"/>
          </a:p>
        </p:txBody>
      </p:sp>
      <p:sp>
        <p:nvSpPr>
          <p:cNvPr id="52" name="Text 4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53" name="Text 4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14</a:t>
            </a:r>
            <a:endParaRPr lang="vi-VN"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710511"/>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2745284" y="2738438"/>
            <a:ext cx="4409182" cy="0"/>
          </a:xfrm>
          <a:prstGeom prst="line">
            <a:avLst/>
          </a:prstGeom>
          <a:noFill/>
          <a:ln w="9525">
            <a:solidFill>
              <a:srgbClr val="7B1E2B"/>
            </a:solidFill>
            <a:prstDash val="solid"/>
          </a:ln>
        </p:spPr>
      </p:sp>
      <p:sp>
        <p:nvSpPr>
          <p:cNvPr id="5" name="Shape 3"/>
          <p:cNvSpPr/>
          <p:nvPr/>
        </p:nvSpPr>
        <p:spPr>
          <a:xfrm>
            <a:off x="405408" y="5042892"/>
            <a:ext cx="6749058" cy="0"/>
          </a:xfrm>
          <a:prstGeom prst="line">
            <a:avLst/>
          </a:prstGeom>
          <a:noFill/>
          <a:ln w="9525">
            <a:solidFill>
              <a:srgbClr val="7B1E2B"/>
            </a:solidFill>
            <a:prstDash val="solid"/>
          </a:ln>
        </p:spPr>
      </p:sp>
      <p:sp>
        <p:nvSpPr>
          <p:cNvPr id="6" name="Shape 4"/>
          <p:cNvSpPr/>
          <p:nvPr/>
        </p:nvSpPr>
        <p:spPr>
          <a:xfrm>
            <a:off x="405408" y="6983313"/>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0" name="Text 8"/>
          <p:cNvSpPr txBox="1"/>
          <p:nvPr/>
        </p:nvSpPr>
        <p:spPr>
          <a:xfrm>
            <a:off x="2745284" y="558105"/>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Vì sao DCF cao hơn VC Method 4,4 tỷ đồng.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Khác biệt lớn nhất là DCF giả định doanh nghiệp chắc chắn hoạt động như dự phóng, còn VC Method đã tính 40% khả năng thất bại. Khi nhân giá trị DCF với xác suất sống sót 60% và cộng 40% khả năng thanh lý (giá trị thanh lý 15,0 tỷ đồng, bằng một nửa vốn chủ sở hữu sổ sách), giá trị còn 23,0 tỷ đồng, gần VC Method (24,0 tỷ) và Multiples (27,7 tỷ). Phần chênh lệch còn lại nằm ở cách ước tính giá trị năm 2030: DCF dựa trên dòng tiền sau năm 2030 (115,9 tỷ đồng), còn VC Method dùng bội số ngành (198,7 tỷ đồng). Riêng cách tính theo EV/EBITDA cho tới 267 tỷ đồng, vì biên EBITDA năm 2030 (20%) cao hơn nhiều biên EBIT (11,5%) khi khấu hao lớn. Multiples cho giá trị thấp hơn DCF một chút vì chỉ định giá quy mô hoạt động năm 2025.</a:t>
            </a:r>
            <a:endParaRPr lang="vi-VN" sz="850" dirty="0"/>
          </a:p>
        </p:txBody>
      </p:sp>
      <p:sp>
        <p:nvSpPr>
          <p:cNvPr id="11" name="Text 9"/>
          <p:cNvSpPr txBox="1"/>
          <p:nvPr/>
        </p:nvSpPr>
        <p:spPr>
          <a:xfrm>
            <a:off x="2745284" y="1648271"/>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Diễn giải.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Mức 26,5 tỷ đồng chỉ bằng khoảng 0,88 lần vốn chủ sở hữu sổ sách, tương đương P/E năm 2025 khoảng 7,5 lần và EV/EBITDA khoảng 3,3 lần. Nói cách khác, nhà đầu tư chưa trả thêm cho tăng trưởng, vì để tăng trưởng doanh nghiệp cần thêm gần 69 tỷ đồng vốn bên ngoài và ROIC giai đoạn 2027–2029 thấp hơn WACC. Kết quả nhạy nhất với sản lượng: trong kịch bản xấu, khi sản lượng chỉ bằng 70% kịch bản cơ sở, giá trị vốn chủ sở hữu âm; kịch bản tốt cho 71,7 tỷ đồng; còn nếu chỉ huy động vốn cổ phần mà không vay, nhu cầu vốn cổ phần tăng lên 59,6 tỷ đồng và pre-money bình quân còn 22,7 tỷ đồng (Fig. 56). Ưu điểm và hạn chế của từng phương pháp được tóm tắt ở Fig. 57; phần diễn giải chi tiết và bảng độ nhạy nằm ở Phụ lục (Fig. A14).</a:t>
            </a:r>
            <a:endParaRPr lang="vi-VN" sz="850" dirty="0"/>
          </a:p>
        </p:txBody>
      </p:sp>
      <p:sp>
        <p:nvSpPr>
          <p:cNvPr id="12" name="Text 10"/>
          <p:cNvSpPr txBox="1"/>
          <p:nvPr/>
        </p:nvSpPr>
        <p:spPr>
          <a:xfrm>
            <a:off x="2745284" y="2769563"/>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Kịch bản xấu cho giá trị vốn chủ sở hữu âm; không vay làm pre-money giảm còn 22,7 tỷ</a:t>
            </a:r>
            <a:endParaRPr lang="vi-VN" sz="720" dirty="0"/>
          </a:p>
        </p:txBody>
      </p:sp>
      <p:sp>
        <p:nvSpPr>
          <p:cNvPr id="13" name="Text 11"/>
          <p:cNvSpPr txBox="1"/>
          <p:nvPr/>
        </p:nvSpPr>
        <p:spPr>
          <a:xfrm>
            <a:off x="2745284" y="2897088"/>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5284" y="3012579"/>
          <a:ext cx="4409182" cy="914400"/>
        </p:xfrm>
        <a:graphic>
          <a:graphicData uri="http://schemas.openxmlformats.org/drawingml/2006/table">
            <a:tbl>
              <a:tblPr/>
              <a:tblGrid>
                <a:gridCol w="1322636"/>
                <a:gridCol w="573137"/>
                <a:gridCol w="573137"/>
                <a:gridCol w="573137"/>
                <a:gridCol w="683419"/>
                <a:gridCol w="683716"/>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Cơ sở</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Xấu (Bear)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Tốt (Bull)</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vốn CP, không vay</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Vay 75% CAPEX 2027</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116,9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214,8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CAGR DT 2025–30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29,1%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19,7%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29,1%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29,1%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Biên EBITDA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FCFF 2026–30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 2027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DCF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gia quyền*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(25,4)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71,7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2745284" y="4734223"/>
            <a:ext cx="4464046"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 chạy lại toàn bộ mô hình cho từng phương án); *DCF 40%, VC Method 40%, Multiples 20% (Multiples không đổi giữa các phương án)</a:t>
            </a:r>
            <a:endParaRPr lang="vi-VN" sz="600" dirty="0"/>
          </a:p>
        </p:txBody>
      </p:sp>
      <p:sp>
        <p:nvSpPr>
          <p:cNvPr id="16" name="Text 13"/>
          <p:cNvSpPr txBox="1"/>
          <p:nvPr/>
        </p:nvSpPr>
        <p:spPr>
          <a:xfrm>
            <a:off x="405408" y="5074017"/>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Sự phù hợp và hạn chế của từng phương pháp trong trường hợp AgriPack</a:t>
            </a:r>
            <a:endParaRPr lang="vi-VN" sz="7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05408" y="5215830"/>
          <a:ext cx="6749058" cy="914400"/>
        </p:xfrm>
        <a:graphic>
          <a:graphicData uri="http://schemas.openxmlformats.org/drawingml/2006/table">
            <a:tbl>
              <a:tblPr/>
              <a:tblGrid>
                <a:gridCol w="809774"/>
                <a:gridCol w="1687264"/>
                <a:gridCol w="2227064"/>
                <a:gridCol w="1552277"/>
                <a:gridCol w="47267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Vì sao phù hợp với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Hạn chế trong trường hợp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xử lý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Trọng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DCF (FCFF)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AgriPack đã có ba năm doanh thu, EBITDA dương và kế hoạch đầu tư cụ thể; DCF cho biết giá trị khi doanh nghiệp hoạt động đúng như dự phóng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cuối kỳ bằng 222% EV vì FCFF 2026–2028 âm; kết quả nhạy với WACC và g; một kịch bản duy nhất, chưa tính khả năng thất bại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Giữ công thức giá trị cuối kỳ của file mẫu, chuẩn hóa FCFF 2031 với RONIC bằng ROIC 2030; dùng beta tổng; đối chiếu DCF nhân xác suất sống sót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Nhìn từ phía nhà đầu tư mạo hiểm ở giai đoạn đầu tăng trưởng; dùng trực tiếp tỷ lệ thất bại theo hướng dẫn của đề bài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Phụ thuộc bội số thoái vốn của các doanh nghiệp niêm yết đã trưởng thành và năm thoái vốn 2030; P/E và EV/EBITDA cho giá trị thoái vốn chênh nhau gấp đôi (130 và 267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Lấy bình quân hai bội số; tính p theo công thức giáo trình; kiểm tra độ nhạy với z 35–45% và giá trị thoái vốn ±15%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Multiples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Neo kết quả vào mức giá thị trường đang trả cho các doanh nghiệp bao bì niêm yết, dễ kiểm chứng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Mẫu so sánh là doanh nghiệp lớn, trưởng thành (doanh thu trung vị khoảng 1.400 tỷ đồng); bội số quá khứ bỏ qua tăng trưởng; lợi nhuận 2025 được hưởng chuyển lỗ; mức chiết khấu 30% là ước lượng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Dùng số liệu năm 2025 để không trả trước cho tăng trưởng cần vốn mới; chuẩn hóa thuế 20%; loại MCP và PBT khỏi mẫu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4"/>
          <p:cNvSpPr txBox="1"/>
          <p:nvPr/>
        </p:nvSpPr>
        <p:spPr>
          <a:xfrm>
            <a:off x="405408" y="654724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của nhóm; số liệu: mô hình (DCF, VCM, Multiples)</a:t>
            </a:r>
            <a:endParaRPr lang="vi-VN" sz="600" dirty="0"/>
          </a:p>
        </p:txBody>
      </p:sp>
      <p:sp>
        <p:nvSpPr>
          <p:cNvPr id="19" name="Text 15"/>
          <p:cNvSpPr txBox="1"/>
          <p:nvPr/>
        </p:nvSpPr>
        <p:spPr>
          <a:xfrm>
            <a:off x="484608" y="6742911"/>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6. KẾ HOẠCH HUY ĐỘNG VỐN</a:t>
            </a:r>
            <a:endParaRPr lang="vi-VN" sz="880" dirty="0"/>
          </a:p>
        </p:txBody>
      </p:sp>
      <p:sp>
        <p:nvSpPr>
          <p:cNvPr id="20" name="Text 16"/>
          <p:cNvSpPr txBox="1"/>
          <p:nvPr/>
        </p:nvSpPr>
        <p:spPr>
          <a:xfrm>
            <a:off x="405408" y="701443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Thiếu hụt so với tiền mặt tối thiểu lớn nhất năm 2030: 34,2 tỷ; cộng 10% dự phòng thành 37,6 tỷ</a:t>
            </a:r>
            <a:endParaRPr lang="vi-VN" sz="720" dirty="0"/>
          </a:p>
        </p:txBody>
      </p:sp>
      <p:sp>
        <p:nvSpPr>
          <p:cNvPr id="21" name="Text 17"/>
          <p:cNvSpPr txBox="1"/>
          <p:nvPr/>
        </p:nvSpPr>
        <p:spPr>
          <a:xfrm>
            <a:off x="405408" y="725150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trước khi gọi vốn cổ phần, đã gồm khoản vay 2027</a:t>
            </a:r>
            <a:endParaRPr lang="vi-VN" sz="630" dirty="0"/>
          </a:p>
        </p:txBody>
      </p:sp>
      <p:graphicFrame>
        <p:nvGraphicFramePr>
          <p:cNvPr id="22" name="Chart 0" descr=""/>
          <p:cNvGraphicFramePr/>
          <p:nvPr/>
        </p:nvGraphicFramePr>
        <p:xfrm>
          <a:off x="405408" y="7366992"/>
          <a:ext cx="2159943" cy="687139"/>
        </p:xfrm>
        <a:graphic xmlns:a="http://schemas.openxmlformats.org/drawingml/2006/main">
          <a:graphicData uri="http://schemas.openxmlformats.org/drawingml/2006/chart">
            <c:chart xmlns:c="http://schemas.openxmlformats.org/drawingml/2006/chart" r:id="rId1"/>
          </a:graphicData>
        </a:graphic>
      </p:graphicFrame>
      <p:sp>
        <p:nvSpPr>
          <p:cNvPr id="23" name="Text 18"/>
          <p:cNvSpPr txBox="1"/>
          <p:nvPr/>
        </p:nvSpPr>
        <p:spPr>
          <a:xfrm>
            <a:off x="405408" y="807199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dòng thiếu hụt so với tiền mặt tối thiểu 5% doanh thu)</a:t>
            </a:r>
            <a:endParaRPr lang="vi-VN" sz="600" dirty="0"/>
          </a:p>
        </p:txBody>
      </p:sp>
      <p:sp>
        <p:nvSpPr>
          <p:cNvPr id="24" name="Text 19"/>
          <p:cNvSpPr txBox="1"/>
          <p:nvPr/>
        </p:nvSpPr>
        <p:spPr>
          <a:xfrm>
            <a:off x="2745284" y="699760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6.1. Nhu cầu vốn</a:t>
            </a:r>
            <a:endParaRPr lang="vi-VN" sz="900" dirty="0"/>
          </a:p>
        </p:txBody>
      </p:sp>
      <p:sp>
        <p:nvSpPr>
          <p:cNvPr id="25" name="Text 20"/>
          <p:cNvSpPr txBox="1"/>
          <p:nvPr/>
        </p:nvSpPr>
        <p:spPr>
          <a:xfrm>
            <a:off x="2745284" y="7166967"/>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mở rộng quy mô sản xuất và tiếp tục thúc đẩy sự tăng trưởng của AgriPack trong giai đoạn 2026 – 2030, doanh nghiệp dự kiến mở thêm một nhà máy sản xuất vào năm 2027 với nhu cầu huy động vốn là 37,61 tỷ đồng.</a:t>
            </a:r>
            <a:endParaRPr lang="vi-VN" sz="850" dirty="0"/>
          </a:p>
        </p:txBody>
      </p:sp>
      <p:sp>
        <p:nvSpPr>
          <p:cNvPr id="26" name="Text 21"/>
          <p:cNvSpPr txBox="1"/>
          <p:nvPr/>
        </p:nvSpPr>
        <p:spPr>
          <a:xfrm>
            <a:off x="2745284" y="7599313"/>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Trước hết, báo cáo tài chính ba năm 2023 – 2025 của AgriPack cho thấy doanh nghiệp đang trong giai đoạn đầu tăng trưởng, là thời điểm thích hợp để mở rộng quy mô sản xuất nhằm tiếp tục thúc đẩy tăng trưởng. Số liệu cho thấy CAGR doanh thu 2023–2025 là 56,4%, vòng quay tổng tài sản tăng nhanh trong ba năm từ 1,04 lần lên 1,6 lần và doanh nghiệp bắt đầu có lợi nhuận dương. CFO đã chuyển dương, đạt 6,28 tỷ đồng năm 2025 và đủ để tài trợ hoàn toàn CAPEX cùng năm, làm FCF cùng năm chuyển dương 1,2 tỷ đồng. Các dấu hiệu tích cực trong tình hình tài chính này đã thúc đẩy quyết định đầu tư thêm một nhà máy sản xuất năm 2027 nhằm đáp ứng việc thúc đẩy tăng trưởng của doanh nghiệp trong vòng ít nhất 5 năm tới.</a:t>
            </a:r>
            <a:endParaRPr lang="vi-VN" sz="850" dirty="0"/>
          </a:p>
        </p:txBody>
      </p:sp>
      <p:sp>
        <p:nvSpPr>
          <p:cNvPr id="27" name="Text 22"/>
          <p:cNvSpPr txBox="1"/>
          <p:nvPr/>
        </p:nvSpPr>
        <p:spPr>
          <a:xfrm>
            <a:off x="2745284" y="8689479"/>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Với nhu cầu mở rộng quy mô năm 2027, nhóm ước tính số vốn 37,61 tỷ đồng huy động từ bên ngoài sẽ đảm bảo tài trợ cho hoạt động đầu tư CAPEX và duy trì tiền mặt tối thiểu của doanh nghiệp trong giai đoạn 2026 – 2030 (Fig. 58, Fig. 59):</a:t>
            </a:r>
            <a:endParaRPr lang="vi-VN" sz="850" dirty="0"/>
          </a:p>
        </p:txBody>
      </p:sp>
      <p:sp>
        <p:nvSpPr>
          <p:cNvPr id="28"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9"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15</a:t>
            </a:r>
            <a:endParaRPr lang="vi-VN"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2898874"/>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3171676"/>
            <a:ext cx="2159943" cy="0"/>
          </a:xfrm>
          <a:prstGeom prst="line">
            <a:avLst/>
          </a:prstGeom>
          <a:noFill/>
          <a:ln w="9525">
            <a:solidFill>
              <a:srgbClr val="7B1E2B"/>
            </a:solidFill>
            <a:prstDash val="solid"/>
          </a:ln>
        </p:spPr>
      </p:sp>
      <p:sp>
        <p:nvSpPr>
          <p:cNvPr id="6" name="Shape 4"/>
          <p:cNvSpPr/>
          <p:nvPr/>
        </p:nvSpPr>
        <p:spPr>
          <a:xfrm>
            <a:off x="405408" y="462409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0" name="Text 8"/>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Gọi 37,6 tỷ vốn cổ phần năm 2026: nhà đầu tư mới nắm khoảng 59%</a:t>
            </a:r>
            <a:endParaRPr lang="vi-VN" sz="720" dirty="0"/>
          </a:p>
        </p:txBody>
      </p:sp>
      <p:sp>
        <p:nvSpPr>
          <p:cNvPr id="11" name="Text 9"/>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5408" y="941784"/>
          <a:ext cx="2159943" cy="914400"/>
        </p:xfrm>
        <a:graphic>
          <a:graphicData uri="http://schemas.openxmlformats.org/drawingml/2006/table">
            <a:tbl>
              <a:tblPr/>
              <a:tblGrid>
                <a:gridCol w="1425476"/>
                <a:gridCol w="73446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tiêu</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mặt cuối kỳ trước gọi vốn, 2026E →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 → (25,7)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Thiếu hụt lớn nhất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Dự phòng 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Vốn cổ phần cần huy động (2026)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hạn/xanh 2027 (60% CAPEX nhà máy)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vốn bên ngoài 2026–2027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68,7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(bình quân 40/40/20)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Post-money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sở hữu NĐT mới / cổ đông hiện hữu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58,7% / 41,3%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5902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Summary); tỷ lệ sở hữu theo pre-money bình quân</a:t>
            </a:r>
            <a:endParaRPr lang="vi-VN" sz="600" dirty="0"/>
          </a:p>
        </p:txBody>
      </p:sp>
      <p:sp>
        <p:nvSpPr>
          <p:cNvPr id="14" name="Text 11"/>
          <p:cNvSpPr txBox="1"/>
          <p:nvPr/>
        </p:nvSpPr>
        <p:spPr>
          <a:xfrm>
            <a:off x="2759184" y="558105"/>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Giả định vào năm 2027, 60% CAPEX của dự án mở rộng được tài trợ bằng vay trung hạn/xanh (~31,1 tỷ đồng). Số tiền này cùng CFO cùng năm (7,8 tỷ đồng) không đủ để bù đắp cho CAPEX (51,83 tỷ đồng), khiến biến động tiền mặt trong năm âm, số dư tiền mặt cuối kỳ âm.</a:t>
            </a:r>
            <a:endParaRPr lang="vi-VN" sz="850" dirty="0"/>
          </a:p>
        </p:txBody>
      </p:sp>
      <p:sp>
        <p:nvSpPr>
          <p:cNvPr id="15" name="Text 12"/>
          <p:cNvSpPr txBox="1"/>
          <p:nvPr/>
        </p:nvSpPr>
        <p:spPr>
          <a:xfrm>
            <a:off x="2759184" y="96172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CFO dù được dự phóng tăng hằng năm nhưng không đủ lớn để bù đắp cho dòng tiền ra rất lớn đến từ CAPEX (2026–2028), cộng thêm việc trả nợ vay trung hạn (từ 2029), khiến cho biến động tiền mặt từ 2026–2029 đều âm và số dư tiền mặt cuối kỳ của cả 5 năm đều âm nếu không gọi thêm vốn.</a:t>
            </a:r>
            <a:endParaRPr lang="vi-VN" sz="850" dirty="0"/>
          </a:p>
        </p:txBody>
      </p:sp>
      <p:sp>
        <p:nvSpPr>
          <p:cNvPr id="16" name="Text 13"/>
          <p:cNvSpPr txBox="1"/>
          <p:nvPr/>
        </p:nvSpPr>
        <p:spPr>
          <a:xfrm>
            <a:off x="2759184" y="1496913"/>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Điều này tạo động lực cho doanh nghiệp huy động thêm vốn từ bên ngoài nhằm bù đắp sự thiếu hụt này và đảm bảo mức tiền mặt tối thiểu của doanh nghiệp bằng 5% doanh thu mỗi năm. Trong giai đoạn này, năm 2030 được ước tính có số tiền thiếu hụt so với tiền mặt tối thiểu cần dự trữ lớn nhất, đánh dấu nhu cầu huy động vốn của AgriPack cho 5 năm là ~34,2 tỷ đồng. Cộng thêm dự phòng 10%, tổng số vốn cần huy động là ~37,61 tỷ đồng.</a:t>
            </a:r>
            <a:endParaRPr lang="vi-VN" sz="850" dirty="0"/>
          </a:p>
        </p:txBody>
      </p:sp>
      <p:sp>
        <p:nvSpPr>
          <p:cNvPr id="17" name="Text 14"/>
          <p:cNvSpPr txBox="1"/>
          <p:nvPr/>
        </p:nvSpPr>
        <p:spPr>
          <a:xfrm>
            <a:off x="2745284" y="2206823"/>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Số vốn cổ phần này cũng là đầu vào của VC Method (Mục 5.4). Theo pre-money bình quân 26,5 tỷ đồng, post-money là 64,1 tỷ đồng và nhà đầu tư mới sẽ nắm khoảng 59% cổ phần (Fig. 59).</a:t>
            </a:r>
            <a:endParaRPr lang="vi-VN" sz="850" dirty="0"/>
          </a:p>
        </p:txBody>
      </p:sp>
      <p:sp>
        <p:nvSpPr>
          <p:cNvPr id="18" name="Text 15"/>
          <p:cNvSpPr txBox="1"/>
          <p:nvPr/>
        </p:nvSpPr>
        <p:spPr>
          <a:xfrm>
            <a:off x="484608" y="2931274"/>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8. CÂU HỎI BONUS: ĐỊNH GIÁ KHI CHƯA CÓ DOANH THU</a:t>
            </a:r>
            <a:endParaRPr lang="vi-VN" sz="880" dirty="0"/>
          </a:p>
        </p:txBody>
      </p:sp>
      <p:sp>
        <p:nvSpPr>
          <p:cNvPr id="19" name="Text 16"/>
          <p:cNvSpPr txBox="1"/>
          <p:nvPr/>
        </p:nvSpPr>
        <p:spPr>
          <a:xfrm>
            <a:off x="405408" y="320280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Cùng giá trị thoái vốn, tỷ lệ thất bại cao làm post-money giảm hơn một nửa</a:t>
            </a:r>
            <a:endParaRPr lang="vi-VN" sz="720" dirty="0"/>
          </a:p>
        </p:txBody>
      </p:sp>
      <p:sp>
        <p:nvSpPr>
          <p:cNvPr id="20" name="Text 17"/>
          <p:cNvSpPr txBox="1"/>
          <p:nvPr/>
        </p:nvSpPr>
        <p:spPr>
          <a:xfrm>
            <a:off x="405408" y="343986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Post-money, tỷ đồng</a:t>
            </a:r>
            <a:endParaRPr lang="vi-VN" sz="630" dirty="0"/>
          </a:p>
        </p:txBody>
      </p:sp>
      <p:graphicFrame>
        <p:nvGraphicFramePr>
          <p:cNvPr id="21" name="Chart 0" descr=""/>
          <p:cNvGraphicFramePr/>
          <p:nvPr/>
        </p:nvGraphicFramePr>
        <p:xfrm>
          <a:off x="405408" y="355535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22" name="Text 18"/>
          <p:cNvSpPr txBox="1"/>
          <p:nvPr/>
        </p:nvSpPr>
        <p:spPr>
          <a:xfrm>
            <a:off x="405408" y="435858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vi-VN" sz="600" dirty="0"/>
          </a:p>
        </p:txBody>
      </p:sp>
      <p:sp>
        <p:nvSpPr>
          <p:cNvPr id="23" name="Text 19"/>
          <p:cNvSpPr txBox="1"/>
          <p:nvPr/>
        </p:nvSpPr>
        <p:spPr>
          <a:xfrm>
            <a:off x="405408" y="465521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vi-VN" sz="72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408" y="4797028"/>
          <a:ext cx="2159943" cy="914400"/>
        </p:xfrm>
        <a:graphic>
          <a:graphicData uri="http://schemas.openxmlformats.org/drawingml/2006/table">
            <a:tbl>
              <a:tblPr/>
              <a:tblGrid>
                <a:gridCol w="734318"/>
                <a:gridCol w="1425625"/>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cần có và cách dùng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323850">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(z của giai đoạn ươm mầm, thử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thoái vốn 2030, z 57,5–72,5%, WACC; dùng lại mô hình hiện có, chỉ đổi z</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Scorecard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(Payne)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trung vị các vòng hạt giống cùng ngành; chấm điểm đội ngũ, thị trường, sản phẩm, cạnh tranh, kênh bán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Berkus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 dùng để kiểm tra chéo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Risk factor summation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Cộng, trừ theo 12 nhóm rủi ro (công nghệ, pháp lý, cạnh tranh, nguồn cung...); đầu vào là rủi ro ở Mục 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Chi phí tái tạo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R&amp;D công thức, khuôn mẫu, dây chuyền thử, chứng nhận; là cận dưới của giá trị</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5" name="Text 20"/>
          <p:cNvSpPr txBox="1"/>
          <p:nvPr/>
        </p:nvSpPr>
        <p:spPr>
          <a:xfrm>
            <a:off x="405408" y="659100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vi-VN" sz="600" dirty="0"/>
          </a:p>
        </p:txBody>
      </p:sp>
      <p:sp>
        <p:nvSpPr>
          <p:cNvPr id="26" name="Text 21"/>
          <p:cNvSpPr txBox="1"/>
          <p:nvPr/>
        </p:nvSpPr>
        <p:spPr>
          <a:xfrm>
            <a:off x="2745284" y="317167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AgriPack chưa có doanh thu, DCF gần như mất cơ sở vì toàn bộ dòng tiền dự phóng đều là giả định, còn bội số trên doanh thu hay lợi nhuận cũng không áp dụng được. Khi đó nhóm sẽ dùng VC Method làm phương pháp chính (Fig. 60) và kiểm tra chéo bằng các phương pháp dành riêng cho doanh nghiệp chưa có doanh thu như Scorecard, Berkus và chi phí tái tạo (Fig. 61).</a:t>
            </a:r>
            <a:endParaRPr lang="vi-VN" sz="850" dirty="0"/>
          </a:p>
        </p:txBody>
      </p:sp>
      <p:sp>
        <p:nvSpPr>
          <p:cNvPr id="27" name="Text 22"/>
          <p:cNvSpPr txBox="1"/>
          <p:nvPr/>
        </p:nvSpPr>
        <p:spPr>
          <a:xfrm>
            <a:off x="2745284" y="373558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Giữ nguyên giá trị thoái vốn năm 2030 và WACC, chỉ nâng tỷ lệ thất bại lên 57,5% (giai đoạn thử nghiệm) hoặc 72,5% (giai đoạn ươm mầm), post-money giảm từ 61,6 tỷ đồng xuống còn 43,6 và 28,2 tỷ đồng. Trên thực tế, giá trị thoái vốn của một doanh nghiệp chưa có doanh thu cũng kém chắc chắn hơn nhiều, nên kết quả nên được trình bày thành một khoảng rộng và vốn nên được giải ngân theo từng mốc.</a:t>
            </a:r>
            <a:endParaRPr lang="vi-VN" sz="850" dirty="0"/>
          </a:p>
        </p:txBody>
      </p:sp>
      <p:sp>
        <p:nvSpPr>
          <p:cNvPr id="28" name="Text 23"/>
          <p:cNvSpPr txBox="1"/>
          <p:nvPr/>
        </p:nvSpPr>
        <p:spPr>
          <a:xfrm>
            <a:off x="2745284" y="443106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Những giả định cần có.</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định giá, nhóm cần: (i) quy mô thị trường theo IMARC và một mức thị phần mục tiêu có thể kiểm chứng; (ii) sản phẩm mẫu đã qua kiểm nghiệm vật liệu tiếp xúc thực phẩm theo Thông tư 27/2026/TT-BYT; (iii) thư ý định mua hàng của các chuỗi F&amp;B; (iv) chi phí dây chuyền thử nghiệm và hợp đồng thu mua bã mía; (v) một đội ngũ có kinh nghiệm sản xuất bột giấy đúc; và (vi) giả định về bội số và thời điểm thoái vốn. Mỗi mốc đạt được là căn cứ để giảm tỷ lệ thất bại và nâng giá trị ở vòng gọi vốn sau.</a:t>
            </a:r>
            <a:endParaRPr lang="vi-VN" sz="850" dirty="0"/>
          </a:p>
        </p:txBody>
      </p:sp>
      <p:sp>
        <p:nvSpPr>
          <p:cNvPr id="29" name="Text 2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0" name="Text 2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16</a:t>
            </a:r>
            <a:endParaRPr lang="vi-VN"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6749058" cy="0"/>
          </a:xfrm>
          <a:prstGeom prst="line">
            <a:avLst/>
          </a:prstGeom>
          <a:noFill/>
          <a:ln w="9525">
            <a:solidFill>
              <a:srgbClr val="7B1E2B"/>
            </a:solidFill>
            <a:prstDash val="solid"/>
          </a:ln>
        </p:spPr>
      </p:sp>
      <p:sp>
        <p:nvSpPr>
          <p:cNvPr id="5" name="Shape 3"/>
          <p:cNvSpPr/>
          <p:nvPr/>
        </p:nvSpPr>
        <p:spPr>
          <a:xfrm>
            <a:off x="405408" y="3073896"/>
            <a:ext cx="6749058" cy="0"/>
          </a:xfrm>
          <a:prstGeom prst="line">
            <a:avLst/>
          </a:prstGeom>
          <a:noFill/>
          <a:ln w="9525">
            <a:solidFill>
              <a:srgbClr val="7B1E2B"/>
            </a:solidFill>
            <a:prstDash val="solid"/>
          </a:ln>
        </p:spPr>
      </p:sp>
      <p:sp>
        <p:nvSpPr>
          <p:cNvPr id="6" name="Shape 4"/>
          <p:cNvSpPr/>
          <p:nvPr/>
        </p:nvSpPr>
        <p:spPr>
          <a:xfrm>
            <a:off x="405408" y="7041654"/>
            <a:ext cx="6749058"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PHỤ LỤC</a:t>
            </a:r>
            <a:endParaRPr lang="vi-VN" sz="880" dirty="0"/>
          </a:p>
        </p:txBody>
      </p:sp>
      <p:sp>
        <p:nvSpPr>
          <p:cNvPr id="11" name="Text 9"/>
          <p:cNvSpPr txBox="1"/>
          <p:nvPr/>
        </p:nvSpPr>
        <p:spPr>
          <a:xfrm>
            <a:off x="405408" y="86203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vi-VN" sz="72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408" y="1003846"/>
          <a:ext cx="6749058" cy="914400"/>
        </p:xfrm>
        <a:graphic>
          <a:graphicData uri="http://schemas.openxmlformats.org/drawingml/2006/table">
            <a:tbl>
              <a:tblPr/>
              <a:tblGrid>
                <a:gridCol w="944761"/>
                <a:gridCol w="5804297"/>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 mục tiêu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doanh nghiệp lớn, vừa và nhỏ</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sản phẩm e-commerce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Đóng gói theo khuôn mẫu của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lượng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Tần suất sử dụng thường xuyên, số lượng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Khu vực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Nỗi đau và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910632"/>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1"/>
          <p:cNvSpPr txBox="1"/>
          <p:nvPr/>
        </p:nvSpPr>
        <p:spPr>
          <a:xfrm>
            <a:off x="405408" y="310502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vi-VN" sz="720" dirty="0"/>
          </a:p>
        </p:txBody>
      </p:sp>
      <p:pic>
        <p:nvPicPr>
          <p:cNvPr id="15" name="Image 0" descr="Chuỗi giá trị AgriPack (minh họa)">    </p:cNvPr>
          <p:cNvPicPr>
            <a:picLocks noChangeAspect="1"/>
          </p:cNvPicPr>
          <p:nvPr/>
        </p:nvPicPr>
        <p:blipFill>
          <a:blip r:embed="rId1"/>
          <a:stretch>
            <a:fillRect/>
          </a:stretch>
        </p:blipFill>
        <p:spPr>
          <a:xfrm>
            <a:off x="405408" y="3246834"/>
            <a:ext cx="6749058" cy="3613696"/>
          </a:xfrm>
          <a:prstGeom prst="rect">
            <a:avLst/>
          </a:prstGeom>
        </p:spPr>
      </p:pic>
      <p:sp>
        <p:nvSpPr>
          <p:cNvPr id="16" name="Text 12"/>
          <p:cNvSpPr txBox="1"/>
          <p:nvPr/>
        </p:nvSpPr>
        <p:spPr>
          <a:xfrm>
            <a:off x="405408" y="687838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2027 và tên khách hàng là </a:t>
            </a:r>
            <a:pPr algn="l" indent="0" marL="0">
              <a:lnSpc>
                <a:spcPts val="720"/>
              </a:lnSpc>
              <a:buNone/>
            </a:pPr>
            <a:r>
              <a:rPr lang="vi-VN"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 không phải số liệu thực tế</a:t>
            </a:r>
            <a:endParaRPr lang="vi-VN" sz="600" dirty="0"/>
          </a:p>
        </p:txBody>
      </p:sp>
      <p:sp>
        <p:nvSpPr>
          <p:cNvPr id="17" name="Text 13"/>
          <p:cNvSpPr txBox="1"/>
          <p:nvPr/>
        </p:nvSpPr>
        <p:spPr>
          <a:xfrm>
            <a:off x="405408" y="7072779"/>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Hành vi mua theo phân khúc khách hàng B2B (bảng của nhóm, Mục 3.2.6)</a:t>
            </a:r>
            <a:endParaRPr lang="vi-VN" sz="72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408" y="7214592"/>
          <a:ext cx="6749058" cy="914400"/>
        </p:xfrm>
        <a:graphic>
          <a:graphicData uri="http://schemas.openxmlformats.org/drawingml/2006/table">
            <a:tbl>
              <a:tblPr/>
              <a:tblGrid>
                <a:gridCol w="1349722"/>
                <a:gridCol w="1687264"/>
                <a:gridCol w="2362051"/>
                <a:gridCol w="135002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 khách hàng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Tiêu chí lựa chọn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Sản phẩm của AgriPack</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2713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Đựng, bảo quản và vận chuyển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thấm dầu/nước.</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Đảm bảo an toàn thực phẩm.</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Chứng nhận về an toàn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Hộp/khay bã mía + vỏ trứng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Bảo vệ sản phẩm trong quá trình lưu kho và vận chuyển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va đập.</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chính xác kích thước, độ cứng, khả năng thiết kế theo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Khay/khuôn đệm bảo vệ</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4"/>
          <p:cNvSpPr txBox="1"/>
          <p:nvPr/>
        </p:nvSpPr>
        <p:spPr>
          <a:xfrm>
            <a:off x="405408" y="81319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20" name="Text 1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17</a:t>
            </a:r>
            <a:endParaRPr lang="vi-VN"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5251400"/>
            <a:ext cx="6749058"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8" name="Text 6"/>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Một số đối thủ cạnh tranh trực tiếp trong ngành bao bì sinh học (bảng của nhóm, Mục 3.2.3)</a:t>
            </a:r>
            <a:endParaRPr lang="vi-VN"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742355"/>
                <a:gridCol w="1147316"/>
                <a:gridCol w="1147316"/>
                <a:gridCol w="1012329"/>
                <a:gridCol w="1619696"/>
                <a:gridCol w="1080046"/>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Đối thủ</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tham khảo</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mạnh</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yếu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95071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An Phát Holdings</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An Phát Eco)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sinh học tự phân huỷ</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Cốc/ly, bát đĩa, khay, dao thìa nĩa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Màng bọc thực phẩm, hạt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Hạt nhựa sinh học từ PLA/PBAT/PBS (tinh bột ngô với nguyên liệu sinh học) và bã mía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đựng thực phẩm sinh học: 60.000 - 115.000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rác sinh học : 105.000 - 190.000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Dao, thìa, nĩa, ống hút sinh học: 38.000 VNĐ/ 30 chiếc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Găng tay sinh học : 170.000 - 190.000 VNĐ/ hộp.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quy mô lớn (TTS: 11.953 tỷ đồng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là: 10.741,29 tỷ đồng.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9.000 tấn/ tháng.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sinh học từ doanh nghiệp này có giá thành cao, ít linh hoạt với các đơn hàng nhỏ, vừa.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77">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HAPBIO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 có chứng nhận BPI, OK Compost, định hướng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lớn (54.000 tấn sản phẩm mỗi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Xuất khẩu 600 tấn sản phẩm, doanh thu 2 triệu USD.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BioWraps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Ra mắt thị trường từ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hơn 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8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AIRX Coffee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thương hiệu con của Veritas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 thìa dĩa bằng bã cà phê</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cốc trung bình: 109.000 - 139.000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vỏ lụa: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giữ nhiệt: 319.000 - 349.000 VNĐ</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dành cho doanh nghiệp 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lập 2019</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 triệu ly bán ra</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50% sản phẩm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Long Bioplastic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18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Hapobe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Cung cấp giải pháp thiết kế bao bì.</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quy mô nhỏ.</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508813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1" name="Text 8"/>
          <p:cNvSpPr txBox="1"/>
          <p:nvPr/>
        </p:nvSpPr>
        <p:spPr>
          <a:xfrm>
            <a:off x="405408" y="528252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3.2.5)</a:t>
            </a:r>
            <a:endParaRPr lang="vi-VN" sz="72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408" y="5424339"/>
          <a:ext cx="6749058" cy="914400"/>
        </p:xfrm>
        <a:graphic>
          <a:graphicData uri="http://schemas.openxmlformats.org/drawingml/2006/table">
            <a:tbl>
              <a:tblPr/>
              <a:tblGrid>
                <a:gridCol w="1147316"/>
                <a:gridCol w="742355"/>
                <a:gridCol w="2429619"/>
                <a:gridCol w="242976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Áp lực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Ưu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Nhược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33813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truyền thống, hộp xốp dùng một lần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Rất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Khó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Giấy, carton, kraft (giấy từ gỗ mềm)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nước/dầu phụ thuộc vào cấu trúc và lớp phủ bề mặt, tuỳ thuộc vào lớp phủ mà thời gian phân huỷ có thể kéo dài, độ bền nhiệt/cơ học thấp, không phù hợp với sản phẩm cần độ cứng và khả năng chịu nhiệt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 PHA)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Phân huỷ sinh học, hình thức đẹp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(rPET, PCR)</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Bioplastic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yêu cầu cơ sở xử lý và công nghệ phù hợp.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Về tính chất nhiệt/cơ học sẽ tuỳ thuộc vào từng loại chất liệu, cách phối trộn.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bảo vệ (EPE/PE Foam)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(từ sợi nấm, tinh bột)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độ bền/khả năng chịu ẩm thường thấp hơn đệm xốp bảo vệ EPE/PE Foam, hạn chế về công nghệ sản xuất.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giấy tổ ong/giấy nhún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thấm/ẩm/mốc/nhiệt còn hạn chế nếu không xử lý bằng lớp phủ, giá cao hơn và yêu cầu công nghệ hạ tầng kỹ thuật xử lý, phân loại.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9"/>
          <p:cNvSpPr txBox="1"/>
          <p:nvPr/>
        </p:nvSpPr>
        <p:spPr>
          <a:xfrm>
            <a:off x="405408" y="82577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0"/>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5" name="Text 11"/>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18</a:t>
            </a:r>
            <a:endParaRPr lang="vi-VN"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4804618"/>
            <a:ext cx="6749058" cy="0"/>
          </a:xfrm>
          <a:prstGeom prst="line">
            <a:avLst/>
          </a:prstGeom>
          <a:noFill/>
          <a:ln w="9525">
            <a:solidFill>
              <a:srgbClr val="7B1E2B"/>
            </a:solidFill>
            <a:prstDash val="solid"/>
          </a:ln>
        </p:spPr>
      </p:sp>
      <p:sp>
        <p:nvSpPr>
          <p:cNvPr id="5" name="Shape 3"/>
          <p:cNvSpPr/>
          <p:nvPr/>
        </p:nvSpPr>
        <p:spPr>
          <a:xfrm>
            <a:off x="405408" y="783222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vi-VN" sz="720" dirty="0"/>
          </a:p>
        </p:txBody>
      </p:sp>
      <p:sp>
        <p:nvSpPr>
          <p:cNvPr id="10" name="Text 8"/>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Doanh thu bán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Các khoản giảm trừ</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Doanh thu thuần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nguyên liệu, nhân công theo sản lượng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sản xuất cố định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bộ phận sản xuất (70%)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sản xuất (90%)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Giá vốn hàng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bán hàng &amp; quản lý (30%)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Thuê mặt bằng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bán hàng &amp; quản lý (10%)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Sửa chữa, bảo dưỡng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nước, dịch vụ chung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Hỗ trợ tiền ăn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Kiểm nghiệm, chứng nhận &amp; R&amp;D</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Marketing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Chi phí bán hàng &amp; QLDN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EBIT (lợi nhuận thuần từ HĐKD trước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trước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Thuế TNDN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EBITDA = EBIT +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EBITDA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2" name="Text 9"/>
          <p:cNvSpPr txBox="1"/>
          <p:nvPr/>
        </p:nvSpPr>
        <p:spPr>
          <a:xfrm>
            <a:off x="405408" y="464135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vi-VN" sz="600" dirty="0"/>
          </a:p>
        </p:txBody>
      </p:sp>
      <p:sp>
        <p:nvSpPr>
          <p:cNvPr id="13" name="Text 10"/>
          <p:cNvSpPr txBox="1"/>
          <p:nvPr/>
        </p:nvSpPr>
        <p:spPr>
          <a:xfrm>
            <a:off x="405408" y="4835743"/>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cân đối kế toán 2023A–2030E</a:t>
            </a:r>
            <a:endParaRPr lang="vi-VN" sz="720" dirty="0"/>
          </a:p>
        </p:txBody>
      </p:sp>
      <p:sp>
        <p:nvSpPr>
          <p:cNvPr id="14" name="Text 11"/>
          <p:cNvSpPr txBox="1"/>
          <p:nvPr/>
        </p:nvSpPr>
        <p:spPr>
          <a:xfrm>
            <a:off x="405408" y="4963269"/>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05408" y="507876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thu khách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Hàng tồn kho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Tài sản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Nguyên giá TSCĐ (hữu hình + vô hình)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lũy kế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Tài sản dài hạn ròng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78,7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trả người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Nợ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nợ phải trả</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giữ lại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Vốn chủ sở hữu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nguồn vốn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6" name="Text 12"/>
          <p:cNvSpPr txBox="1"/>
          <p:nvPr/>
        </p:nvSpPr>
        <p:spPr>
          <a:xfrm>
            <a:off x="405408" y="766896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vi-VN" sz="600" dirty="0"/>
          </a:p>
        </p:txBody>
      </p:sp>
      <p:sp>
        <p:nvSpPr>
          <p:cNvPr id="17" name="Text 13"/>
          <p:cNvSpPr txBox="1"/>
          <p:nvPr/>
        </p:nvSpPr>
        <p:spPr>
          <a:xfrm>
            <a:off x="405408" y="786335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lưu chuyển tiền tệ 2023A–2030E</a:t>
            </a:r>
            <a:endParaRPr lang="vi-VN" sz="720" dirty="0"/>
          </a:p>
        </p:txBody>
      </p:sp>
      <p:sp>
        <p:nvSpPr>
          <p:cNvPr id="18" name="Text 14"/>
          <p:cNvSpPr txBox="1"/>
          <p:nvPr/>
        </p:nvSpPr>
        <p:spPr>
          <a:xfrm>
            <a:off x="405408" y="799088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05408" y="810637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Thay đổi vốn lưu động và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HĐKD (CFO)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CAPEX (CFI)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 cổ phần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(trả) nợ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HĐTC (CFF)</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Tiền cuối kỳ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FCFF (2023–25A: CFO − CAPEX)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0" name="Text 15"/>
          <p:cNvSpPr txBox="1"/>
          <p:nvPr/>
        </p:nvSpPr>
        <p:spPr>
          <a:xfrm>
            <a:off x="405408" y="961310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vi-VN" sz="600" dirty="0"/>
          </a:p>
        </p:txBody>
      </p:sp>
      <p:sp>
        <p:nvSpPr>
          <p:cNvPr id="21" name="Text 1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2" name="Text 1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19</a:t>
            </a:r>
            <a:endParaRPr lang="vi-VN"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vi-VN" sz="72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1582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sản lượng hộp/khay F&amp;B</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+22% do nhà máy mới đang xây; 2028 +35% khi 2 nhà máy mới chạy; giảm dần về +17% năm 2030. Lịch sử +60% (2024), +58% (2025). Đối chiếu: thị phần SAM tăng từ 4,3% lên ~11% năm 2030. Nguồn: BCTC 2023–2025 (đề bài); IMARC Group (2025);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bán bình quân hộp/khay F&amp;B (nghìn đ/cái)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bán F&amp;B và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3.2.6); Bear +1%, Bull +2,5%. Nguồn: Cục Thống kê (2026);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số bộ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số bộ khuôn gắn với số SKU/khách hàng mới; tăng nhanh năm 2028 khi mở thị trường miền Bắc, sau đó chậm dần. Lịch sử +40% (2024), +39,5%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bình quân bộ khuôn (nghìn đ)</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20.400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20.808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21.224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21.649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22.082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nội thất/TMĐT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bám theo tăng trưởng TMĐT 18–25%/năm và khách hàng nội thất xuất khẩu; năm 2028 +40% nhờ công suất mới. Nguồn: Mục 3.2.2 (VECOM; Bộ Công Thương);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nội thất/TMĐT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24,2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điện tử</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xuất khẩu 475 tỷ USD năm 2025, FDI chiếm 80% (Bộ Công Thương);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điện tử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đệm bảo vệ</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3.2.5) nên chỉ tăng 1,5%/năm (Base); Bear 0,5%, Bull 2%. Nguồn: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Khoản giảm trừ / doanh thu gộp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biến đổi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chi phí cố định sản xuất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cố định tăng thêm của nhà máy mới (tỷ)</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36,0% → 24,9% → 22,6% (2023–25). Giảm chậm lại (22,5–23,5%) vì lương tối thiểu vùng tăng 7,2% từ 01/01/2026 và nhà máy mới phải tuyển trước khi đạt công suất. Nguồn: BCTC 2023–2025; Nghị định 293/2025/NĐ-CP.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Khấu hao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Hỗ trợ tiền ăn / tiền lương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(28,8% quỹ lương).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tiền thuê mặt bằng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Sửa chữa, bảo dưỡng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(4,4% DT; 2023–24: 4,9%, 5,2%).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Điện, nước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Marketing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Kiểm nghiệm, chứng nhận &amp; R&amp;D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CAPEX / doanh thu (tỷ lệ tái đầu tư)</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tỷ lệ tái đầu tư = CAPEX/DT từng năm: 2026 20%, 2027 65% (đầu tư lớn theo đề bài), 2028 12% (hoàn thiện, chạy thử), 2029–30 10%. Ngành: trung vị CAPEX/DT của 16 DN bao bì niêm yết 2023–25 là 3,1%, tứ phân vị trên 8,3%, DN đang mở rộng 13–30% (Fig. A10); AgriPack cao hơn vì còn tăng trưởng 17–35%/năm và khấu hao chiếm 9–10% DT. Nguồn: đề bài (Mục III.2); FiinX (2026);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khấu hao (% nguyên giá đầu kỳ)</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tồn kho (DIO)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2028 tăng lên 105 ngày để tích trữ cho 2 nhà máy mới. Nguồn: BCTC 2023–2025; lịch vụ ép mía.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thu (DSO)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3.2.6 (khách hàng B2B có quyền thương lượng cao).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trả (DPO)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TSNH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6,3% → 5,5% → 4,4% (2023–25); giữ 4,0%.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Nợ ngắn hạn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2023–2025 (0,17–0,24% DT).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mặt tối thiểu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9" name="Text 6"/>
          <p:cNvSpPr txBox="1"/>
          <p:nvPr/>
        </p:nvSpPr>
        <p:spPr>
          <a:xfrm>
            <a:off x="405408" y="892715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0" name="Text 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1" name="Text 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20</a:t>
            </a:r>
            <a:endParaRPr lang="vi-VN"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150269"/>
            <a:ext cx="6749058" cy="0"/>
          </a:xfrm>
          <a:prstGeom prst="line">
            <a:avLst/>
          </a:prstGeom>
          <a:noFill/>
          <a:ln w="9525">
            <a:solidFill>
              <a:srgbClr val="7B1E2B"/>
            </a:solidFill>
            <a:prstDash val="solid"/>
          </a:ln>
        </p:spPr>
      </p:sp>
      <p:sp>
        <p:nvSpPr>
          <p:cNvPr id="5" name="Shape 3"/>
          <p:cNvSpPr/>
          <p:nvPr/>
        </p:nvSpPr>
        <p:spPr>
          <a:xfrm>
            <a:off x="405408" y="5276701"/>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vi-VN"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CAPEX 2027 tài trợ bằng vay trung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60% CAPEX nhà máy mới vay trung hạn có tài sản bảo đảm (nhà xưởng, máy); lãi suất cho vay 8,1–10,5% (Mục 3.1.3), có thể xin hỗ trợ lãi suất NATIF (Mục 3.1.5). Nguồn: NHNN (2026); NATIF (2026);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vay</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TNDN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giá USD/VND bình quân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26.300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26.826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27.363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27.910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28.468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8700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2" name="Text 9"/>
          <p:cNvSpPr txBox="1"/>
          <p:nvPr/>
        </p:nvSpPr>
        <p:spPr>
          <a:xfrm>
            <a:off x="405408" y="218139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vi-VN" sz="720" dirty="0"/>
          </a:p>
        </p:txBody>
      </p:sp>
      <p:sp>
        <p:nvSpPr>
          <p:cNvPr id="13" name="Text 10"/>
          <p:cNvSpPr txBox="1"/>
          <p:nvPr/>
        </p:nvSpPr>
        <p:spPr>
          <a:xfrm>
            <a:off x="405408" y="230892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tỷ lệ bình quân gia quyền 3 năm</a:t>
            </a:r>
            <a:endParaRPr lang="vi-VN" sz="63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408" y="2424410"/>
          <a:ext cx="6749058" cy="914400"/>
        </p:xfrm>
        <a:graphic>
          <a:graphicData uri="http://schemas.openxmlformats.org/drawingml/2006/table">
            <a:tbl>
              <a:tblPr/>
              <a:tblGrid>
                <a:gridCol w="578644"/>
                <a:gridCol w="600373"/>
                <a:gridCol w="600373"/>
                <a:gridCol w="600373"/>
                <a:gridCol w="600373"/>
                <a:gridCol w="600373"/>
                <a:gridCol w="600373"/>
                <a:gridCol w="600373"/>
                <a:gridCol w="723305"/>
                <a:gridCol w="621953"/>
                <a:gridCol w="62254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 23–25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CAPEX/KH</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1.109,3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SVI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12.782,2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10.728,1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14.521,9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14.192,6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10.741,3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1.532,2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3.258,9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2.506,9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3.153,3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874,5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844,4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4.379,1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Tứ phân vị trên (P75)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5" name="Text 11"/>
          <p:cNvSpPr txBox="1"/>
          <p:nvPr/>
        </p:nvSpPr>
        <p:spPr>
          <a:xfrm>
            <a:off x="405408" y="511343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vi-VN" sz="600" dirty="0"/>
          </a:p>
        </p:txBody>
      </p:sp>
      <p:sp>
        <p:nvSpPr>
          <p:cNvPr id="16" name="Text 12"/>
          <p:cNvSpPr txBox="1"/>
          <p:nvPr/>
        </p:nvSpPr>
        <p:spPr>
          <a:xfrm>
            <a:off x="405408" y="5307826"/>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vi-VN" sz="72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408" y="5449639"/>
          <a:ext cx="6749058" cy="914400"/>
        </p:xfrm>
        <a:graphic>
          <a:graphicData uri="http://schemas.openxmlformats.org/drawingml/2006/table">
            <a:tbl>
              <a:tblPr/>
              <a:tblGrid>
                <a:gridCol w="1282303"/>
                <a:gridCol w="742355"/>
                <a:gridCol w="4724400"/>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 định giá</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Giá trị</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phi rủi ro Rf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lợi suất TPCP Việt Nam kỳ hạn 10 năm ngày 01/10/2026 = 4,588% (Discount rate, ô B12). Bình quân 2016–2025 là 3,92% (Fig. A12), chỉ dùng để đối chiếu.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ERP thị trường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Phần bù rủi ro quốc gia (CRP)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Beta không đòn bẩy βu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Hệ số tương quan ρ</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beta tổng = beta có đòn bẩy / ρ (B23 = B21/B22), trong đó ρ là hệ số tương quan giữa danh mục của nhà đầu tư VC và thị trường. ρ = 0,7 vì quỹ VC nắm 20–30 khoản đầu tư nên chỉ đa dạng hóa một phần. Nguồn: Damodaran (2009), Valuing Young, Start-up and Growth Companies.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nợ trước thuế Kd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D/E mục tiêu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D/E theo BCĐKT dự phóng cuối 2027 (sau huy động vốn cổ phần và khoản vay trung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dài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dài hạn 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1658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RONIC sau 2030 (= ROIC 2030E)</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13,9%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RONIC = ROIC 2030E của chính mô hình (DCF!B39 = NOPAT 2030/(tài sản dài hạn ròng + VLĐ)). Lý do: file mẫu tính giá trị cuối kỳ = FCFF 2031/(WACC − g); FCFF 2031 được chuẩn hóa = NOPAT 2031 × (1 − g/RONIC) để phần tái đầu tư chỉ vừa đủ cho tăng trưởng 5%/năm, vì FCFF 2030 còn chứa CAPEX của giai đoạn tăng ~20%. Lấy RONIC bằng ROIC 2030 nghĩa là vốn mới sinh lời như năm cuối dự phóng, không giả định thêm lợi thế; ROIC 2030 xấp xỉ WACC nên tăng trưởng sau 2030 gần như không tạo thêm giá trị (thận trọng). Nguồn: tính toán từ mô hình;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thất bại z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Giả định: theo hướng dẫn của BTL, DN giai đoạn đầu tăng trưởng có z = 35–45%; lấy 40% (trung điểm).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suất lợi nhuận yêu cầu p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giáo trình: (1 + p)^n = (1 + r)^n/(1 − z), với r = WACC (B7), z = B6, n = 5 năm.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Giai đoạn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Đầu tăng trưởng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P/E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EV/EBITDA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8,00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Chiết khấu thanh khoản &amp; quy mô (DLOM)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DCF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Multiples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9462641"/>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vi-VN" sz="600" dirty="0"/>
          </a:p>
        </p:txBody>
      </p:sp>
      <p:sp>
        <p:nvSpPr>
          <p:cNvPr id="19" name="Text 1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0" name="Text 1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21</a:t>
            </a:r>
            <a:endParaRPr lang="vi-VN"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734121"/>
            <a:ext cx="6749058" cy="0"/>
          </a:xfrm>
          <a:prstGeom prst="line">
            <a:avLst/>
          </a:prstGeom>
          <a:noFill/>
          <a:ln w="9525">
            <a:solidFill>
              <a:srgbClr val="7B1E2B"/>
            </a:solidFill>
            <a:prstDash val="solid"/>
          </a:ln>
        </p:spPr>
      </p:sp>
      <p:sp>
        <p:nvSpPr>
          <p:cNvPr id="5" name="Shape 3"/>
          <p:cNvSpPr/>
          <p:nvPr/>
        </p:nvSpPr>
        <p:spPr>
          <a:xfrm>
            <a:off x="405408" y="585817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Lợi suất TPCP kỳ hạn 10 năm 2016–2025: bình quân 3,92%, thấp hơn mức 4,59% dùng làm Rf</a:t>
            </a:r>
            <a:endParaRPr lang="vi-VN" sz="72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79748"/>
                <a:gridCol w="539800"/>
                <a:gridCol w="2092077"/>
                <a:gridCol w="3037433"/>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Năm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Lợi suất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Thời điểm quan sát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Nguồn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6,95%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Q1/2016 – lãi suất phát hành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10/2017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03/12/2018 – lợi suất spot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CEIC Data (dữ liệu HNX), Vietnam Government Bond Yield: Spot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12/2019 – thị trường thứ cấp (mức thấp kỷ lục)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(2020). Gov't bond yields hit record low</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12/2020 – thị trường thứ cấp (−34 bps so với 11/2020)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(2021). Bond Market Report 12/2020; MBS Fixed Income 01/2021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12/2021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(2022). Bond Market Monthly Highlights 12/2021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4,80%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31/12/2022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ADB AsianBondsOnline (2023); VBMA Monthly Bond Market Report 12/2022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29/11/2023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(2023). Kết quả đấu thầu TPCP ngày 29/11/2023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2024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2025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2016–2025 (đối chiếu)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57085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Rf trong mô hình: 4,588% ngày 01/10/2026 (Discount rate). 2016–2017, 2023 dùng quan sát phát hành/đấu thầu gần cuối năm nhất có nguồn</a:t>
            </a:r>
            <a:endParaRPr lang="vi-VN" sz="600" dirty="0"/>
          </a:p>
        </p:txBody>
      </p:sp>
      <p:sp>
        <p:nvSpPr>
          <p:cNvPr id="12" name="Text 9"/>
          <p:cNvSpPr txBox="1"/>
          <p:nvPr/>
        </p:nvSpPr>
        <p:spPr>
          <a:xfrm>
            <a:off x="405408" y="2765247"/>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vi-VN" sz="72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05408" y="2907060"/>
          <a:ext cx="6749058" cy="914400"/>
        </p:xfrm>
        <a:graphic>
          <a:graphicData uri="http://schemas.openxmlformats.org/drawingml/2006/table">
            <a:tbl>
              <a:tblPr/>
              <a:tblGrid>
                <a:gridCol w="539800"/>
                <a:gridCol w="607368"/>
                <a:gridCol w="1822252"/>
                <a:gridCol w="742355"/>
                <a:gridCol w="809774"/>
                <a:gridCol w="809774"/>
                <a:gridCol w="674787"/>
                <a:gridCol w="74295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Mã</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Sàn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TTM (tỷ)</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Biên EBITDA (%)</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EV/EBITDA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P/E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Trong mẫu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 carton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Nhựa, nhựa sinh học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 (holding)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Bao bì kim loại,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36,45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84,23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PBT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Thương mại vật tư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9,97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Màng, túi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bao xi măng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 mẫu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ngành 2026 (FiinX)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5694908"/>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vi-VN" sz="600" dirty="0"/>
          </a:p>
        </p:txBody>
      </p:sp>
      <p:sp>
        <p:nvSpPr>
          <p:cNvPr id="15" name="Text 11"/>
          <p:cNvSpPr txBox="1"/>
          <p:nvPr/>
        </p:nvSpPr>
        <p:spPr>
          <a:xfrm>
            <a:off x="405408" y="588929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DCF: WACC × g</a:t>
            </a:r>
            <a:endParaRPr lang="vi-VN" sz="720" dirty="0"/>
          </a:p>
        </p:txBody>
      </p:sp>
      <p:sp>
        <p:nvSpPr>
          <p:cNvPr id="16" name="Text 12"/>
          <p:cNvSpPr txBox="1"/>
          <p:nvPr/>
        </p:nvSpPr>
        <p:spPr>
          <a:xfrm>
            <a:off x="405408" y="601682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405408" y="6132314"/>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 \ 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6987183"/>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VC Method: z × thay đổi giá trị thoái vốn</a:t>
            </a:r>
            <a:endParaRPr lang="vi-VN" sz="640" dirty="0"/>
          </a:p>
        </p:txBody>
      </p:sp>
      <p:graphicFrame>
        <p:nvGraphicFramePr>
          <p:cNvPr id="89" name="Table 3"/>
          <p:cNvGraphicFramePr>
            <a:graphicFrameLocks noGrp="1"/>
          </p:cNvGraphicFramePr>
          <p:nvPr>
            <p:extLst>
              <p:ext uri="{D42A27DB-BD31-4B8C-83A1-F6EECF244321}">
                <p14:modId xmlns:p14="http://schemas.microsoft.com/office/powerpoint/2010/main" val="1579011935"/>
              </p:ext>
            </p:extLst>
          </p:nvPr>
        </p:nvGraphicFramePr>
        <p:xfrm>
          <a:off x="405408" y="7093446"/>
          <a:ext cx="2159943" cy="914400"/>
        </p:xfrm>
        <a:graphic>
          <a:graphicData uri="http://schemas.openxmlformats.org/drawingml/2006/table">
            <a:tbl>
              <a:tblPr/>
              <a:tblGrid>
                <a:gridCol w="431899"/>
                <a:gridCol w="345579"/>
                <a:gridCol w="345579"/>
                <a:gridCol w="345579"/>
                <a:gridCol w="345579"/>
                <a:gridCol w="34572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z \ Exit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0" name="Text 14"/>
          <p:cNvSpPr txBox="1"/>
          <p:nvPr/>
        </p:nvSpPr>
        <p:spPr>
          <a:xfrm>
            <a:off x="405408" y="7948315"/>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DCF: WACC × RONIC</a:t>
            </a:r>
            <a:endParaRPr lang="vi-VN" sz="640" dirty="0"/>
          </a:p>
        </p:txBody>
      </p:sp>
      <p:graphicFrame>
        <p:nvGraphicFramePr>
          <p:cNvPr id="111" name="Table 4"/>
          <p:cNvGraphicFramePr>
            <a:graphicFrameLocks noGrp="1"/>
          </p:cNvGraphicFramePr>
          <p:nvPr>
            <p:extLst>
              <p:ext uri="{D42A27DB-BD31-4B8C-83A1-F6EECF244321}">
                <p14:modId xmlns:p14="http://schemas.microsoft.com/office/powerpoint/2010/main" val="1579011935"/>
              </p:ext>
            </p:extLst>
          </p:nvPr>
        </p:nvGraphicFramePr>
        <p:xfrm>
          <a:off x="405408" y="8054578"/>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WACC\RONIC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9,9%</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11,9%</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2" name="Text 15"/>
          <p:cNvSpPr txBox="1"/>
          <p:nvPr/>
        </p:nvSpPr>
        <p:spPr>
          <a:xfrm>
            <a:off x="405408" y="88841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vi-VN" sz="600" dirty="0"/>
          </a:p>
        </p:txBody>
      </p:sp>
      <p:sp>
        <p:nvSpPr>
          <p:cNvPr id="23" name="Text 16"/>
          <p:cNvSpPr txBox="1"/>
          <p:nvPr/>
        </p:nvSpPr>
        <p:spPr>
          <a:xfrm>
            <a:off x="2745284" y="587246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Diễn giải kết quả định giá</a:t>
            </a:r>
            <a:endParaRPr lang="vi-VN" sz="900" dirty="0"/>
          </a:p>
        </p:txBody>
      </p:sp>
      <p:sp>
        <p:nvSpPr>
          <p:cNvPr id="24" name="Text 17"/>
          <p:cNvSpPr txBox="1"/>
          <p:nvPr/>
        </p:nvSpPr>
        <p:spPr>
          <a:xfrm>
            <a:off x="2745284" y="6041827"/>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(28,4 tỷ đồng; độ nhạy ở Fig. A14) là giá trị nếu kế hoạch được thực hiện đúng: nhà máy năm 2027 xong đúng tiến độ và sản lượng đạt dự phóng. Nhà đầu tư mạo hiểm sẽ không trả mức này vì vẫn còn 40% khả năng doanh nghiệp thất bại. Khi nhân với xác suất sống sót và cộng giá trị thanh lý, DCF còn 23,0 tỷ đồng, gần VC Method (24,0 tỷ) và Multiples (27,7 tỷ). Khoảng 23–28 tỷ đồng vì vậy là vùng giá trị đã tính rủi ro, còn DCF là cận trên khi rủi ro đã giảm.</a:t>
            </a:r>
            <a:endParaRPr lang="vi-VN" sz="850" dirty="0"/>
          </a:p>
        </p:txBody>
      </p:sp>
      <p:sp>
        <p:nvSpPr>
          <p:cNvPr id="25" name="Text 18"/>
          <p:cNvSpPr txBox="1"/>
          <p:nvPr/>
        </p:nvSpPr>
        <p:spPr>
          <a:xfrm>
            <a:off x="2745284" y="6868864"/>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Tăng trưởng chưa tạo ra giá trị trong 5 năm dự phóng.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Hiện giá dòng tiền tự do 2026–2030 âm 32,9 tỷ đồng và ROIC giai đoạn 2027–2029 thấp hơn WACC, nên toàn bộ giá trị đến từ giai đoạn sau năm 2030 (giá trị cuối kỳ bằng 222% EV). Pre-money 26,5 tỷ đồng chỉ bằng 0,88 lần vốn chủ sở hữu sổ sách và khoảng 3,3 lần EBITDA năm 2025: thị trường sẽ chưa trả thêm cho tăng trưởng cho tới khi nhà máy mới chứng minh được công suất.</a:t>
            </a:r>
            <a:endParaRPr lang="vi-VN" sz="850" dirty="0"/>
          </a:p>
        </p:txBody>
      </p:sp>
      <p:sp>
        <p:nvSpPr>
          <p:cNvPr id="26" name="Text 19"/>
          <p:cNvSpPr txBox="1"/>
          <p:nvPr/>
        </p:nvSpPr>
        <p:spPr>
          <a:xfrm>
            <a:off x="2745284" y="756433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P/E 9,4 lần cho 130 tỷ đồng, còn EV/EBITDA 8 lần cho 267 tỷ đồng; giá trị thoái vốn thay đổi 15% làm pre-money theo VC Method thay đổi khoảng 9 tỷ đồng. Với tỷ lệ thất bại 45%, cận trên của giai đoạn đầu tăng trưởng, pre-money còn khoảng 18,9 tỷ đồng.</a:t>
            </a:r>
            <a:endParaRPr lang="vi-VN" sz="850" dirty="0"/>
          </a:p>
        </p:txBody>
      </p:sp>
      <p:sp>
        <p:nvSpPr>
          <p:cNvPr id="27" name="Text 20"/>
          <p:cNvSpPr txBox="1"/>
          <p:nvPr/>
        </p:nvSpPr>
        <p:spPr>
          <a:xfrm>
            <a:off x="2745284" y="8128248"/>
            <a:ext cx="4464046" cy="394692"/>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Vì dòng tiền dương đến muộn, WACC thay đổi 1 điểm % tác động đến pre-money mạnh hơn g thay đổi 1 điểm %. Nếu lợi nhuận trên vốn đầu tư mới sau năm 2030 thấp hơn ROIC năm 2030 hai điểm %, giá trị DCF giảm thêm 5,7 tỷ đồng.</a:t>
            </a:r>
            <a:endParaRPr lang="vi-VN" sz="850" dirty="0"/>
          </a:p>
        </p:txBody>
      </p:sp>
      <p:sp>
        <p:nvSpPr>
          <p:cNvPr id="28" name="Text 21"/>
          <p:cNvSpPr txBox="1"/>
          <p:nvPr/>
        </p:nvSpPr>
        <p:spPr>
          <a:xfrm>
            <a:off x="2745284" y="8560594"/>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Khoảng 15,8–40,4 tỷ đồng phản ánh ba nguồn bất định: chi phí vốn, giá trị thoái vốn và xác suất thất bại. Cận dưới (15,8 tỷ đồng) thấp hơn cả giá trị tính theo P/E trung vị ngành (17,7 tỷ đồng) và giá trị sổ sách; cận trên đòi hỏi nhà máy đúng tiến độ và bội số thoái vốn ngang bình quân ngành. Giá trị tăng mạnh khi sản lượng F&amp;B đạt kế hoạch (kịch bản tốt cho 71,7 tỷ đồng) và giảm mạnh nếu cầu yếu (kịch bản xấu cho giá trị âm).</a:t>
            </a:r>
            <a:endParaRPr lang="vi-VN" sz="850" dirty="0"/>
          </a:p>
        </p:txBody>
      </p:sp>
      <p:sp>
        <p:nvSpPr>
          <p:cNvPr id="29" name="Text 22"/>
          <p:cNvSpPr txBox="1"/>
          <p:nvPr/>
        </p:nvSpPr>
        <p:spPr>
          <a:xfrm>
            <a:off x="2745284" y="9256068"/>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tính lại toàn bộ mô hình (Fig. A15), sản lượng thay đổi 20% làm pre-money đi từ 0,3 đến 57,1 tỷ đồng, trong khi lãi suất hay rủi ro quốc gia thay đổi 1 điểm % chỉ làm pre-money thay đổi khoảng 4–5 tỷ đồng. Theo dõi đơn hàng F&amp;B và tiến độ nhà máy năm 2027 vì vậy quan trọng hơn dự báo lãi suất.</a:t>
            </a:r>
            <a:endParaRPr lang="vi-VN" sz="850" dirty="0"/>
          </a:p>
        </p:txBody>
      </p:sp>
      <p:sp>
        <p:nvSpPr>
          <p:cNvPr id="30"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1"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22</a:t>
            </a:r>
            <a:endParaRPr lang="vi-VN"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vi-VN" sz="720" dirty="0"/>
          </a:p>
        </p:txBody>
      </p:sp>
      <p:sp>
        <p:nvSpPr>
          <p:cNvPr id="8" name="Text 6"/>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417290"/>
                <a:gridCol w="512862"/>
                <a:gridCol w="512862"/>
                <a:gridCol w="512862"/>
                <a:gridCol w="512862"/>
                <a:gridCol w="512862"/>
                <a:gridCol w="2767459"/>
              </a:tblGrid>
              <a:tr h="233362">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Pre-money</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DCF</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VCM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LNST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Kịch bản cơ sở (Base)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26,5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28,4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24,0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170,3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99">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0,3 / 57,1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−11,7 / 76,7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 / 52,3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137,3 / 209,6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6,6 / 22,6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 bán: +1% / +3% mỗi năm, Base +2% (CPI, sức mạnh khách hàng B2B – Mục 3.1.2,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20,0 / 33,2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18,4 / 38,8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 / 30,4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162,1 / 178,8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12,0 / 15,8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3.2.5,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18,2 / 34,6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17,1 / 39,6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14,6 / 32,9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12,5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16,3 / 36,3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14,4 / 42,3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12,5 / 34,7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 / 15,6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22,1 / 31,7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21,0 / 37,7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20,4 / 27,8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13,7 / 14,0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cho cả lợi suất phi rủi ro (TPCP 10 năm 4,59% ngày 01/10/2026) và lãi vay (10%, khung cho vay 8,1–10,5%/năm); nhỏ hơn độ lệch chuẩn ~1,6 điểm % của lợi suất TPCP 10 năm 2016–2025.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22,1 / 31,9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 / 38,9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21,2 / 26,9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26,5 / 29,5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28,4 / 31,7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24,0 / 28,0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364926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vi-VN" sz="600" dirty="0"/>
          </a:p>
        </p:txBody>
      </p:sp>
      <p:sp>
        <p:nvSpPr>
          <p:cNvPr id="11" name="Text 8"/>
          <p:cNvSpPr txBox="1"/>
          <p:nvPr/>
        </p:nvSpPr>
        <p:spPr>
          <a:xfrm>
            <a:off x="405408" y="3826818"/>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Ghi chú phương pháp</a:t>
            </a:r>
            <a:endParaRPr lang="vi-VN" sz="900" dirty="0"/>
          </a:p>
        </p:txBody>
      </p:sp>
      <p:sp>
        <p:nvSpPr>
          <p:cNvPr id="12" name="Text 9"/>
          <p:cNvSpPr txBox="1"/>
          <p:nvPr/>
        </p:nvSpPr>
        <p:spPr>
          <a:xfrm>
            <a:off x="394156" y="3996184"/>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Nội dung.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Mục 1–3 và Mục 6.1 theo bài của nhóm (TTKN, bản cập nhật 06/10/2026); chỉ đánh số tiêu đề, thêm số Fig., chuyển đường dẫn nguồn xuống Tài liệu tham khảo và sửa một số lỗi dữ kiện, chính tả (văn bản pháp lý ở Mục 1; thị phần SAM F&amp;B ở Mục 2.1 thống nhất 4,3%; số liệu IMARC bị lặp, tên doanh nghiệp, dòng lặp trong bảng sản phẩm thay thế và một số lỗi chính tả ở Mục 3.2). Mục 4, 5, 8 và các phụ lục tính toán được viết từ mô hình. Các bảng số của Mục 2 được đối chiếu lại với BCTC trong mô hình và khớp.</a:t>
            </a:r>
            <a:endParaRPr lang="vi-VN" sz="700" dirty="0"/>
          </a:p>
        </p:txBody>
      </p:sp>
      <p:sp>
        <p:nvSpPr>
          <p:cNvPr id="13" name="Text 10"/>
          <p:cNvSpPr txBox="1"/>
          <p:nvPr/>
        </p:nvSpPr>
        <p:spPr>
          <a:xfrm>
            <a:off x="394156" y="4357985"/>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Giá trị cuối kỳ và VC Method.</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Giá trị cuối kỳ dùng đúng công thức của file mẫu, FCFF 2031/(WACC − g), với FCFF 2031 chuẩn hóa theo tỷ lệ tái đầu tư g/RONIC và RONIC bằng ROIC năm 2030 của mô hình. VC Method tính tỷ suất lợi nhuận yêu cầu theo công thức giáo trình p = (1 + r)/(1 − z)</a:t>
            </a:r>
            <a:pPr algn="just" indent="0" marL="0">
              <a:lnSpc>
                <a:spcPts val="880"/>
              </a:lnSpc>
              <a:buNone/>
            </a:pPr>
            <a:r>
              <a:rPr lang="vi-VN" sz="490" baseline="30000" dirty="0">
                <a:solidFill>
                  <a:srgbClr val="1F1F1F"/>
                </a:solidFill>
                <a:latin typeface="Calibri" pitchFamily="34" charset="0"/>
                <a:ea typeface="Calibri" pitchFamily="34" charset="-122"/>
                <a:cs typeface="Calibri" pitchFamily="34" charset="-120"/>
              </a:rPr>
              <a:t>1/n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− 1, với z = 40% theo hướng dẫn của đề bài cho giai đoạn đầu tăng trưởng.</a:t>
            </a:r>
            <a:endParaRPr lang="vi-VN" sz="700" dirty="0"/>
          </a:p>
        </p:txBody>
      </p:sp>
      <p:sp>
        <p:nvSpPr>
          <p:cNvPr id="14" name="Text 11"/>
          <p:cNvSpPr txBox="1"/>
          <p:nvPr/>
        </p:nvSpPr>
        <p:spPr>
          <a:xfrm>
            <a:off x="394156" y="460876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Mô hình.</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nguồn và lý do của từng giả định ghi ngay ô bên cạnh giả định; sheet Checks xác nhận BCĐKT cân và các liên kết khớp.</a:t>
            </a:r>
            <a:endParaRPr lang="vi-VN" sz="700" dirty="0"/>
          </a:p>
        </p:txBody>
      </p:sp>
      <p:sp>
        <p:nvSpPr>
          <p:cNvPr id="15" name="Text 12"/>
          <p:cNvSpPr txBox="1"/>
          <p:nvPr/>
        </p:nvSpPr>
        <p:spPr>
          <a:xfrm>
            <a:off x="394156" y="4859536"/>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BCKQKD theo chức năng.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vi-VN" sz="700" dirty="0"/>
          </a:p>
        </p:txBody>
      </p:sp>
      <p:sp>
        <p:nvSpPr>
          <p:cNvPr id="16" name="Text 13"/>
          <p:cNvSpPr txBox="1"/>
          <p:nvPr/>
        </p:nvSpPr>
        <p:spPr>
          <a:xfrm>
            <a:off x="394156" y="511031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Rf.</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Lợi suất TPCP kỳ hạn 10 năm ngày 01/10/2026 = 4,588% (Discount rate, ô B12); bình quân 2016–2025 là 3,92% (Fig. A12), chỉ dùng để đối chiếu. Phần bù rủi ro quốc gia 3,9% là ước tính theo phương pháp Damodaran cho hạng Ba2.</a:t>
            </a:r>
            <a:endParaRPr lang="vi-VN" sz="700" dirty="0"/>
          </a:p>
        </p:txBody>
      </p:sp>
      <p:sp>
        <p:nvSpPr>
          <p:cNvPr id="17" name="Text 14"/>
          <p:cNvSpPr txBox="1"/>
          <p:nvPr/>
        </p:nvSpPr>
        <p:spPr>
          <a:xfrm>
            <a:off x="394156" y="5361087"/>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Độ nhạy theo nhân tố.</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38, Fig. A15); kết quả lưu dạng giá trị chụp ở Summary, lý do biên độ ghi ở ô bên cạnh.</a:t>
            </a:r>
            <a:endParaRPr lang="vi-VN" sz="700" dirty="0"/>
          </a:p>
        </p:txBody>
      </p:sp>
      <p:sp>
        <p:nvSpPr>
          <p:cNvPr id="18" name="Text 15"/>
          <p:cNvSpPr txBox="1"/>
          <p:nvPr/>
        </p:nvSpPr>
        <p:spPr>
          <a:xfrm>
            <a:off x="394156" y="5611862"/>
            <a:ext cx="6815173" cy="111026"/>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Năm đầu tư lớn.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Đề bài ghi năm 2027; ghi chú trong file Excel mẫu đặt đợt đầu tư mạnh ở năm 2028. Báo cáo và mô hình theo đề bài: CAPEX bằng 65% doanh thu năm 2027.</a:t>
            </a:r>
            <a:endParaRPr lang="vi-VN" sz="700" dirty="0"/>
          </a:p>
        </p:txBody>
      </p:sp>
      <p:sp>
        <p:nvSpPr>
          <p:cNvPr id="19" name="Text 16"/>
          <p:cNvSpPr txBox="1"/>
          <p:nvPr/>
        </p:nvSpPr>
        <p:spPr>
          <a:xfrm>
            <a:off x="394156" y="5751612"/>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Quy ước.</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Tỷ đồng (bảng của nhóm ở Mục 2: nghìn đồng); t0 = 01/01/2026; chiết khấu cuối năm; A = thực tế, E = dự phóng (cột tô nền). FCFF = EBIT(1 − t) + khấu hao − ΔVLĐ − CAPEX. ROE, ROA, vòng quay tài sản tính trên số dư bình quân.</a:t>
            </a:r>
            <a:endParaRPr lang="vi-VN" sz="700" dirty="0"/>
          </a:p>
        </p:txBody>
      </p:sp>
      <p:sp>
        <p:nvSpPr>
          <p:cNvPr id="20" name="Text 1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23</a:t>
            </a:r>
            <a:endParaRPr lang="vi-VN" sz="6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10364688"/>
            <a:ext cx="6749058" cy="0"/>
          </a:xfrm>
          <a:prstGeom prst="line">
            <a:avLst/>
          </a:prstGeom>
          <a:noFill/>
          <a:ln w="9525">
            <a:solidFill>
              <a:srgbClr val="BFBFBF"/>
            </a:solidFill>
            <a:prstDash val="solid"/>
          </a:ln>
        </p:spPr>
      </p:sp>
      <p:sp>
        <p:nvSpPr>
          <p:cNvPr id="4" name="Text 2"/>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5" name="Text 3"/>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06/10/2026</a:t>
            </a:r>
            <a:endParaRPr lang="vi-VN" sz="680" dirty="0"/>
          </a:p>
        </p:txBody>
      </p:sp>
      <p:sp>
        <p:nvSpPr>
          <p:cNvPr id="6" name="Text 4"/>
          <p:cNvSpPr txBox="1"/>
          <p:nvPr/>
        </p:nvSpPr>
        <p:spPr>
          <a:xfrm>
            <a:off x="405408" y="572393"/>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Tài liệu tham khảo (APA 7)</a:t>
            </a:r>
            <a:endParaRPr lang="vi-VN" sz="900" dirty="0"/>
          </a:p>
        </p:txBody>
      </p:sp>
      <p:sp>
        <p:nvSpPr>
          <p:cNvPr id="7" name="Text 5"/>
          <p:cNvSpPr txBox="1"/>
          <p:nvPr/>
        </p:nvSpPr>
        <p:spPr>
          <a:xfrm>
            <a:off x="419308"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
            </a:pPr>
            <a:r>
              <a:rPr lang="vi-VN" sz="630" dirty="0">
                <a:solidFill>
                  <a:srgbClr val="1F1F1F"/>
                </a:solidFill>
                <a:latin typeface="Calibri" pitchFamily="34" charset="0"/>
                <a:ea typeface="Calibri" pitchFamily="34" charset="-122"/>
                <a:cs typeface="Calibri" pitchFamily="34" charset="-120"/>
              </a:rPr>
              <a:t>Asian Development Bank. (2023).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a:t>
            </a:r>
            <a:endParaRPr lang="vi-VN" sz="630" dirty="0"/>
          </a:p>
        </p:txBody>
      </p:sp>
      <p:sp>
        <p:nvSpPr>
          <p:cNvPr id="8" name="Text 6"/>
          <p:cNvSpPr txBox="1"/>
          <p:nvPr/>
        </p:nvSpPr>
        <p:spPr>
          <a:xfrm>
            <a:off x="419308" y="953095"/>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
            </a:pPr>
            <a:r>
              <a:rPr lang="vi-VN"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innovation and private capital report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vi-VN" sz="630" dirty="0"/>
          </a:p>
        </p:txBody>
      </p:sp>
      <p:sp>
        <p:nvSpPr>
          <p:cNvPr id="9" name="Text 7"/>
          <p:cNvSpPr txBox="1"/>
          <p:nvPr/>
        </p:nvSpPr>
        <p:spPr>
          <a:xfrm>
            <a:off x="419308" y="126206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
            </a:pPr>
            <a:r>
              <a:rPr lang="vi-VN" sz="630" dirty="0">
                <a:solidFill>
                  <a:srgbClr val="1F1F1F"/>
                </a:solidFill>
                <a:latin typeface="Calibri" pitchFamily="34" charset="0"/>
                <a:ea typeface="Calibri" pitchFamily="34" charset="-122"/>
                <a:cs typeface="Calibri" pitchFamily="34" charset="-120"/>
              </a:rPr>
              <a:t>Berkus, D. (2016).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After 20 years: Updating the Berkus method of valuation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Berkonomics.</a:t>
            </a:r>
            <a:endParaRPr lang="vi-VN" sz="630" dirty="0"/>
          </a:p>
        </p:txBody>
      </p:sp>
      <p:sp>
        <p:nvSpPr>
          <p:cNvPr id="10" name="Text 8"/>
          <p:cNvSpPr txBox="1"/>
          <p:nvPr/>
        </p:nvSpPr>
        <p:spPr>
          <a:xfrm>
            <a:off x="419308" y="1375767"/>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
            </a:pPr>
            <a:r>
              <a:rPr lang="vi-VN"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SGGP</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1" name="Text 9"/>
          <p:cNvSpPr txBox="1"/>
          <p:nvPr/>
        </p:nvSpPr>
        <p:spPr>
          <a:xfrm>
            <a:off x="419308" y="158710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
            </a:pPr>
            <a:r>
              <a:rPr lang="vi-VN" sz="630" dirty="0">
                <a:solidFill>
                  <a:srgbClr val="1F1F1F"/>
                </a:solidFill>
                <a:latin typeface="Calibri" pitchFamily="34" charset="0"/>
                <a:ea typeface="Calibri" pitchFamily="34" charset="-122"/>
                <a:cs typeface="Calibri" pitchFamily="34" charset="-120"/>
              </a:rPr>
              <a:t>Bộ Công Thương.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(hiệu lực 10/5/2025).</a:t>
            </a:r>
            <a:endParaRPr lang="vi-VN" sz="630" dirty="0"/>
          </a:p>
        </p:txBody>
      </p:sp>
      <p:sp>
        <p:nvSpPr>
          <p:cNvPr id="12" name="Text 10"/>
          <p:cNvSpPr txBox="1"/>
          <p:nvPr/>
        </p:nvSpPr>
        <p:spPr>
          <a:xfrm>
            <a:off x="419308" y="1798439"/>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6"/>
            </a:pPr>
            <a:r>
              <a:rPr lang="vi-VN" sz="630" dirty="0">
                <a:solidFill>
                  <a:srgbClr val="1F1F1F"/>
                </a:solidFill>
                <a:latin typeface="Calibri" pitchFamily="34" charset="0"/>
                <a:ea typeface="Calibri" pitchFamily="34" charset="-122"/>
                <a:cs typeface="Calibri" pitchFamily="34" charset="-120"/>
              </a:rPr>
              <a:t>Bộ Y tế.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https://chinhphu.vn/?pageid=27160&amp;docid=216867</a:t>
            </a:r>
            <a:endParaRPr lang="vi-VN" sz="630" dirty="0"/>
          </a:p>
        </p:txBody>
      </p:sp>
      <p:sp>
        <p:nvSpPr>
          <p:cNvPr id="13" name="Text 11"/>
          <p:cNvSpPr txBox="1"/>
          <p:nvPr/>
        </p:nvSpPr>
        <p:spPr>
          <a:xfrm>
            <a:off x="419308" y="210740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7"/>
            </a:pPr>
            <a:r>
              <a:rPr lang="vi-VN" sz="630" dirty="0">
                <a:solidFill>
                  <a:srgbClr val="1F1F1F"/>
                </a:solidFill>
                <a:latin typeface="Calibri" pitchFamily="34" charset="0"/>
                <a:ea typeface="Calibri" pitchFamily="34" charset="-122"/>
                <a:cs typeface="Calibri" pitchFamily="34" charset="-120"/>
              </a:rPr>
              <a:t>CEIC Data. (2018).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government bond yield: Spot: 10 years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[Dữ liệu HNX].</a:t>
            </a:r>
            <a:endParaRPr lang="vi-VN" sz="630" dirty="0"/>
          </a:p>
        </p:txBody>
      </p:sp>
      <p:sp>
        <p:nvSpPr>
          <p:cNvPr id="14" name="Text 12"/>
          <p:cNvSpPr txBox="1"/>
          <p:nvPr/>
        </p:nvSpPr>
        <p:spPr>
          <a:xfrm>
            <a:off x="419308" y="222111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8"/>
            </a:pPr>
            <a:r>
              <a:rPr lang="vi-VN" sz="630" dirty="0">
                <a:solidFill>
                  <a:srgbClr val="1F1F1F"/>
                </a:solidFill>
                <a:latin typeface="Calibri" pitchFamily="34" charset="0"/>
                <a:ea typeface="Calibri" pitchFamily="34" charset="-122"/>
                <a:cs typeface="Calibri" pitchFamily="34" charset="-120"/>
              </a:rPr>
              <a:t>Chính phủ. (2022).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vi-VN" sz="630" dirty="0"/>
          </a:p>
        </p:txBody>
      </p:sp>
      <p:sp>
        <p:nvSpPr>
          <p:cNvPr id="15" name="Text 13"/>
          <p:cNvSpPr txBox="1"/>
          <p:nvPr/>
        </p:nvSpPr>
        <p:spPr>
          <a:xfrm>
            <a:off x="419308" y="253007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9"/>
            </a:pPr>
            <a:r>
              <a:rPr lang="vi-VN" sz="630" dirty="0">
                <a:solidFill>
                  <a:srgbClr val="1F1F1F"/>
                </a:solidFill>
                <a:latin typeface="Calibri" pitchFamily="34" charset="0"/>
                <a:ea typeface="Calibri" pitchFamily="34" charset="-122"/>
                <a:cs typeface="Calibri" pitchFamily="34" charset="-120"/>
              </a:rPr>
              <a:t>Chính phủ.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6" name="Text 14"/>
          <p:cNvSpPr txBox="1"/>
          <p:nvPr/>
        </p:nvSpPr>
        <p:spPr>
          <a:xfrm>
            <a:off x="419308"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0"/>
            </a:pPr>
            <a:r>
              <a:rPr lang="vi-VN" sz="630" dirty="0">
                <a:solidFill>
                  <a:srgbClr val="1F1F1F"/>
                </a:solidFill>
                <a:latin typeface="Calibri" pitchFamily="34" charset="0"/>
                <a:ea typeface="Calibri" pitchFamily="34" charset="-122"/>
                <a:cs typeface="Calibri" pitchFamily="34" charset="-120"/>
              </a:rPr>
              <a:t>Chính phủ.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7" name="Text 15"/>
          <p:cNvSpPr txBox="1"/>
          <p:nvPr/>
        </p:nvSpPr>
        <p:spPr>
          <a:xfrm>
            <a:off x="419308" y="295275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1"/>
            </a:pPr>
            <a:r>
              <a:rPr lang="vi-VN" sz="630" dirty="0">
                <a:solidFill>
                  <a:srgbClr val="1F1F1F"/>
                </a:solidFill>
                <a:latin typeface="Calibri" pitchFamily="34" charset="0"/>
                <a:ea typeface="Calibri" pitchFamily="34" charset="-122"/>
                <a:cs typeface="Calibri" pitchFamily="34" charset="-120"/>
              </a:rPr>
              <a:t>Chính phủ.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8" name="Text 16"/>
          <p:cNvSpPr txBox="1"/>
          <p:nvPr/>
        </p:nvSpPr>
        <p:spPr>
          <a:xfrm>
            <a:off x="419308" y="316408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2"/>
            </a:pPr>
            <a:r>
              <a:rPr lang="vi-VN"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vi-VN" sz="630" dirty="0"/>
          </a:p>
        </p:txBody>
      </p:sp>
      <p:sp>
        <p:nvSpPr>
          <p:cNvPr id="19" name="Text 17"/>
          <p:cNvSpPr txBox="1"/>
          <p:nvPr/>
        </p:nvSpPr>
        <p:spPr>
          <a:xfrm>
            <a:off x="419308"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3"/>
            </a:pPr>
            <a:r>
              <a:rPr lang="vi-VN"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vi-VN" sz="630" dirty="0"/>
          </a:p>
        </p:txBody>
      </p:sp>
      <p:sp>
        <p:nvSpPr>
          <p:cNvPr id="20" name="Text 18"/>
          <p:cNvSpPr txBox="1"/>
          <p:nvPr/>
        </p:nvSpPr>
        <p:spPr>
          <a:xfrm>
            <a:off x="419308" y="3586758"/>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4"/>
            </a:pPr>
            <a:r>
              <a:rPr lang="vi-VN" sz="630" dirty="0">
                <a:solidFill>
                  <a:srgbClr val="1F1F1F"/>
                </a:solidFill>
                <a:latin typeface="Calibri" pitchFamily="34" charset="0"/>
                <a:ea typeface="Calibri" pitchFamily="34" charset="-122"/>
                <a:cs typeface="Calibri" pitchFamily="34" charset="-120"/>
              </a:rPr>
              <a:t>Cục Thống kê.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21" name="Text 19"/>
          <p:cNvSpPr txBox="1"/>
          <p:nvPr/>
        </p:nvSpPr>
        <p:spPr>
          <a:xfrm>
            <a:off x="419308" y="370046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5"/>
            </a:pPr>
            <a:r>
              <a:rPr lang="vi-VN" sz="630" dirty="0">
                <a:solidFill>
                  <a:srgbClr val="1F1F1F"/>
                </a:solidFill>
                <a:latin typeface="Calibri" pitchFamily="34" charset="0"/>
                <a:ea typeface="Calibri" pitchFamily="34" charset="-122"/>
                <a:cs typeface="Calibri" pitchFamily="34" charset="-120"/>
              </a:rPr>
              <a:t>Damodaran, A. (2009).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a:t>
            </a:r>
            <a:endParaRPr lang="vi-VN" sz="630" dirty="0"/>
          </a:p>
        </p:txBody>
      </p:sp>
      <p:sp>
        <p:nvSpPr>
          <p:cNvPr id="22" name="Text 20"/>
          <p:cNvSpPr txBox="1"/>
          <p:nvPr/>
        </p:nvSpPr>
        <p:spPr>
          <a:xfrm>
            <a:off x="419308" y="391179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6"/>
            </a:pPr>
            <a:r>
              <a:rPr lang="vi-VN" sz="630" dirty="0">
                <a:solidFill>
                  <a:srgbClr val="1F1F1F"/>
                </a:solidFill>
                <a:latin typeface="Calibri" pitchFamily="34" charset="0"/>
                <a:ea typeface="Calibri" pitchFamily="34" charset="-122"/>
                <a:cs typeface="Calibri" pitchFamily="34" charset="-120"/>
              </a:rPr>
              <a:t>Damodaran, A.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vi-VN" sz="630" dirty="0"/>
          </a:p>
        </p:txBody>
      </p:sp>
      <p:sp>
        <p:nvSpPr>
          <p:cNvPr id="23" name="Text 21"/>
          <p:cNvSpPr txBox="1"/>
          <p:nvPr/>
        </p:nvSpPr>
        <p:spPr>
          <a:xfrm>
            <a:off x="419308" y="422076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7"/>
            </a:pPr>
            <a:r>
              <a:rPr lang="vi-VN" sz="630" dirty="0">
                <a:solidFill>
                  <a:srgbClr val="1F1F1F"/>
                </a:solidFill>
                <a:latin typeface="Calibri" pitchFamily="34" charset="0"/>
                <a:ea typeface="Calibri" pitchFamily="34" charset="-122"/>
                <a:cs typeface="Calibri" pitchFamily="34" charset="-120"/>
              </a:rPr>
              <a:t>Damodaran, A.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fundamental determinants of growth</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vi-VN" sz="630" dirty="0"/>
          </a:p>
        </p:txBody>
      </p:sp>
      <p:sp>
        <p:nvSpPr>
          <p:cNvPr id="24" name="Text 22"/>
          <p:cNvSpPr txBox="1"/>
          <p:nvPr/>
        </p:nvSpPr>
        <p:spPr>
          <a:xfrm>
            <a:off x="419308" y="452973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8"/>
            </a:pPr>
            <a:r>
              <a:rPr lang="vi-VN" sz="630" dirty="0">
                <a:solidFill>
                  <a:srgbClr val="1F1F1F"/>
                </a:solidFill>
                <a:latin typeface="Calibri" pitchFamily="34" charset="0"/>
                <a:ea typeface="Calibri" pitchFamily="34" charset="-122"/>
                <a:cs typeface="Calibri" pitchFamily="34" charset="-120"/>
              </a:rPr>
              <a:t>ecoeshop.com.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a:t>
            </a:r>
            <a:endParaRPr lang="vi-VN" sz="630" dirty="0"/>
          </a:p>
        </p:txBody>
      </p:sp>
      <p:sp>
        <p:nvSpPr>
          <p:cNvPr id="25" name="Text 23"/>
          <p:cNvSpPr txBox="1"/>
          <p:nvPr/>
        </p:nvSpPr>
        <p:spPr>
          <a:xfrm>
            <a:off x="419308" y="464343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9"/>
            </a:pPr>
            <a:r>
              <a:rPr lang="vi-VN" sz="630" dirty="0">
                <a:solidFill>
                  <a:srgbClr val="1F1F1F"/>
                </a:solidFill>
                <a:latin typeface="Calibri" pitchFamily="34" charset="0"/>
                <a:ea typeface="Calibri" pitchFamily="34" charset="-122"/>
                <a:cs typeface="Calibri" pitchFamily="34" charset="-120"/>
              </a:rPr>
              <a:t>FiinGroup.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 truy xuất 28–30/9/2026].</a:t>
            </a:r>
            <a:endParaRPr lang="vi-VN" sz="630" dirty="0"/>
          </a:p>
        </p:txBody>
      </p:sp>
      <p:sp>
        <p:nvSpPr>
          <p:cNvPr id="26" name="Text 24"/>
          <p:cNvSpPr txBox="1"/>
          <p:nvPr/>
        </p:nvSpPr>
        <p:spPr>
          <a:xfrm>
            <a:off x="419308" y="485477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0"/>
            </a:pPr>
            <a:r>
              <a:rPr lang="vi-VN"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vi-VN" sz="630" dirty="0"/>
          </a:p>
        </p:txBody>
      </p:sp>
      <p:sp>
        <p:nvSpPr>
          <p:cNvPr id="27" name="Text 25"/>
          <p:cNvSpPr txBox="1"/>
          <p:nvPr/>
        </p:nvSpPr>
        <p:spPr>
          <a:xfrm>
            <a:off x="419308" y="506610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1"/>
            </a:pPr>
            <a:r>
              <a:rPr lang="vi-VN" sz="630" dirty="0">
                <a:solidFill>
                  <a:srgbClr val="1F1F1F"/>
                </a:solidFill>
                <a:latin typeface="Calibri" pitchFamily="34" charset="0"/>
                <a:ea typeface="Calibri" pitchFamily="34" charset="-122"/>
                <a:cs typeface="Calibri" pitchFamily="34" charset="-120"/>
              </a:rPr>
              <a:t>In bao bì Đà Nẵng. (2025). Ngành công nghiệp in ấn. https://inbaobidanang.com/in-bao-bi/nganh-cong-nghiep-in-an/</a:t>
            </a:r>
            <a:endParaRPr lang="vi-VN" sz="630" dirty="0"/>
          </a:p>
        </p:txBody>
      </p:sp>
      <p:sp>
        <p:nvSpPr>
          <p:cNvPr id="28" name="Text 26"/>
          <p:cNvSpPr txBox="1"/>
          <p:nvPr/>
        </p:nvSpPr>
        <p:spPr>
          <a:xfrm>
            <a:off x="419308" y="527744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2"/>
            </a:pPr>
            <a:r>
              <a:rPr lang="vi-VN" sz="630" dirty="0">
                <a:solidFill>
                  <a:srgbClr val="1F1F1F"/>
                </a:solidFill>
                <a:latin typeface="Calibri" pitchFamily="34" charset="0"/>
                <a:ea typeface="Calibri" pitchFamily="34" charset="-122"/>
                <a:cs typeface="Calibri" pitchFamily="34" charset="-120"/>
              </a:rPr>
              <a:t>Bao bì Minh Khang. (2025). Bao bì sinh học. https://baobiminhkhang.com.vn/tin-tuc/bao-bi-sinh-hoc.html</a:t>
            </a:r>
            <a:endParaRPr lang="vi-VN" sz="630" dirty="0"/>
          </a:p>
        </p:txBody>
      </p:sp>
      <p:sp>
        <p:nvSpPr>
          <p:cNvPr id="29" name="Text 27"/>
          <p:cNvSpPr txBox="1"/>
          <p:nvPr/>
        </p:nvSpPr>
        <p:spPr>
          <a:xfrm>
            <a:off x="419308" y="548878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3"/>
            </a:pPr>
            <a:r>
              <a:rPr lang="vi-VN" sz="630" dirty="0">
                <a:solidFill>
                  <a:srgbClr val="1F1F1F"/>
                </a:solidFill>
                <a:latin typeface="Calibri" pitchFamily="34" charset="0"/>
                <a:ea typeface="Calibri" pitchFamily="34" charset="-122"/>
                <a:cs typeface="Calibri" pitchFamily="34" charset="-120"/>
              </a:rPr>
              <a:t>HTAECO.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Sản phẩm ép khuôn theo mẫu từ bã mía và tre</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giới thiệu sản phẩm]. HTAECO.com.</a:t>
            </a:r>
            <a:endParaRPr lang="vi-VN" sz="630" dirty="0"/>
          </a:p>
        </p:txBody>
      </p:sp>
      <p:sp>
        <p:nvSpPr>
          <p:cNvPr id="30" name="Text 28"/>
          <p:cNvSpPr txBox="1"/>
          <p:nvPr/>
        </p:nvSpPr>
        <p:spPr>
          <a:xfrm>
            <a:off x="419308" y="570011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4"/>
            </a:pPr>
            <a:r>
              <a:rPr lang="vi-VN" sz="630" dirty="0">
                <a:solidFill>
                  <a:srgbClr val="1F1F1F"/>
                </a:solidFill>
                <a:latin typeface="Calibri" pitchFamily="34" charset="0"/>
                <a:ea typeface="Calibri" pitchFamily="34" charset="-122"/>
                <a:cs typeface="Calibri" pitchFamily="34" charset="-120"/>
              </a:rPr>
              <a:t>IMARC Group.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https://www.imarcgroup.com/vietnam-green-packaging-market</a:t>
            </a:r>
            <a:endParaRPr lang="vi-VN" sz="630" dirty="0"/>
          </a:p>
        </p:txBody>
      </p:sp>
      <p:sp>
        <p:nvSpPr>
          <p:cNvPr id="31" name="Text 29"/>
          <p:cNvSpPr txBox="1"/>
          <p:nvPr/>
        </p:nvSpPr>
        <p:spPr>
          <a:xfrm>
            <a:off x="419308" y="600908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5"/>
            </a:pPr>
            <a:r>
              <a:rPr lang="vi-VN"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Journal of Applied Corporate Finance, 12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(4), 94–101.</a:t>
            </a:r>
            <a:endParaRPr lang="vi-VN" sz="630" dirty="0"/>
          </a:p>
        </p:txBody>
      </p:sp>
      <p:sp>
        <p:nvSpPr>
          <p:cNvPr id="32" name="Text 30"/>
          <p:cNvSpPr txBox="1"/>
          <p:nvPr/>
        </p:nvSpPr>
        <p:spPr>
          <a:xfrm>
            <a:off x="419308"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6"/>
            </a:pPr>
            <a:r>
              <a:rPr lang="vi-VN" sz="630" dirty="0">
                <a:solidFill>
                  <a:srgbClr val="1F1F1F"/>
                </a:solidFill>
                <a:latin typeface="Calibri" pitchFamily="34" charset="0"/>
                <a:ea typeface="Calibri" pitchFamily="34" charset="-122"/>
                <a:cs typeface="Calibri" pitchFamily="34" charset="-120"/>
              </a:rPr>
              <a:t>Moody's Ratings. (2026, 4 tháng 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3" name="Text 31"/>
          <p:cNvSpPr txBox="1"/>
          <p:nvPr/>
        </p:nvSpPr>
        <p:spPr>
          <a:xfrm>
            <a:off x="419308" y="643175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7"/>
            </a:pPr>
            <a:r>
              <a:rPr lang="vi-VN" sz="630" dirty="0">
                <a:solidFill>
                  <a:srgbClr val="1F1F1F"/>
                </a:solidFill>
                <a:latin typeface="Calibri" pitchFamily="34" charset="0"/>
                <a:ea typeface="Calibri" pitchFamily="34" charset="-122"/>
                <a:cs typeface="Calibri" pitchFamily="34" charset="-120"/>
              </a:rPr>
              <a:t>Mordor Intelligence.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Global packaging market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vi-VN" sz="630" dirty="0"/>
          </a:p>
        </p:txBody>
      </p:sp>
      <p:sp>
        <p:nvSpPr>
          <p:cNvPr id="34" name="Text 32"/>
          <p:cNvSpPr txBox="1"/>
          <p:nvPr/>
        </p:nvSpPr>
        <p:spPr>
          <a:xfrm>
            <a:off x="419308" y="674072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8"/>
            </a:pPr>
            <a:r>
              <a:rPr lang="vi-VN"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vi-VN" sz="630" dirty="0"/>
          </a:p>
        </p:txBody>
      </p:sp>
      <p:sp>
        <p:nvSpPr>
          <p:cNvPr id="35" name="Text 33"/>
          <p:cNvSpPr txBox="1"/>
          <p:nvPr/>
        </p:nvSpPr>
        <p:spPr>
          <a:xfrm>
            <a:off x="419308" y="6952059"/>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9"/>
            </a:pPr>
            <a:r>
              <a:rPr lang="vi-VN" sz="630" dirty="0">
                <a:solidFill>
                  <a:srgbClr val="1F1F1F"/>
                </a:solidFill>
                <a:latin typeface="Calibri" pitchFamily="34" charset="0"/>
                <a:ea typeface="Calibri" pitchFamily="34" charset="-122"/>
                <a:cs typeface="Calibri" pitchFamily="34" charset="-120"/>
              </a:rPr>
              <a:t>Oxford Business Group. (2017).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report: Vietnam 2017 – Attractive yields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6" name="Text 34"/>
          <p:cNvSpPr txBox="1"/>
          <p:nvPr/>
        </p:nvSpPr>
        <p:spPr>
          <a:xfrm>
            <a:off x="3826282"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0"/>
            </a:pPr>
            <a:r>
              <a:rPr lang="vi-VN" sz="630" dirty="0">
                <a:solidFill>
                  <a:srgbClr val="1F1F1F"/>
                </a:solidFill>
                <a:latin typeface="Calibri" pitchFamily="34" charset="0"/>
                <a:ea typeface="Calibri" pitchFamily="34" charset="-122"/>
                <a:cs typeface="Calibri" pitchFamily="34" charset="-120"/>
              </a:rPr>
              <a:t>Payne, B. (2011).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Angel Capital Association.</a:t>
            </a:r>
            <a:endParaRPr lang="vi-VN" sz="630" dirty="0"/>
          </a:p>
        </p:txBody>
      </p:sp>
      <p:sp>
        <p:nvSpPr>
          <p:cNvPr id="37" name="Text 35"/>
          <p:cNvSpPr txBox="1"/>
          <p:nvPr/>
        </p:nvSpPr>
        <p:spPr>
          <a:xfrm>
            <a:off x="3826282" y="9530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1"/>
            </a:pPr>
            <a:r>
              <a:rPr lang="vi-VN" sz="630" dirty="0">
                <a:solidFill>
                  <a:srgbClr val="1F1F1F"/>
                </a:solidFill>
                <a:latin typeface="Calibri" pitchFamily="34" charset="0"/>
                <a:ea typeface="Calibri" pitchFamily="34" charset="-122"/>
                <a:cs typeface="Calibri" pitchFamily="34" charset="-120"/>
              </a:rPr>
              <a:t>Profectus. (2025). Current ratio.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Financial Ratios Advisor</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vi-VN" sz="630" dirty="0"/>
          </a:p>
        </p:txBody>
      </p:sp>
      <p:sp>
        <p:nvSpPr>
          <p:cNvPr id="38" name="Text 36"/>
          <p:cNvSpPr txBox="1"/>
          <p:nvPr/>
        </p:nvSpPr>
        <p:spPr>
          <a:xfrm>
            <a:off x="3826282" y="1164431"/>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2"/>
            </a:pPr>
            <a:r>
              <a:rPr lang="vi-VN" sz="630" dirty="0">
                <a:solidFill>
                  <a:srgbClr val="1F1F1F"/>
                </a:solidFill>
                <a:latin typeface="Calibri" pitchFamily="34" charset="0"/>
                <a:ea typeface="Calibri" pitchFamily="34" charset="-122"/>
                <a:cs typeface="Calibri" pitchFamily="34" charset="-120"/>
              </a:rPr>
              <a:t>Quốc hội. (2025a).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Luật Thuế thu nhập doanh nghiệp số 67/2025/QH15</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9" name="Text 37"/>
          <p:cNvSpPr txBox="1"/>
          <p:nvPr/>
        </p:nvSpPr>
        <p:spPr>
          <a:xfrm>
            <a:off x="3826282" y="127813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3"/>
            </a:pPr>
            <a:r>
              <a:rPr lang="vi-VN" sz="630" dirty="0">
                <a:solidFill>
                  <a:srgbClr val="1F1F1F"/>
                </a:solidFill>
                <a:latin typeface="Calibri" pitchFamily="34" charset="0"/>
                <a:ea typeface="Calibri" pitchFamily="34" charset="-122"/>
                <a:cs typeface="Calibri" pitchFamily="34" charset="-120"/>
              </a:rPr>
              <a:t>Quốc hội. (2025b).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40" name="Text 38"/>
          <p:cNvSpPr txBox="1"/>
          <p:nvPr/>
        </p:nvSpPr>
        <p:spPr>
          <a:xfrm>
            <a:off x="3826282" y="148947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4"/>
            </a:pPr>
            <a:r>
              <a:rPr lang="vi-VN" sz="630" dirty="0">
                <a:solidFill>
                  <a:srgbClr val="1F1F1F"/>
                </a:solidFill>
                <a:latin typeface="Calibri" pitchFamily="34" charset="0"/>
                <a:ea typeface="Calibri" pitchFamily="34" charset="-122"/>
                <a:cs typeface="Calibri" pitchFamily="34" charset="-120"/>
              </a:rPr>
              <a:t>QueenPack. (2026); Bao Bì Xanh.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đựng thực phẩm 500 ml</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 QueenPack.com; baobixanh.com.</a:t>
            </a:r>
            <a:endParaRPr lang="vi-VN" sz="630" dirty="0"/>
          </a:p>
        </p:txBody>
      </p:sp>
      <p:sp>
        <p:nvSpPr>
          <p:cNvPr id="41" name="Text 39"/>
          <p:cNvSpPr txBox="1"/>
          <p:nvPr/>
        </p:nvSpPr>
        <p:spPr>
          <a:xfrm>
            <a:off x="3826282" y="170080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5"/>
            </a:pPr>
            <a:r>
              <a:rPr lang="vi-VN" sz="630" dirty="0">
                <a:solidFill>
                  <a:srgbClr val="1F1F1F"/>
                </a:solidFill>
                <a:latin typeface="Calibri" pitchFamily="34" charset="0"/>
                <a:ea typeface="Calibri" pitchFamily="34" charset="-122"/>
                <a:cs typeface="Calibri" pitchFamily="34" charset="-120"/>
              </a:rPr>
              <a:t>Provietnam. (2025). Xanh hóa bao bì thực phẩm: xu hướng tất yếu để phát triển bền vững. https://provietnam.com.vn/tin-tuc-chung/xanh-hoa-bao-bi-thuc-pham-xu-huong-tat-yeu-de-phat-trien-ben-vung/</a:t>
            </a:r>
            <a:endParaRPr lang="vi-VN" sz="630" dirty="0"/>
          </a:p>
        </p:txBody>
      </p:sp>
      <p:sp>
        <p:nvSpPr>
          <p:cNvPr id="42" name="Text 40"/>
          <p:cNvSpPr txBox="1"/>
          <p:nvPr/>
        </p:nvSpPr>
        <p:spPr>
          <a:xfrm>
            <a:off x="3826282" y="200977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6"/>
            </a:pPr>
            <a:r>
              <a:rPr lang="vi-VN" sz="630" dirty="0">
                <a:solidFill>
                  <a:srgbClr val="1F1F1F"/>
                </a:solidFill>
                <a:latin typeface="Calibri" pitchFamily="34" charset="0"/>
                <a:ea typeface="Calibri" pitchFamily="34" charset="-122"/>
                <a:cs typeface="Calibri" pitchFamily="34" charset="-120"/>
              </a:rPr>
              <a:t>Quỹ Đổi mới công nghệ quốc gia.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Hỗ trợ lãi suất vay</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https://natif.mst.gov.vn/ho-tro-lai-suat-vay/</a:t>
            </a:r>
            <a:endParaRPr lang="vi-VN" sz="630" dirty="0"/>
          </a:p>
        </p:txBody>
      </p:sp>
      <p:sp>
        <p:nvSpPr>
          <p:cNvPr id="43" name="Text 41"/>
          <p:cNvSpPr txBox="1"/>
          <p:nvPr/>
        </p:nvSpPr>
        <p:spPr>
          <a:xfrm>
            <a:off x="3826282" y="222111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7"/>
            </a:pPr>
            <a:r>
              <a:rPr lang="vi-VN"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vi-VN" sz="630" dirty="0"/>
          </a:p>
        </p:txBody>
      </p:sp>
      <p:sp>
        <p:nvSpPr>
          <p:cNvPr id="44" name="Text 42"/>
          <p:cNvSpPr txBox="1"/>
          <p:nvPr/>
        </p:nvSpPr>
        <p:spPr>
          <a:xfrm>
            <a:off x="3826282" y="243244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8"/>
            </a:pPr>
            <a:r>
              <a:rPr lang="vi-VN" sz="630" dirty="0">
                <a:solidFill>
                  <a:srgbClr val="1F1F1F"/>
                </a:solidFill>
                <a:latin typeface="Calibri" pitchFamily="34" charset="0"/>
                <a:ea typeface="Calibri" pitchFamily="34" charset="-122"/>
                <a:cs typeface="Calibri" pitchFamily="34" charset="-120"/>
              </a:rPr>
              <a:t>Tạp chí Khoa học Thương mại. (2025). Các yếu tố tác động tới ý định mua sản phẩm có bao bì thân thiện với môi trường của giới trẻ Việt Nam tại Hà Nội. Trường Đại học Thương mại. https://tckhtm.tmu.edu.vn/j/tmu/articles/1052</a:t>
            </a:r>
            <a:endParaRPr lang="vi-VN" sz="630" dirty="0"/>
          </a:p>
        </p:txBody>
      </p:sp>
      <p:sp>
        <p:nvSpPr>
          <p:cNvPr id="45" name="Text 43"/>
          <p:cNvSpPr txBox="1"/>
          <p:nvPr/>
        </p:nvSpPr>
        <p:spPr>
          <a:xfrm>
            <a:off x="3826282"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9"/>
            </a:pPr>
            <a:r>
              <a:rPr lang="vi-VN" sz="630" dirty="0">
                <a:solidFill>
                  <a:srgbClr val="1F1F1F"/>
                </a:solidFill>
                <a:latin typeface="Calibri" pitchFamily="34" charset="0"/>
                <a:ea typeface="Calibri" pitchFamily="34" charset="-122"/>
                <a:cs typeface="Calibri" pitchFamily="34" charset="-120"/>
              </a:rPr>
              <a:t>Tạp chí Khoa học Đại học Tân Trào. (2025). Bài báo số 676. https://tnjos.vn/index.php/tckh/article/view/676</a:t>
            </a:r>
            <a:endParaRPr lang="vi-VN" sz="630" dirty="0"/>
          </a:p>
        </p:txBody>
      </p:sp>
      <p:sp>
        <p:nvSpPr>
          <p:cNvPr id="46" name="Text 44"/>
          <p:cNvSpPr txBox="1"/>
          <p:nvPr/>
        </p:nvSpPr>
        <p:spPr>
          <a:xfrm>
            <a:off x="3826282" y="2952750"/>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0"/>
            </a:pPr>
            <a:r>
              <a:rPr lang="vi-VN"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vi-VN" sz="630" dirty="0"/>
          </a:p>
        </p:txBody>
      </p:sp>
      <p:sp>
        <p:nvSpPr>
          <p:cNvPr id="47" name="Text 45"/>
          <p:cNvSpPr txBox="1"/>
          <p:nvPr/>
        </p:nvSpPr>
        <p:spPr>
          <a:xfrm>
            <a:off x="3826282" y="3261717"/>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1"/>
            </a:pPr>
            <a:r>
              <a:rPr lang="vi-VN" sz="630" dirty="0">
                <a:solidFill>
                  <a:srgbClr val="1F1F1F"/>
                </a:solidFill>
                <a:latin typeface="Calibri" pitchFamily="34" charset="0"/>
                <a:ea typeface="Calibri" pitchFamily="34" charset="-122"/>
                <a:cs typeface="Calibri" pitchFamily="34" charset="-120"/>
              </a:rPr>
              <a:t>The PAN Group. (2024).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Sustainability report 2023</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CTCP Tập đoàn PAN.</a:t>
            </a:r>
            <a:endParaRPr lang="vi-VN" sz="630" dirty="0"/>
          </a:p>
        </p:txBody>
      </p:sp>
      <p:sp>
        <p:nvSpPr>
          <p:cNvPr id="48" name="Text 46"/>
          <p:cNvSpPr txBox="1"/>
          <p:nvPr/>
        </p:nvSpPr>
        <p:spPr>
          <a:xfrm>
            <a:off x="3826282"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2"/>
            </a:pPr>
            <a:r>
              <a:rPr lang="vi-VN"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vi-VN" sz="630" dirty="0"/>
          </a:p>
        </p:txBody>
      </p:sp>
      <p:sp>
        <p:nvSpPr>
          <p:cNvPr id="49" name="Text 47"/>
          <p:cNvSpPr txBox="1"/>
          <p:nvPr/>
        </p:nvSpPr>
        <p:spPr>
          <a:xfrm>
            <a:off x="3826282" y="358675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3"/>
            </a:pPr>
            <a:r>
              <a:rPr lang="vi-VN"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vi-VN" sz="630" dirty="0"/>
          </a:p>
        </p:txBody>
      </p:sp>
      <p:sp>
        <p:nvSpPr>
          <p:cNvPr id="50" name="Text 48"/>
          <p:cNvSpPr txBox="1"/>
          <p:nvPr/>
        </p:nvSpPr>
        <p:spPr>
          <a:xfrm>
            <a:off x="3826282" y="3798094"/>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4"/>
            </a:pPr>
            <a:r>
              <a:rPr lang="vi-VN" sz="630" dirty="0">
                <a:solidFill>
                  <a:srgbClr val="1F1F1F"/>
                </a:solidFill>
                <a:latin typeface="Calibri" pitchFamily="34" charset="0"/>
                <a:ea typeface="Calibri" pitchFamily="34" charset="-122"/>
                <a:cs typeface="Calibri" pitchFamily="34" charset="-120"/>
              </a:rPr>
              <a:t>United Nations Environment Programme. (2021).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vi-VN" sz="630" dirty="0"/>
          </a:p>
        </p:txBody>
      </p:sp>
      <p:sp>
        <p:nvSpPr>
          <p:cNvPr id="51" name="Text 49"/>
          <p:cNvSpPr txBox="1"/>
          <p:nvPr/>
        </p:nvSpPr>
        <p:spPr>
          <a:xfrm>
            <a:off x="3826282" y="410706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5"/>
            </a:pPr>
            <a:r>
              <a:rPr lang="vi-VN"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vi-VN" sz="630" dirty="0"/>
          </a:p>
        </p:txBody>
      </p:sp>
      <p:sp>
        <p:nvSpPr>
          <p:cNvPr id="52" name="Text 50"/>
          <p:cNvSpPr txBox="1"/>
          <p:nvPr/>
        </p:nvSpPr>
        <p:spPr>
          <a:xfrm>
            <a:off x="3826282" y="441602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6"/>
            </a:pPr>
            <a:r>
              <a:rPr lang="vi-VN"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vi-VN" sz="630" dirty="0"/>
          </a:p>
        </p:txBody>
      </p:sp>
      <p:sp>
        <p:nvSpPr>
          <p:cNvPr id="53" name="Text 51"/>
          <p:cNvSpPr txBox="1"/>
          <p:nvPr/>
        </p:nvSpPr>
        <p:spPr>
          <a:xfrm>
            <a:off x="3826282" y="47249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7"/>
            </a:pPr>
            <a:r>
              <a:rPr lang="vi-VN"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vi-VN" sz="630" dirty="0"/>
          </a:p>
        </p:txBody>
      </p:sp>
      <p:sp>
        <p:nvSpPr>
          <p:cNvPr id="54" name="Text 52"/>
          <p:cNvSpPr txBox="1"/>
          <p:nvPr/>
        </p:nvSpPr>
        <p:spPr>
          <a:xfrm>
            <a:off x="3826282" y="493633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8"/>
            </a:pPr>
            <a:r>
              <a:rPr lang="vi-VN"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vi-VN" sz="630" dirty="0"/>
          </a:p>
        </p:txBody>
      </p:sp>
      <p:sp>
        <p:nvSpPr>
          <p:cNvPr id="55" name="Text 53"/>
          <p:cNvSpPr txBox="1"/>
          <p:nvPr/>
        </p:nvSpPr>
        <p:spPr>
          <a:xfrm>
            <a:off x="3826282" y="514766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9"/>
            </a:pPr>
            <a:r>
              <a:rPr lang="vi-VN"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vi-VN" sz="630" dirty="0"/>
          </a:p>
        </p:txBody>
      </p:sp>
      <p:sp>
        <p:nvSpPr>
          <p:cNvPr id="56" name="Text 54"/>
          <p:cNvSpPr txBox="1"/>
          <p:nvPr/>
        </p:nvSpPr>
        <p:spPr>
          <a:xfrm>
            <a:off x="3826282" y="545663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0"/>
            </a:pPr>
            <a:r>
              <a:rPr lang="vi-VN"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Bond market report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vi-VN" sz="630" dirty="0"/>
          </a:p>
        </p:txBody>
      </p:sp>
      <p:sp>
        <p:nvSpPr>
          <p:cNvPr id="57" name="Text 55"/>
          <p:cNvSpPr txBox="1"/>
          <p:nvPr/>
        </p:nvSpPr>
        <p:spPr>
          <a:xfrm>
            <a:off x="3826282" y="5667970"/>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1"/>
            </a:pPr>
            <a:r>
              <a:rPr lang="vi-VN" sz="630" dirty="0">
                <a:solidFill>
                  <a:srgbClr val="1F1F1F"/>
                </a:solidFill>
                <a:latin typeface="Calibri" pitchFamily="34" charset="0"/>
                <a:ea typeface="Calibri" pitchFamily="34" charset="-122"/>
                <a:cs typeface="Calibri" pitchFamily="34" charset="-120"/>
              </a:rPr>
              <a:t>Vietcombank.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Tỷ giá ngoại tệ</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[Số liệu tỷ giá bán ra].</a:t>
            </a:r>
            <a:endParaRPr lang="vi-VN" sz="630" dirty="0"/>
          </a:p>
        </p:txBody>
      </p:sp>
      <p:sp>
        <p:nvSpPr>
          <p:cNvPr id="58" name="Text 56"/>
          <p:cNvSpPr txBox="1"/>
          <p:nvPr/>
        </p:nvSpPr>
        <p:spPr>
          <a:xfrm>
            <a:off x="3826282" y="5781675"/>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2"/>
            </a:pPr>
            <a:r>
              <a:rPr lang="vi-VN"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vi-VN" sz="630" dirty="0"/>
          </a:p>
        </p:txBody>
      </p:sp>
      <p:sp>
        <p:nvSpPr>
          <p:cNvPr id="59" name="Text 57"/>
          <p:cNvSpPr txBox="1"/>
          <p:nvPr/>
        </p:nvSpPr>
        <p:spPr>
          <a:xfrm>
            <a:off x="3826282" y="589538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3"/>
            </a:pPr>
            <a:r>
              <a:rPr lang="vi-VN" sz="630" dirty="0">
                <a:solidFill>
                  <a:srgbClr val="1F1F1F"/>
                </a:solidFill>
                <a:latin typeface="Calibri" pitchFamily="34" charset="0"/>
                <a:ea typeface="Calibri" pitchFamily="34" charset="-122"/>
                <a:cs typeface="Calibri" pitchFamily="34" charset="-120"/>
              </a:rPr>
              <a:t>Vietnam Report. (2024,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Top 10 Công ty uy tín ngành Bao bì</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vi-VN" sz="630" dirty="0"/>
          </a:p>
        </p:txBody>
      </p:sp>
      <p:sp>
        <p:nvSpPr>
          <p:cNvPr id="60" name="Text 58"/>
          <p:cNvSpPr txBox="1"/>
          <p:nvPr/>
        </p:nvSpPr>
        <p:spPr>
          <a:xfrm>
            <a:off x="3826282" y="610671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4"/>
            </a:pPr>
            <a:r>
              <a:rPr lang="vi-VN" sz="630" dirty="0">
                <a:solidFill>
                  <a:srgbClr val="1F1F1F"/>
                </a:solidFill>
                <a:latin typeface="Calibri" pitchFamily="34" charset="0"/>
                <a:ea typeface="Calibri" pitchFamily="34" charset="-122"/>
                <a:cs typeface="Calibri" pitchFamily="34" charset="-120"/>
              </a:rPr>
              <a:t>VNDirect.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La bàn thị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[Báo cáo vĩ mô, lợi suất TPCP kỳ hạn 10 năm].</a:t>
            </a:r>
            <a:endParaRPr lang="vi-VN" sz="630" dirty="0"/>
          </a:p>
        </p:txBody>
      </p:sp>
      <p:sp>
        <p:nvSpPr>
          <p:cNvPr id="61" name="Text 59"/>
          <p:cNvSpPr txBox="1"/>
          <p:nvPr/>
        </p:nvSpPr>
        <p:spPr>
          <a:xfrm>
            <a:off x="3826282"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5"/>
            </a:pPr>
            <a:r>
              <a:rPr lang="vi-VN"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International Journal of Logistics Research and Applications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https://doi.org/10.1080/13675567.2023.2175802</a:t>
            </a:r>
            <a:endParaRPr lang="vi-VN" sz="630" dirty="0"/>
          </a:p>
        </p:txBody>
      </p:sp>
      <p:sp>
        <p:nvSpPr>
          <p:cNvPr id="62" name="Text 60"/>
          <p:cNvSpPr txBox="1"/>
          <p:nvPr/>
        </p:nvSpPr>
        <p:spPr>
          <a:xfrm>
            <a:off x="3826282" y="6431756"/>
            <a:ext cx="3383048" cy="488156"/>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6"/>
            </a:pPr>
            <a:r>
              <a:rPr lang="vi-VN"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vi-VN" sz="630" dirty="0"/>
          </a:p>
        </p:txBody>
      </p:sp>
      <p:sp>
        <p:nvSpPr>
          <p:cNvPr id="63" name="Text 61"/>
          <p:cNvSpPr txBox="1"/>
          <p:nvPr/>
        </p:nvSpPr>
        <p:spPr>
          <a:xfrm>
            <a:off x="3826282" y="693598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7"/>
            </a:pPr>
            <a:r>
              <a:rPr lang="vi-VN" sz="630" dirty="0">
                <a:solidFill>
                  <a:srgbClr val="1F1F1F"/>
                </a:solidFill>
                <a:latin typeface="Calibri" pitchFamily="34" charset="0"/>
                <a:ea typeface="Calibri" pitchFamily="34" charset="-122"/>
                <a:cs typeface="Calibri" pitchFamily="34" charset="-120"/>
              </a:rPr>
              <a:t>Zenodo. (2026). Bản ghi 19198976 [Bộ dữ liệu]. https://zenodo.org/records/19198976</a:t>
            </a:r>
            <a:endParaRPr lang="vi-VN" sz="630" dirty="0"/>
          </a:p>
        </p:txBody>
      </p:sp>
      <p:sp>
        <p:nvSpPr>
          <p:cNvPr id="64"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24</a:t>
            </a:r>
            <a:endParaRPr lang="vi-VN"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Nhóm AgriPack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CTCP AgriPack – Báo cáo phân tích, dự phóng và định giá</dc:title>
  <dc:subject>PptxGenJS Presentation</dc:subject>
  <dc:creator>Nhóm AgriPack</dc:creator>
  <cp:lastModifiedBy>Nhóm AgriPack</cp:lastModifiedBy>
  <cp:revision>1</cp:revision>
  <dcterms:created xsi:type="dcterms:W3CDTF">2026-10-06T14:18:57Z</dcterms:created>
  <dcterms:modified xsi:type="dcterms:W3CDTF">2026-10-06T14:18:57Z</dcterms:modified>
</cp:coreProperties>
</file>