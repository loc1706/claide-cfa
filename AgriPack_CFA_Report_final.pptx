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249074563722898"/>
          <c:w val="0.9830662164955557"/>
          <c:h val="0.7400740349021682"/>
        </c:manualLayout>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81.4</c:v>
                </c:pt>
                <c:pt idx="5">
                  <c:v>100.4</c:v>
                </c:pt>
                <c:pt idx="6">
                  <c:v>139.3</c:v>
                </c:pt>
                <c:pt idx="7">
                  <c:v>178.9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40.48773581280977"/>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5022004889975552"/>
          <c:w val="0.8306621649555571"/>
          <c:h val="0.534317848410758"/>
        </c:manualLayout>
      </c:layout>
      <c:lineChart>
        <c:varyColors val="0"/>
        <c:ser>
          <c:idx val="0"/>
          <c:order val="0"/>
          <c:tx>
            <c:strRef>
              <c:f>Sheet1!$B$1</c:f>
              <c:strCache>
                <c:ptCount val="1"/>
                <c:pt idx="0">
                  <c:v>Biên EBITDA</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19.6</c:v>
                </c:pt>
                <c:pt idx="5">
                  <c:v>19.5</c:v>
                </c:pt>
                <c:pt idx="6">
                  <c:v>17.7</c:v>
                </c:pt>
                <c:pt idx="7">
                  <c:v>20.7</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
          <c:min val="-4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12302059496567505"/>
          <c:w val="0.2266317554376536"/>
          <c:h val="0.859405034324942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(20,4)</c:v>
                  </c:pt>
                  <c:pt idx="1">
                    <c:v>VC Method (21,7)</c:v>
                  </c:pt>
                  <c:pt idx="2">
                    <c:v>Multiples 2025A (27,7)</c:v>
                  </c:pt>
                  <c:pt idx="3">
                    <c:v>Bình quân 40/40/20 (22,4)</c:v>
                  </c:pt>
                </c:lvl>
              </c:multiLvlStrCache>
            </c:multiLvlStrRef>
          </c:cat>
          <c:val>
            <c:numRef>
              <c:f>Sheet1!$B$2:$B$5</c:f>
              <c:numCache>
                <c:formatCode>General</c:formatCode>
                <c:ptCount val="4"/>
                <c:pt idx="0">
                  <c:v>11.7</c:v>
                </c:pt>
                <c:pt idx="1">
                  <c:v>8</c:v>
                </c:pt>
                <c:pt idx="2">
                  <c:v>17.7</c:v>
                </c:pt>
                <c:pt idx="3">
                  <c:v>11.4</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(20,4)</c:v>
                  </c:pt>
                  <c:pt idx="1">
                    <c:v>VC Method (21,7)</c:v>
                  </c:pt>
                  <c:pt idx="2">
                    <c:v>Multiples 2025A (27,7)</c:v>
                  </c:pt>
                  <c:pt idx="3">
                    <c:v>Bình quân 40/40/20 (22,4)</c:v>
                  </c:pt>
                </c:lvl>
              </c:multiLvlStrCache>
            </c:multiLvlStrRef>
          </c:cat>
          <c:val>
            <c:numRef>
              <c:f>Sheet1!$C$2:$C$5</c:f>
              <c:numCache>
                <c:formatCode>General</c:formatCode>
                <c:ptCount val="4"/>
                <c:pt idx="0">
                  <c:v>18</c:v>
                </c:pt>
                <c:pt idx="1">
                  <c:v>29</c:v>
                </c:pt>
                <c:pt idx="2">
                  <c:v>26.3</c:v>
                </c:pt>
                <c:pt idx="3">
                  <c:v>24.1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7570341077607514"/>
        </c:manualLayout>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5.01377297371023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6770757252118794"/>
          <c:y val="0.021915462814339218"/>
          <c:w val="0.2671434805576609"/>
          <c:h val="0.9561690743713215"/>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5402425578831312"/>
          <c:w val="0.9830662164955557"/>
          <c:h val="0.5681587651598676"/>
        </c:manualLayout>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4.80055654730653"/>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6868804664723033"/>
          <c:w val="0.9830662164955557"/>
          <c:h val="0.6507055393586005"/>
        </c:manualLayout>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2.56008782284339"/>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642825972116955"/>
          <c:y val="0.04050098879367172"/>
          <c:w val="0.46970210615769775"/>
          <c:h val="0.9189980224126565"/>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746"/>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587492103600758"/>
          <c:w val="0.20510691563885244"/>
          <c:h val="0.948250157927984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167229380555364"/>
          <c:y val="0.11941690962099126"/>
          <c:w val="0.936498311858334"/>
          <c:h val="0.45068221574344025"/>
        </c:manualLayout>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2"/>
          <c:min val="8"/>
        </c:scaling>
        <c:delete val="1"/>
        <c:axPos val="l"/>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0929994890137967"/>
          <c:w val="0.28613036587886714"/>
          <c:h val="0.9581400102197241"/>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48369747899159665"/>
        </c:manualLayout>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5.4797155389279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3211709357030842"/>
          <c:w val="0.23638622843887094"/>
          <c:h val="0.9357658128593831"/>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2046976511744128"/>
          <c:w val="0.21613036587886725"/>
          <c:h val="0.9590604697651174"/>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600"/>
          <c:min val="2500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5825072886297375"/>
          <c:w val="0.9830662164955557"/>
          <c:h val="0.713399416909621"/>
        </c:manualLayout>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96.664262264761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3264753654574986"/>
          <c:w val="0.9830662164955557"/>
          <c:h val="0.43449918787222525"/>
        </c:manualLayout>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3.33333333333333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094986104412137"/>
          <c:y val="0.03725894481503942"/>
          <c:w val="0.2468876179976573"/>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30.3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3"/>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689868853212063"/>
          <c:y val="0.03725894481503942"/>
          <c:w val="0.2873993431176646"/>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474517099611842"/>
          <c:y val="0.02587492103600758"/>
          <c:w val="0.44944624359769403"/>
          <c:h val="0.9482501579279848"/>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01715242881072027"/>
          <c:w val="0.44280208548657524"/>
          <c:h val="0.8198994974874372"/>
        </c:manualLayout>
      </c:layout>
      <c:barChart>
        <c:barDir val="bar"/>
        <c:grouping val="clustered"/>
        <c:varyColors val="0"/>
        <c:ser>
          <c:idx val="0"/>
          <c:order val="0"/>
          <c:tx>
            <c:strRef>
              <c:f>Sheet1!$B$1</c:f>
              <c:strCache>
                <c:ptCount val="1"/>
                <c:pt idx="0">
                  <c:v>Bất lợi</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Sheet1!$B$2:$B$8</c:f>
              <c:numCache>
                <c:formatCode>General</c:formatCode>
                <c:ptCount val="7"/>
                <c:pt idx="0">
                  <c:v>-25.3</c:v>
                </c:pt>
                <c:pt idx="1">
                  <c:v>-10.5</c:v>
                </c:pt>
                <c:pt idx="2">
                  <c:v>-8.5</c:v>
                </c:pt>
                <c:pt idx="3">
                  <c:v>-6</c:v>
                </c:pt>
                <c:pt idx="4">
                  <c:v>-4.2</c:v>
                </c:pt>
                <c:pt idx="5">
                  <c:v>-4</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Sheet1!$C$2:$C$8</c:f>
              <c:numCache>
                <c:formatCode>General</c:formatCode>
                <c:ptCount val="7"/>
                <c:pt idx="0">
                  <c:v>30.6</c:v>
                </c:pt>
                <c:pt idx="1">
                  <c:v>10.5</c:v>
                </c:pt>
                <c:pt idx="2">
                  <c:v>8.5</c:v>
                </c:pt>
                <c:pt idx="3">
                  <c:v>6.2</c:v>
                </c:pt>
                <c:pt idx="4">
                  <c:v>5</c:v>
                </c:pt>
                <c:pt idx="5">
                  <c:v>5</c:v>
                </c:pt>
                <c:pt idx="6">
                  <c:v>3.6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39330993603912"/>
          <c:min val="-69.09330993603912"/>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776275353411186"/>
          <c:w val="0.9830662164955557"/>
          <c:h val="0.6978979717271051"/>
        </c:manualLayout>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c:v>
                </c:pt>
                <c:pt idx="5">
                  <c:v>25.5</c:v>
                </c:pt>
                <c:pt idx="6">
                  <c:v>27</c:v>
                </c:pt>
                <c:pt idx="7">
                  <c:v>26.5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910928616550853"/>
          <c:w val="0.9830662164955557"/>
          <c:h val="0.505142135186355"/>
        </c:manualLayout>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65.3</c:v>
                </c:pt>
                <c:pt idx="3">
                  <c:v>80</c:v>
                </c:pt>
                <c:pt idx="4">
                  <c:v>110.1</c:v>
                </c:pt>
                <c:pt idx="5">
                  <c:v>140.4</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9</c:v>
                </c:pt>
                <c:pt idx="3">
                  <c:v>10.6</c:v>
                </c:pt>
                <c:pt idx="4">
                  <c:v>13.9</c:v>
                </c:pt>
                <c:pt idx="5">
                  <c:v>17</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6.2</c:v>
                </c:pt>
                <c:pt idx="4">
                  <c:v>8.8</c:v>
                </c:pt>
                <c:pt idx="5">
                  <c:v>11.8</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4.3</c:v>
                </c:pt>
                <c:pt idx="4">
                  <c:v>7.5</c:v>
                </c:pt>
                <c:pt idx="5">
                  <c:v>11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71.447381508552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09703095388502844"/>
          <c:w val="0.7091269895955351"/>
          <c:h val="0.6992040429564119"/>
        </c:manualLayout>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51.5</c:v>
                </c:pt>
                <c:pt idx="5">
                  <c:v>50.7</c:v>
                </c:pt>
                <c:pt idx="6">
                  <c:v>45.1</c:v>
                </c:pt>
                <c:pt idx="7">
                  <c:v>47.4</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19.6</c:v>
                </c:pt>
                <c:pt idx="5">
                  <c:v>19.5</c:v>
                </c:pt>
                <c:pt idx="6">
                  <c:v>17.7</c:v>
                </c:pt>
                <c:pt idx="7">
                  <c:v>20.7</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13.2</c:v>
                </c:pt>
                <c:pt idx="5">
                  <c:v>12.8</c:v>
                </c:pt>
                <c:pt idx="6">
                  <c:v>7.3</c:v>
                </c:pt>
                <c:pt idx="7">
                  <c:v>11.4</c:v>
                </c:pt>
              </c:numCache>
            </c:numRef>
          </c:val>
          <c:smooth val="0"/>
        </c:ser>
        <c:ser>
          <c:idx val="3"/>
          <c:order val="3"/>
          <c:tx>
            <c:strRef>
              <c:f>Sheet1!$E$1</c:f>
              <c:strCache>
                <c:ptCount val="1"/>
                <c:pt idx="0">
                  <c:v>LNST</c:v>
                </c:pt>
              </c:strCache>
            </c:strRef>
          </c:tx>
          <c:spPr>
            <a:solidFill>
              <a:srgbClr val="C08890"/>
            </a:solidFill>
            <a:ln w="19050" cap="flat">
              <a:solidFill>
                <a:srgbClr val="C0889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C08890"/>
              </a:solidFill>
              <a:ln w="9525" cap="flat">
                <a:solidFill>
                  <a:srgbClr val="C0889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10.4</c:v>
                </c:pt>
                <c:pt idx="5">
                  <c:v>8.5</c:v>
                </c:pt>
                <c:pt idx="6">
                  <c:v>3.5</c:v>
                </c:pt>
                <c:pt idx="7">
                  <c:v>7.5</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5"/>
          <c:min val="-5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7586935850616688"/>
          <c:h val="0.7205685048322911"/>
        </c:manualLayout>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15</c:v>
                </c:pt>
                <c:pt idx="5">
                  <c:v>65</c:v>
                </c:pt>
                <c:pt idx="6">
                  <c:v>12</c:v>
                </c:pt>
                <c:pt idx="7">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0.625907510890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45923820352473"/>
        </c:manualLayout>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12.2</c:v>
                </c:pt>
                <c:pt idx="3">
                  <c:v>65.3</c:v>
                </c:pt>
                <c:pt idx="4">
                  <c:v>16.7</c:v>
                </c:pt>
                <c:pt idx="5">
                  <c:v>17.9</c:v>
                </c:pt>
              </c:numCache>
            </c:numRef>
          </c:val>
        </c:ser>
        <c:ser>
          <c:idx val="1"/>
          <c:order val="1"/>
          <c:tx>
            <c:strRef>
              <c:f>Sheet1!$C$1</c:f>
              <c:strCache>
                <c:ptCount val="1"/>
                <c:pt idx="0">
                  <c:v>Khấu hao</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6.7</c:v>
                </c:pt>
                <c:pt idx="4">
                  <c:v>14.6</c:v>
                </c:pt>
                <c:pt idx="5">
                  <c:v>16.6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4.1840300392104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-1.8</c:v>
                </c:pt>
                <c:pt idx="3">
                  <c:v>-52.3</c:v>
                </c:pt>
                <c:pt idx="4">
                  <c:v>-3.4</c:v>
                </c:pt>
                <c:pt idx="5">
                  <c:v>8.4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1883149872989"/>
          <c:min val="-118.08831498729889"/>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1642978965321206"/>
          <c:w val="0.7496387147155424"/>
          <c:h val="0.6390676520750427"/>
        </c:manualLayout>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17</c:v>
                </c:pt>
                <c:pt idx="3">
                  <c:v>9.1</c:v>
                </c:pt>
                <c:pt idx="4">
                  <c:v>6.5</c:v>
                </c:pt>
                <c:pt idx="5">
                  <c:v>12.3</c:v>
                </c:pt>
              </c:numCache>
            </c:numRef>
          </c:val>
          <c:smooth val="0"/>
        </c:ser>
        <c:ser>
          <c:idx val="1"/>
          <c:order val="1"/>
          <c:tx>
            <c:strRef>
              <c:f>Sheet1!$C$1</c:f>
              <c:strCache>
                <c:ptCount val="1"/>
                <c:pt idx="0">
                  <c:v>WACC</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1"/>
          <c:min val="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862947240751971"/>
          <c:w val="0.9830662164955557"/>
          <c:h val="0.5901516070345664"/>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Sheet1!$B$2:$B$7</c:f>
              <c:numCache>
                <c:formatCode>General</c:formatCode>
                <c:ptCount val="6"/>
                <c:pt idx="0">
                  <c:v>0</c:v>
                </c:pt>
                <c:pt idx="1">
                  <c:v>0</c:v>
                </c:pt>
                <c:pt idx="2">
                  <c:v>0</c:v>
                </c:pt>
                <c:pt idx="3">
                  <c:v>19.1</c:v>
                </c:pt>
                <c:pt idx="4">
                  <c:v>20.4</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Sheet1!$C$2:$C$7</c:f>
              <c:numCache>
                <c:formatCode>General</c:formatCode>
                <c:ptCount val="6"/>
                <c:pt idx="0">
                  <c:v>0</c:v>
                </c:pt>
                <c:pt idx="1">
                  <c:v>19.1</c:v>
                </c:pt>
                <c:pt idx="2">
                  <c:v>0</c:v>
                </c:pt>
                <c:pt idx="3">
                  <c:v>2.9</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Sheet1!$D$2:$D$7</c:f>
              <c:numCache>
                <c:formatCode>General</c:formatCode>
                <c:ptCount val="6"/>
                <c:pt idx="0">
                  <c:v>0</c:v>
                </c:pt>
                <c:pt idx="1">
                  <c:v>-38.5</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Sheet1!$E$2:$E$7</c:f>
              <c:numCache>
                <c:formatCode>General</c:formatCode>
                <c:ptCount val="6"/>
                <c:pt idx="0">
                  <c:v>-38.5</c:v>
                </c:pt>
                <c:pt idx="1">
                  <c:v>0</c:v>
                </c:pt>
                <c:pt idx="2">
                  <c:v>0</c:v>
                </c:pt>
                <c:pt idx="3">
                  <c:v>0</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Sheet1!$F$2:$F$7</c:f>
              <c:numCache>
                <c:formatCode>General</c:formatCode>
                <c:ptCount val="6"/>
                <c:pt idx="0">
                  <c:v>0</c:v>
                </c:pt>
                <c:pt idx="1">
                  <c:v>0</c:v>
                </c:pt>
                <c:pt idx="2">
                  <c:v>19.1</c:v>
                </c:pt>
                <c:pt idx="3">
                  <c:v>0</c:v>
                </c:pt>
                <c:pt idx="4">
                  <c:v>0</c:v>
                </c:pt>
                <c:pt idx="5">
                  <c:v>20.4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9.344202565629075"/>
          <c:min val="-75.81277248343036"/>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9406190777005686"/>
          <c:w val="0.9830662164955557"/>
          <c:h val="0.573063802905875"/>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Sheet1!$B$2:$B$6</c:f>
              <c:numCache>
                <c:formatCode>General</c:formatCode>
                <c:ptCount val="5"/>
                <c:pt idx="0">
                  <c:v>0</c:v>
                </c:pt>
                <c:pt idx="1">
                  <c:v>62.2</c:v>
                </c:pt>
                <c:pt idx="2">
                  <c:v>0</c:v>
                </c:pt>
                <c:pt idx="3">
                  <c:v>21.7</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Sheet1!$E$2:$E$6</c:f>
              <c:numCache>
                <c:formatCode>General</c:formatCode>
                <c:ptCount val="5"/>
                <c:pt idx="0">
                  <c:v>0</c:v>
                </c:pt>
                <c:pt idx="1">
                  <c:v>138.5</c:v>
                </c:pt>
                <c:pt idx="2">
                  <c:v>0</c:v>
                </c:pt>
                <c:pt idx="3">
                  <c:v>40.5</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Sheet1!$F$2:$F$6</c:f>
              <c:numCache>
                <c:formatCode>General</c:formatCode>
                <c:ptCount val="5"/>
                <c:pt idx="0">
                  <c:v>200.6</c:v>
                </c:pt>
                <c:pt idx="1">
                  <c:v>0</c:v>
                </c:pt>
                <c:pt idx="2">
                  <c:v>62.2</c:v>
                </c:pt>
                <c:pt idx="3">
                  <c:v>0</c:v>
                </c:pt>
                <c:pt idx="4">
                  <c:v>21.7</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5.0796277534417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0310204644112175"/>
          <c:y val="0.0855625186511489"/>
          <c:w val="0.7532841819977492"/>
          <c:h val="0.902214264398687"/>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404040"/>
              </a:solidFill>
              <a:effectLst/>
            </c:spPr>
          </c:dPt>
          <c:dPt>
            <c:idx val="4"/>
            <c:invertIfNegative val="0"/>
            <c:bubble3D val="0"/>
            <c:spPr>
              <a:solidFill>
                <a:srgbClr val="404040"/>
              </a:solidFill>
              <a:effectLst/>
            </c:spPr>
          </c:dPt>
          <c:dPt>
            <c:idx val="5"/>
            <c:invertIfNegative val="0"/>
            <c:bubble3D val="0"/>
            <c:spPr>
              <a:solidFill>
                <a:srgbClr val="404040"/>
              </a:solidFill>
              <a:effectLst/>
            </c:spPr>
          </c:dPt>
          <c:dPt>
            <c:idx val="6"/>
            <c:invertIfNegative val="0"/>
            <c:bubble3D val="0"/>
            <c:spPr>
              <a:solidFill>
                <a:srgbClr val="404040"/>
              </a:solidFill>
              <a:effectLst/>
            </c:spPr>
          </c:dPt>
          <c:dPt>
            <c:idx val="7"/>
            <c:invertIfNegative val="0"/>
            <c:bubble3D val="0"/>
            <c:spPr>
              <a:solidFill>
                <a:srgbClr val="404040"/>
              </a:solidFill>
              <a:effectLst/>
            </c:spPr>
          </c:dPt>
          <c:dPt>
            <c:idx val="8"/>
            <c:invertIfNegative val="0"/>
            <c:bubble3D val="0"/>
            <c:spPr>
              <a:solidFill>
                <a:srgbClr val="404040"/>
              </a:solidFill>
              <a:effectLst/>
            </c:spPr>
          </c:dPt>
          <c:dPt>
            <c:idx val="9"/>
            <c:invertIfNegative val="0"/>
            <c:bubble3D val="0"/>
            <c:spPr>
              <a:solidFill>
                <a:srgbClr val="404040"/>
              </a:solidFill>
              <a:effectLst/>
            </c:spPr>
          </c:dPt>
          <c:dPt>
            <c:idx val="10"/>
            <c:invertIfNegative val="0"/>
            <c:bubble3D val="0"/>
            <c:spPr>
              <a:solidFill>
                <a:srgbClr val="404040"/>
              </a:solidFill>
              <a:effectLst/>
            </c:spPr>
          </c:dPt>
          <c:dPt>
            <c:idx val="11"/>
            <c:invertIfNegative val="0"/>
            <c:bubble3D val="0"/>
            <c:spPr>
              <a:solidFill>
                <a:srgbClr val="404040"/>
              </a:solidFill>
              <a:effectLst/>
            </c:spPr>
          </c:dPt>
          <c:dPt>
            <c:idx val="12"/>
            <c:invertIfNegative val="0"/>
            <c:bubble3D val="0"/>
            <c:spPr>
              <a:solidFill>
                <a:srgbClr val="404040"/>
              </a:solidFill>
              <a:effectLst/>
            </c:spPr>
          </c:dPt>
          <c:dPt>
            <c:idx val="13"/>
            <c:invertIfNegative val="0"/>
            <c:bubble3D val="0"/>
            <c:spPr>
              <a:solidFill>
                <a:srgbClr val="404040"/>
              </a:solidFill>
              <a:effectLst/>
            </c:spPr>
          </c:dPt>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13.71</c:v>
                </c:pt>
                <c:pt idx="1">
                  <c:v>13.33</c:v>
                </c:pt>
                <c:pt idx="2">
                  <c:v>8.98</c:v>
                </c:pt>
                <c:pt idx="3">
                  <c:v>6.35</c:v>
                </c:pt>
                <c:pt idx="4">
                  <c:v>5.5</c:v>
                </c:pt>
                <c:pt idx="5">
                  <c:v>5.4</c:v>
                </c:pt>
                <c:pt idx="6">
                  <c:v>5.05</c:v>
                </c:pt>
                <c:pt idx="7">
                  <c:v>4.21</c:v>
                </c:pt>
                <c:pt idx="8">
                  <c:v>4.17</c:v>
                </c:pt>
                <c:pt idx="9">
                  <c:v>3.85</c:v>
                </c:pt>
                <c:pt idx="10">
                  <c:v>3.28</c:v>
                </c:pt>
                <c:pt idx="11">
                  <c:v>2.96</c:v>
                </c:pt>
                <c:pt idx="12">
                  <c:v>2.66</c:v>
                </c:pt>
                <c:pt idx="13">
                  <c:v>2.06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3.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082192976411952"/>
          <c:y val="0.022443835616438357"/>
          <c:w val="0.36842279335767936"/>
          <c:h val="0.9551123287671233"/>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404040"/>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Multiples 2025A</c:v>
                  </c:pt>
                  <c:pt idx="1">
                    <c:v>VC Method</c:v>
                  </c:pt>
                  <c:pt idx="2">
                    <c:v>DCF</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27.7</c:v>
                </c:pt>
                <c:pt idx="1">
                  <c:v>21.7</c:v>
                </c:pt>
                <c:pt idx="2">
                  <c:v>20.4</c:v>
                </c:pt>
                <c:pt idx="3">
                  <c:v>22.4</c:v>
                </c:pt>
                <c:pt idx="4">
                  <c:v>18.2</c:v>
                </c:pt>
                <c:pt idx="5">
                  <c:v>30</c:v>
                </c:pt>
                <c:pt idx="6">
                  <c:v>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8.1</c:v>
                </c:pt>
                <c:pt idx="2">
                  <c:v>23.9</c:v>
                </c:pt>
                <c:pt idx="3">
                  <c:v>32.5</c:v>
                </c:pt>
                <c:pt idx="4">
                  <c:v>36.8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5.9401869158878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808527572484367"/>
        </c:manualLayout>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62.2</c:v>
                </c:pt>
                <c:pt idx="1">
                  <c:v>44</c:v>
                </c:pt>
                <c:pt idx="2">
                  <c:v>28.5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5.80742929506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71152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95256"/>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vi-VN" sz="2000" b="1" spc="80" kern="0" dirty="0">
                <a:solidFill>
                  <a:srgbClr val="FFFFFF"/>
                </a:solidFill>
                <a:latin typeface="Calibri" pitchFamily="34" charset="0"/>
                <a:ea typeface="Calibri" pitchFamily="34" charset="-122"/>
                <a:cs typeface="Calibri" pitchFamily="34" charset="-120"/>
              </a:rPr>
              <a:t>CTCP AGRIPACK</a:t>
            </a:r>
            <a:endParaRPr lang="vi-VN"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vi-VN" sz="800" dirty="0">
                <a:solidFill>
                  <a:srgbClr val="FFFFFF"/>
                </a:solidFill>
                <a:latin typeface="Calibri" pitchFamily="34" charset="0"/>
                <a:ea typeface="Calibri" pitchFamily="34" charset="-122"/>
                <a:cs typeface="Calibri" pitchFamily="34" charset="-120"/>
              </a:rPr>
              <a:t>Bao bì từ bã mía – vỏ trứng · B2B · Gia Lai</a:t>
            </a:r>
            <a:endParaRPr lang="vi-VN"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vi-VN"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Ngày báo cáo: 07/10/2026 · Thời điểm định giá: 01/01/2026</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vi-VN"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THÔNG TIN CHÍNH</a:t>
            </a:r>
            <a:endParaRPr lang="vi-VN"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Ngành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Bao bì bền vững (B2B)</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Sản phẩm</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Hộp, khay, đệm từ bã mía + vỏ trứng</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Gia Lai (1 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Thành lập (giả định)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2021</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Giai đoạn</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Đầu tăng trưởng (z 35–45%)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Doanh thu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47,5 tỷ (+53,7%)</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Biên EBITDA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16,2%</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LNST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VCSH 31/12/2025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30,0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D/E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6,5%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ROE 2025A / Ke</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15,9% / 16,8%</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Thị phần SAM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4,3%</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WACC / g / z</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 / 5,0% / 40%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DCF / VCM / Multiples</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20,4 / 21,7 / 27,7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Pre-money (40/40/20)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22,4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Khoảng giá trị</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11,4–35,5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vi-VN"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3,8 lần đến 2030E; biên EBITDA giảm năm 2029 khi nhà máy mới chạy</a:t>
            </a:r>
            <a:endParaRPr lang="vi-VN"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Doanh thu thuần (tỷ đồng)</a:t>
            </a:r>
            <a:endParaRPr lang="vi-VN"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18598" y="469846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a:t>
            </a:r>
            <a:endParaRPr lang="vi-VN" sz="650" dirty="0"/>
          </a:p>
        </p:txBody>
      </p:sp>
      <p:sp>
        <p:nvSpPr>
          <p:cNvPr id="24" name="Text 20"/>
          <p:cNvSpPr txBox="1"/>
          <p:nvPr/>
        </p:nvSpPr>
        <p:spPr>
          <a:xfrm>
            <a:off x="684019" y="466858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a:t>
            </a:r>
            <a:endParaRPr lang="vi-VN" sz="650" dirty="0"/>
          </a:p>
        </p:txBody>
      </p:sp>
      <p:sp>
        <p:nvSpPr>
          <p:cNvPr id="25" name="Text 21"/>
          <p:cNvSpPr txBox="1"/>
          <p:nvPr/>
        </p:nvSpPr>
        <p:spPr>
          <a:xfrm>
            <a:off x="949440" y="462545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a:t>
            </a:r>
            <a:endParaRPr lang="vi-VN" sz="650" dirty="0"/>
          </a:p>
        </p:txBody>
      </p:sp>
      <p:sp>
        <p:nvSpPr>
          <p:cNvPr id="26" name="Text 22"/>
          <p:cNvSpPr txBox="1"/>
          <p:nvPr/>
        </p:nvSpPr>
        <p:spPr>
          <a:xfrm>
            <a:off x="1214861" y="458336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64</a:t>
            </a:r>
            <a:endParaRPr lang="vi-VN" sz="650" dirty="0"/>
          </a:p>
        </p:txBody>
      </p:sp>
      <p:sp>
        <p:nvSpPr>
          <p:cNvPr id="27" name="Text 23"/>
          <p:cNvSpPr txBox="1"/>
          <p:nvPr/>
        </p:nvSpPr>
        <p:spPr>
          <a:xfrm>
            <a:off x="1480282" y="453737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8" name="Text 24"/>
          <p:cNvSpPr txBox="1"/>
          <p:nvPr/>
        </p:nvSpPr>
        <p:spPr>
          <a:xfrm>
            <a:off x="1745702" y="44880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100</a:t>
            </a:r>
            <a:endParaRPr lang="vi-VN" sz="650" dirty="0"/>
          </a:p>
        </p:txBody>
      </p:sp>
      <p:sp>
        <p:nvSpPr>
          <p:cNvPr id="29" name="Text 25"/>
          <p:cNvSpPr txBox="1"/>
          <p:nvPr/>
        </p:nvSpPr>
        <p:spPr>
          <a:xfrm>
            <a:off x="2011123" y="438693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139</a:t>
            </a:r>
            <a:endParaRPr lang="vi-VN" sz="650" dirty="0"/>
          </a:p>
        </p:txBody>
      </p:sp>
      <p:sp>
        <p:nvSpPr>
          <p:cNvPr id="30" name="Text 26"/>
          <p:cNvSpPr txBox="1"/>
          <p:nvPr/>
        </p:nvSpPr>
        <p:spPr>
          <a:xfrm>
            <a:off x="2276544" y="428404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179</a:t>
            </a:r>
            <a:endParaRPr lang="vi-VN" sz="650" dirty="0"/>
          </a:p>
        </p:txBody>
      </p:sp>
      <p:sp>
        <p:nvSpPr>
          <p:cNvPr id="31" name="Text 27"/>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Biên EBITDA (%)</a:t>
            </a:r>
            <a:endParaRPr lang="vi-VN" sz="640" dirty="0"/>
          </a:p>
        </p:txBody>
      </p:sp>
      <p:graphicFrame>
        <p:nvGraphicFramePr>
          <p:cNvPr id="32" name="Chart 1" descr=""/>
          <p:cNvGraphicFramePr/>
          <p:nvPr/>
        </p:nvGraphicFramePr>
        <p:xfrm>
          <a:off x="405408" y="5203180"/>
          <a:ext cx="2159943" cy="608707"/>
        </p:xfrm>
        <a:graphic xmlns:a="http://schemas.openxmlformats.org/drawingml/2006/main">
          <a:graphicData uri="http://schemas.openxmlformats.org/drawingml/2006/chart">
            <c:chart xmlns:c="http://schemas.openxmlformats.org/drawingml/2006/chart" r:id="rId2"/>
          </a:graphicData>
        </a:graphic>
      </p:graphicFrame>
      <p:sp>
        <p:nvSpPr>
          <p:cNvPr id="33" name="Text 28"/>
          <p:cNvSpPr txBox="1"/>
          <p:nvPr/>
        </p:nvSpPr>
        <p:spPr>
          <a:xfrm>
            <a:off x="689661" y="5546976"/>
            <a:ext cx="204407"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34" name="Text 29"/>
          <p:cNvSpPr txBox="1"/>
          <p:nvPr/>
        </p:nvSpPr>
        <p:spPr>
          <a:xfrm>
            <a:off x="957685" y="5289084"/>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35" name="Text 30"/>
          <p:cNvSpPr txBox="1"/>
          <p:nvPr/>
        </p:nvSpPr>
        <p:spPr>
          <a:xfrm>
            <a:off x="1160082" y="5249648"/>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36" name="Text 31"/>
          <p:cNvSpPr txBox="1"/>
          <p:nvPr/>
        </p:nvSpPr>
        <p:spPr>
          <a:xfrm>
            <a:off x="1384355" y="524273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7" name="Text 32"/>
          <p:cNvSpPr txBox="1"/>
          <p:nvPr/>
        </p:nvSpPr>
        <p:spPr>
          <a:xfrm>
            <a:off x="1608628" y="5235825"/>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8" name="Text 33"/>
          <p:cNvSpPr txBox="1"/>
          <p:nvPr/>
        </p:nvSpPr>
        <p:spPr>
          <a:xfrm>
            <a:off x="1832901" y="5236232"/>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9" name="Text 34"/>
          <p:cNvSpPr txBox="1"/>
          <p:nvPr/>
        </p:nvSpPr>
        <p:spPr>
          <a:xfrm>
            <a:off x="2057174" y="5243550"/>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40" name="Text 35"/>
          <p:cNvSpPr txBox="1"/>
          <p:nvPr/>
        </p:nvSpPr>
        <p:spPr>
          <a:xfrm>
            <a:off x="2281446" y="523135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21</a:t>
            </a:r>
            <a:endParaRPr lang="vi-VN" sz="650" dirty="0"/>
          </a:p>
        </p:txBody>
      </p:sp>
      <p:sp>
        <p:nvSpPr>
          <p:cNvPr id="41" name="Text 36"/>
          <p:cNvSpPr txBox="1"/>
          <p:nvPr/>
        </p:nvSpPr>
        <p:spPr>
          <a:xfrm>
            <a:off x="405408" y="582974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vi-VN" sz="600" dirty="0"/>
          </a:p>
        </p:txBody>
      </p:sp>
      <p:sp>
        <p:nvSpPr>
          <p:cNvPr id="42" name="Text 37"/>
          <p:cNvSpPr txBox="1"/>
          <p:nvPr/>
        </p:nvSpPr>
        <p:spPr>
          <a:xfrm>
            <a:off x="405408" y="612638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cho 20,4–27,7 tỷ; bình quân thấp hơn VCSH sổ sách</a:t>
            </a:r>
            <a:endParaRPr lang="vi-VN" sz="720" dirty="0"/>
          </a:p>
        </p:txBody>
      </p:sp>
      <p:sp>
        <p:nvSpPr>
          <p:cNvPr id="43" name="Text 38"/>
          <p:cNvSpPr txBox="1"/>
          <p:nvPr/>
        </p:nvSpPr>
        <p:spPr>
          <a:xfrm>
            <a:off x="405408" y="63634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44" name="Chart 2" descr=""/>
          <p:cNvGraphicFramePr/>
          <p:nvPr/>
        </p:nvGraphicFramePr>
        <p:xfrm>
          <a:off x="405408" y="6478935"/>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45" name="Shape 39"/>
          <p:cNvSpPr/>
          <p:nvPr/>
        </p:nvSpPr>
        <p:spPr>
          <a:xfrm>
            <a:off x="1590635" y="6606951"/>
            <a:ext cx="0" cy="894302"/>
          </a:xfrm>
          <a:prstGeom prst="line">
            <a:avLst/>
          </a:prstGeom>
          <a:noFill/>
          <a:ln w="6350">
            <a:solidFill>
              <a:srgbClr val="BFBFBF"/>
            </a:solidFill>
            <a:prstDash val="solid"/>
          </a:ln>
        </p:spPr>
      </p:sp>
      <p:sp>
        <p:nvSpPr>
          <p:cNvPr id="46" name="Text 40"/>
          <p:cNvSpPr txBox="1"/>
          <p:nvPr/>
        </p:nvSpPr>
        <p:spPr>
          <a:xfrm>
            <a:off x="405408" y="666387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(20,4)</a:t>
            </a:r>
            <a:endParaRPr lang="vi-VN" sz="650" dirty="0"/>
          </a:p>
        </p:txBody>
      </p:sp>
      <p:sp>
        <p:nvSpPr>
          <p:cNvPr id="47" name="Text 41"/>
          <p:cNvSpPr txBox="1"/>
          <p:nvPr/>
        </p:nvSpPr>
        <p:spPr>
          <a:xfrm>
            <a:off x="1908837" y="6663875"/>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11,7–29,7</a:t>
            </a:r>
            <a:endParaRPr lang="vi-VN" sz="650" dirty="0"/>
          </a:p>
        </p:txBody>
      </p:sp>
      <p:sp>
        <p:nvSpPr>
          <p:cNvPr id="48" name="Shape 42"/>
          <p:cNvSpPr/>
          <p:nvPr/>
        </p:nvSpPr>
        <p:spPr>
          <a:xfrm>
            <a:off x="1790453" y="6651666"/>
            <a:ext cx="0" cy="134145"/>
          </a:xfrm>
          <a:prstGeom prst="line">
            <a:avLst/>
          </a:prstGeom>
          <a:noFill/>
          <a:ln w="15875">
            <a:solidFill>
              <a:srgbClr val="FFFFFF"/>
            </a:solidFill>
            <a:prstDash val="solid"/>
          </a:ln>
        </p:spPr>
      </p:sp>
      <p:sp>
        <p:nvSpPr>
          <p:cNvPr id="49" name="Text 43"/>
          <p:cNvSpPr txBox="1"/>
          <p:nvPr/>
        </p:nvSpPr>
        <p:spPr>
          <a:xfrm>
            <a:off x="405408" y="688745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 (21,7)</a:t>
            </a:r>
            <a:endParaRPr lang="vi-VN" sz="650" dirty="0"/>
          </a:p>
        </p:txBody>
      </p:sp>
      <p:sp>
        <p:nvSpPr>
          <p:cNvPr id="50" name="Text 44"/>
          <p:cNvSpPr txBox="1"/>
          <p:nvPr/>
        </p:nvSpPr>
        <p:spPr>
          <a:xfrm>
            <a:off x="1980306" y="6887450"/>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8,0–37,0</a:t>
            </a:r>
            <a:endParaRPr lang="vi-VN" sz="650" dirty="0"/>
          </a:p>
        </p:txBody>
      </p:sp>
      <p:sp>
        <p:nvSpPr>
          <p:cNvPr id="51" name="Shape 45"/>
          <p:cNvSpPr/>
          <p:nvPr/>
        </p:nvSpPr>
        <p:spPr>
          <a:xfrm>
            <a:off x="1802996" y="6875241"/>
            <a:ext cx="0" cy="134145"/>
          </a:xfrm>
          <a:prstGeom prst="line">
            <a:avLst/>
          </a:prstGeom>
          <a:noFill/>
          <a:ln w="15875">
            <a:solidFill>
              <a:srgbClr val="FFFFFF"/>
            </a:solidFill>
            <a:prstDash val="solid"/>
          </a:ln>
        </p:spPr>
      </p:sp>
      <p:sp>
        <p:nvSpPr>
          <p:cNvPr id="52" name="Text 46"/>
          <p:cNvSpPr txBox="1"/>
          <p:nvPr/>
        </p:nvSpPr>
        <p:spPr>
          <a:xfrm>
            <a:off x="405408" y="7111026"/>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 (27,7)</a:t>
            </a:r>
            <a:endParaRPr lang="vi-VN" sz="650" dirty="0"/>
          </a:p>
        </p:txBody>
      </p:sp>
      <p:sp>
        <p:nvSpPr>
          <p:cNvPr id="53" name="Text 47"/>
          <p:cNvSpPr txBox="1"/>
          <p:nvPr/>
        </p:nvSpPr>
        <p:spPr>
          <a:xfrm>
            <a:off x="2048838" y="7111026"/>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17,7–44,0</a:t>
            </a:r>
            <a:endParaRPr lang="vi-VN" sz="650" dirty="0"/>
          </a:p>
        </p:txBody>
      </p:sp>
      <p:sp>
        <p:nvSpPr>
          <p:cNvPr id="54" name="Shape 48"/>
          <p:cNvSpPr/>
          <p:nvPr/>
        </p:nvSpPr>
        <p:spPr>
          <a:xfrm>
            <a:off x="1861932" y="7098817"/>
            <a:ext cx="0" cy="134145"/>
          </a:xfrm>
          <a:prstGeom prst="line">
            <a:avLst/>
          </a:prstGeom>
          <a:noFill/>
          <a:ln w="15875">
            <a:solidFill>
              <a:srgbClr val="FFFFFF"/>
            </a:solidFill>
            <a:prstDash val="solid"/>
          </a:ln>
        </p:spPr>
      </p:sp>
      <p:sp>
        <p:nvSpPr>
          <p:cNvPr id="55" name="Text 49"/>
          <p:cNvSpPr txBox="1"/>
          <p:nvPr/>
        </p:nvSpPr>
        <p:spPr>
          <a:xfrm>
            <a:off x="405408" y="7334601"/>
            <a:ext cx="1139508"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 (22,4)</a:t>
            </a:r>
            <a:endParaRPr lang="vi-VN" sz="650" dirty="0"/>
          </a:p>
        </p:txBody>
      </p:sp>
      <p:sp>
        <p:nvSpPr>
          <p:cNvPr id="56" name="Text 50"/>
          <p:cNvSpPr txBox="1"/>
          <p:nvPr/>
        </p:nvSpPr>
        <p:spPr>
          <a:xfrm>
            <a:off x="1965621" y="7334601"/>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11,4–35,5</a:t>
            </a:r>
            <a:endParaRPr lang="vi-VN" sz="650" dirty="0"/>
          </a:p>
        </p:txBody>
      </p:sp>
      <p:sp>
        <p:nvSpPr>
          <p:cNvPr id="57" name="Shape 51"/>
          <p:cNvSpPr/>
          <p:nvPr/>
        </p:nvSpPr>
        <p:spPr>
          <a:xfrm>
            <a:off x="1809766" y="7322393"/>
            <a:ext cx="0" cy="134145"/>
          </a:xfrm>
          <a:prstGeom prst="line">
            <a:avLst/>
          </a:prstGeom>
          <a:noFill/>
          <a:ln w="15875">
            <a:solidFill>
              <a:srgbClr val="FFFFFF"/>
            </a:solidFill>
            <a:prstDash val="solid"/>
          </a:ln>
        </p:spPr>
      </p:sp>
      <p:sp>
        <p:nvSpPr>
          <p:cNvPr id="58" name="Shape 52"/>
          <p:cNvSpPr/>
          <p:nvPr/>
        </p:nvSpPr>
        <p:spPr>
          <a:xfrm>
            <a:off x="1884070" y="6606951"/>
            <a:ext cx="0" cy="894302"/>
          </a:xfrm>
          <a:prstGeom prst="line">
            <a:avLst/>
          </a:prstGeom>
          <a:noFill/>
          <a:ln w="9525">
            <a:solidFill>
              <a:srgbClr val="7B1E2B"/>
            </a:solidFill>
            <a:prstDash val="dash"/>
          </a:ln>
        </p:spPr>
      </p:sp>
      <p:sp>
        <p:nvSpPr>
          <p:cNvPr id="59" name="Text 53"/>
          <p:cNvSpPr txBox="1"/>
          <p:nvPr/>
        </p:nvSpPr>
        <p:spPr>
          <a:xfrm>
            <a:off x="1243990" y="6478935"/>
            <a:ext cx="1280160" cy="109728"/>
          </a:xfrm>
          <a:prstGeom prst="rect">
            <a:avLst/>
          </a:prstGeom>
          <a:noFill/>
          <a:ln/>
        </p:spPr>
        <p:txBody>
          <a:bodyPr wrap="none" lIns="0" tIns="0" rIns="0" bIns="0" rtlCol="0" anchor="ctr"/>
          <a:lstStyle/>
          <a:p>
            <a:pPr algn="ctr" indent="0" marL="0">
              <a:buNone/>
            </a:pPr>
            <a:r>
              <a:rPr lang="vi-VN" altLang="en-US" sz="550" b="1" dirty="0">
                <a:solidFill>
                  <a:srgbClr val="7B1E2B"/>
                </a:solidFill>
                <a:latin typeface="Calibri" pitchFamily="34" charset="0"/>
                <a:ea typeface="Calibri" pitchFamily="34" charset="-122"/>
                <a:cs typeface="Calibri" pitchFamily="34" charset="-120"/>
              </a:rPr>
              <a:t>VCSH sổ sách 30,0</a:t>
            </a:r>
            <a:endParaRPr lang="vi-VN" sz="550" dirty="0"/>
          </a:p>
        </p:txBody>
      </p:sp>
      <p:sp>
        <p:nvSpPr>
          <p:cNvPr id="60" name="Text 54"/>
          <p:cNvSpPr txBox="1"/>
          <p:nvPr/>
        </p:nvSpPr>
        <p:spPr>
          <a:xfrm>
            <a:off x="405408" y="753740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Sensitivity, Multiples)</a:t>
            </a:r>
            <a:endParaRPr lang="vi-VN" sz="600" dirty="0"/>
          </a:p>
        </p:txBody>
      </p:sp>
      <p:sp>
        <p:nvSpPr>
          <p:cNvPr id="61" name="Text 55"/>
          <p:cNvSpPr txBox="1"/>
          <p:nvPr/>
        </p:nvSpPr>
        <p:spPr>
          <a:xfrm>
            <a:off x="463008" y="7736729"/>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NỘI DUNG BÁO CÁO</a:t>
            </a:r>
            <a:endParaRPr lang="vi-VN"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70180"/>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1. Đề xuất ý tưởng khởi nghiệp</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2</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2. Báo cáo tài chính và xác định giai đoạn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4</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3. Phân tích vĩ mô và phân tích ngành</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4. Lập dự phóng pro forma 5 năm (2026E–2030E)</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11</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5. Định giá</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13</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6. Kế hoạch huy động vốn (6.1. Nhu cầu vốn)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15</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8. Câu hỏi Bonus: định giá khi chưa có doanh thu</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17</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3" name="Text 56"/>
          <p:cNvSpPr txBox="1"/>
          <p:nvPr/>
        </p:nvSpPr>
        <p:spPr>
          <a:xfrm>
            <a:off x="405408" y="916349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vi-VN" sz="600" dirty="0"/>
          </a:p>
        </p:txBody>
      </p:sp>
      <p:sp>
        <p:nvSpPr>
          <p:cNvPr id="64" name="Text 57"/>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vi-VN" sz="1220" b="1" dirty="0">
                <a:solidFill>
                  <a:srgbClr val="7B1E2B"/>
                </a:solidFill>
                <a:latin typeface="Calibri" pitchFamily="34" charset="0"/>
                <a:ea typeface="Calibri" pitchFamily="34" charset="-122"/>
                <a:cs typeface="Calibri" pitchFamily="34" charset="-120"/>
              </a:rPr>
              <a:t>AgriPack đã qua giai đoạn thử nghiệm; pre-money 22,4 tỷ đồng, thấp hơn giá trị sổ sách vì tăng trưởng còn cần nhiều vốn</a:t>
            </a:r>
            <a:endParaRPr lang="vi-VN" sz="1220" dirty="0"/>
          </a:p>
        </p:txBody>
      </p:sp>
      <p:sp>
        <p:nvSpPr>
          <p:cNvPr id="65" name="Text 58"/>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vi-VN" sz="690" b="1" spc="40" kern="0" dirty="0">
                <a:solidFill>
                  <a:srgbClr val="7B1E2B"/>
                </a:solidFill>
                <a:latin typeface="Calibri" pitchFamily="34" charset="0"/>
                <a:ea typeface="Calibri" pitchFamily="34" charset="-122"/>
                <a:cs typeface="Calibri" pitchFamily="34" charset="-120"/>
              </a:rPr>
              <a:t>KẾT QUẢ ĐỊNH GIÁ (T0 = 01/01/2026)</a:t>
            </a:r>
            <a:endParaRPr lang="vi-VN"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Pre-money bình quân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b="1" dirty="0">
                          <a:solidFill>
                            <a:srgbClr val="1F1F1F"/>
                          </a:solidFill>
                          <a:latin typeface="Calibri" pitchFamily="34" charset="0"/>
                          <a:ea typeface="Calibri" pitchFamily="34" charset="-122"/>
                          <a:cs typeface="Calibri" pitchFamily="34" charset="-120"/>
                        </a:rPr>
                        <a:t>22,4 tỷ đồng</a:t>
                      </a:r>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 (khoảng 11,4–35,5 tỷ), trọng số DCF 40%, VC Method 40%, Multiples 20%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DCF / VC Method / Multiples</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20,4 / 21,7 / 27,7 tỷ; DCF điều chỉnh xác suất sống sót 18,2 tỷ</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Chi phí vốn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WACC 14,1%; Rf 4,59% (TPCP 10 năm, ngày 01/10/2026); beta 1,50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Hàm ý</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0,75 lần VCSH sổ sách; P/E 2025A 6,3 lần; EV/EBITDA 2025A 2,7 lần</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67" name="Text 59"/>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vi-VN" sz="850" dirty="0"/>
          </a:p>
        </p:txBody>
      </p:sp>
      <p:sp>
        <p:nvSpPr>
          <p:cNvPr id="68" name="Text 60"/>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vi-VN" sz="850" dirty="0"/>
          </a:p>
        </p:txBody>
      </p:sp>
      <p:sp>
        <p:nvSpPr>
          <p:cNvPr id="69" name="Text 61"/>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11,5%. Khi tính lại mô hình cho từng nhân tố, cầu là nhân tố quan trọng nhất: sản lượng thay đổi 20% làm pre-money thay đổi −25,3/+30,6 tỷ đồng, gấp khoảng 4–7 lần tác động của giá bán, lãi suất hay rủi ro quốc gia (Fig. 38).</a:t>
            </a:r>
            <a:endParaRPr lang="vi-VN" sz="850" dirty="0"/>
          </a:p>
        </p:txBody>
      </p:sp>
      <p:sp>
        <p:nvSpPr>
          <p:cNvPr id="70" name="Text 62"/>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đạt 178,9 tỷ đồng năm 2030, tăng bình quân 30,3% mỗi năm; biên EBITDA tăng từ 16,2% lên 20,7% (Fig. 01). Khi trình bày theo chức năng, với 70% tiền lương và 90% khấu hao vào giá vốn, biên lợi nhuận gộp đi từ 51,0% năm 2025 xuống 47,4% năm 2030. Theo đề bài, khoản đầu tư lớn với CAPEX bằng 65% doanh thu rơi vào năm 2028 (65,3 tỷ đồng), khiến dòng tiền tự do âm bốn năm liền 2026–2029; năm 2030 tỷ lệ tái đầu tư về 10% doanh thu, vẫn cao hơn trung vị 3,1% của ngành vì AgriPack còn tăng trưởng 28% mỗi năm (Fig. 03).</a:t>
            </a:r>
            <a:endParaRPr lang="vi-VN" sz="850" dirty="0"/>
          </a:p>
        </p:txBody>
      </p:sp>
      <p:sp>
        <p:nvSpPr>
          <p:cNvPr id="71" name="Text 63"/>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cho 20,4 tỷ đồng, VC Method 21,7 tỷ và Multiples 27,7 tỷ; bình quân gia quyền là 22,4 tỷ đồng (Fig. 02). Khi DCF được điều chỉnh theo xác suất sống sót (18,2 tỷ đồng), các phương pháp nằm trong khoảng 18–28 tỷ đồng. Mức 22,4 tỷ đồng chỉ bằng khoảng 0,75 lần vốn chủ sở hữu sổ sách, tức nhà đầu tư chưa trả thêm cho tăng trưởng, vì tăng trưởng đòi hỏi gần 80 tỷ đồng vốn bên ngoài và ROIC giai đoạn 2028–2030 thấp hơn WACC.</a:t>
            </a:r>
            <a:endParaRPr lang="vi-VN" sz="850" dirty="0"/>
          </a:p>
        </p:txBody>
      </p:sp>
      <p:sp>
        <p:nvSpPr>
          <p:cNvPr id="72" name="Text 64"/>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II/2028, hoặc nhà máy mới chưa vận hành trước ngày 31/12/2028.</a:t>
            </a:r>
            <a:endParaRPr lang="vi-VN" sz="850" dirty="0"/>
          </a:p>
        </p:txBody>
      </p:sp>
      <p:sp>
        <p:nvSpPr>
          <p:cNvPr id="73" name="Text 65"/>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Tóm tắt tài chính</a:t>
            </a:r>
            <a:endParaRPr lang="vi-VN" sz="720" dirty="0"/>
          </a:p>
        </p:txBody>
      </p:sp>
      <p:sp>
        <p:nvSpPr>
          <p:cNvPr id="74" name="Text 66"/>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2023A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2024A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 (70% lương, 90% KH vào GVHB)</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FCF/FCFF*</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CAPEX/doanh thu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ROIC</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76" name="Text 67"/>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vi-VN" sz="600" dirty="0"/>
          </a:p>
        </p:txBody>
      </p:sp>
      <p:sp>
        <p:nvSpPr>
          <p:cNvPr id="77" name="Text 6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8" name="Text 6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a:t>
            </a:r>
            <a:endParaRPr lang="vi-VN"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1. ĐỀ XUẤT Ý TƯỞNG KHỞI NGHIỆP</a:t>
            </a:r>
            <a:endParaRPr lang="vi-VN"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vi-VN"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a:t>
            </a:r>
            <a:endParaRPr lang="vi-VN"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58382" y="1433345"/>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12,83</a:t>
            </a:r>
            <a:endParaRPr lang="vi-VN" sz="650" dirty="0"/>
          </a:p>
        </p:txBody>
      </p:sp>
      <p:sp>
        <p:nvSpPr>
          <p:cNvPr id="15" name="Text 12"/>
          <p:cNvSpPr txBox="1"/>
          <p:nvPr/>
        </p:nvSpPr>
        <p:spPr>
          <a:xfrm>
            <a:off x="1720065" y="1260306"/>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19,16</a:t>
            </a:r>
            <a:endParaRPr lang="vi-VN" sz="650" dirty="0"/>
          </a:p>
        </p:txBody>
      </p:sp>
      <p:sp>
        <p:nvSpPr>
          <p:cNvPr id="16" name="Text 13"/>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vi-VN" sz="600" dirty="0"/>
          </a:p>
        </p:txBody>
      </p:sp>
      <p:sp>
        <p:nvSpPr>
          <p:cNvPr id="17" name="Text 14"/>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vi-VN" sz="720" dirty="0"/>
          </a:p>
        </p:txBody>
      </p:sp>
      <p:sp>
        <p:nvSpPr>
          <p:cNvPr id="18" name="Shape 15"/>
          <p:cNvSpPr/>
          <p:nvPr/>
        </p:nvSpPr>
        <p:spPr>
          <a:xfrm>
            <a:off x="464437" y="2752386"/>
            <a:ext cx="0" cy="883508"/>
          </a:xfrm>
          <a:prstGeom prst="line">
            <a:avLst/>
          </a:prstGeom>
          <a:noFill/>
          <a:ln w="11430">
            <a:solidFill>
              <a:srgbClr val="D0D0D0"/>
            </a:solidFill>
            <a:prstDash val="solid"/>
          </a:ln>
        </p:spPr>
      </p:sp>
      <p:sp>
        <p:nvSpPr>
          <p:cNvPr id="19" name="Shape 16"/>
          <p:cNvSpPr/>
          <p:nvPr/>
        </p:nvSpPr>
        <p:spPr>
          <a:xfrm>
            <a:off x="434005" y="2721954"/>
            <a:ext cx="60864" cy="60865"/>
          </a:xfrm>
          <a:prstGeom prst="ellipse">
            <a:avLst/>
          </a:prstGeom>
          <a:solidFill>
            <a:srgbClr val="404040"/>
          </a:solidFill>
          <a:ln w="6350">
            <a:solidFill>
              <a:srgbClr val="FFFFFF"/>
            </a:solidFill>
            <a:prstDash val="solid"/>
          </a:ln>
        </p:spPr>
      </p:sp>
      <p:sp>
        <p:nvSpPr>
          <p:cNvPr id="20" name="Shape 17"/>
          <p:cNvSpPr/>
          <p:nvPr/>
        </p:nvSpPr>
        <p:spPr>
          <a:xfrm>
            <a:off x="434005" y="3016457"/>
            <a:ext cx="60864" cy="60864"/>
          </a:xfrm>
          <a:prstGeom prst="ellipse">
            <a:avLst/>
          </a:prstGeom>
          <a:solidFill>
            <a:srgbClr val="404040"/>
          </a:solidFill>
          <a:ln w="6350">
            <a:solidFill>
              <a:srgbClr val="FFFFFF"/>
            </a:solidFill>
            <a:prstDash val="solid"/>
          </a:ln>
        </p:spPr>
      </p:sp>
      <p:sp>
        <p:nvSpPr>
          <p:cNvPr id="21" name="Shape 18"/>
          <p:cNvSpPr/>
          <p:nvPr/>
        </p:nvSpPr>
        <p:spPr>
          <a:xfrm>
            <a:off x="434005" y="3310960"/>
            <a:ext cx="60864" cy="60864"/>
          </a:xfrm>
          <a:prstGeom prst="ellipse">
            <a:avLst/>
          </a:prstGeom>
          <a:solidFill>
            <a:srgbClr val="7B1E2B"/>
          </a:solidFill>
          <a:ln w="6350">
            <a:solidFill>
              <a:srgbClr val="FFFFFF"/>
            </a:solidFill>
            <a:prstDash val="solid"/>
          </a:ln>
        </p:spPr>
      </p:sp>
      <p:sp>
        <p:nvSpPr>
          <p:cNvPr id="22" name="Shape 19"/>
          <p:cNvSpPr/>
          <p:nvPr/>
        </p:nvSpPr>
        <p:spPr>
          <a:xfrm>
            <a:off x="434005" y="3605461"/>
            <a:ext cx="60864" cy="60864"/>
          </a:xfrm>
          <a:prstGeom prst="ellipse">
            <a:avLst/>
          </a:prstGeom>
          <a:solidFill>
            <a:srgbClr val="404040"/>
          </a:solidFill>
          <a:ln w="6350">
            <a:solidFill>
              <a:srgbClr val="FFFFFF"/>
            </a:solidFill>
            <a:prstDash val="solid"/>
          </a:ln>
        </p:spPr>
      </p:sp>
      <p:sp>
        <p:nvSpPr>
          <p:cNvPr id="23" name="Text 20"/>
          <p:cNvSpPr txBox="1"/>
          <p:nvPr/>
        </p:nvSpPr>
        <p:spPr>
          <a:xfrm>
            <a:off x="496578" y="2687348"/>
            <a:ext cx="598396"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năm 2025</a:t>
            </a:r>
            <a:endParaRPr lang="vi-VN" sz="650" dirty="0"/>
          </a:p>
        </p:txBody>
      </p:sp>
      <p:sp>
        <p:nvSpPr>
          <p:cNvPr id="24" name="Text 21"/>
          <p:cNvSpPr txBox="1"/>
          <p:nvPr/>
        </p:nvSpPr>
        <p:spPr>
          <a:xfrm>
            <a:off x="496578" y="2785225"/>
            <a:ext cx="1879557"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vi-VN" sz="590" dirty="0"/>
          </a:p>
        </p:txBody>
      </p:sp>
      <p:sp>
        <p:nvSpPr>
          <p:cNvPr id="25" name="Text 22"/>
          <p:cNvSpPr txBox="1"/>
          <p:nvPr/>
        </p:nvSpPr>
        <p:spPr>
          <a:xfrm>
            <a:off x="496578" y="2865721"/>
            <a:ext cx="174883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vi-VN" sz="590" dirty="0"/>
          </a:p>
        </p:txBody>
      </p:sp>
      <p:sp>
        <p:nvSpPr>
          <p:cNvPr id="26" name="Text 23"/>
          <p:cNvSpPr txBox="1"/>
          <p:nvPr/>
        </p:nvSpPr>
        <p:spPr>
          <a:xfrm>
            <a:off x="496578" y="2981851"/>
            <a:ext cx="529220"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01/01/2026</a:t>
            </a:r>
            <a:endParaRPr lang="vi-VN" sz="650" dirty="0"/>
          </a:p>
        </p:txBody>
      </p:sp>
      <p:sp>
        <p:nvSpPr>
          <p:cNvPr id="27" name="Text 24"/>
          <p:cNvSpPr txBox="1"/>
          <p:nvPr/>
        </p:nvSpPr>
        <p:spPr>
          <a:xfrm>
            <a:off x="496578" y="3079726"/>
            <a:ext cx="189855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vi-VN" sz="590" dirty="0"/>
          </a:p>
        </p:txBody>
      </p:sp>
      <p:sp>
        <p:nvSpPr>
          <p:cNvPr id="28" name="Text 25"/>
          <p:cNvSpPr txBox="1"/>
          <p:nvPr/>
        </p:nvSpPr>
        <p:spPr>
          <a:xfrm>
            <a:off x="496578" y="3160224"/>
            <a:ext cx="2000330"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vi-VN" sz="590" dirty="0"/>
          </a:p>
        </p:txBody>
      </p:sp>
      <p:sp>
        <p:nvSpPr>
          <p:cNvPr id="29" name="Text 26"/>
          <p:cNvSpPr txBox="1"/>
          <p:nvPr/>
        </p:nvSpPr>
        <p:spPr>
          <a:xfrm>
            <a:off x="496578" y="3276353"/>
            <a:ext cx="1299512" cy="131826"/>
          </a:xfrm>
          <a:prstGeom prst="rect">
            <a:avLst/>
          </a:prstGeom>
          <a:noFill/>
          <a:ln/>
        </p:spPr>
        <p:txBody>
          <a:bodyPr wrap="none" lIns="0" tIns="0" rIns="0" bIns="0" rtlCol="0" anchor="ctr"/>
          <a:lstStyle/>
          <a:p>
            <a:pPr algn="l" indent="0" marL="0">
              <a:buNone/>
            </a:pPr>
            <a:r>
              <a:rPr lang="vi-VN" sz="650" b="1" dirty="0">
                <a:solidFill>
                  <a:srgbClr val="7B1E2B"/>
                </a:solidFill>
                <a:latin typeface="Calibri" pitchFamily="34" charset="0"/>
                <a:ea typeface="Calibri" pitchFamily="34" charset="-122"/>
                <a:cs typeface="Calibri" pitchFamily="34" charset="-120"/>
              </a:rPr>
              <a:t>2026–2029: kế hoạch của AgriPack</a:t>
            </a:r>
            <a:endParaRPr lang="vi-VN" sz="650" dirty="0"/>
          </a:p>
        </p:txBody>
      </p:sp>
      <p:sp>
        <p:nvSpPr>
          <p:cNvPr id="30" name="Text 27"/>
          <p:cNvSpPr txBox="1"/>
          <p:nvPr/>
        </p:nvSpPr>
        <p:spPr>
          <a:xfrm>
            <a:off x="496578" y="3374229"/>
            <a:ext cx="1799199"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Gọi vốn cổ phần (2026), xây nhà máy mới (2028, CAPEX</a:t>
            </a:r>
            <a:endParaRPr lang="vi-VN" sz="590" dirty="0"/>
          </a:p>
        </p:txBody>
      </p:sp>
      <p:sp>
        <p:nvSpPr>
          <p:cNvPr id="31" name="Text 28"/>
          <p:cNvSpPr txBox="1"/>
          <p:nvPr/>
        </p:nvSpPr>
        <p:spPr>
          <a:xfrm>
            <a:off x="496578" y="3454727"/>
            <a:ext cx="1897814"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bằng 65% doanh thu), hai dây chuyền mới vận hành (2029)</a:t>
            </a:r>
            <a:endParaRPr lang="vi-VN" sz="590" dirty="0"/>
          </a:p>
        </p:txBody>
      </p:sp>
      <p:sp>
        <p:nvSpPr>
          <p:cNvPr id="32" name="Text 29"/>
          <p:cNvSpPr txBox="1"/>
          <p:nvPr/>
        </p:nvSpPr>
        <p:spPr>
          <a:xfrm>
            <a:off x="496578" y="3570856"/>
            <a:ext cx="671521"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31/12/2030</a:t>
            </a:r>
            <a:endParaRPr lang="vi-VN" sz="650" dirty="0"/>
          </a:p>
        </p:txBody>
      </p:sp>
      <p:sp>
        <p:nvSpPr>
          <p:cNvPr id="33" name="Text 30"/>
          <p:cNvSpPr txBox="1"/>
          <p:nvPr/>
        </p:nvSpPr>
        <p:spPr>
          <a:xfrm>
            <a:off x="496578" y="3668731"/>
            <a:ext cx="2103573"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vi-VN" sz="590" dirty="0"/>
          </a:p>
        </p:txBody>
      </p:sp>
      <p:sp>
        <p:nvSpPr>
          <p:cNvPr id="34" name="Text 31"/>
          <p:cNvSpPr txBox="1"/>
          <p:nvPr/>
        </p:nvSpPr>
        <p:spPr>
          <a:xfrm>
            <a:off x="496578" y="3749229"/>
            <a:ext cx="1974461"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vi-VN" sz="590" dirty="0"/>
          </a:p>
        </p:txBody>
      </p:sp>
      <p:sp>
        <p:nvSpPr>
          <p:cNvPr id="35" name="Text 32"/>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vi-VN" sz="600" dirty="0"/>
          </a:p>
        </p:txBody>
      </p:sp>
      <p:sp>
        <p:nvSpPr>
          <p:cNvPr id="36" name="Text 33"/>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vi-VN" sz="720" dirty="0"/>
          </a:p>
        </p:txBody>
      </p:sp>
      <p:sp>
        <p:nvSpPr>
          <p:cNvPr id="37" name="Text 34"/>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Giá tham khảo hộp 500 ml có nắp, đồng/chiếc</a:t>
            </a:r>
            <a:endParaRPr lang="vi-VN" sz="630" dirty="0"/>
          </a:p>
        </p:txBody>
      </p:sp>
      <p:graphicFrame>
        <p:nvGraphicFramePr>
          <p:cNvPr id="38"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9" name="Shape 35"/>
          <p:cNvSpPr/>
          <p:nvPr/>
        </p:nvSpPr>
        <p:spPr>
          <a:xfrm>
            <a:off x="1415629" y="4605915"/>
            <a:ext cx="0" cy="797903"/>
          </a:xfrm>
          <a:prstGeom prst="line">
            <a:avLst/>
          </a:prstGeom>
          <a:noFill/>
          <a:ln w="6350">
            <a:solidFill>
              <a:srgbClr val="BFBFBF"/>
            </a:solidFill>
            <a:prstDash val="solid"/>
          </a:ln>
        </p:spPr>
      </p:sp>
      <p:sp>
        <p:nvSpPr>
          <p:cNvPr id="40" name="Text 36"/>
          <p:cNvSpPr txBox="1"/>
          <p:nvPr/>
        </p:nvSpPr>
        <p:spPr>
          <a:xfrm>
            <a:off x="405408" y="4630841"/>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Xốp EPS</a:t>
            </a:r>
            <a:endParaRPr lang="vi-VN" sz="650" dirty="0"/>
          </a:p>
        </p:txBody>
      </p:sp>
      <p:sp>
        <p:nvSpPr>
          <p:cNvPr id="41" name="Text 37"/>
          <p:cNvSpPr txBox="1"/>
          <p:nvPr/>
        </p:nvSpPr>
        <p:spPr>
          <a:xfrm>
            <a:off x="1529613" y="4630841"/>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400–600</a:t>
            </a:r>
            <a:endParaRPr lang="vi-VN" sz="650" dirty="0"/>
          </a:p>
        </p:txBody>
      </p:sp>
      <p:sp>
        <p:nvSpPr>
          <p:cNvPr id="42" name="Text 38"/>
          <p:cNvSpPr txBox="1"/>
          <p:nvPr/>
        </p:nvSpPr>
        <p:spPr>
          <a:xfrm>
            <a:off x="405408" y="4790422"/>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PP</a:t>
            </a:r>
            <a:endParaRPr lang="vi-VN" sz="650" dirty="0"/>
          </a:p>
        </p:txBody>
      </p:sp>
      <p:sp>
        <p:nvSpPr>
          <p:cNvPr id="43" name="Text 39"/>
          <p:cNvSpPr txBox="1"/>
          <p:nvPr/>
        </p:nvSpPr>
        <p:spPr>
          <a:xfrm>
            <a:off x="1587026" y="4790422"/>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978–998</a:t>
            </a:r>
            <a:endParaRPr lang="vi-VN" sz="650" dirty="0"/>
          </a:p>
        </p:txBody>
      </p:sp>
      <p:sp>
        <p:nvSpPr>
          <p:cNvPr id="44" name="Text 40"/>
          <p:cNvSpPr txBox="1"/>
          <p:nvPr/>
        </p:nvSpPr>
        <p:spPr>
          <a:xfrm>
            <a:off x="405408" y="495000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Kraft (nắp PP)</a:t>
            </a:r>
            <a:endParaRPr lang="vi-VN" sz="650" dirty="0"/>
          </a:p>
        </p:txBody>
      </p:sp>
      <p:sp>
        <p:nvSpPr>
          <p:cNvPr id="45" name="Text 41"/>
          <p:cNvSpPr txBox="1"/>
          <p:nvPr/>
        </p:nvSpPr>
        <p:spPr>
          <a:xfrm>
            <a:off x="1666654" y="495000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1.350–1.550</a:t>
            </a:r>
            <a:endParaRPr lang="vi-VN" sz="650" dirty="0"/>
          </a:p>
        </p:txBody>
      </p:sp>
      <p:sp>
        <p:nvSpPr>
          <p:cNvPr id="46" name="Text 42"/>
          <p:cNvSpPr txBox="1"/>
          <p:nvPr/>
        </p:nvSpPr>
        <p:spPr>
          <a:xfrm>
            <a:off x="405408" y="510958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Bã mía</a:t>
            </a:r>
            <a:endParaRPr lang="vi-VN" sz="650" dirty="0"/>
          </a:p>
        </p:txBody>
      </p:sp>
      <p:sp>
        <p:nvSpPr>
          <p:cNvPr id="47" name="Text 43"/>
          <p:cNvSpPr txBox="1"/>
          <p:nvPr/>
        </p:nvSpPr>
        <p:spPr>
          <a:xfrm>
            <a:off x="1832546" y="510958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1.900–2.700</a:t>
            </a:r>
            <a:endParaRPr lang="vi-VN" sz="650" dirty="0"/>
          </a:p>
        </p:txBody>
      </p:sp>
      <p:sp>
        <p:nvSpPr>
          <p:cNvPr id="48" name="Text 44"/>
          <p:cNvSpPr txBox="1"/>
          <p:nvPr/>
        </p:nvSpPr>
        <p:spPr>
          <a:xfrm>
            <a:off x="405408" y="5269164"/>
            <a:ext cx="96450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(500–800 ml)</a:t>
            </a:r>
            <a:endParaRPr lang="vi-VN" sz="650" dirty="0"/>
          </a:p>
        </p:txBody>
      </p:sp>
      <p:sp>
        <p:nvSpPr>
          <p:cNvPr id="49" name="Text 45"/>
          <p:cNvSpPr txBox="1"/>
          <p:nvPr/>
        </p:nvSpPr>
        <p:spPr>
          <a:xfrm>
            <a:off x="2020076" y="5269164"/>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2.500–4.000</a:t>
            </a:r>
            <a:endParaRPr lang="vi-VN" sz="650" dirty="0"/>
          </a:p>
        </p:txBody>
      </p:sp>
      <p:sp>
        <p:nvSpPr>
          <p:cNvPr id="50" name="Text 46"/>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vi-VN" sz="600" dirty="0"/>
          </a:p>
        </p:txBody>
      </p:sp>
      <p:sp>
        <p:nvSpPr>
          <p:cNvPr id="51" name="Text 47"/>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Tổng quan doanh nghiệp</a:t>
            </a:r>
            <a:endParaRPr lang="vi-VN" sz="900" dirty="0"/>
          </a:p>
        </p:txBody>
      </p:sp>
      <p:sp>
        <p:nvSpPr>
          <p:cNvPr id="52" name="Text 48"/>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vi-VN" sz="850" dirty="0"/>
          </a:p>
        </p:txBody>
      </p:sp>
      <p:sp>
        <p:nvSpPr>
          <p:cNvPr id="53" name="Text 49"/>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1.1 Sản phẩm kinh doanh</a:t>
            </a:r>
            <a:endParaRPr lang="vi-VN" sz="900" dirty="0"/>
          </a:p>
        </p:txBody>
      </p:sp>
      <p:sp>
        <p:nvSpPr>
          <p:cNvPr id="54" name="Text 50"/>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1.1.1. Vấn đề thị trường</a:t>
            </a:r>
            <a:endParaRPr lang="vi-VN" sz="820" dirty="0"/>
          </a:p>
        </p:txBody>
      </p:sp>
      <p:sp>
        <p:nvSpPr>
          <p:cNvPr id="55" name="Text 51"/>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vi-VN" sz="850" dirty="0"/>
          </a:p>
        </p:txBody>
      </p:sp>
      <p:sp>
        <p:nvSpPr>
          <p:cNvPr id="56" name="Text 52"/>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vi-VN" sz="850" dirty="0"/>
          </a:p>
        </p:txBody>
      </p:sp>
      <p:sp>
        <p:nvSpPr>
          <p:cNvPr id="57" name="Text 53"/>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Từ 01/01/2026, không sản xuất và nhập khẩu túi ni lông khó phân hủy sinh học có kích thước nhỏ. Tổ chức, cá nhân sản xuất hay nhập khẩu sản phẩm nhựa sử dụng một lần, bao bì nhựa khó phân hủy sinh học (gồm túi ni lông, hộp nhựa xốp đóng gói, chứa đựng thực phẩm) phải thực hiện trách nhiệm tái chế, xử lý theo quy định.</a:t>
            </a:r>
            <a:endParaRPr lang="vi-VN" sz="850" dirty="0"/>
          </a:p>
        </p:txBody>
      </p:sp>
      <p:sp>
        <p:nvSpPr>
          <p:cNvPr id="58" name="Text 54"/>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vi-VN" sz="850" dirty="0"/>
          </a:p>
        </p:txBody>
      </p:sp>
      <p:sp>
        <p:nvSpPr>
          <p:cNvPr id="59" name="Text 55"/>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vi-VN" sz="850" dirty="0"/>
          </a:p>
        </p:txBody>
      </p:sp>
      <p:sp>
        <p:nvSpPr>
          <p:cNvPr id="60" name="Text 56"/>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vi-VN" sz="850" dirty="0"/>
          </a:p>
        </p:txBody>
      </p:sp>
      <p:sp>
        <p:nvSpPr>
          <p:cNvPr id="61" name="Text 57"/>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vi-VN" sz="850" dirty="0"/>
          </a:p>
        </p:txBody>
      </p:sp>
      <p:sp>
        <p:nvSpPr>
          <p:cNvPr id="62" name="Text 58"/>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1.1.2. Giải pháp sản phẩm</a:t>
            </a:r>
            <a:endParaRPr lang="vi-VN" sz="820" dirty="0"/>
          </a:p>
        </p:txBody>
      </p:sp>
      <p:sp>
        <p:nvSpPr>
          <p:cNvPr id="63" name="Text 59"/>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cung ứng bốn loại sản phẩm:</a:t>
            </a:r>
            <a:endParaRPr lang="vi-VN" sz="850" dirty="0"/>
          </a:p>
        </p:txBody>
      </p:sp>
      <p:sp>
        <p:nvSpPr>
          <p:cNvPr id="64" name="Text 60"/>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vi-VN" sz="850" dirty="0"/>
          </a:p>
        </p:txBody>
      </p:sp>
      <p:sp>
        <p:nvSpPr>
          <p:cNvPr id="65" name="Text 61"/>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vi-VN" sz="850" dirty="0"/>
          </a:p>
        </p:txBody>
      </p:sp>
      <p:sp>
        <p:nvSpPr>
          <p:cNvPr id="66" name="Text 62"/>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vi-VN" sz="850" dirty="0"/>
          </a:p>
        </p:txBody>
      </p:sp>
      <p:sp>
        <p:nvSpPr>
          <p:cNvPr id="67" name="Text 63"/>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vi-VN" sz="850" dirty="0"/>
          </a:p>
        </p:txBody>
      </p:sp>
      <p:sp>
        <p:nvSpPr>
          <p:cNvPr id="68" name="Text 64"/>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vi-VN" sz="850" dirty="0"/>
          </a:p>
        </p:txBody>
      </p:sp>
      <p:sp>
        <p:nvSpPr>
          <p:cNvPr id="69" name="Text 65"/>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vi-VN" sz="850" dirty="0"/>
          </a:p>
        </p:txBody>
      </p:sp>
      <p:sp>
        <p:nvSpPr>
          <p:cNvPr id="70" name="Text 66"/>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vi-VN" sz="900" dirty="0"/>
          </a:p>
        </p:txBody>
      </p:sp>
      <p:sp>
        <p:nvSpPr>
          <p:cNvPr id="71" name="Text 67"/>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1.2.1. Khách hàng mục tiêu</a:t>
            </a:r>
            <a:endParaRPr lang="vi-VN" sz="820" dirty="0"/>
          </a:p>
        </p:txBody>
      </p:sp>
      <p:sp>
        <p:nvSpPr>
          <p:cNvPr id="72" name="Text 68"/>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vi-VN" sz="850" dirty="0"/>
          </a:p>
        </p:txBody>
      </p:sp>
      <p:sp>
        <p:nvSpPr>
          <p:cNvPr id="73" name="Text 6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4" name="Text 7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a:t>
            </a:r>
            <a:endParaRPr lang="vi-VN"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SOM tăng từ 4,3% lên 11,5% SAM đến 2030E</a:t>
            </a:r>
            <a:endParaRPr lang="vi-VN"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Triệu USD</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2025</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CAGR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TAM – bao bì xanh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1.129,8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1.384,5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SOM – doanh thu F&amp;B/FMCG của AgriPack</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i="1" dirty="0">
                          <a:solidFill>
                            <a:srgbClr val="555555"/>
                          </a:solidFill>
                          <a:latin typeface="Calibri" pitchFamily="34" charset="0"/>
                          <a:ea typeface="Calibri" pitchFamily="34" charset="-122"/>
                          <a:cs typeface="Calibri" pitchFamily="34" charset="-120"/>
                        </a:rPr>
                        <a:t>SOM / SAM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vi-VN"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vi-VN"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vi-VN"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vi-VN"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11,5% thị trường SAM với mức doanh thu ~4,9 triệu USD. Thị trường miền Trung và Nam là hai thị trường AgriPack tập trung khai thác, sau đó sẽ mở rộng ra Hà Nội và miền Bắc (Fig. 07).</a:t>
            </a:r>
            <a:endParaRPr lang="vi-VN"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1.2.2. Chiến lược giá bán</a:t>
            </a:r>
            <a:endParaRPr lang="vi-VN"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vi-VN"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Phân khúc sản phẩm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 tham chiếu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bán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Hộp/khay 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 bã mía Thái Lan và Trung Quốc (ecoeshop.com)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Thái Lan: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2.100 – 2.4000đ/cái (dung tích 600ml)</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Trung Quốc: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1.900 – 4.000đ/cái (dung tích 600 - 750ml)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4.000 đ/cái (tùy dung tích từ 500ml – 800ml)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thiết bị, linh kiện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2.600 - 18.200đ/cái (ép khuôn tiêu chuẩn)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nội thất/e-commerce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520 - 11.700đ/cái (ép khuôn cơ bản)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Thiết kế - Chế tạo khuôn – Ép mẫu thử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vi-VN"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Thực phẩm/FMCG chiếm gần 80% doanh thu bán hàng</a:t>
            </a:r>
            <a:endParaRPr lang="vi-VN"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23696" y="5156094"/>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19,6</a:t>
            </a:r>
            <a:endParaRPr lang="vi-VN" sz="550" dirty="0"/>
          </a:p>
        </p:txBody>
      </p:sp>
      <p:sp>
        <p:nvSpPr>
          <p:cNvPr id="26" name="Text 21"/>
          <p:cNvSpPr txBox="1"/>
          <p:nvPr/>
        </p:nvSpPr>
        <p:spPr>
          <a:xfrm>
            <a:off x="1131485" y="504626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31,2</a:t>
            </a:r>
            <a:endParaRPr lang="vi-VN" sz="550" dirty="0"/>
          </a:p>
        </p:txBody>
      </p:sp>
      <p:sp>
        <p:nvSpPr>
          <p:cNvPr id="27" name="Text 22"/>
          <p:cNvSpPr txBox="1"/>
          <p:nvPr/>
        </p:nvSpPr>
        <p:spPr>
          <a:xfrm>
            <a:off x="1839274" y="4888141"/>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47,9</a:t>
            </a:r>
            <a:endParaRPr lang="vi-VN" sz="550" dirty="0"/>
          </a:p>
        </p:txBody>
      </p:sp>
      <p:sp>
        <p:nvSpPr>
          <p:cNvPr id="28" name="Shape 23"/>
          <p:cNvSpPr/>
          <p:nvPr/>
        </p:nvSpPr>
        <p:spPr>
          <a:xfrm>
            <a:off x="405408" y="5725722"/>
            <a:ext cx="59436" cy="59436"/>
          </a:xfrm>
          <a:prstGeom prst="rect">
            <a:avLst/>
          </a:prstGeom>
          <a:solidFill>
            <a:srgbClr val="7B1E2B"/>
          </a:solidFill>
          <a:ln w="3175">
            <a:solidFill>
              <a:srgbClr val="7B1E2B"/>
            </a:solidFill>
            <a:prstDash val="solid"/>
          </a:ln>
        </p:spPr>
      </p:sp>
      <p:sp>
        <p:nvSpPr>
          <p:cNvPr id="29" name="Text 24"/>
          <p:cNvSpPr txBox="1"/>
          <p:nvPr/>
        </p:nvSpPr>
        <p:spPr>
          <a:xfrm>
            <a:off x="487704" y="5702862"/>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Thực phẩm/FMCG</a:t>
            </a:r>
            <a:endParaRPr lang="vi-VN" sz="650" dirty="0"/>
          </a:p>
        </p:txBody>
      </p:sp>
      <p:sp>
        <p:nvSpPr>
          <p:cNvPr id="30" name="Shape 25"/>
          <p:cNvSpPr/>
          <p:nvPr/>
        </p:nvSpPr>
        <p:spPr>
          <a:xfrm>
            <a:off x="1219097" y="5725722"/>
            <a:ext cx="59436" cy="59436"/>
          </a:xfrm>
          <a:prstGeom prst="rect">
            <a:avLst/>
          </a:prstGeom>
          <a:solidFill>
            <a:srgbClr val="404040"/>
          </a:solidFill>
          <a:ln w="3175">
            <a:solidFill>
              <a:srgbClr val="404040"/>
            </a:solidFill>
            <a:prstDash val="solid"/>
          </a:ln>
        </p:spPr>
      </p:sp>
      <p:sp>
        <p:nvSpPr>
          <p:cNvPr id="31" name="Text 26"/>
          <p:cNvSpPr txBox="1"/>
          <p:nvPr/>
        </p:nvSpPr>
        <p:spPr>
          <a:xfrm>
            <a:off x="1301393" y="5702862"/>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theo mẫu</a:t>
            </a:r>
            <a:endParaRPr lang="vi-VN" sz="650" dirty="0"/>
          </a:p>
        </p:txBody>
      </p:sp>
      <p:sp>
        <p:nvSpPr>
          <p:cNvPr id="32" name="Shape 27"/>
          <p:cNvSpPr/>
          <p:nvPr/>
        </p:nvSpPr>
        <p:spPr>
          <a:xfrm>
            <a:off x="405408" y="5835450"/>
            <a:ext cx="59436" cy="59436"/>
          </a:xfrm>
          <a:prstGeom prst="rect">
            <a:avLst/>
          </a:prstGeom>
          <a:solidFill>
            <a:srgbClr val="A3A3A3"/>
          </a:solidFill>
          <a:ln w="3175">
            <a:solidFill>
              <a:srgbClr val="A3A3A3"/>
            </a:solidFill>
            <a:prstDash val="solid"/>
          </a:ln>
        </p:spPr>
      </p:sp>
      <p:sp>
        <p:nvSpPr>
          <p:cNvPr id="33" name="Text 28"/>
          <p:cNvSpPr txBox="1"/>
          <p:nvPr/>
        </p:nvSpPr>
        <p:spPr>
          <a:xfrm>
            <a:off x="487704" y="5812590"/>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Nội thất/E-com</a:t>
            </a:r>
            <a:endParaRPr lang="vi-VN" sz="650" dirty="0"/>
          </a:p>
        </p:txBody>
      </p:sp>
      <p:sp>
        <p:nvSpPr>
          <p:cNvPr id="34" name="Shape 29"/>
          <p:cNvSpPr/>
          <p:nvPr/>
        </p:nvSpPr>
        <p:spPr>
          <a:xfrm>
            <a:off x="1219097" y="5835450"/>
            <a:ext cx="59436" cy="59436"/>
          </a:xfrm>
          <a:prstGeom prst="rect">
            <a:avLst/>
          </a:prstGeom>
          <a:solidFill>
            <a:srgbClr val="D0D0D0"/>
          </a:solidFill>
          <a:ln w="3175">
            <a:solidFill>
              <a:srgbClr val="D0D0D0"/>
            </a:solidFill>
            <a:prstDash val="solid"/>
          </a:ln>
        </p:spPr>
      </p:sp>
      <p:sp>
        <p:nvSpPr>
          <p:cNvPr id="35" name="Text 30"/>
          <p:cNvSpPr txBox="1"/>
          <p:nvPr/>
        </p:nvSpPr>
        <p:spPr>
          <a:xfrm>
            <a:off x="1301393" y="5812590"/>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Điện tử</a:t>
            </a:r>
            <a:endParaRPr lang="vi-VN" sz="650" dirty="0"/>
          </a:p>
        </p:txBody>
      </p:sp>
      <p:sp>
        <p:nvSpPr>
          <p:cNvPr id="36" name="Text 31"/>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vi-VN" sz="600" dirty="0"/>
          </a:p>
        </p:txBody>
      </p:sp>
      <p:sp>
        <p:nvSpPr>
          <p:cNvPr id="37" name="Text 32"/>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vi-VN" sz="720" dirty="0"/>
          </a:p>
        </p:txBody>
      </p:sp>
      <p:sp>
        <p:nvSpPr>
          <p:cNvPr id="38" name="Text 33"/>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40" name="Text 34"/>
          <p:cNvSpPr txBox="1"/>
          <p:nvPr/>
        </p:nvSpPr>
        <p:spPr>
          <a:xfrm>
            <a:off x="423696" y="6858808"/>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22,2</a:t>
            </a:r>
            <a:endParaRPr lang="vi-VN" sz="550" dirty="0"/>
          </a:p>
        </p:txBody>
      </p:sp>
      <p:sp>
        <p:nvSpPr>
          <p:cNvPr id="41" name="Text 35"/>
          <p:cNvSpPr txBox="1"/>
          <p:nvPr/>
        </p:nvSpPr>
        <p:spPr>
          <a:xfrm>
            <a:off x="1131485" y="677412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28,9</a:t>
            </a:r>
            <a:endParaRPr lang="vi-VN" sz="550" dirty="0"/>
          </a:p>
        </p:txBody>
      </p:sp>
      <p:sp>
        <p:nvSpPr>
          <p:cNvPr id="42" name="Text 36"/>
          <p:cNvSpPr txBox="1"/>
          <p:nvPr/>
        </p:nvSpPr>
        <p:spPr>
          <a:xfrm>
            <a:off x="1839274" y="6635085"/>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39,9</a:t>
            </a:r>
            <a:endParaRPr lang="vi-VN" sz="550" dirty="0"/>
          </a:p>
        </p:txBody>
      </p:sp>
      <p:sp>
        <p:nvSpPr>
          <p:cNvPr id="43" name="Shape 37"/>
          <p:cNvSpPr/>
          <p:nvPr/>
        </p:nvSpPr>
        <p:spPr>
          <a:xfrm>
            <a:off x="405408" y="7523458"/>
            <a:ext cx="59436" cy="59436"/>
          </a:xfrm>
          <a:prstGeom prst="rect">
            <a:avLst/>
          </a:prstGeom>
          <a:solidFill>
            <a:srgbClr val="404040"/>
          </a:solidFill>
          <a:ln w="3175">
            <a:solidFill>
              <a:srgbClr val="404040"/>
            </a:solidFill>
            <a:prstDash val="solid"/>
          </a:ln>
        </p:spPr>
      </p:sp>
      <p:sp>
        <p:nvSpPr>
          <p:cNvPr id="44" name="Text 38"/>
          <p:cNvSpPr txBox="1"/>
          <p:nvPr/>
        </p:nvSpPr>
        <p:spPr>
          <a:xfrm>
            <a:off x="487704"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COGS</a:t>
            </a:r>
            <a:endParaRPr lang="vi-VN" sz="650" dirty="0"/>
          </a:p>
        </p:txBody>
      </p:sp>
      <p:sp>
        <p:nvSpPr>
          <p:cNvPr id="45" name="Shape 39"/>
          <p:cNvSpPr/>
          <p:nvPr/>
        </p:nvSpPr>
        <p:spPr>
          <a:xfrm>
            <a:off x="781582" y="7523458"/>
            <a:ext cx="59436" cy="59436"/>
          </a:xfrm>
          <a:prstGeom prst="rect">
            <a:avLst/>
          </a:prstGeom>
          <a:solidFill>
            <a:srgbClr val="A3A3A3"/>
          </a:solidFill>
          <a:ln w="3175">
            <a:solidFill>
              <a:srgbClr val="A3A3A3"/>
            </a:solidFill>
            <a:prstDash val="solid"/>
          </a:ln>
        </p:spPr>
      </p:sp>
      <p:sp>
        <p:nvSpPr>
          <p:cNvPr id="46" name="Text 40"/>
          <p:cNvSpPr txBox="1"/>
          <p:nvPr/>
        </p:nvSpPr>
        <p:spPr>
          <a:xfrm>
            <a:off x="863878"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SG&amp;A</a:t>
            </a:r>
            <a:endParaRPr lang="vi-VN" sz="650" dirty="0"/>
          </a:p>
        </p:txBody>
      </p:sp>
      <p:sp>
        <p:nvSpPr>
          <p:cNvPr id="47" name="Shape 41"/>
          <p:cNvSpPr/>
          <p:nvPr/>
        </p:nvSpPr>
        <p:spPr>
          <a:xfrm>
            <a:off x="1157756" y="7523458"/>
            <a:ext cx="59436" cy="59436"/>
          </a:xfrm>
          <a:prstGeom prst="rect">
            <a:avLst/>
          </a:prstGeom>
          <a:solidFill>
            <a:srgbClr val="7B1E2B"/>
          </a:solidFill>
          <a:ln w="3175">
            <a:solidFill>
              <a:srgbClr val="7B1E2B"/>
            </a:solidFill>
            <a:prstDash val="solid"/>
          </a:ln>
        </p:spPr>
      </p:sp>
      <p:sp>
        <p:nvSpPr>
          <p:cNvPr id="48" name="Text 42"/>
          <p:cNvSpPr txBox="1"/>
          <p:nvPr/>
        </p:nvSpPr>
        <p:spPr>
          <a:xfrm>
            <a:off x="1240052" y="7500598"/>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Payroll</a:t>
            </a:r>
            <a:endParaRPr lang="vi-VN" sz="650" dirty="0"/>
          </a:p>
        </p:txBody>
      </p:sp>
      <p:sp>
        <p:nvSpPr>
          <p:cNvPr id="49" name="Text 4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vi-VN" sz="600" dirty="0"/>
          </a:p>
        </p:txBody>
      </p:sp>
      <p:sp>
        <p:nvSpPr>
          <p:cNvPr id="50" name="Text 4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vi-VN" sz="720" dirty="0"/>
          </a:p>
        </p:txBody>
      </p:sp>
      <p:sp>
        <p:nvSpPr>
          <p:cNvPr id="51" name="Shape 45"/>
          <p:cNvSpPr/>
          <p:nvPr/>
        </p:nvSpPr>
        <p:spPr>
          <a:xfrm>
            <a:off x="425096" y="8195807"/>
            <a:ext cx="147262" cy="107991"/>
          </a:xfrm>
          <a:prstGeom prst="rect">
            <a:avLst/>
          </a:prstGeom>
          <a:solidFill>
            <a:srgbClr val="7B1E2B"/>
          </a:solidFill>
          <a:ln/>
        </p:spPr>
      </p:sp>
      <p:sp>
        <p:nvSpPr>
          <p:cNvPr id="52" name="Shape 46"/>
          <p:cNvSpPr/>
          <p:nvPr/>
        </p:nvSpPr>
        <p:spPr>
          <a:xfrm>
            <a:off x="572358" y="8195807"/>
            <a:ext cx="1973304" cy="107991"/>
          </a:xfrm>
          <a:prstGeom prst="rect">
            <a:avLst/>
          </a:prstGeom>
          <a:solidFill>
            <a:srgbClr val="F4EEEE"/>
          </a:solidFill>
          <a:ln/>
        </p:spPr>
      </p:sp>
      <p:sp>
        <p:nvSpPr>
          <p:cNvPr id="53" name="Shape 47"/>
          <p:cNvSpPr/>
          <p:nvPr/>
        </p:nvSpPr>
        <p:spPr>
          <a:xfrm flipV="1">
            <a:off x="473202" y="8309688"/>
            <a:ext cx="51051" cy="25524"/>
          </a:xfrm>
          <a:prstGeom prst="triangle">
            <a:avLst/>
          </a:prstGeom>
          <a:solidFill>
            <a:srgbClr val="A3A3A3"/>
          </a:solidFill>
          <a:ln/>
        </p:spPr>
      </p:sp>
      <p:sp>
        <p:nvSpPr>
          <p:cNvPr id="54" name="Shape 48"/>
          <p:cNvSpPr/>
          <p:nvPr/>
        </p:nvSpPr>
        <p:spPr>
          <a:xfrm>
            <a:off x="425096" y="8339140"/>
            <a:ext cx="147262" cy="107991"/>
          </a:xfrm>
          <a:prstGeom prst="rect">
            <a:avLst/>
          </a:prstGeom>
          <a:solidFill>
            <a:srgbClr val="7B1E2B"/>
          </a:solidFill>
          <a:ln/>
        </p:spPr>
      </p:sp>
      <p:sp>
        <p:nvSpPr>
          <p:cNvPr id="55" name="Shape 49"/>
          <p:cNvSpPr/>
          <p:nvPr/>
        </p:nvSpPr>
        <p:spPr>
          <a:xfrm>
            <a:off x="572358" y="8339140"/>
            <a:ext cx="1973304" cy="107991"/>
          </a:xfrm>
          <a:prstGeom prst="rect">
            <a:avLst/>
          </a:prstGeom>
          <a:solidFill>
            <a:srgbClr val="F4EEEE"/>
          </a:solidFill>
          <a:ln/>
        </p:spPr>
      </p:sp>
      <p:sp>
        <p:nvSpPr>
          <p:cNvPr id="56" name="Shape 50"/>
          <p:cNvSpPr/>
          <p:nvPr/>
        </p:nvSpPr>
        <p:spPr>
          <a:xfrm flipV="1">
            <a:off x="473202" y="8453021"/>
            <a:ext cx="51051" cy="25526"/>
          </a:xfrm>
          <a:prstGeom prst="triangle">
            <a:avLst/>
          </a:prstGeom>
          <a:solidFill>
            <a:srgbClr val="A3A3A3"/>
          </a:solidFill>
          <a:ln/>
        </p:spPr>
      </p:sp>
      <p:sp>
        <p:nvSpPr>
          <p:cNvPr id="57" name="Shape 51"/>
          <p:cNvSpPr/>
          <p:nvPr/>
        </p:nvSpPr>
        <p:spPr>
          <a:xfrm>
            <a:off x="425096" y="8482475"/>
            <a:ext cx="147262" cy="107991"/>
          </a:xfrm>
          <a:prstGeom prst="rect">
            <a:avLst/>
          </a:prstGeom>
          <a:solidFill>
            <a:srgbClr val="7B1E2B"/>
          </a:solidFill>
          <a:ln/>
        </p:spPr>
      </p:sp>
      <p:sp>
        <p:nvSpPr>
          <p:cNvPr id="58" name="Shape 52"/>
          <p:cNvSpPr/>
          <p:nvPr/>
        </p:nvSpPr>
        <p:spPr>
          <a:xfrm>
            <a:off x="572358" y="8482475"/>
            <a:ext cx="1973304" cy="107991"/>
          </a:xfrm>
          <a:prstGeom prst="rect">
            <a:avLst/>
          </a:prstGeom>
          <a:solidFill>
            <a:srgbClr val="F4EEEE"/>
          </a:solidFill>
          <a:ln/>
        </p:spPr>
      </p:sp>
      <p:sp>
        <p:nvSpPr>
          <p:cNvPr id="59" name="Shape 53"/>
          <p:cNvSpPr/>
          <p:nvPr/>
        </p:nvSpPr>
        <p:spPr>
          <a:xfrm flipV="1">
            <a:off x="473202" y="8596357"/>
            <a:ext cx="51051" cy="25526"/>
          </a:xfrm>
          <a:prstGeom prst="triangle">
            <a:avLst/>
          </a:prstGeom>
          <a:solidFill>
            <a:srgbClr val="A3A3A3"/>
          </a:solidFill>
          <a:ln/>
        </p:spPr>
      </p:sp>
      <p:sp>
        <p:nvSpPr>
          <p:cNvPr id="60" name="Shape 54"/>
          <p:cNvSpPr/>
          <p:nvPr/>
        </p:nvSpPr>
        <p:spPr>
          <a:xfrm>
            <a:off x="425096" y="8625808"/>
            <a:ext cx="147262" cy="107993"/>
          </a:xfrm>
          <a:prstGeom prst="rect">
            <a:avLst/>
          </a:prstGeom>
          <a:solidFill>
            <a:srgbClr val="7B1E2B"/>
          </a:solidFill>
          <a:ln/>
        </p:spPr>
      </p:sp>
      <p:sp>
        <p:nvSpPr>
          <p:cNvPr id="61" name="Shape 55"/>
          <p:cNvSpPr/>
          <p:nvPr/>
        </p:nvSpPr>
        <p:spPr>
          <a:xfrm>
            <a:off x="572358" y="8625808"/>
            <a:ext cx="1973304" cy="107993"/>
          </a:xfrm>
          <a:prstGeom prst="rect">
            <a:avLst/>
          </a:prstGeom>
          <a:solidFill>
            <a:srgbClr val="F4EEEE"/>
          </a:solidFill>
          <a:ln/>
        </p:spPr>
      </p:sp>
      <p:sp>
        <p:nvSpPr>
          <p:cNvPr id="62" name="Shape 56"/>
          <p:cNvSpPr/>
          <p:nvPr/>
        </p:nvSpPr>
        <p:spPr>
          <a:xfrm flipV="1">
            <a:off x="473202" y="8739692"/>
            <a:ext cx="51051" cy="25524"/>
          </a:xfrm>
          <a:prstGeom prst="triangle">
            <a:avLst/>
          </a:prstGeom>
          <a:solidFill>
            <a:srgbClr val="A3A3A3"/>
          </a:solidFill>
          <a:ln/>
        </p:spPr>
      </p:sp>
      <p:sp>
        <p:nvSpPr>
          <p:cNvPr id="63" name="Shape 57"/>
          <p:cNvSpPr/>
          <p:nvPr/>
        </p:nvSpPr>
        <p:spPr>
          <a:xfrm>
            <a:off x="425096" y="8769144"/>
            <a:ext cx="147262" cy="107991"/>
          </a:xfrm>
          <a:prstGeom prst="rect">
            <a:avLst/>
          </a:prstGeom>
          <a:solidFill>
            <a:srgbClr val="7B1E2B"/>
          </a:solidFill>
          <a:ln/>
        </p:spPr>
      </p:sp>
      <p:sp>
        <p:nvSpPr>
          <p:cNvPr id="64" name="Shape 58"/>
          <p:cNvSpPr/>
          <p:nvPr/>
        </p:nvSpPr>
        <p:spPr>
          <a:xfrm>
            <a:off x="572358" y="8769144"/>
            <a:ext cx="1973304" cy="107991"/>
          </a:xfrm>
          <a:prstGeom prst="rect">
            <a:avLst/>
          </a:prstGeom>
          <a:solidFill>
            <a:srgbClr val="F4EEEE"/>
          </a:solidFill>
          <a:ln/>
        </p:spPr>
      </p:sp>
      <p:sp>
        <p:nvSpPr>
          <p:cNvPr id="65" name="Shape 59"/>
          <p:cNvSpPr/>
          <p:nvPr/>
        </p:nvSpPr>
        <p:spPr>
          <a:xfrm flipV="1">
            <a:off x="473202" y="8883025"/>
            <a:ext cx="51051" cy="25526"/>
          </a:xfrm>
          <a:prstGeom prst="triangle">
            <a:avLst/>
          </a:prstGeom>
          <a:solidFill>
            <a:srgbClr val="A3A3A3"/>
          </a:solidFill>
          <a:ln/>
        </p:spPr>
      </p:sp>
      <p:sp>
        <p:nvSpPr>
          <p:cNvPr id="66" name="Shape 60"/>
          <p:cNvSpPr/>
          <p:nvPr/>
        </p:nvSpPr>
        <p:spPr>
          <a:xfrm>
            <a:off x="425096" y="8912479"/>
            <a:ext cx="147262" cy="107991"/>
          </a:xfrm>
          <a:prstGeom prst="rect">
            <a:avLst/>
          </a:prstGeom>
          <a:solidFill>
            <a:srgbClr val="7B1E2B"/>
          </a:solidFill>
          <a:ln/>
        </p:spPr>
      </p:sp>
      <p:sp>
        <p:nvSpPr>
          <p:cNvPr id="67" name="Shape 61"/>
          <p:cNvSpPr/>
          <p:nvPr/>
        </p:nvSpPr>
        <p:spPr>
          <a:xfrm>
            <a:off x="572358" y="8912479"/>
            <a:ext cx="1973304" cy="107991"/>
          </a:xfrm>
          <a:prstGeom prst="rect">
            <a:avLst/>
          </a:prstGeom>
          <a:solidFill>
            <a:srgbClr val="F4EEEE"/>
          </a:solidFill>
          <a:ln/>
        </p:spPr>
      </p:sp>
      <p:sp>
        <p:nvSpPr>
          <p:cNvPr id="68" name="Shape 62"/>
          <p:cNvSpPr/>
          <p:nvPr/>
        </p:nvSpPr>
        <p:spPr>
          <a:xfrm flipV="1">
            <a:off x="473202" y="9026361"/>
            <a:ext cx="51051" cy="25524"/>
          </a:xfrm>
          <a:prstGeom prst="triangle">
            <a:avLst/>
          </a:prstGeom>
          <a:solidFill>
            <a:srgbClr val="A3A3A3"/>
          </a:solidFill>
          <a:ln/>
        </p:spPr>
      </p:sp>
      <p:sp>
        <p:nvSpPr>
          <p:cNvPr id="69" name="Shape 63"/>
          <p:cNvSpPr/>
          <p:nvPr/>
        </p:nvSpPr>
        <p:spPr>
          <a:xfrm>
            <a:off x="425096" y="9055812"/>
            <a:ext cx="147262" cy="107991"/>
          </a:xfrm>
          <a:prstGeom prst="rect">
            <a:avLst/>
          </a:prstGeom>
          <a:solidFill>
            <a:srgbClr val="7B1E2B"/>
          </a:solidFill>
          <a:ln/>
        </p:spPr>
      </p:sp>
      <p:sp>
        <p:nvSpPr>
          <p:cNvPr id="70" name="Shape 64"/>
          <p:cNvSpPr/>
          <p:nvPr/>
        </p:nvSpPr>
        <p:spPr>
          <a:xfrm>
            <a:off x="572358" y="9055812"/>
            <a:ext cx="1973304" cy="107991"/>
          </a:xfrm>
          <a:prstGeom prst="rect">
            <a:avLst/>
          </a:prstGeom>
          <a:solidFill>
            <a:srgbClr val="F4EEEE"/>
          </a:solidFill>
          <a:ln/>
        </p:spPr>
      </p:sp>
      <p:sp>
        <p:nvSpPr>
          <p:cNvPr id="71" name="Text 6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1</a:t>
            </a:r>
            <a:endParaRPr lang="vi-VN" sz="650" dirty="0"/>
          </a:p>
        </p:txBody>
      </p:sp>
      <p:sp>
        <p:nvSpPr>
          <p:cNvPr id="72" name="Text 6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Thu gom nguyên liệu (bã mía, vỏ trứng)</a:t>
            </a:r>
            <a:endParaRPr lang="vi-VN" sz="600" dirty="0"/>
          </a:p>
        </p:txBody>
      </p:sp>
      <p:sp>
        <p:nvSpPr>
          <p:cNvPr id="73" name="Text 6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2</a:t>
            </a:r>
            <a:endParaRPr lang="vi-VN" sz="650" dirty="0"/>
          </a:p>
        </p:txBody>
      </p:sp>
      <p:sp>
        <p:nvSpPr>
          <p:cNvPr id="74" name="Text 6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Xử lý, chuẩn hóa bã mía, vỏ trứng</a:t>
            </a:r>
            <a:endParaRPr lang="vi-VN" sz="600" dirty="0"/>
          </a:p>
        </p:txBody>
      </p:sp>
      <p:sp>
        <p:nvSpPr>
          <p:cNvPr id="75" name="Text 6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3</a:t>
            </a:r>
            <a:endParaRPr lang="vi-VN" sz="650" dirty="0"/>
          </a:p>
        </p:txBody>
      </p:sp>
      <p:sp>
        <p:nvSpPr>
          <p:cNvPr id="76" name="Text 70"/>
          <p:cNvSpPr txBox="1"/>
          <p:nvPr/>
        </p:nvSpPr>
        <p:spPr>
          <a:xfrm>
            <a:off x="584869" y="8470452"/>
            <a:ext cx="93340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Phối trộn, tạo sợi tự nhiên</a:t>
            </a:r>
            <a:endParaRPr lang="vi-VN" sz="600" dirty="0"/>
          </a:p>
        </p:txBody>
      </p:sp>
      <p:sp>
        <p:nvSpPr>
          <p:cNvPr id="77" name="Text 7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4</a:t>
            </a:r>
            <a:endParaRPr lang="vi-VN" sz="650" dirty="0"/>
          </a:p>
        </p:txBody>
      </p:sp>
      <p:sp>
        <p:nvSpPr>
          <p:cNvPr id="78" name="Text 72"/>
          <p:cNvSpPr txBox="1"/>
          <p:nvPr/>
        </p:nvSpPr>
        <p:spPr>
          <a:xfrm>
            <a:off x="584869" y="8613787"/>
            <a:ext cx="576965"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Thiết kế khuôn</a:t>
            </a:r>
            <a:endParaRPr lang="vi-VN" sz="600" dirty="0"/>
          </a:p>
        </p:txBody>
      </p:sp>
      <p:sp>
        <p:nvSpPr>
          <p:cNvPr id="79" name="Text 7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5</a:t>
            </a:r>
            <a:endParaRPr lang="vi-VN" sz="650" dirty="0"/>
          </a:p>
        </p:txBody>
      </p:sp>
      <p:sp>
        <p:nvSpPr>
          <p:cNvPr id="80" name="Text 7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Ép khuôn, tạo hình và sấy hoàn thiện</a:t>
            </a:r>
            <a:endParaRPr lang="vi-VN" sz="600" dirty="0"/>
          </a:p>
        </p:txBody>
      </p:sp>
      <p:sp>
        <p:nvSpPr>
          <p:cNvPr id="81" name="Text 7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6</a:t>
            </a:r>
            <a:endParaRPr lang="vi-VN" sz="650" dirty="0"/>
          </a:p>
        </p:txBody>
      </p:sp>
      <p:sp>
        <p:nvSpPr>
          <p:cNvPr id="82" name="Text 76"/>
          <p:cNvSpPr txBox="1"/>
          <p:nvPr/>
        </p:nvSpPr>
        <p:spPr>
          <a:xfrm>
            <a:off x="584869" y="8900456"/>
            <a:ext cx="733723"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Kiểm tra chất lượng</a:t>
            </a:r>
            <a:endParaRPr lang="vi-VN" sz="600" dirty="0"/>
          </a:p>
        </p:txBody>
      </p:sp>
      <p:sp>
        <p:nvSpPr>
          <p:cNvPr id="83" name="Text 7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7</a:t>
            </a:r>
            <a:endParaRPr lang="vi-VN" sz="650" dirty="0"/>
          </a:p>
        </p:txBody>
      </p:sp>
      <p:sp>
        <p:nvSpPr>
          <p:cNvPr id="84" name="Text 7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Phân phối trực tiếp tới khách hàng B2B</a:t>
            </a:r>
            <a:endParaRPr lang="vi-VN" sz="600" dirty="0"/>
          </a:p>
        </p:txBody>
      </p:sp>
      <p:sp>
        <p:nvSpPr>
          <p:cNvPr id="85" name="Text 7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vi-VN" sz="600" dirty="0"/>
          </a:p>
        </p:txBody>
      </p:sp>
      <p:sp>
        <p:nvSpPr>
          <p:cNvPr id="86" name="Text 8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1.3. Mô hình kinh doanh và Chuỗi giá trị</a:t>
            </a:r>
            <a:endParaRPr lang="vi-VN" sz="900" dirty="0"/>
          </a:p>
        </p:txBody>
      </p:sp>
      <p:sp>
        <p:nvSpPr>
          <p:cNvPr id="87" name="Text 8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1.3.1. Mô hình kinh doanh</a:t>
            </a:r>
            <a:endParaRPr lang="vi-VN" sz="820" dirty="0"/>
          </a:p>
        </p:txBody>
      </p:sp>
      <p:sp>
        <p:nvSpPr>
          <p:cNvPr id="88" name="Text 8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vi-VN" sz="850" dirty="0"/>
          </a:p>
        </p:txBody>
      </p:sp>
      <p:sp>
        <p:nvSpPr>
          <p:cNvPr id="89" name="Text 8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vi-VN" sz="850" dirty="0"/>
          </a:p>
        </p:txBody>
      </p:sp>
      <p:sp>
        <p:nvSpPr>
          <p:cNvPr id="90" name="Text 8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1.3.2 Chuỗi giá trị</a:t>
            </a:r>
            <a:endParaRPr lang="vi-VN" sz="820" dirty="0"/>
          </a:p>
        </p:txBody>
      </p:sp>
      <p:sp>
        <p:nvSpPr>
          <p:cNvPr id="91" name="Text 8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vi-VN" sz="850" dirty="0"/>
          </a:p>
        </p:txBody>
      </p:sp>
      <p:sp>
        <p:nvSpPr>
          <p:cNvPr id="92" name="Text 8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1"/>
            </a:pPr>
            <a:r>
              <a:rPr lang="vi-VN"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vi-VN" sz="850" dirty="0"/>
          </a:p>
        </p:txBody>
      </p:sp>
      <p:sp>
        <p:nvSpPr>
          <p:cNvPr id="93" name="Text 8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2"/>
            </a:pPr>
            <a:r>
              <a:rPr lang="vi-VN"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vi-VN" sz="850" dirty="0"/>
          </a:p>
        </p:txBody>
      </p:sp>
      <p:sp>
        <p:nvSpPr>
          <p:cNvPr id="94" name="Text 8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3"/>
            </a:pPr>
            <a:r>
              <a:rPr lang="vi-VN" sz="850" dirty="0">
                <a:solidFill>
                  <a:srgbClr val="1F1F1F"/>
                </a:solidFill>
                <a:latin typeface="Calibri" pitchFamily="34" charset="0"/>
                <a:ea typeface="Calibri" pitchFamily="34" charset="-122"/>
                <a:cs typeface="Calibri" pitchFamily="34" charset="-120"/>
              </a:rPr>
              <a:t>Phối trộn, tạo sợi tự nhiên</a:t>
            </a:r>
            <a:endParaRPr lang="vi-VN" sz="850" dirty="0"/>
          </a:p>
        </p:txBody>
      </p:sp>
      <p:sp>
        <p:nvSpPr>
          <p:cNvPr id="95" name="Text 8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4"/>
            </a:pPr>
            <a:r>
              <a:rPr lang="vi-VN"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vi-VN" sz="850" dirty="0"/>
          </a:p>
        </p:txBody>
      </p:sp>
      <p:sp>
        <p:nvSpPr>
          <p:cNvPr id="96" name="Text 9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5"/>
            </a:pPr>
            <a:r>
              <a:rPr lang="vi-VN" sz="850" dirty="0">
                <a:solidFill>
                  <a:srgbClr val="1F1F1F"/>
                </a:solidFill>
                <a:latin typeface="Calibri" pitchFamily="34" charset="0"/>
                <a:ea typeface="Calibri" pitchFamily="34" charset="-122"/>
                <a:cs typeface="Calibri" pitchFamily="34" charset="-120"/>
              </a:rPr>
              <a:t>Ép khuôn, tạo hình và sấy hoàn thiện</a:t>
            </a:r>
            <a:endParaRPr lang="vi-VN" sz="850" dirty="0"/>
          </a:p>
        </p:txBody>
      </p:sp>
      <p:sp>
        <p:nvSpPr>
          <p:cNvPr id="97" name="Text 9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6"/>
            </a:pPr>
            <a:r>
              <a:rPr lang="vi-VN"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vi-VN" sz="850" dirty="0"/>
          </a:p>
        </p:txBody>
      </p:sp>
      <p:sp>
        <p:nvSpPr>
          <p:cNvPr id="98" name="Text 9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7"/>
            </a:pPr>
            <a:r>
              <a:rPr lang="vi-VN" sz="850" dirty="0">
                <a:solidFill>
                  <a:srgbClr val="1F1F1F"/>
                </a:solidFill>
                <a:latin typeface="Calibri" pitchFamily="34" charset="0"/>
                <a:ea typeface="Calibri" pitchFamily="34" charset="-122"/>
                <a:cs typeface="Calibri" pitchFamily="34" charset="-120"/>
              </a:rPr>
              <a:t>Phân phối trực tiếp tới khách hàng B2B</a:t>
            </a:r>
            <a:endParaRPr lang="vi-VN" sz="850" dirty="0"/>
          </a:p>
        </p:txBody>
      </p:sp>
      <p:sp>
        <p:nvSpPr>
          <p:cNvPr id="99" name="Text 9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00" name="Text 9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3</a:t>
            </a:r>
            <a:endParaRPr lang="vi-VN"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vi-VN"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59,1% và 53,7%</a:t>
            </a:r>
            <a:endParaRPr lang="vi-VN"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Tăng trưởng 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59,1%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53,7%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vi-VN"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Doanh thu thuần 2025, tỷ đồng</a:t>
            </a:r>
            <a:endParaRPr lang="vi-VN"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1196872" y="2191327"/>
            <a:ext cx="0" cy="414969"/>
          </a:xfrm>
          <a:prstGeom prst="line">
            <a:avLst/>
          </a:prstGeom>
          <a:noFill/>
          <a:ln w="6350">
            <a:solidFill>
              <a:srgbClr val="BFBFBF"/>
            </a:solidFill>
            <a:prstDash val="solid"/>
          </a:ln>
        </p:spPr>
      </p:sp>
      <p:sp>
        <p:nvSpPr>
          <p:cNvPr id="21" name="Text 17"/>
          <p:cNvSpPr txBox="1"/>
          <p:nvPr/>
        </p:nvSpPr>
        <p:spPr>
          <a:xfrm>
            <a:off x="405408" y="2205625"/>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Holdings</a:t>
            </a:r>
            <a:endParaRPr lang="vi-VN" sz="650" dirty="0"/>
          </a:p>
        </p:txBody>
      </p:sp>
      <p:sp>
        <p:nvSpPr>
          <p:cNvPr id="22" name="Text 18"/>
          <p:cNvSpPr txBox="1"/>
          <p:nvPr/>
        </p:nvSpPr>
        <p:spPr>
          <a:xfrm>
            <a:off x="2238833" y="220562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10.746</a:t>
            </a:r>
            <a:endParaRPr lang="vi-VN" sz="650" dirty="0"/>
          </a:p>
        </p:txBody>
      </p:sp>
      <p:sp>
        <p:nvSpPr>
          <p:cNvPr id="23" name="Text 19"/>
          <p:cNvSpPr txBox="1"/>
          <p:nvPr/>
        </p:nvSpPr>
        <p:spPr>
          <a:xfrm>
            <a:off x="405408" y="2343948"/>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Đông Hải Bến Tre</a:t>
            </a:r>
            <a:endParaRPr lang="vi-VN" sz="650" dirty="0"/>
          </a:p>
        </p:txBody>
      </p:sp>
      <p:sp>
        <p:nvSpPr>
          <p:cNvPr id="24" name="Text 20"/>
          <p:cNvSpPr txBox="1"/>
          <p:nvPr/>
        </p:nvSpPr>
        <p:spPr>
          <a:xfrm>
            <a:off x="1567295" y="2343948"/>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3.633</a:t>
            </a:r>
            <a:endParaRPr lang="vi-VN" sz="650" dirty="0"/>
          </a:p>
        </p:txBody>
      </p:sp>
      <p:sp>
        <p:nvSpPr>
          <p:cNvPr id="25" name="Text 21"/>
          <p:cNvSpPr txBox="1"/>
          <p:nvPr/>
        </p:nvSpPr>
        <p:spPr>
          <a:xfrm>
            <a:off x="405408" y="2482271"/>
            <a:ext cx="745744"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a:t>
            </a:r>
            <a:endParaRPr lang="vi-VN" sz="650" dirty="0"/>
          </a:p>
        </p:txBody>
      </p:sp>
      <p:sp>
        <p:nvSpPr>
          <p:cNvPr id="26" name="Text 22"/>
          <p:cNvSpPr txBox="1"/>
          <p:nvPr/>
        </p:nvSpPr>
        <p:spPr>
          <a:xfrm>
            <a:off x="1228788" y="2482271"/>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47,5</a:t>
            </a:r>
            <a:endParaRPr lang="vi-VN" sz="650" dirty="0"/>
          </a:p>
        </p:txBody>
      </p:sp>
      <p:sp>
        <p:nvSpPr>
          <p:cNvPr id="27" name="Text 23"/>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vi-VN" sz="600" dirty="0"/>
          </a:p>
        </p:txBody>
      </p:sp>
      <p:sp>
        <p:nvSpPr>
          <p:cNvPr id="28" name="Text 24"/>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vi-VN" sz="720" dirty="0"/>
          </a:p>
        </p:txBody>
      </p:sp>
      <p:sp>
        <p:nvSpPr>
          <p:cNvPr id="29" name="Text 25"/>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7.243.109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14.514.122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24.264.946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51,0%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chi phí hoạt động (CPBH &amp; QLDN)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11.437.820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14.874.838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19.702.269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EBITDA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(2.762.511)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2.014.564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7.694.629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EBITDA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(4.194.711)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(360.716)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4.562.677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sau thuế</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(4.309.011)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(503.276)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4.420.495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lợi nhuận ròng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Vòng quay tổng tài sản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6"/>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vi-VN" sz="600" dirty="0"/>
          </a:p>
        </p:txBody>
      </p:sp>
      <p:sp>
        <p:nvSpPr>
          <p:cNvPr id="32" name="Text 27"/>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vi-VN" sz="720" dirty="0"/>
          </a:p>
        </p:txBody>
      </p:sp>
      <p:sp>
        <p:nvSpPr>
          <p:cNvPr id="33" name="Text 28"/>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34"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35" name="Shape 29"/>
          <p:cNvSpPr/>
          <p:nvPr/>
        </p:nvSpPr>
        <p:spPr>
          <a:xfrm>
            <a:off x="1593376" y="6113544"/>
            <a:ext cx="0" cy="670209"/>
          </a:xfrm>
          <a:prstGeom prst="line">
            <a:avLst/>
          </a:prstGeom>
          <a:noFill/>
          <a:ln w="6350">
            <a:solidFill>
              <a:srgbClr val="BFBFBF"/>
            </a:solidFill>
            <a:prstDash val="solid"/>
          </a:ln>
        </p:spPr>
      </p:sp>
      <p:sp>
        <p:nvSpPr>
          <p:cNvPr id="36" name="Text 30"/>
          <p:cNvSpPr txBox="1"/>
          <p:nvPr/>
        </p:nvSpPr>
        <p:spPr>
          <a:xfrm>
            <a:off x="405408" y="6142456"/>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AgriPack 2025, BCTC gốc</a:t>
            </a:r>
            <a:endParaRPr lang="vi-VN" sz="650" dirty="0"/>
          </a:p>
        </p:txBody>
      </p:sp>
      <p:sp>
        <p:nvSpPr>
          <p:cNvPr id="37" name="Text 31"/>
          <p:cNvSpPr txBox="1"/>
          <p:nvPr/>
        </p:nvSpPr>
        <p:spPr>
          <a:xfrm>
            <a:off x="1943326" y="6142456"/>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72,8%</a:t>
            </a:r>
            <a:endParaRPr lang="vi-VN" sz="650" dirty="0"/>
          </a:p>
        </p:txBody>
      </p:sp>
      <p:sp>
        <p:nvSpPr>
          <p:cNvPr id="38" name="Text 32"/>
          <p:cNvSpPr txBox="1"/>
          <p:nvPr/>
        </p:nvSpPr>
        <p:spPr>
          <a:xfrm>
            <a:off x="405408" y="6255144"/>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2025, theo chức năng</a:t>
            </a:r>
            <a:endParaRPr lang="vi-VN" sz="650" dirty="0"/>
          </a:p>
        </p:txBody>
      </p:sp>
      <p:sp>
        <p:nvSpPr>
          <p:cNvPr id="39" name="Text 33"/>
          <p:cNvSpPr txBox="1"/>
          <p:nvPr/>
        </p:nvSpPr>
        <p:spPr>
          <a:xfrm>
            <a:off x="1846748" y="6310008"/>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51,0%</a:t>
            </a:r>
            <a:endParaRPr lang="vi-VN" sz="650" dirty="0"/>
          </a:p>
        </p:txBody>
      </p:sp>
      <p:sp>
        <p:nvSpPr>
          <p:cNvPr id="40" name="Text 34"/>
          <p:cNvSpPr txBox="1"/>
          <p:nvPr/>
        </p:nvSpPr>
        <p:spPr>
          <a:xfrm>
            <a:off x="405408" y="6422696"/>
            <a:ext cx="1142248"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Chuẩn chung ngành sản xuất</a:t>
            </a:r>
            <a:endParaRPr lang="vi-VN" sz="650" dirty="0"/>
          </a:p>
        </p:txBody>
      </p:sp>
      <p:sp>
        <p:nvSpPr>
          <p:cNvPr id="41" name="Text 35"/>
          <p:cNvSpPr txBox="1"/>
          <p:nvPr/>
        </p:nvSpPr>
        <p:spPr>
          <a:xfrm>
            <a:off x="1798016" y="6477560"/>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25,0–40,0%</a:t>
            </a:r>
            <a:endParaRPr lang="vi-VN" sz="650" dirty="0"/>
          </a:p>
        </p:txBody>
      </p:sp>
      <p:sp>
        <p:nvSpPr>
          <p:cNvPr id="42" name="Text 36"/>
          <p:cNvSpPr txBox="1"/>
          <p:nvPr/>
        </p:nvSpPr>
        <p:spPr>
          <a:xfrm>
            <a:off x="405408" y="6645113"/>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DN bao bì giấy lớn</a:t>
            </a:r>
            <a:endParaRPr lang="vi-VN" sz="650" dirty="0"/>
          </a:p>
        </p:txBody>
      </p:sp>
      <p:sp>
        <p:nvSpPr>
          <p:cNvPr id="43" name="Text 37"/>
          <p:cNvSpPr txBox="1"/>
          <p:nvPr/>
        </p:nvSpPr>
        <p:spPr>
          <a:xfrm>
            <a:off x="1691691" y="6645113"/>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12,0–16,0%</a:t>
            </a:r>
            <a:endParaRPr lang="vi-VN" sz="650" dirty="0"/>
          </a:p>
        </p:txBody>
      </p:sp>
      <p:sp>
        <p:nvSpPr>
          <p:cNvPr id="44" name="Text 38"/>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vi-VN" sz="600" dirty="0"/>
          </a:p>
        </p:txBody>
      </p:sp>
      <p:sp>
        <p:nvSpPr>
          <p:cNvPr id="45" name="Text 39"/>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vi-VN" sz="720" dirty="0"/>
          </a:p>
        </p:txBody>
      </p:sp>
      <p:sp>
        <p:nvSpPr>
          <p:cNvPr id="46" name="Text 40"/>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48" name="Text 41"/>
          <p:cNvSpPr txBox="1"/>
          <p:nvPr/>
        </p:nvSpPr>
        <p:spPr>
          <a:xfrm>
            <a:off x="664179" y="7479696"/>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36,0</a:t>
            </a:r>
            <a:endParaRPr lang="vi-VN" sz="650" dirty="0"/>
          </a:p>
        </p:txBody>
      </p:sp>
      <p:sp>
        <p:nvSpPr>
          <p:cNvPr id="49" name="Text 42"/>
          <p:cNvSpPr txBox="1"/>
          <p:nvPr/>
        </p:nvSpPr>
        <p:spPr>
          <a:xfrm>
            <a:off x="1338440" y="759236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24,9</a:t>
            </a:r>
            <a:endParaRPr lang="vi-VN" sz="650" dirty="0"/>
          </a:p>
        </p:txBody>
      </p:sp>
      <p:sp>
        <p:nvSpPr>
          <p:cNvPr id="50" name="Text 43"/>
          <p:cNvSpPr txBox="1"/>
          <p:nvPr/>
        </p:nvSpPr>
        <p:spPr>
          <a:xfrm>
            <a:off x="2012701" y="7615704"/>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22,6</a:t>
            </a:r>
            <a:endParaRPr lang="vi-VN" sz="650" dirty="0"/>
          </a:p>
        </p:txBody>
      </p:sp>
      <p:sp>
        <p:nvSpPr>
          <p:cNvPr id="51" name="Text 44"/>
          <p:cNvSpPr txBox="1"/>
          <p:nvPr/>
        </p:nvSpPr>
        <p:spPr>
          <a:xfrm>
            <a:off x="664179" y="781075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20,5</a:t>
            </a:r>
            <a:endParaRPr lang="vi-VN" sz="650" dirty="0"/>
          </a:p>
        </p:txBody>
      </p:sp>
      <p:sp>
        <p:nvSpPr>
          <p:cNvPr id="52" name="Text 45"/>
          <p:cNvSpPr txBox="1"/>
          <p:nvPr/>
        </p:nvSpPr>
        <p:spPr>
          <a:xfrm>
            <a:off x="1338440" y="784222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17,4</a:t>
            </a:r>
            <a:endParaRPr lang="vi-VN" sz="650" dirty="0"/>
          </a:p>
        </p:txBody>
      </p:sp>
      <p:sp>
        <p:nvSpPr>
          <p:cNvPr id="53" name="Text 46"/>
          <p:cNvSpPr txBox="1"/>
          <p:nvPr/>
        </p:nvSpPr>
        <p:spPr>
          <a:xfrm>
            <a:off x="2012701" y="785744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15,9</a:t>
            </a:r>
            <a:endParaRPr lang="vi-VN" sz="650" dirty="0"/>
          </a:p>
        </p:txBody>
      </p:sp>
      <p:sp>
        <p:nvSpPr>
          <p:cNvPr id="54" name="Shape 47"/>
          <p:cNvSpPr/>
          <p:nvPr/>
        </p:nvSpPr>
        <p:spPr>
          <a:xfrm>
            <a:off x="405408" y="8147941"/>
            <a:ext cx="59436" cy="59436"/>
          </a:xfrm>
          <a:prstGeom prst="rect">
            <a:avLst/>
          </a:prstGeom>
          <a:solidFill>
            <a:srgbClr val="7B1E2B"/>
          </a:solidFill>
          <a:ln w="3175">
            <a:solidFill>
              <a:srgbClr val="7B1E2B"/>
            </a:solidFill>
            <a:prstDash val="solid"/>
          </a:ln>
        </p:spPr>
      </p:sp>
      <p:sp>
        <p:nvSpPr>
          <p:cNvPr id="55" name="Text 48"/>
          <p:cNvSpPr txBox="1"/>
          <p:nvPr/>
        </p:nvSpPr>
        <p:spPr>
          <a:xfrm>
            <a:off x="487704" y="8125081"/>
            <a:ext cx="49237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Tiền lương</a:t>
            </a:r>
            <a:endParaRPr lang="vi-VN" sz="650" dirty="0"/>
          </a:p>
        </p:txBody>
      </p:sp>
      <p:sp>
        <p:nvSpPr>
          <p:cNvPr id="56" name="Shape 49"/>
          <p:cNvSpPr/>
          <p:nvPr/>
        </p:nvSpPr>
        <p:spPr>
          <a:xfrm>
            <a:off x="1044091" y="8147941"/>
            <a:ext cx="59436" cy="59436"/>
          </a:xfrm>
          <a:prstGeom prst="rect">
            <a:avLst/>
          </a:prstGeom>
          <a:solidFill>
            <a:srgbClr val="404040"/>
          </a:solidFill>
          <a:ln w="3175">
            <a:solidFill>
              <a:srgbClr val="404040"/>
            </a:solidFill>
            <a:prstDash val="solid"/>
          </a:ln>
        </p:spPr>
      </p:sp>
      <p:sp>
        <p:nvSpPr>
          <p:cNvPr id="57" name="Text 50"/>
          <p:cNvSpPr txBox="1"/>
          <p:nvPr/>
        </p:nvSpPr>
        <p:spPr>
          <a:xfrm>
            <a:off x="1126387" y="8125081"/>
            <a:ext cx="623634"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Thuê mặt bằng</a:t>
            </a:r>
            <a:endParaRPr lang="vi-VN" sz="650" dirty="0"/>
          </a:p>
        </p:txBody>
      </p:sp>
      <p:sp>
        <p:nvSpPr>
          <p:cNvPr id="58" name="Text 51"/>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mô hình (Drivers)</a:t>
            </a:r>
            <a:endParaRPr lang="vi-VN" sz="600" dirty="0"/>
          </a:p>
        </p:txBody>
      </p:sp>
      <p:sp>
        <p:nvSpPr>
          <p:cNvPr id="59" name="Text 52"/>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2.1. Quy mô doanh thu</a:t>
            </a:r>
            <a:endParaRPr lang="vi-VN" sz="900" dirty="0"/>
          </a:p>
        </p:txBody>
      </p:sp>
      <p:sp>
        <p:nvSpPr>
          <p:cNvPr id="60" name="Text 53"/>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vi-VN" sz="850" dirty="0"/>
          </a:p>
        </p:txBody>
      </p:sp>
      <p:sp>
        <p:nvSpPr>
          <p:cNvPr id="61" name="Text 54"/>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vi-VN" sz="850" dirty="0"/>
          </a:p>
        </p:txBody>
      </p:sp>
      <p:sp>
        <p:nvSpPr>
          <p:cNvPr id="62" name="Text 55"/>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vi-VN" sz="850" dirty="0"/>
          </a:p>
        </p:txBody>
      </p:sp>
      <p:sp>
        <p:nvSpPr>
          <p:cNvPr id="63" name="Text 56"/>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vi-VN" sz="850" dirty="0"/>
          </a:p>
        </p:txBody>
      </p:sp>
      <p:sp>
        <p:nvSpPr>
          <p:cNvPr id="64" name="Text 57"/>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vi-VN" sz="850" dirty="0"/>
          </a:p>
        </p:txBody>
      </p:sp>
      <p:sp>
        <p:nvSpPr>
          <p:cNvPr id="65" name="Text 58"/>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2.2. Mức độ sinh lời</a:t>
            </a:r>
            <a:endParaRPr lang="vi-VN" sz="900" dirty="0"/>
          </a:p>
        </p:txBody>
      </p:sp>
      <p:sp>
        <p:nvSpPr>
          <p:cNvPr id="66" name="Text 59"/>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vi-VN" sz="850" dirty="0"/>
          </a:p>
        </p:txBody>
      </p:sp>
      <p:sp>
        <p:nvSpPr>
          <p:cNvPr id="67" name="Text 60"/>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vi-VN" sz="850" dirty="0"/>
          </a:p>
        </p:txBody>
      </p:sp>
      <p:sp>
        <p:nvSpPr>
          <p:cNvPr id="68" name="Text 61"/>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vi-VN" sz="850" dirty="0"/>
          </a:p>
        </p:txBody>
      </p:sp>
      <p:sp>
        <p:nvSpPr>
          <p:cNvPr id="69" name="Text 62"/>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vi-VN" sz="850" dirty="0"/>
          </a:p>
        </p:txBody>
      </p:sp>
      <p:sp>
        <p:nvSpPr>
          <p:cNvPr id="70" name="Text 63"/>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4</a:t>
            </a:r>
            <a:endParaRPr lang="vi-VN"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Tài sản dài hạn chiếm 67–76% tổng tài sản</a:t>
            </a:r>
            <a:endParaRPr lang="vi-VN"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Tài sản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15.511.800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19.442.120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21.394.688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Nợ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giảm từ 25,8% xuống 10,7%</a:t>
            </a:r>
            <a:endParaRPr lang="vi-VN"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CAPEX/Khấu hao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D/E giảm từ 7,8% xuống 6,5%</a:t>
            </a:r>
            <a:endParaRPr lang="vi-VN"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nợ phải trả</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1.492.800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1.871.640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1.945.332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Vốn chủ sở hữu</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19.054.989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25.551.713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29.972.208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Tỷ lệ Nợ/Vốn CSH (D/E)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FCF chuyển dương lần đầu năm 2025</a:t>
            </a:r>
            <a:endParaRPr lang="vi-VN"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Lưu chuyển tiền thuần từ HĐKD</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(3.957.011)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697.144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6.282.469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Dòng tiền tự do (FCF = OCF − 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(8.966.011)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(5.608.456)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1.197.949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Số dư tiền mặt cuối kỳ</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1.735.533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2.933.482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vi-VN"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a:t>
            </a:r>
            <a:endParaRPr lang="vi-VN"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hiện hành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nhanh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13,4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vi-VN"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vi-VN"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vi-VN"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vi-VN"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2.4. Dòng tiền</a:t>
            </a:r>
            <a:endParaRPr lang="vi-VN"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vi-VN"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vi-VN"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2.5. Thanh khoản và vốn lưu động</a:t>
            </a:r>
            <a:endParaRPr lang="vi-VN"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vi-VN"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2.6. Kết luận: xác định giai đoạn phát triển</a:t>
            </a:r>
            <a:endParaRPr lang="vi-VN"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vi-VN"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Quy mô tương đối so với 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Tăng trưởng doanh thu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Mức độ sinh lời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Hiệu quả sử dụng tài sản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Năng lực sản xuất và tài sản dài hạn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vận hành ổn định qua 3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Cường độ CAPEX</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vẫn &gt;1.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phù hợp với đầu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5</a:t>
            </a:r>
            <a:endParaRPr lang="vi-VN"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Khả năng tự tài trợ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Dòng tiền từ HĐKD và FCF</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Thanh khoản và cơ cấu nợ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17,2x → 21,5x → 23,6x</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nợ ngắn hạn rất thấp và D/E chỉ 6,5% năm 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vi-VN"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1593376" y="2372005"/>
            <a:ext cx="0" cy="837194"/>
          </a:xfrm>
          <a:prstGeom prst="line">
            <a:avLst/>
          </a:prstGeom>
          <a:noFill/>
          <a:ln w="6350">
            <a:solidFill>
              <a:srgbClr val="BFBFBF"/>
            </a:solidFill>
            <a:prstDash val="solid"/>
          </a:ln>
        </p:spPr>
      </p:sp>
      <p:sp>
        <p:nvSpPr>
          <p:cNvPr id="17" name="Text 13"/>
          <p:cNvSpPr txBox="1"/>
          <p:nvPr/>
        </p:nvSpPr>
        <p:spPr>
          <a:xfrm>
            <a:off x="405408" y="2421790"/>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Ươm mầm</a:t>
            </a:r>
            <a:endParaRPr lang="vi-VN" sz="650" dirty="0"/>
          </a:p>
        </p:txBody>
      </p:sp>
      <p:sp>
        <p:nvSpPr>
          <p:cNvPr id="18" name="Text 14"/>
          <p:cNvSpPr txBox="1"/>
          <p:nvPr/>
        </p:nvSpPr>
        <p:spPr>
          <a:xfrm>
            <a:off x="2115228" y="2421790"/>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65–80%</a:t>
            </a:r>
            <a:endParaRPr lang="vi-VN" sz="650" dirty="0"/>
          </a:p>
        </p:txBody>
      </p:sp>
      <p:sp>
        <p:nvSpPr>
          <p:cNvPr id="19" name="Text 15"/>
          <p:cNvSpPr txBox="1"/>
          <p:nvPr/>
        </p:nvSpPr>
        <p:spPr>
          <a:xfrm>
            <a:off x="405408" y="2631089"/>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Thử nghiệm</a:t>
            </a:r>
            <a:endParaRPr lang="vi-VN" sz="650" dirty="0"/>
          </a:p>
        </p:txBody>
      </p:sp>
      <p:sp>
        <p:nvSpPr>
          <p:cNvPr id="20" name="Text 16"/>
          <p:cNvSpPr txBox="1"/>
          <p:nvPr/>
        </p:nvSpPr>
        <p:spPr>
          <a:xfrm>
            <a:off x="2022525" y="263108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50–65%</a:t>
            </a:r>
            <a:endParaRPr lang="vi-VN" sz="650" dirty="0"/>
          </a:p>
        </p:txBody>
      </p:sp>
      <p:sp>
        <p:nvSpPr>
          <p:cNvPr id="21" name="Text 17"/>
          <p:cNvSpPr txBox="1"/>
          <p:nvPr/>
        </p:nvSpPr>
        <p:spPr>
          <a:xfrm>
            <a:off x="405408" y="2785523"/>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Đầu tăng trưởng (AgriPack, z = 40%)</a:t>
            </a:r>
            <a:endParaRPr lang="vi-VN" sz="650" dirty="0"/>
          </a:p>
        </p:txBody>
      </p:sp>
      <p:sp>
        <p:nvSpPr>
          <p:cNvPr id="22" name="Text 18"/>
          <p:cNvSpPr txBox="1"/>
          <p:nvPr/>
        </p:nvSpPr>
        <p:spPr>
          <a:xfrm>
            <a:off x="1898920" y="2840387"/>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35–45%</a:t>
            </a:r>
            <a:endParaRPr lang="vi-VN" sz="650" dirty="0"/>
          </a:p>
        </p:txBody>
      </p:sp>
      <p:sp>
        <p:nvSpPr>
          <p:cNvPr id="23" name="Text 19"/>
          <p:cNvSpPr txBox="1"/>
          <p:nvPr/>
        </p:nvSpPr>
        <p:spPr>
          <a:xfrm>
            <a:off x="405408" y="3049685"/>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Cuối tăng trưởng</a:t>
            </a:r>
            <a:endParaRPr lang="vi-VN" sz="650" dirty="0"/>
          </a:p>
        </p:txBody>
      </p:sp>
      <p:sp>
        <p:nvSpPr>
          <p:cNvPr id="24" name="Text 20"/>
          <p:cNvSpPr txBox="1"/>
          <p:nvPr/>
        </p:nvSpPr>
        <p:spPr>
          <a:xfrm>
            <a:off x="1806216" y="304968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20–30%</a:t>
            </a:r>
            <a:endParaRPr lang="vi-VN" sz="650" dirty="0"/>
          </a:p>
        </p:txBody>
      </p:sp>
      <p:sp>
        <p:nvSpPr>
          <p:cNvPr id="25" name="Text 21"/>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vi-VN" sz="600" dirty="0"/>
          </a:p>
        </p:txBody>
      </p:sp>
      <p:sp>
        <p:nvSpPr>
          <p:cNvPr id="26" name="Text 22"/>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2028, nhóm xác định AgriPack đang ở giai đoạn </a:t>
            </a:r>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vi-VN" sz="850" dirty="0"/>
          </a:p>
        </p:txBody>
      </p:sp>
      <p:sp>
        <p:nvSpPr>
          <p:cNvPr id="27" name="Text 23"/>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3. PHÂN TÍCH VĨ MÔ VÀ PHÂN TÍCH NGÀNH</a:t>
            </a:r>
            <a:endParaRPr lang="vi-VN" sz="880" dirty="0"/>
          </a:p>
        </p:txBody>
      </p:sp>
      <p:sp>
        <p:nvSpPr>
          <p:cNvPr id="28" name="Text 24"/>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vi-VN" sz="720" dirty="0"/>
          </a:p>
        </p:txBody>
      </p:sp>
      <p:sp>
        <p:nvSpPr>
          <p:cNvPr id="29" name="Text 25"/>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a:t>
            </a:r>
            <a:endParaRPr lang="vi-VN" sz="630" dirty="0"/>
          </a:p>
        </p:txBody>
      </p:sp>
      <p:graphicFrame>
        <p:nvGraphicFramePr>
          <p:cNvPr id="30"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31" name="Text 26"/>
          <p:cNvSpPr txBox="1"/>
          <p:nvPr/>
        </p:nvSpPr>
        <p:spPr>
          <a:xfrm>
            <a:off x="413069" y="422636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7,63</a:t>
            </a:r>
            <a:endParaRPr lang="vi-VN" sz="550" dirty="0"/>
          </a:p>
        </p:txBody>
      </p:sp>
      <p:sp>
        <p:nvSpPr>
          <p:cNvPr id="32" name="Text 27"/>
          <p:cNvSpPr txBox="1"/>
          <p:nvPr/>
        </p:nvSpPr>
        <p:spPr>
          <a:xfrm>
            <a:off x="634253" y="421084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8,18</a:t>
            </a:r>
            <a:endParaRPr lang="vi-VN" sz="550" dirty="0"/>
          </a:p>
        </p:txBody>
      </p:sp>
      <p:sp>
        <p:nvSpPr>
          <p:cNvPr id="33" name="Text 28"/>
          <p:cNvSpPr txBox="1"/>
          <p:nvPr/>
        </p:nvSpPr>
        <p:spPr>
          <a:xfrm>
            <a:off x="943910" y="43322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3,88</a:t>
            </a:r>
            <a:endParaRPr lang="vi-VN" sz="550" dirty="0"/>
          </a:p>
        </p:txBody>
      </p:sp>
      <p:sp>
        <p:nvSpPr>
          <p:cNvPr id="34" name="Text 29"/>
          <p:cNvSpPr txBox="1"/>
          <p:nvPr/>
        </p:nvSpPr>
        <p:spPr>
          <a:xfrm>
            <a:off x="1165094" y="433248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3,87</a:t>
            </a:r>
            <a:endParaRPr lang="vi-VN" sz="550" dirty="0"/>
          </a:p>
        </p:txBody>
      </p:sp>
      <p:sp>
        <p:nvSpPr>
          <p:cNvPr id="35" name="Text 30"/>
          <p:cNvSpPr txBox="1"/>
          <p:nvPr/>
        </p:nvSpPr>
        <p:spPr>
          <a:xfrm>
            <a:off x="1474752" y="42035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8,44</a:t>
            </a:r>
            <a:endParaRPr lang="vi-VN" sz="550" dirty="0"/>
          </a:p>
        </p:txBody>
      </p:sp>
      <p:sp>
        <p:nvSpPr>
          <p:cNvPr id="36" name="Text 31"/>
          <p:cNvSpPr txBox="1"/>
          <p:nvPr/>
        </p:nvSpPr>
        <p:spPr>
          <a:xfrm>
            <a:off x="1695936" y="4164836"/>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9,81</a:t>
            </a:r>
            <a:endParaRPr lang="vi-VN" sz="550" dirty="0"/>
          </a:p>
        </p:txBody>
      </p:sp>
      <p:sp>
        <p:nvSpPr>
          <p:cNvPr id="37" name="Text 32"/>
          <p:cNvSpPr txBox="1"/>
          <p:nvPr/>
        </p:nvSpPr>
        <p:spPr>
          <a:xfrm>
            <a:off x="2005594" y="4205760"/>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8,36</a:t>
            </a:r>
            <a:endParaRPr lang="vi-VN" sz="550" dirty="0"/>
          </a:p>
        </p:txBody>
      </p:sp>
      <p:sp>
        <p:nvSpPr>
          <p:cNvPr id="38" name="Text 33"/>
          <p:cNvSpPr txBox="1"/>
          <p:nvPr/>
        </p:nvSpPr>
        <p:spPr>
          <a:xfrm>
            <a:off x="2226778" y="421338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8,09</a:t>
            </a:r>
            <a:endParaRPr lang="vi-VN" sz="550" dirty="0"/>
          </a:p>
        </p:txBody>
      </p:sp>
      <p:sp>
        <p:nvSpPr>
          <p:cNvPr id="39" name="Shape 34"/>
          <p:cNvSpPr/>
          <p:nvPr/>
        </p:nvSpPr>
        <p:spPr>
          <a:xfrm>
            <a:off x="405408" y="4935486"/>
            <a:ext cx="59436" cy="59436"/>
          </a:xfrm>
          <a:prstGeom prst="rect">
            <a:avLst/>
          </a:prstGeom>
          <a:solidFill>
            <a:srgbClr val="A3A3A3"/>
          </a:solidFill>
          <a:ln w="3175">
            <a:solidFill>
              <a:srgbClr val="A3A3A3"/>
            </a:solidFill>
            <a:prstDash val="solid"/>
          </a:ln>
        </p:spPr>
      </p:sp>
      <p:sp>
        <p:nvSpPr>
          <p:cNvPr id="40" name="Text 35"/>
          <p:cNvSpPr txBox="1"/>
          <p:nvPr/>
        </p:nvSpPr>
        <p:spPr>
          <a:xfrm>
            <a:off x="487704"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2025</a:t>
            </a:r>
            <a:endParaRPr lang="vi-VN" sz="650" dirty="0"/>
          </a:p>
        </p:txBody>
      </p:sp>
      <p:sp>
        <p:nvSpPr>
          <p:cNvPr id="41" name="Shape 36"/>
          <p:cNvSpPr/>
          <p:nvPr/>
        </p:nvSpPr>
        <p:spPr>
          <a:xfrm>
            <a:off x="1131594" y="4935486"/>
            <a:ext cx="59436" cy="59436"/>
          </a:xfrm>
          <a:prstGeom prst="rect">
            <a:avLst/>
          </a:prstGeom>
          <a:solidFill>
            <a:srgbClr val="7B1E2B"/>
          </a:solidFill>
          <a:ln w="3175">
            <a:solidFill>
              <a:srgbClr val="7B1E2B"/>
            </a:solidFill>
            <a:prstDash val="solid"/>
          </a:ln>
        </p:spPr>
      </p:sp>
      <p:sp>
        <p:nvSpPr>
          <p:cNvPr id="42" name="Text 37"/>
          <p:cNvSpPr txBox="1"/>
          <p:nvPr/>
        </p:nvSpPr>
        <p:spPr>
          <a:xfrm>
            <a:off x="1213890"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2026</a:t>
            </a:r>
            <a:endParaRPr lang="vi-VN" sz="650" dirty="0"/>
          </a:p>
        </p:txBody>
      </p:sp>
      <p:sp>
        <p:nvSpPr>
          <p:cNvPr id="43" name="Text 38"/>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vi-VN" sz="600" dirty="0"/>
          </a:p>
        </p:txBody>
      </p:sp>
      <p:sp>
        <p:nvSpPr>
          <p:cNvPr id="44" name="Text 39"/>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vi-VN" sz="720" dirty="0"/>
          </a:p>
        </p:txBody>
      </p:sp>
      <p:sp>
        <p:nvSpPr>
          <p:cNvPr id="45" name="Text 40"/>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 giả định giá bán: %/năm</a:t>
            </a:r>
            <a:endParaRPr lang="vi-VN" sz="630" dirty="0"/>
          </a:p>
        </p:txBody>
      </p:sp>
      <p:graphicFrame>
        <p:nvGraphicFramePr>
          <p:cNvPr id="46"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47" name="Shape 41"/>
          <p:cNvSpPr/>
          <p:nvPr/>
        </p:nvSpPr>
        <p:spPr>
          <a:xfrm>
            <a:off x="1744572" y="5707690"/>
            <a:ext cx="0" cy="532840"/>
          </a:xfrm>
          <a:prstGeom prst="line">
            <a:avLst/>
          </a:prstGeom>
          <a:noFill/>
          <a:ln w="6350">
            <a:solidFill>
              <a:srgbClr val="BFBFBF"/>
            </a:solidFill>
            <a:prstDash val="solid"/>
          </a:ln>
        </p:spPr>
      </p:sp>
      <p:sp>
        <p:nvSpPr>
          <p:cNvPr id="48" name="Text 42"/>
          <p:cNvSpPr txBox="1"/>
          <p:nvPr/>
        </p:nvSpPr>
        <p:spPr>
          <a:xfrm>
            <a:off x="405408" y="571943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CPI bình quân 8T/2026</a:t>
            </a:r>
            <a:endParaRPr lang="vi-VN" sz="650" dirty="0"/>
          </a:p>
        </p:txBody>
      </p:sp>
      <p:sp>
        <p:nvSpPr>
          <p:cNvPr id="49" name="Text 43"/>
          <p:cNvSpPr txBox="1"/>
          <p:nvPr/>
        </p:nvSpPr>
        <p:spPr>
          <a:xfrm>
            <a:off x="2110616" y="571943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4,45%</a:t>
            </a:r>
            <a:endParaRPr lang="vi-VN" sz="650" dirty="0"/>
          </a:p>
        </p:txBody>
      </p:sp>
      <p:sp>
        <p:nvSpPr>
          <p:cNvPr id="50" name="Text 44"/>
          <p:cNvSpPr txBox="1"/>
          <p:nvPr/>
        </p:nvSpPr>
        <p:spPr>
          <a:xfrm>
            <a:off x="405408" y="585264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Lạm phát cơ bản 8T/2026</a:t>
            </a:r>
            <a:endParaRPr lang="vi-VN" sz="650" dirty="0"/>
          </a:p>
        </p:txBody>
      </p:sp>
      <p:sp>
        <p:nvSpPr>
          <p:cNvPr id="51" name="Text 45"/>
          <p:cNvSpPr txBox="1"/>
          <p:nvPr/>
        </p:nvSpPr>
        <p:spPr>
          <a:xfrm>
            <a:off x="2094636" y="585264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4,24%</a:t>
            </a:r>
            <a:endParaRPr lang="vi-VN" sz="650" dirty="0"/>
          </a:p>
        </p:txBody>
      </p:sp>
      <p:sp>
        <p:nvSpPr>
          <p:cNvPr id="52" name="Text 46"/>
          <p:cNvSpPr txBox="1"/>
          <p:nvPr/>
        </p:nvSpPr>
        <p:spPr>
          <a:xfrm>
            <a:off x="405408" y="598585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Nhà ở, điện, nước, VLXD</a:t>
            </a:r>
            <a:endParaRPr lang="vi-VN" sz="650" dirty="0"/>
          </a:p>
        </p:txBody>
      </p:sp>
      <p:sp>
        <p:nvSpPr>
          <p:cNvPr id="53" name="Text 47"/>
          <p:cNvSpPr txBox="1"/>
          <p:nvPr/>
        </p:nvSpPr>
        <p:spPr>
          <a:xfrm>
            <a:off x="2282585" y="598585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6,71%</a:t>
            </a:r>
            <a:endParaRPr lang="vi-VN" sz="650" dirty="0"/>
          </a:p>
        </p:txBody>
      </p:sp>
      <p:sp>
        <p:nvSpPr>
          <p:cNvPr id="54" name="Text 48"/>
          <p:cNvSpPr txBox="1"/>
          <p:nvPr/>
        </p:nvSpPr>
        <p:spPr>
          <a:xfrm>
            <a:off x="405408" y="6064197"/>
            <a:ext cx="1293444"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Giá bán AgriPack 2026E (giả định)</a:t>
            </a:r>
            <a:endParaRPr lang="vi-VN" sz="650" dirty="0"/>
          </a:p>
        </p:txBody>
      </p:sp>
      <p:sp>
        <p:nvSpPr>
          <p:cNvPr id="55" name="Text 49"/>
          <p:cNvSpPr txBox="1"/>
          <p:nvPr/>
        </p:nvSpPr>
        <p:spPr>
          <a:xfrm>
            <a:off x="1924189" y="611906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2,00%</a:t>
            </a:r>
            <a:endParaRPr lang="vi-VN" sz="650" dirty="0"/>
          </a:p>
        </p:txBody>
      </p:sp>
      <p:sp>
        <p:nvSpPr>
          <p:cNvPr id="56" name="Text 5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vi-VN" sz="600" dirty="0"/>
          </a:p>
        </p:txBody>
      </p:sp>
      <p:sp>
        <p:nvSpPr>
          <p:cNvPr id="57" name="Text 5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3.1. Phân tích vĩ mô</a:t>
            </a:r>
            <a:endParaRPr lang="vi-VN" sz="900" dirty="0"/>
          </a:p>
        </p:txBody>
      </p:sp>
      <p:sp>
        <p:nvSpPr>
          <p:cNvPr id="58" name="Text 5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3.1.1. Tăng trưởng GDP</a:t>
            </a:r>
            <a:endParaRPr lang="vi-VN" sz="820" dirty="0"/>
          </a:p>
        </p:txBody>
      </p:sp>
      <p:sp>
        <p:nvSpPr>
          <p:cNvPr id="59" name="Text 5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vi-VN" sz="850" dirty="0"/>
          </a:p>
        </p:txBody>
      </p:sp>
      <p:sp>
        <p:nvSpPr>
          <p:cNvPr id="60" name="Text 5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vi-VN" sz="850" dirty="0"/>
          </a:p>
        </p:txBody>
      </p:sp>
      <p:sp>
        <p:nvSpPr>
          <p:cNvPr id="61" name="Text 5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vi-VN" sz="850" dirty="0"/>
          </a:p>
        </p:txBody>
      </p:sp>
      <p:sp>
        <p:nvSpPr>
          <p:cNvPr id="62" name="Text 5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vi-VN" sz="850" dirty="0"/>
          </a:p>
        </p:txBody>
      </p:sp>
      <p:sp>
        <p:nvSpPr>
          <p:cNvPr id="63" name="Text 5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vi-VN" sz="850" dirty="0"/>
          </a:p>
        </p:txBody>
      </p:sp>
      <p:sp>
        <p:nvSpPr>
          <p:cNvPr id="64" name="Text 5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3.1.2. Lạm phát</a:t>
            </a:r>
            <a:endParaRPr lang="vi-VN" sz="820" dirty="0"/>
          </a:p>
        </p:txBody>
      </p:sp>
      <p:sp>
        <p:nvSpPr>
          <p:cNvPr id="65" name="Text 5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vi-VN" sz="850" dirty="0"/>
          </a:p>
        </p:txBody>
      </p:sp>
      <p:sp>
        <p:nvSpPr>
          <p:cNvPr id="66" name="Text 6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vi-VN" sz="850" dirty="0"/>
          </a:p>
        </p:txBody>
      </p:sp>
      <p:sp>
        <p:nvSpPr>
          <p:cNvPr id="67" name="Text 6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vi-VN" sz="850" dirty="0"/>
          </a:p>
        </p:txBody>
      </p:sp>
      <p:sp>
        <p:nvSpPr>
          <p:cNvPr id="68" name="Text 6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vi-VN" sz="850" dirty="0"/>
          </a:p>
        </p:txBody>
      </p:sp>
      <p:sp>
        <p:nvSpPr>
          <p:cNvPr id="69" name="Text 6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6</a:t>
            </a:r>
            <a:endParaRPr lang="vi-VN"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vi-VN"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VND bình quân (6/2026)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8,1–10,5%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Dư nợ tín dụng DNNVV (28/8/2026)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&gt;4,1 triệu tỷ, +12,4%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NATIF hỗ trợ lãi suất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lãi vay, ≤ 6%/năm, ≤ 5 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Quy mô hỗ trợ đợt 1/2026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Kd trong mô hình (Mục 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vi-VN"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vi-VN"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VND/USD</a:t>
            </a:r>
            <a:endParaRPr lang="vi-VN"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744572" y="2620697"/>
            <a:ext cx="0" cy="856839"/>
          </a:xfrm>
          <a:prstGeom prst="line">
            <a:avLst/>
          </a:prstGeom>
          <a:noFill/>
          <a:ln w="6350">
            <a:solidFill>
              <a:srgbClr val="BFBFBF"/>
            </a:solidFill>
            <a:prstDash val="solid"/>
          </a:ln>
        </p:spPr>
      </p:sp>
      <p:sp>
        <p:nvSpPr>
          <p:cNvPr id="16" name="Text 12"/>
          <p:cNvSpPr txBox="1"/>
          <p:nvPr/>
        </p:nvSpPr>
        <p:spPr>
          <a:xfrm>
            <a:off x="405408" y="2637236"/>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Liên ngân hàng cuối 8/2026</a:t>
            </a:r>
            <a:endParaRPr lang="vi-VN" sz="650" dirty="0"/>
          </a:p>
        </p:txBody>
      </p:sp>
      <p:sp>
        <p:nvSpPr>
          <p:cNvPr id="17" name="Text 13"/>
          <p:cNvSpPr txBox="1"/>
          <p:nvPr/>
        </p:nvSpPr>
        <p:spPr>
          <a:xfrm>
            <a:off x="1912442" y="2637236"/>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26.083</a:t>
            </a:r>
            <a:endParaRPr lang="vi-VN" sz="650" dirty="0"/>
          </a:p>
        </p:txBody>
      </p:sp>
      <p:sp>
        <p:nvSpPr>
          <p:cNvPr id="18" name="Text 14"/>
          <p:cNvSpPr txBox="1"/>
          <p:nvPr/>
        </p:nvSpPr>
        <p:spPr>
          <a:xfrm>
            <a:off x="405408" y="278004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Trung tâm 22/9/2026</a:t>
            </a:r>
            <a:endParaRPr lang="vi-VN" sz="650" dirty="0"/>
          </a:p>
        </p:txBody>
      </p:sp>
      <p:sp>
        <p:nvSpPr>
          <p:cNvPr id="19" name="Text 15"/>
          <p:cNvSpPr txBox="1"/>
          <p:nvPr/>
        </p:nvSpPr>
        <p:spPr>
          <a:xfrm>
            <a:off x="1854996" y="278004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25.640</a:t>
            </a:r>
            <a:endParaRPr lang="vi-VN" sz="650" dirty="0"/>
          </a:p>
        </p:txBody>
      </p:sp>
      <p:sp>
        <p:nvSpPr>
          <p:cNvPr id="20" name="Text 16"/>
          <p:cNvSpPr txBox="1"/>
          <p:nvPr/>
        </p:nvSpPr>
        <p:spPr>
          <a:xfrm>
            <a:off x="405408" y="292284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Vietcombank bán 22/9/2026</a:t>
            </a:r>
            <a:endParaRPr lang="vi-VN" sz="650" dirty="0"/>
          </a:p>
        </p:txBody>
      </p:sp>
      <p:sp>
        <p:nvSpPr>
          <p:cNvPr id="21" name="Text 17"/>
          <p:cNvSpPr txBox="1"/>
          <p:nvPr/>
        </p:nvSpPr>
        <p:spPr>
          <a:xfrm>
            <a:off x="1928911" y="292284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26.210</a:t>
            </a:r>
            <a:endParaRPr lang="vi-VN" sz="650" dirty="0"/>
          </a:p>
        </p:txBody>
      </p:sp>
      <p:sp>
        <p:nvSpPr>
          <p:cNvPr id="22" name="Text 18"/>
          <p:cNvSpPr txBox="1"/>
          <p:nvPr/>
        </p:nvSpPr>
        <p:spPr>
          <a:xfrm>
            <a:off x="405408" y="3010791"/>
            <a:ext cx="1293444"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MBS dự báo cuối 2026 (cận trên)</a:t>
            </a:r>
            <a:endParaRPr lang="vi-VN" sz="650" dirty="0"/>
          </a:p>
        </p:txBody>
      </p:sp>
      <p:sp>
        <p:nvSpPr>
          <p:cNvPr id="23" name="Text 19"/>
          <p:cNvSpPr txBox="1"/>
          <p:nvPr/>
        </p:nvSpPr>
        <p:spPr>
          <a:xfrm>
            <a:off x="2031354" y="306565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27.000</a:t>
            </a:r>
            <a:endParaRPr lang="vi-VN" sz="650" dirty="0"/>
          </a:p>
        </p:txBody>
      </p:sp>
      <p:sp>
        <p:nvSpPr>
          <p:cNvPr id="24" name="Text 20"/>
          <p:cNvSpPr txBox="1"/>
          <p:nvPr/>
        </p:nvSpPr>
        <p:spPr>
          <a:xfrm>
            <a:off x="405408" y="320846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2026E</a:t>
            </a:r>
            <a:endParaRPr lang="vi-VN" sz="650" dirty="0"/>
          </a:p>
        </p:txBody>
      </p:sp>
      <p:sp>
        <p:nvSpPr>
          <p:cNvPr id="25" name="Text 21"/>
          <p:cNvSpPr txBox="1"/>
          <p:nvPr/>
        </p:nvSpPr>
        <p:spPr>
          <a:xfrm>
            <a:off x="1940581" y="320846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26.300</a:t>
            </a:r>
            <a:endParaRPr lang="vi-VN" sz="650" dirty="0"/>
          </a:p>
        </p:txBody>
      </p:sp>
      <p:sp>
        <p:nvSpPr>
          <p:cNvPr id="26" name="Text 22"/>
          <p:cNvSpPr txBox="1"/>
          <p:nvPr/>
        </p:nvSpPr>
        <p:spPr>
          <a:xfrm>
            <a:off x="405408" y="335126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2030E</a:t>
            </a:r>
            <a:endParaRPr lang="vi-VN" sz="650" dirty="0"/>
          </a:p>
        </p:txBody>
      </p:sp>
      <p:sp>
        <p:nvSpPr>
          <p:cNvPr id="27" name="Text 23"/>
          <p:cNvSpPr txBox="1"/>
          <p:nvPr/>
        </p:nvSpPr>
        <p:spPr>
          <a:xfrm>
            <a:off x="2221716" y="335126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28.468</a:t>
            </a:r>
            <a:endParaRPr lang="vi-VN" sz="650" dirty="0"/>
          </a:p>
        </p:txBody>
      </p:sp>
      <p:sp>
        <p:nvSpPr>
          <p:cNvPr id="28" name="Text 24"/>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vi-VN" sz="600" dirty="0"/>
          </a:p>
        </p:txBody>
      </p:sp>
      <p:sp>
        <p:nvSpPr>
          <p:cNvPr id="29" name="Text 25"/>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VC phục hồi 28% năm 2025 sau ba năm giảm</a:t>
            </a:r>
            <a:endParaRPr lang="vi-VN" sz="720" dirty="0"/>
          </a:p>
        </p:txBody>
      </p:sp>
      <p:sp>
        <p:nvSpPr>
          <p:cNvPr id="30" name="Text 26"/>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USD</a:t>
            </a:r>
            <a:endParaRPr lang="vi-VN" sz="630" dirty="0"/>
          </a:p>
        </p:txBody>
      </p:sp>
      <p:graphicFrame>
        <p:nvGraphicFramePr>
          <p:cNvPr id="31"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32" name="Text 27"/>
          <p:cNvSpPr txBox="1"/>
          <p:nvPr/>
        </p:nvSpPr>
        <p:spPr>
          <a:xfrm>
            <a:off x="468365" y="4099054"/>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634</a:t>
            </a:r>
            <a:endParaRPr lang="vi-VN" sz="650" dirty="0"/>
          </a:p>
        </p:txBody>
      </p:sp>
      <p:sp>
        <p:nvSpPr>
          <p:cNvPr id="33" name="Text 28"/>
          <p:cNvSpPr txBox="1"/>
          <p:nvPr/>
        </p:nvSpPr>
        <p:spPr>
          <a:xfrm>
            <a:off x="999206" y="4163022"/>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529</a:t>
            </a:r>
            <a:endParaRPr lang="vi-VN" sz="650" dirty="0"/>
          </a:p>
        </p:txBody>
      </p:sp>
      <p:sp>
        <p:nvSpPr>
          <p:cNvPr id="34" name="Text 29"/>
          <p:cNvSpPr txBox="1"/>
          <p:nvPr/>
        </p:nvSpPr>
        <p:spPr>
          <a:xfrm>
            <a:off x="1530048" y="4242830"/>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398</a:t>
            </a:r>
            <a:endParaRPr lang="vi-VN" sz="650" dirty="0"/>
          </a:p>
        </p:txBody>
      </p:sp>
      <p:sp>
        <p:nvSpPr>
          <p:cNvPr id="35" name="Text 30"/>
          <p:cNvSpPr txBox="1"/>
          <p:nvPr/>
        </p:nvSpPr>
        <p:spPr>
          <a:xfrm>
            <a:off x="2060890" y="4175206"/>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509</a:t>
            </a:r>
            <a:endParaRPr lang="vi-VN" sz="650" dirty="0"/>
          </a:p>
        </p:txBody>
      </p:sp>
      <p:sp>
        <p:nvSpPr>
          <p:cNvPr id="36" name="Text 31"/>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vi-VN" sz="600" dirty="0"/>
          </a:p>
        </p:txBody>
      </p:sp>
      <p:sp>
        <p:nvSpPr>
          <p:cNvPr id="37" name="Text 32"/>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vi-VN" sz="850" dirty="0"/>
          </a:p>
        </p:txBody>
      </p:sp>
      <p:sp>
        <p:nvSpPr>
          <p:cNvPr id="38" name="Text 33"/>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3.1.3. Lãi suất</a:t>
            </a:r>
            <a:endParaRPr lang="vi-VN" sz="820" dirty="0"/>
          </a:p>
        </p:txBody>
      </p:sp>
      <p:sp>
        <p:nvSpPr>
          <p:cNvPr id="39" name="Text 34"/>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vi-VN" sz="850" dirty="0"/>
          </a:p>
        </p:txBody>
      </p:sp>
      <p:sp>
        <p:nvSpPr>
          <p:cNvPr id="40" name="Text 35"/>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vi-VN" sz="850" dirty="0"/>
          </a:p>
        </p:txBody>
      </p:sp>
      <p:sp>
        <p:nvSpPr>
          <p:cNvPr id="41" name="Text 36"/>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vi-VN" sz="850" dirty="0"/>
          </a:p>
        </p:txBody>
      </p:sp>
      <p:sp>
        <p:nvSpPr>
          <p:cNvPr id="42" name="Text 37"/>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vi-VN" sz="850" dirty="0"/>
          </a:p>
        </p:txBody>
      </p:sp>
      <p:sp>
        <p:nvSpPr>
          <p:cNvPr id="43" name="Text 38"/>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3.1.4. Tỷ giá</a:t>
            </a:r>
            <a:endParaRPr lang="vi-VN" sz="820" dirty="0"/>
          </a:p>
        </p:txBody>
      </p:sp>
      <p:sp>
        <p:nvSpPr>
          <p:cNvPr id="44" name="Text 39"/>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vi-VN" sz="850" dirty="0"/>
          </a:p>
        </p:txBody>
      </p:sp>
      <p:sp>
        <p:nvSpPr>
          <p:cNvPr id="45" name="Text 40"/>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vi-VN" sz="850" dirty="0"/>
          </a:p>
        </p:txBody>
      </p:sp>
      <p:sp>
        <p:nvSpPr>
          <p:cNvPr id="46" name="Text 41"/>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vi-VN" sz="850" dirty="0"/>
          </a:p>
        </p:txBody>
      </p:sp>
      <p:sp>
        <p:nvSpPr>
          <p:cNvPr id="47" name="Text 42"/>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vi-VN" sz="850" dirty="0"/>
          </a:p>
        </p:txBody>
      </p:sp>
      <p:sp>
        <p:nvSpPr>
          <p:cNvPr id="48" name="Text 43"/>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3.1.5. Môi trường đầu tư</a:t>
            </a:r>
            <a:endParaRPr lang="vi-VN" sz="820" dirty="0"/>
          </a:p>
        </p:txBody>
      </p:sp>
      <p:sp>
        <p:nvSpPr>
          <p:cNvPr id="49" name="Text 44"/>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vi-VN"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vi-VN" sz="850" dirty="0"/>
          </a:p>
        </p:txBody>
      </p:sp>
      <p:sp>
        <p:nvSpPr>
          <p:cNvPr id="50" name="Text 45"/>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vi-VN" sz="850" dirty="0"/>
          </a:p>
        </p:txBody>
      </p:sp>
      <p:sp>
        <p:nvSpPr>
          <p:cNvPr id="51" name="Text 46"/>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vi-VN" sz="850" dirty="0"/>
          </a:p>
        </p:txBody>
      </p:sp>
      <p:sp>
        <p:nvSpPr>
          <p:cNvPr id="52" name="Text 47"/>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vi-VN" sz="850" dirty="0"/>
          </a:p>
        </p:txBody>
      </p:sp>
      <p:sp>
        <p:nvSpPr>
          <p:cNvPr id="53" name="Text 48"/>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 Chính sách và pháp luật</a:t>
            </a:r>
            <a:endParaRPr lang="vi-VN" sz="820" dirty="0"/>
          </a:p>
        </p:txBody>
      </p:sp>
      <p:sp>
        <p:nvSpPr>
          <p:cNvPr id="54" name="Text 49"/>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vi-VN" sz="820" dirty="0"/>
          </a:p>
        </p:txBody>
      </p:sp>
      <p:sp>
        <p:nvSpPr>
          <p:cNvPr id="55" name="Text 50"/>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vi-VN" sz="850" dirty="0"/>
          </a:p>
        </p:txBody>
      </p:sp>
      <p:sp>
        <p:nvSpPr>
          <p:cNvPr id="56" name="Text 51"/>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57" name="Text 52"/>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7</a:t>
            </a:r>
            <a:endParaRPr lang="vi-VN"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vi-VN"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Văn bản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Nội dung chính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(1/7/2026)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kiểm nghiệm, chứng nhận &amp; R&amp;D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NĐ 48/2026/NĐ-CP; NĐ 110/2026/NĐ-CP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NQ 198/2025/QH15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Luật Thuế TNDN 67/2025/QH15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15% (DT ≤ 3 tỷ), 17% (3–50 tỷ), 20% phổ thông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Thuế suất 17% năm 2026, 20% từ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vi-VN"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vi-VN"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Thuế suất TNDN</a:t>
            </a:r>
            <a:endParaRPr lang="vi-VN"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398323" y="350307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a:t>
            </a:r>
            <a:endParaRPr lang="vi-VN" sz="550" dirty="0"/>
          </a:p>
        </p:txBody>
      </p:sp>
      <p:sp>
        <p:nvSpPr>
          <p:cNvPr id="16" name="Text 12"/>
          <p:cNvSpPr txBox="1"/>
          <p:nvPr/>
        </p:nvSpPr>
        <p:spPr>
          <a:xfrm>
            <a:off x="545779"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7" name="Text 13"/>
          <p:cNvSpPr txBox="1"/>
          <p:nvPr/>
        </p:nvSpPr>
        <p:spPr>
          <a:xfrm>
            <a:off x="752217"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18" name="Text 14"/>
          <p:cNvSpPr txBox="1"/>
          <p:nvPr/>
        </p:nvSpPr>
        <p:spPr>
          <a:xfrm>
            <a:off x="899673"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9" name="Text 15"/>
          <p:cNvSpPr txBox="1"/>
          <p:nvPr/>
        </p:nvSpPr>
        <p:spPr>
          <a:xfrm>
            <a:off x="1106112"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0" name="Text 16"/>
          <p:cNvSpPr txBox="1"/>
          <p:nvPr/>
        </p:nvSpPr>
        <p:spPr>
          <a:xfrm>
            <a:off x="1253568"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1" name="Text 17"/>
          <p:cNvSpPr txBox="1"/>
          <p:nvPr/>
        </p:nvSpPr>
        <p:spPr>
          <a:xfrm>
            <a:off x="1460006"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2" name="Text 18"/>
          <p:cNvSpPr txBox="1"/>
          <p:nvPr/>
        </p:nvSpPr>
        <p:spPr>
          <a:xfrm>
            <a:off x="1607462"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3" name="Text 19"/>
          <p:cNvSpPr txBox="1"/>
          <p:nvPr/>
        </p:nvSpPr>
        <p:spPr>
          <a:xfrm>
            <a:off x="1813901"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4" name="Text 20"/>
          <p:cNvSpPr txBox="1"/>
          <p:nvPr/>
        </p:nvSpPr>
        <p:spPr>
          <a:xfrm>
            <a:off x="1961357"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5" name="Text 21"/>
          <p:cNvSpPr txBox="1"/>
          <p:nvPr/>
        </p:nvSpPr>
        <p:spPr>
          <a:xfrm>
            <a:off x="2167795"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6" name="Text 22"/>
          <p:cNvSpPr txBox="1"/>
          <p:nvPr/>
        </p:nvSpPr>
        <p:spPr>
          <a:xfrm>
            <a:off x="2315251"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7" name="Shape 23"/>
          <p:cNvSpPr/>
          <p:nvPr/>
        </p:nvSpPr>
        <p:spPr>
          <a:xfrm>
            <a:off x="405408" y="4069860"/>
            <a:ext cx="59436" cy="59436"/>
          </a:xfrm>
          <a:prstGeom prst="rect">
            <a:avLst/>
          </a:prstGeom>
          <a:solidFill>
            <a:srgbClr val="404040"/>
          </a:solidFill>
          <a:ln w="3175">
            <a:solidFill>
              <a:srgbClr val="404040"/>
            </a:solidFill>
            <a:prstDash val="solid"/>
          </a:ln>
        </p:spPr>
      </p:sp>
      <p:sp>
        <p:nvSpPr>
          <p:cNvPr id="28" name="Text 24"/>
          <p:cNvSpPr txBox="1"/>
          <p:nvPr/>
        </p:nvSpPr>
        <p:spPr>
          <a:xfrm>
            <a:off x="487704" y="4047000"/>
            <a:ext cx="101739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Mô hình (Luật 67/2025)</a:t>
            </a:r>
            <a:endParaRPr lang="vi-VN" sz="650" dirty="0"/>
          </a:p>
        </p:txBody>
      </p:sp>
      <p:sp>
        <p:nvSpPr>
          <p:cNvPr id="29" name="Shape 25"/>
          <p:cNvSpPr/>
          <p:nvPr/>
        </p:nvSpPr>
        <p:spPr>
          <a:xfrm>
            <a:off x="405408" y="4179588"/>
            <a:ext cx="59436" cy="59436"/>
          </a:xfrm>
          <a:prstGeom prst="rect">
            <a:avLst/>
          </a:prstGeom>
          <a:solidFill>
            <a:srgbClr val="7B1E2B"/>
          </a:solidFill>
          <a:ln w="3175">
            <a:solidFill>
              <a:srgbClr val="7B1E2B"/>
            </a:solidFill>
            <a:prstDash val="solid"/>
          </a:ln>
        </p:spPr>
      </p:sp>
      <p:sp>
        <p:nvSpPr>
          <p:cNvPr id="30" name="Text 26"/>
          <p:cNvSpPr txBox="1"/>
          <p:nvPr/>
        </p:nvSpPr>
        <p:spPr>
          <a:xfrm>
            <a:off x="487704" y="4156728"/>
            <a:ext cx="106114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Nếu hưởng ưu đãi NQ 198</a:t>
            </a:r>
            <a:endParaRPr lang="vi-VN" sz="650" dirty="0"/>
          </a:p>
        </p:txBody>
      </p:sp>
      <p:sp>
        <p:nvSpPr>
          <p:cNvPr id="31" name="Text 27"/>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vi-VN" sz="600" dirty="0"/>
          </a:p>
        </p:txBody>
      </p:sp>
      <p:sp>
        <p:nvSpPr>
          <p:cNvPr id="32" name="Text 28"/>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vi-VN" sz="720" dirty="0"/>
          </a:p>
        </p:txBody>
      </p:sp>
      <p:sp>
        <p:nvSpPr>
          <p:cNvPr id="33" name="Text 29"/>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CAGR, %/năm</a:t>
            </a:r>
            <a:endParaRPr lang="vi-VN" sz="630" dirty="0"/>
          </a:p>
        </p:txBody>
      </p:sp>
      <p:graphicFrame>
        <p:nvGraphicFramePr>
          <p:cNvPr id="34"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35" name="Shape 30"/>
          <p:cNvSpPr/>
          <p:nvPr/>
        </p:nvSpPr>
        <p:spPr>
          <a:xfrm>
            <a:off x="1721890" y="5152709"/>
            <a:ext cx="0" cy="454259"/>
          </a:xfrm>
          <a:prstGeom prst="line">
            <a:avLst/>
          </a:prstGeom>
          <a:noFill/>
          <a:ln w="6350">
            <a:solidFill>
              <a:srgbClr val="BFBFBF"/>
            </a:solidFill>
            <a:prstDash val="solid"/>
          </a:ln>
        </p:spPr>
      </p:sp>
      <p:sp>
        <p:nvSpPr>
          <p:cNvPr id="36" name="Text 31"/>
          <p:cNvSpPr txBox="1"/>
          <p:nvPr/>
        </p:nvSpPr>
        <p:spPr>
          <a:xfrm>
            <a:off x="405408" y="5154628"/>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Thị trường nhựa, tấn (26–31)</a:t>
            </a:r>
            <a:endParaRPr lang="vi-VN" sz="650" dirty="0"/>
          </a:p>
        </p:txBody>
      </p:sp>
      <p:sp>
        <p:nvSpPr>
          <p:cNvPr id="37" name="Text 32"/>
          <p:cNvSpPr txBox="1"/>
          <p:nvPr/>
        </p:nvSpPr>
        <p:spPr>
          <a:xfrm>
            <a:off x="1896277" y="5154628"/>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8,3%</a:t>
            </a:r>
            <a:endParaRPr lang="vi-VN" sz="650" dirty="0"/>
          </a:p>
        </p:txBody>
      </p:sp>
      <p:sp>
        <p:nvSpPr>
          <p:cNvPr id="38" name="Text 33"/>
          <p:cNvSpPr txBox="1"/>
          <p:nvPr/>
        </p:nvSpPr>
        <p:spPr>
          <a:xfrm>
            <a:off x="405408" y="5268193"/>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SAM F&amp;B phân hủy (26–34)</a:t>
            </a:r>
            <a:endParaRPr lang="vi-VN" sz="650" dirty="0"/>
          </a:p>
        </p:txBody>
      </p:sp>
      <p:sp>
        <p:nvSpPr>
          <p:cNvPr id="39" name="Text 34"/>
          <p:cNvSpPr txBox="1"/>
          <p:nvPr/>
        </p:nvSpPr>
        <p:spPr>
          <a:xfrm>
            <a:off x="1832567" y="5268193"/>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a:t>
            </a:r>
            <a:endParaRPr lang="vi-VN" sz="650" dirty="0"/>
          </a:p>
        </p:txBody>
      </p:sp>
      <p:sp>
        <p:nvSpPr>
          <p:cNvPr id="40" name="Text 35"/>
          <p:cNvSpPr txBox="1"/>
          <p:nvPr/>
        </p:nvSpPr>
        <p:spPr>
          <a:xfrm>
            <a:off x="405408" y="5381757"/>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TAM bao bì xanh (26–34)</a:t>
            </a:r>
            <a:endParaRPr lang="vi-VN" sz="650" dirty="0"/>
          </a:p>
        </p:txBody>
      </p:sp>
      <p:sp>
        <p:nvSpPr>
          <p:cNvPr id="41" name="Text 36"/>
          <p:cNvSpPr txBox="1"/>
          <p:nvPr/>
        </p:nvSpPr>
        <p:spPr>
          <a:xfrm>
            <a:off x="1822359" y="5381757"/>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42" name="Text 37"/>
          <p:cNvSpPr txBox="1"/>
          <p:nvPr/>
        </p:nvSpPr>
        <p:spPr>
          <a:xfrm>
            <a:off x="405408" y="5495322"/>
            <a:ext cx="127076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dự phóng (25–30E)</a:t>
            </a:r>
            <a:endParaRPr lang="vi-VN" sz="650" dirty="0"/>
          </a:p>
        </p:txBody>
      </p:sp>
      <p:sp>
        <p:nvSpPr>
          <p:cNvPr id="43" name="Text 38"/>
          <p:cNvSpPr txBox="1"/>
          <p:nvPr/>
        </p:nvSpPr>
        <p:spPr>
          <a:xfrm>
            <a:off x="2282585" y="5495322"/>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30,3%</a:t>
            </a:r>
            <a:endParaRPr lang="vi-VN" sz="650" dirty="0"/>
          </a:p>
        </p:txBody>
      </p:sp>
      <p:sp>
        <p:nvSpPr>
          <p:cNvPr id="44" name="Text 39"/>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vi-VN" sz="600" dirty="0"/>
          </a:p>
        </p:txBody>
      </p:sp>
      <p:sp>
        <p:nvSpPr>
          <p:cNvPr id="45" name="Text 40"/>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vi-VN" sz="850" dirty="0"/>
          </a:p>
        </p:txBody>
      </p:sp>
      <p:sp>
        <p:nvSpPr>
          <p:cNvPr id="46" name="Text 41"/>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3.1.6.2. Chính sách hỗ trợ startup</a:t>
            </a:r>
            <a:endParaRPr lang="vi-VN" sz="820" dirty="0"/>
          </a:p>
        </p:txBody>
      </p:sp>
      <p:sp>
        <p:nvSpPr>
          <p:cNvPr id="47" name="Text 42"/>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vi-VN" sz="850" dirty="0"/>
          </a:p>
        </p:txBody>
      </p:sp>
      <p:sp>
        <p:nvSpPr>
          <p:cNvPr id="48" name="Text 43"/>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3.1.6.3. Thuế</a:t>
            </a:r>
            <a:endParaRPr lang="vi-VN" sz="820" dirty="0"/>
          </a:p>
        </p:txBody>
      </p:sp>
      <p:sp>
        <p:nvSpPr>
          <p:cNvPr id="49" name="Text 44"/>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vi-VN" sz="850" dirty="0"/>
          </a:p>
        </p:txBody>
      </p:sp>
      <p:sp>
        <p:nvSpPr>
          <p:cNvPr id="50" name="Text 45"/>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vi-VN" sz="850" dirty="0"/>
          </a:p>
        </p:txBody>
      </p:sp>
      <p:sp>
        <p:nvSpPr>
          <p:cNvPr id="51" name="Text 46"/>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vi-VN" sz="850" dirty="0"/>
          </a:p>
        </p:txBody>
      </p:sp>
      <p:sp>
        <p:nvSpPr>
          <p:cNvPr id="52" name="Text 47"/>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vi-VN" sz="900" dirty="0"/>
          </a:p>
        </p:txBody>
      </p:sp>
      <p:sp>
        <p:nvSpPr>
          <p:cNvPr id="53" name="Text 48"/>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vi-VN" sz="820" dirty="0"/>
          </a:p>
        </p:txBody>
      </p:sp>
      <p:sp>
        <p:nvSpPr>
          <p:cNvPr id="54" name="Text 49"/>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vi-VN" sz="850" dirty="0"/>
          </a:p>
        </p:txBody>
      </p:sp>
      <p:sp>
        <p:nvSpPr>
          <p:cNvPr id="55" name="Text 50"/>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vi-VN" sz="850" dirty="0"/>
          </a:p>
        </p:txBody>
      </p:sp>
      <p:sp>
        <p:nvSpPr>
          <p:cNvPr id="56" name="Text 51"/>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vi-VN" sz="850" dirty="0"/>
          </a:p>
        </p:txBody>
      </p:sp>
      <p:sp>
        <p:nvSpPr>
          <p:cNvPr id="57" name="Text 52"/>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vi-VN" sz="850" dirty="0"/>
          </a:p>
        </p:txBody>
      </p:sp>
      <p:sp>
        <p:nvSpPr>
          <p:cNvPr id="58" name="Text 53"/>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vi-VN" sz="850" dirty="0"/>
          </a:p>
        </p:txBody>
      </p:sp>
      <p:sp>
        <p:nvSpPr>
          <p:cNvPr id="59" name="Text 54"/>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vi-VN" sz="850" dirty="0"/>
          </a:p>
        </p:txBody>
      </p:sp>
      <p:sp>
        <p:nvSpPr>
          <p:cNvPr id="60" name="Text 55"/>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vi-VN" sz="850" dirty="0"/>
          </a:p>
        </p:txBody>
      </p:sp>
      <p:sp>
        <p:nvSpPr>
          <p:cNvPr id="61" name="Text 56"/>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vi-VN" sz="850" dirty="0"/>
          </a:p>
        </p:txBody>
      </p:sp>
      <p:sp>
        <p:nvSpPr>
          <p:cNvPr id="62" name="Text 57"/>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vi-VN" sz="850" dirty="0"/>
          </a:p>
        </p:txBody>
      </p:sp>
      <p:sp>
        <p:nvSpPr>
          <p:cNvPr id="63" name="Text 58"/>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vi-VN" sz="850" dirty="0"/>
          </a:p>
        </p:txBody>
      </p:sp>
      <p:sp>
        <p:nvSpPr>
          <p:cNvPr id="64" name="Text 5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8</a:t>
            </a:r>
            <a:endParaRPr lang="vi-VN"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vi-VN"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Liên quan đến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Doanh thu TMĐT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38,5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chống sốc cho hàng 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TMĐT 2021–2024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18%/năm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đệm bảo vệ</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Dân số mua sắm trực tuyến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Thị trường F&amp;B 2025 →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726.500 → 760.000 tỷ đồng (+4,6%)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khay F&amp;B: ~80%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Số điểm bán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~333.600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 mục tiêu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Đồ ăn trực tuyến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2,1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mang đi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vi-VN"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vi-VN"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tấn/năm</a:t>
            </a:r>
            <a:endParaRPr lang="vi-VN"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634387" y="3143976"/>
            <a:ext cx="0" cy="454259"/>
          </a:xfrm>
          <a:prstGeom prst="line">
            <a:avLst/>
          </a:prstGeom>
          <a:noFill/>
          <a:ln w="6350">
            <a:solidFill>
              <a:srgbClr val="BFBFBF"/>
            </a:solidFill>
            <a:prstDash val="solid"/>
          </a:ln>
        </p:spPr>
      </p:sp>
      <p:sp>
        <p:nvSpPr>
          <p:cNvPr id="16" name="Text 12"/>
          <p:cNvSpPr txBox="1"/>
          <p:nvPr/>
        </p:nvSpPr>
        <p:spPr>
          <a:xfrm>
            <a:off x="405408" y="3145895"/>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Rơm rạ</a:t>
            </a:r>
            <a:endParaRPr lang="vi-VN" sz="650" dirty="0"/>
          </a:p>
        </p:txBody>
      </p:sp>
      <p:sp>
        <p:nvSpPr>
          <p:cNvPr id="17" name="Text 13"/>
          <p:cNvSpPr txBox="1"/>
          <p:nvPr/>
        </p:nvSpPr>
        <p:spPr>
          <a:xfrm>
            <a:off x="1925398" y="3145895"/>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42,8</a:t>
            </a:r>
            <a:endParaRPr lang="vi-VN" sz="650" dirty="0"/>
          </a:p>
        </p:txBody>
      </p:sp>
      <p:sp>
        <p:nvSpPr>
          <p:cNvPr id="18" name="Text 14"/>
          <p:cNvSpPr txBox="1"/>
          <p:nvPr/>
        </p:nvSpPr>
        <p:spPr>
          <a:xfrm>
            <a:off x="405408" y="3259459"/>
            <a:ext cx="1183259"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Bã mía</a:t>
            </a:r>
            <a:endParaRPr lang="vi-VN" sz="650" dirty="0"/>
          </a:p>
        </p:txBody>
      </p:sp>
      <p:sp>
        <p:nvSpPr>
          <p:cNvPr id="19" name="Text 15"/>
          <p:cNvSpPr txBox="1"/>
          <p:nvPr/>
        </p:nvSpPr>
        <p:spPr>
          <a:xfrm>
            <a:off x="1754195" y="325945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20" name="Text 16"/>
          <p:cNvSpPr txBox="1"/>
          <p:nvPr/>
        </p:nvSpPr>
        <p:spPr>
          <a:xfrm>
            <a:off x="405408" y="3373024"/>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cà phê</a:t>
            </a:r>
            <a:endParaRPr lang="vi-VN" sz="650" dirty="0"/>
          </a:p>
        </p:txBody>
      </p:sp>
      <p:sp>
        <p:nvSpPr>
          <p:cNvPr id="21" name="Text 17"/>
          <p:cNvSpPr txBox="1"/>
          <p:nvPr/>
        </p:nvSpPr>
        <p:spPr>
          <a:xfrm>
            <a:off x="1670441" y="3373024"/>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22" name="Text 18"/>
          <p:cNvSpPr txBox="1"/>
          <p:nvPr/>
        </p:nvSpPr>
        <p:spPr>
          <a:xfrm>
            <a:off x="405408" y="3486589"/>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trấu, chăn nuôi và khác</a:t>
            </a:r>
            <a:endParaRPr lang="vi-VN" sz="650" dirty="0"/>
          </a:p>
        </p:txBody>
      </p:sp>
      <p:sp>
        <p:nvSpPr>
          <p:cNvPr id="23" name="Text 19"/>
          <p:cNvSpPr txBox="1"/>
          <p:nvPr/>
        </p:nvSpPr>
        <p:spPr>
          <a:xfrm>
            <a:off x="2282585" y="348658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100,8</a:t>
            </a:r>
            <a:endParaRPr lang="vi-VN" sz="650" dirty="0"/>
          </a:p>
        </p:txBody>
      </p:sp>
      <p:sp>
        <p:nvSpPr>
          <p:cNvPr id="24" name="Text 20"/>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vi-VN" sz="600" dirty="0"/>
          </a:p>
        </p:txBody>
      </p:sp>
      <p:sp>
        <p:nvSpPr>
          <p:cNvPr id="25" name="Text 21"/>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vi-VN"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Mức độ (bài của nhóm)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Cạnh tranh nội bộ ngành</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tăng 2%/năm (&lt; CPI)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gia nhập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65% DT năm 2028; kiểm nghiệm, chứng nhận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Nguồn cung nguyên liệu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Dồi dào, chi phí thấp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 25,0% → 27,0% DT do thu gom, năng lượng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DSO 14 → 30 ngày; giá bám đối thủ</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Kịch bản Bear: sản lượng 70% Base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2"/>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vi-VN" sz="600" dirty="0"/>
          </a:p>
        </p:txBody>
      </p:sp>
      <p:sp>
        <p:nvSpPr>
          <p:cNvPr id="28" name="Text 23"/>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3.2.2. Động lực tăng trưởng chính</a:t>
            </a:r>
            <a:endParaRPr lang="vi-VN" sz="820" dirty="0"/>
          </a:p>
        </p:txBody>
      </p:sp>
      <p:sp>
        <p:nvSpPr>
          <p:cNvPr id="29" name="Text 24"/>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vi-VN" sz="850" dirty="0"/>
          </a:p>
        </p:txBody>
      </p:sp>
      <p:sp>
        <p:nvSpPr>
          <p:cNvPr id="30" name="Text 25"/>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vi-VN" sz="850" dirty="0"/>
          </a:p>
        </p:txBody>
      </p:sp>
      <p:sp>
        <p:nvSpPr>
          <p:cNvPr id="31" name="Text 26"/>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vi-VN" sz="850" dirty="0"/>
          </a:p>
        </p:txBody>
      </p:sp>
      <p:sp>
        <p:nvSpPr>
          <p:cNvPr id="32" name="Text 27"/>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vi-VN" sz="850" dirty="0"/>
          </a:p>
        </p:txBody>
      </p:sp>
      <p:sp>
        <p:nvSpPr>
          <p:cNvPr id="33" name="Text 28"/>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vi-VN" sz="850" dirty="0"/>
          </a:p>
        </p:txBody>
      </p:sp>
      <p:sp>
        <p:nvSpPr>
          <p:cNvPr id="34" name="Text 29"/>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vi-VN" sz="850" dirty="0"/>
          </a:p>
        </p:txBody>
      </p:sp>
      <p:sp>
        <p:nvSpPr>
          <p:cNvPr id="35" name="Text 30"/>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vi-VN" sz="850" dirty="0"/>
          </a:p>
        </p:txBody>
      </p:sp>
      <p:sp>
        <p:nvSpPr>
          <p:cNvPr id="36" name="Text 31"/>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3.2.3. Đối thủ cạnh tranh</a:t>
            </a:r>
            <a:endParaRPr lang="vi-VN" sz="820" dirty="0"/>
          </a:p>
        </p:txBody>
      </p:sp>
      <p:sp>
        <p:nvSpPr>
          <p:cNvPr id="37" name="Text 32"/>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vi-VN" sz="850" dirty="0"/>
          </a:p>
        </p:txBody>
      </p:sp>
      <p:sp>
        <p:nvSpPr>
          <p:cNvPr id="38" name="Text 33"/>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vi-VN" sz="850" dirty="0"/>
          </a:p>
        </p:txBody>
      </p:sp>
      <p:sp>
        <p:nvSpPr>
          <p:cNvPr id="39" name="Text 34"/>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vi-VN" sz="850" dirty="0"/>
          </a:p>
        </p:txBody>
      </p:sp>
      <p:sp>
        <p:nvSpPr>
          <p:cNvPr id="40" name="Text 35"/>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vi-VN" sz="850" dirty="0"/>
          </a:p>
        </p:txBody>
      </p:sp>
      <p:sp>
        <p:nvSpPr>
          <p:cNvPr id="41" name="Text 3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2" name="Text 3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9</a:t>
            </a:r>
            <a:endParaRPr lang="vi-VN"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vi-VN"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tấn/năm</a:t>
            </a:r>
            <a:endParaRPr lang="vi-VN"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1371878" y="960072"/>
            <a:ext cx="0" cy="670209"/>
          </a:xfrm>
          <a:prstGeom prst="line">
            <a:avLst/>
          </a:prstGeom>
          <a:noFill/>
          <a:ln w="6350">
            <a:solidFill>
              <a:srgbClr val="BFBFBF"/>
            </a:solidFill>
            <a:prstDash val="solid"/>
          </a:ln>
        </p:spPr>
      </p:sp>
      <p:sp>
        <p:nvSpPr>
          <p:cNvPr id="12" name="Text 9"/>
          <p:cNvSpPr txBox="1"/>
          <p:nvPr/>
        </p:nvSpPr>
        <p:spPr>
          <a:xfrm>
            <a:off x="405408" y="988984"/>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(AnEco)</a:t>
            </a:r>
            <a:endParaRPr lang="vi-VN" sz="650" dirty="0"/>
          </a:p>
        </p:txBody>
      </p:sp>
      <p:sp>
        <p:nvSpPr>
          <p:cNvPr id="13" name="Text 10"/>
          <p:cNvSpPr txBox="1"/>
          <p:nvPr/>
        </p:nvSpPr>
        <p:spPr>
          <a:xfrm>
            <a:off x="2370088" y="988984"/>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108</a:t>
            </a:r>
            <a:endParaRPr lang="vi-VN" sz="650" dirty="0"/>
          </a:p>
        </p:txBody>
      </p:sp>
      <p:sp>
        <p:nvSpPr>
          <p:cNvPr id="14" name="Text 11"/>
          <p:cNvSpPr txBox="1"/>
          <p:nvPr/>
        </p:nvSpPr>
        <p:spPr>
          <a:xfrm>
            <a:off x="405408" y="1156537"/>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HAPBIO</a:t>
            </a:r>
            <a:endParaRPr lang="vi-VN" sz="650" dirty="0"/>
          </a:p>
        </p:txBody>
      </p:sp>
      <p:sp>
        <p:nvSpPr>
          <p:cNvPr id="15" name="Text 12"/>
          <p:cNvSpPr txBox="1"/>
          <p:nvPr/>
        </p:nvSpPr>
        <p:spPr>
          <a:xfrm>
            <a:off x="1884699" y="1156537"/>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54</a:t>
            </a:r>
            <a:endParaRPr lang="vi-VN" sz="650" dirty="0"/>
          </a:p>
        </p:txBody>
      </p:sp>
      <p:sp>
        <p:nvSpPr>
          <p:cNvPr id="16" name="Text 13"/>
          <p:cNvSpPr txBox="1"/>
          <p:nvPr/>
        </p:nvSpPr>
        <p:spPr>
          <a:xfrm>
            <a:off x="405408" y="1324089"/>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Thành Long (20 → 43)</a:t>
            </a:r>
            <a:endParaRPr lang="vi-VN" sz="650" dirty="0"/>
          </a:p>
        </p:txBody>
      </p:sp>
      <p:sp>
        <p:nvSpPr>
          <p:cNvPr id="17" name="Text 14"/>
          <p:cNvSpPr txBox="1"/>
          <p:nvPr/>
        </p:nvSpPr>
        <p:spPr>
          <a:xfrm>
            <a:off x="1785823" y="1324089"/>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18" name="Text 15"/>
          <p:cNvSpPr txBox="1"/>
          <p:nvPr/>
        </p:nvSpPr>
        <p:spPr>
          <a:xfrm>
            <a:off x="405408" y="1491641"/>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AIRX Coffee (3–4)</a:t>
            </a:r>
            <a:endParaRPr lang="vi-VN" sz="650" dirty="0"/>
          </a:p>
        </p:txBody>
      </p:sp>
      <p:sp>
        <p:nvSpPr>
          <p:cNvPr id="19" name="Text 16"/>
          <p:cNvSpPr txBox="1"/>
          <p:nvPr/>
        </p:nvSpPr>
        <p:spPr>
          <a:xfrm>
            <a:off x="1435265" y="1491641"/>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a:t>
            </a:r>
            <a:endParaRPr lang="vi-VN" sz="650" dirty="0"/>
          </a:p>
        </p:txBody>
      </p:sp>
      <p:sp>
        <p:nvSpPr>
          <p:cNvPr id="20" name="Text 17"/>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vi-VN" sz="600" dirty="0"/>
          </a:p>
        </p:txBody>
      </p:sp>
      <p:sp>
        <p:nvSpPr>
          <p:cNvPr id="21" name="Text 18"/>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vi-VN"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Áp lực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truyền thống, hộp xốp dùng một lần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Rất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Giấy, carton, kraft (giấy từ gỗ mềm)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 PHA)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tái chế</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(rPET, PCR)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Bioplastic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bảo vệ (EPE/PE Foam)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(từ sợi nấm, tinh bột)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giấy tổ ong/giấy nhún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9"/>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vi-VN" sz="600" dirty="0"/>
          </a:p>
        </p:txBody>
      </p:sp>
      <p:sp>
        <p:nvSpPr>
          <p:cNvPr id="24" name="Text 20"/>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3.2.4. Rào cản gia nhập</a:t>
            </a:r>
            <a:endParaRPr lang="vi-VN" sz="820" dirty="0"/>
          </a:p>
        </p:txBody>
      </p:sp>
      <p:sp>
        <p:nvSpPr>
          <p:cNvPr id="25" name="Text 21"/>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vi-VN" sz="850" dirty="0"/>
          </a:p>
        </p:txBody>
      </p:sp>
      <p:sp>
        <p:nvSpPr>
          <p:cNvPr id="26" name="Text 22"/>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vi-VN" sz="850" dirty="0"/>
          </a:p>
        </p:txBody>
      </p:sp>
      <p:sp>
        <p:nvSpPr>
          <p:cNvPr id="27" name="Text 23"/>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vi-VN" sz="850" dirty="0"/>
          </a:p>
        </p:txBody>
      </p:sp>
      <p:sp>
        <p:nvSpPr>
          <p:cNvPr id="28" name="Text 24"/>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vi-VN" sz="850" dirty="0"/>
          </a:p>
        </p:txBody>
      </p:sp>
      <p:sp>
        <p:nvSpPr>
          <p:cNvPr id="29" name="Text 25"/>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vi-VN" sz="850" dirty="0"/>
          </a:p>
        </p:txBody>
      </p:sp>
      <p:sp>
        <p:nvSpPr>
          <p:cNvPr id="30" name="Text 26"/>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vi-VN" sz="850" dirty="0"/>
          </a:p>
        </p:txBody>
      </p:sp>
      <p:sp>
        <p:nvSpPr>
          <p:cNvPr id="31" name="Text 27"/>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3.2.5. Sản phẩm thay thế</a:t>
            </a:r>
            <a:endParaRPr lang="vi-VN" sz="820" dirty="0"/>
          </a:p>
        </p:txBody>
      </p:sp>
      <p:sp>
        <p:nvSpPr>
          <p:cNvPr id="32" name="Text 28"/>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vi-VN" sz="850" dirty="0"/>
          </a:p>
        </p:txBody>
      </p:sp>
      <p:sp>
        <p:nvSpPr>
          <p:cNvPr id="33" name="Text 29"/>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vi-VN" sz="850" dirty="0"/>
          </a:p>
        </p:txBody>
      </p:sp>
      <p:sp>
        <p:nvSpPr>
          <p:cNvPr id="34" name="Text 30"/>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3.2.6. Hành vi khách hàng</a:t>
            </a:r>
            <a:endParaRPr lang="vi-VN" sz="820" dirty="0"/>
          </a:p>
        </p:txBody>
      </p:sp>
      <p:sp>
        <p:nvSpPr>
          <p:cNvPr id="35" name="Text 31"/>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vi-VN" sz="850" dirty="0"/>
          </a:p>
        </p:txBody>
      </p:sp>
      <p:sp>
        <p:nvSpPr>
          <p:cNvPr id="36" name="Text 32"/>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vi-VN" sz="850" dirty="0"/>
          </a:p>
        </p:txBody>
      </p:sp>
      <p:sp>
        <p:nvSpPr>
          <p:cNvPr id="37" name="Text 33"/>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vi-VN" sz="850" dirty="0"/>
          </a:p>
        </p:txBody>
      </p:sp>
      <p:sp>
        <p:nvSpPr>
          <p:cNvPr id="38" name="Text 34"/>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vi-VN" sz="850" dirty="0"/>
          </a:p>
        </p:txBody>
      </p:sp>
      <p:sp>
        <p:nvSpPr>
          <p:cNvPr id="39" name="Text 3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10</a:t>
            </a:r>
            <a:endParaRPr lang="vi-VN"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vi-VN"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vi-VN"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vi-VN"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vi-VN"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 vĩ mô/ngành (mục phân tích)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sản lượng hộp/khay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TMĐT, nội thất xuất khẩu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diện tích đệm nội thất/TMĐT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giá bán F&amp;B và khuôn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biến đổi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Nhóm điện, nước +6,71%; giá điện +4,8%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Điện, nước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Lương tối thiểu vùng +7,2% từ 01/2026 (NĐ 293/2025)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Kiểm nghiệm, chứng nhận &amp; R&amp;D /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vốn đầu tư (3.2.4); đề bài: đầu tư lớn 2028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 doanh thu (tái đầu tư)</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8,1–10,5% (3.1.3)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vay Kd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Luật Thuế TNDN 67/2025/QH15 (3.1.6.3)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Thuế suất TNDN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MBS 26.800–27.000 cuối 2026 (3.1.4)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bình quân USD/VND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26.300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27.363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28.468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trong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Lợi suất TPCP 10 năm ngày 01/10/2026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phi rủi ro Rf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Bội số ngành bao bì (FiinX,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thoái vốn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8,0x</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vi-VN"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vi-VN"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Chênh lệch pre-money so với mức cơ sở 22,4 tỷ đồng (tỷ đồng)</a:t>
            </a:r>
            <a:endParaRPr lang="vi-VN"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2051185" y="4614845"/>
            <a:ext cx="0" cy="874181"/>
          </a:xfrm>
          <a:prstGeom prst="line">
            <a:avLst/>
          </a:prstGeom>
          <a:noFill/>
          <a:ln w="6350">
            <a:solidFill>
              <a:srgbClr val="8C8C8C"/>
            </a:solidFill>
            <a:prstDash val="solid"/>
          </a:ln>
        </p:spPr>
      </p:sp>
      <p:sp>
        <p:nvSpPr>
          <p:cNvPr id="20" name="Text 16"/>
          <p:cNvSpPr txBox="1"/>
          <p:nvPr/>
        </p:nvSpPr>
        <p:spPr>
          <a:xfrm>
            <a:off x="405408" y="4622422"/>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Sản lượng ×0,8 / ×1,2</a:t>
            </a:r>
            <a:endParaRPr lang="vi-VN" sz="650" dirty="0"/>
          </a:p>
        </p:txBody>
      </p:sp>
      <p:sp>
        <p:nvSpPr>
          <p:cNvPr id="21" name="Text 17"/>
          <p:cNvSpPr txBox="1"/>
          <p:nvPr/>
        </p:nvSpPr>
        <p:spPr>
          <a:xfrm>
            <a:off x="1590635" y="4622422"/>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−25,3</a:t>
            </a:r>
            <a:endParaRPr lang="vi-VN" sz="650" dirty="0"/>
          </a:p>
        </p:txBody>
      </p:sp>
      <p:sp>
        <p:nvSpPr>
          <p:cNvPr id="22" name="Text 18"/>
          <p:cNvSpPr txBox="1"/>
          <p:nvPr/>
        </p:nvSpPr>
        <p:spPr>
          <a:xfrm>
            <a:off x="2273441" y="4622422"/>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+30,6</a:t>
            </a:r>
            <a:endParaRPr lang="vi-VN" sz="650" dirty="0"/>
          </a:p>
        </p:txBody>
      </p:sp>
      <p:sp>
        <p:nvSpPr>
          <p:cNvPr id="23" name="Text 19"/>
          <p:cNvSpPr txBox="1"/>
          <p:nvPr/>
        </p:nvSpPr>
        <p:spPr>
          <a:xfrm>
            <a:off x="405408" y="474730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nhân sự ±1 điểm % DT</a:t>
            </a:r>
            <a:endParaRPr lang="vi-VN" sz="650" dirty="0"/>
          </a:p>
        </p:txBody>
      </p:sp>
      <p:sp>
        <p:nvSpPr>
          <p:cNvPr id="24" name="Text 20"/>
          <p:cNvSpPr txBox="1"/>
          <p:nvPr/>
        </p:nvSpPr>
        <p:spPr>
          <a:xfrm>
            <a:off x="1689286" y="4747305"/>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−10,5</a:t>
            </a:r>
            <a:endParaRPr lang="vi-VN" sz="650" dirty="0"/>
          </a:p>
        </p:txBody>
      </p:sp>
      <p:sp>
        <p:nvSpPr>
          <p:cNvPr id="25" name="Text 21"/>
          <p:cNvSpPr txBox="1"/>
          <p:nvPr/>
        </p:nvSpPr>
        <p:spPr>
          <a:xfrm>
            <a:off x="2139462" y="4747305"/>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+10,5</a:t>
            </a:r>
            <a:endParaRPr lang="vi-VN" sz="650" dirty="0"/>
          </a:p>
        </p:txBody>
      </p:sp>
      <p:sp>
        <p:nvSpPr>
          <p:cNvPr id="26" name="Text 22"/>
          <p:cNvSpPr txBox="1"/>
          <p:nvPr/>
        </p:nvSpPr>
        <p:spPr>
          <a:xfrm>
            <a:off x="405408" y="4872188"/>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biến đổi ±1 điểm % DT</a:t>
            </a:r>
            <a:endParaRPr lang="vi-VN" sz="650" dirty="0"/>
          </a:p>
        </p:txBody>
      </p:sp>
      <p:sp>
        <p:nvSpPr>
          <p:cNvPr id="27" name="Text 23"/>
          <p:cNvSpPr txBox="1"/>
          <p:nvPr/>
        </p:nvSpPr>
        <p:spPr>
          <a:xfrm>
            <a:off x="1746369" y="4872188"/>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−8,5</a:t>
            </a:r>
            <a:endParaRPr lang="vi-VN" sz="650" dirty="0"/>
          </a:p>
        </p:txBody>
      </p:sp>
      <p:sp>
        <p:nvSpPr>
          <p:cNvPr id="28" name="Text 24"/>
          <p:cNvSpPr txBox="1"/>
          <p:nvPr/>
        </p:nvSpPr>
        <p:spPr>
          <a:xfrm>
            <a:off x="2126131" y="4872188"/>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+8,5</a:t>
            </a:r>
            <a:endParaRPr lang="vi-VN" sz="650" dirty="0"/>
          </a:p>
        </p:txBody>
      </p:sp>
      <p:sp>
        <p:nvSpPr>
          <p:cNvPr id="29" name="Text 25"/>
          <p:cNvSpPr txBox="1"/>
          <p:nvPr/>
        </p:nvSpPr>
        <p:spPr>
          <a:xfrm>
            <a:off x="405408" y="4997071"/>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bán ±1 điểm %/năm</a:t>
            </a:r>
            <a:endParaRPr lang="vi-VN" sz="650" dirty="0"/>
          </a:p>
        </p:txBody>
      </p:sp>
      <p:sp>
        <p:nvSpPr>
          <p:cNvPr id="30" name="Text 26"/>
          <p:cNvSpPr txBox="1"/>
          <p:nvPr/>
        </p:nvSpPr>
        <p:spPr>
          <a:xfrm>
            <a:off x="1763033" y="4997071"/>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−6,0</a:t>
            </a:r>
            <a:endParaRPr lang="vi-VN" sz="650" dirty="0"/>
          </a:p>
        </p:txBody>
      </p:sp>
      <p:sp>
        <p:nvSpPr>
          <p:cNvPr id="31" name="Text 27"/>
          <p:cNvSpPr txBox="1"/>
          <p:nvPr/>
        </p:nvSpPr>
        <p:spPr>
          <a:xfrm>
            <a:off x="2110800" y="4997071"/>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+6,2</a:t>
            </a:r>
            <a:endParaRPr lang="vi-VN" sz="650" dirty="0"/>
          </a:p>
        </p:txBody>
      </p:sp>
      <p:sp>
        <p:nvSpPr>
          <p:cNvPr id="32" name="Text 28"/>
          <p:cNvSpPr txBox="1"/>
          <p:nvPr/>
        </p:nvSpPr>
        <p:spPr>
          <a:xfrm>
            <a:off x="405408" y="5121954"/>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Lãi suất Rf, Kd ±1 điểm %</a:t>
            </a:r>
            <a:endParaRPr lang="vi-VN" sz="650" dirty="0"/>
          </a:p>
        </p:txBody>
      </p:sp>
      <p:sp>
        <p:nvSpPr>
          <p:cNvPr id="33" name="Text 29"/>
          <p:cNvSpPr txBox="1"/>
          <p:nvPr/>
        </p:nvSpPr>
        <p:spPr>
          <a:xfrm>
            <a:off x="1775031" y="5121954"/>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34" name="Text 30"/>
          <p:cNvSpPr txBox="1"/>
          <p:nvPr/>
        </p:nvSpPr>
        <p:spPr>
          <a:xfrm>
            <a:off x="2102801" y="5121954"/>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a:t>
            </a:r>
            <a:endParaRPr lang="vi-VN" sz="650" dirty="0"/>
          </a:p>
        </p:txBody>
      </p:sp>
      <p:sp>
        <p:nvSpPr>
          <p:cNvPr id="35" name="Text 31"/>
          <p:cNvSpPr txBox="1"/>
          <p:nvPr/>
        </p:nvSpPr>
        <p:spPr>
          <a:xfrm>
            <a:off x="405408" y="5246837"/>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CRP ±1 điểm %</a:t>
            </a:r>
            <a:endParaRPr lang="vi-VN" sz="650" dirty="0"/>
          </a:p>
        </p:txBody>
      </p:sp>
      <p:sp>
        <p:nvSpPr>
          <p:cNvPr id="36" name="Text 32"/>
          <p:cNvSpPr txBox="1"/>
          <p:nvPr/>
        </p:nvSpPr>
        <p:spPr>
          <a:xfrm>
            <a:off x="1776364" y="5246837"/>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−4,0</a:t>
            </a:r>
            <a:endParaRPr lang="vi-VN" sz="650" dirty="0"/>
          </a:p>
        </p:txBody>
      </p:sp>
      <p:sp>
        <p:nvSpPr>
          <p:cNvPr id="37" name="Text 33"/>
          <p:cNvSpPr txBox="1"/>
          <p:nvPr/>
        </p:nvSpPr>
        <p:spPr>
          <a:xfrm>
            <a:off x="2102801" y="5246837"/>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a:t>
            </a:r>
            <a:endParaRPr lang="vi-VN" sz="650" dirty="0"/>
          </a:p>
        </p:txBody>
      </p:sp>
      <p:sp>
        <p:nvSpPr>
          <p:cNvPr id="38" name="Text 34"/>
          <p:cNvSpPr txBox="1"/>
          <p:nvPr/>
        </p:nvSpPr>
        <p:spPr>
          <a:xfrm>
            <a:off x="405408" y="537172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Ưu đãi thuế NQ 198</a:t>
            </a:r>
            <a:endParaRPr lang="vi-VN" sz="650" dirty="0"/>
          </a:p>
        </p:txBody>
      </p:sp>
      <p:sp>
        <p:nvSpPr>
          <p:cNvPr id="39" name="Text 35"/>
          <p:cNvSpPr txBox="1"/>
          <p:nvPr/>
        </p:nvSpPr>
        <p:spPr>
          <a:xfrm>
            <a:off x="2093469" y="5371720"/>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a:t>
            </a:r>
            <a:endParaRPr lang="vi-VN" sz="650" dirty="0"/>
          </a:p>
        </p:txBody>
      </p:sp>
      <p:sp>
        <p:nvSpPr>
          <p:cNvPr id="40" name="Shape 36"/>
          <p:cNvSpPr/>
          <p:nvPr/>
        </p:nvSpPr>
        <p:spPr>
          <a:xfrm>
            <a:off x="405408" y="5575893"/>
            <a:ext cx="59436" cy="59436"/>
          </a:xfrm>
          <a:prstGeom prst="rect">
            <a:avLst/>
          </a:prstGeom>
          <a:solidFill>
            <a:srgbClr val="A3A3A3"/>
          </a:solidFill>
          <a:ln w="3175">
            <a:solidFill>
              <a:srgbClr val="A3A3A3"/>
            </a:solidFill>
            <a:prstDash val="solid"/>
          </a:ln>
        </p:spPr>
      </p:sp>
      <p:sp>
        <p:nvSpPr>
          <p:cNvPr id="41" name="Text 37"/>
          <p:cNvSpPr txBox="1"/>
          <p:nvPr/>
        </p:nvSpPr>
        <p:spPr>
          <a:xfrm>
            <a:off x="487704" y="5553033"/>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Bất lợi</a:t>
            </a:r>
            <a:endParaRPr lang="vi-VN" sz="650" dirty="0"/>
          </a:p>
        </p:txBody>
      </p:sp>
      <p:sp>
        <p:nvSpPr>
          <p:cNvPr id="42" name="Shape 38"/>
          <p:cNvSpPr/>
          <p:nvPr/>
        </p:nvSpPr>
        <p:spPr>
          <a:xfrm>
            <a:off x="912836" y="5575893"/>
            <a:ext cx="59436" cy="59436"/>
          </a:xfrm>
          <a:prstGeom prst="rect">
            <a:avLst/>
          </a:prstGeom>
          <a:solidFill>
            <a:srgbClr val="7B1E2B"/>
          </a:solidFill>
          <a:ln w="3175">
            <a:solidFill>
              <a:srgbClr val="7B1E2B"/>
            </a:solidFill>
            <a:prstDash val="solid"/>
          </a:ln>
        </p:spPr>
      </p:sp>
      <p:sp>
        <p:nvSpPr>
          <p:cNvPr id="43" name="Text 39"/>
          <p:cNvSpPr txBox="1"/>
          <p:nvPr/>
        </p:nvSpPr>
        <p:spPr>
          <a:xfrm>
            <a:off x="995132" y="5553033"/>
            <a:ext cx="44862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Thuận lợi</a:t>
            </a:r>
            <a:endParaRPr lang="vi-VN" sz="650" dirty="0"/>
          </a:p>
        </p:txBody>
      </p:sp>
      <p:sp>
        <p:nvSpPr>
          <p:cNvPr id="44" name="Text 40"/>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vi-VN" sz="600" dirty="0"/>
          </a:p>
        </p:txBody>
      </p:sp>
      <p:sp>
        <p:nvSpPr>
          <p:cNvPr id="45" name="Text 41"/>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vi-VN" sz="720" dirty="0"/>
          </a:p>
        </p:txBody>
      </p:sp>
      <p:sp>
        <p:nvSpPr>
          <p:cNvPr id="46" name="Text 42"/>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1" descr=""/>
          <p:cNvGraphicFramePr/>
          <p:nvPr/>
        </p:nvGraphicFramePr>
        <p:xfrm>
          <a:off x="405408" y="6329809"/>
          <a:ext cx="2159943" cy="726430"/>
        </p:xfrm>
        <a:graphic xmlns:a="http://schemas.openxmlformats.org/drawingml/2006/main">
          <a:graphicData uri="http://schemas.openxmlformats.org/drawingml/2006/chart">
            <c:chart xmlns:c="http://schemas.openxmlformats.org/drawingml/2006/chart" r:id="rId2"/>
          </a:graphicData>
        </a:graphic>
      </p:graphicFrame>
      <p:sp>
        <p:nvSpPr>
          <p:cNvPr id="48" name="Text 43"/>
          <p:cNvSpPr txBox="1"/>
          <p:nvPr/>
        </p:nvSpPr>
        <p:spPr>
          <a:xfrm>
            <a:off x="418598"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49" name="Text 44"/>
          <p:cNvSpPr txBox="1"/>
          <p:nvPr/>
        </p:nvSpPr>
        <p:spPr>
          <a:xfrm>
            <a:off x="684019"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0" name="Text 45"/>
          <p:cNvSpPr txBox="1"/>
          <p:nvPr/>
        </p:nvSpPr>
        <p:spPr>
          <a:xfrm>
            <a:off x="949440" y="63218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24,5</a:t>
            </a:r>
            <a:endParaRPr lang="vi-VN" sz="650" dirty="0"/>
          </a:p>
        </p:txBody>
      </p:sp>
      <p:sp>
        <p:nvSpPr>
          <p:cNvPr id="51" name="Text 46"/>
          <p:cNvSpPr txBox="1"/>
          <p:nvPr/>
        </p:nvSpPr>
        <p:spPr>
          <a:xfrm>
            <a:off x="1214861"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2" name="Text 47"/>
          <p:cNvSpPr txBox="1"/>
          <p:nvPr/>
        </p:nvSpPr>
        <p:spPr>
          <a:xfrm>
            <a:off x="1480282"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3" name="Text 48"/>
          <p:cNvSpPr txBox="1"/>
          <p:nvPr/>
        </p:nvSpPr>
        <p:spPr>
          <a:xfrm>
            <a:off x="1745702"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54" name="Text 49"/>
          <p:cNvSpPr txBox="1"/>
          <p:nvPr/>
        </p:nvSpPr>
        <p:spPr>
          <a:xfrm>
            <a:off x="2011123" y="628092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27,0</a:t>
            </a:r>
            <a:endParaRPr lang="vi-VN" sz="650" dirty="0"/>
          </a:p>
        </p:txBody>
      </p:sp>
      <p:sp>
        <p:nvSpPr>
          <p:cNvPr id="55" name="Text 50"/>
          <p:cNvSpPr txBox="1"/>
          <p:nvPr/>
        </p:nvSpPr>
        <p:spPr>
          <a:xfrm>
            <a:off x="2276544" y="6289102"/>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26,5</a:t>
            </a:r>
            <a:endParaRPr lang="vi-VN" sz="650" dirty="0"/>
          </a:p>
        </p:txBody>
      </p:sp>
      <p:sp>
        <p:nvSpPr>
          <p:cNvPr id="56" name="Text 51"/>
          <p:cNvSpPr txBox="1"/>
          <p:nvPr/>
        </p:nvSpPr>
        <p:spPr>
          <a:xfrm>
            <a:off x="405408" y="707409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vi-VN" sz="600" dirty="0"/>
          </a:p>
        </p:txBody>
      </p:sp>
      <p:sp>
        <p:nvSpPr>
          <p:cNvPr id="57" name="Text 52"/>
          <p:cNvSpPr txBox="1"/>
          <p:nvPr/>
        </p:nvSpPr>
        <p:spPr>
          <a:xfrm>
            <a:off x="2745284" y="421287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11,5% thị trường mục tiêu vào năm 2030, và bị giới hạn bởi công suất: sản lượng chỉ tăng mạnh trở lại khi nhà máy mới vận hành từ năm 2029. Đây cũng là giả định ảnh hưởng mạnh nhất đến giá trị doanh nghiệp (Fig. 38).</a:t>
            </a:r>
            <a:endParaRPr lang="vi-VN" sz="850" dirty="0"/>
          </a:p>
        </p:txBody>
      </p:sp>
      <p:sp>
        <p:nvSpPr>
          <p:cNvPr id="58" name="Text 53"/>
          <p:cNvSpPr txBox="1"/>
          <p:nvPr/>
        </p:nvSpPr>
        <p:spPr>
          <a:xfrm>
            <a:off x="2745284" y="5303044"/>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vi-VN" sz="850" dirty="0"/>
          </a:p>
        </p:txBody>
      </p:sp>
      <p:sp>
        <p:nvSpPr>
          <p:cNvPr id="59" name="Text 54"/>
          <p:cNvSpPr txBox="1"/>
          <p:nvPr/>
        </p:nvSpPr>
        <p:spPr>
          <a:xfrm>
            <a:off x="2745284" y="626164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vi-VN" sz="850" dirty="0"/>
          </a:p>
        </p:txBody>
      </p:sp>
      <p:sp>
        <p:nvSpPr>
          <p:cNvPr id="60" name="Text 55"/>
          <p:cNvSpPr txBox="1"/>
          <p:nvPr/>
        </p:nvSpPr>
        <p:spPr>
          <a:xfrm>
            <a:off x="2745284" y="695712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vi-VN" sz="850" dirty="0"/>
          </a:p>
        </p:txBody>
      </p:sp>
      <p:sp>
        <p:nvSpPr>
          <p:cNvPr id="61" name="Text 56"/>
          <p:cNvSpPr txBox="1"/>
          <p:nvPr/>
        </p:nvSpPr>
        <p:spPr>
          <a:xfrm>
            <a:off x="2745284" y="7784157"/>
            <a:ext cx="4464046" cy="1447205"/>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142,9 tỷ đồng, lợi nhuận sau thuế còn 5,9 tỷ đồng và pre-money giảm 25,3 tỷ đồng, xuống −2,9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8,5–10,5 tỷ đồng; còn giá bán thay đổi 1 điểm % mỗi năm, lãi suất hay phần bù rủi ro quốc gia thay đổi 1 điểm % chỉ tác động khoảng 4,0–6,2 tỷ đồng. Ưu đãi thuế, nếu được hưởng, cộng thêm khoảng 3,6 tỷ đồng. Vì thế, chỉ báo cần theo dõi sát nhất là sản lượng hộp, khay F&amp;B và mức độ lấp đầy công suất của nhà máy mới (biên độ, lý do và kết quả chi tiết ở Fig. A15).</a:t>
            </a:r>
            <a:endParaRPr lang="vi-VN" sz="850" dirty="0"/>
          </a:p>
        </p:txBody>
      </p:sp>
      <p:sp>
        <p:nvSpPr>
          <p:cNvPr id="62" name="Text 5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3" name="Text 5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11</a:t>
            </a:r>
            <a:endParaRPr lang="vi-VN"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76152"/>
            <a:ext cx="2159943" cy="0"/>
          </a:xfrm>
          <a:prstGeom prst="line">
            <a:avLst/>
          </a:prstGeom>
          <a:noFill/>
          <a:ln w="9525">
            <a:solidFill>
              <a:srgbClr val="7B1E2B"/>
            </a:solidFill>
            <a:prstDash val="solid"/>
          </a:ln>
        </p:spPr>
      </p:sp>
      <p:sp>
        <p:nvSpPr>
          <p:cNvPr id="5" name="Shape 3"/>
          <p:cNvSpPr/>
          <p:nvPr/>
        </p:nvSpPr>
        <p:spPr>
          <a:xfrm>
            <a:off x="405408" y="4260949"/>
            <a:ext cx="6749058" cy="0"/>
          </a:xfrm>
          <a:prstGeom prst="line">
            <a:avLst/>
          </a:prstGeom>
          <a:noFill/>
          <a:ln w="9525">
            <a:solidFill>
              <a:srgbClr val="7B1E2B"/>
            </a:solidFill>
            <a:prstDash val="solid"/>
          </a:ln>
        </p:spPr>
      </p:sp>
      <p:sp>
        <p:nvSpPr>
          <p:cNvPr id="6" name="Shape 4"/>
          <p:cNvSpPr/>
          <p:nvPr/>
        </p:nvSpPr>
        <p:spPr>
          <a:xfrm>
            <a:off x="405408" y="6791474"/>
            <a:ext cx="2159943" cy="0"/>
          </a:xfrm>
          <a:prstGeom prst="line">
            <a:avLst/>
          </a:prstGeom>
          <a:noFill/>
          <a:ln w="9525">
            <a:solidFill>
              <a:srgbClr val="7B1E2B"/>
            </a:solidFill>
            <a:prstDash val="solid"/>
          </a:ln>
        </p:spPr>
      </p:sp>
      <p:sp>
        <p:nvSpPr>
          <p:cNvPr id="7" name="Shape 5"/>
          <p:cNvSpPr/>
          <p:nvPr/>
        </p:nvSpPr>
        <p:spPr>
          <a:xfrm>
            <a:off x="405408" y="840090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2030E đạt 179 tỷ đồng; F&amp;B/FMCG vẫn chiếm gần 80%</a:t>
            </a:r>
            <a:endParaRPr lang="vi-VN"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3" name="Chart 0" descr=""/>
          <p:cNvGraphicFramePr/>
          <p:nvPr/>
        </p:nvGraphicFramePr>
        <p:xfrm>
          <a:off x="405408" y="941784"/>
          <a:ext cx="2159943" cy="9423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23696" y="1219518"/>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48</a:t>
            </a:r>
            <a:endParaRPr lang="vi-VN" sz="550" dirty="0"/>
          </a:p>
        </p:txBody>
      </p:sp>
      <p:sp>
        <p:nvSpPr>
          <p:cNvPr id="15" name="Text 12"/>
          <p:cNvSpPr txBox="1"/>
          <p:nvPr/>
        </p:nvSpPr>
        <p:spPr>
          <a:xfrm>
            <a:off x="777590" y="119128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64</a:t>
            </a:r>
            <a:endParaRPr lang="vi-VN" sz="550" dirty="0"/>
          </a:p>
        </p:txBody>
      </p:sp>
      <p:sp>
        <p:nvSpPr>
          <p:cNvPr id="16" name="Text 13"/>
          <p:cNvSpPr txBox="1"/>
          <p:nvPr/>
        </p:nvSpPr>
        <p:spPr>
          <a:xfrm>
            <a:off x="1131485" y="115971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82</a:t>
            </a:r>
            <a:endParaRPr lang="vi-VN" sz="550" dirty="0"/>
          </a:p>
        </p:txBody>
      </p:sp>
      <p:sp>
        <p:nvSpPr>
          <p:cNvPr id="17" name="Text 14"/>
          <p:cNvSpPr txBox="1"/>
          <p:nvPr/>
        </p:nvSpPr>
        <p:spPr>
          <a:xfrm>
            <a:off x="1485379" y="1126222"/>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101</a:t>
            </a:r>
            <a:endParaRPr lang="vi-VN" sz="550" dirty="0"/>
          </a:p>
        </p:txBody>
      </p:sp>
      <p:sp>
        <p:nvSpPr>
          <p:cNvPr id="18" name="Text 15"/>
          <p:cNvSpPr txBox="1"/>
          <p:nvPr/>
        </p:nvSpPr>
        <p:spPr>
          <a:xfrm>
            <a:off x="1839274" y="105747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140</a:t>
            </a:r>
            <a:endParaRPr lang="vi-VN" sz="550" dirty="0"/>
          </a:p>
        </p:txBody>
      </p:sp>
      <p:sp>
        <p:nvSpPr>
          <p:cNvPr id="19" name="Text 16"/>
          <p:cNvSpPr txBox="1"/>
          <p:nvPr/>
        </p:nvSpPr>
        <p:spPr>
          <a:xfrm>
            <a:off x="2193168" y="98750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180</a:t>
            </a:r>
            <a:endParaRPr lang="vi-VN" sz="550" dirty="0"/>
          </a:p>
        </p:txBody>
      </p:sp>
      <p:sp>
        <p:nvSpPr>
          <p:cNvPr id="20" name="Shape 17"/>
          <p:cNvSpPr/>
          <p:nvPr/>
        </p:nvSpPr>
        <p:spPr>
          <a:xfrm>
            <a:off x="405408" y="1687568"/>
            <a:ext cx="59436" cy="59436"/>
          </a:xfrm>
          <a:prstGeom prst="rect">
            <a:avLst/>
          </a:prstGeom>
          <a:solidFill>
            <a:srgbClr val="7B1E2B"/>
          </a:solidFill>
          <a:ln w="3175">
            <a:solidFill>
              <a:srgbClr val="7B1E2B"/>
            </a:solidFill>
            <a:prstDash val="solid"/>
          </a:ln>
        </p:spPr>
      </p:sp>
      <p:sp>
        <p:nvSpPr>
          <p:cNvPr id="21" name="Text 18"/>
          <p:cNvSpPr txBox="1"/>
          <p:nvPr/>
        </p:nvSpPr>
        <p:spPr>
          <a:xfrm>
            <a:off x="487704" y="1664708"/>
            <a:ext cx="71113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Bao bì F&amp;B/FMCG</a:t>
            </a:r>
            <a:endParaRPr lang="vi-VN" sz="650" dirty="0"/>
          </a:p>
        </p:txBody>
      </p:sp>
      <p:sp>
        <p:nvSpPr>
          <p:cNvPr id="22" name="Shape 19"/>
          <p:cNvSpPr/>
          <p:nvPr/>
        </p:nvSpPr>
        <p:spPr>
          <a:xfrm>
            <a:off x="1262848" y="1687568"/>
            <a:ext cx="59436" cy="59436"/>
          </a:xfrm>
          <a:prstGeom prst="rect">
            <a:avLst/>
          </a:prstGeom>
          <a:solidFill>
            <a:srgbClr val="404040"/>
          </a:solidFill>
          <a:ln w="3175">
            <a:solidFill>
              <a:srgbClr val="404040"/>
            </a:solidFill>
            <a:prstDash val="solid"/>
          </a:ln>
        </p:spPr>
      </p:sp>
      <p:sp>
        <p:nvSpPr>
          <p:cNvPr id="23" name="Text 20"/>
          <p:cNvSpPr txBox="1"/>
          <p:nvPr/>
        </p:nvSpPr>
        <p:spPr>
          <a:xfrm>
            <a:off x="1345144" y="1664708"/>
            <a:ext cx="75488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&amp; khuôn</a:t>
            </a:r>
            <a:endParaRPr lang="vi-VN" sz="650" dirty="0"/>
          </a:p>
        </p:txBody>
      </p:sp>
      <p:sp>
        <p:nvSpPr>
          <p:cNvPr id="24" name="Shape 21"/>
          <p:cNvSpPr/>
          <p:nvPr/>
        </p:nvSpPr>
        <p:spPr>
          <a:xfrm>
            <a:off x="405408" y="1797296"/>
            <a:ext cx="59436" cy="59436"/>
          </a:xfrm>
          <a:prstGeom prst="rect">
            <a:avLst/>
          </a:prstGeom>
          <a:solidFill>
            <a:srgbClr val="A3A3A3"/>
          </a:solidFill>
          <a:ln w="3175">
            <a:solidFill>
              <a:srgbClr val="A3A3A3"/>
            </a:solidFill>
            <a:prstDash val="solid"/>
          </a:ln>
        </p:spPr>
      </p:sp>
      <p:sp>
        <p:nvSpPr>
          <p:cNvPr id="25" name="Text 22"/>
          <p:cNvSpPr txBox="1"/>
          <p:nvPr/>
        </p:nvSpPr>
        <p:spPr>
          <a:xfrm>
            <a:off x="487704" y="1774436"/>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nội thất/TMĐT</a:t>
            </a:r>
            <a:endParaRPr lang="vi-VN" sz="650" dirty="0"/>
          </a:p>
        </p:txBody>
      </p:sp>
      <p:sp>
        <p:nvSpPr>
          <p:cNvPr id="26" name="Shape 23"/>
          <p:cNvSpPr/>
          <p:nvPr/>
        </p:nvSpPr>
        <p:spPr>
          <a:xfrm>
            <a:off x="1350351" y="1797296"/>
            <a:ext cx="59436" cy="59436"/>
          </a:xfrm>
          <a:prstGeom prst="rect">
            <a:avLst/>
          </a:prstGeom>
          <a:solidFill>
            <a:srgbClr val="D0D0D0"/>
          </a:solidFill>
          <a:ln w="3175">
            <a:solidFill>
              <a:srgbClr val="D0D0D0"/>
            </a:solidFill>
            <a:prstDash val="solid"/>
          </a:ln>
        </p:spPr>
      </p:sp>
      <p:sp>
        <p:nvSpPr>
          <p:cNvPr id="27" name="Text 24"/>
          <p:cNvSpPr txBox="1"/>
          <p:nvPr/>
        </p:nvSpPr>
        <p:spPr>
          <a:xfrm>
            <a:off x="1432647" y="1774436"/>
            <a:ext cx="536131"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điện tử</a:t>
            </a:r>
            <a:endParaRPr lang="vi-VN" sz="650" dirty="0"/>
          </a:p>
        </p:txBody>
      </p:sp>
      <p:sp>
        <p:nvSpPr>
          <p:cNvPr id="28" name="Text 25"/>
          <p:cNvSpPr txBox="1"/>
          <p:nvPr/>
        </p:nvSpPr>
        <p:spPr>
          <a:xfrm>
            <a:off x="405408" y="190202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Dự phóng của nhóm (Drivers)</a:t>
            </a:r>
            <a:endParaRPr lang="vi-VN" sz="600" dirty="0"/>
          </a:p>
        </p:txBody>
      </p:sp>
      <p:sp>
        <p:nvSpPr>
          <p:cNvPr id="29" name="Text 26"/>
          <p:cNvSpPr txBox="1"/>
          <p:nvPr/>
        </p:nvSpPr>
        <p:spPr>
          <a:xfrm>
            <a:off x="405408" y="210727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vi-VN"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358628"/>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SL hộp/khay F&amp;B (tr. cái)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SL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số bộ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NT/TMĐT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điện tử</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F&amp;B,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đệm bảo vệ</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CAPEX/DT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7"/>
          <p:cNvSpPr txBox="1"/>
          <p:nvPr/>
        </p:nvSpPr>
        <p:spPr>
          <a:xfrm>
            <a:off x="405408" y="40436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Drivers (kịch bản Base)</a:t>
            </a:r>
            <a:endParaRPr lang="vi-VN" sz="600" dirty="0"/>
          </a:p>
        </p:txBody>
      </p:sp>
      <p:sp>
        <p:nvSpPr>
          <p:cNvPr id="32" name="Text 28"/>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vi-VN" sz="900" dirty="0"/>
          </a:p>
        </p:txBody>
      </p:sp>
      <p:sp>
        <p:nvSpPr>
          <p:cNvPr id="33" name="Text 29"/>
          <p:cNvSpPr txBox="1"/>
          <p:nvPr/>
        </p:nvSpPr>
        <p:spPr>
          <a:xfrm>
            <a:off x="2745284" y="74175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25% năm 2027 khi khai thác tối đa nhà máy hiện hữu, chậm lại còn 20% năm 2028 khi nhà máy mới đang xây, tăng mạnh 35% năm 2029 khi hai dây chuyền mới đi vào vận hành, rồi 25% năm 2030, tương đương khoảng 50,9 triệu sản phẩm. Mảng thiết kế khuôn tăng theo số mẫu sản phẩm mới của khách hàng, còn hai mảng đệm bảo vệ cho nội thất, thương mại điện tử và điện tử tăng 28–70% mỗi năm nhưng từ một nền rất nhỏ.</a:t>
            </a:r>
            <a:endParaRPr lang="vi-VN" sz="850" dirty="0"/>
          </a:p>
        </p:txBody>
      </p:sp>
      <p:sp>
        <p:nvSpPr>
          <p:cNvPr id="34" name="Text 30"/>
          <p:cNvSpPr txBox="1"/>
          <p:nvPr/>
        </p:nvSpPr>
        <p:spPr>
          <a:xfrm>
            <a:off x="2745284" y="196348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Kết quả là doanh thu thuần đạt 178,9 tỷ đồng năm 2030, tăng bình quân 30,3%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vi-VN" sz="850" dirty="0"/>
          </a:p>
        </p:txBody>
      </p:sp>
      <p:sp>
        <p:nvSpPr>
          <p:cNvPr id="35" name="Text 31"/>
          <p:cNvSpPr txBox="1"/>
          <p:nvPr/>
        </p:nvSpPr>
        <p:spPr>
          <a:xfrm>
            <a:off x="2745284" y="26589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4.3. Chi phí và biên lợi nhuận</a:t>
            </a:r>
            <a:endParaRPr lang="vi-VN" sz="900" dirty="0"/>
          </a:p>
        </p:txBody>
      </p:sp>
      <p:sp>
        <p:nvSpPr>
          <p:cNvPr id="36" name="Text 32"/>
          <p:cNvSpPr txBox="1"/>
          <p:nvPr/>
        </p:nvSpPr>
        <p:spPr>
          <a:xfrm>
            <a:off x="2745284" y="2828330"/>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vi-VN" sz="850" dirty="0"/>
          </a:p>
        </p:txBody>
      </p:sp>
      <p:sp>
        <p:nvSpPr>
          <p:cNvPr id="37" name="Text 33"/>
          <p:cNvSpPr txBox="1"/>
          <p:nvPr/>
        </p:nvSpPr>
        <p:spPr>
          <a:xfrm>
            <a:off x="405408" y="429207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vi-VN" sz="720" dirty="0"/>
          </a:p>
        </p:txBody>
      </p:sp>
      <p:sp>
        <p:nvSpPr>
          <p:cNvPr id="38" name="Text 34"/>
          <p:cNvSpPr txBox="1"/>
          <p:nvPr/>
        </p:nvSpPr>
        <p:spPr>
          <a:xfrm>
            <a:off x="405408" y="441960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535091"/>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Giá vốn hàng bán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(76,4)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Lợi nhuận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50,9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CPBH &amp; QLDN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EBIT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Chi phí lãi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Lợi nhuận trước thuế</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Thuế TNDN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Ghi nhớ: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5"/>
          <p:cNvSpPr txBox="1"/>
          <p:nvPr/>
        </p:nvSpPr>
        <p:spPr>
          <a:xfrm>
            <a:off x="405408" y="662820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vi-VN" sz="600" dirty="0"/>
          </a:p>
        </p:txBody>
      </p:sp>
      <p:sp>
        <p:nvSpPr>
          <p:cNvPr id="41" name="Text 36"/>
          <p:cNvSpPr txBox="1"/>
          <p:nvPr/>
        </p:nvSpPr>
        <p:spPr>
          <a:xfrm>
            <a:off x="405408" y="6822599"/>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giảm năm 2029 khi khấu hao nhà máy mới vào giá vốn</a:t>
            </a:r>
            <a:endParaRPr lang="vi-VN" sz="720" dirty="0"/>
          </a:p>
        </p:txBody>
      </p:sp>
      <p:sp>
        <p:nvSpPr>
          <p:cNvPr id="42" name="Text 37"/>
          <p:cNvSpPr txBox="1"/>
          <p:nvPr/>
        </p:nvSpPr>
        <p:spPr>
          <a:xfrm>
            <a:off x="405408" y="705966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3" name="Chart 1" descr=""/>
          <p:cNvGraphicFramePr/>
          <p:nvPr/>
        </p:nvGraphicFramePr>
        <p:xfrm>
          <a:off x="405408" y="7175153"/>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44" name="Text 38"/>
          <p:cNvSpPr txBox="1"/>
          <p:nvPr/>
        </p:nvSpPr>
        <p:spPr>
          <a:xfrm>
            <a:off x="2247977" y="7357217"/>
            <a:ext cx="353949"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Gộp</a:t>
            </a:r>
            <a:endParaRPr lang="vi-VN" sz="650" dirty="0"/>
          </a:p>
        </p:txBody>
      </p:sp>
      <p:sp>
        <p:nvSpPr>
          <p:cNvPr id="45" name="Text 39"/>
          <p:cNvSpPr txBox="1"/>
          <p:nvPr/>
        </p:nvSpPr>
        <p:spPr>
          <a:xfrm>
            <a:off x="2247977" y="7497962"/>
            <a:ext cx="353949" cy="109728"/>
          </a:xfrm>
          <a:prstGeom prst="rect">
            <a:avLst/>
          </a:prstGeom>
          <a:noFill/>
          <a:ln/>
        </p:spPr>
        <p:txBody>
          <a:bodyPr wrap="none" lIns="0" tIns="0" rIns="0" bIns="0" rtlCol="0" anchor="ctr"/>
          <a:lstStyle/>
          <a:p>
            <a:pPr algn="l" indent="0" marL="0">
              <a:buNone/>
            </a:pPr>
            <a:r>
              <a:rPr lang="vi-VN" altLang="en-US" sz="650" b="1" dirty="0">
                <a:solidFill>
                  <a:srgbClr val="404040"/>
                </a:solidFill>
                <a:latin typeface="Calibri" pitchFamily="34" charset="0"/>
                <a:ea typeface="Calibri" pitchFamily="34" charset="-122"/>
                <a:cs typeface="Calibri" pitchFamily="34" charset="-120"/>
              </a:rPr>
              <a:t>EBITDA</a:t>
            </a:r>
            <a:endParaRPr lang="vi-VN" sz="650" dirty="0"/>
          </a:p>
        </p:txBody>
      </p:sp>
      <p:sp>
        <p:nvSpPr>
          <p:cNvPr id="46" name="Text 40"/>
          <p:cNvSpPr txBox="1"/>
          <p:nvPr/>
        </p:nvSpPr>
        <p:spPr>
          <a:xfrm>
            <a:off x="2247977" y="7607690"/>
            <a:ext cx="353949"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EBIT</a:t>
            </a:r>
            <a:endParaRPr lang="vi-VN" sz="650" dirty="0"/>
          </a:p>
        </p:txBody>
      </p:sp>
      <p:sp>
        <p:nvSpPr>
          <p:cNvPr id="47" name="Text 41"/>
          <p:cNvSpPr txBox="1"/>
          <p:nvPr/>
        </p:nvSpPr>
        <p:spPr>
          <a:xfrm>
            <a:off x="2247977" y="7717418"/>
            <a:ext cx="353949" cy="109728"/>
          </a:xfrm>
          <a:prstGeom prst="rect">
            <a:avLst/>
          </a:prstGeom>
          <a:noFill/>
          <a:ln/>
        </p:spPr>
        <p:txBody>
          <a:bodyPr wrap="none" lIns="0" tIns="0" rIns="0" bIns="0" rtlCol="0" anchor="ctr"/>
          <a:lstStyle/>
          <a:p>
            <a:pPr algn="l" indent="0" marL="0">
              <a:buNone/>
            </a:pPr>
            <a:r>
              <a:rPr lang="vi-VN" altLang="en-US" sz="650" b="1" dirty="0">
                <a:solidFill>
                  <a:srgbClr val="C08890"/>
                </a:solidFill>
                <a:latin typeface="Calibri" pitchFamily="34" charset="0"/>
                <a:ea typeface="Calibri" pitchFamily="34" charset="-122"/>
                <a:cs typeface="Calibri" pitchFamily="34" charset="-120"/>
              </a:rPr>
              <a:t>LNST</a:t>
            </a:r>
            <a:endParaRPr lang="vi-VN" sz="650" dirty="0"/>
          </a:p>
        </p:txBody>
      </p:sp>
      <p:sp>
        <p:nvSpPr>
          <p:cNvPr id="48" name="Text 42"/>
          <p:cNvSpPr txBox="1"/>
          <p:nvPr/>
        </p:nvSpPr>
        <p:spPr>
          <a:xfrm>
            <a:off x="405408" y="813539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vi-VN" sz="600" dirty="0"/>
          </a:p>
        </p:txBody>
      </p:sp>
      <p:sp>
        <p:nvSpPr>
          <p:cNvPr id="49" name="Text 43"/>
          <p:cNvSpPr txBox="1"/>
          <p:nvPr/>
        </p:nvSpPr>
        <p:spPr>
          <a:xfrm>
            <a:off x="405408" y="843202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vi-VN" sz="720" dirty="0"/>
          </a:p>
        </p:txBody>
      </p:sp>
      <p:sp>
        <p:nvSpPr>
          <p:cNvPr id="50" name="Text 44"/>
          <p:cNvSpPr txBox="1"/>
          <p:nvPr/>
        </p:nvSpPr>
        <p:spPr>
          <a:xfrm>
            <a:off x="405408" y="866908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CAPEX / doanh thu thuần</a:t>
            </a:r>
            <a:endParaRPr lang="vi-VN" sz="630" dirty="0"/>
          </a:p>
        </p:txBody>
      </p:sp>
      <p:graphicFrame>
        <p:nvGraphicFramePr>
          <p:cNvPr id="51" name="Chart 2" descr=""/>
          <p:cNvGraphicFramePr/>
          <p:nvPr/>
        </p:nvGraphicFramePr>
        <p:xfrm>
          <a:off x="405408" y="8784580"/>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52" name="Shape 45"/>
          <p:cNvSpPr/>
          <p:nvPr/>
        </p:nvSpPr>
        <p:spPr>
          <a:xfrm>
            <a:off x="423696" y="9326093"/>
            <a:ext cx="1638735" cy="0"/>
          </a:xfrm>
          <a:prstGeom prst="line">
            <a:avLst/>
          </a:prstGeom>
          <a:noFill/>
          <a:ln w="9525">
            <a:solidFill>
              <a:srgbClr val="7B1E2B"/>
            </a:solidFill>
            <a:prstDash val="dash"/>
          </a:ln>
        </p:spPr>
      </p:sp>
      <p:sp>
        <p:nvSpPr>
          <p:cNvPr id="53" name="Text 46"/>
          <p:cNvSpPr txBox="1"/>
          <p:nvPr/>
        </p:nvSpPr>
        <p:spPr>
          <a:xfrm>
            <a:off x="2089862" y="9193972"/>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P75 ngành 8,3%</a:t>
            </a:r>
            <a:endParaRPr lang="vi-VN" sz="550" dirty="0"/>
          </a:p>
        </p:txBody>
      </p:sp>
      <p:sp>
        <p:nvSpPr>
          <p:cNvPr id="54" name="Shape 47"/>
          <p:cNvSpPr/>
          <p:nvPr/>
        </p:nvSpPr>
        <p:spPr>
          <a:xfrm>
            <a:off x="423696" y="9358564"/>
            <a:ext cx="1638735" cy="0"/>
          </a:xfrm>
          <a:prstGeom prst="line">
            <a:avLst/>
          </a:prstGeom>
          <a:noFill/>
          <a:ln w="9525">
            <a:solidFill>
              <a:srgbClr val="7B1E2B"/>
            </a:solidFill>
            <a:prstDash val="dash"/>
          </a:ln>
        </p:spPr>
      </p:sp>
      <p:sp>
        <p:nvSpPr>
          <p:cNvPr id="55" name="Text 48"/>
          <p:cNvSpPr txBox="1"/>
          <p:nvPr/>
        </p:nvSpPr>
        <p:spPr>
          <a:xfrm>
            <a:off x="2089862" y="9303700"/>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Trung vị 3,1%</a:t>
            </a:r>
            <a:endParaRPr lang="vi-VN" sz="550" dirty="0"/>
          </a:p>
        </p:txBody>
      </p:sp>
      <p:sp>
        <p:nvSpPr>
          <p:cNvPr id="56" name="Text 49"/>
          <p:cNvSpPr txBox="1"/>
          <p:nvPr/>
        </p:nvSpPr>
        <p:spPr>
          <a:xfrm>
            <a:off x="407240" y="907508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a:t>
            </a:r>
            <a:endParaRPr lang="vi-VN" sz="650" dirty="0"/>
          </a:p>
        </p:txBody>
      </p:sp>
      <p:sp>
        <p:nvSpPr>
          <p:cNvPr id="57" name="Text 50"/>
          <p:cNvSpPr txBox="1"/>
          <p:nvPr/>
        </p:nvSpPr>
        <p:spPr>
          <a:xfrm>
            <a:off x="612081" y="910880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58" name="Text 51"/>
          <p:cNvSpPr txBox="1"/>
          <p:nvPr/>
        </p:nvSpPr>
        <p:spPr>
          <a:xfrm>
            <a:off x="816923" y="9169374"/>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11</a:t>
            </a:r>
            <a:endParaRPr lang="vi-VN" sz="650" dirty="0"/>
          </a:p>
        </p:txBody>
      </p:sp>
      <p:sp>
        <p:nvSpPr>
          <p:cNvPr id="59" name="Text 52"/>
          <p:cNvSpPr txBox="1"/>
          <p:nvPr/>
        </p:nvSpPr>
        <p:spPr>
          <a:xfrm>
            <a:off x="1021765" y="9111301"/>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60" name="Text 53"/>
          <p:cNvSpPr txBox="1"/>
          <p:nvPr/>
        </p:nvSpPr>
        <p:spPr>
          <a:xfrm>
            <a:off x="1226607" y="914252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a:t>
            </a:r>
            <a:endParaRPr lang="vi-VN" sz="650" dirty="0"/>
          </a:p>
        </p:txBody>
      </p:sp>
      <p:sp>
        <p:nvSpPr>
          <p:cNvPr id="61" name="Text 54"/>
          <p:cNvSpPr txBox="1"/>
          <p:nvPr/>
        </p:nvSpPr>
        <p:spPr>
          <a:xfrm>
            <a:off x="1431449" y="8830300"/>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65</a:t>
            </a:r>
            <a:endParaRPr lang="vi-VN" sz="650" dirty="0"/>
          </a:p>
        </p:txBody>
      </p:sp>
      <p:sp>
        <p:nvSpPr>
          <p:cNvPr id="62" name="Text 55"/>
          <p:cNvSpPr txBox="1"/>
          <p:nvPr/>
        </p:nvSpPr>
        <p:spPr>
          <a:xfrm>
            <a:off x="1636291" y="9161257"/>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63" name="Text 56"/>
          <p:cNvSpPr txBox="1"/>
          <p:nvPr/>
        </p:nvSpPr>
        <p:spPr>
          <a:xfrm>
            <a:off x="1841132" y="9173745"/>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a:t>
            </a:r>
            <a:endParaRPr lang="vi-VN" sz="650" dirty="0"/>
          </a:p>
        </p:txBody>
      </p:sp>
      <p:sp>
        <p:nvSpPr>
          <p:cNvPr id="64" name="Text 57"/>
          <p:cNvSpPr txBox="1"/>
          <p:nvPr/>
        </p:nvSpPr>
        <p:spPr>
          <a:xfrm>
            <a:off x="405408" y="95878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vi-VN" sz="600" dirty="0"/>
          </a:p>
        </p:txBody>
      </p:sp>
      <p:sp>
        <p:nvSpPr>
          <p:cNvPr id="65" name="Text 58"/>
          <p:cNvSpPr txBox="1"/>
          <p:nvPr/>
        </p:nvSpPr>
        <p:spPr>
          <a:xfrm>
            <a:off x="2745284" y="6791474"/>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giữ quanh 51,5%–51,8% trong 2026–2027, giảm nhẹ còn 50,7% năm 2028 và xuống 45,1% năm 2029 (Fig. 43). Năm 2029 là năm đầu tiên nhà máy mới chạy: khấu hao tăng từ 6,7 lên 14,6 tỷ đồng trong khi công suất chưa được lấp đầy, và chi phí biến đổi lên 27% doanh thu do hao hụt trong giai đoạn chạy thử. Khi sản lượng tăng dần, biên gộp hồi lên 47,4% năm 2030. Biên EBITDA tăng từ 16,2% lên 20,7%, chỉ chững lại năm 2029 (17,7%) khi tiền thuê tăng 30% và chi phí cố định của nhà máy mới phát sinh. Lợi nhuận sau thuế vì thế giảm còn 4,8 tỷ đồng năm 2029, năm lãi vay lên cao nhất (4,1 tỷ đồng) và khấu hao tăng gấp đôi, rồi tăng lên 13,4 tỷ đồng năm 2030.</a:t>
            </a:r>
            <a:endParaRPr lang="vi-VN" sz="850" dirty="0"/>
          </a:p>
        </p:txBody>
      </p:sp>
      <p:sp>
        <p:nvSpPr>
          <p:cNvPr id="66" name="Text 59"/>
          <p:cNvSpPr txBox="1"/>
          <p:nvPr/>
        </p:nvSpPr>
        <p:spPr>
          <a:xfrm>
            <a:off x="2745284" y="775007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4.4. CAPEX và tỷ lệ tái đầu tư</a:t>
            </a:r>
            <a:endParaRPr lang="vi-VN" sz="900" dirty="0"/>
          </a:p>
        </p:txBody>
      </p:sp>
      <p:sp>
        <p:nvSpPr>
          <p:cNvPr id="67" name="Text 60"/>
          <p:cNvSpPr txBox="1"/>
          <p:nvPr/>
        </p:nvSpPr>
        <p:spPr>
          <a:xfrm>
            <a:off x="2745284" y="79194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15% năm 2027 để mở rộng nhà máy hiện hữu; 65% năm 2028 theo yêu cầu của đề bài, dành cho hai dây chuyền ép khuôn – sấy, kho bã mía và phòng kiểm nghiệm; 12% năm 2029 cho phần hoàn thiện và chạy thử; và 10% năm 2030.</a:t>
            </a:r>
            <a:endParaRPr lang="vi-VN" sz="850" dirty="0"/>
          </a:p>
        </p:txBody>
      </p:sp>
      <p:sp>
        <p:nvSpPr>
          <p:cNvPr id="68" name="Text 61"/>
          <p:cNvSpPr txBox="1"/>
          <p:nvPr/>
        </p:nvSpPr>
        <p:spPr>
          <a:xfrm>
            <a:off x="2745284" y="86149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28–39% mỗi năm trong 2029–2030 và có cường độ tài sản lớn hơn: khấu hao chiếm 9,3%–10,5% doanh thu trong 2029–2030,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40,6%, bằng tốc độ tăng trưởng dài hạn chia cho ROIC năm 2030 (12,3%).</a:t>
            </a:r>
            <a:endParaRPr lang="vi-VN" sz="850" dirty="0"/>
          </a:p>
        </p:txBody>
      </p:sp>
      <p:sp>
        <p:nvSpPr>
          <p:cNvPr id="69"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12</a:t>
            </a:r>
            <a:endParaRPr lang="vi-VN"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518970"/>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31889"/>
            <a:ext cx="2159943" cy="0"/>
          </a:xfrm>
          <a:prstGeom prst="line">
            <a:avLst/>
          </a:prstGeom>
          <a:noFill/>
          <a:ln w="9525">
            <a:solidFill>
              <a:srgbClr val="7B1E2B"/>
            </a:solidFill>
            <a:prstDash val="solid"/>
          </a:ln>
        </p:spPr>
      </p:sp>
      <p:sp>
        <p:nvSpPr>
          <p:cNvPr id="6" name="Shape 4"/>
          <p:cNvSpPr/>
          <p:nvPr/>
        </p:nvSpPr>
        <p:spPr>
          <a:xfrm>
            <a:off x="2745284" y="3077021"/>
            <a:ext cx="4409182" cy="0"/>
          </a:xfrm>
          <a:prstGeom prst="line">
            <a:avLst/>
          </a:prstGeom>
          <a:noFill/>
          <a:ln w="9525">
            <a:solidFill>
              <a:srgbClr val="7B1E2B"/>
            </a:solidFill>
            <a:prstDash val="solid"/>
          </a:ln>
        </p:spPr>
      </p:sp>
      <p:sp>
        <p:nvSpPr>
          <p:cNvPr id="7" name="Shape 5"/>
          <p:cNvSpPr/>
          <p:nvPr/>
        </p:nvSpPr>
        <p:spPr>
          <a:xfrm>
            <a:off x="405408" y="679177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 bằng 65% doanh thu năm 2028 khiến FCFF âm bốn năm liên tiếp</a:t>
            </a:r>
            <a:endParaRPr lang="vi-VN"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CAPEX và khấu hao (tỷ đồng)</a:t>
            </a:r>
            <a:endParaRPr lang="vi-VN" sz="640" dirty="0"/>
          </a:p>
        </p:txBody>
      </p:sp>
      <p:graphicFrame>
        <p:nvGraphicFramePr>
          <p:cNvPr id="13" name="Chart 0" descr=""/>
          <p:cNvGraphicFramePr/>
          <p:nvPr/>
        </p:nvGraphicFramePr>
        <p:xfrm>
          <a:off x="405408" y="94684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91912" y="1240306"/>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5,1</a:t>
            </a:r>
            <a:endParaRPr lang="vi-VN" sz="550" dirty="0"/>
          </a:p>
        </p:txBody>
      </p:sp>
      <p:sp>
        <p:nvSpPr>
          <p:cNvPr id="15" name="Text 12"/>
          <p:cNvSpPr txBox="1"/>
          <p:nvPr/>
        </p:nvSpPr>
        <p:spPr>
          <a:xfrm>
            <a:off x="545779" y="1248537"/>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3,1</a:t>
            </a:r>
            <a:endParaRPr lang="vi-VN" sz="550" dirty="0"/>
          </a:p>
        </p:txBody>
      </p:sp>
      <p:sp>
        <p:nvSpPr>
          <p:cNvPr id="16" name="Text 13"/>
          <p:cNvSpPr txBox="1"/>
          <p:nvPr/>
        </p:nvSpPr>
        <p:spPr>
          <a:xfrm>
            <a:off x="745806" y="12090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12,7</a:t>
            </a:r>
            <a:endParaRPr lang="vi-VN" sz="550" dirty="0"/>
          </a:p>
        </p:txBody>
      </p:sp>
      <p:sp>
        <p:nvSpPr>
          <p:cNvPr id="17" name="Text 14"/>
          <p:cNvSpPr txBox="1"/>
          <p:nvPr/>
        </p:nvSpPr>
        <p:spPr>
          <a:xfrm>
            <a:off x="899673" y="124606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3,7</a:t>
            </a:r>
            <a:endParaRPr lang="vi-VN" sz="550" dirty="0"/>
          </a:p>
        </p:txBody>
      </p:sp>
      <p:sp>
        <p:nvSpPr>
          <p:cNvPr id="18" name="Text 15"/>
          <p:cNvSpPr txBox="1"/>
          <p:nvPr/>
        </p:nvSpPr>
        <p:spPr>
          <a:xfrm>
            <a:off x="1099701" y="121108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12,2</a:t>
            </a:r>
            <a:endParaRPr lang="vi-VN" sz="550" dirty="0"/>
          </a:p>
        </p:txBody>
      </p:sp>
      <p:sp>
        <p:nvSpPr>
          <p:cNvPr id="19" name="Text 16"/>
          <p:cNvSpPr txBox="1"/>
          <p:nvPr/>
        </p:nvSpPr>
        <p:spPr>
          <a:xfrm>
            <a:off x="1253568" y="1239483"/>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5,3</a:t>
            </a:r>
            <a:endParaRPr lang="vi-VN" sz="550" dirty="0"/>
          </a:p>
        </p:txBody>
      </p:sp>
      <p:sp>
        <p:nvSpPr>
          <p:cNvPr id="20" name="Text 17"/>
          <p:cNvSpPr txBox="1"/>
          <p:nvPr/>
        </p:nvSpPr>
        <p:spPr>
          <a:xfrm>
            <a:off x="1453595" y="992565"/>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65,3</a:t>
            </a:r>
            <a:endParaRPr lang="vi-VN" sz="550" dirty="0"/>
          </a:p>
        </p:txBody>
      </p:sp>
      <p:sp>
        <p:nvSpPr>
          <p:cNvPr id="21" name="Text 18"/>
          <p:cNvSpPr txBox="1"/>
          <p:nvPr/>
        </p:nvSpPr>
        <p:spPr>
          <a:xfrm>
            <a:off x="1607462" y="1233722"/>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6,7</a:t>
            </a:r>
            <a:endParaRPr lang="vi-VN" sz="550" dirty="0"/>
          </a:p>
        </p:txBody>
      </p:sp>
      <p:sp>
        <p:nvSpPr>
          <p:cNvPr id="22" name="Text 19"/>
          <p:cNvSpPr txBox="1"/>
          <p:nvPr/>
        </p:nvSpPr>
        <p:spPr>
          <a:xfrm>
            <a:off x="1807490" y="1192569"/>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16,7</a:t>
            </a:r>
            <a:endParaRPr lang="vi-VN" sz="550" dirty="0"/>
          </a:p>
        </p:txBody>
      </p:sp>
      <p:sp>
        <p:nvSpPr>
          <p:cNvPr id="23" name="Text 20"/>
          <p:cNvSpPr txBox="1"/>
          <p:nvPr/>
        </p:nvSpPr>
        <p:spPr>
          <a:xfrm>
            <a:off x="1961357" y="1201211"/>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14,6</a:t>
            </a:r>
            <a:endParaRPr lang="vi-VN" sz="550" dirty="0"/>
          </a:p>
        </p:txBody>
      </p:sp>
      <p:sp>
        <p:nvSpPr>
          <p:cNvPr id="24" name="Text 21"/>
          <p:cNvSpPr txBox="1"/>
          <p:nvPr/>
        </p:nvSpPr>
        <p:spPr>
          <a:xfrm>
            <a:off x="2161384" y="11876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17,9</a:t>
            </a:r>
            <a:endParaRPr lang="vi-VN" sz="550" dirty="0"/>
          </a:p>
        </p:txBody>
      </p:sp>
      <p:sp>
        <p:nvSpPr>
          <p:cNvPr id="25" name="Text 22"/>
          <p:cNvSpPr txBox="1"/>
          <p:nvPr/>
        </p:nvSpPr>
        <p:spPr>
          <a:xfrm>
            <a:off x="2315251" y="119298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16,6</a:t>
            </a:r>
            <a:endParaRPr lang="vi-VN" sz="550" dirty="0"/>
          </a:p>
        </p:txBody>
      </p:sp>
      <p:sp>
        <p:nvSpPr>
          <p:cNvPr id="26" name="Shape 23"/>
          <p:cNvSpPr/>
          <p:nvPr/>
        </p:nvSpPr>
        <p:spPr>
          <a:xfrm>
            <a:off x="405408" y="1645343"/>
            <a:ext cx="59436" cy="59436"/>
          </a:xfrm>
          <a:prstGeom prst="rect">
            <a:avLst/>
          </a:prstGeom>
          <a:solidFill>
            <a:srgbClr val="7B1E2B"/>
          </a:solidFill>
          <a:ln w="3175">
            <a:solidFill>
              <a:srgbClr val="7B1E2B"/>
            </a:solidFill>
            <a:prstDash val="solid"/>
          </a:ln>
        </p:spPr>
      </p:sp>
      <p:sp>
        <p:nvSpPr>
          <p:cNvPr id="27" name="Text 24"/>
          <p:cNvSpPr txBox="1"/>
          <p:nvPr/>
        </p:nvSpPr>
        <p:spPr>
          <a:xfrm>
            <a:off x="487704" y="1622483"/>
            <a:ext cx="27362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CAPEX</a:t>
            </a:r>
            <a:endParaRPr lang="vi-VN" sz="650" dirty="0"/>
          </a:p>
        </p:txBody>
      </p:sp>
      <p:sp>
        <p:nvSpPr>
          <p:cNvPr id="28" name="Shape 25"/>
          <p:cNvSpPr/>
          <p:nvPr/>
        </p:nvSpPr>
        <p:spPr>
          <a:xfrm>
            <a:off x="825333" y="1645343"/>
            <a:ext cx="59436" cy="59436"/>
          </a:xfrm>
          <a:prstGeom prst="rect">
            <a:avLst/>
          </a:prstGeom>
          <a:solidFill>
            <a:srgbClr val="A3A3A3"/>
          </a:solidFill>
          <a:ln w="3175">
            <a:solidFill>
              <a:srgbClr val="A3A3A3"/>
            </a:solidFill>
            <a:prstDash val="solid"/>
          </a:ln>
        </p:spPr>
      </p:sp>
      <p:sp>
        <p:nvSpPr>
          <p:cNvPr id="29" name="Text 26"/>
          <p:cNvSpPr txBox="1"/>
          <p:nvPr/>
        </p:nvSpPr>
        <p:spPr>
          <a:xfrm>
            <a:off x="907629" y="1622483"/>
            <a:ext cx="404876"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Khấu hao</a:t>
            </a:r>
            <a:endParaRPr lang="vi-VN" sz="650" dirty="0"/>
          </a:p>
        </p:txBody>
      </p:sp>
      <p:sp>
        <p:nvSpPr>
          <p:cNvPr id="30" name="Text 27"/>
          <p:cNvSpPr txBox="1"/>
          <p:nvPr/>
        </p:nvSpPr>
        <p:spPr>
          <a:xfrm>
            <a:off x="405408" y="1746498"/>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FCFF (tỷ đồng; 2025A = CFO − CAPEX)</a:t>
            </a:r>
            <a:endParaRPr lang="vi-VN" sz="640" dirty="0"/>
          </a:p>
        </p:txBody>
      </p:sp>
      <p:graphicFrame>
        <p:nvGraphicFramePr>
          <p:cNvPr id="31" name="Chart 1" descr=""/>
          <p:cNvGraphicFramePr/>
          <p:nvPr/>
        </p:nvGraphicFramePr>
        <p:xfrm>
          <a:off x="405408" y="1852761"/>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32" name="Shape 28"/>
          <p:cNvSpPr/>
          <p:nvPr/>
        </p:nvSpPr>
        <p:spPr>
          <a:xfrm>
            <a:off x="423696" y="2060645"/>
            <a:ext cx="2123367" cy="0"/>
          </a:xfrm>
          <a:prstGeom prst="line">
            <a:avLst/>
          </a:prstGeom>
          <a:noFill/>
          <a:ln w="6350">
            <a:solidFill>
              <a:srgbClr val="BFBFBF"/>
            </a:solidFill>
            <a:prstDash val="solid"/>
          </a:ln>
        </p:spPr>
      </p:sp>
      <p:sp>
        <p:nvSpPr>
          <p:cNvPr id="33" name="Text 29"/>
          <p:cNvSpPr txBox="1"/>
          <p:nvPr/>
        </p:nvSpPr>
        <p:spPr>
          <a:xfrm>
            <a:off x="435187" y="1915994"/>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34" name="Text 30"/>
          <p:cNvSpPr txBox="1"/>
          <p:nvPr/>
        </p:nvSpPr>
        <p:spPr>
          <a:xfrm>
            <a:off x="789081" y="209176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−4,9</a:t>
            </a:r>
            <a:endParaRPr lang="vi-VN" sz="650" dirty="0"/>
          </a:p>
        </p:txBody>
      </p:sp>
      <p:sp>
        <p:nvSpPr>
          <p:cNvPr id="35" name="Text 31"/>
          <p:cNvSpPr txBox="1"/>
          <p:nvPr/>
        </p:nvSpPr>
        <p:spPr>
          <a:xfrm>
            <a:off x="1142976" y="208422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6" name="Text 32"/>
          <p:cNvSpPr txBox="1"/>
          <p:nvPr/>
        </p:nvSpPr>
        <p:spPr>
          <a:xfrm>
            <a:off x="1496870" y="2207059"/>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−52,3</a:t>
            </a:r>
            <a:endParaRPr lang="vi-VN" sz="650" dirty="0"/>
          </a:p>
        </p:txBody>
      </p:sp>
      <p:sp>
        <p:nvSpPr>
          <p:cNvPr id="37" name="Text 33"/>
          <p:cNvSpPr txBox="1"/>
          <p:nvPr/>
        </p:nvSpPr>
        <p:spPr>
          <a:xfrm>
            <a:off x="1850765" y="2088117"/>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−3,4</a:t>
            </a:r>
            <a:endParaRPr lang="vi-VN" sz="650" dirty="0"/>
          </a:p>
        </p:txBody>
      </p:sp>
      <p:sp>
        <p:nvSpPr>
          <p:cNvPr id="38" name="Text 34"/>
          <p:cNvSpPr txBox="1"/>
          <p:nvPr/>
        </p:nvSpPr>
        <p:spPr>
          <a:xfrm>
            <a:off x="2204659" y="1898481"/>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8,4</a:t>
            </a:r>
            <a:endParaRPr lang="vi-VN" sz="650" dirty="0"/>
          </a:p>
        </p:txBody>
      </p:sp>
      <p:sp>
        <p:nvSpPr>
          <p:cNvPr id="39" name="Text 35"/>
          <p:cNvSpPr txBox="1"/>
          <p:nvPr/>
        </p:nvSpPr>
        <p:spPr>
          <a:xfrm>
            <a:off x="405408" y="25577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Drivers)</a:t>
            </a:r>
            <a:endParaRPr lang="vi-VN" sz="600" dirty="0"/>
          </a:p>
        </p:txBody>
      </p:sp>
      <p:sp>
        <p:nvSpPr>
          <p:cNvPr id="40" name="Text 36"/>
          <p:cNvSpPr txBox="1"/>
          <p:nvPr/>
        </p:nvSpPr>
        <p:spPr>
          <a:xfrm>
            <a:off x="405408" y="276301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ROIC giảm về 6,5% năm 2029, đến 2030 vẫn thấp hơn WACC</a:t>
            </a:r>
            <a:endParaRPr lang="vi-VN" sz="720" dirty="0"/>
          </a:p>
        </p:txBody>
      </p:sp>
      <p:sp>
        <p:nvSpPr>
          <p:cNvPr id="41" name="Text 37"/>
          <p:cNvSpPr txBox="1"/>
          <p:nvPr/>
        </p:nvSpPr>
        <p:spPr>
          <a:xfrm>
            <a:off x="405408" y="30000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a:t>
            </a:r>
            <a:endParaRPr lang="vi-VN" sz="630" dirty="0"/>
          </a:p>
        </p:txBody>
      </p:sp>
      <p:graphicFrame>
        <p:nvGraphicFramePr>
          <p:cNvPr id="42" name="Chart 2" descr=""/>
          <p:cNvGraphicFramePr/>
          <p:nvPr/>
        </p:nvGraphicFramePr>
        <p:xfrm>
          <a:off x="405408" y="3115568"/>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43" name="Text 38"/>
          <p:cNvSpPr txBox="1"/>
          <p:nvPr/>
        </p:nvSpPr>
        <p:spPr>
          <a:xfrm>
            <a:off x="734332" y="343738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a:t>
            </a:r>
            <a:endParaRPr lang="vi-VN" sz="650" dirty="0"/>
          </a:p>
        </p:txBody>
      </p:sp>
      <p:sp>
        <p:nvSpPr>
          <p:cNvPr id="44" name="Text 39"/>
          <p:cNvSpPr txBox="1"/>
          <p:nvPr/>
        </p:nvSpPr>
        <p:spPr>
          <a:xfrm>
            <a:off x="1004194" y="316804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5" name="Text 40"/>
          <p:cNvSpPr txBox="1"/>
          <p:nvPr/>
        </p:nvSpPr>
        <p:spPr>
          <a:xfrm>
            <a:off x="1274057" y="316087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6" name="Text 41"/>
          <p:cNvSpPr txBox="1"/>
          <p:nvPr/>
        </p:nvSpPr>
        <p:spPr>
          <a:xfrm>
            <a:off x="1565796" y="352342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9</a:t>
            </a:r>
            <a:endParaRPr lang="vi-VN" sz="650" dirty="0"/>
          </a:p>
        </p:txBody>
      </p:sp>
      <p:sp>
        <p:nvSpPr>
          <p:cNvPr id="47" name="Text 42"/>
          <p:cNvSpPr txBox="1"/>
          <p:nvPr/>
        </p:nvSpPr>
        <p:spPr>
          <a:xfrm>
            <a:off x="1835658" y="358556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48" name="Text 43"/>
          <p:cNvSpPr txBox="1"/>
          <p:nvPr/>
        </p:nvSpPr>
        <p:spPr>
          <a:xfrm>
            <a:off x="2083646" y="344694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49" name="Text 44"/>
          <p:cNvSpPr txBox="1"/>
          <p:nvPr/>
        </p:nvSpPr>
        <p:spPr>
          <a:xfrm>
            <a:off x="2335480" y="3317055"/>
            <a:ext cx="266446"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WACC</a:t>
            </a:r>
            <a:endParaRPr lang="vi-VN" sz="650" dirty="0"/>
          </a:p>
        </p:txBody>
      </p:sp>
      <p:sp>
        <p:nvSpPr>
          <p:cNvPr id="50" name="Text 45"/>
          <p:cNvSpPr txBox="1"/>
          <p:nvPr/>
        </p:nvSpPr>
        <p:spPr>
          <a:xfrm>
            <a:off x="2335480" y="3426783"/>
            <a:ext cx="266446"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ROIC</a:t>
            </a:r>
            <a:endParaRPr lang="vi-VN" sz="650" dirty="0"/>
          </a:p>
        </p:txBody>
      </p:sp>
      <p:sp>
        <p:nvSpPr>
          <p:cNvPr id="51" name="Text 46"/>
          <p:cNvSpPr txBox="1"/>
          <p:nvPr/>
        </p:nvSpPr>
        <p:spPr>
          <a:xfrm>
            <a:off x="405408" y="391879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a:t>
            </a:r>
            <a:endParaRPr lang="vi-VN" sz="600" dirty="0"/>
          </a:p>
        </p:txBody>
      </p:sp>
      <p:sp>
        <p:nvSpPr>
          <p:cNvPr id="52" name="Text 47"/>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1,8 tỷ đồng năm 2027, âm 52,3 tỷ đồng năm 2028 và âm 3,4 tỷ đồng năm 2029, rồi mới dương năm 2030 với 8,4 tỷ đồng (Fig. 45). Cộng cả giai đoạn 2026–2030, FCFF âm 53,9 tỷ đồng, đúng với lưu ý của đề bài rằng startup hiếm khi có dòng tiền tự do dương ở giai đoạn đầu.</a:t>
            </a:r>
            <a:endParaRPr lang="vi-VN" sz="850" dirty="0"/>
          </a:p>
        </p:txBody>
      </p:sp>
      <p:sp>
        <p:nvSpPr>
          <p:cNvPr id="53" name="Text 48"/>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vi-VN" sz="900" dirty="0"/>
          </a:p>
        </p:txBody>
      </p:sp>
      <p:sp>
        <p:nvSpPr>
          <p:cNvPr id="54" name="Text 49"/>
          <p:cNvSpPr txBox="1"/>
          <p:nvPr/>
        </p:nvSpPr>
        <p:spPr>
          <a:xfrm>
            <a:off x="2745284" y="1291382"/>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Tồn kho được giữ ở mức 100–105 ngày vì AgriPack phải tích trữ bã mía trong mùa ép, từ tháng 11 đến tháng 4 năm sau, và tăng lên 105 ngày năm 2029 để chuẩn bị nguyên liệu cho hai dây chuyền mới.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khoảng 19% doanh thu và giữ lại khoảng 26 tỷ đồng tiền mặt trong 5 năm.</a:t>
            </a:r>
            <a:endParaRPr lang="vi-VN" sz="850" dirty="0"/>
          </a:p>
        </p:txBody>
      </p:sp>
      <p:sp>
        <p:nvSpPr>
          <p:cNvPr id="55" name="Text 50"/>
          <p:cNvSpPr txBox="1"/>
          <p:nvPr/>
        </p:nvSpPr>
        <p:spPr>
          <a:xfrm>
            <a:off x="2745284" y="2118420"/>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Phần thiếu hụt tiền được bù bằng 40,5 tỷ đồng vốn cổ phần gọi đầu năm 2026 và 39,2 tỷ đồng vay trung hạn năm 2028, tương đương 60% CAPEX của nhà máy (Fig. 46; báo cáo tài chính dự phóng đầy đủ ở Fig. A06–A08). Số vốn cổ phần này cũng chính là số tiền nhà đầu tư cần bỏ ra trong VC Method (Mục 5.4); nhu cầu vốn được trình bày ở Mục 6. Tổng tài sản tăng từ 31,9 lên 147,6 tỷ đồng; dòng tiền từ hoạt động kinh doanh tăng từ 7,7 lên 23,4 tỷ đồng nhưng chỉ vượt CAPEX vào năm 2030. Nợ vay lên tới 43% vốn chủ sở hữu năm 2028 rồi giảm dần khi doanh nghiệp bắt đầu trả gốc từ năm 2030.</a:t>
            </a:r>
            <a:endParaRPr lang="vi-VN" sz="850" dirty="0"/>
          </a:p>
        </p:txBody>
      </p:sp>
      <p:sp>
        <p:nvSpPr>
          <p:cNvPr id="56" name="Text 51"/>
          <p:cNvSpPr txBox="1"/>
          <p:nvPr/>
        </p:nvSpPr>
        <p:spPr>
          <a:xfrm>
            <a:off x="2745284" y="3108147"/>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cổ phần năm 2026 và khoản vay năm 2028 tài trợ nhà máy; tiền mặt luôn dương</a:t>
            </a:r>
            <a:endParaRPr lang="vi-VN" sz="720" dirty="0"/>
          </a:p>
        </p:txBody>
      </p:sp>
      <p:sp>
        <p:nvSpPr>
          <p:cNvPr id="57" name="Text 52"/>
          <p:cNvSpPr txBox="1"/>
          <p:nvPr/>
        </p:nvSpPr>
        <p:spPr>
          <a:xfrm>
            <a:off x="2745284" y="323567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351163"/>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Bảng cân đối (cuối kỳ)</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Tiền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Phải thu khách hàng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Hàng tồn kho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Tài sản dài hạn ròng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95,9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Tổng tài sản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 (ngắn +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Nợ vay / VCSH</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Lưu chuyển tiền tệ</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CFO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CAPEX</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góp cổ phần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Vay (trả) nợ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59" name="Text 53"/>
          <p:cNvSpPr txBox="1"/>
          <p:nvPr/>
        </p:nvSpPr>
        <p:spPr>
          <a:xfrm>
            <a:off x="2745284" y="547464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vi-VN" sz="600" dirty="0"/>
          </a:p>
        </p:txBody>
      </p:sp>
      <p:sp>
        <p:nvSpPr>
          <p:cNvPr id="60" name="Text 54"/>
          <p:cNvSpPr txBox="1"/>
          <p:nvPr/>
        </p:nvSpPr>
        <p:spPr>
          <a:xfrm>
            <a:off x="2745284" y="5648771"/>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Tỷ suất sinh lời trên vốn đầu tư (ROIC) tăng lên 17,0% năm 2027 rồi giảm còn 6,5% năm 2029, vì nhà máy mới đã đưa vào sử dụng nhưng công suất chưa được khai thác hết: mỗi đồng nguyên giá tài sản cố định chỉ tạo ra 1,07 đồng doanh thu, so với 1,66 đồng năm 2025. Đến năm 2030, ROIC (12,3%) vẫn thấp hơn WACC 14,1% (Fig. 47). Nói cách khác, khoản đầu tư năm 2028 chưa bù được chi phí vốn trong giai đoạn dự phóng; giá trị của nó nằm ở giai đoạn tăng trưởng sau năm 2030.</a:t>
            </a:r>
            <a:endParaRPr lang="vi-VN" sz="850" dirty="0"/>
          </a:p>
        </p:txBody>
      </p:sp>
      <p:sp>
        <p:nvSpPr>
          <p:cNvPr id="61" name="Text 55"/>
          <p:cNvSpPr txBox="1"/>
          <p:nvPr/>
        </p:nvSpPr>
        <p:spPr>
          <a:xfrm>
            <a:off x="484608" y="655136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5. ĐỊNH GIÁ</a:t>
            </a:r>
            <a:endParaRPr lang="vi-VN" sz="880" dirty="0"/>
          </a:p>
        </p:txBody>
      </p:sp>
      <p:sp>
        <p:nvSpPr>
          <p:cNvPr id="62" name="Text 56"/>
          <p:cNvSpPr txBox="1"/>
          <p:nvPr/>
        </p:nvSpPr>
        <p:spPr>
          <a:xfrm>
            <a:off x="405408" y="682289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1,50</a:t>
            </a:r>
            <a:endParaRPr lang="vi-VN"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7074247"/>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Thành phần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Rf – TPCP 10 năm, ngày 01/10/2026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ERP thị trường phát triển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CRP Việt Nam (ước tính)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ERP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βu ngành bao bì (Damodaran)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D/E mục tiêu (2028E)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 có đòn bẩy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ρ (đa dạng hóa một phần)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Total beta</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Ke = Rf + β × ERP</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Kd trước / sau thuế</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 / 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trọng E / 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 / 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64" name="Text 57"/>
          <p:cNvSpPr txBox="1"/>
          <p:nvPr/>
        </p:nvSpPr>
        <p:spPr>
          <a:xfrm>
            <a:off x="405408" y="896644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vi-VN" sz="600" dirty="0"/>
          </a:p>
        </p:txBody>
      </p:sp>
      <p:sp>
        <p:nvSpPr>
          <p:cNvPr id="65" name="Text 58"/>
          <p:cNvSpPr txBox="1"/>
          <p:nvPr/>
        </p:nvSpPr>
        <p:spPr>
          <a:xfrm>
            <a:off x="2745284" y="6806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5.1. Lựa chọn phương pháp</a:t>
            </a:r>
            <a:endParaRPr lang="vi-VN" sz="900" dirty="0"/>
          </a:p>
        </p:txBody>
      </p:sp>
      <p:sp>
        <p:nvSpPr>
          <p:cNvPr id="66" name="Text 59"/>
          <p:cNvSpPr txBox="1"/>
          <p:nvPr/>
        </p:nvSpPr>
        <p:spPr>
          <a:xfrm>
            <a:off x="2745284" y="69754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vi-VN" sz="850" dirty="0"/>
          </a:p>
        </p:txBody>
      </p:sp>
      <p:sp>
        <p:nvSpPr>
          <p:cNvPr id="67" name="Text 60"/>
          <p:cNvSpPr txBox="1"/>
          <p:nvPr/>
        </p:nvSpPr>
        <p:spPr>
          <a:xfrm>
            <a:off x="2745284" y="79340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vi-VN" sz="850" dirty="0"/>
          </a:p>
        </p:txBody>
      </p:sp>
      <p:sp>
        <p:nvSpPr>
          <p:cNvPr id="68" name="Text 61"/>
          <p:cNvSpPr txBox="1"/>
          <p:nvPr/>
        </p:nvSpPr>
        <p:spPr>
          <a:xfrm>
            <a:off x="2745284" y="849793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5.2. Chi phí vốn</a:t>
            </a:r>
            <a:endParaRPr lang="vi-VN" sz="900" dirty="0"/>
          </a:p>
        </p:txBody>
      </p:sp>
      <p:sp>
        <p:nvSpPr>
          <p:cNvPr id="69" name="Text 62"/>
          <p:cNvSpPr txBox="1"/>
          <p:nvPr/>
        </p:nvSpPr>
        <p:spPr>
          <a:xfrm>
            <a:off x="2745284" y="8667304"/>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vi-VN" sz="850" dirty="0"/>
          </a:p>
        </p:txBody>
      </p:sp>
      <p:sp>
        <p:nvSpPr>
          <p:cNvPr id="70" name="Text 63"/>
          <p:cNvSpPr txBox="1"/>
          <p:nvPr/>
        </p:nvSpPr>
        <p:spPr>
          <a:xfrm>
            <a:off x="2745284" y="936277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2028 – năm đầu tư lớn (nợ vay bằng 43% vốn chủ sở hữu), beta có đòn bẩy là 1,05. Vì nhà đầu tư mạo hiểm chỉ đa dạng hóa được một phần danh mục, beta này được chia cho hệ số tương quan 0,7 để ra beta tổng 1,50, từ đó chi phí vốn chủ sở hữu là 16,8%. Chi phí nợ trước thuế là 10%. Rủi ro thất bại của startup không được cộng thêm vào WACC mà được xử lý riêng trong VC Method, để không bị tính hai lần.</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13</a:t>
            </a:r>
            <a:endParaRPr lang="vi-VN"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2828181"/>
            <a:ext cx="4409182" cy="0"/>
          </a:xfrm>
          <a:prstGeom prst="line">
            <a:avLst/>
          </a:prstGeom>
          <a:noFill/>
          <a:ln w="9525">
            <a:solidFill>
              <a:srgbClr val="7B1E2B"/>
            </a:solidFill>
            <a:prstDash val="solid"/>
          </a:ln>
        </p:spPr>
      </p:sp>
      <p:sp>
        <p:nvSpPr>
          <p:cNvPr id="9" name="Shape 7"/>
          <p:cNvSpPr/>
          <p:nvPr/>
        </p:nvSpPr>
        <p:spPr>
          <a:xfrm>
            <a:off x="2745284" y="7447955"/>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trị cuối kỳ gấp ba lần EV vì FCFF 2026–2029 âm</a:t>
            </a:r>
            <a:endParaRPr lang="vi-VN"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423696" y="1214444"/>
            <a:ext cx="2123367" cy="0"/>
          </a:xfrm>
          <a:prstGeom prst="line">
            <a:avLst/>
          </a:prstGeom>
          <a:noFill/>
          <a:ln w="6350">
            <a:solidFill>
              <a:srgbClr val="8C8C8C"/>
            </a:solidFill>
            <a:prstDash val="solid"/>
          </a:ln>
        </p:spPr>
      </p:sp>
      <p:sp>
        <p:nvSpPr>
          <p:cNvPr id="17" name="Text 14"/>
          <p:cNvSpPr txBox="1"/>
          <p:nvPr/>
        </p:nvSpPr>
        <p:spPr>
          <a:xfrm>
            <a:off x="423696" y="1398589"/>
            <a:ext cx="353894"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−38,5</a:t>
            </a:r>
            <a:endParaRPr lang="vi-VN" sz="650" dirty="0"/>
          </a:p>
        </p:txBody>
      </p:sp>
      <p:sp>
        <p:nvSpPr>
          <p:cNvPr id="18" name="Text 15"/>
          <p:cNvSpPr txBox="1"/>
          <p:nvPr/>
        </p:nvSpPr>
        <p:spPr>
          <a:xfrm>
            <a:off x="423696"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FCFF 2026–30</a:t>
            </a:r>
            <a:endParaRPr lang="vi-VN" sz="650" dirty="0"/>
          </a:p>
        </p:txBody>
      </p:sp>
      <p:sp>
        <p:nvSpPr>
          <p:cNvPr id="19" name="Text 16"/>
          <p:cNvSpPr txBox="1"/>
          <p:nvPr/>
        </p:nvSpPr>
        <p:spPr>
          <a:xfrm>
            <a:off x="777590" y="990932"/>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+57,6</a:t>
            </a:r>
            <a:endParaRPr lang="vi-VN" sz="650" dirty="0"/>
          </a:p>
        </p:txBody>
      </p:sp>
      <p:sp>
        <p:nvSpPr>
          <p:cNvPr id="20" name="Text 17"/>
          <p:cNvSpPr txBox="1"/>
          <p:nvPr/>
        </p:nvSpPr>
        <p:spPr>
          <a:xfrm>
            <a:off x="777590"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giá trị cuối kỳ</a:t>
            </a:r>
            <a:endParaRPr lang="vi-VN" sz="650" dirty="0"/>
          </a:p>
        </p:txBody>
      </p:sp>
      <p:sp>
        <p:nvSpPr>
          <p:cNvPr id="21" name="Text 18"/>
          <p:cNvSpPr txBox="1"/>
          <p:nvPr/>
        </p:nvSpPr>
        <p:spPr>
          <a:xfrm>
            <a:off x="1131485" y="990932"/>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19,1</a:t>
            </a:r>
            <a:endParaRPr lang="vi-VN" sz="650" dirty="0"/>
          </a:p>
        </p:txBody>
      </p:sp>
      <p:sp>
        <p:nvSpPr>
          <p:cNvPr id="22" name="Text 19"/>
          <p:cNvSpPr txBox="1"/>
          <p:nvPr/>
        </p:nvSpPr>
        <p:spPr>
          <a:xfrm>
            <a:off x="1131485"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EV</a:t>
            </a:r>
            <a:endParaRPr lang="vi-VN" sz="650" dirty="0"/>
          </a:p>
        </p:txBody>
      </p:sp>
      <p:sp>
        <p:nvSpPr>
          <p:cNvPr id="23" name="Text 20"/>
          <p:cNvSpPr txBox="1"/>
          <p:nvPr/>
        </p:nvSpPr>
        <p:spPr>
          <a:xfrm>
            <a:off x="1485379"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+2,9</a:t>
            </a:r>
            <a:endParaRPr lang="vi-VN" sz="650" dirty="0"/>
          </a:p>
        </p:txBody>
      </p:sp>
      <p:sp>
        <p:nvSpPr>
          <p:cNvPr id="24" name="Text 21"/>
          <p:cNvSpPr txBox="1"/>
          <p:nvPr/>
        </p:nvSpPr>
        <p:spPr>
          <a:xfrm>
            <a:off x="1485379"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Tiền 2025</a:t>
            </a:r>
            <a:endParaRPr lang="vi-VN" sz="650" dirty="0"/>
          </a:p>
        </p:txBody>
      </p:sp>
      <p:sp>
        <p:nvSpPr>
          <p:cNvPr id="25" name="Text 22"/>
          <p:cNvSpPr txBox="1"/>
          <p:nvPr/>
        </p:nvSpPr>
        <p:spPr>
          <a:xfrm>
            <a:off x="1839274"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26" name="Text 23"/>
          <p:cNvSpPr txBox="1"/>
          <p:nvPr/>
        </p:nvSpPr>
        <p:spPr>
          <a:xfrm>
            <a:off x="1839274"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Nợ vay 2025</a:t>
            </a:r>
            <a:endParaRPr lang="vi-VN" sz="650" dirty="0"/>
          </a:p>
        </p:txBody>
      </p:sp>
      <p:sp>
        <p:nvSpPr>
          <p:cNvPr id="27" name="Text 24"/>
          <p:cNvSpPr txBox="1"/>
          <p:nvPr/>
        </p:nvSpPr>
        <p:spPr>
          <a:xfrm>
            <a:off x="2193168" y="985228"/>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20,4</a:t>
            </a:r>
            <a:endParaRPr lang="vi-VN" sz="650" dirty="0"/>
          </a:p>
        </p:txBody>
      </p:sp>
      <p:sp>
        <p:nvSpPr>
          <p:cNvPr id="28" name="Text 25"/>
          <p:cNvSpPr txBox="1"/>
          <p:nvPr/>
        </p:nvSpPr>
        <p:spPr>
          <a:xfrm>
            <a:off x="2193168"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29" name="Text 26"/>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a:t>
            </a:r>
            <a:endParaRPr lang="vi-VN" sz="600" dirty="0"/>
          </a:p>
        </p:txBody>
      </p:sp>
      <p:sp>
        <p:nvSpPr>
          <p:cNvPr id="30" name="Text 27"/>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VC Method: pre-money 21,7 tỷ đồng</a:t>
            </a:r>
            <a:endParaRPr lang="vi-VN" sz="720" dirty="0"/>
          </a:p>
        </p:txBody>
      </p:sp>
      <p:sp>
        <p:nvSpPr>
          <p:cNvPr id="31" name="Text 28"/>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Bước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 × P/E 9,4 lần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EBITDA 2030E × EV/EBITDA 8,0 lần + tiền − nợ</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thoái vốn 2030 (bình quân)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(BTL: đầu tăng trưởng)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 r</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1/5</a:t>
                      </a:r>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− 1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9"/>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vi-VN" sz="600" dirty="0"/>
          </a:p>
        </p:txBody>
      </p:sp>
      <p:sp>
        <p:nvSpPr>
          <p:cNvPr id="34" name="Text 30"/>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Chiết khấu theo tỷ suất p = 26,4% làm giá trị thoái vốn giảm còn khoảng một phần ba</a:t>
            </a:r>
            <a:endParaRPr lang="vi-VN" sz="720" dirty="0"/>
          </a:p>
        </p:txBody>
      </p:sp>
      <p:sp>
        <p:nvSpPr>
          <p:cNvPr id="35" name="Text 31"/>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6"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37" name="Shape 32"/>
          <p:cNvSpPr/>
          <p:nvPr/>
        </p:nvSpPr>
        <p:spPr>
          <a:xfrm>
            <a:off x="423696" y="4953524"/>
            <a:ext cx="2123367" cy="0"/>
          </a:xfrm>
          <a:prstGeom prst="line">
            <a:avLst/>
          </a:prstGeom>
          <a:noFill/>
          <a:ln w="6350">
            <a:solidFill>
              <a:srgbClr val="8C8C8C"/>
            </a:solidFill>
            <a:prstDash val="solid"/>
          </a:ln>
        </p:spPr>
      </p:sp>
      <p:sp>
        <p:nvSpPr>
          <p:cNvPr id="38" name="Text 33"/>
          <p:cNvSpPr txBox="1"/>
          <p:nvPr/>
        </p:nvSpPr>
        <p:spPr>
          <a:xfrm>
            <a:off x="423696" y="4431768"/>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200,6</a:t>
            </a:r>
            <a:endParaRPr lang="vi-VN" sz="650" dirty="0"/>
          </a:p>
        </p:txBody>
      </p:sp>
      <p:sp>
        <p:nvSpPr>
          <p:cNvPr id="39" name="Text 34"/>
          <p:cNvSpPr txBox="1"/>
          <p:nvPr/>
        </p:nvSpPr>
        <p:spPr>
          <a:xfrm>
            <a:off x="42369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Thoái vốn 2030</a:t>
            </a:r>
            <a:endParaRPr lang="vi-VN" sz="650" dirty="0"/>
          </a:p>
        </p:txBody>
      </p:sp>
      <p:sp>
        <p:nvSpPr>
          <p:cNvPr id="40" name="Text 35"/>
          <p:cNvSpPr txBox="1"/>
          <p:nvPr/>
        </p:nvSpPr>
        <p:spPr>
          <a:xfrm>
            <a:off x="848369" y="4431768"/>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−138,5</a:t>
            </a:r>
            <a:endParaRPr lang="vi-VN" sz="650" dirty="0"/>
          </a:p>
        </p:txBody>
      </p:sp>
      <p:sp>
        <p:nvSpPr>
          <p:cNvPr id="41" name="Text 36"/>
          <p:cNvSpPr txBox="1"/>
          <p:nvPr/>
        </p:nvSpPr>
        <p:spPr>
          <a:xfrm>
            <a:off x="84836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Chiết khấu p = 26,4%</a:t>
            </a:r>
            <a:endParaRPr lang="vi-VN" sz="650" dirty="0"/>
          </a:p>
        </p:txBody>
      </p:sp>
      <p:sp>
        <p:nvSpPr>
          <p:cNvPr id="42" name="Text 37"/>
          <p:cNvSpPr txBox="1"/>
          <p:nvPr/>
        </p:nvSpPr>
        <p:spPr>
          <a:xfrm>
            <a:off x="1273042" y="4694046"/>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62,2</a:t>
            </a:r>
            <a:endParaRPr lang="vi-VN" sz="650" dirty="0"/>
          </a:p>
        </p:txBody>
      </p:sp>
      <p:sp>
        <p:nvSpPr>
          <p:cNvPr id="43" name="Text 38"/>
          <p:cNvSpPr txBox="1"/>
          <p:nvPr/>
        </p:nvSpPr>
        <p:spPr>
          <a:xfrm>
            <a:off x="1273042"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Post-money</a:t>
            </a:r>
            <a:endParaRPr lang="vi-VN" sz="650" dirty="0"/>
          </a:p>
        </p:txBody>
      </p:sp>
      <p:sp>
        <p:nvSpPr>
          <p:cNvPr id="44" name="Text 39"/>
          <p:cNvSpPr txBox="1"/>
          <p:nvPr/>
        </p:nvSpPr>
        <p:spPr>
          <a:xfrm>
            <a:off x="1697716" y="4694046"/>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−40,5</a:t>
            </a:r>
            <a:endParaRPr lang="vi-VN" sz="650" dirty="0"/>
          </a:p>
        </p:txBody>
      </p:sp>
      <p:sp>
        <p:nvSpPr>
          <p:cNvPr id="45" name="Text 40"/>
          <p:cNvSpPr txBox="1"/>
          <p:nvPr/>
        </p:nvSpPr>
        <p:spPr>
          <a:xfrm>
            <a:off x="169771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Vốn cần huy động</a:t>
            </a:r>
            <a:endParaRPr lang="vi-VN" sz="650" dirty="0"/>
          </a:p>
        </p:txBody>
      </p:sp>
      <p:sp>
        <p:nvSpPr>
          <p:cNvPr id="46" name="Text 41"/>
          <p:cNvSpPr txBox="1"/>
          <p:nvPr/>
        </p:nvSpPr>
        <p:spPr>
          <a:xfrm>
            <a:off x="2122389" y="4770701"/>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21,7</a:t>
            </a:r>
            <a:endParaRPr lang="vi-VN" sz="650" dirty="0"/>
          </a:p>
        </p:txBody>
      </p:sp>
      <p:sp>
        <p:nvSpPr>
          <p:cNvPr id="47" name="Text 42"/>
          <p:cNvSpPr txBox="1"/>
          <p:nvPr/>
        </p:nvSpPr>
        <p:spPr>
          <a:xfrm>
            <a:off x="212238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48" name="Text 43"/>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p = (1 + r)/(1 − z)^(1/n) − 1</a:t>
            </a:r>
            <a:endParaRPr lang="vi-VN" sz="600" dirty="0"/>
          </a:p>
        </p:txBody>
      </p:sp>
      <p:sp>
        <p:nvSpPr>
          <p:cNvPr id="49" name="Text 44"/>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vi-VN" sz="720" dirty="0"/>
          </a:p>
        </p:txBody>
      </p:sp>
      <p:sp>
        <p:nvSpPr>
          <p:cNvPr id="50" name="Text 45"/>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 (4 quý gần nhất)</a:t>
            </a:r>
            <a:endParaRPr lang="vi-VN" sz="630" dirty="0"/>
          </a:p>
        </p:txBody>
      </p:sp>
      <p:graphicFrame>
        <p:nvGraphicFramePr>
          <p:cNvPr id="51"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52" name="Shape 46"/>
          <p:cNvSpPr/>
          <p:nvPr/>
        </p:nvSpPr>
        <p:spPr>
          <a:xfrm>
            <a:off x="628102" y="6041255"/>
            <a:ext cx="0" cy="1349865"/>
          </a:xfrm>
          <a:prstGeom prst="line">
            <a:avLst/>
          </a:prstGeom>
          <a:noFill/>
          <a:ln w="6350">
            <a:solidFill>
              <a:srgbClr val="BFBFBF"/>
            </a:solidFill>
            <a:prstDash val="solid"/>
          </a:ln>
        </p:spPr>
      </p:sp>
      <p:sp>
        <p:nvSpPr>
          <p:cNvPr id="53" name="Shape 47"/>
          <p:cNvSpPr/>
          <p:nvPr/>
        </p:nvSpPr>
        <p:spPr>
          <a:xfrm>
            <a:off x="1177573" y="6041255"/>
            <a:ext cx="0" cy="1349865"/>
          </a:xfrm>
          <a:prstGeom prst="line">
            <a:avLst/>
          </a:prstGeom>
          <a:noFill/>
          <a:ln w="9525">
            <a:solidFill>
              <a:srgbClr val="7B1E2B"/>
            </a:solidFill>
            <a:prstDash val="dash"/>
          </a:ln>
        </p:spPr>
      </p:sp>
      <p:sp>
        <p:nvSpPr>
          <p:cNvPr id="54" name="Text 48"/>
          <p:cNvSpPr txBox="1"/>
          <p:nvPr/>
        </p:nvSpPr>
        <p:spPr>
          <a:xfrm>
            <a:off x="628933" y="5913239"/>
            <a:ext cx="1097280" cy="109728"/>
          </a:xfrm>
          <a:prstGeom prst="rect">
            <a:avLst/>
          </a:prstGeom>
          <a:noFill/>
          <a:ln/>
        </p:spPr>
        <p:txBody>
          <a:bodyPr wrap="none" lIns="0" tIns="0" rIns="0" bIns="0" rtlCol="0" anchor="ctr"/>
          <a:lstStyle/>
          <a:p>
            <a:pPr algn="ctr" indent="0" marL="0">
              <a:buNone/>
            </a:pPr>
            <a:r>
              <a:rPr lang="vi-VN" altLang="en-US" sz="550" dirty="0">
                <a:solidFill>
                  <a:srgbClr val="7B1E2B"/>
                </a:solidFill>
                <a:latin typeface="Calibri" pitchFamily="34" charset="0"/>
                <a:ea typeface="Calibri" pitchFamily="34" charset="-122"/>
                <a:cs typeface="Calibri" pitchFamily="34" charset="-120"/>
              </a:rPr>
              <a:t>Trung vị 4,63x</a:t>
            </a:r>
            <a:endParaRPr lang="vi-VN" sz="550" dirty="0"/>
          </a:p>
        </p:txBody>
      </p:sp>
      <p:sp>
        <p:nvSpPr>
          <p:cNvPr id="55" name="Text 49"/>
          <p:cNvSpPr txBox="1"/>
          <p:nvPr/>
        </p:nvSpPr>
        <p:spPr>
          <a:xfrm>
            <a:off x="405408" y="603460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HHP</a:t>
            </a:r>
            <a:endParaRPr lang="vi-VN" sz="650" dirty="0"/>
          </a:p>
        </p:txBody>
      </p:sp>
      <p:sp>
        <p:nvSpPr>
          <p:cNvPr id="56" name="Text 50"/>
          <p:cNvSpPr txBox="1"/>
          <p:nvPr/>
        </p:nvSpPr>
        <p:spPr>
          <a:xfrm>
            <a:off x="2278013" y="6043745"/>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13,7x</a:t>
            </a:r>
            <a:endParaRPr lang="vi-VN" sz="650" dirty="0"/>
          </a:p>
        </p:txBody>
      </p:sp>
      <p:sp>
        <p:nvSpPr>
          <p:cNvPr id="57" name="Text 51"/>
          <p:cNvSpPr txBox="1"/>
          <p:nvPr/>
        </p:nvSpPr>
        <p:spPr>
          <a:xfrm>
            <a:off x="405408" y="613101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ILS</a:t>
            </a:r>
            <a:endParaRPr lang="vi-VN" sz="650" dirty="0"/>
          </a:p>
        </p:txBody>
      </p:sp>
      <p:sp>
        <p:nvSpPr>
          <p:cNvPr id="58" name="Text 52"/>
          <p:cNvSpPr txBox="1"/>
          <p:nvPr/>
        </p:nvSpPr>
        <p:spPr>
          <a:xfrm>
            <a:off x="2232916" y="6140163"/>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13,3x</a:t>
            </a:r>
            <a:endParaRPr lang="vi-VN" sz="650" dirty="0"/>
          </a:p>
        </p:txBody>
      </p:sp>
      <p:sp>
        <p:nvSpPr>
          <p:cNvPr id="59" name="Text 53"/>
          <p:cNvSpPr txBox="1"/>
          <p:nvPr/>
        </p:nvSpPr>
        <p:spPr>
          <a:xfrm>
            <a:off x="405408" y="622743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TDP</a:t>
            </a:r>
            <a:endParaRPr lang="vi-VN" sz="650" dirty="0"/>
          </a:p>
        </p:txBody>
      </p:sp>
      <p:sp>
        <p:nvSpPr>
          <p:cNvPr id="60" name="Text 54"/>
          <p:cNvSpPr txBox="1"/>
          <p:nvPr/>
        </p:nvSpPr>
        <p:spPr>
          <a:xfrm>
            <a:off x="1716675" y="623658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9,0x</a:t>
            </a:r>
            <a:endParaRPr lang="vi-VN" sz="650" dirty="0"/>
          </a:p>
        </p:txBody>
      </p:sp>
      <p:sp>
        <p:nvSpPr>
          <p:cNvPr id="61" name="Text 55"/>
          <p:cNvSpPr txBox="1"/>
          <p:nvPr/>
        </p:nvSpPr>
        <p:spPr>
          <a:xfrm>
            <a:off x="405408" y="632385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DHC</a:t>
            </a:r>
            <a:endParaRPr lang="vi-VN" sz="650" dirty="0"/>
          </a:p>
        </p:txBody>
      </p:sp>
      <p:sp>
        <p:nvSpPr>
          <p:cNvPr id="62" name="Text 56"/>
          <p:cNvSpPr txBox="1"/>
          <p:nvPr/>
        </p:nvSpPr>
        <p:spPr>
          <a:xfrm>
            <a:off x="1404556" y="633300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6,3x</a:t>
            </a:r>
            <a:endParaRPr lang="vi-VN" sz="650" dirty="0"/>
          </a:p>
        </p:txBody>
      </p:sp>
      <p:sp>
        <p:nvSpPr>
          <p:cNvPr id="63" name="Text 57"/>
          <p:cNvSpPr txBox="1"/>
          <p:nvPr/>
        </p:nvSpPr>
        <p:spPr>
          <a:xfrm>
            <a:off x="405408" y="6420276"/>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BBS</a:t>
            </a:r>
            <a:endParaRPr lang="vi-VN" sz="650" dirty="0"/>
          </a:p>
        </p:txBody>
      </p:sp>
      <p:sp>
        <p:nvSpPr>
          <p:cNvPr id="64" name="Text 58"/>
          <p:cNvSpPr txBox="1"/>
          <p:nvPr/>
        </p:nvSpPr>
        <p:spPr>
          <a:xfrm>
            <a:off x="1303681" y="6429420"/>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5,5x</a:t>
            </a:r>
            <a:endParaRPr lang="vi-VN" sz="650" dirty="0"/>
          </a:p>
        </p:txBody>
      </p:sp>
      <p:sp>
        <p:nvSpPr>
          <p:cNvPr id="65" name="Text 59"/>
          <p:cNvSpPr txBox="1"/>
          <p:nvPr/>
        </p:nvSpPr>
        <p:spPr>
          <a:xfrm>
            <a:off x="405408" y="6516695"/>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PMP</a:t>
            </a:r>
            <a:endParaRPr lang="vi-VN" sz="650" dirty="0"/>
          </a:p>
        </p:txBody>
      </p:sp>
      <p:sp>
        <p:nvSpPr>
          <p:cNvPr id="66" name="Text 60"/>
          <p:cNvSpPr txBox="1"/>
          <p:nvPr/>
        </p:nvSpPr>
        <p:spPr>
          <a:xfrm>
            <a:off x="1291814" y="6525839"/>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5,4x</a:t>
            </a:r>
            <a:endParaRPr lang="vi-VN" sz="650" dirty="0"/>
          </a:p>
        </p:txBody>
      </p:sp>
      <p:sp>
        <p:nvSpPr>
          <p:cNvPr id="67" name="Text 61"/>
          <p:cNvSpPr txBox="1"/>
          <p:nvPr/>
        </p:nvSpPr>
        <p:spPr>
          <a:xfrm>
            <a:off x="405408" y="6613114"/>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APH</a:t>
            </a:r>
            <a:endParaRPr lang="vi-VN" sz="650" dirty="0"/>
          </a:p>
        </p:txBody>
      </p:sp>
      <p:sp>
        <p:nvSpPr>
          <p:cNvPr id="68" name="Text 62"/>
          <p:cNvSpPr txBox="1"/>
          <p:nvPr/>
        </p:nvSpPr>
        <p:spPr>
          <a:xfrm>
            <a:off x="1250277" y="6622258"/>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5,0x</a:t>
            </a:r>
            <a:endParaRPr lang="vi-VN" sz="650" dirty="0"/>
          </a:p>
        </p:txBody>
      </p:sp>
      <p:sp>
        <p:nvSpPr>
          <p:cNvPr id="69" name="Text 63"/>
          <p:cNvSpPr txBox="1"/>
          <p:nvPr/>
        </p:nvSpPr>
        <p:spPr>
          <a:xfrm>
            <a:off x="405408" y="6709533"/>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TPC</a:t>
            </a:r>
            <a:endParaRPr lang="vi-VN" sz="650" dirty="0"/>
          </a:p>
        </p:txBody>
      </p:sp>
      <p:sp>
        <p:nvSpPr>
          <p:cNvPr id="70" name="Text 64"/>
          <p:cNvSpPr txBox="1"/>
          <p:nvPr/>
        </p:nvSpPr>
        <p:spPr>
          <a:xfrm>
            <a:off x="1150589" y="6718677"/>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1" name="Text 65"/>
          <p:cNvSpPr txBox="1"/>
          <p:nvPr/>
        </p:nvSpPr>
        <p:spPr>
          <a:xfrm>
            <a:off x="405408" y="6805952"/>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VBC</a:t>
            </a:r>
            <a:endParaRPr lang="vi-VN" sz="650" dirty="0"/>
          </a:p>
        </p:txBody>
      </p:sp>
      <p:sp>
        <p:nvSpPr>
          <p:cNvPr id="72" name="Text 66"/>
          <p:cNvSpPr txBox="1"/>
          <p:nvPr/>
        </p:nvSpPr>
        <p:spPr>
          <a:xfrm>
            <a:off x="1145842" y="6815096"/>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3" name="Text 67"/>
          <p:cNvSpPr txBox="1"/>
          <p:nvPr/>
        </p:nvSpPr>
        <p:spPr>
          <a:xfrm>
            <a:off x="405408" y="690237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AAA</a:t>
            </a:r>
            <a:endParaRPr lang="vi-VN" sz="650" dirty="0"/>
          </a:p>
        </p:txBody>
      </p:sp>
      <p:sp>
        <p:nvSpPr>
          <p:cNvPr id="74" name="Text 68"/>
          <p:cNvSpPr txBox="1"/>
          <p:nvPr/>
        </p:nvSpPr>
        <p:spPr>
          <a:xfrm>
            <a:off x="1107866" y="6911515"/>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3,9x</a:t>
            </a:r>
            <a:endParaRPr lang="vi-VN" sz="650" dirty="0"/>
          </a:p>
        </p:txBody>
      </p:sp>
      <p:sp>
        <p:nvSpPr>
          <p:cNvPr id="75" name="Text 69"/>
          <p:cNvSpPr txBox="1"/>
          <p:nvPr/>
        </p:nvSpPr>
        <p:spPr>
          <a:xfrm>
            <a:off x="405408" y="6998790"/>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TPP</a:t>
            </a:r>
            <a:endParaRPr lang="vi-VN" sz="650" dirty="0"/>
          </a:p>
        </p:txBody>
      </p:sp>
      <p:sp>
        <p:nvSpPr>
          <p:cNvPr id="76" name="Text 70"/>
          <p:cNvSpPr txBox="1"/>
          <p:nvPr/>
        </p:nvSpPr>
        <p:spPr>
          <a:xfrm>
            <a:off x="1040220" y="7007934"/>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3,3x</a:t>
            </a:r>
            <a:endParaRPr lang="vi-VN" sz="650" dirty="0"/>
          </a:p>
        </p:txBody>
      </p:sp>
      <p:sp>
        <p:nvSpPr>
          <p:cNvPr id="77" name="Text 71"/>
          <p:cNvSpPr txBox="1"/>
          <p:nvPr/>
        </p:nvSpPr>
        <p:spPr>
          <a:xfrm>
            <a:off x="405408" y="709520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STP</a:t>
            </a:r>
            <a:endParaRPr lang="vi-VN" sz="650" dirty="0"/>
          </a:p>
        </p:txBody>
      </p:sp>
      <p:sp>
        <p:nvSpPr>
          <p:cNvPr id="78" name="Text 72"/>
          <p:cNvSpPr txBox="1"/>
          <p:nvPr/>
        </p:nvSpPr>
        <p:spPr>
          <a:xfrm>
            <a:off x="1002244" y="7104353"/>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3,0x</a:t>
            </a:r>
            <a:endParaRPr lang="vi-VN" sz="650" dirty="0"/>
          </a:p>
        </p:txBody>
      </p:sp>
      <p:sp>
        <p:nvSpPr>
          <p:cNvPr id="79" name="Text 73"/>
          <p:cNvSpPr txBox="1"/>
          <p:nvPr/>
        </p:nvSpPr>
        <p:spPr>
          <a:xfrm>
            <a:off x="405408" y="719162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INN</a:t>
            </a:r>
            <a:endParaRPr lang="vi-VN" sz="650" dirty="0"/>
          </a:p>
        </p:txBody>
      </p:sp>
      <p:sp>
        <p:nvSpPr>
          <p:cNvPr id="80" name="Text 74"/>
          <p:cNvSpPr txBox="1"/>
          <p:nvPr/>
        </p:nvSpPr>
        <p:spPr>
          <a:xfrm>
            <a:off x="966641" y="720077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2,7x</a:t>
            </a:r>
            <a:endParaRPr lang="vi-VN" sz="650" dirty="0"/>
          </a:p>
        </p:txBody>
      </p:sp>
      <p:sp>
        <p:nvSpPr>
          <p:cNvPr id="81" name="Text 75"/>
          <p:cNvSpPr txBox="1"/>
          <p:nvPr/>
        </p:nvSpPr>
        <p:spPr>
          <a:xfrm>
            <a:off x="405408" y="728804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PBP</a:t>
            </a:r>
            <a:endParaRPr lang="vi-VN" sz="650" dirty="0"/>
          </a:p>
        </p:txBody>
      </p:sp>
      <p:sp>
        <p:nvSpPr>
          <p:cNvPr id="82" name="Text 76"/>
          <p:cNvSpPr txBox="1"/>
          <p:nvPr/>
        </p:nvSpPr>
        <p:spPr>
          <a:xfrm>
            <a:off x="895435" y="729719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2,1x</a:t>
            </a:r>
            <a:endParaRPr lang="vi-VN" sz="650" dirty="0"/>
          </a:p>
        </p:txBody>
      </p:sp>
      <p:sp>
        <p:nvSpPr>
          <p:cNvPr id="83" name="Text 77"/>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vi-VN" sz="600" dirty="0"/>
          </a:p>
        </p:txBody>
      </p:sp>
      <p:sp>
        <p:nvSpPr>
          <p:cNvPr id="84" name="Text 78"/>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Các phương pháp nằm trong khoảng 18–28 tỷ khi cùng tính rủi ro thất bại</a:t>
            </a:r>
            <a:endParaRPr lang="vi-VN" sz="720" dirty="0"/>
          </a:p>
        </p:txBody>
      </p:sp>
      <p:sp>
        <p:nvSpPr>
          <p:cNvPr id="85" name="Text 79"/>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86"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87" name="Shape 80"/>
          <p:cNvSpPr/>
          <p:nvPr/>
        </p:nvSpPr>
        <p:spPr>
          <a:xfrm>
            <a:off x="1503132" y="8094744"/>
            <a:ext cx="0" cy="778258"/>
          </a:xfrm>
          <a:prstGeom prst="line">
            <a:avLst/>
          </a:prstGeom>
          <a:noFill/>
          <a:ln w="6350">
            <a:solidFill>
              <a:srgbClr val="BFBFBF"/>
            </a:solidFill>
            <a:prstDash val="solid"/>
          </a:ln>
        </p:spPr>
      </p:sp>
      <p:sp>
        <p:nvSpPr>
          <p:cNvPr id="88" name="Text 81"/>
          <p:cNvSpPr txBox="1"/>
          <p:nvPr/>
        </p:nvSpPr>
        <p:spPr>
          <a:xfrm>
            <a:off x="405408" y="8095470"/>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a:t>
            </a:r>
            <a:endParaRPr lang="vi-VN" sz="650" dirty="0"/>
          </a:p>
        </p:txBody>
      </p:sp>
      <p:sp>
        <p:nvSpPr>
          <p:cNvPr id="89" name="Text 82"/>
          <p:cNvSpPr txBox="1"/>
          <p:nvPr/>
        </p:nvSpPr>
        <p:spPr>
          <a:xfrm>
            <a:off x="2265327" y="8095470"/>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27,7</a:t>
            </a:r>
            <a:endParaRPr lang="vi-VN" sz="650" dirty="0"/>
          </a:p>
        </p:txBody>
      </p:sp>
      <p:sp>
        <p:nvSpPr>
          <p:cNvPr id="90" name="Text 83"/>
          <p:cNvSpPr txBox="1"/>
          <p:nvPr/>
        </p:nvSpPr>
        <p:spPr>
          <a:xfrm>
            <a:off x="405408" y="820664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a:t>
            </a:r>
            <a:endParaRPr lang="vi-VN" sz="650" dirty="0"/>
          </a:p>
        </p:txBody>
      </p:sp>
      <p:sp>
        <p:nvSpPr>
          <p:cNvPr id="91" name="Text 84"/>
          <p:cNvSpPr txBox="1"/>
          <p:nvPr/>
        </p:nvSpPr>
        <p:spPr>
          <a:xfrm>
            <a:off x="2106173" y="820664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21,7</a:t>
            </a:r>
            <a:endParaRPr lang="vi-VN" sz="650" dirty="0"/>
          </a:p>
        </p:txBody>
      </p:sp>
      <p:sp>
        <p:nvSpPr>
          <p:cNvPr id="92" name="Text 85"/>
          <p:cNvSpPr txBox="1"/>
          <p:nvPr/>
        </p:nvSpPr>
        <p:spPr>
          <a:xfrm>
            <a:off x="405408" y="831782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a:t>
            </a:r>
            <a:endParaRPr lang="vi-VN" sz="650" dirty="0"/>
          </a:p>
        </p:txBody>
      </p:sp>
      <p:sp>
        <p:nvSpPr>
          <p:cNvPr id="93" name="Text 86"/>
          <p:cNvSpPr txBox="1"/>
          <p:nvPr/>
        </p:nvSpPr>
        <p:spPr>
          <a:xfrm>
            <a:off x="2071689" y="831782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20,4</a:t>
            </a:r>
            <a:endParaRPr lang="vi-VN" sz="650" dirty="0"/>
          </a:p>
        </p:txBody>
      </p:sp>
      <p:sp>
        <p:nvSpPr>
          <p:cNvPr id="94" name="Text 87"/>
          <p:cNvSpPr txBox="1"/>
          <p:nvPr/>
        </p:nvSpPr>
        <p:spPr>
          <a:xfrm>
            <a:off x="405408" y="8429009"/>
            <a:ext cx="1052005"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a:t>
            </a:r>
            <a:endParaRPr lang="vi-VN" sz="650" dirty="0"/>
          </a:p>
        </p:txBody>
      </p:sp>
      <p:sp>
        <p:nvSpPr>
          <p:cNvPr id="95" name="Text 88"/>
          <p:cNvSpPr txBox="1"/>
          <p:nvPr/>
        </p:nvSpPr>
        <p:spPr>
          <a:xfrm>
            <a:off x="2124741" y="842900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22,4</a:t>
            </a:r>
            <a:endParaRPr lang="vi-VN" sz="650" dirty="0"/>
          </a:p>
        </p:txBody>
      </p:sp>
      <p:sp>
        <p:nvSpPr>
          <p:cNvPr id="96" name="Text 89"/>
          <p:cNvSpPr txBox="1"/>
          <p:nvPr/>
        </p:nvSpPr>
        <p:spPr>
          <a:xfrm>
            <a:off x="405408" y="854018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 xác suất sống sót</a:t>
            </a:r>
            <a:endParaRPr lang="vi-VN" sz="650" dirty="0"/>
          </a:p>
        </p:txBody>
      </p:sp>
      <p:sp>
        <p:nvSpPr>
          <p:cNvPr id="97" name="Text 90"/>
          <p:cNvSpPr txBox="1"/>
          <p:nvPr/>
        </p:nvSpPr>
        <p:spPr>
          <a:xfrm>
            <a:off x="2013333" y="854018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18,2</a:t>
            </a:r>
            <a:endParaRPr lang="vi-VN" sz="650" dirty="0"/>
          </a:p>
        </p:txBody>
      </p:sp>
      <p:sp>
        <p:nvSpPr>
          <p:cNvPr id="98" name="Text 91"/>
          <p:cNvSpPr txBox="1"/>
          <p:nvPr/>
        </p:nvSpPr>
        <p:spPr>
          <a:xfrm>
            <a:off x="405408" y="865136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VCSH sổ sách 2025</a:t>
            </a:r>
            <a:endParaRPr lang="vi-VN" sz="650" dirty="0"/>
          </a:p>
        </p:txBody>
      </p:sp>
      <p:sp>
        <p:nvSpPr>
          <p:cNvPr id="99" name="Text 92"/>
          <p:cNvSpPr txBox="1"/>
          <p:nvPr/>
        </p:nvSpPr>
        <p:spPr>
          <a:xfrm>
            <a:off x="2326336" y="865136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30,0</a:t>
            </a:r>
            <a:endParaRPr lang="vi-VN" sz="650" dirty="0"/>
          </a:p>
        </p:txBody>
      </p:sp>
      <p:sp>
        <p:nvSpPr>
          <p:cNvPr id="100" name="Text 93"/>
          <p:cNvSpPr txBox="1"/>
          <p:nvPr/>
        </p:nvSpPr>
        <p:spPr>
          <a:xfrm>
            <a:off x="405408" y="876254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trị thanh lý</a:t>
            </a:r>
            <a:endParaRPr lang="vi-VN" sz="650" dirty="0"/>
          </a:p>
        </p:txBody>
      </p:sp>
      <p:sp>
        <p:nvSpPr>
          <p:cNvPr id="101" name="Text 94"/>
          <p:cNvSpPr txBox="1"/>
          <p:nvPr/>
        </p:nvSpPr>
        <p:spPr>
          <a:xfrm>
            <a:off x="1928450" y="876254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102" name="Text 9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a:t>
            </a:r>
            <a:endParaRPr lang="vi-VN" sz="600" dirty="0"/>
          </a:p>
        </p:txBody>
      </p:sp>
      <p:sp>
        <p:nvSpPr>
          <p:cNvPr id="103" name="Text 9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5.3. DCF</a:t>
            </a:r>
            <a:endParaRPr lang="vi-VN" sz="900" dirty="0"/>
          </a:p>
        </p:txBody>
      </p:sp>
      <p:sp>
        <p:nvSpPr>
          <p:cNvPr id="104" name="Text 97"/>
          <p:cNvSpPr txBox="1"/>
          <p:nvPr/>
        </p:nvSpPr>
        <p:spPr>
          <a:xfrm>
            <a:off x="2745284" y="74175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DCF cho giá trị vốn chủ sở hữu trước khi gọi vốn (pre-money) là 20,4 tỷ đồng (Fig. 49, Fig. 50). Hiện giá của FCFF 2026–2030 âm 38,5 tỷ đồng do khoản đầu tư nhà máy năm 2028, nên toàn bộ giá trị đến từ giá trị cuối kỳ: 111,5 tỷ đồng tại năm 2030, tương đương 57,6 tỷ đồng hiện giá, gấp khoảng ba lần giá trị doanh nghiệp (302% EV).</a:t>
            </a:r>
            <a:endParaRPr lang="vi-VN" sz="850" dirty="0"/>
          </a:p>
        </p:txBody>
      </p:sp>
      <p:sp>
        <p:nvSpPr>
          <p:cNvPr id="105" name="Text 98"/>
          <p:cNvSpPr txBox="1"/>
          <p:nvPr/>
        </p:nvSpPr>
        <p:spPr>
          <a:xfrm>
            <a:off x="2745284" y="130566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(12,3%). Nếu lấy thẳng FCFF năm 2030 nhân (1 + g), mô hình sẽ vĩnh viễn hóa mức CAPEX của giai đoạn tăng 20% mỗi năm trong khi chỉ ghi nhận tăng trưởng 5%, và giá trị cuối kỳ sẽ thấp hơn khoảng 13%.</a:t>
            </a:r>
            <a:endParaRPr lang="vi-VN" sz="850" dirty="0"/>
          </a:p>
        </p:txBody>
      </p:sp>
      <p:sp>
        <p:nvSpPr>
          <p:cNvPr id="106" name="Text 99"/>
          <p:cNvSpPr txBox="1"/>
          <p:nvPr/>
        </p:nvSpPr>
        <p:spPr>
          <a:xfrm>
            <a:off x="2745284" y="213270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Vì ROIC năm 2030 (12,3%) thấp hơn WACC, tăng trưởng sau năm 2030 làm giảm nhẹ giá trị thay vì tạo thêm; đây là một giả định thận trọng. Khi WACC và g cùng thay đổi 1 điểm %, giá trị DCF nằm trong khoảng 11,7–29,7 tỷ đồng (Fig. A14). Kết quả tương đương EV/EBITDA năm 2025 khoảng 2,5 lần, thấp hơn trung vị 4,6 lần của ngành: DCF không trả thêm cho tăng trưởng, vì khoản đầu tư năm 2028 chưa bù được chi phí vốn trong kỳ dự phóng.</a:t>
            </a:r>
            <a:endParaRPr lang="vi-VN" sz="850" dirty="0"/>
          </a:p>
        </p:txBody>
      </p:sp>
      <p:sp>
        <p:nvSpPr>
          <p:cNvPr id="107" name="Text 100"/>
          <p:cNvSpPr txBox="1"/>
          <p:nvPr/>
        </p:nvSpPr>
        <p:spPr>
          <a:xfrm>
            <a:off x="2745284" y="2859306"/>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vi-VN" sz="720" dirty="0"/>
          </a:p>
        </p:txBody>
      </p:sp>
      <p:sp>
        <p:nvSpPr>
          <p:cNvPr id="108" name="Text 101"/>
          <p:cNvSpPr txBox="1"/>
          <p:nvPr/>
        </p:nvSpPr>
        <p:spPr>
          <a:xfrm>
            <a:off x="2745284" y="298683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102322"/>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TV</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NOPAT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Khấu hao</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Tăng vốn lưu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CAPEX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FCFF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Hệ số chiết khấu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0,876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hiện tại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10" name="Text 102"/>
          <p:cNvSpPr txBox="1"/>
          <p:nvPr/>
        </p:nvSpPr>
        <p:spPr>
          <a:xfrm>
            <a:off x="2745284" y="4190851"/>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vi-VN" sz="600" dirty="0"/>
          </a:p>
        </p:txBody>
      </p:sp>
      <p:sp>
        <p:nvSpPr>
          <p:cNvPr id="111" name="Text 103"/>
          <p:cNvSpPr txBox="1"/>
          <p:nvPr/>
        </p:nvSpPr>
        <p:spPr>
          <a:xfrm>
            <a:off x="2745284" y="436498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5.4. VC Method</a:t>
            </a:r>
            <a:endParaRPr lang="vi-VN" sz="900" dirty="0"/>
          </a:p>
        </p:txBody>
      </p:sp>
      <p:sp>
        <p:nvSpPr>
          <p:cNvPr id="112" name="Text 104"/>
          <p:cNvSpPr txBox="1"/>
          <p:nvPr/>
        </p:nvSpPr>
        <p:spPr>
          <a:xfrm>
            <a:off x="2745284" y="453434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VC Method cho pre-money 21,7 tỷ đồng (Fig. 51, Fig. 52). Nhóm ước tính giá trị doanh nghiệp khi nhà đầu tư thoái vốn cuối năm 2030 bằng hai cách rồi lấy bình quân: nhân lợi nhuận sau thuế năm 2030 với P/E 9,4 lần được 125,7 tỷ đồng; nhân EBITDA năm 2030 với EV/EBITDA 8,0 lần, rồi cộng tiền mặt và trừ nợ vay, được 275,5 tỷ đồng. Hai bội số này là mức bình quân năm 2026 của ngành Containers &amp; Packaging theo FiinX. Giá trị thoái vốn dùng để định giá là 200,6 tỷ đồng.</a:t>
            </a:r>
            <a:endParaRPr lang="vi-VN" sz="850" dirty="0"/>
          </a:p>
        </p:txBody>
      </p:sp>
      <p:sp>
        <p:nvSpPr>
          <p:cNvPr id="113" name="Text 105"/>
          <p:cNvSpPr txBox="1"/>
          <p:nvPr/>
        </p:nvSpPr>
        <p:spPr>
          <a:xfrm>
            <a:off x="2745284" y="5229820"/>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với r là WACC 14,1% và n = 5 năm. Kết quả p = 26,4%; phần cao hơn WACC chính là khoản bù cho rủi ro thất bại. Chiết khấu giá trị thoái vốn về hiện tại với tỷ suất này cho post-money 62,2 tỷ đồng; trừ đi 40,5 tỷ đồng vốn cổ phần cần huy động, pre-money còn 21,7 tỷ đồng, và nhà đầu tư mới sẽ nắm khoảng 65% cổ phần.</a:t>
            </a:r>
            <a:endParaRPr lang="vi-VN" sz="850" dirty="0"/>
          </a:p>
        </p:txBody>
      </p:sp>
      <p:sp>
        <p:nvSpPr>
          <p:cNvPr id="114" name="Text 106"/>
          <p:cNvSpPr txBox="1"/>
          <p:nvPr/>
        </p:nvSpPr>
        <p:spPr>
          <a:xfrm>
            <a:off x="2745284" y="6056858"/>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5.5. Multiples</a:t>
            </a:r>
            <a:endParaRPr lang="vi-VN" sz="900" dirty="0"/>
          </a:p>
        </p:txBody>
      </p:sp>
      <p:sp>
        <p:nvSpPr>
          <p:cNvPr id="115" name="Text 107"/>
          <p:cNvSpPr txBox="1"/>
          <p:nvPr/>
        </p:nvSpPr>
        <p:spPr>
          <a:xfrm>
            <a:off x="2745284" y="622622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vi-VN" sz="850" dirty="0"/>
          </a:p>
        </p:txBody>
      </p:sp>
      <p:sp>
        <p:nvSpPr>
          <p:cNvPr id="116" name="Text 108"/>
          <p:cNvSpPr txBox="1"/>
          <p:nvPr/>
        </p:nvSpPr>
        <p:spPr>
          <a:xfrm>
            <a:off x="2745284" y="747908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vi-VN" sz="720" dirty="0"/>
          </a:p>
        </p:txBody>
      </p:sp>
      <p:sp>
        <p:nvSpPr>
          <p:cNvPr id="117" name="Text 109"/>
          <p:cNvSpPr txBox="1"/>
          <p:nvPr/>
        </p:nvSpPr>
        <p:spPr>
          <a:xfrm>
            <a:off x="2745284" y="7606605"/>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7722096"/>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tính (chỉ tiêu 2025A)</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Bội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Trước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Sau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4,63x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7,99x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4 cách (pre-money)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9" name="Text 110"/>
          <p:cNvSpPr txBox="1"/>
          <p:nvPr/>
        </p:nvSpPr>
        <p:spPr>
          <a:xfrm>
            <a:off x="2745284" y="8542734"/>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Sheet Multiples; FiinX (28/9/2026)</a:t>
            </a:r>
            <a:endParaRPr lang="vi-VN" sz="600" dirty="0"/>
          </a:p>
        </p:txBody>
      </p:sp>
      <p:sp>
        <p:nvSpPr>
          <p:cNvPr id="120" name="Text 111"/>
          <p:cNvSpPr txBox="1"/>
          <p:nvPr/>
        </p:nvSpPr>
        <p:spPr>
          <a:xfrm>
            <a:off x="2745284" y="87168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vi-VN" sz="900" dirty="0"/>
          </a:p>
        </p:txBody>
      </p:sp>
      <p:sp>
        <p:nvSpPr>
          <p:cNvPr id="121" name="Text 112"/>
          <p:cNvSpPr txBox="1"/>
          <p:nvPr/>
        </p:nvSpPr>
        <p:spPr>
          <a:xfrm>
            <a:off x="2745284" y="8886230"/>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 phương pháp cho kết quả từ 20,4 đến 27,7 tỷ đồng. Tính bình quân gia quyền, pre-money của AgriPack là 22,4 tỷ đồng, nằm trong khoảng 11,4–35,5 tỷ đồng (Fig. 55).</a:t>
            </a:r>
            <a:endParaRPr lang="vi-VN" sz="850" dirty="0"/>
          </a:p>
        </p:txBody>
      </p:sp>
      <p:sp>
        <p:nvSpPr>
          <p:cNvPr id="122" name="Text 11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23" name="Text 11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14</a:t>
            </a:r>
            <a:endParaRPr lang="vi-VN"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973639"/>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3001566"/>
            <a:ext cx="4409182" cy="0"/>
          </a:xfrm>
          <a:prstGeom prst="line">
            <a:avLst/>
          </a:prstGeom>
          <a:noFill/>
          <a:ln w="9525">
            <a:solidFill>
              <a:srgbClr val="7B1E2B"/>
            </a:solidFill>
            <a:prstDash val="solid"/>
          </a:ln>
        </p:spPr>
      </p:sp>
      <p:sp>
        <p:nvSpPr>
          <p:cNvPr id="5" name="Shape 3"/>
          <p:cNvSpPr/>
          <p:nvPr/>
        </p:nvSpPr>
        <p:spPr>
          <a:xfrm>
            <a:off x="405408" y="5306020"/>
            <a:ext cx="6749058" cy="0"/>
          </a:xfrm>
          <a:prstGeom prst="line">
            <a:avLst/>
          </a:prstGeom>
          <a:noFill/>
          <a:ln w="9525">
            <a:solidFill>
              <a:srgbClr val="7B1E2B"/>
            </a:solidFill>
            <a:prstDash val="solid"/>
          </a:ln>
        </p:spPr>
      </p:sp>
      <p:sp>
        <p:nvSpPr>
          <p:cNvPr id="6" name="Shape 4"/>
          <p:cNvSpPr/>
          <p:nvPr/>
        </p:nvSpPr>
        <p:spPr>
          <a:xfrm>
            <a:off x="405408" y="7246441"/>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2745284" y="558105"/>
            <a:ext cx="4464046" cy="1315641"/>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Vì sao DCF thấp hơn VC Method và 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(20,4 tỷ đồng) giả định doanh nghiệp chắc chắn hoạt động như dự phóng, nhưng định giá doanh nghiệp năm 2030 bằng dòng tiền sau năm 2030 (giá trị cuối kỳ 111,5 tỷ đồng) với đúng ROIC của AgriPack năm 2030 (12,3%), thấp hơn WACC. VC Method thì dùng bội số ngành cho giá trị thoái vốn 200,6 tỷ đồng; các bội số này ngầm định doanh nghiệp sinh lời cao hơn chi phí vốn, nên VC Method (21,7 tỷ) vẫn cao hơn DCF dù đã tính 40% khả năng thất bại. Riêng cách tính theo EV/EBITDA cho tới 275 tỷ đồng, vì biên EBITDA năm 2030 (20,7%) cao hơn nhiều biên EBIT (11,4%) khi khấu hao lớn. Khi nhân giá trị DCF với xác suất sống sót 60% và cộng 40% khả năng thanh lý (giá trị thanh lý 15,0 tỷ đồng, bằng một nửa vốn chủ sở hữu sổ sách), giá trị còn 18,2 tỷ đồng. Multiples cho giá trị cao nhất (27,7 tỷ) vì chỉ định giá quy mô hoạt động năm 2025, chưa phải gánh khoản đầu tư 65 tỷ đồng năm 2028.</a:t>
            </a:r>
            <a:endParaRPr lang="vi-VN" sz="850" dirty="0"/>
          </a:p>
        </p:txBody>
      </p:sp>
      <p:sp>
        <p:nvSpPr>
          <p:cNvPr id="11" name="Text 9"/>
          <p:cNvSpPr txBox="1"/>
          <p:nvPr/>
        </p:nvSpPr>
        <p:spPr>
          <a:xfrm>
            <a:off x="2745284" y="1911400"/>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Mức 22,4 tỷ đồng chỉ bằng khoảng 0,75 lần vốn chủ sở hữu sổ sách, tương đương P/E năm 2025 khoảng 6,3 lần và EV/EBITDA khoảng 2,7 lần. Nói cách khác, nhà đầu tư chưa trả thêm cho tăng trưởng, vì để tăng trưởng doanh nghiệp cần thêm gần 80 tỷ đồng vốn bên ngoài và ROIC giai đoạn 2028–2030 thấp hơn WACC. Kết quả nhạy nhất với sản lượng: trong kịch bản xấu, khi sản lượng chỉ bằng 70% kịch bản cơ sở, giá trị vốn chủ sở hữu âm; kịch bản tốt cho 68,6 tỷ đồng; còn nếu chỉ huy động vốn cổ phần mà không vay, nhu cầu vốn cổ phần tăng lên 73,6 tỷ đồng và pre-money bình quân còn 15,4 tỷ đồng (Fig. 56). Ưu điểm và hạn chế của từng phương pháp được tóm tắt ở Fig. 57; phần diễn giải chi tiết và bảng độ nhạy nằm ở Phụ lục (Fig. A14).</a:t>
            </a:r>
            <a:endParaRPr lang="vi-VN" sz="850" dirty="0"/>
          </a:p>
        </p:txBody>
      </p:sp>
      <p:sp>
        <p:nvSpPr>
          <p:cNvPr id="12" name="Text 10"/>
          <p:cNvSpPr txBox="1"/>
          <p:nvPr/>
        </p:nvSpPr>
        <p:spPr>
          <a:xfrm>
            <a:off x="2745284" y="3032691"/>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15,4 tỷ</a:t>
            </a:r>
            <a:endParaRPr lang="vi-VN" sz="720" dirty="0"/>
          </a:p>
        </p:txBody>
      </p:sp>
      <p:sp>
        <p:nvSpPr>
          <p:cNvPr id="13" name="Text 11"/>
          <p:cNvSpPr txBox="1"/>
          <p:nvPr/>
        </p:nvSpPr>
        <p:spPr>
          <a:xfrm>
            <a:off x="2745284" y="316021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275707"/>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Cơ sở</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Xấu (Bear)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Tốt (Bull)</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vốn CP, không vay</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Vay 75% CAPEX 2028</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227,4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CAGR DT 2025–30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Biên EBITDA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FCFF 2026–30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 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DCF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gia quyền*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22,4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997351"/>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vi-VN" sz="600" dirty="0"/>
          </a:p>
        </p:txBody>
      </p:sp>
      <p:sp>
        <p:nvSpPr>
          <p:cNvPr id="16" name="Text 13"/>
          <p:cNvSpPr txBox="1"/>
          <p:nvPr/>
        </p:nvSpPr>
        <p:spPr>
          <a:xfrm>
            <a:off x="405408" y="533714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vi-VN"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478959"/>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Vì sao phù hợp với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Hạn chế trong trường hợp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xử lý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Trọng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DCF (FCFF)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cuối kỳ bằng 302% EV vì FCFF 2026–2029 âm; kết quả nhạy với WACC và g; một kịch bản duy nhất, chưa tính khả năng thất bại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Multiples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81037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vi-VN" sz="600" dirty="0"/>
          </a:p>
        </p:txBody>
      </p:sp>
      <p:sp>
        <p:nvSpPr>
          <p:cNvPr id="19" name="Text 15"/>
          <p:cNvSpPr txBox="1"/>
          <p:nvPr/>
        </p:nvSpPr>
        <p:spPr>
          <a:xfrm>
            <a:off x="484608" y="700603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6. KẾ HOẠCH HUY ĐỘNG VỐN</a:t>
            </a:r>
            <a:endParaRPr lang="vi-VN" sz="880" dirty="0"/>
          </a:p>
        </p:txBody>
      </p:sp>
      <p:sp>
        <p:nvSpPr>
          <p:cNvPr id="20" name="Text 16"/>
          <p:cNvSpPr txBox="1"/>
          <p:nvPr/>
        </p:nvSpPr>
        <p:spPr>
          <a:xfrm>
            <a:off x="405408" y="727756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Thiếu hụt so với tiền mặt tối thiểu lớn nhất năm 2030: 36,8 tỷ; cộng 10% dự phòng thành 40,5 tỷ</a:t>
            </a:r>
            <a:endParaRPr lang="vi-VN" sz="720" dirty="0"/>
          </a:p>
        </p:txBody>
      </p:sp>
      <p:sp>
        <p:nvSpPr>
          <p:cNvPr id="21" name="Text 17"/>
          <p:cNvSpPr txBox="1"/>
          <p:nvPr/>
        </p:nvSpPr>
        <p:spPr>
          <a:xfrm>
            <a:off x="405408" y="75146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trước khi gọi vốn cổ phần, đã gồm khoản vay 2028</a:t>
            </a:r>
            <a:endParaRPr lang="vi-VN" sz="630" dirty="0"/>
          </a:p>
        </p:txBody>
      </p:sp>
      <p:graphicFrame>
        <p:nvGraphicFramePr>
          <p:cNvPr id="22" name="Chart 0" descr=""/>
          <p:cNvGraphicFramePr/>
          <p:nvPr/>
        </p:nvGraphicFramePr>
        <p:xfrm>
          <a:off x="405408" y="7630120"/>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48458" y="794003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24" name="Text 19"/>
          <p:cNvSpPr txBox="1"/>
          <p:nvPr/>
        </p:nvSpPr>
        <p:spPr>
          <a:xfrm>
            <a:off x="873131" y="7915784"/>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5" name="Text 20"/>
          <p:cNvSpPr txBox="1"/>
          <p:nvPr/>
        </p:nvSpPr>
        <p:spPr>
          <a:xfrm>
            <a:off x="1297805" y="77836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23,9</a:t>
            </a:r>
            <a:endParaRPr lang="vi-VN" sz="650" dirty="0"/>
          </a:p>
        </p:txBody>
      </p:sp>
      <p:sp>
        <p:nvSpPr>
          <p:cNvPr id="26" name="Text 21"/>
          <p:cNvSpPr txBox="1"/>
          <p:nvPr/>
        </p:nvSpPr>
        <p:spPr>
          <a:xfrm>
            <a:off x="1722478" y="77117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32,5</a:t>
            </a:r>
            <a:endParaRPr lang="vi-VN" sz="650" dirty="0"/>
          </a:p>
        </p:txBody>
      </p:sp>
      <p:sp>
        <p:nvSpPr>
          <p:cNvPr id="27" name="Text 22"/>
          <p:cNvSpPr txBox="1"/>
          <p:nvPr/>
        </p:nvSpPr>
        <p:spPr>
          <a:xfrm>
            <a:off x="2147151" y="767584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36,8</a:t>
            </a:r>
            <a:endParaRPr lang="vi-VN" sz="650" dirty="0"/>
          </a:p>
        </p:txBody>
      </p:sp>
      <p:sp>
        <p:nvSpPr>
          <p:cNvPr id="28" name="Text 23"/>
          <p:cNvSpPr txBox="1"/>
          <p:nvPr/>
        </p:nvSpPr>
        <p:spPr>
          <a:xfrm>
            <a:off x="405408" y="833511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vi-VN" sz="600" dirty="0"/>
          </a:p>
        </p:txBody>
      </p:sp>
      <p:sp>
        <p:nvSpPr>
          <p:cNvPr id="29" name="Text 24"/>
          <p:cNvSpPr txBox="1"/>
          <p:nvPr/>
        </p:nvSpPr>
        <p:spPr>
          <a:xfrm>
            <a:off x="2745284" y="72607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6.1. Nhu cầu vốn</a:t>
            </a:r>
            <a:endParaRPr lang="vi-VN" sz="900" dirty="0"/>
          </a:p>
        </p:txBody>
      </p:sp>
      <p:sp>
        <p:nvSpPr>
          <p:cNvPr id="30" name="Text 25"/>
          <p:cNvSpPr txBox="1"/>
          <p:nvPr/>
        </p:nvSpPr>
        <p:spPr>
          <a:xfrm>
            <a:off x="2745284" y="743009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2028 với nhu cầu huy động vốn là 40,46 tỷ đồng.</a:t>
            </a:r>
            <a:endParaRPr lang="vi-VN" sz="850" dirty="0"/>
          </a:p>
        </p:txBody>
      </p:sp>
      <p:sp>
        <p:nvSpPr>
          <p:cNvPr id="31" name="Text 26"/>
          <p:cNvSpPr txBox="1"/>
          <p:nvPr/>
        </p:nvSpPr>
        <p:spPr>
          <a:xfrm>
            <a:off x="2745284" y="7862441"/>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2028 nhằm đáp ứng việc thúc đẩy tăng trưởng của doanh nghiệp trong vòng ít nhất 5 năm tới.</a:t>
            </a:r>
            <a:endParaRPr lang="vi-VN" sz="850" dirty="0"/>
          </a:p>
        </p:txBody>
      </p:sp>
      <p:sp>
        <p:nvSpPr>
          <p:cNvPr id="32" name="Text 27"/>
          <p:cNvSpPr txBox="1"/>
          <p:nvPr/>
        </p:nvSpPr>
        <p:spPr>
          <a:xfrm>
            <a:off x="2745284" y="8952607"/>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Với nhu cầu mở rộng quy mô năm 2028, nhóm ước tính số vốn 40,46 tỷ đồng huy động từ bên ngoài sẽ đảm bảo tài trợ cho hoạt động đầu tư CAPEX và duy trì tiền mặt tối thiểu của doanh nghiệp trong giai đoạn 2026 – 2030 (Fig. 58, Fig. 59):</a:t>
            </a:r>
            <a:endParaRPr lang="vi-VN" sz="850" dirty="0"/>
          </a:p>
        </p:txBody>
      </p:sp>
      <p:sp>
        <p:nvSpPr>
          <p:cNvPr id="33" name="Text 2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4" name="Text 29"/>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15</a:t>
            </a:r>
            <a:endParaRPr lang="vi-VN"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Gọi 40,5 tỷ vốn cổ phần năm 2026: nhà đầu tư mới nắm khoảng 64%</a:t>
            </a:r>
            <a:endParaRPr lang="vi-VN"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tiêu</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mặt cuối kỳ trước gọi vốn, 2026E →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 → (27,8)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Thiếu hụt lớn nhất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Dự phòng 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Vốn cổ phần cần huy động (2026)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hạn/xanh 2028 (60% CAPEX nhà máy)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vốn bên ngoài 2026–2028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(bình quân 40/40/20)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Post-money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sở hữu NĐT mới / cổ đông hiện hữu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64,4% / 35,6%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vi-VN"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Giả định vào năm 2028, 60% CAPEX của dự án mở rộng được tài trợ bằng vay trung hạn/xanh (~39,2 tỷ đồng). Số tiền này cùng CFO cùng năm (11,3 tỷ đồng) không đủ để bù đắp cho CAPEX (65,26 tỷ đồng), khiến biến động tiền mặt trong năm âm, số dư tiền mặt cuối kỳ âm.</a:t>
            </a:r>
            <a:endParaRPr lang="vi-VN" sz="850" dirty="0"/>
          </a:p>
        </p:txBody>
      </p:sp>
      <p:sp>
        <p:nvSpPr>
          <p:cNvPr id="15" name="Text 12"/>
          <p:cNvSpPr txBox="1"/>
          <p:nvPr/>
        </p:nvSpPr>
        <p:spPr>
          <a:xfrm>
            <a:off x="2759184" y="961727"/>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(2026–2029), cộng thêm việc trả nợ vay trung hạn (từ 2030), khiến cho số dư tiền mặt cuối kỳ của cả 5 năm đều âm nếu không gọi thêm vốn.</a:t>
            </a:r>
            <a:endParaRPr lang="vi-VN" sz="850" dirty="0"/>
          </a:p>
        </p:txBody>
      </p:sp>
      <p:sp>
        <p:nvSpPr>
          <p:cNvPr id="16" name="Text 13"/>
          <p:cNvSpPr txBox="1"/>
          <p:nvPr/>
        </p:nvSpPr>
        <p:spPr>
          <a:xfrm>
            <a:off x="2759184" y="1365349"/>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~36,8 tỷ đồng. Cộng thêm dự phòng 10%, tổng số vốn cần huy động là ~40,46 tỷ đồng.</a:t>
            </a:r>
            <a:endParaRPr lang="vi-VN" sz="850" dirty="0"/>
          </a:p>
        </p:txBody>
      </p:sp>
      <p:sp>
        <p:nvSpPr>
          <p:cNvPr id="17" name="Text 14"/>
          <p:cNvSpPr txBox="1"/>
          <p:nvPr/>
        </p:nvSpPr>
        <p:spPr>
          <a:xfrm>
            <a:off x="2745284" y="20752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22,4 tỷ đồng, post-money là 62,8 tỷ đồng và nhà đầu tư mới sẽ nắm khoảng 64% cổ phần (Fig. 59).</a:t>
            </a:r>
            <a:endParaRPr lang="vi-VN"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vi-VN"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vi-VN"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Post-money, tỷ đồng</a:t>
            </a:r>
            <a:endParaRPr lang="vi-VN"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501542" y="3601075"/>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62,2</a:t>
            </a:r>
            <a:endParaRPr lang="vi-VN" sz="650" dirty="0"/>
          </a:p>
        </p:txBody>
      </p:sp>
      <p:sp>
        <p:nvSpPr>
          <p:cNvPr id="23" name="Text 19"/>
          <p:cNvSpPr txBox="1"/>
          <p:nvPr/>
        </p:nvSpPr>
        <p:spPr>
          <a:xfrm>
            <a:off x="1209331" y="3687733"/>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44,0</a:t>
            </a:r>
            <a:endParaRPr lang="vi-VN" sz="650" dirty="0"/>
          </a:p>
        </p:txBody>
      </p:sp>
      <p:sp>
        <p:nvSpPr>
          <p:cNvPr id="24" name="Text 20"/>
          <p:cNvSpPr txBox="1"/>
          <p:nvPr/>
        </p:nvSpPr>
        <p:spPr>
          <a:xfrm>
            <a:off x="1917120" y="3761536"/>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28,5</a:t>
            </a:r>
            <a:endParaRPr lang="vi-VN" sz="650" dirty="0"/>
          </a:p>
        </p:txBody>
      </p:sp>
      <p:sp>
        <p:nvSpPr>
          <p:cNvPr id="25" name="Text 21"/>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vi-VN" sz="600" dirty="0"/>
          </a:p>
        </p:txBody>
      </p:sp>
      <p:sp>
        <p:nvSpPr>
          <p:cNvPr id="26" name="Text 22"/>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vi-VN"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cần có và cách dùng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(z của giai đoạn ươm mầm, thử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(Payne)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Berkus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Risk factor summation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Chi phí tái tạo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8" name="Text 23"/>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vi-VN" sz="600" dirty="0"/>
          </a:p>
        </p:txBody>
      </p:sp>
      <p:sp>
        <p:nvSpPr>
          <p:cNvPr id="29" name="Text 24"/>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vi-VN" sz="850" dirty="0"/>
          </a:p>
        </p:txBody>
      </p:sp>
      <p:sp>
        <p:nvSpPr>
          <p:cNvPr id="30" name="Text 25"/>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62,2 tỷ đồng xuống còn 44,0 và 28,5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vi-VN" sz="850" dirty="0"/>
          </a:p>
        </p:txBody>
      </p:sp>
      <p:sp>
        <p:nvSpPr>
          <p:cNvPr id="31" name="Text 26"/>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vi-VN"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3" name="Text 2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16</a:t>
            </a:r>
            <a:endParaRPr lang="vi-VN"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PHỤ LỤC</a:t>
            </a:r>
            <a:endParaRPr lang="vi-VN"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vi-VN"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 mục tiêu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doanh nghiệp lớn, vừa và nhỏ</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sản phẩm e-commerce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Đóng gói theo khuôn mẫu của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lượng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Khu vực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Nỗi đau và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vi-VN"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2028 và tên khách hàng là </a:t>
            </a:r>
            <a:pPr algn="l" indent="0" marL="0">
              <a:lnSpc>
                <a:spcPts val="720"/>
              </a:lnSpc>
              <a:buNone/>
            </a:pPr>
            <a:r>
              <a:rPr lang="vi-VN"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 không phải số liệu thực tế</a:t>
            </a:r>
            <a:endParaRPr lang="vi-VN"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vi-VN"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 khách hàng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Tiêu chí lựa chọn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Sản phẩm của AgriPack</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Đựng, bảo quản và vận chuyển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Đảm bảo an toàn thực phẩm.</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Chứng nhận về an toàn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Hộp/khay bã mía + vỏ trứng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va đập.</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Khay/khuôn đệm bảo vệ</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17</a:t>
            </a:r>
            <a:endParaRPr lang="vi-VN"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vi-VN"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Đối thủ</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tham khảo</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mạnh</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yếu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An Phát Holdings</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An Phát Eco)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sinh học tự phân huỷ</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Cốc/ly, bát đĩa, khay, dao thìa nĩa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Màng bọc thực phẩm, hạt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rác sinh học : 105.000 - 190.000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Dao, thìa, nĩa, ống hút sinh học: 38.000 VNĐ/ 30 chiếc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Găng tay sinh học : 170.000 - 190.000 VNĐ/ hộp.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là: 10.741,29 tỷ đồng.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9.000 tấn/ tháng.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HAPBIO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lớn (54.000 tấn sản phẩm mỗi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BioWraps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Ra mắt thị trường từ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hơn 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AIRX Coffee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thương hiệu con của Veritas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 thìa dĩa bằng bã cà phê</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cốc trung bình: 109.000 - 139.000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vỏ lụa: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giữ nhiệt: 319.000 - 349.000 VNĐ</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lập 2019</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 triệu ly bán ra</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50% sản phẩm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Long Bioplastic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Hapobe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Cung cấp giải pháp thiết kế bao bì.</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quy mô nhỏ.</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vi-VN"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Áp lực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Ưu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Nhược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truyền thống, hộp xốp dùng một lần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Rất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Khó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Giấy, carton, kraft (giấy từ gỗ mềm)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 PHA)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Phân huỷ sinh học, hình thức đẹp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(rPET, PCR)</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Bioplastic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bảo vệ (EPE/PE Foam)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(từ sợi nấm, tinh bột)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giấy tổ ong/giấy nhún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18</a:t>
            </a:r>
            <a:endParaRPr lang="vi-VN"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vi-VN"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Doanh thu bán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Các khoản giảm trừ</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Doanh thu thuần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nguyên liệu, nhân công theo sản lượng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sản xuất cố định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bộ phận sản xuất (70%)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sản xuất (90%)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Giá vốn hàng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bán hàng &amp; quản lý (30%)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Thuê mặt bằng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bán hàng &amp; quản lý (10%)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Sửa chữa, bảo dưỡng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nước, dịch vụ chung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Hỗ trợ tiền ăn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Kiểm nghiệm, chứng nhận &amp; R&amp;D</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Marketing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Chi phí bán hàng &amp; QLDN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EBIT (lợi nhuận thuần từ HĐKD trước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trước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Thuế TNDN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EBITDA = EBIT +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EBITDA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vi-VN"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cân đối kế toán 2023A–2030E</a:t>
            </a:r>
            <a:endParaRPr lang="vi-VN"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thu khách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Hàng tồn kho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Tài sản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Nguyên giá TSCĐ (hữu hình + vô hình)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lũy kế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Tài sản dài hạn ròng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trả người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Nợ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nợ phải trả</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giữ lại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Vốn chủ sở hữu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nguồn vốn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vi-VN"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lưu chuyển tiền tệ 2023A–2030E</a:t>
            </a:r>
            <a:endParaRPr lang="vi-VN"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Thay đổi vốn lưu động và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HĐKD (CFO)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CAPEX (CFI)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 cổ phần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(trả) nợ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HĐTC (CFF)</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Tiền cuối kỳ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FCFF (2023–25A: CFO − CAPEX)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vi-VN"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19</a:t>
            </a:r>
            <a:endParaRPr lang="vi-VN"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vi-VN"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31983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sản lượng hộp/khay F&amp;B</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+25% khi khai thác tối đa nhà máy hiện hữu; 2028 +20% vì nhà máy mới đang xây (đầu tư lớn theo đề bài); 2029 +35% khi 2 dây chuyền mới chạy; 2030 +25%. Lịch sử +60% (2024), +58%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bán bình quân hộp/khay F&amp;B (nghìn đ/cái)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bán F&amp;B và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số bộ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số bộ khuôn gắn với số SKU/khách hàng mới; chậm lại năm 2028 khi nhà máy mới đang xây, tăng nhanh năm 2029 khi có công suất mới và mở thị trường miền Bắc. Lịch sử +40% (2024), +39,5%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bình quân bộ khuôn (nghìn đ)</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20.400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20.808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21.224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21.649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22.082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nội thất/TMĐT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bám theo tăng trưởng TMĐT ~18%/năm và khách hàng nội thất xuất khẩu; năm 2029 +40% nhờ công suất mới. Nguồn: Mục 3.2.2;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nội thất/TMĐT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24,2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điện tử</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điện tử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đệm bảo vệ</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Khoản giảm trừ / doanh thu gộp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biến đổi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chi phí cố định sản xuất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tuyển trước cho nhà máy mới (2028–29), sau đó đòn bẩy hoạt động. Nguồn: BCTC 2023–2025; Nghị định 293/2025/NĐ-CP.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Khấu hao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Hỗ trợ tiền ăn / tiền lương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tiền thuê mặt bằng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Sửa chữa, bảo dưỡng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Điện, nước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Marketing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Kiểm nghiệm, chứng nhận &amp; R&amp;D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CAPEX / doanh thu (tỷ lệ tái đầu tư)</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tỷ lệ tái đầu tư = CAPEX/DT từng năm: 2026 20% (máy ép, xe tải, kho), 2027 15% (mở rộng nhà máy hiện hữu), 2028 65% (đầu tư lớn theo đề bài), 2029 12% (hoàn thiện, chạy thử), 2030 10%. Ngành: trung vị CAPEX/DT của 16 DN bao bì niêm yết 2023–25 là 3,1%, tứ phân vị trên 8,3%, DN đang mở rộng 13–30% (Fig. A10).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khấu hao (% nguyên giá đầu kỳ)</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tồn kho (DIO)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2029 tăng lên 105 ngày để tích trữ cho 2 dây chuyền mới. Nguồn: BCTC 2023–2025; lịch vụ ép mía.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thu (DSO)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trả (DPO)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TSNH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6,3% → 5,5% → 4,4% (2023–25); giữ 4,0%.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Nợ ngắn hạn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2023–2025 (0,17–0,24% DT).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mặt tối thiểu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7351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20</a:t>
            </a:r>
            <a:endParaRPr lang="vi-VN"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342257"/>
            <a:ext cx="6749058" cy="0"/>
          </a:xfrm>
          <a:prstGeom prst="line">
            <a:avLst/>
          </a:prstGeom>
          <a:noFill/>
          <a:ln w="9525">
            <a:solidFill>
              <a:srgbClr val="7B1E2B"/>
            </a:solidFill>
            <a:prstDash val="solid"/>
          </a:ln>
        </p:spPr>
      </p:sp>
      <p:sp>
        <p:nvSpPr>
          <p:cNvPr id="5" name="Shape 3"/>
          <p:cNvSpPr/>
          <p:nvPr/>
        </p:nvSpPr>
        <p:spPr>
          <a:xfrm>
            <a:off x="405408" y="546868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vi-VN"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1582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vay trung hạn trên CAPEX nhà máy (chỉ năm 2028)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chỉ vay ở năm đầu tư lớn 2028 (Drivers dòng 124: 60% ở cột 2028, các năm khác 0%): vay = 60% × CAPEX 2028 = 39,2 tỷ đồng, trả gốc đều 5 năm từ 2030. 60% CAPEX nhà máy mới vay trung hạn có tài sản bảo đảm (nhà xưởng, máy); lãi suất cho vay 8,1–10,5% (Mục 3.1.3), có thể xin hỗ trợ lãi suất NATIF (Mục 3.1.5). Nguồn: NHNN (2026); NATIF (2026);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vay</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TNDN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giá USD/VND bình quân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26.300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26.826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27.363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27.910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28.468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17899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2" name="Text 9"/>
          <p:cNvSpPr txBox="1"/>
          <p:nvPr/>
        </p:nvSpPr>
        <p:spPr>
          <a:xfrm>
            <a:off x="405408" y="237338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vi-VN" sz="720" dirty="0"/>
          </a:p>
        </p:txBody>
      </p:sp>
      <p:sp>
        <p:nvSpPr>
          <p:cNvPr id="13" name="Text 10"/>
          <p:cNvSpPr txBox="1"/>
          <p:nvPr/>
        </p:nvSpPr>
        <p:spPr>
          <a:xfrm>
            <a:off x="405408" y="2500908"/>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tỷ lệ bình quân gia quyền 3 năm</a:t>
            </a:r>
            <a:endParaRPr lang="vi-VN"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616398"/>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 23–25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CAPEX/KH</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SVI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12.782,2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10.728,1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14.521,9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14.192,6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3.258,9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2.506,9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844,4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Tứ phân vị trên (P75)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30542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vi-VN" sz="600" dirty="0"/>
          </a:p>
        </p:txBody>
      </p:sp>
      <p:sp>
        <p:nvSpPr>
          <p:cNvPr id="16" name="Text 12"/>
          <p:cNvSpPr txBox="1"/>
          <p:nvPr/>
        </p:nvSpPr>
        <p:spPr>
          <a:xfrm>
            <a:off x="405408" y="549981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vi-VN"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641628"/>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 định giá</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Giá trị</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phi rủi ro Rf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ERP thị trường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Phần bù rủi ro quốc gia (CRP)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Beta không đòn bẩy βu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Hệ số tương quan ρ</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nợ trước thuế Kd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D/E mục tiêu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D/E theo BCĐKT dự phóng cuối 2028 – năm đầu tư lớn (sau huy động vốn cổ phần và khoản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dài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dài hạn 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RONIC sau 2030 (= ROIC 2030E)</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~28%. Lấy RONIC bằng ROIC 2030 nghĩa là vốn mới sinh lời như năm cuối dự phóng, không giả định thêm lợi thế; ROIC 2030 thấp hơn WACC nên tăng trưởng sau 2030 làm giảm nhẹ giá trị (thận trọng). Nguồn: tính toán từ mô hình;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thất bại z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suất lợi nhuận yêu cầu p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giáo trình: (1 + p)^n = (1 + r)^n/(1 − z), với r = WACC (B7), z = B6, n = 5 năm.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Giai đoạn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Đầu tăng trưởng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P/E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EV/EBITDA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8,00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Chiết khấu thanh khoản &amp; quy mô (DLOM)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DCF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Multiples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6546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vi-VN"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21</a:t>
            </a:r>
            <a:endParaRPr lang="vi-VN"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vi-VN"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Năm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Lợi suất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Thời điểm quan sát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Nguồn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Q1/2016 – lãi suất phát hành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10/2017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03/12/2018 – lợi suất spot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12/2019 – thị trường thứ cấp (mức thấp kỷ lục)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(2020). Gov't bond yields hit record low</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12/2020 – thị trường thứ cấp (−34 bps so với 11/2020)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(2021). Bond Market Report 12/2020; MBS Fixed Income 01/2021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12/2021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(2022). Bond Market Monthly Highlights 12/2021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31/12/2022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29/11/2023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(2023). Kết quả đấu thầu TPCP ngày 29/11/2023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2024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2025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2016–2025 (đối chiếu)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vi-VN"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vi-VN"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Mã</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Sàn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TTM (tỷ)</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Biên EBITDA (%)</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EV/EBITDA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P/E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Trong mẫu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 carton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Nhựa, nhựa sinh học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 (holding)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Bao bì kim loại,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36,45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84,23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PBT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Thương mại vật tư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9,97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Màng, túi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bao xi măng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 mẫu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ngành 2026 (FiinX)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vi-VN"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DCF: WACC × g</a:t>
            </a:r>
            <a:endParaRPr lang="vi-VN"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 \ 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VC Method: z × thay đổi giá trị thoái vốn</a:t>
            </a:r>
            <a:endParaRPr lang="vi-VN"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z \ Exit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DCF: WACC × RONIC</a:t>
            </a:r>
            <a:endParaRPr lang="vi-VN"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WACC\RONIC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vi-VN"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Diễn giải kết quả định giá</a:t>
            </a:r>
            <a:endParaRPr lang="vi-VN"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(20,4 tỷ đồng; độ nhạy ở Fig. A14) là giá trị nếu kế hoạch được thực hiện đúng: nhà máy năm 2028 xong đúng tiến độ và sản lượng đạt dự phóng. Nhà đầu tư mạo hiểm sẽ không trả mức này vì vẫn còn 40% khả năng doanh nghiệp thất bại. Khi nhân với xác suất sống sót và cộng giá trị thanh lý, DCF còn 18,2 tỷ đồng, thấp hơn VC Method (21,7 tỷ) và Multiples (27,7 tỷ) vì DCF dùng ROIC thực tế năm 2030 của AgriPack, thấp hơn mức sinh lời mà bội số ngành ngầm định. Khoảng 18–28 tỷ đồng vì vậy là vùng giá trị đã tính rủi ro.</a:t>
            </a:r>
            <a:endParaRPr lang="vi-VN"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Hiện giá dòng tiền tự do 2026–2030 âm 38,5 tỷ đồng và ROIC giai đoạn 2028–2030 thấp hơn WACC, nên toàn bộ giá trị đến từ giai đoạn sau năm 2030 (giá trị cuối kỳ bằng 302% EV). Pre-money 22,4 tỷ đồng chỉ bằng 0,75 lần vốn chủ sở hữu sổ sách và khoảng 2,7 lần EBITDA năm 2025: thị trường sẽ chưa trả thêm cho tăng trưởng cho tới khi nhà máy mới chứng minh được công suất.</a:t>
            </a:r>
            <a:endParaRPr lang="vi-VN"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P/E 9,4 lần cho 126 tỷ đồng, còn EV/EBITDA 8 lần cho 275 tỷ đồng; giá trị thoái vốn thay đổi 15% làm pre-money theo VC Method thay đổi khoảng 9 tỷ đồng. Với tỷ lệ thất bại 45%, cận trên của giai đoạn đầu tăng trưởng, pre-money còn khoảng 16,5 tỷ đồng.</a:t>
            </a:r>
            <a:endParaRPr lang="vi-VN" sz="850" dirty="0"/>
          </a:p>
        </p:txBody>
      </p:sp>
      <p:sp>
        <p:nvSpPr>
          <p:cNvPr id="27" name="Text 20"/>
          <p:cNvSpPr txBox="1"/>
          <p:nvPr/>
        </p:nvSpPr>
        <p:spPr>
          <a:xfrm>
            <a:off x="2745284" y="812824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khi ROIC 2030 thấp hơn WACC, g cao hơn còn làm DCF giảm nhẹ. Nếu lợi nhuận trên vốn đầu tư mới sau năm 2030 thấp hơn ROIC năm 2030 hai điểm %, giá trị DCF giảm thêm 7,6 tỷ đồng.</a:t>
            </a:r>
            <a:endParaRPr lang="vi-VN" sz="850" dirty="0"/>
          </a:p>
        </p:txBody>
      </p:sp>
      <p:sp>
        <p:nvSpPr>
          <p:cNvPr id="28" name="Text 21"/>
          <p:cNvSpPr txBox="1"/>
          <p:nvPr/>
        </p:nvSpPr>
        <p:spPr>
          <a:xfrm>
            <a:off x="2745284" y="8692158"/>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Khoảng 11,4–35,5 tỷ đồng phản ánh ba nguồn bất định: chi phí vốn, giá trị thoái vốn và xác suất thất bại. Cận dưới (11,4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68,6 tỷ đồng) và giảm mạnh nếu cầu yếu (kịch bản xấu cho giá trị âm).</a:t>
            </a:r>
            <a:endParaRPr lang="vi-VN" sz="850" dirty="0"/>
          </a:p>
        </p:txBody>
      </p:sp>
      <p:sp>
        <p:nvSpPr>
          <p:cNvPr id="29" name="Text 22"/>
          <p:cNvSpPr txBox="1"/>
          <p:nvPr/>
        </p:nvSpPr>
        <p:spPr>
          <a:xfrm>
            <a:off x="2745284" y="938763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−2,9 đến 53,0 tỷ đồng, trong khi lãi suất hay rủi ro quốc gia thay đổi 1 điểm % chỉ làm pre-money thay đổi khoảng 4–5 tỷ đồng. Theo dõi đơn hàng F&amp;B và tiến độ nhà máy năm 2028 vì vậy quan trọng hơn dự báo lãi suất.</a:t>
            </a:r>
            <a:endParaRPr lang="vi-VN"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22</a:t>
            </a:r>
            <a:endParaRPr lang="vi-VN"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vi-VN"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Pre-money</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DCF</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VCM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LNST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Kịch bản cơ sở (Base)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 / 53,0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−18,7 / 68,1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 / 50,6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142,9 / 221,9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22,5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16,4 / 28,6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11,1 / 30,1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16,0 / 27,6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 / 187,8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11,6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13,8 / 30,9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8,7 / 32,1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 /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14,8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32,9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34,9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9,9 / 33,4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11,5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18,2 / 27,3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13,8 / 28,9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17,9 / 25,6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13,7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18,3 / 27,4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30,0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18,9 / 24,6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 / 26,0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20,4 / 24,3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21,7 / 26,8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vi-VN"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Ghi chú phương pháp</a:t>
            </a:r>
            <a:endParaRPr lang="vi-VN"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vi-VN"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vi-VN"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vi-VN"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vi-VN"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vi-VN"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vi-VN"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vi-VN" sz="700" dirty="0"/>
          </a:p>
        </p:txBody>
      </p:sp>
      <p:sp>
        <p:nvSpPr>
          <p:cNvPr id="18" name="Text 15"/>
          <p:cNvSpPr txBox="1"/>
          <p:nvPr/>
        </p:nvSpPr>
        <p:spPr>
          <a:xfrm>
            <a:off x="394156" y="561186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Theo đề bài (đã thống nhất với giảng viên), đợt đầu tư lớn với CAPEX bằng 65% doanh thu diễn ra năm 2028; nhà máy mới vận hành từ năm 2029. Năm này được đặt ở một ô duy nhất (Drivers!C156); CAPEX, khoản vay trung hạn, chi phí cố định của nhà máy mới, tiền thuê và lịch trả nợ đều tham chiếu ô này.</a:t>
            </a:r>
            <a:endParaRPr lang="vi-VN" sz="700" dirty="0"/>
          </a:p>
        </p:txBody>
      </p:sp>
      <p:sp>
        <p:nvSpPr>
          <p:cNvPr id="19" name="Text 16"/>
          <p:cNvSpPr txBox="1"/>
          <p:nvPr/>
        </p:nvSpPr>
        <p:spPr>
          <a:xfrm>
            <a:off x="394156" y="5862638"/>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vi-VN"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23</a:t>
            </a:r>
            <a:endParaRPr lang="vi-VN"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Tài liệu tham khảo (APA 7)</a:t>
            </a:r>
            <a:endParaRPr lang="vi-VN"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
            </a:pPr>
            <a:r>
              <a:rPr lang="vi-VN"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a:t>
            </a:r>
            <a:endParaRPr lang="vi-VN"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
            </a:pPr>
            <a:r>
              <a:rPr lang="vi-VN"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vi-VN"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
            </a:pPr>
            <a:r>
              <a:rPr lang="vi-VN"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Berkonomics.</a:t>
            </a:r>
            <a:endParaRPr lang="vi-VN"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
            </a:pPr>
            <a:r>
              <a:rPr lang="vi-VN"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
            </a:pPr>
            <a:r>
              <a:rPr lang="vi-VN"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(hiệu lực 10/5/2025).</a:t>
            </a:r>
            <a:endParaRPr lang="vi-VN"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6"/>
            </a:pPr>
            <a:r>
              <a:rPr lang="vi-VN"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https://chinhphu.vn/?pageid=27160&amp;docid=216867</a:t>
            </a:r>
            <a:endParaRPr lang="vi-VN"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7"/>
            </a:pPr>
            <a:r>
              <a:rPr lang="vi-VN"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[Dữ liệu HNX].</a:t>
            </a:r>
            <a:endParaRPr lang="vi-VN"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8"/>
            </a:pPr>
            <a:r>
              <a:rPr lang="vi-VN"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vi-VN"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9"/>
            </a:pPr>
            <a:r>
              <a:rPr lang="vi-VN"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0"/>
            </a:pPr>
            <a:r>
              <a:rPr lang="vi-VN"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1"/>
            </a:pPr>
            <a:r>
              <a:rPr lang="vi-VN"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2"/>
            </a:pPr>
            <a:r>
              <a:rPr lang="vi-VN"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vi-VN"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3"/>
            </a:pPr>
            <a:r>
              <a:rPr lang="vi-VN"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vi-VN"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4"/>
            </a:pPr>
            <a:r>
              <a:rPr lang="vi-VN"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5"/>
            </a:pPr>
            <a:r>
              <a:rPr lang="vi-VN"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a:t>
            </a:r>
            <a:endParaRPr lang="vi-VN"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6"/>
            </a:pPr>
            <a:r>
              <a:rPr lang="vi-VN"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vi-VN"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7"/>
            </a:pPr>
            <a:r>
              <a:rPr lang="vi-VN"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vi-VN"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8"/>
            </a:pPr>
            <a:r>
              <a:rPr lang="vi-VN"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a:t>
            </a:r>
            <a:endParaRPr lang="vi-VN"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9"/>
            </a:pPr>
            <a:r>
              <a:rPr lang="vi-VN"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 truy xuất 28–30/9/2026].</a:t>
            </a:r>
            <a:endParaRPr lang="vi-VN"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0"/>
            </a:pPr>
            <a:r>
              <a:rPr lang="vi-VN"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vi-VN"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1"/>
            </a:pPr>
            <a:r>
              <a:rPr lang="vi-VN"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vi-VN"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2"/>
            </a:pPr>
            <a:r>
              <a:rPr lang="vi-VN"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vi-VN"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3"/>
            </a:pPr>
            <a:r>
              <a:rPr lang="vi-VN"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giới thiệu sản phẩm]. HTAECO.com.</a:t>
            </a:r>
            <a:endParaRPr lang="vi-VN"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4"/>
            </a:pPr>
            <a:r>
              <a:rPr lang="vi-VN"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https://www.imarcgroup.com/vietnam-green-packaging-market</a:t>
            </a:r>
            <a:endParaRPr lang="vi-VN"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5"/>
            </a:pPr>
            <a:r>
              <a:rPr lang="vi-VN"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(4), 94–101.</a:t>
            </a:r>
            <a:endParaRPr lang="vi-VN"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6"/>
            </a:pPr>
            <a:r>
              <a:rPr lang="vi-VN"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7"/>
            </a:pPr>
            <a:r>
              <a:rPr lang="vi-VN"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vi-VN"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8"/>
            </a:pPr>
            <a:r>
              <a:rPr lang="vi-VN"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vi-VN"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9"/>
            </a:pPr>
            <a:r>
              <a:rPr lang="vi-VN"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0"/>
            </a:pPr>
            <a:r>
              <a:rPr lang="vi-VN"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Angel Capital Association.</a:t>
            </a:r>
            <a:endParaRPr lang="vi-VN"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1"/>
            </a:pPr>
            <a:r>
              <a:rPr lang="vi-VN"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vi-VN"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2"/>
            </a:pPr>
            <a:r>
              <a:rPr lang="vi-VN"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3"/>
            </a:pPr>
            <a:r>
              <a:rPr lang="vi-VN"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4"/>
            </a:pPr>
            <a:r>
              <a:rPr lang="vi-VN"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 QueenPack.com; baobixanh.com.</a:t>
            </a:r>
            <a:endParaRPr lang="vi-VN"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5"/>
            </a:pPr>
            <a:r>
              <a:rPr lang="vi-VN"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vi-VN"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6"/>
            </a:pPr>
            <a:r>
              <a:rPr lang="vi-VN"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https://natif.mst.gov.vn/ho-tro-lai-suat-vay/</a:t>
            </a:r>
            <a:endParaRPr lang="vi-VN"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7"/>
            </a:pPr>
            <a:r>
              <a:rPr lang="vi-VN"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vi-VN"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8"/>
            </a:pPr>
            <a:r>
              <a:rPr lang="vi-VN"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vi-VN"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9"/>
            </a:pPr>
            <a:r>
              <a:rPr lang="vi-VN"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vi-VN"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0"/>
            </a:pPr>
            <a:r>
              <a:rPr lang="vi-VN"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vi-VN"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1"/>
            </a:pPr>
            <a:r>
              <a:rPr lang="vi-VN"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CTCP Tập đoàn PAN.</a:t>
            </a:r>
            <a:endParaRPr lang="vi-VN"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2"/>
            </a:pPr>
            <a:r>
              <a:rPr lang="vi-VN"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vi-VN"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3"/>
            </a:pPr>
            <a:r>
              <a:rPr lang="vi-VN"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vi-VN"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4"/>
            </a:pPr>
            <a:r>
              <a:rPr lang="vi-VN"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vi-VN"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5"/>
            </a:pPr>
            <a:r>
              <a:rPr lang="vi-VN"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vi-VN"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6"/>
            </a:pPr>
            <a:r>
              <a:rPr lang="vi-VN"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vi-VN"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7"/>
            </a:pPr>
            <a:r>
              <a:rPr lang="vi-VN"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vi-VN"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8"/>
            </a:pPr>
            <a:r>
              <a:rPr lang="vi-VN"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vi-VN"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9"/>
            </a:pPr>
            <a:r>
              <a:rPr lang="vi-VN"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vi-VN"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0"/>
            </a:pPr>
            <a:r>
              <a:rPr lang="vi-VN"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vi-VN"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1"/>
            </a:pPr>
            <a:r>
              <a:rPr lang="vi-VN"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[Số liệu tỷ giá bán ra].</a:t>
            </a:r>
            <a:endParaRPr lang="vi-VN"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2"/>
            </a:pPr>
            <a:r>
              <a:rPr lang="vi-VN"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vi-VN"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3"/>
            </a:pPr>
            <a:r>
              <a:rPr lang="vi-VN"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vi-VN"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4"/>
            </a:pPr>
            <a:r>
              <a:rPr lang="vi-VN"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[Báo cáo vĩ mô, lợi suất TPCP kỳ hạn 10 năm].</a:t>
            </a:r>
            <a:endParaRPr lang="vi-VN"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5"/>
            </a:pPr>
            <a:r>
              <a:rPr lang="vi-VN"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https://doi.org/10.1080/13675567.2023.2175802</a:t>
            </a:r>
            <a:endParaRPr lang="vi-VN"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6"/>
            </a:pPr>
            <a:r>
              <a:rPr lang="vi-VN"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vi-VN"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7"/>
            </a:pPr>
            <a:r>
              <a:rPr lang="vi-VN"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vi-VN"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24</a:t>
            </a:r>
            <a:endParaRPr lang="vi-VN"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2026-10-07T08:51:45Z</dcterms:created>
  <dcterms:modified xsi:type="dcterms:W3CDTF">2026-10-07T08:51:45Z</dcterms:modified>
</cp:coreProperties>
</file>