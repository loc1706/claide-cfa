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249074563722898"/>
          <c:w val="0.9830662164955557"/>
          <c:h val="0.7400740349021682"/>
        </c:manualLayout>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81.4</c:v>
                </c:pt>
                <c:pt idx="5">
                  <c:v>100.4</c:v>
                </c:pt>
                <c:pt idx="6">
                  <c:v>139.3</c:v>
                </c:pt>
                <c:pt idx="7">
                  <c:v>178.9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40.48773581280977"/>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5022004889975552"/>
          <c:w val="0.8306621649555571"/>
          <c:h val="0.534317848410758"/>
        </c:manualLayout>
      </c:layout>
      <c:lineChart>
        <c:varyColors val="0"/>
        <c:ser>
          <c:idx val="0"/>
          <c:order val="0"/>
          <c:tx>
            <c:strRef>
              <c:f>Sheet1!$B$1</c:f>
              <c:strCache>
                <c:ptCount val="1"/>
                <c:pt idx="0">
                  <c:v>Biên EBITDA</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19.6</c:v>
                </c:pt>
                <c:pt idx="5">
                  <c:v>19.5</c:v>
                </c:pt>
                <c:pt idx="6">
                  <c:v>17.7</c:v>
                </c:pt>
                <c:pt idx="7">
                  <c:v>20.7</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12302059496567505"/>
          <c:w val="0.2266317554376536"/>
          <c:h val="0.859405034324942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Sheet1!$B$2:$B$5</c:f>
              <c:numCache>
                <c:formatCode>General</c:formatCode>
                <c:ptCount val="4"/>
                <c:pt idx="0">
                  <c:v>11.7</c:v>
                </c:pt>
                <c:pt idx="1">
                  <c:v>8</c:v>
                </c:pt>
                <c:pt idx="2">
                  <c:v>17.7</c:v>
                </c:pt>
                <c:pt idx="3">
                  <c:v>11.4</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Sheet1!$C$2:$C$5</c:f>
              <c:numCache>
                <c:formatCode>General</c:formatCode>
                <c:ptCount val="4"/>
                <c:pt idx="0">
                  <c:v>18</c:v>
                </c:pt>
                <c:pt idx="1">
                  <c:v>29</c:v>
                </c:pt>
                <c:pt idx="2">
                  <c:v>26.3</c:v>
                </c:pt>
                <c:pt idx="3">
                  <c:v>24.1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7570341077607514"/>
        </c:manualLayout>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5.01377297371023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6770757252118794"/>
          <c:y val="0.021915462814339218"/>
          <c:w val="0.2671434805576609"/>
          <c:h val="0.9561690743713215"/>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5402425578831312"/>
          <c:w val="0.9830662164955557"/>
          <c:h val="0.5681587651598676"/>
        </c:manualLayout>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4.80055654730653"/>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6868804664723033"/>
          <c:w val="0.9830662164955557"/>
          <c:h val="0.6507055393586005"/>
        </c:manualLayout>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2.56008782284339"/>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642825972116955"/>
          <c:y val="0.04050098879367172"/>
          <c:w val="0.46970210615769775"/>
          <c:h val="0.9189980224126565"/>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746"/>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587492103600758"/>
          <c:w val="0.20510691563885244"/>
          <c:h val="0.948250157927984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167229380555364"/>
          <c:y val="0.11941690962099126"/>
          <c:w val="0.936498311858334"/>
          <c:h val="0.45068221574344025"/>
        </c:manualLayout>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2"/>
          <c:min val="8"/>
        </c:scaling>
        <c:delete val="1"/>
        <c:axPos val="l"/>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0929994890137967"/>
          <c:w val="0.28613036587886714"/>
          <c:h val="0.9581400102197241"/>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48369747899159665"/>
        </c:manualLayout>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5.4797155389279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3211709357030842"/>
          <c:w val="0.23638622843887094"/>
          <c:h val="0.9357658128593831"/>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2046976511744128"/>
          <c:w val="0.21613036587886725"/>
          <c:h val="0.9590604697651174"/>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600"/>
          <c:min val="2500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5825072886297375"/>
          <c:w val="0.9830662164955557"/>
          <c:h val="0.713399416909621"/>
        </c:manualLayout>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96.664262264761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3264753654574986"/>
          <c:w val="0.9830662164955557"/>
          <c:h val="0.43449918787222525"/>
        </c:manualLayout>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3.33333333333333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094986104412137"/>
          <c:y val="0.03725894481503942"/>
          <c:w val="0.2468876179976573"/>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30.3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3"/>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689868853212063"/>
          <c:y val="0.03725894481503942"/>
          <c:w val="0.2873993431176646"/>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474517099611842"/>
          <c:y val="0.02587492103600758"/>
          <c:w val="0.44944624359769403"/>
          <c:h val="0.9482501579279848"/>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01715242881072027"/>
          <c:w val="0.44280208548657524"/>
          <c:h val="0.8198994974874372"/>
        </c:manualLayout>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Sheet1!$B$2:$B$8</c:f>
              <c:numCache>
                <c:formatCode>General</c:formatCode>
                <c:ptCount val="7"/>
                <c:pt idx="0">
                  <c:v>-25.3</c:v>
                </c:pt>
                <c:pt idx="1">
                  <c:v>-10.5</c:v>
                </c:pt>
                <c:pt idx="2">
                  <c:v>-8.5</c:v>
                </c:pt>
                <c:pt idx="3">
                  <c:v>-6</c:v>
                </c:pt>
                <c:pt idx="4">
                  <c:v>-4.2</c:v>
                </c:pt>
                <c:pt idx="5">
                  <c:v>-4</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Sheet1!$C$2:$C$8</c:f>
              <c:numCache>
                <c:formatCode>General</c:formatCode>
                <c:ptCount val="7"/>
                <c:pt idx="0">
                  <c:v>30.6</c:v>
                </c:pt>
                <c:pt idx="1">
                  <c:v>10.5</c:v>
                </c:pt>
                <c:pt idx="2">
                  <c:v>8.5</c:v>
                </c:pt>
                <c:pt idx="3">
                  <c:v>6.2</c:v>
                </c:pt>
                <c:pt idx="4">
                  <c:v>5</c:v>
                </c:pt>
                <c:pt idx="5">
                  <c:v>5</c:v>
                </c:pt>
                <c:pt idx="6">
                  <c:v>3.6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39330993603912"/>
          <c:min val="-69.09330993603912"/>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776275353411186"/>
          <c:w val="0.9830662164955557"/>
          <c:h val="0.6978979717271051"/>
        </c:manualLayout>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c:v>
                </c:pt>
                <c:pt idx="5">
                  <c:v>25.5</c:v>
                </c:pt>
                <c:pt idx="6">
                  <c:v>27</c:v>
                </c:pt>
                <c:pt idx="7">
                  <c:v>26.5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910928616550853"/>
          <c:w val="0.9830662164955557"/>
          <c:h val="0.505142135186355"/>
        </c:manualLayout>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65.3</c:v>
                </c:pt>
                <c:pt idx="3">
                  <c:v>80</c:v>
                </c:pt>
                <c:pt idx="4">
                  <c:v>110.1</c:v>
                </c:pt>
                <c:pt idx="5">
                  <c:v>140.4</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9</c:v>
                </c:pt>
                <c:pt idx="3">
                  <c:v>10.6</c:v>
                </c:pt>
                <c:pt idx="4">
                  <c:v>13.9</c:v>
                </c:pt>
                <c:pt idx="5">
                  <c:v>17</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6.2</c:v>
                </c:pt>
                <c:pt idx="4">
                  <c:v>8.8</c:v>
                </c:pt>
                <c:pt idx="5">
                  <c:v>11.8</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4.3</c:v>
                </c:pt>
                <c:pt idx="4">
                  <c:v>7.5</c:v>
                </c:pt>
                <c:pt idx="5">
                  <c:v>11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71.447381508552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09703095388502844"/>
          <c:w val="0.7091269895955351"/>
          <c:h val="0.6992040429564119"/>
        </c:manualLayout>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51.5</c:v>
                </c:pt>
                <c:pt idx="5">
                  <c:v>50.7</c:v>
                </c:pt>
                <c:pt idx="6">
                  <c:v>45.1</c:v>
                </c:pt>
                <c:pt idx="7">
                  <c:v>47.4</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19.6</c:v>
                </c:pt>
                <c:pt idx="5">
                  <c:v>19.5</c:v>
                </c:pt>
                <c:pt idx="6">
                  <c:v>17.7</c:v>
                </c:pt>
                <c:pt idx="7">
                  <c:v>20.7</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13.2</c:v>
                </c:pt>
                <c:pt idx="5">
                  <c:v>12.8</c:v>
                </c:pt>
                <c:pt idx="6">
                  <c:v>7.3</c:v>
                </c:pt>
                <c:pt idx="7">
                  <c:v>11.4</c:v>
                </c:pt>
              </c:numCache>
            </c:numRef>
          </c:val>
          <c:smooth val="0"/>
        </c:ser>
        <c:ser>
          <c:idx val="3"/>
          <c:order val="3"/>
          <c:tx>
            <c:strRef>
              <c:f>Sheet1!$E$1</c:f>
              <c:strCache>
                <c:ptCount val="1"/>
                <c:pt idx="0">
                  <c:v>LNST</c:v>
                </c:pt>
              </c:strCache>
            </c:strRef>
          </c:tx>
          <c:spPr>
            <a:solidFill>
              <a:srgbClr val="C08890"/>
            </a:solidFill>
            <a:ln w="19050" cap="flat">
              <a:solidFill>
                <a:srgbClr val="C0889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C08890"/>
              </a:solidFill>
              <a:ln w="9525" cap="flat">
                <a:solidFill>
                  <a:srgbClr val="C0889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10.4</c:v>
                </c:pt>
                <c:pt idx="5">
                  <c:v>8.5</c:v>
                </c:pt>
                <c:pt idx="6">
                  <c:v>3.5</c:v>
                </c:pt>
                <c:pt idx="7">
                  <c:v>7.5</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5"/>
          <c:min val="-5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7586935850616688"/>
          <c:h val="0.7205685048322911"/>
        </c:manualLayout>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15</c:v>
                </c:pt>
                <c:pt idx="5">
                  <c:v>65</c:v>
                </c:pt>
                <c:pt idx="6">
                  <c:v>12</c:v>
                </c:pt>
                <c:pt idx="7">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0.625907510890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45923820352473"/>
        </c:manualLayout>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12.2</c:v>
                </c:pt>
                <c:pt idx="3">
                  <c:v>65.3</c:v>
                </c:pt>
                <c:pt idx="4">
                  <c:v>16.7</c:v>
                </c:pt>
                <c:pt idx="5">
                  <c:v>17.9</c:v>
                </c:pt>
              </c:numCache>
            </c:numRef>
          </c:val>
        </c:ser>
        <c:ser>
          <c:idx val="1"/>
          <c:order val="1"/>
          <c:tx>
            <c:strRef>
              <c:f>Sheet1!$C$1</c:f>
              <c:strCache>
                <c:ptCount val="1"/>
                <c:pt idx="0">
                  <c:v>Khấu hao</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6.7</c:v>
                </c:pt>
                <c:pt idx="4">
                  <c:v>14.6</c:v>
                </c:pt>
                <c:pt idx="5">
                  <c:v>16.6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4.1840300392104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-1.8</c:v>
                </c:pt>
                <c:pt idx="3">
                  <c:v>-52.3</c:v>
                </c:pt>
                <c:pt idx="4">
                  <c:v>-3.4</c:v>
                </c:pt>
                <c:pt idx="5">
                  <c:v>8.4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1883149872989"/>
          <c:min val="-118.08831498729889"/>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1642978965321206"/>
          <c:w val="0.7496387147155424"/>
          <c:h val="0.6390676520750427"/>
        </c:manualLayout>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17</c:v>
                </c:pt>
                <c:pt idx="3">
                  <c:v>9.1</c:v>
                </c:pt>
                <c:pt idx="4">
                  <c:v>6.5</c:v>
                </c:pt>
                <c:pt idx="5">
                  <c:v>12.3</c:v>
                </c:pt>
              </c:numCache>
            </c:numRef>
          </c:val>
          <c:smooth val="0"/>
        </c:ser>
        <c:ser>
          <c:idx val="1"/>
          <c:order val="1"/>
          <c:tx>
            <c:strRef>
              <c:f>Sheet1!$C$1</c:f>
              <c:strCache>
                <c:ptCount val="1"/>
                <c:pt idx="0">
                  <c:v>WACC</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1"/>
          <c:min val="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862947240751971"/>
          <c:w val="0.9830662164955557"/>
          <c:h val="0.5901516070345664"/>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Sheet1!$B$2:$B$7</c:f>
              <c:numCache>
                <c:formatCode>General</c:formatCode>
                <c:ptCount val="6"/>
                <c:pt idx="0">
                  <c:v>0</c:v>
                </c:pt>
                <c:pt idx="1">
                  <c:v>0</c:v>
                </c:pt>
                <c:pt idx="2">
                  <c:v>0</c:v>
                </c:pt>
                <c:pt idx="3">
                  <c:v>19.1</c:v>
                </c:pt>
                <c:pt idx="4">
                  <c:v>20.4</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Sheet1!$C$2:$C$7</c:f>
              <c:numCache>
                <c:formatCode>General</c:formatCode>
                <c:ptCount val="6"/>
                <c:pt idx="0">
                  <c:v>0</c:v>
                </c:pt>
                <c:pt idx="1">
                  <c:v>19.1</c:v>
                </c:pt>
                <c:pt idx="2">
                  <c:v>0</c:v>
                </c:pt>
                <c:pt idx="3">
                  <c:v>2.9</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Sheet1!$D$2:$D$7</c:f>
              <c:numCache>
                <c:formatCode>General</c:formatCode>
                <c:ptCount val="6"/>
                <c:pt idx="0">
                  <c:v>0</c:v>
                </c:pt>
                <c:pt idx="1">
                  <c:v>-38.5</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Sheet1!$E$2:$E$7</c:f>
              <c:numCache>
                <c:formatCode>General</c:formatCode>
                <c:ptCount val="6"/>
                <c:pt idx="0">
                  <c:v>-38.5</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Sheet1!$F$2:$F$7</c:f>
              <c:numCache>
                <c:formatCode>General</c:formatCode>
                <c:ptCount val="6"/>
                <c:pt idx="0">
                  <c:v>0</c:v>
                </c:pt>
                <c:pt idx="1">
                  <c:v>0</c:v>
                </c:pt>
                <c:pt idx="2">
                  <c:v>19.1</c:v>
                </c:pt>
                <c:pt idx="3">
                  <c:v>0</c:v>
                </c:pt>
                <c:pt idx="4">
                  <c:v>0</c:v>
                </c:pt>
                <c:pt idx="5">
                  <c:v>20.4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9.344202565629075"/>
          <c:min val="-75.81277248343036"/>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9406190777005686"/>
          <c:w val="0.9830662164955557"/>
          <c:h val="0.573063802905875"/>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Sheet1!$B$2:$B$6</c:f>
              <c:numCache>
                <c:formatCode>General</c:formatCode>
                <c:ptCount val="5"/>
                <c:pt idx="0">
                  <c:v>0</c:v>
                </c:pt>
                <c:pt idx="1">
                  <c:v>62.2</c:v>
                </c:pt>
                <c:pt idx="2">
                  <c:v>0</c:v>
                </c:pt>
                <c:pt idx="3">
                  <c:v>21.7</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Sheet1!$E$2:$E$6</c:f>
              <c:numCache>
                <c:formatCode>General</c:formatCode>
                <c:ptCount val="5"/>
                <c:pt idx="0">
                  <c:v>0</c:v>
                </c:pt>
                <c:pt idx="1">
                  <c:v>138.5</c:v>
                </c:pt>
                <c:pt idx="2">
                  <c:v>0</c:v>
                </c:pt>
                <c:pt idx="3">
                  <c:v>40.5</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Sheet1!$F$2:$F$6</c:f>
              <c:numCache>
                <c:formatCode>General</c:formatCode>
                <c:ptCount val="5"/>
                <c:pt idx="0">
                  <c:v>200.6</c:v>
                </c:pt>
                <c:pt idx="1">
                  <c:v>0</c:v>
                </c:pt>
                <c:pt idx="2">
                  <c:v>62.2</c:v>
                </c:pt>
                <c:pt idx="3">
                  <c:v>0</c:v>
                </c:pt>
                <c:pt idx="4">
                  <c:v>21.7</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5.0796277534417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0310204644112175"/>
          <c:y val="0.0855625186511489"/>
          <c:w val="0.7532841819977492"/>
          <c:h val="0.902214264398687"/>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404040"/>
              </a:solidFill>
              <a:effectLst/>
            </c:spPr>
          </c:dPt>
          <c:dPt>
            <c:idx val="4"/>
            <c:invertIfNegative val="0"/>
            <c:bubble3D val="0"/>
            <c:spPr>
              <a:solidFill>
                <a:srgbClr val="404040"/>
              </a:solidFill>
              <a:effectLst/>
            </c:spPr>
          </c:dPt>
          <c:dPt>
            <c:idx val="5"/>
            <c:invertIfNegative val="0"/>
            <c:bubble3D val="0"/>
            <c:spPr>
              <a:solidFill>
                <a:srgbClr val="404040"/>
              </a:solidFill>
              <a:effectLst/>
            </c:spPr>
          </c:dPt>
          <c:dPt>
            <c:idx val="6"/>
            <c:invertIfNegative val="0"/>
            <c:bubble3D val="0"/>
            <c:spPr>
              <a:solidFill>
                <a:srgbClr val="404040"/>
              </a:solidFill>
              <a:effectLst/>
            </c:spPr>
          </c:dPt>
          <c:dPt>
            <c:idx val="7"/>
            <c:invertIfNegative val="0"/>
            <c:bubble3D val="0"/>
            <c:spPr>
              <a:solidFill>
                <a:srgbClr val="404040"/>
              </a:solidFill>
              <a:effectLst/>
            </c:spPr>
          </c:dPt>
          <c:dPt>
            <c:idx val="8"/>
            <c:invertIfNegative val="0"/>
            <c:bubble3D val="0"/>
            <c:spPr>
              <a:solidFill>
                <a:srgbClr val="404040"/>
              </a:solidFill>
              <a:effectLst/>
            </c:spPr>
          </c:dPt>
          <c:dPt>
            <c:idx val="9"/>
            <c:invertIfNegative val="0"/>
            <c:bubble3D val="0"/>
            <c:spPr>
              <a:solidFill>
                <a:srgbClr val="404040"/>
              </a:solidFill>
              <a:effectLst/>
            </c:spPr>
          </c:dPt>
          <c:dPt>
            <c:idx val="10"/>
            <c:invertIfNegative val="0"/>
            <c:bubble3D val="0"/>
            <c:spPr>
              <a:solidFill>
                <a:srgbClr val="404040"/>
              </a:solidFill>
              <a:effectLst/>
            </c:spPr>
          </c:dPt>
          <c:dPt>
            <c:idx val="11"/>
            <c:invertIfNegative val="0"/>
            <c:bubble3D val="0"/>
            <c:spPr>
              <a:solidFill>
                <a:srgbClr val="404040"/>
              </a:solidFill>
              <a:effectLst/>
            </c:spPr>
          </c:dPt>
          <c:dPt>
            <c:idx val="12"/>
            <c:invertIfNegative val="0"/>
            <c:bubble3D val="0"/>
            <c:spPr>
              <a:solidFill>
                <a:srgbClr val="404040"/>
              </a:solidFill>
              <a:effectLst/>
            </c:spPr>
          </c:dPt>
          <c:dPt>
            <c:idx val="13"/>
            <c:invertIfNegative val="0"/>
            <c:bubble3D val="0"/>
            <c:spPr>
              <a:solidFill>
                <a:srgbClr val="404040"/>
              </a:solidFill>
              <a:effectLst/>
            </c:spPr>
          </c:dPt>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13.71</c:v>
                </c:pt>
                <c:pt idx="1">
                  <c:v>13.33</c:v>
                </c:pt>
                <c:pt idx="2">
                  <c:v>8.98</c:v>
                </c:pt>
                <c:pt idx="3">
                  <c:v>6.35</c:v>
                </c:pt>
                <c:pt idx="4">
                  <c:v>5.5</c:v>
                </c:pt>
                <c:pt idx="5">
                  <c:v>5.4</c:v>
                </c:pt>
                <c:pt idx="6">
                  <c:v>5.05</c:v>
                </c:pt>
                <c:pt idx="7">
                  <c:v>4.21</c:v>
                </c:pt>
                <c:pt idx="8">
                  <c:v>4.17</c:v>
                </c:pt>
                <c:pt idx="9">
                  <c:v>3.85</c:v>
                </c:pt>
                <c:pt idx="10">
                  <c:v>3.28</c:v>
                </c:pt>
                <c:pt idx="11">
                  <c:v>2.96</c:v>
                </c:pt>
                <c:pt idx="12">
                  <c:v>2.66</c:v>
                </c:pt>
                <c:pt idx="13">
                  <c:v>2.06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3.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082192976411952"/>
          <c:y val="0.022443835616438357"/>
          <c:w val="0.36842279335767936"/>
          <c:h val="0.9551123287671233"/>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404040"/>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Multiples 2025A</c:v>
                  </c:pt>
                  <c:pt idx="1">
                    <c:v>VC Method</c:v>
                  </c:pt>
                  <c:pt idx="2">
                    <c:v>DCF</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27.7</c:v>
                </c:pt>
                <c:pt idx="1">
                  <c:v>21.7</c:v>
                </c:pt>
                <c:pt idx="2">
                  <c:v>20.4</c:v>
                </c:pt>
                <c:pt idx="3">
                  <c:v>22.4</c:v>
                </c:pt>
                <c:pt idx="4">
                  <c:v>18.2</c:v>
                </c:pt>
                <c:pt idx="5">
                  <c:v>30</c:v>
                </c:pt>
                <c:pt idx="6">
                  <c:v>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8.1</c:v>
                </c:pt>
                <c:pt idx="2">
                  <c:v>23.9</c:v>
                </c:pt>
                <c:pt idx="3">
                  <c:v>32.5</c:v>
                </c:pt>
                <c:pt idx="4">
                  <c:v>36.8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5.9401869158878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808527572484367"/>
        </c:manualLayout>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62.2</c:v>
                </c:pt>
                <c:pt idx="1">
                  <c:v>44</c:v>
                </c:pt>
                <c:pt idx="2">
                  <c:v>28.5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5.80742929506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71152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95256"/>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07/10/2026 · Thời điểm định giá: 01/01/2026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16,8%</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20,4 / 21,7 / 27,7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22,4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11,4–35,5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3,8 lần đến 2030E; biên EBITDA giảm năm 2029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18598" y="469846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a:t>
            </a:r>
            <a:endParaRPr lang="vi-VN" sz="650" dirty="0"/>
          </a:p>
        </p:txBody>
      </p:sp>
      <p:sp>
        <p:nvSpPr>
          <p:cNvPr id="24" name="Text 20"/>
          <p:cNvSpPr txBox="1"/>
          <p:nvPr/>
        </p:nvSpPr>
        <p:spPr>
          <a:xfrm>
            <a:off x="684019" y="466858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a:t>
            </a:r>
            <a:endParaRPr lang="vi-VN" sz="650" dirty="0"/>
          </a:p>
        </p:txBody>
      </p:sp>
      <p:sp>
        <p:nvSpPr>
          <p:cNvPr id="25" name="Text 21"/>
          <p:cNvSpPr txBox="1"/>
          <p:nvPr/>
        </p:nvSpPr>
        <p:spPr>
          <a:xfrm>
            <a:off x="949440" y="462545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a:t>
            </a:r>
            <a:endParaRPr lang="vi-VN" sz="650" dirty="0"/>
          </a:p>
        </p:txBody>
      </p:sp>
      <p:sp>
        <p:nvSpPr>
          <p:cNvPr id="26" name="Text 22"/>
          <p:cNvSpPr txBox="1"/>
          <p:nvPr/>
        </p:nvSpPr>
        <p:spPr>
          <a:xfrm>
            <a:off x="1214861" y="458336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64</a:t>
            </a:r>
            <a:endParaRPr lang="vi-VN" sz="650" dirty="0"/>
          </a:p>
        </p:txBody>
      </p:sp>
      <p:sp>
        <p:nvSpPr>
          <p:cNvPr id="27" name="Text 23"/>
          <p:cNvSpPr txBox="1"/>
          <p:nvPr/>
        </p:nvSpPr>
        <p:spPr>
          <a:xfrm>
            <a:off x="1480282" y="453737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8" name="Text 24"/>
          <p:cNvSpPr txBox="1"/>
          <p:nvPr/>
        </p:nvSpPr>
        <p:spPr>
          <a:xfrm>
            <a:off x="1745702" y="44880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100</a:t>
            </a:r>
            <a:endParaRPr lang="vi-VN" sz="650" dirty="0"/>
          </a:p>
        </p:txBody>
      </p:sp>
      <p:sp>
        <p:nvSpPr>
          <p:cNvPr id="29" name="Text 25"/>
          <p:cNvSpPr txBox="1"/>
          <p:nvPr/>
        </p:nvSpPr>
        <p:spPr>
          <a:xfrm>
            <a:off x="2011123" y="438693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139</a:t>
            </a:r>
            <a:endParaRPr lang="vi-VN" sz="650" dirty="0"/>
          </a:p>
        </p:txBody>
      </p:sp>
      <p:sp>
        <p:nvSpPr>
          <p:cNvPr id="30" name="Text 26"/>
          <p:cNvSpPr txBox="1"/>
          <p:nvPr/>
        </p:nvSpPr>
        <p:spPr>
          <a:xfrm>
            <a:off x="2276544" y="428404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179</a:t>
            </a:r>
            <a:endParaRPr lang="vi-VN" sz="650" dirty="0"/>
          </a:p>
        </p:txBody>
      </p:sp>
      <p:sp>
        <p:nvSpPr>
          <p:cNvPr id="31" name="Text 27"/>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32" name="Chart 1" descr=""/>
          <p:cNvGraphicFramePr/>
          <p:nvPr/>
        </p:nvGraphicFramePr>
        <p:xfrm>
          <a:off x="405408" y="5203180"/>
          <a:ext cx="2159943" cy="608707"/>
        </p:xfrm>
        <a:graphic xmlns:a="http://schemas.openxmlformats.org/drawingml/2006/main">
          <a:graphicData uri="http://schemas.openxmlformats.org/drawingml/2006/chart">
            <c:chart xmlns:c="http://schemas.openxmlformats.org/drawingml/2006/chart" r:id="rId2"/>
          </a:graphicData>
        </a:graphic>
      </p:graphicFrame>
      <p:sp>
        <p:nvSpPr>
          <p:cNvPr id="33" name="Text 28"/>
          <p:cNvSpPr txBox="1"/>
          <p:nvPr/>
        </p:nvSpPr>
        <p:spPr>
          <a:xfrm>
            <a:off x="689661" y="5546976"/>
            <a:ext cx="204407"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34" name="Text 29"/>
          <p:cNvSpPr txBox="1"/>
          <p:nvPr/>
        </p:nvSpPr>
        <p:spPr>
          <a:xfrm>
            <a:off x="957685" y="5289084"/>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35" name="Text 30"/>
          <p:cNvSpPr txBox="1"/>
          <p:nvPr/>
        </p:nvSpPr>
        <p:spPr>
          <a:xfrm>
            <a:off x="1160082" y="5249648"/>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36" name="Text 31"/>
          <p:cNvSpPr txBox="1"/>
          <p:nvPr/>
        </p:nvSpPr>
        <p:spPr>
          <a:xfrm>
            <a:off x="1384355" y="524273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7" name="Text 32"/>
          <p:cNvSpPr txBox="1"/>
          <p:nvPr/>
        </p:nvSpPr>
        <p:spPr>
          <a:xfrm>
            <a:off x="1608628" y="5235825"/>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8" name="Text 33"/>
          <p:cNvSpPr txBox="1"/>
          <p:nvPr/>
        </p:nvSpPr>
        <p:spPr>
          <a:xfrm>
            <a:off x="1832901" y="5236232"/>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9" name="Text 34"/>
          <p:cNvSpPr txBox="1"/>
          <p:nvPr/>
        </p:nvSpPr>
        <p:spPr>
          <a:xfrm>
            <a:off x="2057174" y="5243550"/>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40" name="Text 35"/>
          <p:cNvSpPr txBox="1"/>
          <p:nvPr/>
        </p:nvSpPr>
        <p:spPr>
          <a:xfrm>
            <a:off x="2281446" y="523135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21</a:t>
            </a:r>
            <a:endParaRPr lang="vi-VN" sz="650" dirty="0"/>
          </a:p>
        </p:txBody>
      </p:sp>
      <p:sp>
        <p:nvSpPr>
          <p:cNvPr id="41" name="Text 36"/>
          <p:cNvSpPr txBox="1"/>
          <p:nvPr/>
        </p:nvSpPr>
        <p:spPr>
          <a:xfrm>
            <a:off x="405408" y="582974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42" name="Text 37"/>
          <p:cNvSpPr txBox="1"/>
          <p:nvPr/>
        </p:nvSpPr>
        <p:spPr>
          <a:xfrm>
            <a:off x="405408" y="612638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20,4–27,7 tỷ; bình quân thấp hơn VCSH sổ sách</a:t>
            </a:r>
            <a:endParaRPr lang="vi-VN" sz="720" dirty="0"/>
          </a:p>
        </p:txBody>
      </p:sp>
      <p:sp>
        <p:nvSpPr>
          <p:cNvPr id="43" name="Text 38"/>
          <p:cNvSpPr txBox="1"/>
          <p:nvPr/>
        </p:nvSpPr>
        <p:spPr>
          <a:xfrm>
            <a:off x="405408" y="63634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44" name="Chart 2" descr=""/>
          <p:cNvGraphicFramePr/>
          <p:nvPr/>
        </p:nvGraphicFramePr>
        <p:xfrm>
          <a:off x="405408" y="6478935"/>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45" name="Shape 39"/>
          <p:cNvSpPr/>
          <p:nvPr/>
        </p:nvSpPr>
        <p:spPr>
          <a:xfrm>
            <a:off x="1590635" y="6606951"/>
            <a:ext cx="0" cy="894302"/>
          </a:xfrm>
          <a:prstGeom prst="line">
            <a:avLst/>
          </a:prstGeom>
          <a:noFill/>
          <a:ln w="6350">
            <a:solidFill>
              <a:srgbClr val="BFBFBF"/>
            </a:solidFill>
            <a:prstDash val="solid"/>
          </a:ln>
        </p:spPr>
      </p:sp>
      <p:sp>
        <p:nvSpPr>
          <p:cNvPr id="46" name="Text 40"/>
          <p:cNvSpPr txBox="1"/>
          <p:nvPr/>
        </p:nvSpPr>
        <p:spPr>
          <a:xfrm>
            <a:off x="405408" y="666387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(20,4)</a:t>
            </a:r>
            <a:endParaRPr lang="vi-VN" sz="650" dirty="0"/>
          </a:p>
        </p:txBody>
      </p:sp>
      <p:sp>
        <p:nvSpPr>
          <p:cNvPr id="47" name="Text 41"/>
          <p:cNvSpPr txBox="1"/>
          <p:nvPr/>
        </p:nvSpPr>
        <p:spPr>
          <a:xfrm>
            <a:off x="1908837" y="6663875"/>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11,7–29,7</a:t>
            </a:r>
            <a:endParaRPr lang="vi-VN" sz="650" dirty="0"/>
          </a:p>
        </p:txBody>
      </p:sp>
      <p:sp>
        <p:nvSpPr>
          <p:cNvPr id="48" name="Shape 42"/>
          <p:cNvSpPr/>
          <p:nvPr/>
        </p:nvSpPr>
        <p:spPr>
          <a:xfrm>
            <a:off x="1790453" y="6651666"/>
            <a:ext cx="0" cy="134145"/>
          </a:xfrm>
          <a:prstGeom prst="line">
            <a:avLst/>
          </a:prstGeom>
          <a:noFill/>
          <a:ln w="15875">
            <a:solidFill>
              <a:srgbClr val="FFFFFF"/>
            </a:solidFill>
            <a:prstDash val="solid"/>
          </a:ln>
        </p:spPr>
      </p:sp>
      <p:sp>
        <p:nvSpPr>
          <p:cNvPr id="49" name="Text 43"/>
          <p:cNvSpPr txBox="1"/>
          <p:nvPr/>
        </p:nvSpPr>
        <p:spPr>
          <a:xfrm>
            <a:off x="405408" y="688745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 (21,7)</a:t>
            </a:r>
            <a:endParaRPr lang="vi-VN" sz="650" dirty="0"/>
          </a:p>
        </p:txBody>
      </p:sp>
      <p:sp>
        <p:nvSpPr>
          <p:cNvPr id="50" name="Text 44"/>
          <p:cNvSpPr txBox="1"/>
          <p:nvPr/>
        </p:nvSpPr>
        <p:spPr>
          <a:xfrm>
            <a:off x="1980306" y="6887450"/>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8,0–37,0</a:t>
            </a:r>
            <a:endParaRPr lang="vi-VN" sz="650" dirty="0"/>
          </a:p>
        </p:txBody>
      </p:sp>
      <p:sp>
        <p:nvSpPr>
          <p:cNvPr id="51" name="Shape 45"/>
          <p:cNvSpPr/>
          <p:nvPr/>
        </p:nvSpPr>
        <p:spPr>
          <a:xfrm>
            <a:off x="1802996" y="6875241"/>
            <a:ext cx="0" cy="134145"/>
          </a:xfrm>
          <a:prstGeom prst="line">
            <a:avLst/>
          </a:prstGeom>
          <a:noFill/>
          <a:ln w="15875">
            <a:solidFill>
              <a:srgbClr val="FFFFFF"/>
            </a:solidFill>
            <a:prstDash val="solid"/>
          </a:ln>
        </p:spPr>
      </p:sp>
      <p:sp>
        <p:nvSpPr>
          <p:cNvPr id="52" name="Text 46"/>
          <p:cNvSpPr txBox="1"/>
          <p:nvPr/>
        </p:nvSpPr>
        <p:spPr>
          <a:xfrm>
            <a:off x="405408" y="7111026"/>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 (27,7)</a:t>
            </a:r>
            <a:endParaRPr lang="vi-VN" sz="650" dirty="0"/>
          </a:p>
        </p:txBody>
      </p:sp>
      <p:sp>
        <p:nvSpPr>
          <p:cNvPr id="53" name="Text 47"/>
          <p:cNvSpPr txBox="1"/>
          <p:nvPr/>
        </p:nvSpPr>
        <p:spPr>
          <a:xfrm>
            <a:off x="2048838" y="7111026"/>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17,7–44,0</a:t>
            </a:r>
            <a:endParaRPr lang="vi-VN" sz="650" dirty="0"/>
          </a:p>
        </p:txBody>
      </p:sp>
      <p:sp>
        <p:nvSpPr>
          <p:cNvPr id="54" name="Shape 48"/>
          <p:cNvSpPr/>
          <p:nvPr/>
        </p:nvSpPr>
        <p:spPr>
          <a:xfrm>
            <a:off x="1861932" y="7098817"/>
            <a:ext cx="0" cy="134145"/>
          </a:xfrm>
          <a:prstGeom prst="line">
            <a:avLst/>
          </a:prstGeom>
          <a:noFill/>
          <a:ln w="15875">
            <a:solidFill>
              <a:srgbClr val="FFFFFF"/>
            </a:solidFill>
            <a:prstDash val="solid"/>
          </a:ln>
        </p:spPr>
      </p:sp>
      <p:sp>
        <p:nvSpPr>
          <p:cNvPr id="55" name="Text 49"/>
          <p:cNvSpPr txBox="1"/>
          <p:nvPr/>
        </p:nvSpPr>
        <p:spPr>
          <a:xfrm>
            <a:off x="405408" y="7334601"/>
            <a:ext cx="1139508"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 (22,4)</a:t>
            </a:r>
            <a:endParaRPr lang="vi-VN" sz="650" dirty="0"/>
          </a:p>
        </p:txBody>
      </p:sp>
      <p:sp>
        <p:nvSpPr>
          <p:cNvPr id="56" name="Text 50"/>
          <p:cNvSpPr txBox="1"/>
          <p:nvPr/>
        </p:nvSpPr>
        <p:spPr>
          <a:xfrm>
            <a:off x="1965621" y="7334601"/>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11,4–35,5</a:t>
            </a:r>
            <a:endParaRPr lang="vi-VN" sz="650" dirty="0"/>
          </a:p>
        </p:txBody>
      </p:sp>
      <p:sp>
        <p:nvSpPr>
          <p:cNvPr id="57" name="Shape 51"/>
          <p:cNvSpPr/>
          <p:nvPr/>
        </p:nvSpPr>
        <p:spPr>
          <a:xfrm>
            <a:off x="1809766" y="7322393"/>
            <a:ext cx="0" cy="134145"/>
          </a:xfrm>
          <a:prstGeom prst="line">
            <a:avLst/>
          </a:prstGeom>
          <a:noFill/>
          <a:ln w="15875">
            <a:solidFill>
              <a:srgbClr val="FFFFFF"/>
            </a:solidFill>
            <a:prstDash val="solid"/>
          </a:ln>
        </p:spPr>
      </p:sp>
      <p:sp>
        <p:nvSpPr>
          <p:cNvPr id="58" name="Shape 52"/>
          <p:cNvSpPr/>
          <p:nvPr/>
        </p:nvSpPr>
        <p:spPr>
          <a:xfrm>
            <a:off x="1884070" y="6606951"/>
            <a:ext cx="0" cy="894302"/>
          </a:xfrm>
          <a:prstGeom prst="line">
            <a:avLst/>
          </a:prstGeom>
          <a:noFill/>
          <a:ln w="9525">
            <a:solidFill>
              <a:srgbClr val="7B1E2B"/>
            </a:solidFill>
            <a:prstDash val="dash"/>
          </a:ln>
        </p:spPr>
      </p:sp>
      <p:sp>
        <p:nvSpPr>
          <p:cNvPr id="59" name="Text 53"/>
          <p:cNvSpPr txBox="1"/>
          <p:nvPr/>
        </p:nvSpPr>
        <p:spPr>
          <a:xfrm>
            <a:off x="1243990" y="6478935"/>
            <a:ext cx="1280160" cy="109728"/>
          </a:xfrm>
          <a:prstGeom prst="rect">
            <a:avLst/>
          </a:prstGeom>
          <a:noFill/>
          <a:ln/>
        </p:spPr>
        <p:txBody>
          <a:bodyPr wrap="none" lIns="0" tIns="0" rIns="0" bIns="0" rtlCol="0" anchor="ctr"/>
          <a:lstStyle/>
          <a:p>
            <a:pPr algn="ctr" indent="0" marL="0">
              <a:buNone/>
            </a:pPr>
            <a:r>
              <a:rPr lang="vi-VN" altLang="en-US" sz="550" b="1" dirty="0">
                <a:solidFill>
                  <a:srgbClr val="7B1E2B"/>
                </a:solidFill>
                <a:latin typeface="Calibri" pitchFamily="34" charset="0"/>
                <a:ea typeface="Calibri" pitchFamily="34" charset="-122"/>
                <a:cs typeface="Calibri" pitchFamily="34" charset="-120"/>
              </a:rPr>
              <a:t>VCSH sổ sách 30,0</a:t>
            </a:r>
            <a:endParaRPr lang="vi-VN" sz="550" dirty="0"/>
          </a:p>
        </p:txBody>
      </p:sp>
      <p:sp>
        <p:nvSpPr>
          <p:cNvPr id="60" name="Text 54"/>
          <p:cNvSpPr txBox="1"/>
          <p:nvPr/>
        </p:nvSpPr>
        <p:spPr>
          <a:xfrm>
            <a:off x="405408" y="753740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61" name="Text 55"/>
          <p:cNvSpPr txBox="1"/>
          <p:nvPr/>
        </p:nvSpPr>
        <p:spPr>
          <a:xfrm>
            <a:off x="463008" y="773672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70180"/>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3" name="Text 56"/>
          <p:cNvSpPr txBox="1"/>
          <p:nvPr/>
        </p:nvSpPr>
        <p:spPr>
          <a:xfrm>
            <a:off x="405408" y="916349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64" name="Text 57"/>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22,4 tỷ đồng, thấp hơn giá trị sổ sách vì tăng trưởng còn cần nhiều vốn</a:t>
            </a:r>
            <a:endParaRPr lang="vi-VN" sz="1220" dirty="0"/>
          </a:p>
        </p:txBody>
      </p:sp>
      <p:sp>
        <p:nvSpPr>
          <p:cNvPr id="65" name="Text 58"/>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01/01/2026)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22,4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11,4–35,5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20,4 / 21,7 / 27,7 tỷ; DCF điều chỉnh xác suất sống sót 18,2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1,50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0,75 lần VCSH sổ sách; P/E 2025A 6,3 lần; EV/EBITDA 2025A 2,7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67" name="Text 59"/>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68" name="Text 60"/>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69" name="Text 61"/>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11,5%. Khi tính lại mô hình cho từng nhân tố, cầu là nhân tố quan trọng nhất: sản lượng thay đổi 20% làm pre-money thay đổi −25,3/+30,6 tỷ đồng, gấp khoảng 4–7 lần tác động của giá bán, lãi suất hay rủi ro quốc gia (Fig. 38).</a:t>
            </a:r>
            <a:endParaRPr lang="vi-VN" sz="850" dirty="0"/>
          </a:p>
        </p:txBody>
      </p:sp>
      <p:sp>
        <p:nvSpPr>
          <p:cNvPr id="70" name="Text 62"/>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178,9 tỷ đồng năm 2030, tăng bình quân 30,3% mỗi năm; biên EBITDA tăng từ 16,2% lên 20,7% (Fig. 01). Khi trình bày theo chức năng, với 70% tiền lương và 90% khấu hao vào giá vốn, biên lợi nhuận gộp đi từ 51,0% năm 2025 xuống 47,4% năm 2030. Theo đề bài, khoản đầu tư lớn với CAPEX bằng 65% doanh thu rơi vào năm 2028 (65,3 tỷ đồng), khiến dòng tiền tự do âm bốn năm liền 2026–2029; năm 2030 tỷ lệ tái đầu tư về 10% doanh thu, vẫn cao hơn trung vị 3,1% của ngành vì AgriPack còn tăng trưởng 28% mỗi năm (Fig. 03).</a:t>
            </a:r>
            <a:endParaRPr lang="vi-VN" sz="850" dirty="0"/>
          </a:p>
        </p:txBody>
      </p:sp>
      <p:sp>
        <p:nvSpPr>
          <p:cNvPr id="71" name="Text 63"/>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20,4 tỷ đồng, VC Method 21,7 tỷ và Multiples 27,7 tỷ; bình quân gia quyền là 22,4 tỷ đồng (Fig. 02). Khi DCF được điều chỉnh theo xác suất sống sót (18,2 tỷ đồng), các phương pháp nằm trong khoảng 18–28 tỷ đồng. Mức 22,4 tỷ đồng chỉ bằng khoảng 0,75 lần vốn chủ sở hữu sổ sách, tức nhà đầu tư chưa trả thêm cho tăng trưởng, vì tăng trưởng đòi hỏi gần 80 tỷ đồng vốn bên ngoài và ROIC giai đoạn 2028–2030 thấp hơn WACC.</a:t>
            </a:r>
            <a:endParaRPr lang="vi-VN" sz="850" dirty="0"/>
          </a:p>
        </p:txBody>
      </p:sp>
      <p:sp>
        <p:nvSpPr>
          <p:cNvPr id="72" name="Text 64"/>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II/2028, hoặc nhà máy mới chưa vận hành trước ngày 31/12/2028.</a:t>
            </a:r>
            <a:endParaRPr lang="vi-VN" sz="850" dirty="0"/>
          </a:p>
        </p:txBody>
      </p:sp>
      <p:sp>
        <p:nvSpPr>
          <p:cNvPr id="73" name="Text 65"/>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74" name="Text 66"/>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76" name="Text 67"/>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77" name="Text 6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8" name="Text 6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58382" y="1433345"/>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12,83</a:t>
            </a:r>
            <a:endParaRPr lang="vi-VN" sz="650" dirty="0"/>
          </a:p>
        </p:txBody>
      </p:sp>
      <p:sp>
        <p:nvSpPr>
          <p:cNvPr id="15" name="Text 12"/>
          <p:cNvSpPr txBox="1"/>
          <p:nvPr/>
        </p:nvSpPr>
        <p:spPr>
          <a:xfrm>
            <a:off x="1720065" y="1260306"/>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19,16</a:t>
            </a:r>
            <a:endParaRPr lang="vi-VN" sz="650" dirty="0"/>
          </a:p>
        </p:txBody>
      </p:sp>
      <p:sp>
        <p:nvSpPr>
          <p:cNvPr id="16" name="Text 13"/>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7" name="Text 14"/>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8" name="Shape 15"/>
          <p:cNvSpPr/>
          <p:nvPr/>
        </p:nvSpPr>
        <p:spPr>
          <a:xfrm>
            <a:off x="464437" y="2752386"/>
            <a:ext cx="0" cy="883508"/>
          </a:xfrm>
          <a:prstGeom prst="line">
            <a:avLst/>
          </a:prstGeom>
          <a:noFill/>
          <a:ln w="11430">
            <a:solidFill>
              <a:srgbClr val="D0D0D0"/>
            </a:solidFill>
            <a:prstDash val="solid"/>
          </a:ln>
        </p:spPr>
      </p:sp>
      <p:sp>
        <p:nvSpPr>
          <p:cNvPr id="19" name="Shape 16"/>
          <p:cNvSpPr/>
          <p:nvPr/>
        </p:nvSpPr>
        <p:spPr>
          <a:xfrm>
            <a:off x="434005" y="2721954"/>
            <a:ext cx="60864" cy="60865"/>
          </a:xfrm>
          <a:prstGeom prst="ellipse">
            <a:avLst/>
          </a:prstGeom>
          <a:solidFill>
            <a:srgbClr val="404040"/>
          </a:solidFill>
          <a:ln w="6350">
            <a:solidFill>
              <a:srgbClr val="FFFFFF"/>
            </a:solidFill>
            <a:prstDash val="solid"/>
          </a:ln>
        </p:spPr>
      </p:sp>
      <p:sp>
        <p:nvSpPr>
          <p:cNvPr id="20" name="Shape 17"/>
          <p:cNvSpPr/>
          <p:nvPr/>
        </p:nvSpPr>
        <p:spPr>
          <a:xfrm>
            <a:off x="434005" y="3016457"/>
            <a:ext cx="60864" cy="60864"/>
          </a:xfrm>
          <a:prstGeom prst="ellipse">
            <a:avLst/>
          </a:prstGeom>
          <a:solidFill>
            <a:srgbClr val="404040"/>
          </a:solidFill>
          <a:ln w="6350">
            <a:solidFill>
              <a:srgbClr val="FFFFFF"/>
            </a:solidFill>
            <a:prstDash val="solid"/>
          </a:ln>
        </p:spPr>
      </p:sp>
      <p:sp>
        <p:nvSpPr>
          <p:cNvPr id="21" name="Shape 18"/>
          <p:cNvSpPr/>
          <p:nvPr/>
        </p:nvSpPr>
        <p:spPr>
          <a:xfrm>
            <a:off x="434005" y="3310960"/>
            <a:ext cx="60864" cy="60864"/>
          </a:xfrm>
          <a:prstGeom prst="ellipse">
            <a:avLst/>
          </a:prstGeom>
          <a:solidFill>
            <a:srgbClr val="7B1E2B"/>
          </a:solidFill>
          <a:ln w="6350">
            <a:solidFill>
              <a:srgbClr val="FFFFFF"/>
            </a:solidFill>
            <a:prstDash val="solid"/>
          </a:ln>
        </p:spPr>
      </p:sp>
      <p:sp>
        <p:nvSpPr>
          <p:cNvPr id="22" name="Shape 19"/>
          <p:cNvSpPr/>
          <p:nvPr/>
        </p:nvSpPr>
        <p:spPr>
          <a:xfrm>
            <a:off x="434005" y="3605461"/>
            <a:ext cx="60864" cy="60864"/>
          </a:xfrm>
          <a:prstGeom prst="ellipse">
            <a:avLst/>
          </a:prstGeom>
          <a:solidFill>
            <a:srgbClr val="404040"/>
          </a:solidFill>
          <a:ln w="6350">
            <a:solidFill>
              <a:srgbClr val="FFFFFF"/>
            </a:solidFill>
            <a:prstDash val="solid"/>
          </a:ln>
        </p:spPr>
      </p:sp>
      <p:sp>
        <p:nvSpPr>
          <p:cNvPr id="23" name="Text 20"/>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4" name="Text 21"/>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5" name="Text 22"/>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6" name="Text 23"/>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7" name="Text 24"/>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8" name="Text 25"/>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9" name="Text 26"/>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2026–2029: kế hoạch của AgriPack</a:t>
            </a:r>
            <a:endParaRPr lang="vi-VN" sz="650" dirty="0"/>
          </a:p>
        </p:txBody>
      </p:sp>
      <p:sp>
        <p:nvSpPr>
          <p:cNvPr id="30" name="Text 27"/>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(2028, CAPEX</a:t>
            </a:r>
            <a:endParaRPr lang="vi-VN" sz="590" dirty="0"/>
          </a:p>
        </p:txBody>
      </p:sp>
      <p:sp>
        <p:nvSpPr>
          <p:cNvPr id="31" name="Text 28"/>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(2029)</a:t>
            </a:r>
            <a:endParaRPr lang="vi-VN" sz="590" dirty="0"/>
          </a:p>
        </p:txBody>
      </p:sp>
      <p:sp>
        <p:nvSpPr>
          <p:cNvPr id="32" name="Text 29"/>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3" name="Text 30"/>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4" name="Text 31"/>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5" name="Text 32"/>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6" name="Text 33"/>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7" name="Text 34"/>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8"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1415629" y="4605915"/>
            <a:ext cx="0" cy="797903"/>
          </a:xfrm>
          <a:prstGeom prst="line">
            <a:avLst/>
          </a:prstGeom>
          <a:noFill/>
          <a:ln w="6350">
            <a:solidFill>
              <a:srgbClr val="BFBFBF"/>
            </a:solidFill>
            <a:prstDash val="solid"/>
          </a:ln>
        </p:spPr>
      </p:sp>
      <p:sp>
        <p:nvSpPr>
          <p:cNvPr id="40" name="Text 36"/>
          <p:cNvSpPr txBox="1"/>
          <p:nvPr/>
        </p:nvSpPr>
        <p:spPr>
          <a:xfrm>
            <a:off x="405408" y="4630841"/>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Xốp EPS</a:t>
            </a:r>
            <a:endParaRPr lang="vi-VN" sz="650" dirty="0"/>
          </a:p>
        </p:txBody>
      </p:sp>
      <p:sp>
        <p:nvSpPr>
          <p:cNvPr id="41" name="Text 37"/>
          <p:cNvSpPr txBox="1"/>
          <p:nvPr/>
        </p:nvSpPr>
        <p:spPr>
          <a:xfrm>
            <a:off x="1529613" y="4630841"/>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400–600</a:t>
            </a:r>
            <a:endParaRPr lang="vi-VN" sz="650" dirty="0"/>
          </a:p>
        </p:txBody>
      </p:sp>
      <p:sp>
        <p:nvSpPr>
          <p:cNvPr id="42" name="Text 38"/>
          <p:cNvSpPr txBox="1"/>
          <p:nvPr/>
        </p:nvSpPr>
        <p:spPr>
          <a:xfrm>
            <a:off x="405408" y="4790422"/>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PP</a:t>
            </a:r>
            <a:endParaRPr lang="vi-VN" sz="650" dirty="0"/>
          </a:p>
        </p:txBody>
      </p:sp>
      <p:sp>
        <p:nvSpPr>
          <p:cNvPr id="43" name="Text 39"/>
          <p:cNvSpPr txBox="1"/>
          <p:nvPr/>
        </p:nvSpPr>
        <p:spPr>
          <a:xfrm>
            <a:off x="1587026" y="4790422"/>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978–998</a:t>
            </a:r>
            <a:endParaRPr lang="vi-VN" sz="650" dirty="0"/>
          </a:p>
        </p:txBody>
      </p:sp>
      <p:sp>
        <p:nvSpPr>
          <p:cNvPr id="44" name="Text 40"/>
          <p:cNvSpPr txBox="1"/>
          <p:nvPr/>
        </p:nvSpPr>
        <p:spPr>
          <a:xfrm>
            <a:off x="405408" y="495000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Kraft (nắp PP)</a:t>
            </a:r>
            <a:endParaRPr lang="vi-VN" sz="650" dirty="0"/>
          </a:p>
        </p:txBody>
      </p:sp>
      <p:sp>
        <p:nvSpPr>
          <p:cNvPr id="45" name="Text 41"/>
          <p:cNvSpPr txBox="1"/>
          <p:nvPr/>
        </p:nvSpPr>
        <p:spPr>
          <a:xfrm>
            <a:off x="1666654" y="495000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1.350–1.550</a:t>
            </a:r>
            <a:endParaRPr lang="vi-VN" sz="650" dirty="0"/>
          </a:p>
        </p:txBody>
      </p:sp>
      <p:sp>
        <p:nvSpPr>
          <p:cNvPr id="46" name="Text 42"/>
          <p:cNvSpPr txBox="1"/>
          <p:nvPr/>
        </p:nvSpPr>
        <p:spPr>
          <a:xfrm>
            <a:off x="405408" y="510958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Bã mía</a:t>
            </a:r>
            <a:endParaRPr lang="vi-VN" sz="650" dirty="0"/>
          </a:p>
        </p:txBody>
      </p:sp>
      <p:sp>
        <p:nvSpPr>
          <p:cNvPr id="47" name="Text 43"/>
          <p:cNvSpPr txBox="1"/>
          <p:nvPr/>
        </p:nvSpPr>
        <p:spPr>
          <a:xfrm>
            <a:off x="1832546" y="510958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1.900–2.700</a:t>
            </a:r>
            <a:endParaRPr lang="vi-VN" sz="650" dirty="0"/>
          </a:p>
        </p:txBody>
      </p:sp>
      <p:sp>
        <p:nvSpPr>
          <p:cNvPr id="48" name="Text 44"/>
          <p:cNvSpPr txBox="1"/>
          <p:nvPr/>
        </p:nvSpPr>
        <p:spPr>
          <a:xfrm>
            <a:off x="405408" y="5269164"/>
            <a:ext cx="96450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(500–800 ml)</a:t>
            </a:r>
            <a:endParaRPr lang="vi-VN" sz="650" dirty="0"/>
          </a:p>
        </p:txBody>
      </p:sp>
      <p:sp>
        <p:nvSpPr>
          <p:cNvPr id="49" name="Text 45"/>
          <p:cNvSpPr txBox="1"/>
          <p:nvPr/>
        </p:nvSpPr>
        <p:spPr>
          <a:xfrm>
            <a:off x="2020076" y="5269164"/>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2.500–4.000</a:t>
            </a:r>
            <a:endParaRPr lang="vi-VN" sz="650" dirty="0"/>
          </a:p>
        </p:txBody>
      </p:sp>
      <p:sp>
        <p:nvSpPr>
          <p:cNvPr id="50" name="Text 46"/>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51" name="Text 47"/>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52" name="Text 48"/>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53" name="Text 49"/>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54" name="Text 50"/>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55" name="Text 51"/>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56" name="Text 52"/>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57" name="Text 53"/>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58" name="Text 54"/>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59" name="Text 55"/>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60" name="Text 56"/>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61" name="Text 57"/>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62" name="Text 58"/>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63" name="Text 59"/>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64" name="Text 60"/>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65" name="Text 61"/>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66" name="Text 62"/>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67" name="Text 63"/>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68" name="Text 64"/>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69" name="Text 65"/>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70" name="Text 66"/>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71" name="Text 67"/>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72" name="Text 68"/>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73" name="Text 6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4" name="Text 7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11,5%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11,5% thị trường SAM với mức doanh thu ~4,9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23696" y="5156094"/>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19,6</a:t>
            </a:r>
            <a:endParaRPr lang="vi-VN" sz="550" dirty="0"/>
          </a:p>
        </p:txBody>
      </p:sp>
      <p:sp>
        <p:nvSpPr>
          <p:cNvPr id="26" name="Text 21"/>
          <p:cNvSpPr txBox="1"/>
          <p:nvPr/>
        </p:nvSpPr>
        <p:spPr>
          <a:xfrm>
            <a:off x="1131485" y="504626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31,2</a:t>
            </a:r>
            <a:endParaRPr lang="vi-VN" sz="550" dirty="0"/>
          </a:p>
        </p:txBody>
      </p:sp>
      <p:sp>
        <p:nvSpPr>
          <p:cNvPr id="27" name="Text 22"/>
          <p:cNvSpPr txBox="1"/>
          <p:nvPr/>
        </p:nvSpPr>
        <p:spPr>
          <a:xfrm>
            <a:off x="1839274" y="4888141"/>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47,9</a:t>
            </a:r>
            <a:endParaRPr lang="vi-VN" sz="550" dirty="0"/>
          </a:p>
        </p:txBody>
      </p:sp>
      <p:sp>
        <p:nvSpPr>
          <p:cNvPr id="28" name="Shape 23"/>
          <p:cNvSpPr/>
          <p:nvPr/>
        </p:nvSpPr>
        <p:spPr>
          <a:xfrm>
            <a:off x="405408" y="5725722"/>
            <a:ext cx="59436" cy="59436"/>
          </a:xfrm>
          <a:prstGeom prst="rect">
            <a:avLst/>
          </a:prstGeom>
          <a:solidFill>
            <a:srgbClr val="7B1E2B"/>
          </a:solidFill>
          <a:ln w="3175">
            <a:solidFill>
              <a:srgbClr val="7B1E2B"/>
            </a:solidFill>
            <a:prstDash val="solid"/>
          </a:ln>
        </p:spPr>
      </p:sp>
      <p:sp>
        <p:nvSpPr>
          <p:cNvPr id="29" name="Text 24"/>
          <p:cNvSpPr txBox="1"/>
          <p:nvPr/>
        </p:nvSpPr>
        <p:spPr>
          <a:xfrm>
            <a:off x="487704" y="5702862"/>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Thực phẩm/FMCG</a:t>
            </a:r>
            <a:endParaRPr lang="vi-VN" sz="650" dirty="0"/>
          </a:p>
        </p:txBody>
      </p:sp>
      <p:sp>
        <p:nvSpPr>
          <p:cNvPr id="30" name="Shape 25"/>
          <p:cNvSpPr/>
          <p:nvPr/>
        </p:nvSpPr>
        <p:spPr>
          <a:xfrm>
            <a:off x="1219097" y="5725722"/>
            <a:ext cx="59436" cy="59436"/>
          </a:xfrm>
          <a:prstGeom prst="rect">
            <a:avLst/>
          </a:prstGeom>
          <a:solidFill>
            <a:srgbClr val="404040"/>
          </a:solidFill>
          <a:ln w="3175">
            <a:solidFill>
              <a:srgbClr val="404040"/>
            </a:solidFill>
            <a:prstDash val="solid"/>
          </a:ln>
        </p:spPr>
      </p:sp>
      <p:sp>
        <p:nvSpPr>
          <p:cNvPr id="31" name="Text 26"/>
          <p:cNvSpPr txBox="1"/>
          <p:nvPr/>
        </p:nvSpPr>
        <p:spPr>
          <a:xfrm>
            <a:off x="1301393" y="5702862"/>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theo mẫu</a:t>
            </a:r>
            <a:endParaRPr lang="vi-VN" sz="650" dirty="0"/>
          </a:p>
        </p:txBody>
      </p:sp>
      <p:sp>
        <p:nvSpPr>
          <p:cNvPr id="32" name="Shape 27"/>
          <p:cNvSpPr/>
          <p:nvPr/>
        </p:nvSpPr>
        <p:spPr>
          <a:xfrm>
            <a:off x="405408" y="5835450"/>
            <a:ext cx="59436" cy="59436"/>
          </a:xfrm>
          <a:prstGeom prst="rect">
            <a:avLst/>
          </a:prstGeom>
          <a:solidFill>
            <a:srgbClr val="A3A3A3"/>
          </a:solidFill>
          <a:ln w="3175">
            <a:solidFill>
              <a:srgbClr val="A3A3A3"/>
            </a:solidFill>
            <a:prstDash val="solid"/>
          </a:ln>
        </p:spPr>
      </p:sp>
      <p:sp>
        <p:nvSpPr>
          <p:cNvPr id="33" name="Text 28"/>
          <p:cNvSpPr txBox="1"/>
          <p:nvPr/>
        </p:nvSpPr>
        <p:spPr>
          <a:xfrm>
            <a:off x="487704" y="5812590"/>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Nội thất/E-com</a:t>
            </a:r>
            <a:endParaRPr lang="vi-VN" sz="650" dirty="0"/>
          </a:p>
        </p:txBody>
      </p:sp>
      <p:sp>
        <p:nvSpPr>
          <p:cNvPr id="34" name="Shape 29"/>
          <p:cNvSpPr/>
          <p:nvPr/>
        </p:nvSpPr>
        <p:spPr>
          <a:xfrm>
            <a:off x="1219097" y="5835450"/>
            <a:ext cx="59436" cy="59436"/>
          </a:xfrm>
          <a:prstGeom prst="rect">
            <a:avLst/>
          </a:prstGeom>
          <a:solidFill>
            <a:srgbClr val="D0D0D0"/>
          </a:solidFill>
          <a:ln w="3175">
            <a:solidFill>
              <a:srgbClr val="D0D0D0"/>
            </a:solidFill>
            <a:prstDash val="solid"/>
          </a:ln>
        </p:spPr>
      </p:sp>
      <p:sp>
        <p:nvSpPr>
          <p:cNvPr id="35" name="Text 30"/>
          <p:cNvSpPr txBox="1"/>
          <p:nvPr/>
        </p:nvSpPr>
        <p:spPr>
          <a:xfrm>
            <a:off x="1301393" y="5812590"/>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Điện tử</a:t>
            </a:r>
            <a:endParaRPr lang="vi-VN" sz="650" dirty="0"/>
          </a:p>
        </p:txBody>
      </p:sp>
      <p:sp>
        <p:nvSpPr>
          <p:cNvPr id="36" name="Text 31"/>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37" name="Text 32"/>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38" name="Text 33"/>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40" name="Text 34"/>
          <p:cNvSpPr txBox="1"/>
          <p:nvPr/>
        </p:nvSpPr>
        <p:spPr>
          <a:xfrm>
            <a:off x="423696" y="6858808"/>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22,2</a:t>
            </a:r>
            <a:endParaRPr lang="vi-VN" sz="550" dirty="0"/>
          </a:p>
        </p:txBody>
      </p:sp>
      <p:sp>
        <p:nvSpPr>
          <p:cNvPr id="41" name="Text 35"/>
          <p:cNvSpPr txBox="1"/>
          <p:nvPr/>
        </p:nvSpPr>
        <p:spPr>
          <a:xfrm>
            <a:off x="1131485" y="677412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28,9</a:t>
            </a:r>
            <a:endParaRPr lang="vi-VN" sz="550" dirty="0"/>
          </a:p>
        </p:txBody>
      </p:sp>
      <p:sp>
        <p:nvSpPr>
          <p:cNvPr id="42" name="Text 36"/>
          <p:cNvSpPr txBox="1"/>
          <p:nvPr/>
        </p:nvSpPr>
        <p:spPr>
          <a:xfrm>
            <a:off x="1839274" y="6635085"/>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39,9</a:t>
            </a:r>
            <a:endParaRPr lang="vi-VN" sz="550" dirty="0"/>
          </a:p>
        </p:txBody>
      </p:sp>
      <p:sp>
        <p:nvSpPr>
          <p:cNvPr id="43" name="Shape 37"/>
          <p:cNvSpPr/>
          <p:nvPr/>
        </p:nvSpPr>
        <p:spPr>
          <a:xfrm>
            <a:off x="405408" y="7523458"/>
            <a:ext cx="59436" cy="59436"/>
          </a:xfrm>
          <a:prstGeom prst="rect">
            <a:avLst/>
          </a:prstGeom>
          <a:solidFill>
            <a:srgbClr val="404040"/>
          </a:solidFill>
          <a:ln w="3175">
            <a:solidFill>
              <a:srgbClr val="404040"/>
            </a:solidFill>
            <a:prstDash val="solid"/>
          </a:ln>
        </p:spPr>
      </p:sp>
      <p:sp>
        <p:nvSpPr>
          <p:cNvPr id="44" name="Text 38"/>
          <p:cNvSpPr txBox="1"/>
          <p:nvPr/>
        </p:nvSpPr>
        <p:spPr>
          <a:xfrm>
            <a:off x="487704"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COGS</a:t>
            </a:r>
            <a:endParaRPr lang="vi-VN" sz="650" dirty="0"/>
          </a:p>
        </p:txBody>
      </p:sp>
      <p:sp>
        <p:nvSpPr>
          <p:cNvPr id="45" name="Shape 39"/>
          <p:cNvSpPr/>
          <p:nvPr/>
        </p:nvSpPr>
        <p:spPr>
          <a:xfrm>
            <a:off x="781582" y="7523458"/>
            <a:ext cx="59436" cy="59436"/>
          </a:xfrm>
          <a:prstGeom prst="rect">
            <a:avLst/>
          </a:prstGeom>
          <a:solidFill>
            <a:srgbClr val="A3A3A3"/>
          </a:solidFill>
          <a:ln w="3175">
            <a:solidFill>
              <a:srgbClr val="A3A3A3"/>
            </a:solidFill>
            <a:prstDash val="solid"/>
          </a:ln>
        </p:spPr>
      </p:sp>
      <p:sp>
        <p:nvSpPr>
          <p:cNvPr id="46" name="Text 40"/>
          <p:cNvSpPr txBox="1"/>
          <p:nvPr/>
        </p:nvSpPr>
        <p:spPr>
          <a:xfrm>
            <a:off x="863878"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SG&amp;A</a:t>
            </a:r>
            <a:endParaRPr lang="vi-VN" sz="650" dirty="0"/>
          </a:p>
        </p:txBody>
      </p:sp>
      <p:sp>
        <p:nvSpPr>
          <p:cNvPr id="47" name="Shape 41"/>
          <p:cNvSpPr/>
          <p:nvPr/>
        </p:nvSpPr>
        <p:spPr>
          <a:xfrm>
            <a:off x="1157756" y="7523458"/>
            <a:ext cx="59436" cy="59436"/>
          </a:xfrm>
          <a:prstGeom prst="rect">
            <a:avLst/>
          </a:prstGeom>
          <a:solidFill>
            <a:srgbClr val="7B1E2B"/>
          </a:solidFill>
          <a:ln w="3175">
            <a:solidFill>
              <a:srgbClr val="7B1E2B"/>
            </a:solidFill>
            <a:prstDash val="solid"/>
          </a:ln>
        </p:spPr>
      </p:sp>
      <p:sp>
        <p:nvSpPr>
          <p:cNvPr id="48" name="Text 42"/>
          <p:cNvSpPr txBox="1"/>
          <p:nvPr/>
        </p:nvSpPr>
        <p:spPr>
          <a:xfrm>
            <a:off x="1240052" y="7500598"/>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Payroll</a:t>
            </a:r>
            <a:endParaRPr lang="vi-VN" sz="650" dirty="0"/>
          </a:p>
        </p:txBody>
      </p:sp>
      <p:sp>
        <p:nvSpPr>
          <p:cNvPr id="49" name="Text 4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50" name="Text 4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51" name="Shape 45"/>
          <p:cNvSpPr/>
          <p:nvPr/>
        </p:nvSpPr>
        <p:spPr>
          <a:xfrm>
            <a:off x="425096" y="8195807"/>
            <a:ext cx="147262" cy="107991"/>
          </a:xfrm>
          <a:prstGeom prst="rect">
            <a:avLst/>
          </a:prstGeom>
          <a:solidFill>
            <a:srgbClr val="7B1E2B"/>
          </a:solidFill>
          <a:ln/>
        </p:spPr>
      </p:sp>
      <p:sp>
        <p:nvSpPr>
          <p:cNvPr id="52" name="Shape 46"/>
          <p:cNvSpPr/>
          <p:nvPr/>
        </p:nvSpPr>
        <p:spPr>
          <a:xfrm>
            <a:off x="572358" y="8195807"/>
            <a:ext cx="1973304" cy="107991"/>
          </a:xfrm>
          <a:prstGeom prst="rect">
            <a:avLst/>
          </a:prstGeom>
          <a:solidFill>
            <a:srgbClr val="F4EEEE"/>
          </a:solidFill>
          <a:ln/>
        </p:spPr>
      </p:sp>
      <p:sp>
        <p:nvSpPr>
          <p:cNvPr id="53" name="Shape 47"/>
          <p:cNvSpPr/>
          <p:nvPr/>
        </p:nvSpPr>
        <p:spPr>
          <a:xfrm flipV="1">
            <a:off x="473202" y="8309688"/>
            <a:ext cx="51051" cy="25524"/>
          </a:xfrm>
          <a:prstGeom prst="triangle">
            <a:avLst/>
          </a:prstGeom>
          <a:solidFill>
            <a:srgbClr val="A3A3A3"/>
          </a:solidFill>
          <a:ln/>
        </p:spPr>
      </p:sp>
      <p:sp>
        <p:nvSpPr>
          <p:cNvPr id="54" name="Shape 48"/>
          <p:cNvSpPr/>
          <p:nvPr/>
        </p:nvSpPr>
        <p:spPr>
          <a:xfrm>
            <a:off x="425096" y="8339140"/>
            <a:ext cx="147262" cy="107991"/>
          </a:xfrm>
          <a:prstGeom prst="rect">
            <a:avLst/>
          </a:prstGeom>
          <a:solidFill>
            <a:srgbClr val="7B1E2B"/>
          </a:solidFill>
          <a:ln/>
        </p:spPr>
      </p:sp>
      <p:sp>
        <p:nvSpPr>
          <p:cNvPr id="55" name="Shape 49"/>
          <p:cNvSpPr/>
          <p:nvPr/>
        </p:nvSpPr>
        <p:spPr>
          <a:xfrm>
            <a:off x="572358" y="8339140"/>
            <a:ext cx="1973304" cy="107991"/>
          </a:xfrm>
          <a:prstGeom prst="rect">
            <a:avLst/>
          </a:prstGeom>
          <a:solidFill>
            <a:srgbClr val="F4EEEE"/>
          </a:solidFill>
          <a:ln/>
        </p:spPr>
      </p:sp>
      <p:sp>
        <p:nvSpPr>
          <p:cNvPr id="56" name="Shape 50"/>
          <p:cNvSpPr/>
          <p:nvPr/>
        </p:nvSpPr>
        <p:spPr>
          <a:xfrm flipV="1">
            <a:off x="473202" y="8453021"/>
            <a:ext cx="51051" cy="25526"/>
          </a:xfrm>
          <a:prstGeom prst="triangle">
            <a:avLst/>
          </a:prstGeom>
          <a:solidFill>
            <a:srgbClr val="A3A3A3"/>
          </a:solidFill>
          <a:ln/>
        </p:spPr>
      </p:sp>
      <p:sp>
        <p:nvSpPr>
          <p:cNvPr id="57" name="Shape 51"/>
          <p:cNvSpPr/>
          <p:nvPr/>
        </p:nvSpPr>
        <p:spPr>
          <a:xfrm>
            <a:off x="425096" y="8482475"/>
            <a:ext cx="147262" cy="107991"/>
          </a:xfrm>
          <a:prstGeom prst="rect">
            <a:avLst/>
          </a:prstGeom>
          <a:solidFill>
            <a:srgbClr val="7B1E2B"/>
          </a:solidFill>
          <a:ln/>
        </p:spPr>
      </p:sp>
      <p:sp>
        <p:nvSpPr>
          <p:cNvPr id="58" name="Shape 52"/>
          <p:cNvSpPr/>
          <p:nvPr/>
        </p:nvSpPr>
        <p:spPr>
          <a:xfrm>
            <a:off x="572358" y="8482475"/>
            <a:ext cx="1973304" cy="107991"/>
          </a:xfrm>
          <a:prstGeom prst="rect">
            <a:avLst/>
          </a:prstGeom>
          <a:solidFill>
            <a:srgbClr val="F4EEEE"/>
          </a:solidFill>
          <a:ln/>
        </p:spPr>
      </p:sp>
      <p:sp>
        <p:nvSpPr>
          <p:cNvPr id="59" name="Shape 53"/>
          <p:cNvSpPr/>
          <p:nvPr/>
        </p:nvSpPr>
        <p:spPr>
          <a:xfrm flipV="1">
            <a:off x="473202" y="8596357"/>
            <a:ext cx="51051" cy="25526"/>
          </a:xfrm>
          <a:prstGeom prst="triangle">
            <a:avLst/>
          </a:prstGeom>
          <a:solidFill>
            <a:srgbClr val="A3A3A3"/>
          </a:solidFill>
          <a:ln/>
        </p:spPr>
      </p:sp>
      <p:sp>
        <p:nvSpPr>
          <p:cNvPr id="60" name="Shape 54"/>
          <p:cNvSpPr/>
          <p:nvPr/>
        </p:nvSpPr>
        <p:spPr>
          <a:xfrm>
            <a:off x="425096" y="8625808"/>
            <a:ext cx="147262" cy="107993"/>
          </a:xfrm>
          <a:prstGeom prst="rect">
            <a:avLst/>
          </a:prstGeom>
          <a:solidFill>
            <a:srgbClr val="7B1E2B"/>
          </a:solidFill>
          <a:ln/>
        </p:spPr>
      </p:sp>
      <p:sp>
        <p:nvSpPr>
          <p:cNvPr id="61" name="Shape 55"/>
          <p:cNvSpPr/>
          <p:nvPr/>
        </p:nvSpPr>
        <p:spPr>
          <a:xfrm>
            <a:off x="572358" y="8625808"/>
            <a:ext cx="1973304" cy="107993"/>
          </a:xfrm>
          <a:prstGeom prst="rect">
            <a:avLst/>
          </a:prstGeom>
          <a:solidFill>
            <a:srgbClr val="F4EEEE"/>
          </a:solidFill>
          <a:ln/>
        </p:spPr>
      </p:sp>
      <p:sp>
        <p:nvSpPr>
          <p:cNvPr id="62" name="Shape 56"/>
          <p:cNvSpPr/>
          <p:nvPr/>
        </p:nvSpPr>
        <p:spPr>
          <a:xfrm flipV="1">
            <a:off x="473202" y="8739692"/>
            <a:ext cx="51051" cy="25524"/>
          </a:xfrm>
          <a:prstGeom prst="triangle">
            <a:avLst/>
          </a:prstGeom>
          <a:solidFill>
            <a:srgbClr val="A3A3A3"/>
          </a:solidFill>
          <a:ln/>
        </p:spPr>
      </p:sp>
      <p:sp>
        <p:nvSpPr>
          <p:cNvPr id="63" name="Shape 57"/>
          <p:cNvSpPr/>
          <p:nvPr/>
        </p:nvSpPr>
        <p:spPr>
          <a:xfrm>
            <a:off x="425096" y="8769144"/>
            <a:ext cx="147262" cy="107991"/>
          </a:xfrm>
          <a:prstGeom prst="rect">
            <a:avLst/>
          </a:prstGeom>
          <a:solidFill>
            <a:srgbClr val="7B1E2B"/>
          </a:solidFill>
          <a:ln/>
        </p:spPr>
      </p:sp>
      <p:sp>
        <p:nvSpPr>
          <p:cNvPr id="64" name="Shape 58"/>
          <p:cNvSpPr/>
          <p:nvPr/>
        </p:nvSpPr>
        <p:spPr>
          <a:xfrm>
            <a:off x="572358" y="8769144"/>
            <a:ext cx="1973304" cy="107991"/>
          </a:xfrm>
          <a:prstGeom prst="rect">
            <a:avLst/>
          </a:prstGeom>
          <a:solidFill>
            <a:srgbClr val="F4EEEE"/>
          </a:solidFill>
          <a:ln/>
        </p:spPr>
      </p:sp>
      <p:sp>
        <p:nvSpPr>
          <p:cNvPr id="65" name="Shape 59"/>
          <p:cNvSpPr/>
          <p:nvPr/>
        </p:nvSpPr>
        <p:spPr>
          <a:xfrm flipV="1">
            <a:off x="473202" y="8883025"/>
            <a:ext cx="51051" cy="25526"/>
          </a:xfrm>
          <a:prstGeom prst="triangle">
            <a:avLst/>
          </a:prstGeom>
          <a:solidFill>
            <a:srgbClr val="A3A3A3"/>
          </a:solidFill>
          <a:ln/>
        </p:spPr>
      </p:sp>
      <p:sp>
        <p:nvSpPr>
          <p:cNvPr id="66" name="Shape 60"/>
          <p:cNvSpPr/>
          <p:nvPr/>
        </p:nvSpPr>
        <p:spPr>
          <a:xfrm>
            <a:off x="425096" y="8912479"/>
            <a:ext cx="147262" cy="107991"/>
          </a:xfrm>
          <a:prstGeom prst="rect">
            <a:avLst/>
          </a:prstGeom>
          <a:solidFill>
            <a:srgbClr val="7B1E2B"/>
          </a:solidFill>
          <a:ln/>
        </p:spPr>
      </p:sp>
      <p:sp>
        <p:nvSpPr>
          <p:cNvPr id="67" name="Shape 61"/>
          <p:cNvSpPr/>
          <p:nvPr/>
        </p:nvSpPr>
        <p:spPr>
          <a:xfrm>
            <a:off x="572358" y="8912479"/>
            <a:ext cx="1973304" cy="107991"/>
          </a:xfrm>
          <a:prstGeom prst="rect">
            <a:avLst/>
          </a:prstGeom>
          <a:solidFill>
            <a:srgbClr val="F4EEEE"/>
          </a:solidFill>
          <a:ln/>
        </p:spPr>
      </p:sp>
      <p:sp>
        <p:nvSpPr>
          <p:cNvPr id="68" name="Shape 62"/>
          <p:cNvSpPr/>
          <p:nvPr/>
        </p:nvSpPr>
        <p:spPr>
          <a:xfrm flipV="1">
            <a:off x="473202" y="9026361"/>
            <a:ext cx="51051" cy="25524"/>
          </a:xfrm>
          <a:prstGeom prst="triangle">
            <a:avLst/>
          </a:prstGeom>
          <a:solidFill>
            <a:srgbClr val="A3A3A3"/>
          </a:solidFill>
          <a:ln/>
        </p:spPr>
      </p:sp>
      <p:sp>
        <p:nvSpPr>
          <p:cNvPr id="69" name="Shape 63"/>
          <p:cNvSpPr/>
          <p:nvPr/>
        </p:nvSpPr>
        <p:spPr>
          <a:xfrm>
            <a:off x="425096" y="9055812"/>
            <a:ext cx="147262" cy="107991"/>
          </a:xfrm>
          <a:prstGeom prst="rect">
            <a:avLst/>
          </a:prstGeom>
          <a:solidFill>
            <a:srgbClr val="7B1E2B"/>
          </a:solidFill>
          <a:ln/>
        </p:spPr>
      </p:sp>
      <p:sp>
        <p:nvSpPr>
          <p:cNvPr id="70" name="Shape 64"/>
          <p:cNvSpPr/>
          <p:nvPr/>
        </p:nvSpPr>
        <p:spPr>
          <a:xfrm>
            <a:off x="572358" y="9055812"/>
            <a:ext cx="1973304" cy="107991"/>
          </a:xfrm>
          <a:prstGeom prst="rect">
            <a:avLst/>
          </a:prstGeom>
          <a:solidFill>
            <a:srgbClr val="F4EEEE"/>
          </a:solidFill>
          <a:ln/>
        </p:spPr>
      </p:sp>
      <p:sp>
        <p:nvSpPr>
          <p:cNvPr id="71" name="Text 6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72" name="Text 6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73" name="Text 6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74" name="Text 6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75" name="Text 6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76" name="Text 7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77" name="Text 7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78" name="Text 7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79" name="Text 7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80" name="Text 7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81" name="Text 7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82" name="Text 7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83" name="Text 7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84" name="Text 7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85" name="Text 7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86" name="Text 8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87" name="Text 8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88" name="Text 8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89" name="Text 8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90" name="Text 8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91" name="Text 8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92" name="Text 8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93" name="Text 8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94" name="Text 8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95" name="Text 8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96" name="Text 9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97" name="Text 9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98" name="Text 9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99" name="Text 9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00" name="Text 9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1196872" y="2191327"/>
            <a:ext cx="0" cy="414969"/>
          </a:xfrm>
          <a:prstGeom prst="line">
            <a:avLst/>
          </a:prstGeom>
          <a:noFill/>
          <a:ln w="6350">
            <a:solidFill>
              <a:srgbClr val="BFBFBF"/>
            </a:solidFill>
            <a:prstDash val="solid"/>
          </a:ln>
        </p:spPr>
      </p:sp>
      <p:sp>
        <p:nvSpPr>
          <p:cNvPr id="21" name="Text 17"/>
          <p:cNvSpPr txBox="1"/>
          <p:nvPr/>
        </p:nvSpPr>
        <p:spPr>
          <a:xfrm>
            <a:off x="405408" y="2205625"/>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Holdings</a:t>
            </a:r>
            <a:endParaRPr lang="vi-VN" sz="650" dirty="0"/>
          </a:p>
        </p:txBody>
      </p:sp>
      <p:sp>
        <p:nvSpPr>
          <p:cNvPr id="22" name="Text 18"/>
          <p:cNvSpPr txBox="1"/>
          <p:nvPr/>
        </p:nvSpPr>
        <p:spPr>
          <a:xfrm>
            <a:off x="2238833" y="220562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10.746</a:t>
            </a:r>
            <a:endParaRPr lang="vi-VN" sz="650" dirty="0"/>
          </a:p>
        </p:txBody>
      </p:sp>
      <p:sp>
        <p:nvSpPr>
          <p:cNvPr id="23" name="Text 19"/>
          <p:cNvSpPr txBox="1"/>
          <p:nvPr/>
        </p:nvSpPr>
        <p:spPr>
          <a:xfrm>
            <a:off x="405408" y="2343948"/>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Đông Hải Bến Tre</a:t>
            </a:r>
            <a:endParaRPr lang="vi-VN" sz="650" dirty="0"/>
          </a:p>
        </p:txBody>
      </p:sp>
      <p:sp>
        <p:nvSpPr>
          <p:cNvPr id="24" name="Text 20"/>
          <p:cNvSpPr txBox="1"/>
          <p:nvPr/>
        </p:nvSpPr>
        <p:spPr>
          <a:xfrm>
            <a:off x="1567295" y="2343948"/>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3.633</a:t>
            </a:r>
            <a:endParaRPr lang="vi-VN" sz="650" dirty="0"/>
          </a:p>
        </p:txBody>
      </p:sp>
      <p:sp>
        <p:nvSpPr>
          <p:cNvPr id="25" name="Text 21"/>
          <p:cNvSpPr txBox="1"/>
          <p:nvPr/>
        </p:nvSpPr>
        <p:spPr>
          <a:xfrm>
            <a:off x="405408" y="2482271"/>
            <a:ext cx="745744"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a:t>
            </a:r>
            <a:endParaRPr lang="vi-VN" sz="650" dirty="0"/>
          </a:p>
        </p:txBody>
      </p:sp>
      <p:sp>
        <p:nvSpPr>
          <p:cNvPr id="26" name="Text 22"/>
          <p:cNvSpPr txBox="1"/>
          <p:nvPr/>
        </p:nvSpPr>
        <p:spPr>
          <a:xfrm>
            <a:off x="1228788" y="2482271"/>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47,5</a:t>
            </a:r>
            <a:endParaRPr lang="vi-VN" sz="650" dirty="0"/>
          </a:p>
        </p:txBody>
      </p:sp>
      <p:sp>
        <p:nvSpPr>
          <p:cNvPr id="27" name="Text 23"/>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8" name="Text 24"/>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9" name="Text 25"/>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6"/>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32" name="Text 27"/>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33" name="Text 28"/>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4"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35" name="Shape 29"/>
          <p:cNvSpPr/>
          <p:nvPr/>
        </p:nvSpPr>
        <p:spPr>
          <a:xfrm>
            <a:off x="1593376" y="6113544"/>
            <a:ext cx="0" cy="670209"/>
          </a:xfrm>
          <a:prstGeom prst="line">
            <a:avLst/>
          </a:prstGeom>
          <a:noFill/>
          <a:ln w="6350">
            <a:solidFill>
              <a:srgbClr val="BFBFBF"/>
            </a:solidFill>
            <a:prstDash val="solid"/>
          </a:ln>
        </p:spPr>
      </p:sp>
      <p:sp>
        <p:nvSpPr>
          <p:cNvPr id="36" name="Text 30"/>
          <p:cNvSpPr txBox="1"/>
          <p:nvPr/>
        </p:nvSpPr>
        <p:spPr>
          <a:xfrm>
            <a:off x="405408" y="6142456"/>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AgriPack 2025, BCTC gốc</a:t>
            </a:r>
            <a:endParaRPr lang="vi-VN" sz="650" dirty="0"/>
          </a:p>
        </p:txBody>
      </p:sp>
      <p:sp>
        <p:nvSpPr>
          <p:cNvPr id="37" name="Text 31"/>
          <p:cNvSpPr txBox="1"/>
          <p:nvPr/>
        </p:nvSpPr>
        <p:spPr>
          <a:xfrm>
            <a:off x="1943326" y="6142456"/>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72,8%</a:t>
            </a:r>
            <a:endParaRPr lang="vi-VN" sz="650" dirty="0"/>
          </a:p>
        </p:txBody>
      </p:sp>
      <p:sp>
        <p:nvSpPr>
          <p:cNvPr id="38" name="Text 32"/>
          <p:cNvSpPr txBox="1"/>
          <p:nvPr/>
        </p:nvSpPr>
        <p:spPr>
          <a:xfrm>
            <a:off x="405408" y="6255144"/>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2025, theo chức năng</a:t>
            </a:r>
            <a:endParaRPr lang="vi-VN" sz="650" dirty="0"/>
          </a:p>
        </p:txBody>
      </p:sp>
      <p:sp>
        <p:nvSpPr>
          <p:cNvPr id="39" name="Text 33"/>
          <p:cNvSpPr txBox="1"/>
          <p:nvPr/>
        </p:nvSpPr>
        <p:spPr>
          <a:xfrm>
            <a:off x="1846748" y="6310008"/>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51,0%</a:t>
            </a:r>
            <a:endParaRPr lang="vi-VN" sz="650" dirty="0"/>
          </a:p>
        </p:txBody>
      </p:sp>
      <p:sp>
        <p:nvSpPr>
          <p:cNvPr id="40" name="Text 34"/>
          <p:cNvSpPr txBox="1"/>
          <p:nvPr/>
        </p:nvSpPr>
        <p:spPr>
          <a:xfrm>
            <a:off x="405408" y="6422696"/>
            <a:ext cx="1142248"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Chuẩn chung ngành sản xuất</a:t>
            </a:r>
            <a:endParaRPr lang="vi-VN" sz="650" dirty="0"/>
          </a:p>
        </p:txBody>
      </p:sp>
      <p:sp>
        <p:nvSpPr>
          <p:cNvPr id="41" name="Text 35"/>
          <p:cNvSpPr txBox="1"/>
          <p:nvPr/>
        </p:nvSpPr>
        <p:spPr>
          <a:xfrm>
            <a:off x="1798016" y="6477560"/>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25,0–40,0%</a:t>
            </a:r>
            <a:endParaRPr lang="vi-VN" sz="650" dirty="0"/>
          </a:p>
        </p:txBody>
      </p:sp>
      <p:sp>
        <p:nvSpPr>
          <p:cNvPr id="42" name="Text 36"/>
          <p:cNvSpPr txBox="1"/>
          <p:nvPr/>
        </p:nvSpPr>
        <p:spPr>
          <a:xfrm>
            <a:off x="405408" y="6645113"/>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DN bao bì giấy lớn</a:t>
            </a:r>
            <a:endParaRPr lang="vi-VN" sz="650" dirty="0"/>
          </a:p>
        </p:txBody>
      </p:sp>
      <p:sp>
        <p:nvSpPr>
          <p:cNvPr id="43" name="Text 37"/>
          <p:cNvSpPr txBox="1"/>
          <p:nvPr/>
        </p:nvSpPr>
        <p:spPr>
          <a:xfrm>
            <a:off x="1691691" y="6645113"/>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12,0–16,0%</a:t>
            </a:r>
            <a:endParaRPr lang="vi-VN" sz="650" dirty="0"/>
          </a:p>
        </p:txBody>
      </p:sp>
      <p:sp>
        <p:nvSpPr>
          <p:cNvPr id="44" name="Text 38"/>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45" name="Text 39"/>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46" name="Text 40"/>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48" name="Text 41"/>
          <p:cNvSpPr txBox="1"/>
          <p:nvPr/>
        </p:nvSpPr>
        <p:spPr>
          <a:xfrm>
            <a:off x="664179" y="7479696"/>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36,0</a:t>
            </a:r>
            <a:endParaRPr lang="vi-VN" sz="650" dirty="0"/>
          </a:p>
        </p:txBody>
      </p:sp>
      <p:sp>
        <p:nvSpPr>
          <p:cNvPr id="49" name="Text 42"/>
          <p:cNvSpPr txBox="1"/>
          <p:nvPr/>
        </p:nvSpPr>
        <p:spPr>
          <a:xfrm>
            <a:off x="1338440" y="759236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24,9</a:t>
            </a:r>
            <a:endParaRPr lang="vi-VN" sz="650" dirty="0"/>
          </a:p>
        </p:txBody>
      </p:sp>
      <p:sp>
        <p:nvSpPr>
          <p:cNvPr id="50" name="Text 43"/>
          <p:cNvSpPr txBox="1"/>
          <p:nvPr/>
        </p:nvSpPr>
        <p:spPr>
          <a:xfrm>
            <a:off x="2012701" y="7615704"/>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22,6</a:t>
            </a:r>
            <a:endParaRPr lang="vi-VN" sz="650" dirty="0"/>
          </a:p>
        </p:txBody>
      </p:sp>
      <p:sp>
        <p:nvSpPr>
          <p:cNvPr id="51" name="Text 44"/>
          <p:cNvSpPr txBox="1"/>
          <p:nvPr/>
        </p:nvSpPr>
        <p:spPr>
          <a:xfrm>
            <a:off x="664179" y="781075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20,5</a:t>
            </a:r>
            <a:endParaRPr lang="vi-VN" sz="650" dirty="0"/>
          </a:p>
        </p:txBody>
      </p:sp>
      <p:sp>
        <p:nvSpPr>
          <p:cNvPr id="52" name="Text 45"/>
          <p:cNvSpPr txBox="1"/>
          <p:nvPr/>
        </p:nvSpPr>
        <p:spPr>
          <a:xfrm>
            <a:off x="1338440" y="784222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17,4</a:t>
            </a:r>
            <a:endParaRPr lang="vi-VN" sz="650" dirty="0"/>
          </a:p>
        </p:txBody>
      </p:sp>
      <p:sp>
        <p:nvSpPr>
          <p:cNvPr id="53" name="Text 46"/>
          <p:cNvSpPr txBox="1"/>
          <p:nvPr/>
        </p:nvSpPr>
        <p:spPr>
          <a:xfrm>
            <a:off x="2012701" y="785744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15,9</a:t>
            </a:r>
            <a:endParaRPr lang="vi-VN" sz="650" dirty="0"/>
          </a:p>
        </p:txBody>
      </p:sp>
      <p:sp>
        <p:nvSpPr>
          <p:cNvPr id="54" name="Shape 47"/>
          <p:cNvSpPr/>
          <p:nvPr/>
        </p:nvSpPr>
        <p:spPr>
          <a:xfrm>
            <a:off x="405408" y="8147941"/>
            <a:ext cx="59436" cy="59436"/>
          </a:xfrm>
          <a:prstGeom prst="rect">
            <a:avLst/>
          </a:prstGeom>
          <a:solidFill>
            <a:srgbClr val="7B1E2B"/>
          </a:solidFill>
          <a:ln w="3175">
            <a:solidFill>
              <a:srgbClr val="7B1E2B"/>
            </a:solidFill>
            <a:prstDash val="solid"/>
          </a:ln>
        </p:spPr>
      </p:sp>
      <p:sp>
        <p:nvSpPr>
          <p:cNvPr id="55" name="Text 48"/>
          <p:cNvSpPr txBox="1"/>
          <p:nvPr/>
        </p:nvSpPr>
        <p:spPr>
          <a:xfrm>
            <a:off x="487704" y="8125081"/>
            <a:ext cx="49237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Tiền lương</a:t>
            </a:r>
            <a:endParaRPr lang="vi-VN" sz="650" dirty="0"/>
          </a:p>
        </p:txBody>
      </p:sp>
      <p:sp>
        <p:nvSpPr>
          <p:cNvPr id="56" name="Shape 49"/>
          <p:cNvSpPr/>
          <p:nvPr/>
        </p:nvSpPr>
        <p:spPr>
          <a:xfrm>
            <a:off x="1044091" y="8147941"/>
            <a:ext cx="59436" cy="59436"/>
          </a:xfrm>
          <a:prstGeom prst="rect">
            <a:avLst/>
          </a:prstGeom>
          <a:solidFill>
            <a:srgbClr val="404040"/>
          </a:solidFill>
          <a:ln w="3175">
            <a:solidFill>
              <a:srgbClr val="404040"/>
            </a:solidFill>
            <a:prstDash val="solid"/>
          </a:ln>
        </p:spPr>
      </p:sp>
      <p:sp>
        <p:nvSpPr>
          <p:cNvPr id="57" name="Text 50"/>
          <p:cNvSpPr txBox="1"/>
          <p:nvPr/>
        </p:nvSpPr>
        <p:spPr>
          <a:xfrm>
            <a:off x="1126387" y="8125081"/>
            <a:ext cx="623634"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Thuê mặt bằng</a:t>
            </a:r>
            <a:endParaRPr lang="vi-VN" sz="650" dirty="0"/>
          </a:p>
        </p:txBody>
      </p:sp>
      <p:sp>
        <p:nvSpPr>
          <p:cNvPr id="58" name="Text 51"/>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59" name="Text 52"/>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60" name="Text 53"/>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61" name="Text 54"/>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62" name="Text 55"/>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63" name="Text 56"/>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64" name="Text 57"/>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65" name="Text 58"/>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66" name="Text 59"/>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67" name="Text 60"/>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68" name="Text 61"/>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69" name="Text 62"/>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70" name="Text 63"/>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1593376" y="2372005"/>
            <a:ext cx="0" cy="837194"/>
          </a:xfrm>
          <a:prstGeom prst="line">
            <a:avLst/>
          </a:prstGeom>
          <a:noFill/>
          <a:ln w="6350">
            <a:solidFill>
              <a:srgbClr val="BFBFBF"/>
            </a:solidFill>
            <a:prstDash val="solid"/>
          </a:ln>
        </p:spPr>
      </p:sp>
      <p:sp>
        <p:nvSpPr>
          <p:cNvPr id="17" name="Text 13"/>
          <p:cNvSpPr txBox="1"/>
          <p:nvPr/>
        </p:nvSpPr>
        <p:spPr>
          <a:xfrm>
            <a:off x="405408" y="2421790"/>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Ươm mầm</a:t>
            </a:r>
            <a:endParaRPr lang="vi-VN" sz="650" dirty="0"/>
          </a:p>
        </p:txBody>
      </p:sp>
      <p:sp>
        <p:nvSpPr>
          <p:cNvPr id="18" name="Text 14"/>
          <p:cNvSpPr txBox="1"/>
          <p:nvPr/>
        </p:nvSpPr>
        <p:spPr>
          <a:xfrm>
            <a:off x="2115228" y="2421790"/>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65–80%</a:t>
            </a:r>
            <a:endParaRPr lang="vi-VN" sz="650" dirty="0"/>
          </a:p>
        </p:txBody>
      </p:sp>
      <p:sp>
        <p:nvSpPr>
          <p:cNvPr id="19" name="Text 15"/>
          <p:cNvSpPr txBox="1"/>
          <p:nvPr/>
        </p:nvSpPr>
        <p:spPr>
          <a:xfrm>
            <a:off x="405408" y="2631089"/>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Thử nghiệm</a:t>
            </a:r>
            <a:endParaRPr lang="vi-VN" sz="650" dirty="0"/>
          </a:p>
        </p:txBody>
      </p:sp>
      <p:sp>
        <p:nvSpPr>
          <p:cNvPr id="20" name="Text 16"/>
          <p:cNvSpPr txBox="1"/>
          <p:nvPr/>
        </p:nvSpPr>
        <p:spPr>
          <a:xfrm>
            <a:off x="2022525" y="263108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50–65%</a:t>
            </a:r>
            <a:endParaRPr lang="vi-VN" sz="650" dirty="0"/>
          </a:p>
        </p:txBody>
      </p:sp>
      <p:sp>
        <p:nvSpPr>
          <p:cNvPr id="21" name="Text 17"/>
          <p:cNvSpPr txBox="1"/>
          <p:nvPr/>
        </p:nvSpPr>
        <p:spPr>
          <a:xfrm>
            <a:off x="405408" y="2785523"/>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Đầu tăng trưởng (AgriPack, z = 40%)</a:t>
            </a:r>
            <a:endParaRPr lang="vi-VN" sz="650" dirty="0"/>
          </a:p>
        </p:txBody>
      </p:sp>
      <p:sp>
        <p:nvSpPr>
          <p:cNvPr id="22" name="Text 18"/>
          <p:cNvSpPr txBox="1"/>
          <p:nvPr/>
        </p:nvSpPr>
        <p:spPr>
          <a:xfrm>
            <a:off x="1898920" y="2840387"/>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35–45%</a:t>
            </a:r>
            <a:endParaRPr lang="vi-VN" sz="650" dirty="0"/>
          </a:p>
        </p:txBody>
      </p:sp>
      <p:sp>
        <p:nvSpPr>
          <p:cNvPr id="23" name="Text 19"/>
          <p:cNvSpPr txBox="1"/>
          <p:nvPr/>
        </p:nvSpPr>
        <p:spPr>
          <a:xfrm>
            <a:off x="405408" y="3049685"/>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Cuối tăng trưởng</a:t>
            </a:r>
            <a:endParaRPr lang="vi-VN" sz="650" dirty="0"/>
          </a:p>
        </p:txBody>
      </p:sp>
      <p:sp>
        <p:nvSpPr>
          <p:cNvPr id="24" name="Text 20"/>
          <p:cNvSpPr txBox="1"/>
          <p:nvPr/>
        </p:nvSpPr>
        <p:spPr>
          <a:xfrm>
            <a:off x="1806216" y="304968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20–30%</a:t>
            </a:r>
            <a:endParaRPr lang="vi-VN" sz="650" dirty="0"/>
          </a:p>
        </p:txBody>
      </p:sp>
      <p:sp>
        <p:nvSpPr>
          <p:cNvPr id="25" name="Text 21"/>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26" name="Text 22"/>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2028,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27" name="Text 23"/>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28" name="Text 24"/>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9" name="Text 25"/>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30"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13069" y="422636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7,63</a:t>
            </a:r>
            <a:endParaRPr lang="vi-VN" sz="550" dirty="0"/>
          </a:p>
        </p:txBody>
      </p:sp>
      <p:sp>
        <p:nvSpPr>
          <p:cNvPr id="32" name="Text 27"/>
          <p:cNvSpPr txBox="1"/>
          <p:nvPr/>
        </p:nvSpPr>
        <p:spPr>
          <a:xfrm>
            <a:off x="634253" y="421084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8,18</a:t>
            </a:r>
            <a:endParaRPr lang="vi-VN" sz="550" dirty="0"/>
          </a:p>
        </p:txBody>
      </p:sp>
      <p:sp>
        <p:nvSpPr>
          <p:cNvPr id="33" name="Text 28"/>
          <p:cNvSpPr txBox="1"/>
          <p:nvPr/>
        </p:nvSpPr>
        <p:spPr>
          <a:xfrm>
            <a:off x="943910" y="43322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3,88</a:t>
            </a:r>
            <a:endParaRPr lang="vi-VN" sz="550" dirty="0"/>
          </a:p>
        </p:txBody>
      </p:sp>
      <p:sp>
        <p:nvSpPr>
          <p:cNvPr id="34" name="Text 29"/>
          <p:cNvSpPr txBox="1"/>
          <p:nvPr/>
        </p:nvSpPr>
        <p:spPr>
          <a:xfrm>
            <a:off x="1165094" y="433248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3,87</a:t>
            </a:r>
            <a:endParaRPr lang="vi-VN" sz="550" dirty="0"/>
          </a:p>
        </p:txBody>
      </p:sp>
      <p:sp>
        <p:nvSpPr>
          <p:cNvPr id="35" name="Text 30"/>
          <p:cNvSpPr txBox="1"/>
          <p:nvPr/>
        </p:nvSpPr>
        <p:spPr>
          <a:xfrm>
            <a:off x="1474752" y="42035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8,44</a:t>
            </a:r>
            <a:endParaRPr lang="vi-VN" sz="550" dirty="0"/>
          </a:p>
        </p:txBody>
      </p:sp>
      <p:sp>
        <p:nvSpPr>
          <p:cNvPr id="36" name="Text 31"/>
          <p:cNvSpPr txBox="1"/>
          <p:nvPr/>
        </p:nvSpPr>
        <p:spPr>
          <a:xfrm>
            <a:off x="1695936" y="4164836"/>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9,81</a:t>
            </a:r>
            <a:endParaRPr lang="vi-VN" sz="550" dirty="0"/>
          </a:p>
        </p:txBody>
      </p:sp>
      <p:sp>
        <p:nvSpPr>
          <p:cNvPr id="37" name="Text 32"/>
          <p:cNvSpPr txBox="1"/>
          <p:nvPr/>
        </p:nvSpPr>
        <p:spPr>
          <a:xfrm>
            <a:off x="2005594" y="4205760"/>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8,36</a:t>
            </a:r>
            <a:endParaRPr lang="vi-VN" sz="550" dirty="0"/>
          </a:p>
        </p:txBody>
      </p:sp>
      <p:sp>
        <p:nvSpPr>
          <p:cNvPr id="38" name="Text 33"/>
          <p:cNvSpPr txBox="1"/>
          <p:nvPr/>
        </p:nvSpPr>
        <p:spPr>
          <a:xfrm>
            <a:off x="2226778" y="421338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8,09</a:t>
            </a:r>
            <a:endParaRPr lang="vi-VN" sz="550" dirty="0"/>
          </a:p>
        </p:txBody>
      </p:sp>
      <p:sp>
        <p:nvSpPr>
          <p:cNvPr id="39" name="Shape 34"/>
          <p:cNvSpPr/>
          <p:nvPr/>
        </p:nvSpPr>
        <p:spPr>
          <a:xfrm>
            <a:off x="405408" y="4935486"/>
            <a:ext cx="59436" cy="59436"/>
          </a:xfrm>
          <a:prstGeom prst="rect">
            <a:avLst/>
          </a:prstGeom>
          <a:solidFill>
            <a:srgbClr val="A3A3A3"/>
          </a:solidFill>
          <a:ln w="3175">
            <a:solidFill>
              <a:srgbClr val="A3A3A3"/>
            </a:solidFill>
            <a:prstDash val="solid"/>
          </a:ln>
        </p:spPr>
      </p:sp>
      <p:sp>
        <p:nvSpPr>
          <p:cNvPr id="40" name="Text 35"/>
          <p:cNvSpPr txBox="1"/>
          <p:nvPr/>
        </p:nvSpPr>
        <p:spPr>
          <a:xfrm>
            <a:off x="487704"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2025</a:t>
            </a:r>
            <a:endParaRPr lang="vi-VN" sz="650" dirty="0"/>
          </a:p>
        </p:txBody>
      </p:sp>
      <p:sp>
        <p:nvSpPr>
          <p:cNvPr id="41" name="Shape 36"/>
          <p:cNvSpPr/>
          <p:nvPr/>
        </p:nvSpPr>
        <p:spPr>
          <a:xfrm>
            <a:off x="1131594" y="4935486"/>
            <a:ext cx="59436" cy="59436"/>
          </a:xfrm>
          <a:prstGeom prst="rect">
            <a:avLst/>
          </a:prstGeom>
          <a:solidFill>
            <a:srgbClr val="7B1E2B"/>
          </a:solidFill>
          <a:ln w="3175">
            <a:solidFill>
              <a:srgbClr val="7B1E2B"/>
            </a:solidFill>
            <a:prstDash val="solid"/>
          </a:ln>
        </p:spPr>
      </p:sp>
      <p:sp>
        <p:nvSpPr>
          <p:cNvPr id="42" name="Text 37"/>
          <p:cNvSpPr txBox="1"/>
          <p:nvPr/>
        </p:nvSpPr>
        <p:spPr>
          <a:xfrm>
            <a:off x="1213890"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2026</a:t>
            </a:r>
            <a:endParaRPr lang="vi-VN" sz="650" dirty="0"/>
          </a:p>
        </p:txBody>
      </p:sp>
      <p:sp>
        <p:nvSpPr>
          <p:cNvPr id="43" name="Text 38"/>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44" name="Text 39"/>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45" name="Text 40"/>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46"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47" name="Shape 41"/>
          <p:cNvSpPr/>
          <p:nvPr/>
        </p:nvSpPr>
        <p:spPr>
          <a:xfrm>
            <a:off x="1744572" y="5707690"/>
            <a:ext cx="0" cy="532840"/>
          </a:xfrm>
          <a:prstGeom prst="line">
            <a:avLst/>
          </a:prstGeom>
          <a:noFill/>
          <a:ln w="6350">
            <a:solidFill>
              <a:srgbClr val="BFBFBF"/>
            </a:solidFill>
            <a:prstDash val="solid"/>
          </a:ln>
        </p:spPr>
      </p:sp>
      <p:sp>
        <p:nvSpPr>
          <p:cNvPr id="48" name="Text 42"/>
          <p:cNvSpPr txBox="1"/>
          <p:nvPr/>
        </p:nvSpPr>
        <p:spPr>
          <a:xfrm>
            <a:off x="405408" y="571943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CPI bình quân 8T/2026</a:t>
            </a:r>
            <a:endParaRPr lang="vi-VN" sz="650" dirty="0"/>
          </a:p>
        </p:txBody>
      </p:sp>
      <p:sp>
        <p:nvSpPr>
          <p:cNvPr id="49" name="Text 43"/>
          <p:cNvSpPr txBox="1"/>
          <p:nvPr/>
        </p:nvSpPr>
        <p:spPr>
          <a:xfrm>
            <a:off x="2110616" y="571943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4,45%</a:t>
            </a:r>
            <a:endParaRPr lang="vi-VN" sz="650" dirty="0"/>
          </a:p>
        </p:txBody>
      </p:sp>
      <p:sp>
        <p:nvSpPr>
          <p:cNvPr id="50" name="Text 44"/>
          <p:cNvSpPr txBox="1"/>
          <p:nvPr/>
        </p:nvSpPr>
        <p:spPr>
          <a:xfrm>
            <a:off x="405408" y="585264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Lạm phát cơ bản 8T/2026</a:t>
            </a:r>
            <a:endParaRPr lang="vi-VN" sz="650" dirty="0"/>
          </a:p>
        </p:txBody>
      </p:sp>
      <p:sp>
        <p:nvSpPr>
          <p:cNvPr id="51" name="Text 45"/>
          <p:cNvSpPr txBox="1"/>
          <p:nvPr/>
        </p:nvSpPr>
        <p:spPr>
          <a:xfrm>
            <a:off x="2094636" y="585264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4,24%</a:t>
            </a:r>
            <a:endParaRPr lang="vi-VN" sz="650" dirty="0"/>
          </a:p>
        </p:txBody>
      </p:sp>
      <p:sp>
        <p:nvSpPr>
          <p:cNvPr id="52" name="Text 46"/>
          <p:cNvSpPr txBox="1"/>
          <p:nvPr/>
        </p:nvSpPr>
        <p:spPr>
          <a:xfrm>
            <a:off x="405408" y="598585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Nhà ở, điện, nước, VLXD</a:t>
            </a:r>
            <a:endParaRPr lang="vi-VN" sz="650" dirty="0"/>
          </a:p>
        </p:txBody>
      </p:sp>
      <p:sp>
        <p:nvSpPr>
          <p:cNvPr id="53" name="Text 47"/>
          <p:cNvSpPr txBox="1"/>
          <p:nvPr/>
        </p:nvSpPr>
        <p:spPr>
          <a:xfrm>
            <a:off x="2282585" y="598585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6,71%</a:t>
            </a:r>
            <a:endParaRPr lang="vi-VN" sz="650" dirty="0"/>
          </a:p>
        </p:txBody>
      </p:sp>
      <p:sp>
        <p:nvSpPr>
          <p:cNvPr id="54" name="Text 48"/>
          <p:cNvSpPr txBox="1"/>
          <p:nvPr/>
        </p:nvSpPr>
        <p:spPr>
          <a:xfrm>
            <a:off x="405408" y="6064197"/>
            <a:ext cx="1293444"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Giá bán AgriPack 2026E (giả định)</a:t>
            </a:r>
            <a:endParaRPr lang="vi-VN" sz="650" dirty="0"/>
          </a:p>
        </p:txBody>
      </p:sp>
      <p:sp>
        <p:nvSpPr>
          <p:cNvPr id="55" name="Text 49"/>
          <p:cNvSpPr txBox="1"/>
          <p:nvPr/>
        </p:nvSpPr>
        <p:spPr>
          <a:xfrm>
            <a:off x="1924189" y="611906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2,00%</a:t>
            </a:r>
            <a:endParaRPr lang="vi-VN" sz="650" dirty="0"/>
          </a:p>
        </p:txBody>
      </p:sp>
      <p:sp>
        <p:nvSpPr>
          <p:cNvPr id="56" name="Text 5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57" name="Text 5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58" name="Text 5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59" name="Text 5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60" name="Text 5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61" name="Text 5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62" name="Text 5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63" name="Text 5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64" name="Text 5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65" name="Text 5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66" name="Text 6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67" name="Text 6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68" name="Text 6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69" name="Text 6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744572" y="2620697"/>
            <a:ext cx="0" cy="856839"/>
          </a:xfrm>
          <a:prstGeom prst="line">
            <a:avLst/>
          </a:prstGeom>
          <a:noFill/>
          <a:ln w="6350">
            <a:solidFill>
              <a:srgbClr val="BFBFBF"/>
            </a:solidFill>
            <a:prstDash val="solid"/>
          </a:ln>
        </p:spPr>
      </p:sp>
      <p:sp>
        <p:nvSpPr>
          <p:cNvPr id="16" name="Text 12"/>
          <p:cNvSpPr txBox="1"/>
          <p:nvPr/>
        </p:nvSpPr>
        <p:spPr>
          <a:xfrm>
            <a:off x="405408" y="2637236"/>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Liên ngân hàng cuối 8/2026</a:t>
            </a:r>
            <a:endParaRPr lang="vi-VN" sz="650" dirty="0"/>
          </a:p>
        </p:txBody>
      </p:sp>
      <p:sp>
        <p:nvSpPr>
          <p:cNvPr id="17" name="Text 13"/>
          <p:cNvSpPr txBox="1"/>
          <p:nvPr/>
        </p:nvSpPr>
        <p:spPr>
          <a:xfrm>
            <a:off x="1912442" y="2637236"/>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26.083</a:t>
            </a:r>
            <a:endParaRPr lang="vi-VN" sz="650" dirty="0"/>
          </a:p>
        </p:txBody>
      </p:sp>
      <p:sp>
        <p:nvSpPr>
          <p:cNvPr id="18" name="Text 14"/>
          <p:cNvSpPr txBox="1"/>
          <p:nvPr/>
        </p:nvSpPr>
        <p:spPr>
          <a:xfrm>
            <a:off x="405408" y="278004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Trung tâm 22/9/2026</a:t>
            </a:r>
            <a:endParaRPr lang="vi-VN" sz="650" dirty="0"/>
          </a:p>
        </p:txBody>
      </p:sp>
      <p:sp>
        <p:nvSpPr>
          <p:cNvPr id="19" name="Text 15"/>
          <p:cNvSpPr txBox="1"/>
          <p:nvPr/>
        </p:nvSpPr>
        <p:spPr>
          <a:xfrm>
            <a:off x="1854996" y="278004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25.640</a:t>
            </a:r>
            <a:endParaRPr lang="vi-VN" sz="650" dirty="0"/>
          </a:p>
        </p:txBody>
      </p:sp>
      <p:sp>
        <p:nvSpPr>
          <p:cNvPr id="20" name="Text 16"/>
          <p:cNvSpPr txBox="1"/>
          <p:nvPr/>
        </p:nvSpPr>
        <p:spPr>
          <a:xfrm>
            <a:off x="405408" y="292284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Vietcombank bán 22/9/2026</a:t>
            </a:r>
            <a:endParaRPr lang="vi-VN" sz="650" dirty="0"/>
          </a:p>
        </p:txBody>
      </p:sp>
      <p:sp>
        <p:nvSpPr>
          <p:cNvPr id="21" name="Text 17"/>
          <p:cNvSpPr txBox="1"/>
          <p:nvPr/>
        </p:nvSpPr>
        <p:spPr>
          <a:xfrm>
            <a:off x="1928911" y="292284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26.210</a:t>
            </a:r>
            <a:endParaRPr lang="vi-VN" sz="650" dirty="0"/>
          </a:p>
        </p:txBody>
      </p:sp>
      <p:sp>
        <p:nvSpPr>
          <p:cNvPr id="22" name="Text 18"/>
          <p:cNvSpPr txBox="1"/>
          <p:nvPr/>
        </p:nvSpPr>
        <p:spPr>
          <a:xfrm>
            <a:off x="405408" y="3010791"/>
            <a:ext cx="1293444"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MBS dự báo cuối 2026 (cận trên)</a:t>
            </a:r>
            <a:endParaRPr lang="vi-VN" sz="650" dirty="0"/>
          </a:p>
        </p:txBody>
      </p:sp>
      <p:sp>
        <p:nvSpPr>
          <p:cNvPr id="23" name="Text 19"/>
          <p:cNvSpPr txBox="1"/>
          <p:nvPr/>
        </p:nvSpPr>
        <p:spPr>
          <a:xfrm>
            <a:off x="2031354" y="306565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27.000</a:t>
            </a:r>
            <a:endParaRPr lang="vi-VN" sz="650" dirty="0"/>
          </a:p>
        </p:txBody>
      </p:sp>
      <p:sp>
        <p:nvSpPr>
          <p:cNvPr id="24" name="Text 20"/>
          <p:cNvSpPr txBox="1"/>
          <p:nvPr/>
        </p:nvSpPr>
        <p:spPr>
          <a:xfrm>
            <a:off x="405408" y="320846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2026E</a:t>
            </a:r>
            <a:endParaRPr lang="vi-VN" sz="650" dirty="0"/>
          </a:p>
        </p:txBody>
      </p:sp>
      <p:sp>
        <p:nvSpPr>
          <p:cNvPr id="25" name="Text 21"/>
          <p:cNvSpPr txBox="1"/>
          <p:nvPr/>
        </p:nvSpPr>
        <p:spPr>
          <a:xfrm>
            <a:off x="1940581" y="320846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26.300</a:t>
            </a:r>
            <a:endParaRPr lang="vi-VN" sz="650" dirty="0"/>
          </a:p>
        </p:txBody>
      </p:sp>
      <p:sp>
        <p:nvSpPr>
          <p:cNvPr id="26" name="Text 22"/>
          <p:cNvSpPr txBox="1"/>
          <p:nvPr/>
        </p:nvSpPr>
        <p:spPr>
          <a:xfrm>
            <a:off x="405408" y="335126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2030E</a:t>
            </a:r>
            <a:endParaRPr lang="vi-VN" sz="650" dirty="0"/>
          </a:p>
        </p:txBody>
      </p:sp>
      <p:sp>
        <p:nvSpPr>
          <p:cNvPr id="27" name="Text 23"/>
          <p:cNvSpPr txBox="1"/>
          <p:nvPr/>
        </p:nvSpPr>
        <p:spPr>
          <a:xfrm>
            <a:off x="2221716" y="335126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28.468</a:t>
            </a:r>
            <a:endParaRPr lang="vi-VN" sz="650" dirty="0"/>
          </a:p>
        </p:txBody>
      </p:sp>
      <p:sp>
        <p:nvSpPr>
          <p:cNvPr id="28" name="Text 24"/>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29" name="Text 25"/>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30" name="Text 26"/>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31"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32" name="Text 27"/>
          <p:cNvSpPr txBox="1"/>
          <p:nvPr/>
        </p:nvSpPr>
        <p:spPr>
          <a:xfrm>
            <a:off x="468365" y="4099054"/>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634</a:t>
            </a:r>
            <a:endParaRPr lang="vi-VN" sz="650" dirty="0"/>
          </a:p>
        </p:txBody>
      </p:sp>
      <p:sp>
        <p:nvSpPr>
          <p:cNvPr id="33" name="Text 28"/>
          <p:cNvSpPr txBox="1"/>
          <p:nvPr/>
        </p:nvSpPr>
        <p:spPr>
          <a:xfrm>
            <a:off x="999206" y="4163022"/>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529</a:t>
            </a:r>
            <a:endParaRPr lang="vi-VN" sz="650" dirty="0"/>
          </a:p>
        </p:txBody>
      </p:sp>
      <p:sp>
        <p:nvSpPr>
          <p:cNvPr id="34" name="Text 29"/>
          <p:cNvSpPr txBox="1"/>
          <p:nvPr/>
        </p:nvSpPr>
        <p:spPr>
          <a:xfrm>
            <a:off x="1530048" y="4242830"/>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398</a:t>
            </a:r>
            <a:endParaRPr lang="vi-VN" sz="650" dirty="0"/>
          </a:p>
        </p:txBody>
      </p:sp>
      <p:sp>
        <p:nvSpPr>
          <p:cNvPr id="35" name="Text 30"/>
          <p:cNvSpPr txBox="1"/>
          <p:nvPr/>
        </p:nvSpPr>
        <p:spPr>
          <a:xfrm>
            <a:off x="2060890" y="4175206"/>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509</a:t>
            </a:r>
            <a:endParaRPr lang="vi-VN" sz="650" dirty="0"/>
          </a:p>
        </p:txBody>
      </p:sp>
      <p:sp>
        <p:nvSpPr>
          <p:cNvPr id="36" name="Text 31"/>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37" name="Text 32"/>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38" name="Text 33"/>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39" name="Text 34"/>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40" name="Text 35"/>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41" name="Text 36"/>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42" name="Text 37"/>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43" name="Text 38"/>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44" name="Text 39"/>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45" name="Text 40"/>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46" name="Text 41"/>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47" name="Text 42"/>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48" name="Text 43"/>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49" name="Text 44"/>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50" name="Text 45"/>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51" name="Text 46"/>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52" name="Text 47"/>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53" name="Text 48"/>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54" name="Text 49"/>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55" name="Text 50"/>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56" name="Text 51"/>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7" name="Text 52"/>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398323" y="350307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a:t>
            </a:r>
            <a:endParaRPr lang="vi-VN" sz="550" dirty="0"/>
          </a:p>
        </p:txBody>
      </p:sp>
      <p:sp>
        <p:nvSpPr>
          <p:cNvPr id="16" name="Text 12"/>
          <p:cNvSpPr txBox="1"/>
          <p:nvPr/>
        </p:nvSpPr>
        <p:spPr>
          <a:xfrm>
            <a:off x="545779"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7" name="Text 13"/>
          <p:cNvSpPr txBox="1"/>
          <p:nvPr/>
        </p:nvSpPr>
        <p:spPr>
          <a:xfrm>
            <a:off x="752217"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18" name="Text 14"/>
          <p:cNvSpPr txBox="1"/>
          <p:nvPr/>
        </p:nvSpPr>
        <p:spPr>
          <a:xfrm>
            <a:off x="899673"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9" name="Text 15"/>
          <p:cNvSpPr txBox="1"/>
          <p:nvPr/>
        </p:nvSpPr>
        <p:spPr>
          <a:xfrm>
            <a:off x="1106112"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0" name="Text 16"/>
          <p:cNvSpPr txBox="1"/>
          <p:nvPr/>
        </p:nvSpPr>
        <p:spPr>
          <a:xfrm>
            <a:off x="1253568"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1" name="Text 17"/>
          <p:cNvSpPr txBox="1"/>
          <p:nvPr/>
        </p:nvSpPr>
        <p:spPr>
          <a:xfrm>
            <a:off x="1460006"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2" name="Text 18"/>
          <p:cNvSpPr txBox="1"/>
          <p:nvPr/>
        </p:nvSpPr>
        <p:spPr>
          <a:xfrm>
            <a:off x="1607462"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3" name="Text 19"/>
          <p:cNvSpPr txBox="1"/>
          <p:nvPr/>
        </p:nvSpPr>
        <p:spPr>
          <a:xfrm>
            <a:off x="1813901"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4" name="Text 20"/>
          <p:cNvSpPr txBox="1"/>
          <p:nvPr/>
        </p:nvSpPr>
        <p:spPr>
          <a:xfrm>
            <a:off x="1961357"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5" name="Text 21"/>
          <p:cNvSpPr txBox="1"/>
          <p:nvPr/>
        </p:nvSpPr>
        <p:spPr>
          <a:xfrm>
            <a:off x="2167795"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6" name="Text 22"/>
          <p:cNvSpPr txBox="1"/>
          <p:nvPr/>
        </p:nvSpPr>
        <p:spPr>
          <a:xfrm>
            <a:off x="2315251"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7" name="Shape 23"/>
          <p:cNvSpPr/>
          <p:nvPr/>
        </p:nvSpPr>
        <p:spPr>
          <a:xfrm>
            <a:off x="405408" y="4069860"/>
            <a:ext cx="59436" cy="59436"/>
          </a:xfrm>
          <a:prstGeom prst="rect">
            <a:avLst/>
          </a:prstGeom>
          <a:solidFill>
            <a:srgbClr val="404040"/>
          </a:solidFill>
          <a:ln w="3175">
            <a:solidFill>
              <a:srgbClr val="404040"/>
            </a:solidFill>
            <a:prstDash val="solid"/>
          </a:ln>
        </p:spPr>
      </p:sp>
      <p:sp>
        <p:nvSpPr>
          <p:cNvPr id="28" name="Text 24"/>
          <p:cNvSpPr txBox="1"/>
          <p:nvPr/>
        </p:nvSpPr>
        <p:spPr>
          <a:xfrm>
            <a:off x="487704" y="4047000"/>
            <a:ext cx="101739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Mô hình (Luật 67/2025)</a:t>
            </a:r>
            <a:endParaRPr lang="vi-VN" sz="650" dirty="0"/>
          </a:p>
        </p:txBody>
      </p:sp>
      <p:sp>
        <p:nvSpPr>
          <p:cNvPr id="29" name="Shape 25"/>
          <p:cNvSpPr/>
          <p:nvPr/>
        </p:nvSpPr>
        <p:spPr>
          <a:xfrm>
            <a:off x="405408" y="4179588"/>
            <a:ext cx="59436" cy="59436"/>
          </a:xfrm>
          <a:prstGeom prst="rect">
            <a:avLst/>
          </a:prstGeom>
          <a:solidFill>
            <a:srgbClr val="7B1E2B"/>
          </a:solidFill>
          <a:ln w="3175">
            <a:solidFill>
              <a:srgbClr val="7B1E2B"/>
            </a:solidFill>
            <a:prstDash val="solid"/>
          </a:ln>
        </p:spPr>
      </p:sp>
      <p:sp>
        <p:nvSpPr>
          <p:cNvPr id="30" name="Text 26"/>
          <p:cNvSpPr txBox="1"/>
          <p:nvPr/>
        </p:nvSpPr>
        <p:spPr>
          <a:xfrm>
            <a:off x="487704" y="4156728"/>
            <a:ext cx="106114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Nếu hưởng ưu đãi NQ 198</a:t>
            </a:r>
            <a:endParaRPr lang="vi-VN" sz="650" dirty="0"/>
          </a:p>
        </p:txBody>
      </p:sp>
      <p:sp>
        <p:nvSpPr>
          <p:cNvPr id="31" name="Text 27"/>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32" name="Text 28"/>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33" name="Text 29"/>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34"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35" name="Shape 30"/>
          <p:cNvSpPr/>
          <p:nvPr/>
        </p:nvSpPr>
        <p:spPr>
          <a:xfrm>
            <a:off x="1721890" y="5152709"/>
            <a:ext cx="0" cy="454259"/>
          </a:xfrm>
          <a:prstGeom prst="line">
            <a:avLst/>
          </a:prstGeom>
          <a:noFill/>
          <a:ln w="6350">
            <a:solidFill>
              <a:srgbClr val="BFBFBF"/>
            </a:solidFill>
            <a:prstDash val="solid"/>
          </a:ln>
        </p:spPr>
      </p:sp>
      <p:sp>
        <p:nvSpPr>
          <p:cNvPr id="36" name="Text 31"/>
          <p:cNvSpPr txBox="1"/>
          <p:nvPr/>
        </p:nvSpPr>
        <p:spPr>
          <a:xfrm>
            <a:off x="405408" y="5154628"/>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Thị trường nhựa, tấn (26–31)</a:t>
            </a:r>
            <a:endParaRPr lang="vi-VN" sz="650" dirty="0"/>
          </a:p>
        </p:txBody>
      </p:sp>
      <p:sp>
        <p:nvSpPr>
          <p:cNvPr id="37" name="Text 32"/>
          <p:cNvSpPr txBox="1"/>
          <p:nvPr/>
        </p:nvSpPr>
        <p:spPr>
          <a:xfrm>
            <a:off x="1896277" y="5154628"/>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8,3%</a:t>
            </a:r>
            <a:endParaRPr lang="vi-VN" sz="650" dirty="0"/>
          </a:p>
        </p:txBody>
      </p:sp>
      <p:sp>
        <p:nvSpPr>
          <p:cNvPr id="38" name="Text 33"/>
          <p:cNvSpPr txBox="1"/>
          <p:nvPr/>
        </p:nvSpPr>
        <p:spPr>
          <a:xfrm>
            <a:off x="405408" y="5268193"/>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SAM F&amp;B phân hủy (26–34)</a:t>
            </a:r>
            <a:endParaRPr lang="vi-VN" sz="650" dirty="0"/>
          </a:p>
        </p:txBody>
      </p:sp>
      <p:sp>
        <p:nvSpPr>
          <p:cNvPr id="39" name="Text 34"/>
          <p:cNvSpPr txBox="1"/>
          <p:nvPr/>
        </p:nvSpPr>
        <p:spPr>
          <a:xfrm>
            <a:off x="1832567" y="5268193"/>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a:t>
            </a:r>
            <a:endParaRPr lang="vi-VN" sz="650" dirty="0"/>
          </a:p>
        </p:txBody>
      </p:sp>
      <p:sp>
        <p:nvSpPr>
          <p:cNvPr id="40" name="Text 35"/>
          <p:cNvSpPr txBox="1"/>
          <p:nvPr/>
        </p:nvSpPr>
        <p:spPr>
          <a:xfrm>
            <a:off x="405408" y="5381757"/>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TAM bao bì xanh (26–34)</a:t>
            </a:r>
            <a:endParaRPr lang="vi-VN" sz="650" dirty="0"/>
          </a:p>
        </p:txBody>
      </p:sp>
      <p:sp>
        <p:nvSpPr>
          <p:cNvPr id="41" name="Text 36"/>
          <p:cNvSpPr txBox="1"/>
          <p:nvPr/>
        </p:nvSpPr>
        <p:spPr>
          <a:xfrm>
            <a:off x="1822359" y="5381757"/>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42" name="Text 37"/>
          <p:cNvSpPr txBox="1"/>
          <p:nvPr/>
        </p:nvSpPr>
        <p:spPr>
          <a:xfrm>
            <a:off x="405408" y="5495322"/>
            <a:ext cx="127076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dự phóng (25–30E)</a:t>
            </a:r>
            <a:endParaRPr lang="vi-VN" sz="650" dirty="0"/>
          </a:p>
        </p:txBody>
      </p:sp>
      <p:sp>
        <p:nvSpPr>
          <p:cNvPr id="43" name="Text 38"/>
          <p:cNvSpPr txBox="1"/>
          <p:nvPr/>
        </p:nvSpPr>
        <p:spPr>
          <a:xfrm>
            <a:off x="2282585" y="5495322"/>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30,3%</a:t>
            </a:r>
            <a:endParaRPr lang="vi-VN" sz="650" dirty="0"/>
          </a:p>
        </p:txBody>
      </p:sp>
      <p:sp>
        <p:nvSpPr>
          <p:cNvPr id="44" name="Text 39"/>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45" name="Text 40"/>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46" name="Text 41"/>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47" name="Text 42"/>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48" name="Text 43"/>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49" name="Text 44"/>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50" name="Text 45"/>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51" name="Text 46"/>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52" name="Text 47"/>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53" name="Text 48"/>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54" name="Text 49"/>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55" name="Text 50"/>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56" name="Text 51"/>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57" name="Text 52"/>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58" name="Text 53"/>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59" name="Text 54"/>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60" name="Text 55"/>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61" name="Text 56"/>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62" name="Text 57"/>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63" name="Text 58"/>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64" name="Text 5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634387" y="3143976"/>
            <a:ext cx="0" cy="454259"/>
          </a:xfrm>
          <a:prstGeom prst="line">
            <a:avLst/>
          </a:prstGeom>
          <a:noFill/>
          <a:ln w="6350">
            <a:solidFill>
              <a:srgbClr val="BFBFBF"/>
            </a:solidFill>
            <a:prstDash val="solid"/>
          </a:ln>
        </p:spPr>
      </p:sp>
      <p:sp>
        <p:nvSpPr>
          <p:cNvPr id="16" name="Text 12"/>
          <p:cNvSpPr txBox="1"/>
          <p:nvPr/>
        </p:nvSpPr>
        <p:spPr>
          <a:xfrm>
            <a:off x="405408" y="3145895"/>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Rơm rạ</a:t>
            </a:r>
            <a:endParaRPr lang="vi-VN" sz="650" dirty="0"/>
          </a:p>
        </p:txBody>
      </p:sp>
      <p:sp>
        <p:nvSpPr>
          <p:cNvPr id="17" name="Text 13"/>
          <p:cNvSpPr txBox="1"/>
          <p:nvPr/>
        </p:nvSpPr>
        <p:spPr>
          <a:xfrm>
            <a:off x="1925398" y="3145895"/>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42,8</a:t>
            </a:r>
            <a:endParaRPr lang="vi-VN" sz="650" dirty="0"/>
          </a:p>
        </p:txBody>
      </p:sp>
      <p:sp>
        <p:nvSpPr>
          <p:cNvPr id="18" name="Text 14"/>
          <p:cNvSpPr txBox="1"/>
          <p:nvPr/>
        </p:nvSpPr>
        <p:spPr>
          <a:xfrm>
            <a:off x="405408" y="3259459"/>
            <a:ext cx="1183259"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Bã mía</a:t>
            </a:r>
            <a:endParaRPr lang="vi-VN" sz="650" dirty="0"/>
          </a:p>
        </p:txBody>
      </p:sp>
      <p:sp>
        <p:nvSpPr>
          <p:cNvPr id="19" name="Text 15"/>
          <p:cNvSpPr txBox="1"/>
          <p:nvPr/>
        </p:nvSpPr>
        <p:spPr>
          <a:xfrm>
            <a:off x="1754195" y="325945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20" name="Text 16"/>
          <p:cNvSpPr txBox="1"/>
          <p:nvPr/>
        </p:nvSpPr>
        <p:spPr>
          <a:xfrm>
            <a:off x="405408" y="3373024"/>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cà phê</a:t>
            </a:r>
            <a:endParaRPr lang="vi-VN" sz="650" dirty="0"/>
          </a:p>
        </p:txBody>
      </p:sp>
      <p:sp>
        <p:nvSpPr>
          <p:cNvPr id="21" name="Text 17"/>
          <p:cNvSpPr txBox="1"/>
          <p:nvPr/>
        </p:nvSpPr>
        <p:spPr>
          <a:xfrm>
            <a:off x="1670441" y="3373024"/>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22" name="Text 18"/>
          <p:cNvSpPr txBox="1"/>
          <p:nvPr/>
        </p:nvSpPr>
        <p:spPr>
          <a:xfrm>
            <a:off x="405408" y="3486589"/>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trấu, chăn nuôi và khác</a:t>
            </a:r>
            <a:endParaRPr lang="vi-VN" sz="650" dirty="0"/>
          </a:p>
        </p:txBody>
      </p:sp>
      <p:sp>
        <p:nvSpPr>
          <p:cNvPr id="23" name="Text 19"/>
          <p:cNvSpPr txBox="1"/>
          <p:nvPr/>
        </p:nvSpPr>
        <p:spPr>
          <a:xfrm>
            <a:off x="2282585" y="348658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100,8</a:t>
            </a:r>
            <a:endParaRPr lang="vi-VN" sz="650" dirty="0"/>
          </a:p>
        </p:txBody>
      </p:sp>
      <p:sp>
        <p:nvSpPr>
          <p:cNvPr id="24" name="Text 20"/>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25" name="Text 21"/>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2028;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2"/>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28" name="Text 23"/>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9" name="Text 24"/>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30" name="Text 25"/>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31" name="Text 26"/>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32" name="Text 27"/>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33" name="Text 28"/>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34" name="Text 29"/>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35" name="Text 30"/>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36" name="Text 31"/>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37" name="Text 32"/>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38" name="Text 33"/>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9" name="Text 34"/>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40" name="Text 35"/>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41" name="Text 3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2" name="Text 3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1371878" y="960072"/>
            <a:ext cx="0" cy="670209"/>
          </a:xfrm>
          <a:prstGeom prst="line">
            <a:avLst/>
          </a:prstGeom>
          <a:noFill/>
          <a:ln w="6350">
            <a:solidFill>
              <a:srgbClr val="BFBFBF"/>
            </a:solidFill>
            <a:prstDash val="solid"/>
          </a:ln>
        </p:spPr>
      </p:sp>
      <p:sp>
        <p:nvSpPr>
          <p:cNvPr id="12" name="Text 9"/>
          <p:cNvSpPr txBox="1"/>
          <p:nvPr/>
        </p:nvSpPr>
        <p:spPr>
          <a:xfrm>
            <a:off x="405408" y="988984"/>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(AnEco)</a:t>
            </a:r>
            <a:endParaRPr lang="vi-VN" sz="650" dirty="0"/>
          </a:p>
        </p:txBody>
      </p:sp>
      <p:sp>
        <p:nvSpPr>
          <p:cNvPr id="13" name="Text 10"/>
          <p:cNvSpPr txBox="1"/>
          <p:nvPr/>
        </p:nvSpPr>
        <p:spPr>
          <a:xfrm>
            <a:off x="2370088" y="988984"/>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108</a:t>
            </a:r>
            <a:endParaRPr lang="vi-VN" sz="650" dirty="0"/>
          </a:p>
        </p:txBody>
      </p:sp>
      <p:sp>
        <p:nvSpPr>
          <p:cNvPr id="14" name="Text 11"/>
          <p:cNvSpPr txBox="1"/>
          <p:nvPr/>
        </p:nvSpPr>
        <p:spPr>
          <a:xfrm>
            <a:off x="405408" y="1156537"/>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HAPBIO</a:t>
            </a:r>
            <a:endParaRPr lang="vi-VN" sz="650" dirty="0"/>
          </a:p>
        </p:txBody>
      </p:sp>
      <p:sp>
        <p:nvSpPr>
          <p:cNvPr id="15" name="Text 12"/>
          <p:cNvSpPr txBox="1"/>
          <p:nvPr/>
        </p:nvSpPr>
        <p:spPr>
          <a:xfrm>
            <a:off x="1884699" y="1156537"/>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54</a:t>
            </a:r>
            <a:endParaRPr lang="vi-VN" sz="650" dirty="0"/>
          </a:p>
        </p:txBody>
      </p:sp>
      <p:sp>
        <p:nvSpPr>
          <p:cNvPr id="16" name="Text 13"/>
          <p:cNvSpPr txBox="1"/>
          <p:nvPr/>
        </p:nvSpPr>
        <p:spPr>
          <a:xfrm>
            <a:off x="405408" y="1324089"/>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Thành Long (20 → 43)</a:t>
            </a:r>
            <a:endParaRPr lang="vi-VN" sz="650" dirty="0"/>
          </a:p>
        </p:txBody>
      </p:sp>
      <p:sp>
        <p:nvSpPr>
          <p:cNvPr id="17" name="Text 14"/>
          <p:cNvSpPr txBox="1"/>
          <p:nvPr/>
        </p:nvSpPr>
        <p:spPr>
          <a:xfrm>
            <a:off x="1785823" y="1324089"/>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18" name="Text 15"/>
          <p:cNvSpPr txBox="1"/>
          <p:nvPr/>
        </p:nvSpPr>
        <p:spPr>
          <a:xfrm>
            <a:off x="405408" y="1491641"/>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AIRX Coffee (3–4)</a:t>
            </a:r>
            <a:endParaRPr lang="vi-VN" sz="650" dirty="0"/>
          </a:p>
        </p:txBody>
      </p:sp>
      <p:sp>
        <p:nvSpPr>
          <p:cNvPr id="19" name="Text 16"/>
          <p:cNvSpPr txBox="1"/>
          <p:nvPr/>
        </p:nvSpPr>
        <p:spPr>
          <a:xfrm>
            <a:off x="1435265" y="1491641"/>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a:t>
            </a:r>
            <a:endParaRPr lang="vi-VN" sz="650" dirty="0"/>
          </a:p>
        </p:txBody>
      </p:sp>
      <p:sp>
        <p:nvSpPr>
          <p:cNvPr id="20" name="Text 17"/>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21" name="Text 18"/>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9"/>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24" name="Text 20"/>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25" name="Text 21"/>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26" name="Text 22"/>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27" name="Text 23"/>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28" name="Text 24"/>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9" name="Text 25"/>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30" name="Text 26"/>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31" name="Text 27"/>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32" name="Text 28"/>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33" name="Text 29"/>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34" name="Text 30"/>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35" name="Text 31"/>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36" name="Text 32"/>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37" name="Text 33"/>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38" name="Text 34"/>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9" name="Text 3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22,4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2051185" y="4614845"/>
            <a:ext cx="0" cy="874181"/>
          </a:xfrm>
          <a:prstGeom prst="line">
            <a:avLst/>
          </a:prstGeom>
          <a:noFill/>
          <a:ln w="6350">
            <a:solidFill>
              <a:srgbClr val="8C8C8C"/>
            </a:solidFill>
            <a:prstDash val="solid"/>
          </a:ln>
        </p:spPr>
      </p:sp>
      <p:sp>
        <p:nvSpPr>
          <p:cNvPr id="20" name="Text 16"/>
          <p:cNvSpPr txBox="1"/>
          <p:nvPr/>
        </p:nvSpPr>
        <p:spPr>
          <a:xfrm>
            <a:off x="405408" y="4622422"/>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Sản lượng ×0,8 / ×1,2</a:t>
            </a:r>
            <a:endParaRPr lang="vi-VN" sz="650" dirty="0"/>
          </a:p>
        </p:txBody>
      </p:sp>
      <p:sp>
        <p:nvSpPr>
          <p:cNvPr id="21" name="Text 17"/>
          <p:cNvSpPr txBox="1"/>
          <p:nvPr/>
        </p:nvSpPr>
        <p:spPr>
          <a:xfrm>
            <a:off x="1590635" y="4622422"/>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−25,3</a:t>
            </a:r>
            <a:endParaRPr lang="vi-VN" sz="650" dirty="0"/>
          </a:p>
        </p:txBody>
      </p:sp>
      <p:sp>
        <p:nvSpPr>
          <p:cNvPr id="22" name="Text 18"/>
          <p:cNvSpPr txBox="1"/>
          <p:nvPr/>
        </p:nvSpPr>
        <p:spPr>
          <a:xfrm>
            <a:off x="2273441" y="4622422"/>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+30,6</a:t>
            </a:r>
            <a:endParaRPr lang="vi-VN" sz="650" dirty="0"/>
          </a:p>
        </p:txBody>
      </p:sp>
      <p:sp>
        <p:nvSpPr>
          <p:cNvPr id="23" name="Text 19"/>
          <p:cNvSpPr txBox="1"/>
          <p:nvPr/>
        </p:nvSpPr>
        <p:spPr>
          <a:xfrm>
            <a:off x="405408" y="474730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nhân sự ±1 điểm % DT</a:t>
            </a:r>
            <a:endParaRPr lang="vi-VN" sz="650" dirty="0"/>
          </a:p>
        </p:txBody>
      </p:sp>
      <p:sp>
        <p:nvSpPr>
          <p:cNvPr id="24" name="Text 20"/>
          <p:cNvSpPr txBox="1"/>
          <p:nvPr/>
        </p:nvSpPr>
        <p:spPr>
          <a:xfrm>
            <a:off x="1689286" y="4747305"/>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5" name="Text 21"/>
          <p:cNvSpPr txBox="1"/>
          <p:nvPr/>
        </p:nvSpPr>
        <p:spPr>
          <a:xfrm>
            <a:off x="2139462" y="4747305"/>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6" name="Text 22"/>
          <p:cNvSpPr txBox="1"/>
          <p:nvPr/>
        </p:nvSpPr>
        <p:spPr>
          <a:xfrm>
            <a:off x="405408" y="4872188"/>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biến đổi ±1 điểm % DT</a:t>
            </a:r>
            <a:endParaRPr lang="vi-VN" sz="650" dirty="0"/>
          </a:p>
        </p:txBody>
      </p:sp>
      <p:sp>
        <p:nvSpPr>
          <p:cNvPr id="27" name="Text 23"/>
          <p:cNvSpPr txBox="1"/>
          <p:nvPr/>
        </p:nvSpPr>
        <p:spPr>
          <a:xfrm>
            <a:off x="1746369" y="4872188"/>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8" name="Text 24"/>
          <p:cNvSpPr txBox="1"/>
          <p:nvPr/>
        </p:nvSpPr>
        <p:spPr>
          <a:xfrm>
            <a:off x="2126131" y="4872188"/>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9" name="Text 25"/>
          <p:cNvSpPr txBox="1"/>
          <p:nvPr/>
        </p:nvSpPr>
        <p:spPr>
          <a:xfrm>
            <a:off x="405408" y="4997071"/>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bán ±1 điểm %/năm</a:t>
            </a:r>
            <a:endParaRPr lang="vi-VN" sz="650" dirty="0"/>
          </a:p>
        </p:txBody>
      </p:sp>
      <p:sp>
        <p:nvSpPr>
          <p:cNvPr id="30" name="Text 26"/>
          <p:cNvSpPr txBox="1"/>
          <p:nvPr/>
        </p:nvSpPr>
        <p:spPr>
          <a:xfrm>
            <a:off x="1763033" y="4997071"/>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−6,0</a:t>
            </a:r>
            <a:endParaRPr lang="vi-VN" sz="650" dirty="0"/>
          </a:p>
        </p:txBody>
      </p:sp>
      <p:sp>
        <p:nvSpPr>
          <p:cNvPr id="31" name="Text 27"/>
          <p:cNvSpPr txBox="1"/>
          <p:nvPr/>
        </p:nvSpPr>
        <p:spPr>
          <a:xfrm>
            <a:off x="2110800" y="4997071"/>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+6,2</a:t>
            </a:r>
            <a:endParaRPr lang="vi-VN" sz="650" dirty="0"/>
          </a:p>
        </p:txBody>
      </p:sp>
      <p:sp>
        <p:nvSpPr>
          <p:cNvPr id="32" name="Text 28"/>
          <p:cNvSpPr txBox="1"/>
          <p:nvPr/>
        </p:nvSpPr>
        <p:spPr>
          <a:xfrm>
            <a:off x="405408" y="5121954"/>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Lãi suất Rf, Kd ±1 điểm %</a:t>
            </a:r>
            <a:endParaRPr lang="vi-VN" sz="650" dirty="0"/>
          </a:p>
        </p:txBody>
      </p:sp>
      <p:sp>
        <p:nvSpPr>
          <p:cNvPr id="33" name="Text 29"/>
          <p:cNvSpPr txBox="1"/>
          <p:nvPr/>
        </p:nvSpPr>
        <p:spPr>
          <a:xfrm>
            <a:off x="1775031" y="5121954"/>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34" name="Text 30"/>
          <p:cNvSpPr txBox="1"/>
          <p:nvPr/>
        </p:nvSpPr>
        <p:spPr>
          <a:xfrm>
            <a:off x="2102801" y="5121954"/>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5" name="Text 31"/>
          <p:cNvSpPr txBox="1"/>
          <p:nvPr/>
        </p:nvSpPr>
        <p:spPr>
          <a:xfrm>
            <a:off x="405408" y="5246837"/>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CRP ±1 điểm %</a:t>
            </a:r>
            <a:endParaRPr lang="vi-VN" sz="650" dirty="0"/>
          </a:p>
        </p:txBody>
      </p:sp>
      <p:sp>
        <p:nvSpPr>
          <p:cNvPr id="36" name="Text 32"/>
          <p:cNvSpPr txBox="1"/>
          <p:nvPr/>
        </p:nvSpPr>
        <p:spPr>
          <a:xfrm>
            <a:off x="1776364" y="5246837"/>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−4,0</a:t>
            </a:r>
            <a:endParaRPr lang="vi-VN" sz="650" dirty="0"/>
          </a:p>
        </p:txBody>
      </p:sp>
      <p:sp>
        <p:nvSpPr>
          <p:cNvPr id="37" name="Text 33"/>
          <p:cNvSpPr txBox="1"/>
          <p:nvPr/>
        </p:nvSpPr>
        <p:spPr>
          <a:xfrm>
            <a:off x="2102801" y="5246837"/>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8" name="Text 34"/>
          <p:cNvSpPr txBox="1"/>
          <p:nvPr/>
        </p:nvSpPr>
        <p:spPr>
          <a:xfrm>
            <a:off x="405408" y="537172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Ưu đãi thuế NQ 198</a:t>
            </a:r>
            <a:endParaRPr lang="vi-VN" sz="650" dirty="0"/>
          </a:p>
        </p:txBody>
      </p:sp>
      <p:sp>
        <p:nvSpPr>
          <p:cNvPr id="39" name="Text 35"/>
          <p:cNvSpPr txBox="1"/>
          <p:nvPr/>
        </p:nvSpPr>
        <p:spPr>
          <a:xfrm>
            <a:off x="2093469" y="5371720"/>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a:t>
            </a:r>
            <a:endParaRPr lang="vi-VN" sz="650" dirty="0"/>
          </a:p>
        </p:txBody>
      </p:sp>
      <p:sp>
        <p:nvSpPr>
          <p:cNvPr id="40" name="Shape 36"/>
          <p:cNvSpPr/>
          <p:nvPr/>
        </p:nvSpPr>
        <p:spPr>
          <a:xfrm>
            <a:off x="405408" y="5575893"/>
            <a:ext cx="59436" cy="59436"/>
          </a:xfrm>
          <a:prstGeom prst="rect">
            <a:avLst/>
          </a:prstGeom>
          <a:solidFill>
            <a:srgbClr val="A3A3A3"/>
          </a:solidFill>
          <a:ln w="3175">
            <a:solidFill>
              <a:srgbClr val="A3A3A3"/>
            </a:solidFill>
            <a:prstDash val="solid"/>
          </a:ln>
        </p:spPr>
      </p:sp>
      <p:sp>
        <p:nvSpPr>
          <p:cNvPr id="41" name="Text 37"/>
          <p:cNvSpPr txBox="1"/>
          <p:nvPr/>
        </p:nvSpPr>
        <p:spPr>
          <a:xfrm>
            <a:off x="487704" y="5553033"/>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Bất lợi</a:t>
            </a:r>
            <a:endParaRPr lang="vi-VN" sz="650" dirty="0"/>
          </a:p>
        </p:txBody>
      </p:sp>
      <p:sp>
        <p:nvSpPr>
          <p:cNvPr id="42" name="Shape 38"/>
          <p:cNvSpPr/>
          <p:nvPr/>
        </p:nvSpPr>
        <p:spPr>
          <a:xfrm>
            <a:off x="912836" y="5575893"/>
            <a:ext cx="59436" cy="59436"/>
          </a:xfrm>
          <a:prstGeom prst="rect">
            <a:avLst/>
          </a:prstGeom>
          <a:solidFill>
            <a:srgbClr val="7B1E2B"/>
          </a:solidFill>
          <a:ln w="3175">
            <a:solidFill>
              <a:srgbClr val="7B1E2B"/>
            </a:solidFill>
            <a:prstDash val="solid"/>
          </a:ln>
        </p:spPr>
      </p:sp>
      <p:sp>
        <p:nvSpPr>
          <p:cNvPr id="43" name="Text 39"/>
          <p:cNvSpPr txBox="1"/>
          <p:nvPr/>
        </p:nvSpPr>
        <p:spPr>
          <a:xfrm>
            <a:off x="995132" y="5553033"/>
            <a:ext cx="44862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Thuận lợi</a:t>
            </a:r>
            <a:endParaRPr lang="vi-VN" sz="650" dirty="0"/>
          </a:p>
        </p:txBody>
      </p:sp>
      <p:sp>
        <p:nvSpPr>
          <p:cNvPr id="44" name="Text 40"/>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45" name="Text 41"/>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46" name="Text 42"/>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1" descr=""/>
          <p:cNvGraphicFramePr/>
          <p:nvPr/>
        </p:nvGraphicFramePr>
        <p:xfrm>
          <a:off x="405408" y="6329809"/>
          <a:ext cx="2159943" cy="726430"/>
        </p:xfrm>
        <a:graphic xmlns:a="http://schemas.openxmlformats.org/drawingml/2006/main">
          <a:graphicData uri="http://schemas.openxmlformats.org/drawingml/2006/chart">
            <c:chart xmlns:c="http://schemas.openxmlformats.org/drawingml/2006/chart" r:id="rId2"/>
          </a:graphicData>
        </a:graphic>
      </p:graphicFrame>
      <p:sp>
        <p:nvSpPr>
          <p:cNvPr id="48" name="Text 43"/>
          <p:cNvSpPr txBox="1"/>
          <p:nvPr/>
        </p:nvSpPr>
        <p:spPr>
          <a:xfrm>
            <a:off x="418598"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49" name="Text 44"/>
          <p:cNvSpPr txBox="1"/>
          <p:nvPr/>
        </p:nvSpPr>
        <p:spPr>
          <a:xfrm>
            <a:off x="684019"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0" name="Text 45"/>
          <p:cNvSpPr txBox="1"/>
          <p:nvPr/>
        </p:nvSpPr>
        <p:spPr>
          <a:xfrm>
            <a:off x="949440" y="63218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24,5</a:t>
            </a:r>
            <a:endParaRPr lang="vi-VN" sz="650" dirty="0"/>
          </a:p>
        </p:txBody>
      </p:sp>
      <p:sp>
        <p:nvSpPr>
          <p:cNvPr id="51" name="Text 46"/>
          <p:cNvSpPr txBox="1"/>
          <p:nvPr/>
        </p:nvSpPr>
        <p:spPr>
          <a:xfrm>
            <a:off x="1214861"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2" name="Text 47"/>
          <p:cNvSpPr txBox="1"/>
          <p:nvPr/>
        </p:nvSpPr>
        <p:spPr>
          <a:xfrm>
            <a:off x="1480282"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3" name="Text 48"/>
          <p:cNvSpPr txBox="1"/>
          <p:nvPr/>
        </p:nvSpPr>
        <p:spPr>
          <a:xfrm>
            <a:off x="1745702"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54" name="Text 49"/>
          <p:cNvSpPr txBox="1"/>
          <p:nvPr/>
        </p:nvSpPr>
        <p:spPr>
          <a:xfrm>
            <a:off x="2011123" y="628092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27,0</a:t>
            </a:r>
            <a:endParaRPr lang="vi-VN" sz="650" dirty="0"/>
          </a:p>
        </p:txBody>
      </p:sp>
      <p:sp>
        <p:nvSpPr>
          <p:cNvPr id="55" name="Text 50"/>
          <p:cNvSpPr txBox="1"/>
          <p:nvPr/>
        </p:nvSpPr>
        <p:spPr>
          <a:xfrm>
            <a:off x="2276544" y="6289102"/>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26,5</a:t>
            </a:r>
            <a:endParaRPr lang="vi-VN" sz="650" dirty="0"/>
          </a:p>
        </p:txBody>
      </p:sp>
      <p:sp>
        <p:nvSpPr>
          <p:cNvPr id="56" name="Text 51"/>
          <p:cNvSpPr txBox="1"/>
          <p:nvPr/>
        </p:nvSpPr>
        <p:spPr>
          <a:xfrm>
            <a:off x="405408" y="707409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57" name="Text 52"/>
          <p:cNvSpPr txBox="1"/>
          <p:nvPr/>
        </p:nvSpPr>
        <p:spPr>
          <a:xfrm>
            <a:off x="2745284" y="421287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11,5% thị trường mục tiêu vào năm 2030, và bị giới hạn bởi công suất: sản lượng chỉ tăng mạnh trở lại khi nhà máy mới vận hành từ năm 2029. Đây cũng là giả định ảnh hưởng mạnh nhất đến giá trị doanh nghiệp (Fig. 38).</a:t>
            </a:r>
            <a:endParaRPr lang="vi-VN" sz="850" dirty="0"/>
          </a:p>
        </p:txBody>
      </p:sp>
      <p:sp>
        <p:nvSpPr>
          <p:cNvPr id="58" name="Text 53"/>
          <p:cNvSpPr txBox="1"/>
          <p:nvPr/>
        </p:nvSpPr>
        <p:spPr>
          <a:xfrm>
            <a:off x="2745284" y="5303044"/>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59" name="Text 54"/>
          <p:cNvSpPr txBox="1"/>
          <p:nvPr/>
        </p:nvSpPr>
        <p:spPr>
          <a:xfrm>
            <a:off x="2745284" y="626164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60" name="Text 55"/>
          <p:cNvSpPr txBox="1"/>
          <p:nvPr/>
        </p:nvSpPr>
        <p:spPr>
          <a:xfrm>
            <a:off x="2745284" y="695712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61" name="Text 56"/>
          <p:cNvSpPr txBox="1"/>
          <p:nvPr/>
        </p:nvSpPr>
        <p:spPr>
          <a:xfrm>
            <a:off x="2745284" y="7784157"/>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142,9 tỷ đồng, lợi nhuận sau thuế còn 5,9 tỷ đồng và pre-money giảm 25,3 tỷ đồng, xuống −2,9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8,5–10,5 tỷ đồng; còn giá bán thay đổi 1 điểm % mỗi năm, lãi suất hay phần bù rủi ro quốc gia thay đổi 1 điểm % chỉ tác động khoảng 4,0–6,2 tỷ đồng. Ưu đãi thuế, nếu được hưởng, cộng thêm khoảng 3,6 tỷ đồng.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62" name="Text 5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3" name="Text 5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76152"/>
            <a:ext cx="2159943" cy="0"/>
          </a:xfrm>
          <a:prstGeom prst="line">
            <a:avLst/>
          </a:prstGeom>
          <a:noFill/>
          <a:ln w="9525">
            <a:solidFill>
              <a:srgbClr val="7B1E2B"/>
            </a:solidFill>
            <a:prstDash val="solid"/>
          </a:ln>
        </p:spPr>
      </p:sp>
      <p:sp>
        <p:nvSpPr>
          <p:cNvPr id="5" name="Shape 3"/>
          <p:cNvSpPr/>
          <p:nvPr/>
        </p:nvSpPr>
        <p:spPr>
          <a:xfrm>
            <a:off x="405408" y="4260949"/>
            <a:ext cx="6749058" cy="0"/>
          </a:xfrm>
          <a:prstGeom prst="line">
            <a:avLst/>
          </a:prstGeom>
          <a:noFill/>
          <a:ln w="9525">
            <a:solidFill>
              <a:srgbClr val="7B1E2B"/>
            </a:solidFill>
            <a:prstDash val="solid"/>
          </a:ln>
        </p:spPr>
      </p:sp>
      <p:sp>
        <p:nvSpPr>
          <p:cNvPr id="6" name="Shape 4"/>
          <p:cNvSpPr/>
          <p:nvPr/>
        </p:nvSpPr>
        <p:spPr>
          <a:xfrm>
            <a:off x="405408" y="6791474"/>
            <a:ext cx="2159943" cy="0"/>
          </a:xfrm>
          <a:prstGeom prst="line">
            <a:avLst/>
          </a:prstGeom>
          <a:noFill/>
          <a:ln w="9525">
            <a:solidFill>
              <a:srgbClr val="7B1E2B"/>
            </a:solidFill>
            <a:prstDash val="solid"/>
          </a:ln>
        </p:spPr>
      </p:sp>
      <p:sp>
        <p:nvSpPr>
          <p:cNvPr id="7" name="Shape 5"/>
          <p:cNvSpPr/>
          <p:nvPr/>
        </p:nvSpPr>
        <p:spPr>
          <a:xfrm>
            <a:off x="405408" y="840090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179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9423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23696" y="1219518"/>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48</a:t>
            </a:r>
            <a:endParaRPr lang="vi-VN" sz="550" dirty="0"/>
          </a:p>
        </p:txBody>
      </p:sp>
      <p:sp>
        <p:nvSpPr>
          <p:cNvPr id="15" name="Text 12"/>
          <p:cNvSpPr txBox="1"/>
          <p:nvPr/>
        </p:nvSpPr>
        <p:spPr>
          <a:xfrm>
            <a:off x="777590" y="119128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64</a:t>
            </a:r>
            <a:endParaRPr lang="vi-VN" sz="550" dirty="0"/>
          </a:p>
        </p:txBody>
      </p:sp>
      <p:sp>
        <p:nvSpPr>
          <p:cNvPr id="16" name="Text 13"/>
          <p:cNvSpPr txBox="1"/>
          <p:nvPr/>
        </p:nvSpPr>
        <p:spPr>
          <a:xfrm>
            <a:off x="1131485" y="115971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82</a:t>
            </a:r>
            <a:endParaRPr lang="vi-VN" sz="550" dirty="0"/>
          </a:p>
        </p:txBody>
      </p:sp>
      <p:sp>
        <p:nvSpPr>
          <p:cNvPr id="17" name="Text 14"/>
          <p:cNvSpPr txBox="1"/>
          <p:nvPr/>
        </p:nvSpPr>
        <p:spPr>
          <a:xfrm>
            <a:off x="1485379" y="1126222"/>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101</a:t>
            </a:r>
            <a:endParaRPr lang="vi-VN" sz="550" dirty="0"/>
          </a:p>
        </p:txBody>
      </p:sp>
      <p:sp>
        <p:nvSpPr>
          <p:cNvPr id="18" name="Text 15"/>
          <p:cNvSpPr txBox="1"/>
          <p:nvPr/>
        </p:nvSpPr>
        <p:spPr>
          <a:xfrm>
            <a:off x="1839274" y="105747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140</a:t>
            </a:r>
            <a:endParaRPr lang="vi-VN" sz="550" dirty="0"/>
          </a:p>
        </p:txBody>
      </p:sp>
      <p:sp>
        <p:nvSpPr>
          <p:cNvPr id="19" name="Text 16"/>
          <p:cNvSpPr txBox="1"/>
          <p:nvPr/>
        </p:nvSpPr>
        <p:spPr>
          <a:xfrm>
            <a:off x="2193168" y="98750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180</a:t>
            </a:r>
            <a:endParaRPr lang="vi-VN" sz="550" dirty="0"/>
          </a:p>
        </p:txBody>
      </p:sp>
      <p:sp>
        <p:nvSpPr>
          <p:cNvPr id="20" name="Shape 17"/>
          <p:cNvSpPr/>
          <p:nvPr/>
        </p:nvSpPr>
        <p:spPr>
          <a:xfrm>
            <a:off x="405408" y="1687568"/>
            <a:ext cx="59436" cy="59436"/>
          </a:xfrm>
          <a:prstGeom prst="rect">
            <a:avLst/>
          </a:prstGeom>
          <a:solidFill>
            <a:srgbClr val="7B1E2B"/>
          </a:solidFill>
          <a:ln w="3175">
            <a:solidFill>
              <a:srgbClr val="7B1E2B"/>
            </a:solidFill>
            <a:prstDash val="solid"/>
          </a:ln>
        </p:spPr>
      </p:sp>
      <p:sp>
        <p:nvSpPr>
          <p:cNvPr id="21" name="Text 18"/>
          <p:cNvSpPr txBox="1"/>
          <p:nvPr/>
        </p:nvSpPr>
        <p:spPr>
          <a:xfrm>
            <a:off x="487704" y="1664708"/>
            <a:ext cx="71113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Bao bì F&amp;B/FMCG</a:t>
            </a:r>
            <a:endParaRPr lang="vi-VN" sz="650" dirty="0"/>
          </a:p>
        </p:txBody>
      </p:sp>
      <p:sp>
        <p:nvSpPr>
          <p:cNvPr id="22" name="Shape 19"/>
          <p:cNvSpPr/>
          <p:nvPr/>
        </p:nvSpPr>
        <p:spPr>
          <a:xfrm>
            <a:off x="1262848" y="1687568"/>
            <a:ext cx="59436" cy="59436"/>
          </a:xfrm>
          <a:prstGeom prst="rect">
            <a:avLst/>
          </a:prstGeom>
          <a:solidFill>
            <a:srgbClr val="404040"/>
          </a:solidFill>
          <a:ln w="3175">
            <a:solidFill>
              <a:srgbClr val="404040"/>
            </a:solidFill>
            <a:prstDash val="solid"/>
          </a:ln>
        </p:spPr>
      </p:sp>
      <p:sp>
        <p:nvSpPr>
          <p:cNvPr id="23" name="Text 20"/>
          <p:cNvSpPr txBox="1"/>
          <p:nvPr/>
        </p:nvSpPr>
        <p:spPr>
          <a:xfrm>
            <a:off x="1345144" y="1664708"/>
            <a:ext cx="75488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&amp; khuôn</a:t>
            </a:r>
            <a:endParaRPr lang="vi-VN" sz="650" dirty="0"/>
          </a:p>
        </p:txBody>
      </p:sp>
      <p:sp>
        <p:nvSpPr>
          <p:cNvPr id="24" name="Shape 21"/>
          <p:cNvSpPr/>
          <p:nvPr/>
        </p:nvSpPr>
        <p:spPr>
          <a:xfrm>
            <a:off x="405408" y="1797296"/>
            <a:ext cx="59436" cy="59436"/>
          </a:xfrm>
          <a:prstGeom prst="rect">
            <a:avLst/>
          </a:prstGeom>
          <a:solidFill>
            <a:srgbClr val="A3A3A3"/>
          </a:solidFill>
          <a:ln w="3175">
            <a:solidFill>
              <a:srgbClr val="A3A3A3"/>
            </a:solidFill>
            <a:prstDash val="solid"/>
          </a:ln>
        </p:spPr>
      </p:sp>
      <p:sp>
        <p:nvSpPr>
          <p:cNvPr id="25" name="Text 22"/>
          <p:cNvSpPr txBox="1"/>
          <p:nvPr/>
        </p:nvSpPr>
        <p:spPr>
          <a:xfrm>
            <a:off x="487704" y="1774436"/>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nội thất/TMĐT</a:t>
            </a:r>
            <a:endParaRPr lang="vi-VN" sz="650" dirty="0"/>
          </a:p>
        </p:txBody>
      </p:sp>
      <p:sp>
        <p:nvSpPr>
          <p:cNvPr id="26" name="Shape 23"/>
          <p:cNvSpPr/>
          <p:nvPr/>
        </p:nvSpPr>
        <p:spPr>
          <a:xfrm>
            <a:off x="1350351" y="1797296"/>
            <a:ext cx="59436" cy="59436"/>
          </a:xfrm>
          <a:prstGeom prst="rect">
            <a:avLst/>
          </a:prstGeom>
          <a:solidFill>
            <a:srgbClr val="D0D0D0"/>
          </a:solidFill>
          <a:ln w="3175">
            <a:solidFill>
              <a:srgbClr val="D0D0D0"/>
            </a:solidFill>
            <a:prstDash val="solid"/>
          </a:ln>
        </p:spPr>
      </p:sp>
      <p:sp>
        <p:nvSpPr>
          <p:cNvPr id="27" name="Text 24"/>
          <p:cNvSpPr txBox="1"/>
          <p:nvPr/>
        </p:nvSpPr>
        <p:spPr>
          <a:xfrm>
            <a:off x="1432647" y="1774436"/>
            <a:ext cx="536131"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điện tử</a:t>
            </a:r>
            <a:endParaRPr lang="vi-VN" sz="650" dirty="0"/>
          </a:p>
        </p:txBody>
      </p:sp>
      <p:sp>
        <p:nvSpPr>
          <p:cNvPr id="28" name="Text 25"/>
          <p:cNvSpPr txBox="1"/>
          <p:nvPr/>
        </p:nvSpPr>
        <p:spPr>
          <a:xfrm>
            <a:off x="405408" y="190202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29" name="Text 26"/>
          <p:cNvSpPr txBox="1"/>
          <p:nvPr/>
        </p:nvSpPr>
        <p:spPr>
          <a:xfrm>
            <a:off x="405408" y="210727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358628"/>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7"/>
          <p:cNvSpPr txBox="1"/>
          <p:nvPr/>
        </p:nvSpPr>
        <p:spPr>
          <a:xfrm>
            <a:off x="405408" y="40436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32" name="Text 28"/>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33" name="Text 29"/>
          <p:cNvSpPr txBox="1"/>
          <p:nvPr/>
        </p:nvSpPr>
        <p:spPr>
          <a:xfrm>
            <a:off x="2745284" y="74175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25% năm 2027 khi khai thác tối đa nhà máy hiện hữu, chậm lại còn 20% năm 2028 khi nhà máy mới đang xây, tăng mạnh 35% năm 2029 khi hai dây chuyền mới đi vào vận hành, rồi 25% năm 2030, tương đương khoảng 50,9 triệu sản phẩm. Mảng thiết kế khuôn tăng theo số mẫu sản phẩm mới của khách hàng, còn hai mảng đệm bảo vệ cho nội thất, thương mại điện tử và điện tử tăng 28–70% mỗi năm nhưng từ một nền rất nhỏ.</a:t>
            </a:r>
            <a:endParaRPr lang="vi-VN" sz="850" dirty="0"/>
          </a:p>
        </p:txBody>
      </p:sp>
      <p:sp>
        <p:nvSpPr>
          <p:cNvPr id="34" name="Text 30"/>
          <p:cNvSpPr txBox="1"/>
          <p:nvPr/>
        </p:nvSpPr>
        <p:spPr>
          <a:xfrm>
            <a:off x="2745284" y="196348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178,9 tỷ đồng năm 2030, tăng bình quân 30,3%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35" name="Text 31"/>
          <p:cNvSpPr txBox="1"/>
          <p:nvPr/>
        </p:nvSpPr>
        <p:spPr>
          <a:xfrm>
            <a:off x="2745284" y="26589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36" name="Text 32"/>
          <p:cNvSpPr txBox="1"/>
          <p:nvPr/>
        </p:nvSpPr>
        <p:spPr>
          <a:xfrm>
            <a:off x="2745284" y="2828330"/>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37" name="Text 33"/>
          <p:cNvSpPr txBox="1"/>
          <p:nvPr/>
        </p:nvSpPr>
        <p:spPr>
          <a:xfrm>
            <a:off x="405408" y="429207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38" name="Text 34"/>
          <p:cNvSpPr txBox="1"/>
          <p:nvPr/>
        </p:nvSpPr>
        <p:spPr>
          <a:xfrm>
            <a:off x="405408" y="441960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535091"/>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5"/>
          <p:cNvSpPr txBox="1"/>
          <p:nvPr/>
        </p:nvSpPr>
        <p:spPr>
          <a:xfrm>
            <a:off x="405408" y="662820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41" name="Text 36"/>
          <p:cNvSpPr txBox="1"/>
          <p:nvPr/>
        </p:nvSpPr>
        <p:spPr>
          <a:xfrm>
            <a:off x="405408" y="682259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2029 khi khấu hao nhà máy mới vào giá vốn</a:t>
            </a:r>
            <a:endParaRPr lang="vi-VN" sz="720" dirty="0"/>
          </a:p>
        </p:txBody>
      </p:sp>
      <p:sp>
        <p:nvSpPr>
          <p:cNvPr id="42" name="Text 37"/>
          <p:cNvSpPr txBox="1"/>
          <p:nvPr/>
        </p:nvSpPr>
        <p:spPr>
          <a:xfrm>
            <a:off x="405408" y="705966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3" name="Chart 1" descr=""/>
          <p:cNvGraphicFramePr/>
          <p:nvPr/>
        </p:nvGraphicFramePr>
        <p:xfrm>
          <a:off x="405408" y="7175153"/>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44" name="Text 38"/>
          <p:cNvSpPr txBox="1"/>
          <p:nvPr/>
        </p:nvSpPr>
        <p:spPr>
          <a:xfrm>
            <a:off x="2247977" y="7357217"/>
            <a:ext cx="353949"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Gộp</a:t>
            </a:r>
            <a:endParaRPr lang="vi-VN" sz="650" dirty="0"/>
          </a:p>
        </p:txBody>
      </p:sp>
      <p:sp>
        <p:nvSpPr>
          <p:cNvPr id="45" name="Text 39"/>
          <p:cNvSpPr txBox="1"/>
          <p:nvPr/>
        </p:nvSpPr>
        <p:spPr>
          <a:xfrm>
            <a:off x="2247977" y="7497962"/>
            <a:ext cx="353949" cy="109728"/>
          </a:xfrm>
          <a:prstGeom prst="rect">
            <a:avLst/>
          </a:prstGeom>
          <a:noFill/>
          <a:ln/>
        </p:spPr>
        <p:txBody>
          <a:bodyPr wrap="none" lIns="0" tIns="0" rIns="0" bIns="0" rtlCol="0" anchor="ctr"/>
          <a:lstStyle/>
          <a:p>
            <a:pPr algn="l" indent="0" marL="0">
              <a:buNone/>
            </a:pPr>
            <a:r>
              <a:rPr lang="vi-VN" altLang="en-US" sz="650" b="1" dirty="0">
                <a:solidFill>
                  <a:srgbClr val="404040"/>
                </a:solidFill>
                <a:latin typeface="Calibri" pitchFamily="34" charset="0"/>
                <a:ea typeface="Calibri" pitchFamily="34" charset="-122"/>
                <a:cs typeface="Calibri" pitchFamily="34" charset="-120"/>
              </a:rPr>
              <a:t>EBITDA</a:t>
            </a:r>
            <a:endParaRPr lang="vi-VN" sz="650" dirty="0"/>
          </a:p>
        </p:txBody>
      </p:sp>
      <p:sp>
        <p:nvSpPr>
          <p:cNvPr id="46" name="Text 40"/>
          <p:cNvSpPr txBox="1"/>
          <p:nvPr/>
        </p:nvSpPr>
        <p:spPr>
          <a:xfrm>
            <a:off x="2247977" y="7607690"/>
            <a:ext cx="353949"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EBIT</a:t>
            </a:r>
            <a:endParaRPr lang="vi-VN" sz="650" dirty="0"/>
          </a:p>
        </p:txBody>
      </p:sp>
      <p:sp>
        <p:nvSpPr>
          <p:cNvPr id="47" name="Text 41"/>
          <p:cNvSpPr txBox="1"/>
          <p:nvPr/>
        </p:nvSpPr>
        <p:spPr>
          <a:xfrm>
            <a:off x="2247977" y="7717418"/>
            <a:ext cx="353949" cy="109728"/>
          </a:xfrm>
          <a:prstGeom prst="rect">
            <a:avLst/>
          </a:prstGeom>
          <a:noFill/>
          <a:ln/>
        </p:spPr>
        <p:txBody>
          <a:bodyPr wrap="none" lIns="0" tIns="0" rIns="0" bIns="0" rtlCol="0" anchor="ctr"/>
          <a:lstStyle/>
          <a:p>
            <a:pPr algn="l" indent="0" marL="0">
              <a:buNone/>
            </a:pPr>
            <a:r>
              <a:rPr lang="vi-VN" altLang="en-US" sz="650" b="1" dirty="0">
                <a:solidFill>
                  <a:srgbClr val="C08890"/>
                </a:solidFill>
                <a:latin typeface="Calibri" pitchFamily="34" charset="0"/>
                <a:ea typeface="Calibri" pitchFamily="34" charset="-122"/>
                <a:cs typeface="Calibri" pitchFamily="34" charset="-120"/>
              </a:rPr>
              <a:t>LNST</a:t>
            </a:r>
            <a:endParaRPr lang="vi-VN" sz="650" dirty="0"/>
          </a:p>
        </p:txBody>
      </p:sp>
      <p:sp>
        <p:nvSpPr>
          <p:cNvPr id="48" name="Text 42"/>
          <p:cNvSpPr txBox="1"/>
          <p:nvPr/>
        </p:nvSpPr>
        <p:spPr>
          <a:xfrm>
            <a:off x="405408" y="813539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49" name="Text 43"/>
          <p:cNvSpPr txBox="1"/>
          <p:nvPr/>
        </p:nvSpPr>
        <p:spPr>
          <a:xfrm>
            <a:off x="405408" y="843202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50" name="Text 44"/>
          <p:cNvSpPr txBox="1"/>
          <p:nvPr/>
        </p:nvSpPr>
        <p:spPr>
          <a:xfrm>
            <a:off x="405408" y="86690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51" name="Chart 2" descr=""/>
          <p:cNvGraphicFramePr/>
          <p:nvPr/>
        </p:nvGraphicFramePr>
        <p:xfrm>
          <a:off x="405408" y="8784580"/>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52" name="Shape 45"/>
          <p:cNvSpPr/>
          <p:nvPr/>
        </p:nvSpPr>
        <p:spPr>
          <a:xfrm>
            <a:off x="423696" y="9326093"/>
            <a:ext cx="1638735" cy="0"/>
          </a:xfrm>
          <a:prstGeom prst="line">
            <a:avLst/>
          </a:prstGeom>
          <a:noFill/>
          <a:ln w="9525">
            <a:solidFill>
              <a:srgbClr val="7B1E2B"/>
            </a:solidFill>
            <a:prstDash val="dash"/>
          </a:ln>
        </p:spPr>
      </p:sp>
      <p:sp>
        <p:nvSpPr>
          <p:cNvPr id="53" name="Text 46"/>
          <p:cNvSpPr txBox="1"/>
          <p:nvPr/>
        </p:nvSpPr>
        <p:spPr>
          <a:xfrm>
            <a:off x="2089862" y="9193972"/>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P75 ngành 8,3%</a:t>
            </a:r>
            <a:endParaRPr lang="vi-VN" sz="550" dirty="0"/>
          </a:p>
        </p:txBody>
      </p:sp>
      <p:sp>
        <p:nvSpPr>
          <p:cNvPr id="54" name="Shape 47"/>
          <p:cNvSpPr/>
          <p:nvPr/>
        </p:nvSpPr>
        <p:spPr>
          <a:xfrm>
            <a:off x="423696" y="9358564"/>
            <a:ext cx="1638735" cy="0"/>
          </a:xfrm>
          <a:prstGeom prst="line">
            <a:avLst/>
          </a:prstGeom>
          <a:noFill/>
          <a:ln w="9525">
            <a:solidFill>
              <a:srgbClr val="7B1E2B"/>
            </a:solidFill>
            <a:prstDash val="dash"/>
          </a:ln>
        </p:spPr>
      </p:sp>
      <p:sp>
        <p:nvSpPr>
          <p:cNvPr id="55" name="Text 48"/>
          <p:cNvSpPr txBox="1"/>
          <p:nvPr/>
        </p:nvSpPr>
        <p:spPr>
          <a:xfrm>
            <a:off x="2089862" y="9303700"/>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Trung vị 3,1%</a:t>
            </a:r>
            <a:endParaRPr lang="vi-VN" sz="550" dirty="0"/>
          </a:p>
        </p:txBody>
      </p:sp>
      <p:sp>
        <p:nvSpPr>
          <p:cNvPr id="56" name="Text 49"/>
          <p:cNvSpPr txBox="1"/>
          <p:nvPr/>
        </p:nvSpPr>
        <p:spPr>
          <a:xfrm>
            <a:off x="407240" y="907508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a:t>
            </a:r>
            <a:endParaRPr lang="vi-VN" sz="650" dirty="0"/>
          </a:p>
        </p:txBody>
      </p:sp>
      <p:sp>
        <p:nvSpPr>
          <p:cNvPr id="57" name="Text 50"/>
          <p:cNvSpPr txBox="1"/>
          <p:nvPr/>
        </p:nvSpPr>
        <p:spPr>
          <a:xfrm>
            <a:off x="612081" y="910880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58" name="Text 51"/>
          <p:cNvSpPr txBox="1"/>
          <p:nvPr/>
        </p:nvSpPr>
        <p:spPr>
          <a:xfrm>
            <a:off x="816923" y="9169374"/>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11</a:t>
            </a:r>
            <a:endParaRPr lang="vi-VN" sz="650" dirty="0"/>
          </a:p>
        </p:txBody>
      </p:sp>
      <p:sp>
        <p:nvSpPr>
          <p:cNvPr id="59" name="Text 52"/>
          <p:cNvSpPr txBox="1"/>
          <p:nvPr/>
        </p:nvSpPr>
        <p:spPr>
          <a:xfrm>
            <a:off x="1021765" y="9111301"/>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60" name="Text 53"/>
          <p:cNvSpPr txBox="1"/>
          <p:nvPr/>
        </p:nvSpPr>
        <p:spPr>
          <a:xfrm>
            <a:off x="1226607" y="914252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a:t>
            </a:r>
            <a:endParaRPr lang="vi-VN" sz="650" dirty="0"/>
          </a:p>
        </p:txBody>
      </p:sp>
      <p:sp>
        <p:nvSpPr>
          <p:cNvPr id="61" name="Text 54"/>
          <p:cNvSpPr txBox="1"/>
          <p:nvPr/>
        </p:nvSpPr>
        <p:spPr>
          <a:xfrm>
            <a:off x="1431449" y="8830300"/>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65</a:t>
            </a:r>
            <a:endParaRPr lang="vi-VN" sz="650" dirty="0"/>
          </a:p>
        </p:txBody>
      </p:sp>
      <p:sp>
        <p:nvSpPr>
          <p:cNvPr id="62" name="Text 55"/>
          <p:cNvSpPr txBox="1"/>
          <p:nvPr/>
        </p:nvSpPr>
        <p:spPr>
          <a:xfrm>
            <a:off x="1636291" y="9161257"/>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63" name="Text 56"/>
          <p:cNvSpPr txBox="1"/>
          <p:nvPr/>
        </p:nvSpPr>
        <p:spPr>
          <a:xfrm>
            <a:off x="1841132" y="9173745"/>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a:t>
            </a:r>
            <a:endParaRPr lang="vi-VN" sz="650" dirty="0"/>
          </a:p>
        </p:txBody>
      </p:sp>
      <p:sp>
        <p:nvSpPr>
          <p:cNvPr id="64" name="Text 57"/>
          <p:cNvSpPr txBox="1"/>
          <p:nvPr/>
        </p:nvSpPr>
        <p:spPr>
          <a:xfrm>
            <a:off x="405408" y="95878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65" name="Text 58"/>
          <p:cNvSpPr txBox="1"/>
          <p:nvPr/>
        </p:nvSpPr>
        <p:spPr>
          <a:xfrm>
            <a:off x="2745284" y="6791474"/>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giữ quanh 51,5%–51,8% trong 2026–2027, giảm nhẹ còn 50,7% năm 2028 và xuống 45,1% năm 2029 (Fig. 43). Năm 2029 là năm đầu tiên nhà máy mới chạy: khấu hao tăng từ 6,7 lên 14,6 tỷ đồng trong khi công suất chưa được lấp đầy, và chi phí biến đổi lên 27% doanh thu do hao hụt trong giai đoạn chạy thử. Khi sản lượng tăng dần, biên gộp hồi lên 47,4% năm 2030. Biên EBITDA tăng từ 16,2% lên 20,7%, chỉ chững lại năm 2029 (17,7%) khi tiền thuê tăng 30% và chi phí cố định của nhà máy mới phát sinh. Lợi nhuận sau thuế vì thế giảm còn 4,8 tỷ đồng năm 2029, năm lãi vay lên cao nhất (4,1 tỷ đồng) và khấu hao tăng gấp đôi, rồi tăng lên 13,4 tỷ đồng năm 2030.</a:t>
            </a:r>
            <a:endParaRPr lang="vi-VN" sz="850" dirty="0"/>
          </a:p>
        </p:txBody>
      </p:sp>
      <p:sp>
        <p:nvSpPr>
          <p:cNvPr id="66" name="Text 59"/>
          <p:cNvSpPr txBox="1"/>
          <p:nvPr/>
        </p:nvSpPr>
        <p:spPr>
          <a:xfrm>
            <a:off x="2745284" y="775007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67" name="Text 60"/>
          <p:cNvSpPr txBox="1"/>
          <p:nvPr/>
        </p:nvSpPr>
        <p:spPr>
          <a:xfrm>
            <a:off x="2745284" y="79194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15% năm 2027 để mở rộng nhà máy hiện hữu; 65% năm 2028 theo yêu cầu của đề bài, dành cho hai dây chuyền ép khuôn – sấy, kho bã mía và phòng kiểm nghiệm; 12% năm 2029 cho phần hoàn thiện và chạy thử; và 10% năm 2030.</a:t>
            </a:r>
            <a:endParaRPr lang="vi-VN" sz="850" dirty="0"/>
          </a:p>
        </p:txBody>
      </p:sp>
      <p:sp>
        <p:nvSpPr>
          <p:cNvPr id="68" name="Text 61"/>
          <p:cNvSpPr txBox="1"/>
          <p:nvPr/>
        </p:nvSpPr>
        <p:spPr>
          <a:xfrm>
            <a:off x="2745284" y="86149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28–39% mỗi năm trong 2029–2030 và có cường độ tài sản lớn hơn: khấu hao chiếm 9,3%–10,5% doanh thu trong 2029–2030,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40,6%, bằng tốc độ tăng trưởng dài hạn chia cho ROIC năm 2030 (12,3%).</a:t>
            </a:r>
            <a:endParaRPr lang="vi-VN" sz="850" dirty="0"/>
          </a:p>
        </p:txBody>
      </p:sp>
      <p:sp>
        <p:nvSpPr>
          <p:cNvPr id="69"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518970"/>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31889"/>
            <a:ext cx="2159943" cy="0"/>
          </a:xfrm>
          <a:prstGeom prst="line">
            <a:avLst/>
          </a:prstGeom>
          <a:noFill/>
          <a:ln w="9525">
            <a:solidFill>
              <a:srgbClr val="7B1E2B"/>
            </a:solidFill>
            <a:prstDash val="solid"/>
          </a:ln>
        </p:spPr>
      </p:sp>
      <p:sp>
        <p:nvSpPr>
          <p:cNvPr id="6" name="Shape 4"/>
          <p:cNvSpPr/>
          <p:nvPr/>
        </p:nvSpPr>
        <p:spPr>
          <a:xfrm>
            <a:off x="2745284" y="3077021"/>
            <a:ext cx="4409182" cy="0"/>
          </a:xfrm>
          <a:prstGeom prst="line">
            <a:avLst/>
          </a:prstGeom>
          <a:noFill/>
          <a:ln w="9525">
            <a:solidFill>
              <a:srgbClr val="7B1E2B"/>
            </a:solidFill>
            <a:prstDash val="solid"/>
          </a:ln>
        </p:spPr>
      </p:sp>
      <p:sp>
        <p:nvSpPr>
          <p:cNvPr id="7" name="Shape 5"/>
          <p:cNvSpPr/>
          <p:nvPr/>
        </p:nvSpPr>
        <p:spPr>
          <a:xfrm>
            <a:off x="405408" y="679177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2028 khiến FCFF âm bốn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91912" y="1240306"/>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5,1</a:t>
            </a:r>
            <a:endParaRPr lang="vi-VN" sz="550" dirty="0"/>
          </a:p>
        </p:txBody>
      </p:sp>
      <p:sp>
        <p:nvSpPr>
          <p:cNvPr id="15" name="Text 12"/>
          <p:cNvSpPr txBox="1"/>
          <p:nvPr/>
        </p:nvSpPr>
        <p:spPr>
          <a:xfrm>
            <a:off x="545779" y="1248537"/>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3,1</a:t>
            </a:r>
            <a:endParaRPr lang="vi-VN" sz="550" dirty="0"/>
          </a:p>
        </p:txBody>
      </p:sp>
      <p:sp>
        <p:nvSpPr>
          <p:cNvPr id="16" name="Text 13"/>
          <p:cNvSpPr txBox="1"/>
          <p:nvPr/>
        </p:nvSpPr>
        <p:spPr>
          <a:xfrm>
            <a:off x="745806" y="12090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12,7</a:t>
            </a:r>
            <a:endParaRPr lang="vi-VN" sz="550" dirty="0"/>
          </a:p>
        </p:txBody>
      </p:sp>
      <p:sp>
        <p:nvSpPr>
          <p:cNvPr id="17" name="Text 14"/>
          <p:cNvSpPr txBox="1"/>
          <p:nvPr/>
        </p:nvSpPr>
        <p:spPr>
          <a:xfrm>
            <a:off x="899673" y="124606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3,7</a:t>
            </a:r>
            <a:endParaRPr lang="vi-VN" sz="550" dirty="0"/>
          </a:p>
        </p:txBody>
      </p:sp>
      <p:sp>
        <p:nvSpPr>
          <p:cNvPr id="18" name="Text 15"/>
          <p:cNvSpPr txBox="1"/>
          <p:nvPr/>
        </p:nvSpPr>
        <p:spPr>
          <a:xfrm>
            <a:off x="1099701" y="121108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12,2</a:t>
            </a:r>
            <a:endParaRPr lang="vi-VN" sz="550" dirty="0"/>
          </a:p>
        </p:txBody>
      </p:sp>
      <p:sp>
        <p:nvSpPr>
          <p:cNvPr id="19" name="Text 16"/>
          <p:cNvSpPr txBox="1"/>
          <p:nvPr/>
        </p:nvSpPr>
        <p:spPr>
          <a:xfrm>
            <a:off x="1253568" y="1239483"/>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5,3</a:t>
            </a:r>
            <a:endParaRPr lang="vi-VN" sz="550" dirty="0"/>
          </a:p>
        </p:txBody>
      </p:sp>
      <p:sp>
        <p:nvSpPr>
          <p:cNvPr id="20" name="Text 17"/>
          <p:cNvSpPr txBox="1"/>
          <p:nvPr/>
        </p:nvSpPr>
        <p:spPr>
          <a:xfrm>
            <a:off x="1453595" y="992565"/>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65,3</a:t>
            </a:r>
            <a:endParaRPr lang="vi-VN" sz="550" dirty="0"/>
          </a:p>
        </p:txBody>
      </p:sp>
      <p:sp>
        <p:nvSpPr>
          <p:cNvPr id="21" name="Text 18"/>
          <p:cNvSpPr txBox="1"/>
          <p:nvPr/>
        </p:nvSpPr>
        <p:spPr>
          <a:xfrm>
            <a:off x="1607462" y="1233722"/>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6,7</a:t>
            </a:r>
            <a:endParaRPr lang="vi-VN" sz="550" dirty="0"/>
          </a:p>
        </p:txBody>
      </p:sp>
      <p:sp>
        <p:nvSpPr>
          <p:cNvPr id="22" name="Text 19"/>
          <p:cNvSpPr txBox="1"/>
          <p:nvPr/>
        </p:nvSpPr>
        <p:spPr>
          <a:xfrm>
            <a:off x="1807490" y="1192569"/>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16,7</a:t>
            </a:r>
            <a:endParaRPr lang="vi-VN" sz="550" dirty="0"/>
          </a:p>
        </p:txBody>
      </p:sp>
      <p:sp>
        <p:nvSpPr>
          <p:cNvPr id="23" name="Text 20"/>
          <p:cNvSpPr txBox="1"/>
          <p:nvPr/>
        </p:nvSpPr>
        <p:spPr>
          <a:xfrm>
            <a:off x="1961357" y="1201211"/>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14,6</a:t>
            </a:r>
            <a:endParaRPr lang="vi-VN" sz="550" dirty="0"/>
          </a:p>
        </p:txBody>
      </p:sp>
      <p:sp>
        <p:nvSpPr>
          <p:cNvPr id="24" name="Text 21"/>
          <p:cNvSpPr txBox="1"/>
          <p:nvPr/>
        </p:nvSpPr>
        <p:spPr>
          <a:xfrm>
            <a:off x="2161384" y="11876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17,9</a:t>
            </a:r>
            <a:endParaRPr lang="vi-VN" sz="550" dirty="0"/>
          </a:p>
        </p:txBody>
      </p:sp>
      <p:sp>
        <p:nvSpPr>
          <p:cNvPr id="25" name="Text 22"/>
          <p:cNvSpPr txBox="1"/>
          <p:nvPr/>
        </p:nvSpPr>
        <p:spPr>
          <a:xfrm>
            <a:off x="2315251" y="119298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16,6</a:t>
            </a:r>
            <a:endParaRPr lang="vi-VN" sz="550" dirty="0"/>
          </a:p>
        </p:txBody>
      </p:sp>
      <p:sp>
        <p:nvSpPr>
          <p:cNvPr id="26" name="Shape 23"/>
          <p:cNvSpPr/>
          <p:nvPr/>
        </p:nvSpPr>
        <p:spPr>
          <a:xfrm>
            <a:off x="405408" y="1645343"/>
            <a:ext cx="59436" cy="59436"/>
          </a:xfrm>
          <a:prstGeom prst="rect">
            <a:avLst/>
          </a:prstGeom>
          <a:solidFill>
            <a:srgbClr val="7B1E2B"/>
          </a:solidFill>
          <a:ln w="3175">
            <a:solidFill>
              <a:srgbClr val="7B1E2B"/>
            </a:solidFill>
            <a:prstDash val="solid"/>
          </a:ln>
        </p:spPr>
      </p:sp>
      <p:sp>
        <p:nvSpPr>
          <p:cNvPr id="27" name="Text 24"/>
          <p:cNvSpPr txBox="1"/>
          <p:nvPr/>
        </p:nvSpPr>
        <p:spPr>
          <a:xfrm>
            <a:off x="487704" y="1622483"/>
            <a:ext cx="27362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CAPEX</a:t>
            </a:r>
            <a:endParaRPr lang="vi-VN" sz="650" dirty="0"/>
          </a:p>
        </p:txBody>
      </p:sp>
      <p:sp>
        <p:nvSpPr>
          <p:cNvPr id="28" name="Shape 25"/>
          <p:cNvSpPr/>
          <p:nvPr/>
        </p:nvSpPr>
        <p:spPr>
          <a:xfrm>
            <a:off x="825333" y="1645343"/>
            <a:ext cx="59436" cy="59436"/>
          </a:xfrm>
          <a:prstGeom prst="rect">
            <a:avLst/>
          </a:prstGeom>
          <a:solidFill>
            <a:srgbClr val="A3A3A3"/>
          </a:solidFill>
          <a:ln w="3175">
            <a:solidFill>
              <a:srgbClr val="A3A3A3"/>
            </a:solidFill>
            <a:prstDash val="solid"/>
          </a:ln>
        </p:spPr>
      </p:sp>
      <p:sp>
        <p:nvSpPr>
          <p:cNvPr id="29" name="Text 26"/>
          <p:cNvSpPr txBox="1"/>
          <p:nvPr/>
        </p:nvSpPr>
        <p:spPr>
          <a:xfrm>
            <a:off x="907629" y="1622483"/>
            <a:ext cx="404876"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Khấu hao</a:t>
            </a:r>
            <a:endParaRPr lang="vi-VN" sz="650" dirty="0"/>
          </a:p>
        </p:txBody>
      </p:sp>
      <p:sp>
        <p:nvSpPr>
          <p:cNvPr id="30" name="Text 27"/>
          <p:cNvSpPr txBox="1"/>
          <p:nvPr/>
        </p:nvSpPr>
        <p:spPr>
          <a:xfrm>
            <a:off x="405408" y="1746498"/>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31" name="Chart 1" descr=""/>
          <p:cNvGraphicFramePr/>
          <p:nvPr/>
        </p:nvGraphicFramePr>
        <p:xfrm>
          <a:off x="405408" y="1852761"/>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32" name="Shape 28"/>
          <p:cNvSpPr/>
          <p:nvPr/>
        </p:nvSpPr>
        <p:spPr>
          <a:xfrm>
            <a:off x="423696" y="2060645"/>
            <a:ext cx="2123367" cy="0"/>
          </a:xfrm>
          <a:prstGeom prst="line">
            <a:avLst/>
          </a:prstGeom>
          <a:noFill/>
          <a:ln w="6350">
            <a:solidFill>
              <a:srgbClr val="BFBFBF"/>
            </a:solidFill>
            <a:prstDash val="solid"/>
          </a:ln>
        </p:spPr>
      </p:sp>
      <p:sp>
        <p:nvSpPr>
          <p:cNvPr id="33" name="Text 29"/>
          <p:cNvSpPr txBox="1"/>
          <p:nvPr/>
        </p:nvSpPr>
        <p:spPr>
          <a:xfrm>
            <a:off x="435187" y="1915994"/>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34" name="Text 30"/>
          <p:cNvSpPr txBox="1"/>
          <p:nvPr/>
        </p:nvSpPr>
        <p:spPr>
          <a:xfrm>
            <a:off x="789081" y="209176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−4,9</a:t>
            </a:r>
            <a:endParaRPr lang="vi-VN" sz="650" dirty="0"/>
          </a:p>
        </p:txBody>
      </p:sp>
      <p:sp>
        <p:nvSpPr>
          <p:cNvPr id="35" name="Text 31"/>
          <p:cNvSpPr txBox="1"/>
          <p:nvPr/>
        </p:nvSpPr>
        <p:spPr>
          <a:xfrm>
            <a:off x="1142976" y="208422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6" name="Text 32"/>
          <p:cNvSpPr txBox="1"/>
          <p:nvPr/>
        </p:nvSpPr>
        <p:spPr>
          <a:xfrm>
            <a:off x="1496870" y="2207059"/>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−52,3</a:t>
            </a:r>
            <a:endParaRPr lang="vi-VN" sz="650" dirty="0"/>
          </a:p>
        </p:txBody>
      </p:sp>
      <p:sp>
        <p:nvSpPr>
          <p:cNvPr id="37" name="Text 33"/>
          <p:cNvSpPr txBox="1"/>
          <p:nvPr/>
        </p:nvSpPr>
        <p:spPr>
          <a:xfrm>
            <a:off x="1850765" y="2088117"/>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−3,4</a:t>
            </a:r>
            <a:endParaRPr lang="vi-VN" sz="650" dirty="0"/>
          </a:p>
        </p:txBody>
      </p:sp>
      <p:sp>
        <p:nvSpPr>
          <p:cNvPr id="38" name="Text 34"/>
          <p:cNvSpPr txBox="1"/>
          <p:nvPr/>
        </p:nvSpPr>
        <p:spPr>
          <a:xfrm>
            <a:off x="2204659" y="1898481"/>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8,4</a:t>
            </a:r>
            <a:endParaRPr lang="vi-VN" sz="650" dirty="0"/>
          </a:p>
        </p:txBody>
      </p:sp>
      <p:sp>
        <p:nvSpPr>
          <p:cNvPr id="39" name="Text 35"/>
          <p:cNvSpPr txBox="1"/>
          <p:nvPr/>
        </p:nvSpPr>
        <p:spPr>
          <a:xfrm>
            <a:off x="405408" y="25577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40" name="Text 36"/>
          <p:cNvSpPr txBox="1"/>
          <p:nvPr/>
        </p:nvSpPr>
        <p:spPr>
          <a:xfrm>
            <a:off x="405408" y="276301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6,5% năm 2029, đến 2030 vẫn thấp hơn WACC</a:t>
            </a:r>
            <a:endParaRPr lang="vi-VN" sz="720" dirty="0"/>
          </a:p>
        </p:txBody>
      </p:sp>
      <p:sp>
        <p:nvSpPr>
          <p:cNvPr id="41" name="Text 37"/>
          <p:cNvSpPr txBox="1"/>
          <p:nvPr/>
        </p:nvSpPr>
        <p:spPr>
          <a:xfrm>
            <a:off x="405408" y="30000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42" name="Chart 2" descr=""/>
          <p:cNvGraphicFramePr/>
          <p:nvPr/>
        </p:nvGraphicFramePr>
        <p:xfrm>
          <a:off x="405408" y="3115568"/>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txBox="1"/>
          <p:nvPr/>
        </p:nvSpPr>
        <p:spPr>
          <a:xfrm>
            <a:off x="734332" y="343738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a:t>
            </a:r>
            <a:endParaRPr lang="vi-VN" sz="650" dirty="0"/>
          </a:p>
        </p:txBody>
      </p:sp>
      <p:sp>
        <p:nvSpPr>
          <p:cNvPr id="44" name="Text 39"/>
          <p:cNvSpPr txBox="1"/>
          <p:nvPr/>
        </p:nvSpPr>
        <p:spPr>
          <a:xfrm>
            <a:off x="1004194" y="316804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5" name="Text 40"/>
          <p:cNvSpPr txBox="1"/>
          <p:nvPr/>
        </p:nvSpPr>
        <p:spPr>
          <a:xfrm>
            <a:off x="1274057" y="316087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6" name="Text 41"/>
          <p:cNvSpPr txBox="1"/>
          <p:nvPr/>
        </p:nvSpPr>
        <p:spPr>
          <a:xfrm>
            <a:off x="1565796" y="352342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9</a:t>
            </a:r>
            <a:endParaRPr lang="vi-VN" sz="650" dirty="0"/>
          </a:p>
        </p:txBody>
      </p:sp>
      <p:sp>
        <p:nvSpPr>
          <p:cNvPr id="47" name="Text 42"/>
          <p:cNvSpPr txBox="1"/>
          <p:nvPr/>
        </p:nvSpPr>
        <p:spPr>
          <a:xfrm>
            <a:off x="1835658" y="358556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48" name="Text 43"/>
          <p:cNvSpPr txBox="1"/>
          <p:nvPr/>
        </p:nvSpPr>
        <p:spPr>
          <a:xfrm>
            <a:off x="2083646" y="344694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49" name="Text 44"/>
          <p:cNvSpPr txBox="1"/>
          <p:nvPr/>
        </p:nvSpPr>
        <p:spPr>
          <a:xfrm>
            <a:off x="2335480" y="3317055"/>
            <a:ext cx="266446"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WACC</a:t>
            </a:r>
            <a:endParaRPr lang="vi-VN" sz="650" dirty="0"/>
          </a:p>
        </p:txBody>
      </p:sp>
      <p:sp>
        <p:nvSpPr>
          <p:cNvPr id="50" name="Text 45"/>
          <p:cNvSpPr txBox="1"/>
          <p:nvPr/>
        </p:nvSpPr>
        <p:spPr>
          <a:xfrm>
            <a:off x="2335480" y="3426783"/>
            <a:ext cx="266446"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ROIC</a:t>
            </a:r>
            <a:endParaRPr lang="vi-VN" sz="650" dirty="0"/>
          </a:p>
        </p:txBody>
      </p:sp>
      <p:sp>
        <p:nvSpPr>
          <p:cNvPr id="51" name="Text 46"/>
          <p:cNvSpPr txBox="1"/>
          <p:nvPr/>
        </p:nvSpPr>
        <p:spPr>
          <a:xfrm>
            <a:off x="405408" y="391879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52" name="Text 47"/>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1,8 tỷ đồng năm 2027, âm 52,3 tỷ đồng năm 2028 và âm 3,4 tỷ đồng năm 2029, rồi mới dương năm 2030 với 8,4 tỷ đồng (Fig. 45). Cộng cả giai đoạn 2026–2030, FCFF âm 53,9 tỷ đồng, đúng với lưu ý của đề bài rằng startup hiếm khi có dòng tiền tự do dương ở giai đoạn đầu.</a:t>
            </a:r>
            <a:endParaRPr lang="vi-VN" sz="850" dirty="0"/>
          </a:p>
        </p:txBody>
      </p:sp>
      <p:sp>
        <p:nvSpPr>
          <p:cNvPr id="53" name="Text 48"/>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54" name="Text 49"/>
          <p:cNvSpPr txBox="1"/>
          <p:nvPr/>
        </p:nvSpPr>
        <p:spPr>
          <a:xfrm>
            <a:off x="2745284" y="1291382"/>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100–105 ngày vì AgriPack phải tích trữ bã mía trong mùa ép, từ tháng 11 đến tháng 4 năm sau, và tăng lên 105 ngày năm 2029 để chuẩn bị nguyên liệu cho hai dây chuyền mới.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khoảng 19% doanh thu và giữ lại khoảng 26 tỷ đồng tiền mặt trong 5 năm.</a:t>
            </a:r>
            <a:endParaRPr lang="vi-VN" sz="850" dirty="0"/>
          </a:p>
        </p:txBody>
      </p:sp>
      <p:sp>
        <p:nvSpPr>
          <p:cNvPr id="55" name="Text 50"/>
          <p:cNvSpPr txBox="1"/>
          <p:nvPr/>
        </p:nvSpPr>
        <p:spPr>
          <a:xfrm>
            <a:off x="2745284" y="211842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40,5 tỷ đồng vốn cổ phần gọi đầu năm 2026 và 39,2 tỷ đồng vay trung hạn năm 2028, tương đương 60% CAPEX của nhà máy (Fig. 46; báo cáo tài chính dự phóng đầy đủ ở Fig. A06–A08). Số vốn cổ phần này cũng chính là số tiền nhà đầu tư cần bỏ ra trong VC Method (Mục 5.4); nhu cầu vốn được trình bày ở Mục 6. Tổng tài sản tăng từ 31,9 lên 147,6 tỷ đồng; dòng tiền từ hoạt động kinh doanh tăng từ 7,7 lên 23,4 tỷ đồng nhưng chỉ vượt CAPEX vào năm 2030. Nợ vay lên tới 43% vốn chủ sở hữu năm 2028 rồi giảm dần khi doanh nghiệp bắt đầu trả gốc từ năm 2030.</a:t>
            </a:r>
            <a:endParaRPr lang="vi-VN" sz="850" dirty="0"/>
          </a:p>
        </p:txBody>
      </p:sp>
      <p:sp>
        <p:nvSpPr>
          <p:cNvPr id="56" name="Text 51"/>
          <p:cNvSpPr txBox="1"/>
          <p:nvPr/>
        </p:nvSpPr>
        <p:spPr>
          <a:xfrm>
            <a:off x="2745284" y="3108147"/>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2028 tài trợ nhà máy; tiền mặt luôn dương</a:t>
            </a:r>
            <a:endParaRPr lang="vi-VN" sz="720" dirty="0"/>
          </a:p>
        </p:txBody>
      </p:sp>
      <p:sp>
        <p:nvSpPr>
          <p:cNvPr id="57" name="Text 52"/>
          <p:cNvSpPr txBox="1"/>
          <p:nvPr/>
        </p:nvSpPr>
        <p:spPr>
          <a:xfrm>
            <a:off x="2745284" y="323567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351163"/>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95,9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59" name="Text 53"/>
          <p:cNvSpPr txBox="1"/>
          <p:nvPr/>
        </p:nvSpPr>
        <p:spPr>
          <a:xfrm>
            <a:off x="2745284" y="547464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60" name="Text 54"/>
          <p:cNvSpPr txBox="1"/>
          <p:nvPr/>
        </p:nvSpPr>
        <p:spPr>
          <a:xfrm>
            <a:off x="2745284" y="5648771"/>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tăng lên 17,0% năm 2027 rồi giảm còn 6,5% năm 2029, vì nhà máy mới đã đưa vào sử dụng nhưng công suất chưa được khai thác hết: mỗi đồng nguyên giá tài sản cố định chỉ tạo ra 1,07 đồng doanh thu, so với 1,66 đồng năm 2025. Đến năm 2030, ROIC (12,3%) vẫn thấp hơn WACC 14,1% (Fig. 47). Nói cách khác, khoản đầu tư năm 2028 chưa bù được chi phí vốn trong giai đoạn dự phóng; giá trị của nó nằm ở giai đoạn tăng trưởng sau năm 2030.</a:t>
            </a:r>
            <a:endParaRPr lang="vi-VN" sz="850" dirty="0"/>
          </a:p>
        </p:txBody>
      </p:sp>
      <p:sp>
        <p:nvSpPr>
          <p:cNvPr id="61" name="Text 55"/>
          <p:cNvSpPr txBox="1"/>
          <p:nvPr/>
        </p:nvSpPr>
        <p:spPr>
          <a:xfrm>
            <a:off x="484608" y="655136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62" name="Text 56"/>
          <p:cNvSpPr txBox="1"/>
          <p:nvPr/>
        </p:nvSpPr>
        <p:spPr>
          <a:xfrm>
            <a:off x="405408" y="682289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1,50</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7074247"/>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(2028E)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 / 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64" name="Text 57"/>
          <p:cNvSpPr txBox="1"/>
          <p:nvPr/>
        </p:nvSpPr>
        <p:spPr>
          <a:xfrm>
            <a:off x="405408" y="896644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65" name="Text 58"/>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66" name="Text 59"/>
          <p:cNvSpPr txBox="1"/>
          <p:nvPr/>
        </p:nvSpPr>
        <p:spPr>
          <a:xfrm>
            <a:off x="2745284" y="69754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67" name="Text 60"/>
          <p:cNvSpPr txBox="1"/>
          <p:nvPr/>
        </p:nvSpPr>
        <p:spPr>
          <a:xfrm>
            <a:off x="2745284" y="79340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68" name="Text 61"/>
          <p:cNvSpPr txBox="1"/>
          <p:nvPr/>
        </p:nvSpPr>
        <p:spPr>
          <a:xfrm>
            <a:off x="2745284" y="849793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69" name="Text 62"/>
          <p:cNvSpPr txBox="1"/>
          <p:nvPr/>
        </p:nvSpPr>
        <p:spPr>
          <a:xfrm>
            <a:off x="2745284" y="8667304"/>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70" name="Text 63"/>
          <p:cNvSpPr txBox="1"/>
          <p:nvPr/>
        </p:nvSpPr>
        <p:spPr>
          <a:xfrm>
            <a:off x="2745284" y="936277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2028 – năm đầu tư lớn (nợ vay bằng 43% vốn chủ sở hữu), beta có đòn bẩy là 1,05. Vì nhà đầu tư mạo hiểm chỉ đa dạng hóa được một phần danh mục, beta này được chia cho hệ số tương quan 0,7 để ra beta tổng 1,50, từ đó chi phí vốn chủ sở hữu là 16,8%. Chi phí nợ trước thuế là 10%. Rủi ro thất bại của startup không được cộng thêm vào WACC mà được xử lý riêng trong VC Method, để không bị tính hai lần.</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2828181"/>
            <a:ext cx="4409182" cy="0"/>
          </a:xfrm>
          <a:prstGeom prst="line">
            <a:avLst/>
          </a:prstGeom>
          <a:noFill/>
          <a:ln w="9525">
            <a:solidFill>
              <a:srgbClr val="7B1E2B"/>
            </a:solidFill>
            <a:prstDash val="solid"/>
          </a:ln>
        </p:spPr>
      </p:sp>
      <p:sp>
        <p:nvSpPr>
          <p:cNvPr id="9" name="Shape 7"/>
          <p:cNvSpPr/>
          <p:nvPr/>
        </p:nvSpPr>
        <p:spPr>
          <a:xfrm>
            <a:off x="2745284" y="7447955"/>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gấp ba lần EV vì FCFF 2026–2029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423696" y="1214444"/>
            <a:ext cx="2123367" cy="0"/>
          </a:xfrm>
          <a:prstGeom prst="line">
            <a:avLst/>
          </a:prstGeom>
          <a:noFill/>
          <a:ln w="6350">
            <a:solidFill>
              <a:srgbClr val="8C8C8C"/>
            </a:solidFill>
            <a:prstDash val="solid"/>
          </a:ln>
        </p:spPr>
      </p:sp>
      <p:sp>
        <p:nvSpPr>
          <p:cNvPr id="17" name="Text 14"/>
          <p:cNvSpPr txBox="1"/>
          <p:nvPr/>
        </p:nvSpPr>
        <p:spPr>
          <a:xfrm>
            <a:off x="423696" y="1398589"/>
            <a:ext cx="353894"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−38,5</a:t>
            </a:r>
            <a:endParaRPr lang="vi-VN" sz="650" dirty="0"/>
          </a:p>
        </p:txBody>
      </p:sp>
      <p:sp>
        <p:nvSpPr>
          <p:cNvPr id="18" name="Text 15"/>
          <p:cNvSpPr txBox="1"/>
          <p:nvPr/>
        </p:nvSpPr>
        <p:spPr>
          <a:xfrm>
            <a:off x="423696"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FCFF 2026–30</a:t>
            </a:r>
            <a:endParaRPr lang="vi-VN" sz="650" dirty="0"/>
          </a:p>
        </p:txBody>
      </p:sp>
      <p:sp>
        <p:nvSpPr>
          <p:cNvPr id="19" name="Text 16"/>
          <p:cNvSpPr txBox="1"/>
          <p:nvPr/>
        </p:nvSpPr>
        <p:spPr>
          <a:xfrm>
            <a:off x="777590" y="990932"/>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+57,6</a:t>
            </a:r>
            <a:endParaRPr lang="vi-VN" sz="650" dirty="0"/>
          </a:p>
        </p:txBody>
      </p:sp>
      <p:sp>
        <p:nvSpPr>
          <p:cNvPr id="20" name="Text 17"/>
          <p:cNvSpPr txBox="1"/>
          <p:nvPr/>
        </p:nvSpPr>
        <p:spPr>
          <a:xfrm>
            <a:off x="777590"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giá trị cuối kỳ</a:t>
            </a:r>
            <a:endParaRPr lang="vi-VN" sz="650" dirty="0"/>
          </a:p>
        </p:txBody>
      </p:sp>
      <p:sp>
        <p:nvSpPr>
          <p:cNvPr id="21" name="Text 18"/>
          <p:cNvSpPr txBox="1"/>
          <p:nvPr/>
        </p:nvSpPr>
        <p:spPr>
          <a:xfrm>
            <a:off x="1131485" y="990932"/>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19,1</a:t>
            </a:r>
            <a:endParaRPr lang="vi-VN" sz="650" dirty="0"/>
          </a:p>
        </p:txBody>
      </p:sp>
      <p:sp>
        <p:nvSpPr>
          <p:cNvPr id="22" name="Text 19"/>
          <p:cNvSpPr txBox="1"/>
          <p:nvPr/>
        </p:nvSpPr>
        <p:spPr>
          <a:xfrm>
            <a:off x="1131485"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EV</a:t>
            </a:r>
            <a:endParaRPr lang="vi-VN" sz="650" dirty="0"/>
          </a:p>
        </p:txBody>
      </p:sp>
      <p:sp>
        <p:nvSpPr>
          <p:cNvPr id="23" name="Text 20"/>
          <p:cNvSpPr txBox="1"/>
          <p:nvPr/>
        </p:nvSpPr>
        <p:spPr>
          <a:xfrm>
            <a:off x="1485379"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+2,9</a:t>
            </a:r>
            <a:endParaRPr lang="vi-VN" sz="650" dirty="0"/>
          </a:p>
        </p:txBody>
      </p:sp>
      <p:sp>
        <p:nvSpPr>
          <p:cNvPr id="24" name="Text 21"/>
          <p:cNvSpPr txBox="1"/>
          <p:nvPr/>
        </p:nvSpPr>
        <p:spPr>
          <a:xfrm>
            <a:off x="1485379"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Tiền 2025</a:t>
            </a:r>
            <a:endParaRPr lang="vi-VN" sz="650" dirty="0"/>
          </a:p>
        </p:txBody>
      </p:sp>
      <p:sp>
        <p:nvSpPr>
          <p:cNvPr id="25" name="Text 22"/>
          <p:cNvSpPr txBox="1"/>
          <p:nvPr/>
        </p:nvSpPr>
        <p:spPr>
          <a:xfrm>
            <a:off x="1839274"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26" name="Text 23"/>
          <p:cNvSpPr txBox="1"/>
          <p:nvPr/>
        </p:nvSpPr>
        <p:spPr>
          <a:xfrm>
            <a:off x="1839274"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Nợ vay 2025</a:t>
            </a:r>
            <a:endParaRPr lang="vi-VN" sz="650" dirty="0"/>
          </a:p>
        </p:txBody>
      </p:sp>
      <p:sp>
        <p:nvSpPr>
          <p:cNvPr id="27" name="Text 24"/>
          <p:cNvSpPr txBox="1"/>
          <p:nvPr/>
        </p:nvSpPr>
        <p:spPr>
          <a:xfrm>
            <a:off x="2193168" y="985228"/>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20,4</a:t>
            </a:r>
            <a:endParaRPr lang="vi-VN" sz="650" dirty="0"/>
          </a:p>
        </p:txBody>
      </p:sp>
      <p:sp>
        <p:nvSpPr>
          <p:cNvPr id="28" name="Text 25"/>
          <p:cNvSpPr txBox="1"/>
          <p:nvPr/>
        </p:nvSpPr>
        <p:spPr>
          <a:xfrm>
            <a:off x="2193168"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29" name="Text 26"/>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30" name="Text 27"/>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21,7 tỷ đồng</a:t>
            </a:r>
            <a:endParaRPr lang="vi-VN" sz="720" dirty="0"/>
          </a:p>
        </p:txBody>
      </p:sp>
      <p:sp>
        <p:nvSpPr>
          <p:cNvPr id="31" name="Text 28"/>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9"/>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34" name="Text 30"/>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26,4% làm giá trị thoái vốn giảm còn khoảng một phần ba</a:t>
            </a:r>
            <a:endParaRPr lang="vi-VN" sz="720" dirty="0"/>
          </a:p>
        </p:txBody>
      </p:sp>
      <p:sp>
        <p:nvSpPr>
          <p:cNvPr id="35" name="Text 31"/>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6"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37" name="Shape 32"/>
          <p:cNvSpPr/>
          <p:nvPr/>
        </p:nvSpPr>
        <p:spPr>
          <a:xfrm>
            <a:off x="423696" y="4953524"/>
            <a:ext cx="2123367" cy="0"/>
          </a:xfrm>
          <a:prstGeom prst="line">
            <a:avLst/>
          </a:prstGeom>
          <a:noFill/>
          <a:ln w="6350">
            <a:solidFill>
              <a:srgbClr val="8C8C8C"/>
            </a:solidFill>
            <a:prstDash val="solid"/>
          </a:ln>
        </p:spPr>
      </p:sp>
      <p:sp>
        <p:nvSpPr>
          <p:cNvPr id="38" name="Text 33"/>
          <p:cNvSpPr txBox="1"/>
          <p:nvPr/>
        </p:nvSpPr>
        <p:spPr>
          <a:xfrm>
            <a:off x="423696" y="4431768"/>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200,6</a:t>
            </a:r>
            <a:endParaRPr lang="vi-VN" sz="650" dirty="0"/>
          </a:p>
        </p:txBody>
      </p:sp>
      <p:sp>
        <p:nvSpPr>
          <p:cNvPr id="39" name="Text 34"/>
          <p:cNvSpPr txBox="1"/>
          <p:nvPr/>
        </p:nvSpPr>
        <p:spPr>
          <a:xfrm>
            <a:off x="42369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Thoái vốn 2030</a:t>
            </a:r>
            <a:endParaRPr lang="vi-VN" sz="650" dirty="0"/>
          </a:p>
        </p:txBody>
      </p:sp>
      <p:sp>
        <p:nvSpPr>
          <p:cNvPr id="40" name="Text 35"/>
          <p:cNvSpPr txBox="1"/>
          <p:nvPr/>
        </p:nvSpPr>
        <p:spPr>
          <a:xfrm>
            <a:off x="848369" y="4431768"/>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−138,5</a:t>
            </a:r>
            <a:endParaRPr lang="vi-VN" sz="650" dirty="0"/>
          </a:p>
        </p:txBody>
      </p:sp>
      <p:sp>
        <p:nvSpPr>
          <p:cNvPr id="41" name="Text 36"/>
          <p:cNvSpPr txBox="1"/>
          <p:nvPr/>
        </p:nvSpPr>
        <p:spPr>
          <a:xfrm>
            <a:off x="84836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Chiết khấu p = 26,4%</a:t>
            </a:r>
            <a:endParaRPr lang="vi-VN" sz="650" dirty="0"/>
          </a:p>
        </p:txBody>
      </p:sp>
      <p:sp>
        <p:nvSpPr>
          <p:cNvPr id="42" name="Text 37"/>
          <p:cNvSpPr txBox="1"/>
          <p:nvPr/>
        </p:nvSpPr>
        <p:spPr>
          <a:xfrm>
            <a:off x="1273042" y="4694046"/>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62,2</a:t>
            </a:r>
            <a:endParaRPr lang="vi-VN" sz="650" dirty="0"/>
          </a:p>
        </p:txBody>
      </p:sp>
      <p:sp>
        <p:nvSpPr>
          <p:cNvPr id="43" name="Text 38"/>
          <p:cNvSpPr txBox="1"/>
          <p:nvPr/>
        </p:nvSpPr>
        <p:spPr>
          <a:xfrm>
            <a:off x="1273042"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Post-money</a:t>
            </a:r>
            <a:endParaRPr lang="vi-VN" sz="650" dirty="0"/>
          </a:p>
        </p:txBody>
      </p:sp>
      <p:sp>
        <p:nvSpPr>
          <p:cNvPr id="44" name="Text 39"/>
          <p:cNvSpPr txBox="1"/>
          <p:nvPr/>
        </p:nvSpPr>
        <p:spPr>
          <a:xfrm>
            <a:off x="1697716" y="4694046"/>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−40,5</a:t>
            </a:r>
            <a:endParaRPr lang="vi-VN" sz="650" dirty="0"/>
          </a:p>
        </p:txBody>
      </p:sp>
      <p:sp>
        <p:nvSpPr>
          <p:cNvPr id="45" name="Text 40"/>
          <p:cNvSpPr txBox="1"/>
          <p:nvPr/>
        </p:nvSpPr>
        <p:spPr>
          <a:xfrm>
            <a:off x="169771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Vốn cần huy động</a:t>
            </a:r>
            <a:endParaRPr lang="vi-VN" sz="650" dirty="0"/>
          </a:p>
        </p:txBody>
      </p:sp>
      <p:sp>
        <p:nvSpPr>
          <p:cNvPr id="46" name="Text 41"/>
          <p:cNvSpPr txBox="1"/>
          <p:nvPr/>
        </p:nvSpPr>
        <p:spPr>
          <a:xfrm>
            <a:off x="2122389" y="4770701"/>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21,7</a:t>
            </a:r>
            <a:endParaRPr lang="vi-VN" sz="650" dirty="0"/>
          </a:p>
        </p:txBody>
      </p:sp>
      <p:sp>
        <p:nvSpPr>
          <p:cNvPr id="47" name="Text 42"/>
          <p:cNvSpPr txBox="1"/>
          <p:nvPr/>
        </p:nvSpPr>
        <p:spPr>
          <a:xfrm>
            <a:off x="212238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48" name="Text 43"/>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49" name="Text 44"/>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50" name="Text 45"/>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51"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52" name="Shape 46"/>
          <p:cNvSpPr/>
          <p:nvPr/>
        </p:nvSpPr>
        <p:spPr>
          <a:xfrm>
            <a:off x="628102" y="6041255"/>
            <a:ext cx="0" cy="1349865"/>
          </a:xfrm>
          <a:prstGeom prst="line">
            <a:avLst/>
          </a:prstGeom>
          <a:noFill/>
          <a:ln w="6350">
            <a:solidFill>
              <a:srgbClr val="BFBFBF"/>
            </a:solidFill>
            <a:prstDash val="solid"/>
          </a:ln>
        </p:spPr>
      </p:sp>
      <p:sp>
        <p:nvSpPr>
          <p:cNvPr id="53" name="Shape 47"/>
          <p:cNvSpPr/>
          <p:nvPr/>
        </p:nvSpPr>
        <p:spPr>
          <a:xfrm>
            <a:off x="1177573" y="6041255"/>
            <a:ext cx="0" cy="1349865"/>
          </a:xfrm>
          <a:prstGeom prst="line">
            <a:avLst/>
          </a:prstGeom>
          <a:noFill/>
          <a:ln w="9525">
            <a:solidFill>
              <a:srgbClr val="7B1E2B"/>
            </a:solidFill>
            <a:prstDash val="dash"/>
          </a:ln>
        </p:spPr>
      </p:sp>
      <p:sp>
        <p:nvSpPr>
          <p:cNvPr id="54" name="Text 48"/>
          <p:cNvSpPr txBox="1"/>
          <p:nvPr/>
        </p:nvSpPr>
        <p:spPr>
          <a:xfrm>
            <a:off x="628933" y="5913239"/>
            <a:ext cx="1097280" cy="109728"/>
          </a:xfrm>
          <a:prstGeom prst="rect">
            <a:avLst/>
          </a:prstGeom>
          <a:noFill/>
          <a:ln/>
        </p:spPr>
        <p:txBody>
          <a:bodyPr wrap="none" lIns="0" tIns="0" rIns="0" bIns="0" rtlCol="0" anchor="ctr"/>
          <a:lstStyle/>
          <a:p>
            <a:pPr algn="ctr" indent="0" marL="0">
              <a:buNone/>
            </a:pPr>
            <a:r>
              <a:rPr lang="vi-VN" altLang="en-US" sz="550" dirty="0">
                <a:solidFill>
                  <a:srgbClr val="7B1E2B"/>
                </a:solidFill>
                <a:latin typeface="Calibri" pitchFamily="34" charset="0"/>
                <a:ea typeface="Calibri" pitchFamily="34" charset="-122"/>
                <a:cs typeface="Calibri" pitchFamily="34" charset="-120"/>
              </a:rPr>
              <a:t>Trung vị 4,63x</a:t>
            </a:r>
            <a:endParaRPr lang="vi-VN" sz="550" dirty="0"/>
          </a:p>
        </p:txBody>
      </p:sp>
      <p:sp>
        <p:nvSpPr>
          <p:cNvPr id="55" name="Text 49"/>
          <p:cNvSpPr txBox="1"/>
          <p:nvPr/>
        </p:nvSpPr>
        <p:spPr>
          <a:xfrm>
            <a:off x="405408" y="603460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HHP</a:t>
            </a:r>
            <a:endParaRPr lang="vi-VN" sz="650" dirty="0"/>
          </a:p>
        </p:txBody>
      </p:sp>
      <p:sp>
        <p:nvSpPr>
          <p:cNvPr id="56" name="Text 50"/>
          <p:cNvSpPr txBox="1"/>
          <p:nvPr/>
        </p:nvSpPr>
        <p:spPr>
          <a:xfrm>
            <a:off x="2278013" y="6043745"/>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13,7x</a:t>
            </a:r>
            <a:endParaRPr lang="vi-VN" sz="650" dirty="0"/>
          </a:p>
        </p:txBody>
      </p:sp>
      <p:sp>
        <p:nvSpPr>
          <p:cNvPr id="57" name="Text 51"/>
          <p:cNvSpPr txBox="1"/>
          <p:nvPr/>
        </p:nvSpPr>
        <p:spPr>
          <a:xfrm>
            <a:off x="405408" y="613101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ILS</a:t>
            </a:r>
            <a:endParaRPr lang="vi-VN" sz="650" dirty="0"/>
          </a:p>
        </p:txBody>
      </p:sp>
      <p:sp>
        <p:nvSpPr>
          <p:cNvPr id="58" name="Text 52"/>
          <p:cNvSpPr txBox="1"/>
          <p:nvPr/>
        </p:nvSpPr>
        <p:spPr>
          <a:xfrm>
            <a:off x="2232916" y="6140163"/>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13,3x</a:t>
            </a:r>
            <a:endParaRPr lang="vi-VN" sz="650" dirty="0"/>
          </a:p>
        </p:txBody>
      </p:sp>
      <p:sp>
        <p:nvSpPr>
          <p:cNvPr id="59" name="Text 53"/>
          <p:cNvSpPr txBox="1"/>
          <p:nvPr/>
        </p:nvSpPr>
        <p:spPr>
          <a:xfrm>
            <a:off x="405408" y="622743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TDP</a:t>
            </a:r>
            <a:endParaRPr lang="vi-VN" sz="650" dirty="0"/>
          </a:p>
        </p:txBody>
      </p:sp>
      <p:sp>
        <p:nvSpPr>
          <p:cNvPr id="60" name="Text 54"/>
          <p:cNvSpPr txBox="1"/>
          <p:nvPr/>
        </p:nvSpPr>
        <p:spPr>
          <a:xfrm>
            <a:off x="1716675" y="623658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9,0x</a:t>
            </a:r>
            <a:endParaRPr lang="vi-VN" sz="650" dirty="0"/>
          </a:p>
        </p:txBody>
      </p:sp>
      <p:sp>
        <p:nvSpPr>
          <p:cNvPr id="61" name="Text 55"/>
          <p:cNvSpPr txBox="1"/>
          <p:nvPr/>
        </p:nvSpPr>
        <p:spPr>
          <a:xfrm>
            <a:off x="405408" y="632385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DHC</a:t>
            </a:r>
            <a:endParaRPr lang="vi-VN" sz="650" dirty="0"/>
          </a:p>
        </p:txBody>
      </p:sp>
      <p:sp>
        <p:nvSpPr>
          <p:cNvPr id="62" name="Text 56"/>
          <p:cNvSpPr txBox="1"/>
          <p:nvPr/>
        </p:nvSpPr>
        <p:spPr>
          <a:xfrm>
            <a:off x="1404556" y="633300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6,3x</a:t>
            </a:r>
            <a:endParaRPr lang="vi-VN" sz="650" dirty="0"/>
          </a:p>
        </p:txBody>
      </p:sp>
      <p:sp>
        <p:nvSpPr>
          <p:cNvPr id="63" name="Text 57"/>
          <p:cNvSpPr txBox="1"/>
          <p:nvPr/>
        </p:nvSpPr>
        <p:spPr>
          <a:xfrm>
            <a:off x="405408" y="6420276"/>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BBS</a:t>
            </a:r>
            <a:endParaRPr lang="vi-VN" sz="650" dirty="0"/>
          </a:p>
        </p:txBody>
      </p:sp>
      <p:sp>
        <p:nvSpPr>
          <p:cNvPr id="64" name="Text 58"/>
          <p:cNvSpPr txBox="1"/>
          <p:nvPr/>
        </p:nvSpPr>
        <p:spPr>
          <a:xfrm>
            <a:off x="1303681" y="6429420"/>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5,5x</a:t>
            </a:r>
            <a:endParaRPr lang="vi-VN" sz="650" dirty="0"/>
          </a:p>
        </p:txBody>
      </p:sp>
      <p:sp>
        <p:nvSpPr>
          <p:cNvPr id="65" name="Text 59"/>
          <p:cNvSpPr txBox="1"/>
          <p:nvPr/>
        </p:nvSpPr>
        <p:spPr>
          <a:xfrm>
            <a:off x="405408" y="6516695"/>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PMP</a:t>
            </a:r>
            <a:endParaRPr lang="vi-VN" sz="650" dirty="0"/>
          </a:p>
        </p:txBody>
      </p:sp>
      <p:sp>
        <p:nvSpPr>
          <p:cNvPr id="66" name="Text 60"/>
          <p:cNvSpPr txBox="1"/>
          <p:nvPr/>
        </p:nvSpPr>
        <p:spPr>
          <a:xfrm>
            <a:off x="1291814" y="6525839"/>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5,4x</a:t>
            </a:r>
            <a:endParaRPr lang="vi-VN" sz="650" dirty="0"/>
          </a:p>
        </p:txBody>
      </p:sp>
      <p:sp>
        <p:nvSpPr>
          <p:cNvPr id="67" name="Text 61"/>
          <p:cNvSpPr txBox="1"/>
          <p:nvPr/>
        </p:nvSpPr>
        <p:spPr>
          <a:xfrm>
            <a:off x="405408" y="6613114"/>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APH</a:t>
            </a:r>
            <a:endParaRPr lang="vi-VN" sz="650" dirty="0"/>
          </a:p>
        </p:txBody>
      </p:sp>
      <p:sp>
        <p:nvSpPr>
          <p:cNvPr id="68" name="Text 62"/>
          <p:cNvSpPr txBox="1"/>
          <p:nvPr/>
        </p:nvSpPr>
        <p:spPr>
          <a:xfrm>
            <a:off x="1250277" y="6622258"/>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5,0x</a:t>
            </a:r>
            <a:endParaRPr lang="vi-VN" sz="650" dirty="0"/>
          </a:p>
        </p:txBody>
      </p:sp>
      <p:sp>
        <p:nvSpPr>
          <p:cNvPr id="69" name="Text 63"/>
          <p:cNvSpPr txBox="1"/>
          <p:nvPr/>
        </p:nvSpPr>
        <p:spPr>
          <a:xfrm>
            <a:off x="405408" y="6709533"/>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TPC</a:t>
            </a:r>
            <a:endParaRPr lang="vi-VN" sz="650" dirty="0"/>
          </a:p>
        </p:txBody>
      </p:sp>
      <p:sp>
        <p:nvSpPr>
          <p:cNvPr id="70" name="Text 64"/>
          <p:cNvSpPr txBox="1"/>
          <p:nvPr/>
        </p:nvSpPr>
        <p:spPr>
          <a:xfrm>
            <a:off x="1150589" y="6718677"/>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1" name="Text 65"/>
          <p:cNvSpPr txBox="1"/>
          <p:nvPr/>
        </p:nvSpPr>
        <p:spPr>
          <a:xfrm>
            <a:off x="405408" y="6805952"/>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VBC</a:t>
            </a:r>
            <a:endParaRPr lang="vi-VN" sz="650" dirty="0"/>
          </a:p>
        </p:txBody>
      </p:sp>
      <p:sp>
        <p:nvSpPr>
          <p:cNvPr id="72" name="Text 66"/>
          <p:cNvSpPr txBox="1"/>
          <p:nvPr/>
        </p:nvSpPr>
        <p:spPr>
          <a:xfrm>
            <a:off x="1145842" y="6815096"/>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3" name="Text 67"/>
          <p:cNvSpPr txBox="1"/>
          <p:nvPr/>
        </p:nvSpPr>
        <p:spPr>
          <a:xfrm>
            <a:off x="405408" y="690237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AAA</a:t>
            </a:r>
            <a:endParaRPr lang="vi-VN" sz="650" dirty="0"/>
          </a:p>
        </p:txBody>
      </p:sp>
      <p:sp>
        <p:nvSpPr>
          <p:cNvPr id="74" name="Text 68"/>
          <p:cNvSpPr txBox="1"/>
          <p:nvPr/>
        </p:nvSpPr>
        <p:spPr>
          <a:xfrm>
            <a:off x="1107866" y="6911515"/>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3,9x</a:t>
            </a:r>
            <a:endParaRPr lang="vi-VN" sz="650" dirty="0"/>
          </a:p>
        </p:txBody>
      </p:sp>
      <p:sp>
        <p:nvSpPr>
          <p:cNvPr id="75" name="Text 69"/>
          <p:cNvSpPr txBox="1"/>
          <p:nvPr/>
        </p:nvSpPr>
        <p:spPr>
          <a:xfrm>
            <a:off x="405408" y="6998790"/>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TPP</a:t>
            </a:r>
            <a:endParaRPr lang="vi-VN" sz="650" dirty="0"/>
          </a:p>
        </p:txBody>
      </p:sp>
      <p:sp>
        <p:nvSpPr>
          <p:cNvPr id="76" name="Text 70"/>
          <p:cNvSpPr txBox="1"/>
          <p:nvPr/>
        </p:nvSpPr>
        <p:spPr>
          <a:xfrm>
            <a:off x="1040220" y="7007934"/>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3,3x</a:t>
            </a:r>
            <a:endParaRPr lang="vi-VN" sz="650" dirty="0"/>
          </a:p>
        </p:txBody>
      </p:sp>
      <p:sp>
        <p:nvSpPr>
          <p:cNvPr id="77" name="Text 71"/>
          <p:cNvSpPr txBox="1"/>
          <p:nvPr/>
        </p:nvSpPr>
        <p:spPr>
          <a:xfrm>
            <a:off x="405408" y="709520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STP</a:t>
            </a:r>
            <a:endParaRPr lang="vi-VN" sz="650" dirty="0"/>
          </a:p>
        </p:txBody>
      </p:sp>
      <p:sp>
        <p:nvSpPr>
          <p:cNvPr id="78" name="Text 72"/>
          <p:cNvSpPr txBox="1"/>
          <p:nvPr/>
        </p:nvSpPr>
        <p:spPr>
          <a:xfrm>
            <a:off x="1002244" y="7104353"/>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3,0x</a:t>
            </a:r>
            <a:endParaRPr lang="vi-VN" sz="650" dirty="0"/>
          </a:p>
        </p:txBody>
      </p:sp>
      <p:sp>
        <p:nvSpPr>
          <p:cNvPr id="79" name="Text 73"/>
          <p:cNvSpPr txBox="1"/>
          <p:nvPr/>
        </p:nvSpPr>
        <p:spPr>
          <a:xfrm>
            <a:off x="405408" y="719162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INN</a:t>
            </a:r>
            <a:endParaRPr lang="vi-VN" sz="650" dirty="0"/>
          </a:p>
        </p:txBody>
      </p:sp>
      <p:sp>
        <p:nvSpPr>
          <p:cNvPr id="80" name="Text 74"/>
          <p:cNvSpPr txBox="1"/>
          <p:nvPr/>
        </p:nvSpPr>
        <p:spPr>
          <a:xfrm>
            <a:off x="966641" y="720077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2,7x</a:t>
            </a:r>
            <a:endParaRPr lang="vi-VN" sz="650" dirty="0"/>
          </a:p>
        </p:txBody>
      </p:sp>
      <p:sp>
        <p:nvSpPr>
          <p:cNvPr id="81" name="Text 75"/>
          <p:cNvSpPr txBox="1"/>
          <p:nvPr/>
        </p:nvSpPr>
        <p:spPr>
          <a:xfrm>
            <a:off x="405408" y="728804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PBP</a:t>
            </a:r>
            <a:endParaRPr lang="vi-VN" sz="650" dirty="0"/>
          </a:p>
        </p:txBody>
      </p:sp>
      <p:sp>
        <p:nvSpPr>
          <p:cNvPr id="82" name="Text 76"/>
          <p:cNvSpPr txBox="1"/>
          <p:nvPr/>
        </p:nvSpPr>
        <p:spPr>
          <a:xfrm>
            <a:off x="895435" y="729719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2,1x</a:t>
            </a:r>
            <a:endParaRPr lang="vi-VN" sz="650" dirty="0"/>
          </a:p>
        </p:txBody>
      </p:sp>
      <p:sp>
        <p:nvSpPr>
          <p:cNvPr id="83" name="Text 77"/>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84" name="Text 78"/>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Các phương pháp nằm trong khoảng 18–28 tỷ khi cùng tính rủi ro thất bại</a:t>
            </a:r>
            <a:endParaRPr lang="vi-VN" sz="720" dirty="0"/>
          </a:p>
        </p:txBody>
      </p:sp>
      <p:sp>
        <p:nvSpPr>
          <p:cNvPr id="85" name="Text 79"/>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86"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87" name="Shape 80"/>
          <p:cNvSpPr/>
          <p:nvPr/>
        </p:nvSpPr>
        <p:spPr>
          <a:xfrm>
            <a:off x="1503132" y="8094744"/>
            <a:ext cx="0" cy="778258"/>
          </a:xfrm>
          <a:prstGeom prst="line">
            <a:avLst/>
          </a:prstGeom>
          <a:noFill/>
          <a:ln w="6350">
            <a:solidFill>
              <a:srgbClr val="BFBFBF"/>
            </a:solidFill>
            <a:prstDash val="solid"/>
          </a:ln>
        </p:spPr>
      </p:sp>
      <p:sp>
        <p:nvSpPr>
          <p:cNvPr id="88" name="Text 81"/>
          <p:cNvSpPr txBox="1"/>
          <p:nvPr/>
        </p:nvSpPr>
        <p:spPr>
          <a:xfrm>
            <a:off x="405408" y="8095470"/>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a:t>
            </a:r>
            <a:endParaRPr lang="vi-VN" sz="650" dirty="0"/>
          </a:p>
        </p:txBody>
      </p:sp>
      <p:sp>
        <p:nvSpPr>
          <p:cNvPr id="89" name="Text 82"/>
          <p:cNvSpPr txBox="1"/>
          <p:nvPr/>
        </p:nvSpPr>
        <p:spPr>
          <a:xfrm>
            <a:off x="2265327" y="8095470"/>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27,7</a:t>
            </a:r>
            <a:endParaRPr lang="vi-VN" sz="650" dirty="0"/>
          </a:p>
        </p:txBody>
      </p:sp>
      <p:sp>
        <p:nvSpPr>
          <p:cNvPr id="90" name="Text 83"/>
          <p:cNvSpPr txBox="1"/>
          <p:nvPr/>
        </p:nvSpPr>
        <p:spPr>
          <a:xfrm>
            <a:off x="405408" y="820664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a:t>
            </a:r>
            <a:endParaRPr lang="vi-VN" sz="650" dirty="0"/>
          </a:p>
        </p:txBody>
      </p:sp>
      <p:sp>
        <p:nvSpPr>
          <p:cNvPr id="91" name="Text 84"/>
          <p:cNvSpPr txBox="1"/>
          <p:nvPr/>
        </p:nvSpPr>
        <p:spPr>
          <a:xfrm>
            <a:off x="2106173" y="820664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21,7</a:t>
            </a:r>
            <a:endParaRPr lang="vi-VN" sz="650" dirty="0"/>
          </a:p>
        </p:txBody>
      </p:sp>
      <p:sp>
        <p:nvSpPr>
          <p:cNvPr id="92" name="Text 85"/>
          <p:cNvSpPr txBox="1"/>
          <p:nvPr/>
        </p:nvSpPr>
        <p:spPr>
          <a:xfrm>
            <a:off x="405408" y="831782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a:t>
            </a:r>
            <a:endParaRPr lang="vi-VN" sz="650" dirty="0"/>
          </a:p>
        </p:txBody>
      </p:sp>
      <p:sp>
        <p:nvSpPr>
          <p:cNvPr id="93" name="Text 86"/>
          <p:cNvSpPr txBox="1"/>
          <p:nvPr/>
        </p:nvSpPr>
        <p:spPr>
          <a:xfrm>
            <a:off x="2071689" y="831782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20,4</a:t>
            </a:r>
            <a:endParaRPr lang="vi-VN" sz="650" dirty="0"/>
          </a:p>
        </p:txBody>
      </p:sp>
      <p:sp>
        <p:nvSpPr>
          <p:cNvPr id="94" name="Text 87"/>
          <p:cNvSpPr txBox="1"/>
          <p:nvPr/>
        </p:nvSpPr>
        <p:spPr>
          <a:xfrm>
            <a:off x="405408" y="8429009"/>
            <a:ext cx="1052005"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a:t>
            </a:r>
            <a:endParaRPr lang="vi-VN" sz="650" dirty="0"/>
          </a:p>
        </p:txBody>
      </p:sp>
      <p:sp>
        <p:nvSpPr>
          <p:cNvPr id="95" name="Text 88"/>
          <p:cNvSpPr txBox="1"/>
          <p:nvPr/>
        </p:nvSpPr>
        <p:spPr>
          <a:xfrm>
            <a:off x="2124741" y="842900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22,4</a:t>
            </a:r>
            <a:endParaRPr lang="vi-VN" sz="650" dirty="0"/>
          </a:p>
        </p:txBody>
      </p:sp>
      <p:sp>
        <p:nvSpPr>
          <p:cNvPr id="96" name="Text 89"/>
          <p:cNvSpPr txBox="1"/>
          <p:nvPr/>
        </p:nvSpPr>
        <p:spPr>
          <a:xfrm>
            <a:off x="405408" y="854018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 xác suất sống sót</a:t>
            </a:r>
            <a:endParaRPr lang="vi-VN" sz="650" dirty="0"/>
          </a:p>
        </p:txBody>
      </p:sp>
      <p:sp>
        <p:nvSpPr>
          <p:cNvPr id="97" name="Text 90"/>
          <p:cNvSpPr txBox="1"/>
          <p:nvPr/>
        </p:nvSpPr>
        <p:spPr>
          <a:xfrm>
            <a:off x="2013333" y="854018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18,2</a:t>
            </a:r>
            <a:endParaRPr lang="vi-VN" sz="650" dirty="0"/>
          </a:p>
        </p:txBody>
      </p:sp>
      <p:sp>
        <p:nvSpPr>
          <p:cNvPr id="98" name="Text 91"/>
          <p:cNvSpPr txBox="1"/>
          <p:nvPr/>
        </p:nvSpPr>
        <p:spPr>
          <a:xfrm>
            <a:off x="405408" y="865136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VCSH sổ sách 2025</a:t>
            </a:r>
            <a:endParaRPr lang="vi-VN" sz="650" dirty="0"/>
          </a:p>
        </p:txBody>
      </p:sp>
      <p:sp>
        <p:nvSpPr>
          <p:cNvPr id="99" name="Text 92"/>
          <p:cNvSpPr txBox="1"/>
          <p:nvPr/>
        </p:nvSpPr>
        <p:spPr>
          <a:xfrm>
            <a:off x="2326336" y="865136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30,0</a:t>
            </a:r>
            <a:endParaRPr lang="vi-VN" sz="650" dirty="0"/>
          </a:p>
        </p:txBody>
      </p:sp>
      <p:sp>
        <p:nvSpPr>
          <p:cNvPr id="100" name="Text 93"/>
          <p:cNvSpPr txBox="1"/>
          <p:nvPr/>
        </p:nvSpPr>
        <p:spPr>
          <a:xfrm>
            <a:off x="405408" y="876254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trị thanh lý</a:t>
            </a:r>
            <a:endParaRPr lang="vi-VN" sz="650" dirty="0"/>
          </a:p>
        </p:txBody>
      </p:sp>
      <p:sp>
        <p:nvSpPr>
          <p:cNvPr id="101" name="Text 94"/>
          <p:cNvSpPr txBox="1"/>
          <p:nvPr/>
        </p:nvSpPr>
        <p:spPr>
          <a:xfrm>
            <a:off x="1928450" y="876254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102" name="Text 9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103" name="Text 9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104" name="Text 97"/>
          <p:cNvSpPr txBox="1"/>
          <p:nvPr/>
        </p:nvSpPr>
        <p:spPr>
          <a:xfrm>
            <a:off x="2745284" y="74175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20,4 tỷ đồng (Fig. 49, Fig. 50). Hiện giá của FCFF 2026–2030 âm 38,5 tỷ đồng do khoản đầu tư nhà máy năm 2028, nên toàn bộ giá trị đến từ giá trị cuối kỳ: 111,5 tỷ đồng tại năm 2030, tương đương 57,6 tỷ đồng hiện giá, gấp khoảng ba lần giá trị doanh nghiệp (302% EV).</a:t>
            </a:r>
            <a:endParaRPr lang="vi-VN" sz="850" dirty="0"/>
          </a:p>
        </p:txBody>
      </p:sp>
      <p:sp>
        <p:nvSpPr>
          <p:cNvPr id="105" name="Text 98"/>
          <p:cNvSpPr txBox="1"/>
          <p:nvPr/>
        </p:nvSpPr>
        <p:spPr>
          <a:xfrm>
            <a:off x="2745284" y="130566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(12,3%). Nếu lấy thẳng FCFF năm 2030 nhân (1 + g), mô hình sẽ vĩnh viễn hóa mức CAPEX của giai đoạn tăng 20% mỗi năm trong khi chỉ ghi nhận tăng trưởng 5%, và giá trị cuối kỳ sẽ thấp hơn khoảng 13%.</a:t>
            </a:r>
            <a:endParaRPr lang="vi-VN" sz="850" dirty="0"/>
          </a:p>
        </p:txBody>
      </p:sp>
      <p:sp>
        <p:nvSpPr>
          <p:cNvPr id="106" name="Text 99"/>
          <p:cNvSpPr txBox="1"/>
          <p:nvPr/>
        </p:nvSpPr>
        <p:spPr>
          <a:xfrm>
            <a:off x="2745284" y="213270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(12,3%) thấp hơn WACC, tăng trưởng sau năm 2030 làm giảm nhẹ giá trị thay vì tạo thêm; đây là một giả định thận trọng. Khi WACC và g cùng thay đổi 1 điểm %, giá trị DCF nằm trong khoảng 11,7–29,7 tỷ đồng (Fig. A14). Kết quả tương đương EV/EBITDA năm 2025 khoảng 2,5 lần, thấp hơn trung vị 4,6 lần của ngành: DCF không trả thêm cho tăng trưởng, vì khoản đầu tư năm 2028 chưa bù được chi phí vốn trong kỳ dự phóng.</a:t>
            </a:r>
            <a:endParaRPr lang="vi-VN" sz="850" dirty="0"/>
          </a:p>
        </p:txBody>
      </p:sp>
      <p:sp>
        <p:nvSpPr>
          <p:cNvPr id="107" name="Text 100"/>
          <p:cNvSpPr txBox="1"/>
          <p:nvPr/>
        </p:nvSpPr>
        <p:spPr>
          <a:xfrm>
            <a:off x="2745284" y="2859306"/>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108" name="Text 101"/>
          <p:cNvSpPr txBox="1"/>
          <p:nvPr/>
        </p:nvSpPr>
        <p:spPr>
          <a:xfrm>
            <a:off x="2745284" y="298683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102322"/>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0" name="Text 102"/>
          <p:cNvSpPr txBox="1"/>
          <p:nvPr/>
        </p:nvSpPr>
        <p:spPr>
          <a:xfrm>
            <a:off x="2745284" y="4190851"/>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vi-VN" sz="600" dirty="0"/>
          </a:p>
        </p:txBody>
      </p:sp>
      <p:sp>
        <p:nvSpPr>
          <p:cNvPr id="111" name="Text 103"/>
          <p:cNvSpPr txBox="1"/>
          <p:nvPr/>
        </p:nvSpPr>
        <p:spPr>
          <a:xfrm>
            <a:off x="2745284" y="436498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112" name="Text 104"/>
          <p:cNvSpPr txBox="1"/>
          <p:nvPr/>
        </p:nvSpPr>
        <p:spPr>
          <a:xfrm>
            <a:off x="2745284" y="453434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21,7 tỷ đồng (Fig. 51, Fig. 52). Nhóm ước tính giá trị doanh nghiệp khi nhà đầu tư thoái vốn cuối năm 2030 bằng hai cách rồi lấy bình quân: nhân lợi nhuận sau thuế năm 2030 với P/E 9,4 lần được 125,7 tỷ đồng; nhân EBITDA năm 2030 với EV/EBITDA 8,0 lần, rồi cộng tiền mặt và trừ nợ vay, được 275,5 tỷ đồng. Hai bội số này là mức bình quân năm 2026 của ngành Containers &amp; Packaging theo FiinX. Giá trị thoái vốn dùng để định giá là 200,6 tỷ đồng.</a:t>
            </a:r>
            <a:endParaRPr lang="vi-VN" sz="850" dirty="0"/>
          </a:p>
        </p:txBody>
      </p:sp>
      <p:sp>
        <p:nvSpPr>
          <p:cNvPr id="113" name="Text 105"/>
          <p:cNvSpPr txBox="1"/>
          <p:nvPr/>
        </p:nvSpPr>
        <p:spPr>
          <a:xfrm>
            <a:off x="2745284" y="5229820"/>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5 năm. Kết quả p = 26,4%; phần cao hơn WACC chính là khoản bù cho rủi ro thất bại. Chiết khấu giá trị thoái vốn về hiện tại với tỷ suất này cho post-money 62,2 tỷ đồng; trừ đi 40,5 tỷ đồng vốn cổ phần cần huy động, pre-money còn 21,7 tỷ đồng, và nhà đầu tư mới sẽ nắm khoảng 65% cổ phần.</a:t>
            </a:r>
            <a:endParaRPr lang="vi-VN" sz="850" dirty="0"/>
          </a:p>
        </p:txBody>
      </p:sp>
      <p:sp>
        <p:nvSpPr>
          <p:cNvPr id="114" name="Text 106"/>
          <p:cNvSpPr txBox="1"/>
          <p:nvPr/>
        </p:nvSpPr>
        <p:spPr>
          <a:xfrm>
            <a:off x="2745284" y="6056858"/>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115" name="Text 107"/>
          <p:cNvSpPr txBox="1"/>
          <p:nvPr/>
        </p:nvSpPr>
        <p:spPr>
          <a:xfrm>
            <a:off x="2745284" y="622622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vi-VN" sz="850" dirty="0"/>
          </a:p>
        </p:txBody>
      </p:sp>
      <p:sp>
        <p:nvSpPr>
          <p:cNvPr id="116" name="Text 108"/>
          <p:cNvSpPr txBox="1"/>
          <p:nvPr/>
        </p:nvSpPr>
        <p:spPr>
          <a:xfrm>
            <a:off x="2745284" y="747908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vi-VN" sz="720" dirty="0"/>
          </a:p>
        </p:txBody>
      </p:sp>
      <p:sp>
        <p:nvSpPr>
          <p:cNvPr id="117" name="Text 109"/>
          <p:cNvSpPr txBox="1"/>
          <p:nvPr/>
        </p:nvSpPr>
        <p:spPr>
          <a:xfrm>
            <a:off x="2745284" y="7606605"/>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7722096"/>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9" name="Text 110"/>
          <p:cNvSpPr txBox="1"/>
          <p:nvPr/>
        </p:nvSpPr>
        <p:spPr>
          <a:xfrm>
            <a:off x="2745284" y="8542734"/>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120" name="Text 111"/>
          <p:cNvSpPr txBox="1"/>
          <p:nvPr/>
        </p:nvSpPr>
        <p:spPr>
          <a:xfrm>
            <a:off x="2745284" y="87168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121" name="Text 112"/>
          <p:cNvSpPr txBox="1"/>
          <p:nvPr/>
        </p:nvSpPr>
        <p:spPr>
          <a:xfrm>
            <a:off x="2745284" y="8886230"/>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20,4 đến 27,7 tỷ đồng. Tính bình quân gia quyền, pre-money của AgriPack là 22,4 tỷ đồng, nằm trong khoảng 11,4–35,5 tỷ đồng (Fig. 55).</a:t>
            </a:r>
            <a:endParaRPr lang="vi-VN" sz="850" dirty="0"/>
          </a:p>
        </p:txBody>
      </p:sp>
      <p:sp>
        <p:nvSpPr>
          <p:cNvPr id="122" name="Text 11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23" name="Text 11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973639"/>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3001566"/>
            <a:ext cx="4409182" cy="0"/>
          </a:xfrm>
          <a:prstGeom prst="line">
            <a:avLst/>
          </a:prstGeom>
          <a:noFill/>
          <a:ln w="9525">
            <a:solidFill>
              <a:srgbClr val="7B1E2B"/>
            </a:solidFill>
            <a:prstDash val="solid"/>
          </a:ln>
        </p:spPr>
      </p:sp>
      <p:sp>
        <p:nvSpPr>
          <p:cNvPr id="5" name="Shape 3"/>
          <p:cNvSpPr/>
          <p:nvPr/>
        </p:nvSpPr>
        <p:spPr>
          <a:xfrm>
            <a:off x="405408" y="5306020"/>
            <a:ext cx="6749058" cy="0"/>
          </a:xfrm>
          <a:prstGeom prst="line">
            <a:avLst/>
          </a:prstGeom>
          <a:noFill/>
          <a:ln w="9525">
            <a:solidFill>
              <a:srgbClr val="7B1E2B"/>
            </a:solidFill>
            <a:prstDash val="solid"/>
          </a:ln>
        </p:spPr>
      </p:sp>
      <p:sp>
        <p:nvSpPr>
          <p:cNvPr id="6" name="Shape 4"/>
          <p:cNvSpPr/>
          <p:nvPr/>
        </p:nvSpPr>
        <p:spPr>
          <a:xfrm>
            <a:off x="405408" y="7246441"/>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2745284" y="558105"/>
            <a:ext cx="4464046" cy="1315641"/>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thấp hơn VC Method và 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giả định doanh nghiệp chắc chắn hoạt động như dự phóng, nhưng định giá doanh nghiệp năm 2030 bằng dòng tiền sau năm 2030 (giá trị cuối kỳ 111,5 tỷ đồng) với đúng ROIC của AgriPack năm 2030 (12,3%), thấp hơn WACC. VC Method thì dùng bội số ngành cho giá trị thoái vốn 200,6 tỷ đồng; các bội số này ngầm định doanh nghiệp sinh lời cao hơn chi phí vốn, nên VC Method (21,7 tỷ) vẫn cao hơn DCF dù đã tính 40% khả năng thất bại. Riêng cách tính theo EV/EBITDA cho tới 275 tỷ đồng, vì biên EBITDA năm 2030 (20,7%) cao hơn nhiều biên EBIT (11,4%) khi khấu hao lớn. Khi nhân giá trị DCF với xác suất sống sót 60% và cộng 40% khả năng thanh lý (giá trị thanh lý 15,0 tỷ đồng, bằng một nửa vốn chủ sở hữu sổ sách), giá trị còn 18,2 tỷ đồng. Multiples cho giá trị cao nhất (27,7 tỷ) vì chỉ định giá quy mô hoạt động năm 2025, chưa phải gánh khoản đầu tư 65 tỷ đồng năm 2028.</a:t>
            </a:r>
            <a:endParaRPr lang="vi-VN" sz="850" dirty="0"/>
          </a:p>
        </p:txBody>
      </p:sp>
      <p:sp>
        <p:nvSpPr>
          <p:cNvPr id="11" name="Text 9"/>
          <p:cNvSpPr txBox="1"/>
          <p:nvPr/>
        </p:nvSpPr>
        <p:spPr>
          <a:xfrm>
            <a:off x="2745284" y="1911400"/>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22,4 tỷ đồng chỉ bằng khoảng 0,75 lần vốn chủ sở hữu sổ sách, tương đương P/E năm 2025 khoảng 6,3 lần và EV/EBITDA khoảng 2,7 lần. Nói cách khác, nhà đầu tư chưa trả thêm cho tăng trưởng, vì để tăng trưởng doanh nghiệp cần thêm gần 80 tỷ đồng vốn bên ngoài và ROIC giai đoạn 2028–2030 thấp hơn WACC. Kết quả nhạy nhất với sản lượng: trong kịch bản xấu, khi sản lượng chỉ bằng 70% kịch bản cơ sở, giá trị vốn chủ sở hữu âm; kịch bản tốt cho 68,6 tỷ đồng; còn nếu chỉ huy động vốn cổ phần mà không vay, nhu cầu vốn cổ phần tăng lên 73,6 tỷ đồng và pre-money bình quân còn 15,4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3032691"/>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15,4 tỷ</a:t>
            </a:r>
            <a:endParaRPr lang="vi-VN" sz="720" dirty="0"/>
          </a:p>
        </p:txBody>
      </p:sp>
      <p:sp>
        <p:nvSpPr>
          <p:cNvPr id="13" name="Text 11"/>
          <p:cNvSpPr txBox="1"/>
          <p:nvPr/>
        </p:nvSpPr>
        <p:spPr>
          <a:xfrm>
            <a:off x="2745284" y="316021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275707"/>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2028</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227,4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997351"/>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33714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478959"/>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302% EV vì FCFF 2026–2029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81037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700603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27756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36,8 tỷ; cộng 10% dự phòng thành 40,5 tỷ</a:t>
            </a:r>
            <a:endParaRPr lang="vi-VN" sz="720" dirty="0"/>
          </a:p>
        </p:txBody>
      </p:sp>
      <p:sp>
        <p:nvSpPr>
          <p:cNvPr id="21" name="Text 17"/>
          <p:cNvSpPr txBox="1"/>
          <p:nvPr/>
        </p:nvSpPr>
        <p:spPr>
          <a:xfrm>
            <a:off x="405408" y="75146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2028</a:t>
            </a:r>
            <a:endParaRPr lang="vi-VN" sz="630" dirty="0"/>
          </a:p>
        </p:txBody>
      </p:sp>
      <p:graphicFrame>
        <p:nvGraphicFramePr>
          <p:cNvPr id="22" name="Chart 0" descr=""/>
          <p:cNvGraphicFramePr/>
          <p:nvPr/>
        </p:nvGraphicFramePr>
        <p:xfrm>
          <a:off x="405408" y="7630120"/>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48458" y="794003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24" name="Text 19"/>
          <p:cNvSpPr txBox="1"/>
          <p:nvPr/>
        </p:nvSpPr>
        <p:spPr>
          <a:xfrm>
            <a:off x="873131" y="7915784"/>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5" name="Text 20"/>
          <p:cNvSpPr txBox="1"/>
          <p:nvPr/>
        </p:nvSpPr>
        <p:spPr>
          <a:xfrm>
            <a:off x="1297805" y="77836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23,9</a:t>
            </a:r>
            <a:endParaRPr lang="vi-VN" sz="650" dirty="0"/>
          </a:p>
        </p:txBody>
      </p:sp>
      <p:sp>
        <p:nvSpPr>
          <p:cNvPr id="26" name="Text 21"/>
          <p:cNvSpPr txBox="1"/>
          <p:nvPr/>
        </p:nvSpPr>
        <p:spPr>
          <a:xfrm>
            <a:off x="1722478" y="77117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32,5</a:t>
            </a:r>
            <a:endParaRPr lang="vi-VN" sz="650" dirty="0"/>
          </a:p>
        </p:txBody>
      </p:sp>
      <p:sp>
        <p:nvSpPr>
          <p:cNvPr id="27" name="Text 22"/>
          <p:cNvSpPr txBox="1"/>
          <p:nvPr/>
        </p:nvSpPr>
        <p:spPr>
          <a:xfrm>
            <a:off x="2147151" y="767584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36,8</a:t>
            </a:r>
            <a:endParaRPr lang="vi-VN" sz="650" dirty="0"/>
          </a:p>
        </p:txBody>
      </p:sp>
      <p:sp>
        <p:nvSpPr>
          <p:cNvPr id="28" name="Text 23"/>
          <p:cNvSpPr txBox="1"/>
          <p:nvPr/>
        </p:nvSpPr>
        <p:spPr>
          <a:xfrm>
            <a:off x="405408" y="833511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9" name="Text 24"/>
          <p:cNvSpPr txBox="1"/>
          <p:nvPr/>
        </p:nvSpPr>
        <p:spPr>
          <a:xfrm>
            <a:off x="2745284" y="72607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30" name="Text 25"/>
          <p:cNvSpPr txBox="1"/>
          <p:nvPr/>
        </p:nvSpPr>
        <p:spPr>
          <a:xfrm>
            <a:off x="2745284" y="743009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2028 với nhu cầu huy động vốn là 40,46 tỷ đồng.</a:t>
            </a:r>
            <a:endParaRPr lang="vi-VN" sz="850" dirty="0"/>
          </a:p>
        </p:txBody>
      </p:sp>
      <p:sp>
        <p:nvSpPr>
          <p:cNvPr id="31" name="Text 26"/>
          <p:cNvSpPr txBox="1"/>
          <p:nvPr/>
        </p:nvSpPr>
        <p:spPr>
          <a:xfrm>
            <a:off x="2745284" y="7862441"/>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2028 nhằm đáp ứng việc thúc đẩy tăng trưởng của doanh nghiệp trong vòng ít nhất 5 năm tới.</a:t>
            </a:r>
            <a:endParaRPr lang="vi-VN" sz="850" dirty="0"/>
          </a:p>
        </p:txBody>
      </p:sp>
      <p:sp>
        <p:nvSpPr>
          <p:cNvPr id="32" name="Text 27"/>
          <p:cNvSpPr txBox="1"/>
          <p:nvPr/>
        </p:nvSpPr>
        <p:spPr>
          <a:xfrm>
            <a:off x="2745284" y="895260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2028, nhóm ước tính số vốn 40,46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33" name="Text 2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4" name="Text 29"/>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40,5 tỷ vốn cổ phần năm 2026: nhà đầu tư mới nắm khoảng 64%</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2028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64,4% / 35,6%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2028, 60% CAPEX của dự án mở rộng được tài trợ bằng vay trung hạn/xanh (~39,2 tỷ đồng). Số tiền này cùng CFO cùng năm (11,3 tỷ đồng) không đủ để bù đắp cho CAPEX (65,26 tỷ đồng), khiến biến động tiền mặt trong năm âm, số dư tiền mặt cuối kỳ âm.</a:t>
            </a:r>
            <a:endParaRPr lang="vi-VN" sz="850" dirty="0"/>
          </a:p>
        </p:txBody>
      </p:sp>
      <p:sp>
        <p:nvSpPr>
          <p:cNvPr id="15" name="Text 12"/>
          <p:cNvSpPr txBox="1"/>
          <p:nvPr/>
        </p:nvSpPr>
        <p:spPr>
          <a:xfrm>
            <a:off x="2759184" y="961727"/>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(2026–2029), cộng thêm việc trả nợ vay trung hạn (từ 2030), khiến cho số dư tiền mặt cuối kỳ của cả 5 năm đều âm nếu không gọi thêm vốn.</a:t>
            </a:r>
            <a:endParaRPr lang="vi-VN" sz="850" dirty="0"/>
          </a:p>
        </p:txBody>
      </p:sp>
      <p:sp>
        <p:nvSpPr>
          <p:cNvPr id="16" name="Text 13"/>
          <p:cNvSpPr txBox="1"/>
          <p:nvPr/>
        </p:nvSpPr>
        <p:spPr>
          <a:xfrm>
            <a:off x="2759184" y="1365349"/>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~36,8 tỷ đồng. Cộng thêm dự phòng 10%, tổng số vốn cần huy động là ~40,46 tỷ đồng.</a:t>
            </a:r>
            <a:endParaRPr lang="vi-VN" sz="850" dirty="0"/>
          </a:p>
        </p:txBody>
      </p:sp>
      <p:sp>
        <p:nvSpPr>
          <p:cNvPr id="17" name="Text 14"/>
          <p:cNvSpPr txBox="1"/>
          <p:nvPr/>
        </p:nvSpPr>
        <p:spPr>
          <a:xfrm>
            <a:off x="2745284" y="20752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22,4 tỷ đồng, post-money là 62,8 tỷ đồng và nhà đầu tư mới sẽ nắm khoảng 64%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501542" y="3601075"/>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62,2</a:t>
            </a:r>
            <a:endParaRPr lang="vi-VN" sz="650" dirty="0"/>
          </a:p>
        </p:txBody>
      </p:sp>
      <p:sp>
        <p:nvSpPr>
          <p:cNvPr id="23" name="Text 19"/>
          <p:cNvSpPr txBox="1"/>
          <p:nvPr/>
        </p:nvSpPr>
        <p:spPr>
          <a:xfrm>
            <a:off x="1209331" y="3687733"/>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44,0</a:t>
            </a:r>
            <a:endParaRPr lang="vi-VN" sz="650" dirty="0"/>
          </a:p>
        </p:txBody>
      </p:sp>
      <p:sp>
        <p:nvSpPr>
          <p:cNvPr id="24" name="Text 20"/>
          <p:cNvSpPr txBox="1"/>
          <p:nvPr/>
        </p:nvSpPr>
        <p:spPr>
          <a:xfrm>
            <a:off x="1917120" y="3761536"/>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28,5</a:t>
            </a:r>
            <a:endParaRPr lang="vi-VN" sz="650" dirty="0"/>
          </a:p>
        </p:txBody>
      </p:sp>
      <p:sp>
        <p:nvSpPr>
          <p:cNvPr id="25" name="Text 21"/>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6" name="Text 22"/>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8" name="Text 23"/>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9" name="Text 24"/>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30" name="Text 25"/>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62,2 tỷ đồng xuống còn 44,0 và 28,5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31" name="Text 26"/>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2028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31983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+25% khi khai thác tối đa nhà máy hiện hữu; 2028 +20% vì nhà máy mới đang xây (đầu tư lớn theo đề bài); 2029 +35% khi 2 dây chuyền mới chạy; 2030 +25%. Lịch sử +60% (2024), +58%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chậm lại năm 2028 khi nhà máy mới đang xây, tăng nhanh năm 2029 khi có công suất mới và mở thị trường miền Bắc.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~18%/năm và khách hàng nội thất xuất khẩu; năm 2029 +40% nhờ công suất mới. Nguồn: Mục 3.2.2;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tuyển trước cho nhà máy mới (2028–29), sau đó đòn bẩy hoạt động.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(máy ép, xe tải, kho), 2027 15% (mở rộng nhà máy hiện hữu), 2028 65% (đầu tư lớn theo đề bài), 2029 12% (hoàn thiện, chạy thử), 2030 10%. Ngành: trung vị CAPEX/DT của 16 DN bao bì niêm yết 2023–25 là 3,1%, tứ phân vị trên 8,3%, DN đang mở rộng 13–30% (Fig. A10).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2029 tăng lên 105 ngày để tích trữ cho 2 dây chuyền mới. Nguồn: BCTC 2023–2025; lịch vụ ép mía.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7351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150269"/>
            <a:ext cx="6749058" cy="0"/>
          </a:xfrm>
          <a:prstGeom prst="line">
            <a:avLst/>
          </a:prstGeom>
          <a:noFill/>
          <a:ln w="9525">
            <a:solidFill>
              <a:srgbClr val="7B1E2B"/>
            </a:solidFill>
            <a:prstDash val="solid"/>
          </a:ln>
        </p:spPr>
      </p:sp>
      <p:sp>
        <p:nvSpPr>
          <p:cNvPr id="5" name="Shape 3"/>
          <p:cNvSpPr/>
          <p:nvPr/>
        </p:nvSpPr>
        <p:spPr>
          <a:xfrm>
            <a:off x="405408" y="5276701"/>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CAPEX 2028 tài trợ bằng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870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18139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30892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424410"/>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11343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30782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449639"/>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2028 – năm đầu tư lớn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~28%. Lấy RONIC bằng ROIC 2030 nghĩa là vốn mới sinh lời như năm cuối dự phóng, không giả định thêm lợi thế; ROIC 2030 thấp hơn WACC nên tăng trưởng sau 2030 làm giảm nhẹ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462641"/>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độ nhạy ở Fig. A14) là giá trị nếu kế hoạch được thực hiện đúng: nhà máy năm 2028 xong đúng tiến độ và sản lượng đạt dự phóng. Nhà đầu tư mạo hiểm sẽ không trả mức này vì vẫn còn 40% khả năng doanh nghiệp thất bại. Khi nhân với xác suất sống sót và cộng giá trị thanh lý, DCF còn 18,2 tỷ đồng, thấp hơn VC Method (21,7 tỷ) và Multiples (27,7 tỷ) vì DCF dùng ROIC thực tế năm 2030 của AgriPack, thấp hơn mức sinh lời mà bội số ngành ngầm định. Khoảng 18–28 tỷ đồng vì vậy là vùng giá trị đã tính rủi ro.</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38,5 tỷ đồng và ROIC giai đoạn 2028–2030 thấp hơn WACC, nên toàn bộ giá trị đến từ giai đoạn sau năm 2030 (giá trị cuối kỳ bằng 302% EV). Pre-money 22,4 tỷ đồng chỉ bằng 0,75 lần vốn chủ sở hữu sổ sách và khoảng 2,7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126 tỷ đồng, còn EV/EBITDA 8 lần cho 275 tỷ đồng; giá trị thoái vốn thay đổi 15% làm pre-money theo VC Method thay đổi khoảng 9 tỷ đồng. Với tỷ lệ thất bại 45%, cận trên của giai đoạn đầu tăng trưởng, pre-money còn khoảng 16,5 tỷ đồng.</a:t>
            </a:r>
            <a:endParaRPr lang="vi-VN" sz="850" dirty="0"/>
          </a:p>
        </p:txBody>
      </p:sp>
      <p:sp>
        <p:nvSpPr>
          <p:cNvPr id="27" name="Text 20"/>
          <p:cNvSpPr txBox="1"/>
          <p:nvPr/>
        </p:nvSpPr>
        <p:spPr>
          <a:xfrm>
            <a:off x="2745284" y="812824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khi ROIC 2030 thấp hơn WACC, g cao hơn còn làm DCF giảm nhẹ. Nếu lợi nhuận trên vốn đầu tư mới sau năm 2030 thấp hơn ROIC năm 2030 hai điểm %, giá trị DCF giảm thêm 7,6 tỷ đồng.</a:t>
            </a:r>
            <a:endParaRPr lang="vi-VN" sz="850" dirty="0"/>
          </a:p>
        </p:txBody>
      </p:sp>
      <p:sp>
        <p:nvSpPr>
          <p:cNvPr id="28" name="Text 21"/>
          <p:cNvSpPr txBox="1"/>
          <p:nvPr/>
        </p:nvSpPr>
        <p:spPr>
          <a:xfrm>
            <a:off x="2745284" y="869215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11,4–35,5 tỷ đồng phản ánh ba nguồn bất định: chi phí vốn, giá trị thoái vốn và xác suất thất bại. Cận dưới (11,4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68,6 tỷ đồng) và giảm mạnh nếu cầu yếu (kịch bản xấu cho giá trị âm).</a:t>
            </a:r>
            <a:endParaRPr lang="vi-VN" sz="850" dirty="0"/>
          </a:p>
        </p:txBody>
      </p:sp>
      <p:sp>
        <p:nvSpPr>
          <p:cNvPr id="29" name="Text 22"/>
          <p:cNvSpPr txBox="1"/>
          <p:nvPr/>
        </p:nvSpPr>
        <p:spPr>
          <a:xfrm>
            <a:off x="2745284" y="938763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−2,9 đến 53,0 tỷ đồng, trong khi lãi suất hay rủi ro quốc gia thay đổi 1 điểm % chỉ làm pre-money thay đổi khoảng 4–5 tỷ đồng. Theo dõi đơn hàng F&amp;B và tiến độ nhà máy năm 2028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 / 53,0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−18,7 / 68,1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 / 50,6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142,9 / 221,9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22,5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16,4 / 28,6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11,1 / 30,1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16,0 / 27,6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 / 187,8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11,6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30,9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8,7 / 32,1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 /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14,8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32,9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34,9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9,9 / 33,4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18,2 / 27,3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28,9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17,9 / 25,6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13,7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18,3 / 27,4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30,0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18,9 / 24,6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 / 26,0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20,4 / 24,3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21,7 / 26,8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Theo đề bài (đã thống nhất với giảng viên), đợt đầu tư lớn với CAPEX bằng 65% doanh thu diễn ra năm 2028; nhà máy mới vận hành từ năm 2029. Năm này được đặt ở một ô duy nhất (Drivers!C156); CAPEX, khoản vay trung hạn, chi phí cố định của nhà máy mới, tiền thuê và lịch trả nợ đều tham chiếu ô này.</a:t>
            </a:r>
            <a:endParaRPr lang="vi-VN" sz="700" dirty="0"/>
          </a:p>
        </p:txBody>
      </p:sp>
      <p:sp>
        <p:nvSpPr>
          <p:cNvPr id="19" name="Text 16"/>
          <p:cNvSpPr txBox="1"/>
          <p:nvPr/>
        </p:nvSpPr>
        <p:spPr>
          <a:xfrm>
            <a:off x="394156" y="5862638"/>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2026-10-07T04:47:45Z</dcterms:created>
  <dcterms:modified xsi:type="dcterms:W3CDTF">2026-10-07T04:47:45Z</dcterms:modified>
</cp:coreProperties>
</file>