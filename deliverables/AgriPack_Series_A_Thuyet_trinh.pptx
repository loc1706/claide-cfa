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Tỷ trọng 2025A</c:v>
                </c:pt>
              </c:strCache>
            </c:strRef>
          </c:tx>
          <c:spPr>
            <a:solidFill>
              <a:srgbClr val="7B1E2B"/>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F&amp;B/FMCG</c:v>
                  </c:pt>
                  <c:pt idx="1">
                    <c:v>Thiết kế &amp; khuôn</c:v>
                  </c:pt>
                  <c:pt idx="2">
                    <c:v>Đệm nội thất/TMĐT</c:v>
                  </c:pt>
                  <c:pt idx="3">
                    <c:v>Đệm điện tử</c:v>
                  </c:pt>
                </c:lvl>
              </c:multiLvlStrCache>
            </c:multiLvlStrRef>
          </c:cat>
          <c:val>
            <c:numRef>
              <c:f>Sheet1!$B$2:$B$5</c:f>
              <c:numCache>
                <c:formatCode>General</c:formatCode>
                <c:ptCount val="4"/>
                <c:pt idx="0">
                  <c:v>79.48556546655612</c:v>
                </c:pt>
                <c:pt idx="1">
                  <c:v>12.317983697320688</c:v>
                </c:pt>
                <c:pt idx="2">
                  <c:v>5.714082833316278</c:v>
                </c:pt>
                <c:pt idx="3">
                  <c:v>2.482368002806918</c:v>
                </c:pt>
              </c:numCache>
            </c:numRef>
          </c:val>
        </c:ser>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Thị phần SAM</c:v>
                </c:pt>
              </c:strCache>
            </c:strRef>
          </c:tx>
          <c:spPr>
            <a:solidFill>
              <a:srgbClr val="7B1E2B"/>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2025A</c:v>
                  </c:pt>
                  <c:pt idx="1">
                    <c:v>2026E</c:v>
                  </c:pt>
                  <c:pt idx="2">
                    <c:v>2027E</c:v>
                  </c:pt>
                  <c:pt idx="3">
                    <c:v>2028E</c:v>
                  </c:pt>
                  <c:pt idx="4">
                    <c:v>2029E</c:v>
                  </c:pt>
                  <c:pt idx="5">
                    <c:v>2030E</c:v>
                  </c:pt>
                </c:lvl>
              </c:multiLvlStrCache>
            </c:multiLvlStrRef>
          </c:cat>
          <c:val>
            <c:numRef>
              <c:f>Sheet1!$B$2:$B$7</c:f>
              <c:numCache>
                <c:formatCode>General</c:formatCode>
                <c:ptCount val="6"/>
                <c:pt idx="0">
                  <c:v>4.31420345054297</c:v>
                </c:pt>
                <c:pt idx="1">
                  <c:v>5.483037558142001</c:v>
                </c:pt>
                <c:pt idx="2">
                  <c:v>6.3871916556223</c:v>
                </c:pt>
                <c:pt idx="3">
                  <c:v>8.23327483537679</c:v>
                </c:pt>
                <c:pt idx="4">
                  <c:v>9.82678654083928</c:v>
                </c:pt>
                <c:pt idx="5">
                  <c:v>10.9780772011668</c:v>
                </c:pt>
              </c:numCache>
            </c:numRef>
          </c:val>
        </c:ser>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13"/>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Doanh thu thuần</c:v>
                </c:pt>
              </c:strCache>
            </c:strRef>
          </c:tx>
          <c:spPr>
            <a:solidFill>
              <a:srgbClr val="7B1E2B"/>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2023A</c:v>
                  </c:pt>
                  <c:pt idx="1">
                    <c:v>2024A</c:v>
                  </c:pt>
                  <c:pt idx="2">
                    <c:v>2025A</c:v>
                  </c:pt>
                </c:lvl>
              </c:multiLvlStrCache>
            </c:multiLvlStrRef>
          </c:cat>
          <c:val>
            <c:numRef>
              <c:f>Sheet1!$B$2:$B$4</c:f>
              <c:numCache>
                <c:formatCode>General</c:formatCode>
                <c:ptCount val="3"/>
                <c:pt idx="0">
                  <c:v>19.43824</c:v>
                </c:pt>
                <c:pt idx="1">
                  <c:v>30.928285</c:v>
                </c:pt>
                <c:pt idx="2">
                  <c:v>47.5465281</c:v>
                </c:pt>
              </c:numCache>
            </c:numRef>
          </c:val>
        </c:ser>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58"/>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Biên EBITDA</c:v>
                </c:pt>
              </c:strCache>
            </c:strRef>
          </c:tx>
          <c:spPr>
            <a:solidFill>
              <a:srgbClr val="7B1E2B"/>
            </a:solidFill>
            <a:ln w="31750" cap="flat">
              <a:solidFill>
                <a:srgbClr val="7B1E2B"/>
              </a:solidFill>
              <a:prstDash val="solid"/>
              <a:round/>
            </a:ln>
            <a:effectLst/>
          </c:spPr>
          <c:invertIfNegative val="0"/>
          <c:dLbls>
            <c:numFmt formatCode="0.0" sourceLinked="0"/>
            <c:txPr>
              <a:bodyPr/>
              <a:lstStyle/>
              <a:p>
                <a:pPr>
                  <a:defRPr b="0" i="0" strike="noStrike" sz="1150" u="none">
                    <a:solidFill>
                      <a:srgbClr val="333333"/>
                    </a:solidFill>
                    <a:latin typeface="Calibri"/>
                  </a:defRPr>
                </a:pPr>
              </a:p>
            </c:txPr>
            <c:dLblPos val="t"/>
            <c:showLegendKey val="0"/>
            <c:showVal val="1"/>
            <c:showCatName val="0"/>
            <c:showSerName val="0"/>
            <c:showPercent val="0"/>
            <c:showBubbleSize val="0"/>
            <c:showLeaderLines val="0"/>
          </c:dLbls>
          <c:marker>
            <c:symbol val="circle"/>
            <c:size val="8"/>
            <c:spPr>
              <a:solidFill>
                <a:srgbClr val="7B1E2B"/>
              </a:solidFill>
              <a:ln w="9525" cap="flat">
                <a:solidFill>
                  <a:srgbClr val="7B1E2B"/>
                </a:solidFill>
                <a:prstDash val="solid"/>
                <a:round/>
              </a:ln>
              <a:effectLst/>
            </c:spPr>
          </c:marker>
          <c:cat>
            <c:multiLvlStrRef>
              <c:f>Sheet1!$A$2:$A$4</c:f>
              <c:multiLvlStrCache>
                <c:ptCount val="3"/>
                <c:lvl>
                  <c:pt idx="0">
                    <c:v>2023A</c:v>
                  </c:pt>
                  <c:pt idx="1">
                    <c:v>2024A</c:v>
                  </c:pt>
                  <c:pt idx="2">
                    <c:v>2025A</c:v>
                  </c:pt>
                </c:lvl>
              </c:multiLvlStrCache>
            </c:multiLvlStrRef>
          </c:cat>
          <c:val>
            <c:numRef>
              <c:f>Sheet1!$B$2:$B$4</c:f>
              <c:numCache>
                <c:formatCode>General</c:formatCode>
                <c:ptCount val="3"/>
                <c:pt idx="0">
                  <c:v>-14.2117352188264</c:v>
                </c:pt>
                <c:pt idx="1">
                  <c:v>6.51366136208328</c:v>
                </c:pt>
                <c:pt idx="2">
                  <c:v>16.183367162617298</c:v>
                </c:pt>
              </c:numCache>
            </c:numRef>
          </c:val>
          <c:smooth val="0"/>
        </c:ser>
        <c:dLbls>
          <c:numFmt formatCode="0.0" sourceLinked="0"/>
          <c:txPr>
            <a:bodyPr/>
            <a:lstStyle/>
            <a:p>
              <a:pPr>
                <a:defRPr b="0" i="0" strike="noStrike" sz="1150" u="none">
                  <a:solidFill>
                    <a:srgbClr val="333333"/>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26"/>
          <c:min val="-22"/>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2023A</c:v>
                </c:pt>
              </c:strCache>
            </c:strRef>
          </c:tx>
          <c:spPr>
            <a:solidFill>
              <a:srgbClr val="D0D0D0"/>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Tiền lương</c:v>
                  </c:pt>
                  <c:pt idx="1">
                    <c:v>CP hoạt động khác</c:v>
                  </c:pt>
                  <c:pt idx="2">
                    <c:v>Giá vốn (BCTC)</c:v>
                  </c:pt>
                  <c:pt idx="3">
                    <c:v>Thuê mặt bằng</c:v>
                  </c:pt>
                  <c:pt idx="4">
                    <c:v>Khấu hao</c:v>
                  </c:pt>
                </c:lvl>
              </c:multiLvlStrCache>
            </c:multiLvlStrRef>
          </c:cat>
          <c:val>
            <c:numRef>
              <c:f>Sheet1!$B$2:$B$6</c:f>
              <c:numCache>
                <c:formatCode>General</c:formatCode>
                <c:ptCount val="5"/>
                <c:pt idx="0">
                  <c:v>35.970334762818</c:v>
                </c:pt>
                <c:pt idx="1">
                  <c:v>26.854283103820098</c:v>
                </c:pt>
                <c:pt idx="2">
                  <c:v>30.9274461062318</c:v>
                </c:pt>
                <c:pt idx="3">
                  <c:v>20.4596712459564</c:v>
                </c:pt>
                <c:pt idx="4">
                  <c:v>7.36795100791018</c:v>
                </c:pt>
              </c:numCache>
            </c:numRef>
          </c:val>
        </c:ser>
        <c:ser>
          <c:idx val="1"/>
          <c:order val="1"/>
          <c:tx>
            <c:strRef>
              <c:f>Sheet1!$C$1</c:f>
              <c:strCache>
                <c:ptCount val="1"/>
                <c:pt idx="0">
                  <c:v>2025A</c:v>
                </c:pt>
              </c:strCache>
            </c:strRef>
          </c:tx>
          <c:spPr>
            <a:solidFill>
              <a:srgbClr val="7B1E2B"/>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Tiền lương</c:v>
                  </c:pt>
                  <c:pt idx="1">
                    <c:v>CP hoạt động khác</c:v>
                  </c:pt>
                  <c:pt idx="2">
                    <c:v>Giá vốn (BCTC)</c:v>
                  </c:pt>
                  <c:pt idx="3">
                    <c:v>Thuê mặt bằng</c:v>
                  </c:pt>
                  <c:pt idx="4">
                    <c:v>Khấu hao</c:v>
                  </c:pt>
                </c:lvl>
              </c:multiLvlStrCache>
            </c:multiLvlStrRef>
          </c:cat>
          <c:val>
            <c:numRef>
              <c:f>Sheet1!$C$2:$C$6</c:f>
              <c:numCache>
                <c:formatCode>General</c:formatCode>
                <c:ptCount val="5"/>
                <c:pt idx="0">
                  <c:v>22.6466167568605</c:v>
                </c:pt>
                <c:pt idx="1">
                  <c:v>18.063464028196798</c:v>
                </c:pt>
                <c:pt idx="2">
                  <c:v>27.184843775165202</c:v>
                </c:pt>
                <c:pt idx="3">
                  <c:v>15.9217082771602</c:v>
                </c:pt>
                <c:pt idx="4">
                  <c:v>6.58713080671815</c:v>
                </c:pt>
              </c:numCache>
            </c:numRef>
          </c:val>
        </c:ser>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555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CFO</c:v>
                </c:pt>
              </c:strCache>
            </c:strRef>
          </c:tx>
          <c:spPr>
            <a:solidFill>
              <a:srgbClr val="7B1E2B"/>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2023A</c:v>
                  </c:pt>
                  <c:pt idx="1">
                    <c:v>2024A</c:v>
                  </c:pt>
                  <c:pt idx="2">
                    <c:v>2025A</c:v>
                  </c:pt>
                </c:lvl>
              </c:multiLvlStrCache>
            </c:multiLvlStrRef>
          </c:cat>
          <c:val>
            <c:numRef>
              <c:f>Sheet1!$B$2:$B$4</c:f>
              <c:numCache>
                <c:formatCode>General</c:formatCode>
                <c:ptCount val="3"/>
                <c:pt idx="0">
                  <c:v>-3.9570112</c:v>
                </c:pt>
                <c:pt idx="1">
                  <c:v>0.69714375</c:v>
                </c:pt>
                <c:pt idx="2">
                  <c:v>6.2824692155</c:v>
                </c:pt>
              </c:numCache>
            </c:numRef>
          </c:val>
        </c:ser>
        <c:ser>
          <c:idx val="1"/>
          <c:order val="1"/>
          <c:tx>
            <c:strRef>
              <c:f>Sheet1!$C$1</c:f>
              <c:strCache>
                <c:ptCount val="1"/>
                <c:pt idx="0">
                  <c:v>CAPEX</c:v>
                </c:pt>
              </c:strCache>
            </c:strRef>
          </c:tx>
          <c:spPr>
            <a:solidFill>
              <a:srgbClr val="A3A3A3"/>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2023A</c:v>
                  </c:pt>
                  <c:pt idx="1">
                    <c:v>2024A</c:v>
                  </c:pt>
                  <c:pt idx="2">
                    <c:v>2025A</c:v>
                  </c:pt>
                </c:lvl>
              </c:multiLvlStrCache>
            </c:multiLvlStrRef>
          </c:cat>
          <c:val>
            <c:numRef>
              <c:f>Sheet1!$C$2:$C$4</c:f>
              <c:numCache>
                <c:formatCode>General</c:formatCode>
                <c:ptCount val="3"/>
                <c:pt idx="0">
                  <c:v>-5.009</c:v>
                </c:pt>
                <c:pt idx="1">
                  <c:v>-6.3056</c:v>
                </c:pt>
                <c:pt idx="2">
                  <c:v>-5.08452</c:v>
                </c:pt>
              </c:numCache>
            </c:numRef>
          </c:val>
        </c:ser>
        <c:ser>
          <c:idx val="2"/>
          <c:order val="2"/>
          <c:tx>
            <c:strRef>
              <c:f>Sheet1!$D$1</c:f>
              <c:strCache>
                <c:ptCount val="1"/>
                <c:pt idx="0">
                  <c:v>FCF = CFO − CAPEX</c:v>
                </c:pt>
              </c:strCache>
            </c:strRef>
          </c:tx>
          <c:spPr>
            <a:solidFill>
              <a:srgbClr val="404040"/>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2023A</c:v>
                  </c:pt>
                  <c:pt idx="1">
                    <c:v>2024A</c:v>
                  </c:pt>
                  <c:pt idx="2">
                    <c:v>2025A</c:v>
                  </c:pt>
                </c:lvl>
              </c:multiLvlStrCache>
            </c:multiLvlStrRef>
          </c:cat>
          <c:val>
            <c:numRef>
              <c:f>Sheet1!$D$2:$D$4</c:f>
              <c:numCache>
                <c:formatCode>General</c:formatCode>
                <c:ptCount val="3"/>
                <c:pt idx="0">
                  <c:v>-8.9660112</c:v>
                </c:pt>
                <c:pt idx="1">
                  <c:v>-5.60845625</c:v>
                </c:pt>
                <c:pt idx="2">
                  <c:v>1.19794921549999</c:v>
                </c:pt>
              </c:numCache>
            </c:numRef>
          </c:val>
        </c:ser>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8"/>
          <c:min val="-11"/>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555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AgriPack</c:v>
                </c:pt>
              </c:strCache>
            </c:strRef>
          </c:tx>
          <c:spPr>
            <a:solidFill>
              <a:srgbClr val="7B1E2B"/>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DHC</c:v>
                  </c:pt>
                  <c:pt idx="1">
                    <c:v>ILS</c:v>
                  </c:pt>
                  <c:pt idx="2">
                    <c:v>AgriPack</c:v>
                  </c:pt>
                  <c:pt idx="3">
                    <c:v>TPP</c:v>
                  </c:pt>
                  <c:pt idx="4">
                    <c:v>INN</c:v>
                  </c:pt>
                  <c:pt idx="5">
                    <c:v>AAA</c:v>
                  </c:pt>
                  <c:pt idx="6">
                    <c:v>APH</c:v>
                  </c:pt>
                  <c:pt idx="7">
                    <c:v>HHP</c:v>
                  </c:pt>
                  <c:pt idx="8">
                    <c:v>TDP</c:v>
                  </c:pt>
                  <c:pt idx="9">
                    <c:v>TPC</c:v>
                  </c:pt>
                </c:lvl>
              </c:multiLvlStrCache>
            </c:multiLvlStrRef>
          </c:cat>
          <c:val>
            <c:numRef>
              <c:f>Sheet1!$B$2:$B$11</c:f>
              <c:numCache>
                <c:formatCode>General</c:formatCode>
                <c:ptCount val="10"/>
                <c:pt idx="0">
                  <c:v>0</c:v>
                </c:pt>
                <c:pt idx="1">
                  <c:v>0</c:v>
                </c:pt>
                <c:pt idx="2">
                  <c:v>16.1833671626173</c:v>
                </c:pt>
                <c:pt idx="3">
                  <c:v>0</c:v>
                </c:pt>
                <c:pt idx="4">
                  <c:v>0</c:v>
                </c:pt>
                <c:pt idx="5">
                  <c:v>0</c:v>
                </c:pt>
                <c:pt idx="6">
                  <c:v>0</c:v>
                </c:pt>
                <c:pt idx="7">
                  <c:v>0</c:v>
                </c:pt>
                <c:pt idx="8">
                  <c:v>0</c:v>
                </c:pt>
                <c:pt idx="9">
                  <c:v>0</c:v>
                </c:pt>
              </c:numCache>
            </c:numRef>
          </c:val>
        </c:ser>
        <c:ser>
          <c:idx val="1"/>
          <c:order val="1"/>
          <c:tx>
            <c:strRef>
              <c:f>Sheet1!$C$1</c:f>
              <c:strCache>
                <c:ptCount val="1"/>
                <c:pt idx="0">
                  <c:v>DN niêm yết</c:v>
                </c:pt>
              </c:strCache>
            </c:strRef>
          </c:tx>
          <c:spPr>
            <a:solidFill>
              <a:srgbClr val="A3A3A3"/>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DHC</c:v>
                  </c:pt>
                  <c:pt idx="1">
                    <c:v>ILS</c:v>
                  </c:pt>
                  <c:pt idx="2">
                    <c:v>AgriPack</c:v>
                  </c:pt>
                  <c:pt idx="3">
                    <c:v>TPP</c:v>
                  </c:pt>
                  <c:pt idx="4">
                    <c:v>INN</c:v>
                  </c:pt>
                  <c:pt idx="5">
                    <c:v>AAA</c:v>
                  </c:pt>
                  <c:pt idx="6">
                    <c:v>APH</c:v>
                  </c:pt>
                  <c:pt idx="7">
                    <c:v>HHP</c:v>
                  </c:pt>
                  <c:pt idx="8">
                    <c:v>TDP</c:v>
                  </c:pt>
                  <c:pt idx="9">
                    <c:v>TPC</c:v>
                  </c:pt>
                </c:lvl>
              </c:multiLvlStrCache>
            </c:multiLvlStrRef>
          </c:cat>
          <c:val>
            <c:numRef>
              <c:f>Sheet1!$C$2:$C$11</c:f>
              <c:numCache>
                <c:formatCode>General</c:formatCode>
                <c:ptCount val="10"/>
                <c:pt idx="0">
                  <c:v>18.9</c:v>
                </c:pt>
                <c:pt idx="1">
                  <c:v>16.4</c:v>
                </c:pt>
                <c:pt idx="2">
                  <c:v>0</c:v>
                </c:pt>
                <c:pt idx="3">
                  <c:v>15.9</c:v>
                </c:pt>
                <c:pt idx="4">
                  <c:v>14.9</c:v>
                </c:pt>
                <c:pt idx="5">
                  <c:v>14.2</c:v>
                </c:pt>
                <c:pt idx="6">
                  <c:v>14</c:v>
                </c:pt>
                <c:pt idx="7">
                  <c:v>9.3</c:v>
                </c:pt>
                <c:pt idx="8">
                  <c:v>8.3</c:v>
                </c:pt>
                <c:pt idx="9">
                  <c:v>7</c:v>
                </c:pt>
              </c:numCache>
            </c:numRef>
          </c:val>
        </c:ser>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2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Bao bì F&amp;B/FMCG</c:v>
                </c:pt>
              </c:strCache>
            </c:strRef>
          </c:tx>
          <c:spPr>
            <a:solidFill>
              <a:srgbClr val="7B1E2B"/>
            </a:solidFill>
            <a:effectLst/>
          </c:spPr>
          <c:invertIfNegative val="0"/>
          <c:dLbls>
            <c:numFmt formatCode="0" sourceLinked="0"/>
            <c:txPr>
              <a:bodyPr/>
              <a:lstStyle/>
              <a:p>
                <a:pPr>
                  <a:defRPr b="0" i="0" strike="noStrike" sz="11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2025A</c:v>
                  </c:pt>
                  <c:pt idx="1">
                    <c:v>2026E</c:v>
                  </c:pt>
                  <c:pt idx="2">
                    <c:v>2027E</c:v>
                  </c:pt>
                  <c:pt idx="3">
                    <c:v>2028E</c:v>
                  </c:pt>
                  <c:pt idx="4">
                    <c:v>2029E</c:v>
                  </c:pt>
                  <c:pt idx="5">
                    <c:v>2030E</c:v>
                  </c:pt>
                </c:lvl>
              </c:multiLvlStrCache>
            </c:multiLvlStrRef>
          </c:cat>
          <c:val>
            <c:numRef>
              <c:f>Sheet1!$B$2:$B$7</c:f>
              <c:numCache>
                <c:formatCode>General</c:formatCode>
                <c:ptCount val="6"/>
                <c:pt idx="0">
                  <c:v>38.05904</c:v>
                </c:pt>
                <c:pt idx="1">
                  <c:v>51.242691456</c:v>
                </c:pt>
                <c:pt idx="2">
                  <c:v>63.7664052478464</c:v>
                </c:pt>
                <c:pt idx="3">
                  <c:v>87.8063400262845</c:v>
                </c:pt>
                <c:pt idx="4">
                  <c:v>111.953083533513</c:v>
                </c:pt>
                <c:pt idx="5">
                  <c:v>133.604809888894</c:v>
                </c:pt>
              </c:numCache>
            </c:numRef>
          </c:val>
        </c:ser>
        <c:ser>
          <c:idx val="1"/>
          <c:order val="1"/>
          <c:tx>
            <c:strRef>
              <c:f>Sheet1!$C$1</c:f>
              <c:strCache>
                <c:ptCount val="1"/>
                <c:pt idx="0">
                  <c:v>Khuôn và đệm bảo vệ</c:v>
                </c:pt>
              </c:strCache>
            </c:strRef>
          </c:tx>
          <c:spPr>
            <a:solidFill>
              <a:srgbClr val="404040"/>
            </a:solidFill>
            <a:effectLst/>
          </c:spPr>
          <c:invertIfNegative val="0"/>
          <c:dLbls>
            <c:numFmt formatCode="0" sourceLinked="0"/>
            <c:txPr>
              <a:bodyPr/>
              <a:lstStyle/>
              <a:p>
                <a:pPr>
                  <a:defRPr b="0" i="0" strike="noStrike" sz="11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2025A</c:v>
                  </c:pt>
                  <c:pt idx="1">
                    <c:v>2026E</c:v>
                  </c:pt>
                  <c:pt idx="2">
                    <c:v>2027E</c:v>
                  </c:pt>
                  <c:pt idx="3">
                    <c:v>2028E</c:v>
                  </c:pt>
                  <c:pt idx="4">
                    <c:v>2029E</c:v>
                  </c:pt>
                  <c:pt idx="5">
                    <c:v>2030E</c:v>
                  </c:pt>
                </c:lvl>
              </c:multiLvlStrCache>
            </c:multiLvlStrRef>
          </c:cat>
          <c:val>
            <c:numRef>
              <c:f>Sheet1!$C$2:$C$7</c:f>
              <c:numCache>
                <c:formatCode>General</c:formatCode>
                <c:ptCount val="6"/>
                <c:pt idx="0">
                  <c:v>9.822659999999999</c:v>
                </c:pt>
                <c:pt idx="1">
                  <c:v>12.879984263999999</c:v>
                </c:pt>
                <c:pt idx="2">
                  <c:v>16.536334009910398</c:v>
                </c:pt>
                <c:pt idx="3">
                  <c:v>23.373584363800198</c:v>
                </c:pt>
                <c:pt idx="4">
                  <c:v>30.6494669080295</c:v>
                </c:pt>
                <c:pt idx="5">
                  <c:v>37.913566794295186</c:v>
                </c:pt>
              </c:numCache>
            </c:numRef>
          </c:val>
        </c:ser>
        <c:dLbls>
          <c:numFmt formatCode="0" sourceLinked="0"/>
          <c:txPr>
            <a:bodyPr/>
            <a:lstStyle/>
            <a:p>
              <a:pPr>
                <a:defRPr b="0" i="0" strike="noStrike" sz="115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555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CAPEX</c:v>
                </c:pt>
              </c:strCache>
            </c:strRef>
          </c:tx>
          <c:spPr>
            <a:solidFill>
              <a:srgbClr val="A3A3A3"/>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2025A</c:v>
                  </c:pt>
                  <c:pt idx="1">
                    <c:v>2026E</c:v>
                  </c:pt>
                  <c:pt idx="2">
                    <c:v>2027E</c:v>
                  </c:pt>
                  <c:pt idx="3">
                    <c:v>2028E</c:v>
                  </c:pt>
                  <c:pt idx="4">
                    <c:v>2029E</c:v>
                  </c:pt>
                  <c:pt idx="5">
                    <c:v>2030E</c:v>
                  </c:pt>
                </c:lvl>
              </c:multiLvlStrCache>
            </c:multiLvlStrRef>
          </c:cat>
          <c:val>
            <c:numRef>
              <c:f>Sheet1!$B$2:$B$7</c:f>
              <c:numCache>
                <c:formatCode>General</c:formatCode>
                <c:ptCount val="6"/>
                <c:pt idx="0">
                  <c:v>5.08452</c:v>
                </c:pt>
                <c:pt idx="1">
                  <c:v>12.734763397992</c:v>
                </c:pt>
                <c:pt idx="2">
                  <c:v>51.8314030539191</c:v>
                </c:pt>
                <c:pt idx="3">
                  <c:v>13.2481997903225</c:v>
                </c:pt>
                <c:pt idx="4">
                  <c:v>14.1604332588451</c:v>
                </c:pt>
                <c:pt idx="5">
                  <c:v>17.0317748046407</c:v>
                </c:pt>
              </c:numCache>
            </c:numRef>
          </c:val>
        </c:ser>
        <c:ser>
          <c:idx val="1"/>
          <c:order val="1"/>
          <c:tx>
            <c:strRef>
              <c:f>Sheet1!$C$1</c:f>
              <c:strCache>
                <c:ptCount val="1"/>
                <c:pt idx="0">
                  <c:v>FCFF</c:v>
                </c:pt>
              </c:strCache>
            </c:strRef>
          </c:tx>
          <c:spPr>
            <a:solidFill>
              <a:srgbClr val="7B1E2B"/>
            </a:solidFill>
            <a:effectLst/>
          </c:spPr>
          <c:invertIfNegative val="0"/>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2025A</c:v>
                  </c:pt>
                  <c:pt idx="1">
                    <c:v>2026E</c:v>
                  </c:pt>
                  <c:pt idx="2">
                    <c:v>2027E</c:v>
                  </c:pt>
                  <c:pt idx="3">
                    <c:v>2028E</c:v>
                  </c:pt>
                  <c:pt idx="4">
                    <c:v>2029E</c:v>
                  </c:pt>
                  <c:pt idx="5">
                    <c:v>2030E</c:v>
                  </c:pt>
                </c:lvl>
              </c:multiLvlStrCache>
            </c:multiLvlStrRef>
          </c:cat>
          <c:val>
            <c:numRef>
              <c:f>Sheet1!$C$2:$C$7</c:f>
              <c:numCache>
                <c:formatCode>General</c:formatCode>
                <c:ptCount val="6"/>
                <c:pt idx="0">
                  <c:v>1.19794921549999</c:v>
                </c:pt>
                <c:pt idx="1">
                  <c:v>-4.86489964943638</c:v>
                </c:pt>
                <c:pt idx="2">
                  <c:v>-42.6417458610666</c:v>
                </c:pt>
                <c:pt idx="3">
                  <c:v>-3.68333239197345</c:v>
                </c:pt>
                <c:pt idx="4">
                  <c:v>3.62304912114108</c:v>
                </c:pt>
                <c:pt idx="5">
                  <c:v>8.65678707685356</c:v>
                </c:pt>
              </c:numCache>
            </c:numRef>
          </c:val>
        </c:ser>
        <c:dLbls>
          <c:numFmt formatCode="0.0" sourceLinked="0"/>
          <c:txPr>
            <a:bodyPr/>
            <a:lstStyle/>
            <a:p>
              <a:pPr>
                <a:defRPr b="0" i="0" strike="noStrike" sz="1150" u="none">
                  <a:solidFill>
                    <a:srgbClr val="3333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60"/>
          <c:min val="-5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555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ROIC</c:v>
                </c:pt>
              </c:strCache>
            </c:strRef>
          </c:tx>
          <c:spPr>
            <a:solidFill>
              <a:srgbClr val="7B1E2B"/>
            </a:solidFill>
            <a:ln w="31750" cap="flat">
              <a:solidFill>
                <a:srgbClr val="7B1E2B"/>
              </a:solidFill>
              <a:prstDash val="solid"/>
              <a:round/>
            </a:ln>
            <a:effectLst/>
          </c:spPr>
          <c:invertIfNegative val="0"/>
          <c:dLbls>
            <c:numFmt formatCode="0.0" sourceLinked="0"/>
            <c:txPr>
              <a:bodyPr/>
              <a:lstStyle/>
              <a:p>
                <a:pPr>
                  <a:defRPr b="0" i="0" strike="noStrike" sz="1150" u="none">
                    <a:solidFill>
                      <a:srgbClr val="333333"/>
                    </a:solidFill>
                    <a:latin typeface="Calibri"/>
                  </a:defRPr>
                </a:pPr>
              </a:p>
            </c:txPr>
            <c:dLblPos val="t"/>
            <c:showLegendKey val="0"/>
            <c:showVal val="1"/>
            <c:showCatName val="0"/>
            <c:showSerName val="0"/>
            <c:showPercent val="0"/>
            <c:showBubbleSize val="0"/>
            <c:showLeaderLines val="0"/>
          </c:dLbls>
          <c:marker>
            <c:symbol val="circle"/>
            <c:size val="8"/>
            <c:spPr>
              <a:solidFill>
                <a:srgbClr val="7B1E2B"/>
              </a:solidFill>
              <a:ln w="9525" cap="flat">
                <a:solidFill>
                  <a:srgbClr val="7B1E2B"/>
                </a:solidFill>
                <a:prstDash val="solid"/>
                <a:round/>
              </a:ln>
              <a:effectLst/>
            </c:spPr>
          </c:marker>
          <c:cat>
            <c:multiLvlStrRef>
              <c:f>Sheet1!$A$2:$A$7</c:f>
              <c:multiLvlStrCache>
                <c:ptCount val="6"/>
                <c:lvl>
                  <c:pt idx="0">
                    <c:v>2025A</c:v>
                  </c:pt>
                  <c:pt idx="1">
                    <c:v>2026E</c:v>
                  </c:pt>
                  <c:pt idx="2">
                    <c:v>2027E</c:v>
                  </c:pt>
                  <c:pt idx="3">
                    <c:v>2028E</c:v>
                  </c:pt>
                  <c:pt idx="4">
                    <c:v>2029E</c:v>
                  </c:pt>
                  <c:pt idx="5">
                    <c:v>2030E</c:v>
                  </c:pt>
                </c:lvl>
              </c:multiLvlStrCache>
            </c:multiLvlStrRef>
          </c:cat>
          <c:val>
            <c:numRef>
              <c:f>Sheet1!$B$2:$B$7</c:f>
              <c:numCache>
                <c:formatCode>General</c:formatCode>
                <c:ptCount val="6"/>
                <c:pt idx="0">
                  <c:v>12.744318375483</c:v>
                </c:pt>
                <c:pt idx="1">
                  <c:v>16.689273549337997</c:v>
                </c:pt>
                <c:pt idx="2">
                  <c:v>7.99425729606493</c:v>
                </c:pt>
                <c:pt idx="3">
                  <c:v>5.07708980889595</c:v>
                </c:pt>
                <c:pt idx="4">
                  <c:v>10.4296417970394</c:v>
                </c:pt>
                <c:pt idx="5">
                  <c:v>13.8811531585547</c:v>
                </c:pt>
              </c:numCache>
            </c:numRef>
          </c:val>
          <c:smooth val="0"/>
        </c:ser>
        <c:ser>
          <c:idx val="1"/>
          <c:order val="1"/>
          <c:tx>
            <c:strRef>
              <c:f>Sheet1!$C$1</c:f>
              <c:strCache>
                <c:ptCount val="1"/>
                <c:pt idx="0">
                  <c:v>WACC</c:v>
                </c:pt>
              </c:strCache>
            </c:strRef>
          </c:tx>
          <c:spPr>
            <a:solidFill>
              <a:srgbClr val="A3A3A3"/>
            </a:solidFill>
            <a:ln w="31750" cap="flat">
              <a:solidFill>
                <a:srgbClr val="A3A3A3"/>
              </a:solidFill>
              <a:prstDash val="dash"/>
              <a:round/>
            </a:ln>
            <a:effectLst/>
          </c:spPr>
          <c:invertIfNegative val="0"/>
          <c:dLbls>
            <c:delete val="1"/>
          </c:dLbls>
          <c:marker>
            <c:symbol val="none"/>
          </c:marker>
          <c:cat>
            <c:multiLvlStrRef>
              <c:f>Sheet1!$A$2:$A$7</c:f>
              <c:multiLvlStrCache>
                <c:ptCount val="6"/>
                <c:lvl>
                  <c:pt idx="0">
                    <c:v>2025A</c:v>
                  </c:pt>
                  <c:pt idx="1">
                    <c:v>2026E</c:v>
                  </c:pt>
                  <c:pt idx="2">
                    <c:v>2027E</c:v>
                  </c:pt>
                  <c:pt idx="3">
                    <c:v>2028E</c:v>
                  </c:pt>
                  <c:pt idx="4">
                    <c:v>2029E</c:v>
                  </c:pt>
                  <c:pt idx="5">
                    <c:v>2030E</c:v>
                  </c:pt>
                </c:lvl>
              </c:multiLvlStrCache>
            </c:multiLvlStrRef>
          </c:cat>
          <c:val>
            <c:numRef>
              <c:f>Sheet1!$C$2:$C$7</c:f>
              <c:numCache>
                <c:formatCode>General</c:formatCode>
                <c:ptCount val="6"/>
                <c:pt idx="0">
                  <c:v>13.836083993676402</c:v>
                </c:pt>
                <c:pt idx="1">
                  <c:v>13.836083993676402</c:v>
                </c:pt>
                <c:pt idx="2">
                  <c:v>13.836083993676402</c:v>
                </c:pt>
                <c:pt idx="3">
                  <c:v>13.836083993676402</c:v>
                </c:pt>
                <c:pt idx="4">
                  <c:v>13.836083993676402</c:v>
                </c:pt>
                <c:pt idx="5">
                  <c:v>13.836083993676402</c:v>
                </c:pt>
              </c:numCache>
            </c:numRef>
          </c:val>
          <c:smooth val="0"/>
        </c:ser>
        <c:dLbls>
          <c:numFmt formatCode="0.0" sourceLinked="0"/>
          <c:txPr>
            <a:bodyPr/>
            <a:lstStyle/>
            <a:p>
              <a:pPr>
                <a:defRPr b="0" i="0" strike="noStrike" sz="1150" u="none">
                  <a:solidFill>
                    <a:srgbClr val="333333"/>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555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Sau gọi vốn</c:v>
                </c:pt>
              </c:strCache>
            </c:strRef>
          </c:tx>
          <c:spPr>
            <a:solidFill>
              <a:srgbClr val="7B1E2B"/>
            </a:solidFill>
            <a:ln w="31750" cap="flat">
              <a:solidFill>
                <a:srgbClr val="7B1E2B"/>
              </a:solidFill>
              <a:prstDash val="solid"/>
              <a:round/>
            </a:ln>
            <a:effectLst/>
          </c:spPr>
          <c:invertIfNegative val="0"/>
          <c:dLbls>
            <c:numFmt formatCode="0.0" sourceLinked="0"/>
            <c:txPr>
              <a:bodyPr/>
              <a:lstStyle/>
              <a:p>
                <a:pPr>
                  <a:defRPr b="0" i="0" strike="noStrike" sz="1150" u="none">
                    <a:solidFill>
                      <a:srgbClr val="333333"/>
                    </a:solidFill>
                    <a:latin typeface="Calibri"/>
                  </a:defRPr>
                </a:pPr>
              </a:p>
            </c:txPr>
            <c:dLblPos val="t"/>
            <c:showLegendKey val="0"/>
            <c:showVal val="1"/>
            <c:showCatName val="0"/>
            <c:showSerName val="0"/>
            <c:showPercent val="0"/>
            <c:showBubbleSize val="0"/>
            <c:showLeaderLines val="0"/>
          </c:dLbls>
          <c:marker>
            <c:symbol val="circle"/>
            <c:size val="8"/>
            <c:spPr>
              <a:solidFill>
                <a:srgbClr val="7B1E2B"/>
              </a:solidFill>
              <a:ln w="9525" cap="flat">
                <a:solidFill>
                  <a:srgbClr val="7B1E2B"/>
                </a:solidFill>
                <a:prstDash val="solid"/>
                <a:round/>
              </a:ln>
              <a:effectLst/>
            </c:spPr>
          </c:marker>
          <c:cat>
            <c:multiLvlStrRef>
              <c:f>Sheet1!$A$2:$A$6</c:f>
              <c:multiLvlStrCache>
                <c:ptCount val="5"/>
                <c:lvl>
                  <c:pt idx="0">
                    <c:v>2026E</c:v>
                  </c:pt>
                  <c:pt idx="1">
                    <c:v>2027E</c:v>
                  </c:pt>
                  <c:pt idx="2">
                    <c:v>2028E</c:v>
                  </c:pt>
                  <c:pt idx="3">
                    <c:v>2029E</c:v>
                  </c:pt>
                  <c:pt idx="4">
                    <c:v>2030E</c:v>
                  </c:pt>
                </c:lvl>
              </c:multiLvlStrCache>
            </c:multiLvlStrRef>
          </c:cat>
          <c:val>
            <c:numRef>
              <c:f>Sheet1!$B$2:$B$6</c:f>
              <c:numCache>
                <c:formatCode>General</c:formatCode>
                <c:ptCount val="5"/>
                <c:pt idx="0">
                  <c:v>35.5463294140094</c:v>
                </c:pt>
                <c:pt idx="1">
                  <c:v>22.6312637120003</c:v>
                </c:pt>
                <c:pt idx="2">
                  <c:v>16.3318159734387</c:v>
                </c:pt>
                <c:pt idx="3">
                  <c:v>11.3677721161802</c:v>
                </c:pt>
                <c:pt idx="4">
                  <c:v>11.9350476839519</c:v>
                </c:pt>
              </c:numCache>
            </c:numRef>
          </c:val>
          <c:smooth val="0"/>
        </c:ser>
        <c:ser>
          <c:idx val="1"/>
          <c:order val="1"/>
          <c:tx>
            <c:strRef>
              <c:f>Sheet1!$C$1</c:f>
              <c:strCache>
                <c:ptCount val="1"/>
                <c:pt idx="0">
                  <c:v>Không gọi vốn cổ phần</c:v>
                </c:pt>
              </c:strCache>
            </c:strRef>
          </c:tx>
          <c:spPr>
            <a:solidFill>
              <a:srgbClr val="A3A3A3"/>
            </a:solidFill>
            <a:ln w="31750" cap="flat">
              <a:solidFill>
                <a:srgbClr val="A3A3A3"/>
              </a:solidFill>
              <a:prstDash val="solid"/>
              <a:round/>
            </a:ln>
            <a:effectLst/>
          </c:spPr>
          <c:invertIfNegative val="0"/>
          <c:dLbls>
            <c:numFmt formatCode="0.0" sourceLinked="0"/>
            <c:txPr>
              <a:bodyPr/>
              <a:lstStyle/>
              <a:p>
                <a:pPr>
                  <a:defRPr b="0" i="0" strike="noStrike" sz="1150" u="none">
                    <a:solidFill>
                      <a:srgbClr val="333333"/>
                    </a:solidFill>
                    <a:latin typeface="Calibri"/>
                  </a:defRPr>
                </a:pPr>
              </a:p>
            </c:txPr>
            <c:dLblPos val="t"/>
            <c:showLegendKey val="0"/>
            <c:showVal val="1"/>
            <c:showCatName val="0"/>
            <c:showSerName val="0"/>
            <c:showPercent val="0"/>
            <c:showBubbleSize val="0"/>
            <c:showLeaderLines val="0"/>
          </c:dLbls>
          <c:marker>
            <c:symbol val="circle"/>
            <c:size val="8"/>
            <c:spPr>
              <a:solidFill>
                <a:srgbClr val="A3A3A3"/>
              </a:solidFill>
              <a:ln w="9525" cap="flat">
                <a:solidFill>
                  <a:srgbClr val="A3A3A3"/>
                </a:solidFill>
                <a:prstDash val="solid"/>
                <a:round/>
              </a:ln>
              <a:effectLst/>
            </c:spPr>
          </c:marker>
          <c:cat>
            <c:multiLvlStrRef>
              <c:f>Sheet1!$A$2:$A$6</c:f>
              <c:multiLvlStrCache>
                <c:ptCount val="5"/>
                <c:lvl>
                  <c:pt idx="0">
                    <c:v>2026E</c:v>
                  </c:pt>
                  <c:pt idx="1">
                    <c:v>2027E</c:v>
                  </c:pt>
                  <c:pt idx="2">
                    <c:v>2028E</c:v>
                  </c:pt>
                  <c:pt idx="3">
                    <c:v>2029E</c:v>
                  </c:pt>
                  <c:pt idx="4">
                    <c:v>2030E</c:v>
                  </c:pt>
                </c:lvl>
              </c:multiLvlStrCache>
            </c:multiLvlStrRef>
          </c:cat>
          <c:val>
            <c:numRef>
              <c:f>Sheet1!$C$2:$C$6</c:f>
              <c:numCache>
                <c:formatCode>General</c:formatCode>
                <c:ptCount val="5"/>
                <c:pt idx="0">
                  <c:v>-2.06443368393639</c:v>
                </c:pt>
                <c:pt idx="1">
                  <c:v>-14.9794993859455</c:v>
                </c:pt>
                <c:pt idx="2">
                  <c:v>-21.2789471245071</c:v>
                </c:pt>
                <c:pt idx="3">
                  <c:v>-26.2429909817656</c:v>
                </c:pt>
                <c:pt idx="4">
                  <c:v>-25.675715413994</c:v>
                </c:pt>
              </c:numCache>
            </c:numRef>
          </c:val>
          <c:smooth val="0"/>
        </c:ser>
        <c:dLbls>
          <c:numFmt formatCode="0.0" sourceLinked="0"/>
          <c:txPr>
            <a:bodyPr/>
            <a:lstStyle/>
            <a:p>
              <a:pPr>
                <a:defRPr b="0" i="0" strike="noStrike" sz="1150" u="none">
                  <a:solidFill>
                    <a:srgbClr val="333333"/>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42"/>
          <c:min val="-32"/>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555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Khuyến nghị</c:v>
                </c:pt>
              </c:strCache>
            </c:strRef>
          </c:tx>
          <c:spPr>
            <a:solidFill>
              <a:srgbClr val="7B1E2B"/>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Theo DCF</c:v>
                  </c:pt>
                  <c:pt idx="1">
                    <c:v>Theo VC Method</c:v>
                  </c:pt>
                  <c:pt idx="2">
                    <c:v>Bình quân, gọi 1 lần</c:v>
                  </c:pt>
                  <c:pt idx="3">
                    <c:v>Chỉ vốn CP, không vay</c:v>
                  </c:pt>
                  <c:pt idx="4">
                    <c:v>Vay 75% CAPEX 2027</c:v>
                  </c:pt>
                  <c:pt idx="5">
                    <c:v>Hai đợt (khuyến nghị)</c:v>
                  </c:pt>
                </c:lvl>
              </c:multiLvlStrCache>
            </c:multiLvlStrRef>
          </c:cat>
          <c:val>
            <c:numRef>
              <c:f>Sheet1!$B$2:$B$7</c:f>
              <c:numCache>
                <c:formatCode>General</c:formatCode>
                <c:ptCount val="6"/>
                <c:pt idx="0">
                  <c:v>0</c:v>
                </c:pt>
                <c:pt idx="1">
                  <c:v>0</c:v>
                </c:pt>
                <c:pt idx="2">
                  <c:v>0</c:v>
                </c:pt>
                <c:pt idx="3">
                  <c:v>0</c:v>
                </c:pt>
                <c:pt idx="4">
                  <c:v>0</c:v>
                </c:pt>
                <c:pt idx="5">
                  <c:v>50.464456375405</c:v>
                </c:pt>
              </c:numCache>
            </c:numRef>
          </c:val>
        </c:ser>
        <c:ser>
          <c:idx val="1"/>
          <c:order val="1"/>
          <c:tx>
            <c:strRef>
              <c:f>Sheet1!$C$1</c:f>
              <c:strCache>
                <c:ptCount val="1"/>
                <c:pt idx="0">
                  <c:v>Phương án khác</c:v>
                </c:pt>
              </c:strCache>
            </c:strRef>
          </c:tx>
          <c:spPr>
            <a:solidFill>
              <a:srgbClr val="A3A3A3"/>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Theo DCF</c:v>
                  </c:pt>
                  <c:pt idx="1">
                    <c:v>Theo VC Method</c:v>
                  </c:pt>
                  <c:pt idx="2">
                    <c:v>Bình quân, gọi 1 lần</c:v>
                  </c:pt>
                  <c:pt idx="3">
                    <c:v>Chỉ vốn CP, không vay</c:v>
                  </c:pt>
                  <c:pt idx="4">
                    <c:v>Vay 75% CAPEX 2027</c:v>
                  </c:pt>
                  <c:pt idx="5">
                    <c:v>Hai đợt (khuyến nghị)</c:v>
                  </c:pt>
                </c:lvl>
              </c:multiLvlStrCache>
            </c:multiLvlStrRef>
          </c:cat>
          <c:val>
            <c:numRef>
              <c:f>Sheet1!$C$2:$C$7</c:f>
              <c:numCache>
                <c:formatCode>General</c:formatCode>
                <c:ptCount val="6"/>
                <c:pt idx="0">
                  <c:v>50.865493637590795</c:v>
                </c:pt>
                <c:pt idx="1">
                  <c:v>39.6913325656869</c:v>
                </c:pt>
                <c:pt idx="2">
                  <c:v>45.848854689401804</c:v>
                </c:pt>
                <c:pt idx="3">
                  <c:v>32.3189922196365</c:v>
                </c:pt>
                <c:pt idx="4">
                  <c:v>47.9808890880585</c:v>
                </c:pt>
                <c:pt idx="5">
                  <c:v>0</c:v>
                </c:pt>
              </c:numCache>
            </c:numRef>
          </c:val>
        </c:ser>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10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Kỳ vọng, hai đợt</c:v>
                </c:pt>
              </c:strCache>
            </c:strRef>
          </c:tx>
          <c:spPr>
            <a:solidFill>
              <a:srgbClr val="7B1E2B"/>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Sheet1!$A$2:$A$5</c:f>
              <c:multiLvlStrCache>
                <c:ptCount val="4"/>
                <c:lvl>
                  <c:pt idx="0">
                    <c:v>Gọi 1 lần – thành công</c:v>
                  </c:pt>
                  <c:pt idx="1">
                    <c:v>Gọi 1 lần – kỳ vọng</c:v>
                  </c:pt>
                  <c:pt idx="2">
                    <c:v>Hai đợt – thành công</c:v>
                  </c:pt>
                  <c:pt idx="3">
                    <c:v>Hai đợt – kỳ vọng</c:v>
                  </c:pt>
                </c:lvl>
              </c:multiLvlStrCache>
            </c:multiLvlStrRef>
          </c:cat>
          <c:val>
            <c:numRef>
              <c:f>Sheet1!$B$2:$B$5</c:f>
              <c:numCache>
                <c:formatCode>General</c:formatCode>
                <c:ptCount val="4"/>
                <c:pt idx="0">
                  <c:v>0</c:v>
                </c:pt>
                <c:pt idx="1">
                  <c:v>0</c:v>
                </c:pt>
                <c:pt idx="2">
                  <c:v>0</c:v>
                </c:pt>
                <c:pt idx="3">
                  <c:v>13.958669037785901</c:v>
                </c:pt>
              </c:numCache>
            </c:numRef>
          </c:val>
        </c:ser>
        <c:ser>
          <c:idx val="1"/>
          <c:order val="1"/>
          <c:tx>
            <c:strRef>
              <c:f>Sheet1!$C$1</c:f>
              <c:strCache>
                <c:ptCount val="1"/>
                <c:pt idx="0">
                  <c:v>Khác</c:v>
                </c:pt>
              </c:strCache>
            </c:strRef>
          </c:tx>
          <c:spPr>
            <a:solidFill>
              <a:srgbClr val="A3A3A3"/>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Sheet1!$A$2:$A$5</c:f>
              <c:multiLvlStrCache>
                <c:ptCount val="4"/>
                <c:lvl>
                  <c:pt idx="0">
                    <c:v>Gọi 1 lần – thành công</c:v>
                  </c:pt>
                  <c:pt idx="1">
                    <c:v>Gọi 1 lần – kỳ vọng</c:v>
                  </c:pt>
                  <c:pt idx="2">
                    <c:v>Hai đợt – thành công</c:v>
                  </c:pt>
                  <c:pt idx="3">
                    <c:v>Hai đợt – kỳ vọng</c:v>
                  </c:pt>
                </c:lvl>
              </c:multiLvlStrCache>
            </c:multiLvlStrRef>
          </c:cat>
          <c:val>
            <c:numRef>
              <c:f>Sheet1!$C$2:$C$5</c:f>
              <c:numCache>
                <c:formatCode>General</c:formatCode>
                <c:ptCount val="4"/>
                <c:pt idx="0">
                  <c:v>23.3943515751103</c:v>
                </c:pt>
                <c:pt idx="1">
                  <c:v>11.410347856199001</c:v>
                </c:pt>
                <c:pt idx="2">
                  <c:v>25.668241105300698</c:v>
                </c:pt>
                <c:pt idx="3">
                  <c:v>0</c:v>
                </c:pt>
              </c:numCache>
            </c:numRef>
          </c:val>
        </c:ser>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28"/>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Trễ nhà máy</c:v>
                </c:pt>
              </c:strCache>
            </c:strRef>
          </c:tx>
          <c:spPr>
            <a:solidFill>
              <a:srgbClr val="7B1E2B"/>
            </a:solidFill>
            <a:effectLst/>
          </c:spPr>
          <c:invertIfNegative val="0"/>
          <c:dLbls>
            <c:numFmt formatCode=";&quot;−&quot;0.0;;" sourceLinked="0"/>
            <c:txPr>
              <a:bodyPr/>
              <a:lstStyle/>
              <a:p>
                <a:pPr>
                  <a:defRPr b="1" i="0" strike="noStrike" sz="1150" u="none">
                    <a:solidFill>
                      <a:srgbClr val="FFFFFF"/>
                    </a:solidFill>
                    <a:latin typeface="Calibri"/>
                  </a:defRPr>
                </a:pPr>
              </a:p>
            </c:txPr>
            <c:dLblPos val="inBase"/>
            <c:showLegendKey val="0"/>
            <c:showVal val="1"/>
            <c:showCatName val="0"/>
            <c:showSerName val="0"/>
            <c:showPercent val="0"/>
            <c:showBubbleSize val="0"/>
            <c:showLeaderLines val="0"/>
          </c:dLbls>
          <c:cat>
            <c:multiLvlStrRef>
              <c:f>Sheet1!$A$2:$A$6</c:f>
              <c:multiLvlStrCache>
                <c:ptCount val="5"/>
                <c:lvl>
                  <c:pt idx="0">
                    <c:v>Nhà máy trễ sang 2028</c:v>
                  </c:pt>
                  <c:pt idx="1">
                    <c:v>WACC +1 điểm %</c:v>
                  </c:pt>
                  <c:pt idx="2">
                    <c:v>Giá trị thoái vốn −15%</c:v>
                  </c:pt>
                  <c:pt idx="3">
                    <c:v>RONIC 14% (thay vì 18%)</c:v>
                  </c:pt>
                  <c:pt idx="4">
                    <c:v>z = 45% (thay vì 40%)</c:v>
                  </c:pt>
                </c:lvl>
              </c:multiLvlStrCache>
            </c:multiLvlStrRef>
          </c:cat>
          <c:val>
            <c:numRef>
              <c:f>Sheet1!$B$2:$B$6</c:f>
              <c:numCache>
                <c:formatCode>General</c:formatCode>
                <c:ptCount val="5"/>
                <c:pt idx="0">
                  <c:v>-7.87100726440263</c:v>
                </c:pt>
                <c:pt idx="1">
                  <c:v>0</c:v>
                </c:pt>
                <c:pt idx="2">
                  <c:v>0</c:v>
                </c:pt>
                <c:pt idx="3">
                  <c:v>0</c:v>
                </c:pt>
                <c:pt idx="4">
                  <c:v>0</c:v>
                </c:pt>
              </c:numCache>
            </c:numRef>
          </c:val>
        </c:ser>
        <c:ser>
          <c:idx val="1"/>
          <c:order val="1"/>
          <c:tx>
            <c:strRef>
              <c:f>Sheet1!$C$1</c:f>
              <c:strCache>
                <c:ptCount val="1"/>
                <c:pt idx="0">
                  <c:v>Khác</c:v>
                </c:pt>
              </c:strCache>
            </c:strRef>
          </c:tx>
          <c:spPr>
            <a:solidFill>
              <a:srgbClr val="A3A3A3"/>
            </a:solidFill>
            <a:effectLst/>
          </c:spPr>
          <c:invertIfNegative val="0"/>
          <c:dLbls>
            <c:numFmt formatCode=";&quot;−&quot;0.0;;" sourceLinked="0"/>
            <c:txPr>
              <a:bodyPr/>
              <a:lstStyle/>
              <a:p>
                <a:pPr>
                  <a:defRPr b="1" i="0" strike="noStrike" sz="1150" u="none">
                    <a:solidFill>
                      <a:srgbClr val="FFFFFF"/>
                    </a:solidFill>
                    <a:latin typeface="Calibri"/>
                  </a:defRPr>
                </a:pPr>
              </a:p>
            </c:txPr>
            <c:dLblPos val="inBase"/>
            <c:showLegendKey val="0"/>
            <c:showVal val="1"/>
            <c:showCatName val="0"/>
            <c:showSerName val="0"/>
            <c:showPercent val="0"/>
            <c:showBubbleSize val="0"/>
            <c:showLeaderLines val="0"/>
          </c:dLbls>
          <c:cat>
            <c:multiLvlStrRef>
              <c:f>Sheet1!$A$2:$A$6</c:f>
              <c:multiLvlStrCache>
                <c:ptCount val="5"/>
                <c:lvl>
                  <c:pt idx="0">
                    <c:v>Nhà máy trễ sang 2028</c:v>
                  </c:pt>
                  <c:pt idx="1">
                    <c:v>WACC +1 điểm %</c:v>
                  </c:pt>
                  <c:pt idx="2">
                    <c:v>Giá trị thoái vốn −15%</c:v>
                  </c:pt>
                  <c:pt idx="3">
                    <c:v>RONIC 14% (thay vì 18%)</c:v>
                  </c:pt>
                  <c:pt idx="4">
                    <c:v>z = 45% (thay vì 40%)</c:v>
                  </c:pt>
                </c:lvl>
              </c:multiLvlStrCache>
            </c:multiLvlStrRef>
          </c:cat>
          <c:val>
            <c:numRef>
              <c:f>Sheet1!$C$2:$C$6</c:f>
              <c:numCache>
                <c:formatCode>General</c:formatCode>
                <c:ptCount val="5"/>
                <c:pt idx="0">
                  <c:v>0</c:v>
                </c:pt>
                <c:pt idx="1">
                  <c:v>-4.74311048872458</c:v>
                </c:pt>
                <c:pt idx="2">
                  <c:v>-4.67728330329683</c:v>
                </c:pt>
                <c:pt idx="3">
                  <c:v>-3.87886517244529</c:v>
                </c:pt>
                <c:pt idx="4">
                  <c:v>-2.59849072405379</c:v>
                </c:pt>
              </c:numCache>
            </c:numRef>
          </c:val>
        </c:ser>
        <c:dLbls>
          <c:numFmt formatCode=";&quot;−&quot;0.0;;" sourceLinked="0"/>
          <c:txPr>
            <a:bodyPr/>
            <a:lstStyle/>
            <a:p>
              <a:pPr>
                <a:defRPr b="1" i="0" strike="noStrike" sz="1150" u="none">
                  <a:solidFill>
                    <a:srgbClr val="FFFFFF"/>
                  </a:solidFill>
                  <a:latin typeface="Calibri"/>
                </a:defRPr>
              </a:pPr>
            </a:p>
          </c:txPr>
          <c:dLblPos val="inBase"/>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0"/>
          <c:min val="-9"/>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Hiện tại</c:v>
                </c:pt>
              </c:strCache>
            </c:strRef>
          </c:tx>
          <c:spPr>
            <a:solidFill>
              <a:srgbClr val="7B1E2B"/>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Đầu tăng trưởng (z 40%)</c:v>
                  </c:pt>
                  <c:pt idx="1">
                    <c:v>Thử nghiệm (z 57,5%)</c:v>
                  </c:pt>
                  <c:pt idx="2">
                    <c:v>Ươm mầm (z 72,5%)</c:v>
                  </c:pt>
                </c:lvl>
              </c:multiLvlStrCache>
            </c:multiLvlStrRef>
          </c:cat>
          <c:val>
            <c:numRef>
              <c:f>Sheet1!$B$2:$B$4</c:f>
              <c:numCache>
                <c:formatCode>General</c:formatCode>
                <c:ptCount val="3"/>
                <c:pt idx="0">
                  <c:v>62.363777377291</c:v>
                </c:pt>
                <c:pt idx="1">
                  <c:v>0</c:v>
                </c:pt>
                <c:pt idx="2">
                  <c:v>0</c:v>
                </c:pt>
              </c:numCache>
            </c:numRef>
          </c:val>
        </c:ser>
        <c:ser>
          <c:idx val="1"/>
          <c:order val="1"/>
          <c:tx>
            <c:strRef>
              <c:f>Sheet1!$C$1</c:f>
              <c:strCache>
                <c:ptCount val="1"/>
                <c:pt idx="0">
                  <c:v>Giai đoạn sớm hơn</c:v>
                </c:pt>
              </c:strCache>
            </c:strRef>
          </c:tx>
          <c:spPr>
            <a:solidFill>
              <a:srgbClr val="A3A3A3"/>
            </a:solidFill>
            <a:effectLst/>
          </c:spPr>
          <c:invertIfNegative val="0"/>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Đầu tăng trưởng (z 40%)</c:v>
                  </c:pt>
                  <c:pt idx="1">
                    <c:v>Thử nghiệm (z 57,5%)</c:v>
                  </c:pt>
                  <c:pt idx="2">
                    <c:v>Ươm mầm (z 72,5%)</c:v>
                  </c:pt>
                </c:lvl>
              </c:multiLvlStrCache>
            </c:multiLvlStrRef>
          </c:cat>
          <c:val>
            <c:numRef>
              <c:f>Sheet1!$C$2:$C$4</c:f>
              <c:numCache>
                <c:formatCode>General</c:formatCode>
                <c:ptCount val="3"/>
                <c:pt idx="0">
                  <c:v>0</c:v>
                </c:pt>
                <c:pt idx="1">
                  <c:v>44.1743423089145</c:v>
                </c:pt>
                <c:pt idx="2">
                  <c:v>28.5833979645917</c:v>
                </c:pt>
              </c:numCache>
            </c:numRef>
          </c:val>
        </c:ser>
        <c:dLbls>
          <c:numFmt formatCode="0.0;;;" sourceLinked="0"/>
          <c:txPr>
            <a:bodyPr/>
            <a:lstStyle/>
            <a:p>
              <a:pPr>
                <a:defRPr b="1" i="0" strike="noStrike" sz="1150" u="none">
                  <a:solidFill>
                    <a:srgbClr val="FFFFFF"/>
                  </a:solidFill>
                  <a:latin typeface="Calibri"/>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50" b="0" i="0" u="none" strike="noStrike">
                <a:solidFill>
                  <a:srgbClr val="555555"/>
                </a:solidFill>
                <a:latin typeface="Calibri"/>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8A8A8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AgriPack là doanh nghiệp sản xuất bao bì ép từ bã mía và vỏ trứng, bán B2B. Bài trình bày đi theo dàn ý học phần: ý tưởng kinh doanh, phân tích BCTC và giai đoạn, vĩ mô – ngành, dự phóng 5 năm, định giá DCF và VC Method, kế hoạch huy động vốn, rủi ro và câu hỏi Bonus. Kết luận chính: pre-money khuyến nghị 31,8 tỷ đồng, gọi 37,6 tỷ vốn cổ phần theo hai đợt.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cấu trúc bài. Phần 1–3 trả lời câu hỏi doanh nghiệp đang ở đâu; phần 4–5 trả lời doanh nghiệp đáng giá bao nhiêu; phần 6 và rủi ro trả lời nên gọi vốn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con số cần nhớ. Pre-money 31,8 tỷ là bình quân DCF và VC Method. Vốn cần gọi (37,6 tỷ) lớn hơn pre-money, nên nếu gọi một lần founder chỉ còn 45,8% – mất quyền kiểm soát. Chia hai đợt giữ cho founder 50,5% và vẫn cho nhà đầu tư IRR kỳ vọng 14,0%, ngang WACC. Ba luận điểm bên dưới là xương sống của cả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là bao bì nhựa dùng một lần, áp lực chuyển đổi đến từ quy định chứ chưa đến từ giá. Giải pháp của AgriPack dùng phụ phẩm nông nghiệp nên chi phí biến đổi thấp, cho phép định giá ngang sản phẩm thay thế. Biểu đồ bên phải: F&amp;B/FMCG chiếm gần 80% doanh thu, mảng đệm điện tử nhỏ nhưng tăng nhanh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là thị trường bao bì xanh Việt Nam, SAM là phân khúc sát nhất với AgriPack: đồ dùng một lần phân hủy sinh học cho ngành ăn uống, chỉ 33,9 triệu USD. SOM không lấy theo tỷ lệ địa lý mà là doanh thu AgriPack thực sự giành được. Vì SAM chỉ tăng 4,7%/năm, doanh thu F&amp;B tăng 26%/năm đồng nghĩa thị phần phải tăng lên 11,0% năm 2030; trên 15% chúng tôi coi là thiếu cơ sở.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thu tăng hơn gấp đôi trong hai năm. Biên EBITDA cải thiện chủ yếu nhờ chi phí cố định – tiền lương và tiền thuê – tăng chậm hơn doanh thu, không phải nhờ lợi thế quy mô trong sản xuất. Lưu ý biên gộp 73% trên BCTC: chi phí sản xuất như lương công nhân, điện nước, khấu hao đang nằm ngoài giá vốn; phân loại lại chỉ còn khoảng 41%. ROE 2025 vẫn thấp hơn chi phí vốn chủ sở hữu.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2023 công ty sống nhờ 8,1 tỷ vốn góp; năm 2025 dòng tiền kinh doanh đã đủ trang trải CAPEX. Theo các tiêu chí về quy mô, sinh lời, dòng tiền và cấu trúc vốn, AgriPack ở giai đoạn Đầu tăng trưởng. Đề bài cho tỷ lệ thất bại 35–45%; chúng tôi dùng trung điểm 40% và dùng khoảng 35–45% cho độ nhạy.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chỉ báo vĩ mô và cách chúng đi vào mô hình: cầu dịch vụ ăn uống tốt nên sản lượng F&amp;B năm 2026 tăng 32% nhờ máy ép bổ sung; lương và giá điện tăng nhanh hơn CPI nên giá bán chỉ tăng 2%/năm; lãi suất đã đảo chiều nên chi phí nợ 10%; CNY tăng giá làm máy ép nhập khẩu đắt hơn. Bên phải: biên EBITDA 16,2% của AgriPack chỉ thấp hơn DHC và ILS, gần gấp đôi trung vị 8,8% của 15 doanh nghiệp bao bì niêm yết.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tôi không áp một tỷ lệ tăng trưởng cố định mà dự phóng sản lượng và giá cho từng phân khúc. Sản lượng F&amp;B tăng 32% năm 2026 nhờ máy ép bổ sung, chậm lại 22% năm 2027 khi nhà máy hiện hữu gần đầy công suất, rồi tăng 35% năm 2028 khi hai dây chuyền mới chạy. Giá bán chỉ tăng 2%/năm vì cạnh tranh với hàng nhập khẩu. Giữ nhịp 40–50%/năm như lịch sử sẽ đòi hỏi 15–18% SAM – khó bảo vệ.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đề bài, CAPEX năm 2027 bằng 65% doanh thu, tức 51,8 tỷ đồng – hai dây chuyền ép – sấy mới, kho bã mía và phòng kiểm nghiệm. FCFF âm 2026–2028 và chỉ dương từ 2029. ROIC giảm về 5,1% năm 2028 khi nhà máy mới còn công suất trống, đến 2030 mới đạt 13,9%, xấp xỉ WACC 13,8%: trong 5 năm dự phóng, khoản đầu tư chỉ vừa đủ bù chi phí vốn, giá trị nằm ở tăng trưởng sau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2026–2028 cần 77,8 tỷ CAPEX và 13,4 tỷ tăng tiền dự trữ; dòng tiền kinh doanh chỉ đáp ứng 22,5 tỷ. Vay trung hạn tài trợ 60% CAPEX nhà máy với tài sản bảo đảm là chính nhà máy. Nếu không gọi vốn cổ phần, tiền mặt âm ngay cuối 2026; thiếu hụt lớn nhất so với tiền tối thiểu là 34,2 tỷ, cộng 10% dự phòng ra 37,6 tỷ.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phí vốn chủ sở hữu 16,2% theo CAPM với total beta 1,48: beta ngành bao bì được điều chỉnh đòn bẩy rồi chia hệ số tương quan 0,7 vì quỹ VC chỉ đa dạng hóa một phần. Chúng tôi không cộng thêm phần bù startup vào WACC vì rủi ro thất bại đã được tính trong VC Method. Giá trị hiện tại của FCFF 5 năm âm 33,0 tỷ; giá trị cuối kỳ (dùng FCFF chuẩn hóa với g 5%, RONIC 18%) tạo toàn bộ giá trị. Độ nhạy WACC và g ±1 điểm % cho 27,5–56,8 tỷ.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VC Method nhìn từ phía nhà đầu tư: giá trị thoái vốn năm 2030 là bình quân của P/E 9,4 lần và EV/EBITDA 8,0 lần. Tỷ lệ thất bại 40% là xác suất tích lũy trong 5 năm, tương đương khoảng 9,7% mỗi năm. Post-money 62,4 tỷ, trừ 37,6 tỷ vốn mới ra pre-money 24,8 tỷ. Chênh lệch với DCF chủ yếu vì DCF không tính xác suất thất bại: DCF điều chỉnh xác suất sống sót cho 29,4 tỷ, sát mức bình quân.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tôi lấy bình quân 50/50 của DCF và VC Method. Bội số EV/EBITDA ngành chỉ để đối chiếu vì doanh nghiệp niêm yết đã đủ công suất, còn AgriPack phải bỏ thêm gần 69 tỷ để đạt EBITDA dự phóng. Kết quả nhạy nhất với sản lượng: ở kịch bản Bear cả hai phương pháp đều âm; nếu nhà máy trễ sang 2028 như file mẫu, pre-money giảm còn 24,0 tỷ.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Vốn cổ phần cần gọi lớn hơn pre-money, nên gọi một lần sẽ trao 54,2% cổ phần. Đề xuất: đợt 1 20,7 tỷ ngay; đợt 2 16,9 tỷ cuối 2027 khi nhà máy vận hành và đạt các mốc, định giá lại với tỷ lệ thất bại còn 25%. Nhà đầu tư đổi một phần tỷ lệ sở hữu lấy quyền lựa chọn: chỉ bỏ thêm vốn khi rủi ro đã giảm, nên IRR kỳ vọng tăng lên ngang WACC.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Rủi ro lớn nhất là cầu: ở kịch bản Bear pre-money giảm 59,1 tỷ, xuống mức âm – vì vậy đợt 2 chỉ giải ngân khi đạt mốc. Trong các rủi ro còn lại, trễ tiến độ nhà máy tác động mạnh nhất, gần gấp đôi WACC +1 điểm % hay giá trị thoái vốn −15%. Mỗi rủi ro gắn với một chỉ báo có ngưỡng để nhà đầu tư biết sớm khi nào luận điểm sai. Ngoài mô hình: cần BCTC kiểm toán, cam kết gắn bó của đội ngũ sáng lập và chứng nhận phân hủy, an toàn thực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chưa có doanh thu, DCF không còn cơ sở vì dòng tiền gần như hoàn toàn là giả định. Giữ nguyên giá trị thoái vốn và WACC, chỉ nâng tỷ lệ thất bại theo giai đoạn, post-money giảm hơn một nửa. Scorecard và Berkus cần dữ liệu các vòng gọi vốn hạt giống GreenTech tại Việt Nam – hiện chưa có nguồn công khai đủ tin cậy. Mỗi mốc đạt được – mẫu thử qua kiểm nghiệm, thư ý định mua của chuỗi F&amp;B, hợp đồng bã mía – là căn cứ để giảm z và tăng giá trị ở vòng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ba ý: định giá, cấu trúc tài trợ và điều kiện giải ngân đợt 2. Nêu rõ các giả định cần kiểm chứng để thầy cô thấy nhóm biết giới hạn của mô hình: Rf và CRP là ước tính; mâu thuẫn năm đầu tư giữa đề bài và file mẫu đã được chạy thành phương án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1E2B"/>
        </a:solidFill>
      </p:bgPr>
    </p:bg>
    <p:spTree>
      <p:nvGrpSpPr>
        <p:cNvPr id="1" name=""/>
        <p:cNvGrpSpPr/>
        <p:nvPr/>
      </p:nvGrpSpPr>
      <p:grpSpPr>
        <a:xfrm>
          <a:off x="0" y="0"/>
          <a:ext cx="0" cy="0"/>
          <a:chOff x="0" y="0"/>
          <a:chExt cx="0" cy="0"/>
        </a:xfrm>
      </p:grpSpPr>
      <p:sp>
        <p:nvSpPr>
          <p:cNvPr id="2" name="Text 0"/>
          <p:cNvSpPr txBox="1"/>
          <p:nvPr/>
        </p:nvSpPr>
        <p:spPr>
          <a:xfrm>
            <a:off x="548640" y="914400"/>
            <a:ext cx="7498080" cy="320040"/>
          </a:xfrm>
          <a:prstGeom prst="rect">
            <a:avLst/>
          </a:prstGeom>
          <a:noFill/>
          <a:ln/>
        </p:spPr>
        <p:txBody>
          <a:bodyPr wrap="square" lIns="0" tIns="0" rIns="0" bIns="0" rtlCol="0" anchor="t"/>
          <a:lstStyle/>
          <a:p>
            <a:pPr indent="0" marL="0">
              <a:buNone/>
            </a:pPr>
            <a:r>
              <a:rPr lang="en-US" sz="1300" b="1" spc="200" kern="0" dirty="0">
                <a:solidFill>
                  <a:srgbClr val="EBCFD4"/>
                </a:solidFill>
                <a:latin typeface="Calibri" pitchFamily="34" charset="0"/>
                <a:ea typeface="Calibri" pitchFamily="34" charset="-122"/>
                <a:cs typeface="Calibri" pitchFamily="34" charset="-120"/>
              </a:rPr>
              <a:t>BÁO CÁO ĐỊNH GIÁ &amp; ĐỀ XUẤT GỌI VỐN SERIES A</a:t>
            </a:r>
            <a:endParaRPr lang="en-US" sz="1300" dirty="0"/>
          </a:p>
        </p:txBody>
      </p:sp>
      <p:sp>
        <p:nvSpPr>
          <p:cNvPr id="3" name="Text 1"/>
          <p:cNvSpPr txBox="1"/>
          <p:nvPr/>
        </p:nvSpPr>
        <p:spPr>
          <a:xfrm>
            <a:off x="548640" y="1325880"/>
            <a:ext cx="749808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CTCP AgriPack</a:t>
            </a:r>
            <a:endParaRPr lang="en-US" sz="5400" dirty="0"/>
          </a:p>
        </p:txBody>
      </p:sp>
      <p:sp>
        <p:nvSpPr>
          <p:cNvPr id="4" name="Text 2"/>
          <p:cNvSpPr txBox="1"/>
          <p:nvPr/>
        </p:nvSpPr>
        <p:spPr>
          <a:xfrm>
            <a:off x="548640" y="2377440"/>
            <a:ext cx="7498080" cy="411480"/>
          </a:xfrm>
          <a:prstGeom prst="rect">
            <a:avLst/>
          </a:prstGeom>
          <a:noFill/>
          <a:ln/>
        </p:spPr>
        <p:txBody>
          <a:bodyPr wrap="square" lIns="0" tIns="0" rIns="0" bIns="0" rtlCol="0" anchor="t"/>
          <a:lstStyle/>
          <a:p>
            <a:pPr indent="0" marL="0">
              <a:buNone/>
            </a:pPr>
            <a:r>
              <a:rPr lang="en-US" sz="2000" dirty="0">
                <a:solidFill>
                  <a:srgbClr val="EBCFD4"/>
                </a:solidFill>
                <a:latin typeface="Calibri" pitchFamily="34" charset="0"/>
                <a:ea typeface="Calibri" pitchFamily="34" charset="-122"/>
                <a:cs typeface="Calibri" pitchFamily="34" charset="-120"/>
              </a:rPr>
              <a:t>Bao bì ép bột bã mía – vỏ trứng · B2B · Gia Lai</a:t>
            </a:r>
            <a:endParaRPr lang="en-US" sz="2000" dirty="0"/>
          </a:p>
        </p:txBody>
      </p:sp>
      <p:sp>
        <p:nvSpPr>
          <p:cNvPr id="5" name="Text 3"/>
          <p:cNvSpPr txBox="1"/>
          <p:nvPr/>
        </p:nvSpPr>
        <p:spPr>
          <a:xfrm>
            <a:off x="548640" y="3154680"/>
            <a:ext cx="7223760" cy="9144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Gọi 37,6 tỷ đồng vốn cổ phần theo hai đợt, pre-money khuyến nghị 31,8 tỷ đồng</a:t>
            </a:r>
            <a:endParaRPr lang="en-US" sz="2200" dirty="0"/>
          </a:p>
        </p:txBody>
      </p:sp>
      <p:sp>
        <p:nvSpPr>
          <p:cNvPr id="6" name="Text 4"/>
          <p:cNvSpPr txBox="1"/>
          <p:nvPr/>
        </p:nvSpPr>
        <p:spPr>
          <a:xfrm>
            <a:off x="548640" y="5257800"/>
            <a:ext cx="8001000" cy="731520"/>
          </a:xfrm>
          <a:prstGeom prst="rect">
            <a:avLst/>
          </a:prstGeom>
          <a:noFill/>
          <a:ln/>
        </p:spPr>
        <p:txBody>
          <a:bodyPr wrap="square" lIns="0" tIns="0" rIns="0" bIns="0" rtlCol="0" anchor="t"/>
          <a:lstStyle/>
          <a:p>
            <a:pPr indent="0" marL="0">
              <a:spcAft>
                <a:spcPts val="400"/>
              </a:spcAft>
              <a:buNone/>
            </a:pPr>
            <a:r>
              <a:rPr lang="en-US" sz="1200" dirty="0">
                <a:solidFill>
                  <a:srgbClr val="EBCFD4"/>
                </a:solidFill>
                <a:latin typeface="Calibri" pitchFamily="34" charset="0"/>
                <a:ea typeface="Calibri" pitchFamily="34" charset="-122"/>
                <a:cs typeface="Calibri" pitchFamily="34" charset="-120"/>
              </a:rPr>
              <a:t>Học phần TTKN · Thời điểm định giá 01/01/2026 · Ngày báo cáo 29/09/2026</a:t>
            </a:r>
            <a:endParaRPr lang="en-US" sz="1200" dirty="0"/>
          </a:p>
          <a:p>
            <a:pPr indent="0" marL="0">
              <a:spcAft>
                <a:spcPts val="400"/>
              </a:spcAft>
              <a:buNone/>
            </a:pPr>
            <a:r>
              <a:rPr lang="en-US" sz="1200" dirty="0">
                <a:solidFill>
                  <a:srgbClr val="FFFFFF"/>
                </a:solidFill>
                <a:latin typeface="Calibri" pitchFamily="34" charset="0"/>
                <a:ea typeface="Calibri" pitchFamily="34" charset="-122"/>
                <a:cs typeface="Calibri" pitchFamily="34" charset="-120"/>
              </a:rPr>
              <a:t>Nhóm: Nguyễn Thu Thủy · Tạ Hồng Anh · Nguyễn Đức Lộc · Lý Đặng Thu Hằng · Đào Khánh Linh · Nguyễn Thị Phương Thảo</a:t>
            </a:r>
            <a:endParaRPr lang="en-US" sz="1200" dirty="0"/>
          </a:p>
        </p:txBody>
      </p:sp>
      <p:sp>
        <p:nvSpPr>
          <p:cNvPr id="7" name="Shape 5"/>
          <p:cNvSpPr/>
          <p:nvPr/>
        </p:nvSpPr>
        <p:spPr>
          <a:xfrm>
            <a:off x="8549640" y="914400"/>
            <a:ext cx="3182112" cy="1261872"/>
          </a:xfrm>
          <a:prstGeom prst="rect">
            <a:avLst/>
          </a:prstGeom>
          <a:solidFill>
            <a:srgbClr val="5A1520"/>
          </a:solidFill>
          <a:ln w="6350">
            <a:solidFill>
              <a:srgbClr val="5A1520"/>
            </a:solidFill>
            <a:prstDash val="solid"/>
          </a:ln>
        </p:spPr>
      </p:sp>
      <p:sp>
        <p:nvSpPr>
          <p:cNvPr id="8" name="Text 6"/>
          <p:cNvSpPr txBox="1"/>
          <p:nvPr/>
        </p:nvSpPr>
        <p:spPr>
          <a:xfrm>
            <a:off x="8778240" y="1042416"/>
            <a:ext cx="2743200"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38,9 tỷ</a:t>
            </a:r>
            <a:endParaRPr lang="en-US" sz="3400" dirty="0"/>
          </a:p>
        </p:txBody>
      </p:sp>
      <p:sp>
        <p:nvSpPr>
          <p:cNvPr id="9" name="Text 7"/>
          <p:cNvSpPr txBox="1"/>
          <p:nvPr/>
        </p:nvSpPr>
        <p:spPr>
          <a:xfrm>
            <a:off x="8778240" y="1719072"/>
            <a:ext cx="2743200" cy="310896"/>
          </a:xfrm>
          <a:prstGeom prst="rect">
            <a:avLst/>
          </a:prstGeom>
          <a:noFill/>
          <a:ln/>
        </p:spPr>
        <p:txBody>
          <a:bodyPr wrap="square" lIns="0" tIns="0" rIns="0" bIns="0" rtlCol="0" anchor="t"/>
          <a:lstStyle/>
          <a:p>
            <a:pPr indent="0" marL="0">
              <a:buNone/>
            </a:pPr>
            <a:r>
              <a:rPr lang="en-US" sz="1300" dirty="0">
                <a:solidFill>
                  <a:srgbClr val="EBCFD4"/>
                </a:solidFill>
                <a:latin typeface="Calibri" pitchFamily="34" charset="0"/>
                <a:ea typeface="Calibri" pitchFamily="34" charset="-122"/>
                <a:cs typeface="Calibri" pitchFamily="34" charset="-120"/>
              </a:rPr>
              <a:t>Pre-money theo DCF</a:t>
            </a:r>
            <a:endParaRPr lang="en-US" sz="1300" dirty="0"/>
          </a:p>
        </p:txBody>
      </p:sp>
      <p:sp>
        <p:nvSpPr>
          <p:cNvPr id="10" name="Shape 8"/>
          <p:cNvSpPr/>
          <p:nvPr/>
        </p:nvSpPr>
        <p:spPr>
          <a:xfrm>
            <a:off x="8549640" y="2395728"/>
            <a:ext cx="3182112" cy="1261872"/>
          </a:xfrm>
          <a:prstGeom prst="rect">
            <a:avLst/>
          </a:prstGeom>
          <a:solidFill>
            <a:srgbClr val="5A1520"/>
          </a:solidFill>
          <a:ln w="6350">
            <a:solidFill>
              <a:srgbClr val="5A1520"/>
            </a:solidFill>
            <a:prstDash val="solid"/>
          </a:ln>
        </p:spPr>
      </p:sp>
      <p:sp>
        <p:nvSpPr>
          <p:cNvPr id="11" name="Text 9"/>
          <p:cNvSpPr txBox="1"/>
          <p:nvPr/>
        </p:nvSpPr>
        <p:spPr>
          <a:xfrm>
            <a:off x="8778240" y="2523744"/>
            <a:ext cx="2743200"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24,8 tỷ</a:t>
            </a:r>
            <a:endParaRPr lang="en-US" sz="3400" dirty="0"/>
          </a:p>
        </p:txBody>
      </p:sp>
      <p:sp>
        <p:nvSpPr>
          <p:cNvPr id="12" name="Text 10"/>
          <p:cNvSpPr txBox="1"/>
          <p:nvPr/>
        </p:nvSpPr>
        <p:spPr>
          <a:xfrm>
            <a:off x="8778240" y="3200400"/>
            <a:ext cx="2743200" cy="310896"/>
          </a:xfrm>
          <a:prstGeom prst="rect">
            <a:avLst/>
          </a:prstGeom>
          <a:noFill/>
          <a:ln/>
        </p:spPr>
        <p:txBody>
          <a:bodyPr wrap="square" lIns="0" tIns="0" rIns="0" bIns="0" rtlCol="0" anchor="t"/>
          <a:lstStyle/>
          <a:p>
            <a:pPr indent="0" marL="0">
              <a:buNone/>
            </a:pPr>
            <a:r>
              <a:rPr lang="en-US" sz="1300" dirty="0">
                <a:solidFill>
                  <a:srgbClr val="EBCFD4"/>
                </a:solidFill>
                <a:latin typeface="Calibri" pitchFamily="34" charset="0"/>
                <a:ea typeface="Calibri" pitchFamily="34" charset="-122"/>
                <a:cs typeface="Calibri" pitchFamily="34" charset="-120"/>
              </a:rPr>
              <a:t>Pre-money theo VC Method</a:t>
            </a:r>
            <a:endParaRPr lang="en-US" sz="1300" dirty="0"/>
          </a:p>
        </p:txBody>
      </p:sp>
      <p:sp>
        <p:nvSpPr>
          <p:cNvPr id="13" name="Shape 11"/>
          <p:cNvSpPr/>
          <p:nvPr/>
        </p:nvSpPr>
        <p:spPr>
          <a:xfrm>
            <a:off x="8549640" y="3877056"/>
            <a:ext cx="3182112" cy="1261872"/>
          </a:xfrm>
          <a:prstGeom prst="rect">
            <a:avLst/>
          </a:prstGeom>
          <a:solidFill>
            <a:srgbClr val="5A1520"/>
          </a:solidFill>
          <a:ln w="6350">
            <a:solidFill>
              <a:srgbClr val="5A1520"/>
            </a:solidFill>
            <a:prstDash val="solid"/>
          </a:ln>
        </p:spPr>
      </p:sp>
      <p:sp>
        <p:nvSpPr>
          <p:cNvPr id="14" name="Text 12"/>
          <p:cNvSpPr txBox="1"/>
          <p:nvPr/>
        </p:nvSpPr>
        <p:spPr>
          <a:xfrm>
            <a:off x="8778240" y="4005072"/>
            <a:ext cx="2743200"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50,5%</a:t>
            </a:r>
            <a:endParaRPr lang="en-US" sz="3400" dirty="0"/>
          </a:p>
        </p:txBody>
      </p:sp>
      <p:sp>
        <p:nvSpPr>
          <p:cNvPr id="15" name="Text 13"/>
          <p:cNvSpPr txBox="1"/>
          <p:nvPr/>
        </p:nvSpPr>
        <p:spPr>
          <a:xfrm>
            <a:off x="8778240" y="4681728"/>
            <a:ext cx="2743200" cy="310896"/>
          </a:xfrm>
          <a:prstGeom prst="rect">
            <a:avLst/>
          </a:prstGeom>
          <a:noFill/>
          <a:ln/>
        </p:spPr>
        <p:txBody>
          <a:bodyPr wrap="square" lIns="0" tIns="0" rIns="0" bIns="0" rtlCol="0" anchor="t"/>
          <a:lstStyle/>
          <a:p>
            <a:pPr indent="0" marL="0">
              <a:buNone/>
            </a:pPr>
            <a:r>
              <a:rPr lang="en-US" sz="1300" dirty="0">
                <a:solidFill>
                  <a:srgbClr val="EBCFD4"/>
                </a:solidFill>
                <a:latin typeface="Calibri" pitchFamily="34" charset="0"/>
                <a:ea typeface="Calibri" pitchFamily="34" charset="-122"/>
                <a:cs typeface="Calibri" pitchFamily="34" charset="-120"/>
              </a:rPr>
              <a:t>Founder giữ sau hai đợt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NỘI DUNG</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Bài trình bày đi theo dàn ý của học phần: từ ý tưởng kinh doanh đến cấu trúc gọi vốn</a:t>
            </a:r>
            <a:endParaRPr lang="en-US" sz="2400" dirty="0"/>
          </a:p>
        </p:txBody>
      </p:sp>
      <p:sp>
        <p:nvSpPr>
          <p:cNvPr id="4" name="Text 2"/>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457200" y="1691640"/>
            <a:ext cx="658368" cy="658368"/>
          </a:xfrm>
          <a:prstGeom prst="ellipse">
            <a:avLst/>
          </a:prstGeom>
          <a:solidFill>
            <a:srgbClr val="7B1E2B"/>
          </a:solidFill>
          <a:ln w="12700">
            <a:solidFill>
              <a:srgbClr val="7B1E2B"/>
            </a:solidFill>
            <a:prstDash val="solid"/>
          </a:ln>
        </p:spPr>
      </p:sp>
      <p:sp>
        <p:nvSpPr>
          <p:cNvPr id="7" name="Text 4"/>
          <p:cNvSpPr txBox="1"/>
          <p:nvPr/>
        </p:nvSpPr>
        <p:spPr>
          <a:xfrm>
            <a:off x="457200" y="169164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5"/>
          <p:cNvSpPr txBox="1"/>
          <p:nvPr/>
        </p:nvSpPr>
        <p:spPr>
          <a:xfrm>
            <a:off x="1298448" y="1709928"/>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Ý tưởng kinh doanh</a:t>
            </a:r>
            <a:endParaRPr lang="en-US" sz="1700" dirty="0"/>
          </a:p>
        </p:txBody>
      </p:sp>
      <p:sp>
        <p:nvSpPr>
          <p:cNvPr id="9" name="Text 6"/>
          <p:cNvSpPr txBox="1"/>
          <p:nvPr/>
        </p:nvSpPr>
        <p:spPr>
          <a:xfrm>
            <a:off x="1298448" y="2057400"/>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Vấn đề, giải pháp, mô hình, thị trường mục tiêu</a:t>
            </a:r>
            <a:endParaRPr lang="en-US" sz="1250" dirty="0"/>
          </a:p>
        </p:txBody>
      </p:sp>
      <p:sp>
        <p:nvSpPr>
          <p:cNvPr id="10" name="Shape 7"/>
          <p:cNvSpPr/>
          <p:nvPr/>
        </p:nvSpPr>
        <p:spPr>
          <a:xfrm>
            <a:off x="6172200" y="1691640"/>
            <a:ext cx="658368" cy="658368"/>
          </a:xfrm>
          <a:prstGeom prst="ellipse">
            <a:avLst/>
          </a:prstGeom>
          <a:solidFill>
            <a:srgbClr val="7B1E2B"/>
          </a:solidFill>
          <a:ln w="12700">
            <a:solidFill>
              <a:srgbClr val="7B1E2B"/>
            </a:solidFill>
            <a:prstDash val="solid"/>
          </a:ln>
        </p:spPr>
      </p:sp>
      <p:sp>
        <p:nvSpPr>
          <p:cNvPr id="11" name="Text 8"/>
          <p:cNvSpPr txBox="1"/>
          <p:nvPr/>
        </p:nvSpPr>
        <p:spPr>
          <a:xfrm>
            <a:off x="6172200" y="169164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9"/>
          <p:cNvSpPr txBox="1"/>
          <p:nvPr/>
        </p:nvSpPr>
        <p:spPr>
          <a:xfrm>
            <a:off x="7013448" y="1709928"/>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Phân tích BCTC và giai đoạn</a:t>
            </a:r>
            <a:endParaRPr lang="en-US" sz="1700" dirty="0"/>
          </a:p>
        </p:txBody>
      </p:sp>
      <p:sp>
        <p:nvSpPr>
          <p:cNvPr id="13" name="Text 10"/>
          <p:cNvSpPr txBox="1"/>
          <p:nvPr/>
        </p:nvSpPr>
        <p:spPr>
          <a:xfrm>
            <a:off x="7013448" y="2057400"/>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Tăng trưởng, biên lợi nhuận, dòng tiền; tỷ lệ thất bại z</a:t>
            </a:r>
            <a:endParaRPr lang="en-US" sz="1250" dirty="0"/>
          </a:p>
        </p:txBody>
      </p:sp>
      <p:sp>
        <p:nvSpPr>
          <p:cNvPr id="14" name="Shape 11"/>
          <p:cNvSpPr/>
          <p:nvPr/>
        </p:nvSpPr>
        <p:spPr>
          <a:xfrm>
            <a:off x="457200" y="2807208"/>
            <a:ext cx="658368" cy="658368"/>
          </a:xfrm>
          <a:prstGeom prst="ellipse">
            <a:avLst/>
          </a:prstGeom>
          <a:solidFill>
            <a:srgbClr val="7B1E2B"/>
          </a:solidFill>
          <a:ln w="12700">
            <a:solidFill>
              <a:srgbClr val="7B1E2B"/>
            </a:solidFill>
            <a:prstDash val="solid"/>
          </a:ln>
        </p:spPr>
      </p:sp>
      <p:sp>
        <p:nvSpPr>
          <p:cNvPr id="15" name="Text 12"/>
          <p:cNvSpPr txBox="1"/>
          <p:nvPr/>
        </p:nvSpPr>
        <p:spPr>
          <a:xfrm>
            <a:off x="457200" y="2807208"/>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Text 13"/>
          <p:cNvSpPr txBox="1"/>
          <p:nvPr/>
        </p:nvSpPr>
        <p:spPr>
          <a:xfrm>
            <a:off x="1298448" y="2825496"/>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Vĩ mô và ngành</a:t>
            </a:r>
            <a:endParaRPr lang="en-US" sz="1700" dirty="0"/>
          </a:p>
        </p:txBody>
      </p:sp>
      <p:sp>
        <p:nvSpPr>
          <p:cNvPr id="17" name="Text 14"/>
          <p:cNvSpPr txBox="1"/>
          <p:nvPr/>
        </p:nvSpPr>
        <p:spPr>
          <a:xfrm>
            <a:off x="1298448" y="3172968"/>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Cầu, chi phí, lãi suất, tỷ giá; quy định; cạnh tranh</a:t>
            </a:r>
            <a:endParaRPr lang="en-US" sz="1250" dirty="0"/>
          </a:p>
        </p:txBody>
      </p:sp>
      <p:sp>
        <p:nvSpPr>
          <p:cNvPr id="18" name="Shape 15"/>
          <p:cNvSpPr/>
          <p:nvPr/>
        </p:nvSpPr>
        <p:spPr>
          <a:xfrm>
            <a:off x="6172200" y="2807208"/>
            <a:ext cx="658368" cy="658368"/>
          </a:xfrm>
          <a:prstGeom prst="ellipse">
            <a:avLst/>
          </a:prstGeom>
          <a:solidFill>
            <a:srgbClr val="7B1E2B"/>
          </a:solidFill>
          <a:ln w="12700">
            <a:solidFill>
              <a:srgbClr val="7B1E2B"/>
            </a:solidFill>
            <a:prstDash val="solid"/>
          </a:ln>
        </p:spPr>
      </p:sp>
      <p:sp>
        <p:nvSpPr>
          <p:cNvPr id="19" name="Text 16"/>
          <p:cNvSpPr txBox="1"/>
          <p:nvPr/>
        </p:nvSpPr>
        <p:spPr>
          <a:xfrm>
            <a:off x="6172200" y="2807208"/>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0" name="Text 17"/>
          <p:cNvSpPr txBox="1"/>
          <p:nvPr/>
        </p:nvSpPr>
        <p:spPr>
          <a:xfrm>
            <a:off x="7013448" y="2825496"/>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Dự phóng pro forma 5 năm</a:t>
            </a:r>
            <a:endParaRPr lang="en-US" sz="1700" dirty="0"/>
          </a:p>
        </p:txBody>
      </p:sp>
      <p:sp>
        <p:nvSpPr>
          <p:cNvPr id="21" name="Text 18"/>
          <p:cNvSpPr txBox="1"/>
          <p:nvPr/>
        </p:nvSpPr>
        <p:spPr>
          <a:xfrm>
            <a:off x="7013448" y="3172968"/>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Doanh thu theo sản lượng × giá; CAPEX nhà máy 2027</a:t>
            </a:r>
            <a:endParaRPr lang="en-US" sz="1250" dirty="0"/>
          </a:p>
        </p:txBody>
      </p:sp>
      <p:sp>
        <p:nvSpPr>
          <p:cNvPr id="22" name="Shape 19"/>
          <p:cNvSpPr/>
          <p:nvPr/>
        </p:nvSpPr>
        <p:spPr>
          <a:xfrm>
            <a:off x="457200" y="3922776"/>
            <a:ext cx="658368" cy="658368"/>
          </a:xfrm>
          <a:prstGeom prst="ellipse">
            <a:avLst/>
          </a:prstGeom>
          <a:solidFill>
            <a:srgbClr val="7B1E2B"/>
          </a:solidFill>
          <a:ln w="12700">
            <a:solidFill>
              <a:srgbClr val="7B1E2B"/>
            </a:solidFill>
            <a:prstDash val="solid"/>
          </a:ln>
        </p:spPr>
      </p:sp>
      <p:sp>
        <p:nvSpPr>
          <p:cNvPr id="23" name="Text 20"/>
          <p:cNvSpPr txBox="1"/>
          <p:nvPr/>
        </p:nvSpPr>
        <p:spPr>
          <a:xfrm>
            <a:off x="457200" y="392277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4" name="Text 21"/>
          <p:cNvSpPr txBox="1"/>
          <p:nvPr/>
        </p:nvSpPr>
        <p:spPr>
          <a:xfrm>
            <a:off x="1298448" y="3941064"/>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Định giá</a:t>
            </a:r>
            <a:endParaRPr lang="en-US" sz="1700" dirty="0"/>
          </a:p>
        </p:txBody>
      </p:sp>
      <p:sp>
        <p:nvSpPr>
          <p:cNvPr id="25" name="Text 22"/>
          <p:cNvSpPr txBox="1"/>
          <p:nvPr/>
        </p:nvSpPr>
        <p:spPr>
          <a:xfrm>
            <a:off x="1298448" y="4288536"/>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WACC, DCF, VC Method, kịch bản</a:t>
            </a:r>
            <a:endParaRPr lang="en-US" sz="1250" dirty="0"/>
          </a:p>
        </p:txBody>
      </p:sp>
      <p:sp>
        <p:nvSpPr>
          <p:cNvPr id="26" name="Shape 23"/>
          <p:cNvSpPr/>
          <p:nvPr/>
        </p:nvSpPr>
        <p:spPr>
          <a:xfrm>
            <a:off x="6172200" y="3922776"/>
            <a:ext cx="658368" cy="658368"/>
          </a:xfrm>
          <a:prstGeom prst="ellipse">
            <a:avLst/>
          </a:prstGeom>
          <a:solidFill>
            <a:srgbClr val="7B1E2B"/>
          </a:solidFill>
          <a:ln w="12700">
            <a:solidFill>
              <a:srgbClr val="7B1E2B"/>
            </a:solidFill>
            <a:prstDash val="solid"/>
          </a:ln>
        </p:spPr>
      </p:sp>
      <p:sp>
        <p:nvSpPr>
          <p:cNvPr id="27" name="Text 24"/>
          <p:cNvSpPr txBox="1"/>
          <p:nvPr/>
        </p:nvSpPr>
        <p:spPr>
          <a:xfrm>
            <a:off x="6172200" y="392277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28" name="Text 25"/>
          <p:cNvSpPr txBox="1"/>
          <p:nvPr/>
        </p:nvSpPr>
        <p:spPr>
          <a:xfrm>
            <a:off x="7013448" y="3941064"/>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Kế hoạch huy động vốn</a:t>
            </a:r>
            <a:endParaRPr lang="en-US" sz="1700" dirty="0"/>
          </a:p>
        </p:txBody>
      </p:sp>
      <p:sp>
        <p:nvSpPr>
          <p:cNvPr id="29" name="Text 26"/>
          <p:cNvSpPr txBox="1"/>
          <p:nvPr/>
        </p:nvSpPr>
        <p:spPr>
          <a:xfrm>
            <a:off x="7013448" y="4288536"/>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Nhu cầu vốn, Series A hai đợt, lợi suất nhà đầu tư</a:t>
            </a:r>
            <a:endParaRPr lang="en-US" sz="1250" dirty="0"/>
          </a:p>
        </p:txBody>
      </p:sp>
      <p:sp>
        <p:nvSpPr>
          <p:cNvPr id="30" name="Shape 27"/>
          <p:cNvSpPr/>
          <p:nvPr/>
        </p:nvSpPr>
        <p:spPr>
          <a:xfrm>
            <a:off x="457200" y="5038344"/>
            <a:ext cx="658368" cy="658368"/>
          </a:xfrm>
          <a:prstGeom prst="ellipse">
            <a:avLst/>
          </a:prstGeom>
          <a:solidFill>
            <a:srgbClr val="404040"/>
          </a:solidFill>
          <a:ln w="12700">
            <a:solidFill>
              <a:srgbClr val="404040"/>
            </a:solidFill>
            <a:prstDash val="solid"/>
          </a:ln>
        </p:spPr>
      </p:sp>
      <p:sp>
        <p:nvSpPr>
          <p:cNvPr id="31" name="Text 28"/>
          <p:cNvSpPr txBox="1"/>
          <p:nvPr/>
        </p:nvSpPr>
        <p:spPr>
          <a:xfrm>
            <a:off x="457200" y="5038344"/>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2" name="Text 29"/>
          <p:cNvSpPr txBox="1"/>
          <p:nvPr/>
        </p:nvSpPr>
        <p:spPr>
          <a:xfrm>
            <a:off x="1298448" y="5056632"/>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Rủi ro đầu tư</a:t>
            </a:r>
            <a:endParaRPr lang="en-US" sz="1700" dirty="0"/>
          </a:p>
        </p:txBody>
      </p:sp>
      <p:sp>
        <p:nvSpPr>
          <p:cNvPr id="33" name="Text 30"/>
          <p:cNvSpPr txBox="1"/>
          <p:nvPr/>
        </p:nvSpPr>
        <p:spPr>
          <a:xfrm>
            <a:off x="1298448" y="5404104"/>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Tác động lên pre-money và chỉ báo theo dõi</a:t>
            </a:r>
            <a:endParaRPr lang="en-US" sz="1250" dirty="0"/>
          </a:p>
        </p:txBody>
      </p:sp>
      <p:sp>
        <p:nvSpPr>
          <p:cNvPr id="34" name="Shape 31"/>
          <p:cNvSpPr/>
          <p:nvPr/>
        </p:nvSpPr>
        <p:spPr>
          <a:xfrm>
            <a:off x="6172200" y="5038344"/>
            <a:ext cx="658368" cy="658368"/>
          </a:xfrm>
          <a:prstGeom prst="ellipse">
            <a:avLst/>
          </a:prstGeom>
          <a:solidFill>
            <a:srgbClr val="404040"/>
          </a:solidFill>
          <a:ln w="12700">
            <a:solidFill>
              <a:srgbClr val="404040"/>
            </a:solidFill>
            <a:prstDash val="solid"/>
          </a:ln>
        </p:spPr>
      </p:sp>
      <p:sp>
        <p:nvSpPr>
          <p:cNvPr id="35" name="Text 32"/>
          <p:cNvSpPr txBox="1"/>
          <p:nvPr/>
        </p:nvSpPr>
        <p:spPr>
          <a:xfrm>
            <a:off x="6172200" y="5038344"/>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6" name="Text 33"/>
          <p:cNvSpPr txBox="1"/>
          <p:nvPr/>
        </p:nvSpPr>
        <p:spPr>
          <a:xfrm>
            <a:off x="7013448" y="5056632"/>
            <a:ext cx="4572000" cy="347472"/>
          </a:xfrm>
          <a:prstGeom prst="rect">
            <a:avLst/>
          </a:prstGeom>
          <a:noFill/>
          <a:ln/>
        </p:spPr>
        <p:txBody>
          <a:bodyPr wrap="square" lIns="0" tIns="0" rIns="0" bIns="0" rtlCol="0" anchor="t"/>
          <a:lstStyle/>
          <a:p>
            <a:pPr indent="0" marL="0">
              <a:buNone/>
            </a:pPr>
            <a:r>
              <a:rPr lang="en-US" sz="1700" b="1" dirty="0">
                <a:solidFill>
                  <a:srgbClr val="1F1F1F"/>
                </a:solidFill>
                <a:latin typeface="Calibri" pitchFamily="34" charset="0"/>
                <a:ea typeface="Calibri" pitchFamily="34" charset="-122"/>
                <a:cs typeface="Calibri" pitchFamily="34" charset="-120"/>
              </a:rPr>
              <a:t>Câu hỏi Bonus</a:t>
            </a:r>
            <a:endParaRPr lang="en-US" sz="1700" dirty="0"/>
          </a:p>
        </p:txBody>
      </p:sp>
      <p:sp>
        <p:nvSpPr>
          <p:cNvPr id="37" name="Text 34"/>
          <p:cNvSpPr txBox="1"/>
          <p:nvPr/>
        </p:nvSpPr>
        <p:spPr>
          <a:xfrm>
            <a:off x="7013448" y="5404104"/>
            <a:ext cx="4572000" cy="310896"/>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Định giá khi chưa có doanh thu</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TÓM TẮT ĐẦU TƯ</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Đề xuất: gọi 37,6 tỷ vốn cổ phần chia hai đợt ở pre-money 31,8 tỷ, kèm 31,1 tỷ vay trung hạn</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Mô hình AgriPack_Model_final.xlsx (Summary, DCF, VCM, Chart_Data)</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457200" y="1572768"/>
            <a:ext cx="2613584" cy="1691640"/>
          </a:xfrm>
          <a:prstGeom prst="rect">
            <a:avLst/>
          </a:prstGeom>
          <a:solidFill>
            <a:srgbClr val="F6EDEF"/>
          </a:solidFill>
          <a:ln w="6350">
            <a:solidFill>
              <a:srgbClr val="F6EDEF"/>
            </a:solidFill>
            <a:prstDash val="solid"/>
          </a:ln>
        </p:spPr>
      </p:sp>
      <p:sp>
        <p:nvSpPr>
          <p:cNvPr id="8" name="Text 5"/>
          <p:cNvSpPr txBox="1"/>
          <p:nvPr/>
        </p:nvSpPr>
        <p:spPr>
          <a:xfrm>
            <a:off x="640080" y="1700784"/>
            <a:ext cx="2247824" cy="658368"/>
          </a:xfrm>
          <a:prstGeom prst="rect">
            <a:avLst/>
          </a:prstGeom>
          <a:noFill/>
          <a:ln/>
        </p:spPr>
        <p:txBody>
          <a:bodyPr wrap="square" lIns="0" tIns="0" rIns="0" bIns="0" rtlCol="0" anchor="ctr"/>
          <a:lstStyle/>
          <a:p>
            <a:pPr indent="0" marL="0">
              <a:buNone/>
            </a:pPr>
            <a:r>
              <a:rPr lang="en-US" sz="3200" b="1" dirty="0">
                <a:solidFill>
                  <a:srgbClr val="7B1E2B"/>
                </a:solidFill>
                <a:latin typeface="Calibri" pitchFamily="34" charset="0"/>
                <a:ea typeface="Calibri" pitchFamily="34" charset="-122"/>
                <a:cs typeface="Calibri" pitchFamily="34" charset="-120"/>
              </a:rPr>
              <a:t>31,8 tỷ</a:t>
            </a:r>
            <a:endParaRPr lang="en-US" sz="3200" dirty="0"/>
          </a:p>
        </p:txBody>
      </p:sp>
      <p:sp>
        <p:nvSpPr>
          <p:cNvPr id="9" name="Text 6"/>
          <p:cNvSpPr txBox="1"/>
          <p:nvPr/>
        </p:nvSpPr>
        <p:spPr>
          <a:xfrm>
            <a:off x="640080" y="2377440"/>
            <a:ext cx="2247824"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Pre-money khuyến nghị</a:t>
            </a:r>
            <a:endParaRPr lang="en-US" sz="1350" dirty="0"/>
          </a:p>
        </p:txBody>
      </p:sp>
      <p:sp>
        <p:nvSpPr>
          <p:cNvPr id="10" name="Text 7"/>
          <p:cNvSpPr txBox="1"/>
          <p:nvPr/>
        </p:nvSpPr>
        <p:spPr>
          <a:xfrm>
            <a:off x="640080" y="2706624"/>
            <a:ext cx="2247824" cy="484632"/>
          </a:xfrm>
          <a:prstGeom prst="rect">
            <a:avLst/>
          </a:prstGeom>
          <a:noFill/>
          <a:ln/>
        </p:spPr>
        <p:txBody>
          <a:bodyPr wrap="square" lIns="0" tIns="0" rIns="0" bIns="0" rtlCol="0" anchor="t"/>
          <a:lstStyle/>
          <a:p>
            <a:pPr indent="0" marL="0">
              <a:buNone/>
            </a:pPr>
            <a:r>
              <a:rPr lang="en-US" sz="1150" dirty="0">
                <a:solidFill>
                  <a:srgbClr val="6B6B6B"/>
                </a:solidFill>
                <a:latin typeface="Calibri" pitchFamily="34" charset="0"/>
                <a:ea typeface="Calibri" pitchFamily="34" charset="-122"/>
                <a:cs typeface="Calibri" pitchFamily="34" charset="-120"/>
              </a:rPr>
              <a:t>Khoảng 19,3–48,4 tỷ; DCF 38,9 · VC Method 24,8</a:t>
            </a:r>
            <a:endParaRPr lang="en-US" sz="1150" dirty="0"/>
          </a:p>
        </p:txBody>
      </p:sp>
      <p:sp>
        <p:nvSpPr>
          <p:cNvPr id="11" name="Shape 8"/>
          <p:cNvSpPr/>
          <p:nvPr/>
        </p:nvSpPr>
        <p:spPr>
          <a:xfrm>
            <a:off x="3345104" y="1572768"/>
            <a:ext cx="2613584" cy="1691640"/>
          </a:xfrm>
          <a:prstGeom prst="rect">
            <a:avLst/>
          </a:prstGeom>
          <a:solidFill>
            <a:srgbClr val="F6EDEF"/>
          </a:solidFill>
          <a:ln w="6350">
            <a:solidFill>
              <a:srgbClr val="F6EDEF"/>
            </a:solidFill>
            <a:prstDash val="solid"/>
          </a:ln>
        </p:spPr>
      </p:sp>
      <p:sp>
        <p:nvSpPr>
          <p:cNvPr id="12" name="Text 9"/>
          <p:cNvSpPr txBox="1"/>
          <p:nvPr/>
        </p:nvSpPr>
        <p:spPr>
          <a:xfrm>
            <a:off x="3527984" y="1700784"/>
            <a:ext cx="2247824" cy="658368"/>
          </a:xfrm>
          <a:prstGeom prst="rect">
            <a:avLst/>
          </a:prstGeom>
          <a:noFill/>
          <a:ln/>
        </p:spPr>
        <p:txBody>
          <a:bodyPr wrap="square" lIns="0" tIns="0" rIns="0" bIns="0" rtlCol="0" anchor="ctr"/>
          <a:lstStyle/>
          <a:p>
            <a:pPr indent="0" marL="0">
              <a:buNone/>
            </a:pPr>
            <a:r>
              <a:rPr lang="en-US" sz="3200" b="1" dirty="0">
                <a:solidFill>
                  <a:srgbClr val="7B1E2B"/>
                </a:solidFill>
                <a:latin typeface="Calibri" pitchFamily="34" charset="0"/>
                <a:ea typeface="Calibri" pitchFamily="34" charset="-122"/>
                <a:cs typeface="Calibri" pitchFamily="34" charset="-120"/>
              </a:rPr>
              <a:t>37,6 tỷ</a:t>
            </a:r>
            <a:endParaRPr lang="en-US" sz="3200" dirty="0"/>
          </a:p>
        </p:txBody>
      </p:sp>
      <p:sp>
        <p:nvSpPr>
          <p:cNvPr id="13" name="Text 10"/>
          <p:cNvSpPr txBox="1"/>
          <p:nvPr/>
        </p:nvSpPr>
        <p:spPr>
          <a:xfrm>
            <a:off x="3527984" y="2377440"/>
            <a:ext cx="2247824"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Vốn cổ phần Series A</a:t>
            </a:r>
            <a:endParaRPr lang="en-US" sz="1350" dirty="0"/>
          </a:p>
        </p:txBody>
      </p:sp>
      <p:sp>
        <p:nvSpPr>
          <p:cNvPr id="14" name="Text 11"/>
          <p:cNvSpPr txBox="1"/>
          <p:nvPr/>
        </p:nvSpPr>
        <p:spPr>
          <a:xfrm>
            <a:off x="3527984" y="2706624"/>
            <a:ext cx="2247824" cy="484632"/>
          </a:xfrm>
          <a:prstGeom prst="rect">
            <a:avLst/>
          </a:prstGeom>
          <a:noFill/>
          <a:ln/>
        </p:spPr>
        <p:txBody>
          <a:bodyPr wrap="square" lIns="0" tIns="0" rIns="0" bIns="0" rtlCol="0" anchor="t"/>
          <a:lstStyle/>
          <a:p>
            <a:pPr indent="0" marL="0">
              <a:buNone/>
            </a:pPr>
            <a:r>
              <a:rPr lang="en-US" sz="1150" dirty="0">
                <a:solidFill>
                  <a:srgbClr val="6B6B6B"/>
                </a:solidFill>
                <a:latin typeface="Calibri" pitchFamily="34" charset="0"/>
                <a:ea typeface="Calibri" pitchFamily="34" charset="-122"/>
                <a:cs typeface="Calibri" pitchFamily="34" charset="-120"/>
              </a:rPr>
              <a:t>Đợt 1: 20,7 tỷ (t0) · Đợt 2: 16,9 tỷ (cuối 2027)</a:t>
            </a:r>
            <a:endParaRPr lang="en-US" sz="1150" dirty="0"/>
          </a:p>
        </p:txBody>
      </p:sp>
      <p:sp>
        <p:nvSpPr>
          <p:cNvPr id="15" name="Shape 12"/>
          <p:cNvSpPr/>
          <p:nvPr/>
        </p:nvSpPr>
        <p:spPr>
          <a:xfrm>
            <a:off x="6233008" y="1572768"/>
            <a:ext cx="2613584" cy="1691640"/>
          </a:xfrm>
          <a:prstGeom prst="rect">
            <a:avLst/>
          </a:prstGeom>
          <a:solidFill>
            <a:srgbClr val="F6EDEF"/>
          </a:solidFill>
          <a:ln w="6350">
            <a:solidFill>
              <a:srgbClr val="F6EDEF"/>
            </a:solidFill>
            <a:prstDash val="solid"/>
          </a:ln>
        </p:spPr>
      </p:sp>
      <p:sp>
        <p:nvSpPr>
          <p:cNvPr id="16" name="Text 13"/>
          <p:cNvSpPr txBox="1"/>
          <p:nvPr/>
        </p:nvSpPr>
        <p:spPr>
          <a:xfrm>
            <a:off x="6415888" y="1700784"/>
            <a:ext cx="2247824" cy="658368"/>
          </a:xfrm>
          <a:prstGeom prst="rect">
            <a:avLst/>
          </a:prstGeom>
          <a:noFill/>
          <a:ln/>
        </p:spPr>
        <p:txBody>
          <a:bodyPr wrap="square" lIns="0" tIns="0" rIns="0" bIns="0" rtlCol="0" anchor="ctr"/>
          <a:lstStyle/>
          <a:p>
            <a:pPr indent="0" marL="0">
              <a:buNone/>
            </a:pPr>
            <a:r>
              <a:rPr lang="en-US" sz="3200" b="1" dirty="0">
                <a:solidFill>
                  <a:srgbClr val="7B1E2B"/>
                </a:solidFill>
                <a:latin typeface="Calibri" pitchFamily="34" charset="0"/>
                <a:ea typeface="Calibri" pitchFamily="34" charset="-122"/>
                <a:cs typeface="Calibri" pitchFamily="34" charset="-120"/>
              </a:rPr>
              <a:t>50,5%</a:t>
            </a:r>
            <a:endParaRPr lang="en-US" sz="3200" dirty="0"/>
          </a:p>
        </p:txBody>
      </p:sp>
      <p:sp>
        <p:nvSpPr>
          <p:cNvPr id="17" name="Text 14"/>
          <p:cNvSpPr txBox="1"/>
          <p:nvPr/>
        </p:nvSpPr>
        <p:spPr>
          <a:xfrm>
            <a:off x="6415888" y="2377440"/>
            <a:ext cx="2247824"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Founder sau hai đợt</a:t>
            </a:r>
            <a:endParaRPr lang="en-US" sz="1350" dirty="0"/>
          </a:p>
        </p:txBody>
      </p:sp>
      <p:sp>
        <p:nvSpPr>
          <p:cNvPr id="18" name="Text 15"/>
          <p:cNvSpPr txBox="1"/>
          <p:nvPr/>
        </p:nvSpPr>
        <p:spPr>
          <a:xfrm>
            <a:off x="6415888" y="2706624"/>
            <a:ext cx="2247824" cy="484632"/>
          </a:xfrm>
          <a:prstGeom prst="rect">
            <a:avLst/>
          </a:prstGeom>
          <a:noFill/>
          <a:ln/>
        </p:spPr>
        <p:txBody>
          <a:bodyPr wrap="square" lIns="0" tIns="0" rIns="0" bIns="0" rtlCol="0" anchor="t"/>
          <a:lstStyle/>
          <a:p>
            <a:pPr indent="0" marL="0">
              <a:buNone/>
            </a:pPr>
            <a:r>
              <a:rPr lang="en-US" sz="1150" dirty="0">
                <a:solidFill>
                  <a:srgbClr val="6B6B6B"/>
                </a:solidFill>
                <a:latin typeface="Calibri" pitchFamily="34" charset="0"/>
                <a:ea typeface="Calibri" pitchFamily="34" charset="-122"/>
                <a:cs typeface="Calibri" pitchFamily="34" charset="-120"/>
              </a:rPr>
              <a:t>Nếu gọi một lần: chỉ còn 45,8%</a:t>
            </a:r>
            <a:endParaRPr lang="en-US" sz="1150" dirty="0"/>
          </a:p>
        </p:txBody>
      </p:sp>
      <p:sp>
        <p:nvSpPr>
          <p:cNvPr id="19" name="Shape 16"/>
          <p:cNvSpPr/>
          <p:nvPr/>
        </p:nvSpPr>
        <p:spPr>
          <a:xfrm>
            <a:off x="9120911" y="1572768"/>
            <a:ext cx="2613584" cy="1691640"/>
          </a:xfrm>
          <a:prstGeom prst="rect">
            <a:avLst/>
          </a:prstGeom>
          <a:solidFill>
            <a:srgbClr val="F6EDEF"/>
          </a:solidFill>
          <a:ln w="6350">
            <a:solidFill>
              <a:srgbClr val="F6EDEF"/>
            </a:solidFill>
            <a:prstDash val="solid"/>
          </a:ln>
        </p:spPr>
      </p:sp>
      <p:sp>
        <p:nvSpPr>
          <p:cNvPr id="20" name="Text 17"/>
          <p:cNvSpPr txBox="1"/>
          <p:nvPr/>
        </p:nvSpPr>
        <p:spPr>
          <a:xfrm>
            <a:off x="9303791" y="1700784"/>
            <a:ext cx="2247824" cy="658368"/>
          </a:xfrm>
          <a:prstGeom prst="rect">
            <a:avLst/>
          </a:prstGeom>
          <a:noFill/>
          <a:ln/>
        </p:spPr>
        <p:txBody>
          <a:bodyPr wrap="square" lIns="0" tIns="0" rIns="0" bIns="0" rtlCol="0" anchor="ctr"/>
          <a:lstStyle/>
          <a:p>
            <a:pPr indent="0" marL="0">
              <a:buNone/>
            </a:pPr>
            <a:r>
              <a:rPr lang="en-US" sz="3200" b="1" dirty="0">
                <a:solidFill>
                  <a:srgbClr val="7B1E2B"/>
                </a:solidFill>
                <a:latin typeface="Calibri" pitchFamily="34" charset="0"/>
                <a:ea typeface="Calibri" pitchFamily="34" charset="-122"/>
                <a:cs typeface="Calibri" pitchFamily="34" charset="-120"/>
              </a:rPr>
              <a:t>14,0%</a:t>
            </a:r>
            <a:endParaRPr lang="en-US" sz="3200" dirty="0"/>
          </a:p>
        </p:txBody>
      </p:sp>
      <p:sp>
        <p:nvSpPr>
          <p:cNvPr id="21" name="Text 18"/>
          <p:cNvSpPr txBox="1"/>
          <p:nvPr/>
        </p:nvSpPr>
        <p:spPr>
          <a:xfrm>
            <a:off x="9303791" y="2377440"/>
            <a:ext cx="2247824"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IRR kỳ vọng của NĐT</a:t>
            </a:r>
            <a:endParaRPr lang="en-US" sz="1350" dirty="0"/>
          </a:p>
        </p:txBody>
      </p:sp>
      <p:sp>
        <p:nvSpPr>
          <p:cNvPr id="22" name="Text 19"/>
          <p:cNvSpPr txBox="1"/>
          <p:nvPr/>
        </p:nvSpPr>
        <p:spPr>
          <a:xfrm>
            <a:off x="9303791" y="2706624"/>
            <a:ext cx="2247824" cy="484632"/>
          </a:xfrm>
          <a:prstGeom prst="rect">
            <a:avLst/>
          </a:prstGeom>
          <a:noFill/>
          <a:ln/>
        </p:spPr>
        <p:txBody>
          <a:bodyPr wrap="square" lIns="0" tIns="0" rIns="0" bIns="0" rtlCol="0" anchor="t"/>
          <a:lstStyle/>
          <a:p>
            <a:pPr indent="0" marL="0">
              <a:buNone/>
            </a:pPr>
            <a:r>
              <a:rPr lang="en-US" sz="1150" dirty="0">
                <a:solidFill>
                  <a:srgbClr val="6B6B6B"/>
                </a:solidFill>
                <a:latin typeface="Calibri" pitchFamily="34" charset="0"/>
                <a:ea typeface="Calibri" pitchFamily="34" charset="-122"/>
                <a:cs typeface="Calibri" pitchFamily="34" charset="-120"/>
              </a:rPr>
              <a:t>Gọi một lần: 11,4% · WACC: 13,8%</a:t>
            </a:r>
            <a:endParaRPr lang="en-US" sz="1150" dirty="0"/>
          </a:p>
        </p:txBody>
      </p:sp>
      <p:sp>
        <p:nvSpPr>
          <p:cNvPr id="23" name="Shape 20"/>
          <p:cNvSpPr/>
          <p:nvPr/>
        </p:nvSpPr>
        <p:spPr>
          <a:xfrm>
            <a:off x="457200" y="3703320"/>
            <a:ext cx="502920" cy="502920"/>
          </a:xfrm>
          <a:prstGeom prst="ellipse">
            <a:avLst/>
          </a:prstGeom>
          <a:solidFill>
            <a:srgbClr val="7B1E2B"/>
          </a:solidFill>
          <a:ln w="6350">
            <a:solidFill>
              <a:srgbClr val="7B1E2B"/>
            </a:solidFill>
            <a:prstDash val="solid"/>
          </a:ln>
        </p:spPr>
      </p:sp>
      <p:pic>
        <p:nvPicPr>
          <p:cNvPr id="24" name="Image 0" descr="preencoded.png">    </p:cNvPr>
          <p:cNvPicPr>
            <a:picLocks noChangeAspect="1"/>
          </p:cNvPicPr>
          <p:nvPr/>
        </p:nvPicPr>
        <p:blipFill>
          <a:blip r:embed="rId1"/>
          <a:stretch>
            <a:fillRect/>
          </a:stretch>
        </p:blipFill>
        <p:spPr>
          <a:xfrm>
            <a:off x="582930" y="3829050"/>
            <a:ext cx="251460" cy="251460"/>
          </a:xfrm>
          <a:prstGeom prst="rect">
            <a:avLst/>
          </a:prstGeom>
        </p:spPr>
      </p:pic>
      <p:sp>
        <p:nvSpPr>
          <p:cNvPr id="25" name="Text 21"/>
          <p:cNvSpPr txBox="1"/>
          <p:nvPr/>
        </p:nvSpPr>
        <p:spPr>
          <a:xfrm>
            <a:off x="1124712" y="3721608"/>
            <a:ext cx="2847746" cy="548640"/>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Ngách được pháp luật mở ra, nhưng hẹp</a:t>
            </a:r>
            <a:endParaRPr lang="en-US" sz="1500" dirty="0"/>
          </a:p>
        </p:txBody>
      </p:sp>
      <p:sp>
        <p:nvSpPr>
          <p:cNvPr id="26" name="Text 22"/>
          <p:cNvSpPr txBox="1"/>
          <p:nvPr/>
        </p:nvSpPr>
        <p:spPr>
          <a:xfrm>
            <a:off x="1124712" y="4325112"/>
            <a:ext cx="2847746" cy="201168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Điều 64 NĐ 08/2022 và EPR (NĐ 110/2026) tạo cầu, nhưng SAM chỉ 33,9 triệu USD và AgriPack đã chiếm 4,3%. Dự phóng CAGR 29% hàm ý 11,0% SAM năm 2030.</a:t>
            </a:r>
            <a:endParaRPr lang="en-US" sz="1300" dirty="0"/>
          </a:p>
        </p:txBody>
      </p:sp>
      <p:sp>
        <p:nvSpPr>
          <p:cNvPr id="27" name="Shape 23"/>
          <p:cNvSpPr/>
          <p:nvPr/>
        </p:nvSpPr>
        <p:spPr>
          <a:xfrm>
            <a:off x="4338218" y="3703320"/>
            <a:ext cx="502920" cy="502920"/>
          </a:xfrm>
          <a:prstGeom prst="ellipse">
            <a:avLst/>
          </a:prstGeom>
          <a:solidFill>
            <a:srgbClr val="7B1E2B"/>
          </a:solidFill>
          <a:ln w="6350">
            <a:solidFill>
              <a:srgbClr val="7B1E2B"/>
            </a:solidFill>
            <a:prstDash val="solid"/>
          </a:ln>
        </p:spPr>
      </p:sp>
      <p:pic>
        <p:nvPicPr>
          <p:cNvPr id="28" name="Image 1" descr="preencoded.png">    </p:cNvPr>
          <p:cNvPicPr>
            <a:picLocks noChangeAspect="1"/>
          </p:cNvPicPr>
          <p:nvPr/>
        </p:nvPicPr>
        <p:blipFill>
          <a:blip r:embed="rId2"/>
          <a:stretch>
            <a:fillRect/>
          </a:stretch>
        </p:blipFill>
        <p:spPr>
          <a:xfrm>
            <a:off x="4463948" y="3829050"/>
            <a:ext cx="251460" cy="251460"/>
          </a:xfrm>
          <a:prstGeom prst="rect">
            <a:avLst/>
          </a:prstGeom>
        </p:spPr>
      </p:pic>
      <p:sp>
        <p:nvSpPr>
          <p:cNvPr id="29" name="Text 24"/>
          <p:cNvSpPr txBox="1"/>
          <p:nvPr/>
        </p:nvSpPr>
        <p:spPr>
          <a:xfrm>
            <a:off x="5005730" y="3721608"/>
            <a:ext cx="2847746" cy="548640"/>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Nhà máy 2027 quyết định giá trị</a:t>
            </a:r>
            <a:endParaRPr lang="en-US" sz="1500" dirty="0"/>
          </a:p>
        </p:txBody>
      </p:sp>
      <p:sp>
        <p:nvSpPr>
          <p:cNvPr id="30" name="Text 25"/>
          <p:cNvSpPr txBox="1"/>
          <p:nvPr/>
        </p:nvSpPr>
        <p:spPr>
          <a:xfrm>
            <a:off x="5005730" y="4325112"/>
            <a:ext cx="2847746" cy="201168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CAPEX 51,8 tỷ (65% doanh thu) làm FCFF âm 2026–2028; ROIC chỉ về ngang WACC năm 2030. Giá trị cuối kỳ bằng 188% EV.</a:t>
            </a:r>
            <a:endParaRPr lang="en-US" sz="1300" dirty="0"/>
          </a:p>
        </p:txBody>
      </p:sp>
      <p:sp>
        <p:nvSpPr>
          <p:cNvPr id="31" name="Shape 26"/>
          <p:cNvSpPr/>
          <p:nvPr/>
        </p:nvSpPr>
        <p:spPr>
          <a:xfrm>
            <a:off x="8219237" y="3703320"/>
            <a:ext cx="502920" cy="502920"/>
          </a:xfrm>
          <a:prstGeom prst="ellipse">
            <a:avLst/>
          </a:prstGeom>
          <a:solidFill>
            <a:srgbClr val="7B1E2B"/>
          </a:solidFill>
          <a:ln w="6350">
            <a:solidFill>
              <a:srgbClr val="7B1E2B"/>
            </a:solidFill>
            <a:prstDash val="solid"/>
          </a:ln>
        </p:spPr>
      </p:sp>
      <p:pic>
        <p:nvPicPr>
          <p:cNvPr id="32" name="Image 2" descr="preencoded.png">    </p:cNvPr>
          <p:cNvPicPr>
            <a:picLocks noChangeAspect="1"/>
          </p:cNvPicPr>
          <p:nvPr/>
        </p:nvPicPr>
        <p:blipFill>
          <a:blip r:embed="rId3"/>
          <a:stretch>
            <a:fillRect/>
          </a:stretch>
        </p:blipFill>
        <p:spPr>
          <a:xfrm>
            <a:off x="8344967" y="3829050"/>
            <a:ext cx="251460" cy="251460"/>
          </a:xfrm>
          <a:prstGeom prst="rect">
            <a:avLst/>
          </a:prstGeom>
        </p:spPr>
      </p:pic>
      <p:sp>
        <p:nvSpPr>
          <p:cNvPr id="33" name="Text 27"/>
          <p:cNvSpPr txBox="1"/>
          <p:nvPr/>
        </p:nvSpPr>
        <p:spPr>
          <a:xfrm>
            <a:off x="8886749" y="3721608"/>
            <a:ext cx="2847746"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Hai đợt cân bằng lợi ích</a:t>
            </a:r>
            <a:endParaRPr lang="en-US" sz="1500" dirty="0"/>
          </a:p>
        </p:txBody>
      </p:sp>
      <p:sp>
        <p:nvSpPr>
          <p:cNvPr id="34" name="Text 28"/>
          <p:cNvSpPr txBox="1"/>
          <p:nvPr/>
        </p:nvSpPr>
        <p:spPr>
          <a:xfrm>
            <a:off x="8886749" y="4087368"/>
            <a:ext cx="2847746" cy="201168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Đợt 2 chỉ giải ngân khi nhà máy vận hành và đạt mốc doanh thu, biên EBITDA: founder giữ quyền kiểm soát, nhà đầu tư đạt IRR kỳ vọng ngang WACC.</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1 · Ý TƯỞNG KINH DOANH</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AgriPack thay bao bì nhựa dùng một lần bằng hộp, khay, đệm ép từ bã mía và vỏ trứng, bán trực tiếp cho doanh nghiệp</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BCTC 2025 (đề bài); Mordor Intelligence (2025); NĐ 08/2022/NĐ-CP; bảng giá sản phẩm thay thế của nhóm</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457200" y="1645920"/>
            <a:ext cx="502920" cy="502920"/>
          </a:xfrm>
          <a:prstGeom prst="ellipse">
            <a:avLst/>
          </a:prstGeom>
          <a:solidFill>
            <a:srgbClr val="7B1E2B"/>
          </a:solidFill>
          <a:ln w="6350">
            <a:solidFill>
              <a:srgbClr val="7B1E2B"/>
            </a:solidFill>
            <a:prstDash val="solid"/>
          </a:ln>
        </p:spPr>
      </p:sp>
      <p:pic>
        <p:nvPicPr>
          <p:cNvPr id="8" name="Image 0" descr="preencoded.png">    </p:cNvPr>
          <p:cNvPicPr>
            <a:picLocks noChangeAspect="1"/>
          </p:cNvPicPr>
          <p:nvPr/>
        </p:nvPicPr>
        <p:blipFill>
          <a:blip r:embed="rId1"/>
          <a:stretch>
            <a:fillRect/>
          </a:stretch>
        </p:blipFill>
        <p:spPr>
          <a:xfrm>
            <a:off x="582930" y="1771650"/>
            <a:ext cx="251460" cy="251460"/>
          </a:xfrm>
          <a:prstGeom prst="rect">
            <a:avLst/>
          </a:prstGeom>
        </p:spPr>
      </p:pic>
      <p:sp>
        <p:nvSpPr>
          <p:cNvPr id="9" name="Text 5"/>
          <p:cNvSpPr txBox="1"/>
          <p:nvPr/>
        </p:nvSpPr>
        <p:spPr>
          <a:xfrm>
            <a:off x="1124712" y="1664208"/>
            <a:ext cx="5916168"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Vấn đề</a:t>
            </a:r>
            <a:endParaRPr lang="en-US" sz="1500" dirty="0"/>
          </a:p>
        </p:txBody>
      </p:sp>
      <p:sp>
        <p:nvSpPr>
          <p:cNvPr id="10" name="Text 6"/>
          <p:cNvSpPr txBox="1"/>
          <p:nvPr/>
        </p:nvSpPr>
        <p:spPr>
          <a:xfrm>
            <a:off x="1124712" y="2029968"/>
            <a:ext cx="5916168" cy="105156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Bao bì chiếm khoảng một nửa sản lượng nhựa tiêu thụ tại Việt Nam. Điều 64 NĐ 08/2022 không cho lưu hành nhựa dùng một lần tại TTTM, siêu thị, khách sạn từ 2026 và dừng sản xuất, nhập khẩu sau 2030.</a:t>
            </a:r>
            <a:endParaRPr lang="en-US" sz="1300" dirty="0"/>
          </a:p>
        </p:txBody>
      </p:sp>
      <p:sp>
        <p:nvSpPr>
          <p:cNvPr id="11" name="Shape 7"/>
          <p:cNvSpPr/>
          <p:nvPr/>
        </p:nvSpPr>
        <p:spPr>
          <a:xfrm>
            <a:off x="457200" y="3127248"/>
            <a:ext cx="502920" cy="502920"/>
          </a:xfrm>
          <a:prstGeom prst="ellipse">
            <a:avLst/>
          </a:prstGeom>
          <a:solidFill>
            <a:srgbClr val="7B1E2B"/>
          </a:solidFill>
          <a:ln w="6350">
            <a:solidFill>
              <a:srgbClr val="7B1E2B"/>
            </a:solidFill>
            <a:prstDash val="solid"/>
          </a:ln>
        </p:spPr>
      </p:sp>
      <p:pic>
        <p:nvPicPr>
          <p:cNvPr id="12" name="Image 1" descr="preencoded.png">    </p:cNvPr>
          <p:cNvPicPr>
            <a:picLocks noChangeAspect="1"/>
          </p:cNvPicPr>
          <p:nvPr/>
        </p:nvPicPr>
        <p:blipFill>
          <a:blip r:embed="rId2"/>
          <a:stretch>
            <a:fillRect/>
          </a:stretch>
        </p:blipFill>
        <p:spPr>
          <a:xfrm>
            <a:off x="582930" y="3252978"/>
            <a:ext cx="251460" cy="251460"/>
          </a:xfrm>
          <a:prstGeom prst="rect">
            <a:avLst/>
          </a:prstGeom>
        </p:spPr>
      </p:pic>
      <p:sp>
        <p:nvSpPr>
          <p:cNvPr id="13" name="Text 8"/>
          <p:cNvSpPr txBox="1"/>
          <p:nvPr/>
        </p:nvSpPr>
        <p:spPr>
          <a:xfrm>
            <a:off x="1124712" y="3145536"/>
            <a:ext cx="5916168"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Giải pháp</a:t>
            </a:r>
            <a:endParaRPr lang="en-US" sz="1500" dirty="0"/>
          </a:p>
        </p:txBody>
      </p:sp>
      <p:sp>
        <p:nvSpPr>
          <p:cNvPr id="14" name="Text 9"/>
          <p:cNvSpPr txBox="1"/>
          <p:nvPr/>
        </p:nvSpPr>
        <p:spPr>
          <a:xfrm>
            <a:off x="1124712" y="3511296"/>
            <a:ext cx="5916168" cy="105156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Ép bột bã mía theo khuôn, phối trộn bột vỏ trứng (CaCO₃) làm chất độn. Chi phí biến đổi khoảng 610 đ/hộp, giá bán khoảng 2.500 đ – ngang hộp kraft và hộp bã mía trên thị trường.</a:t>
            </a:r>
            <a:endParaRPr lang="en-US" sz="1300" dirty="0"/>
          </a:p>
        </p:txBody>
      </p:sp>
      <p:sp>
        <p:nvSpPr>
          <p:cNvPr id="15" name="Shape 10"/>
          <p:cNvSpPr/>
          <p:nvPr/>
        </p:nvSpPr>
        <p:spPr>
          <a:xfrm>
            <a:off x="457200" y="4608576"/>
            <a:ext cx="502920" cy="502920"/>
          </a:xfrm>
          <a:prstGeom prst="ellipse">
            <a:avLst/>
          </a:prstGeom>
          <a:solidFill>
            <a:srgbClr val="7B1E2B"/>
          </a:solidFill>
          <a:ln w="6350">
            <a:solidFill>
              <a:srgbClr val="7B1E2B"/>
            </a:solidFill>
            <a:prstDash val="solid"/>
          </a:ln>
        </p:spPr>
      </p:sp>
      <p:pic>
        <p:nvPicPr>
          <p:cNvPr id="16" name="Image 2" descr="preencoded.png">    </p:cNvPr>
          <p:cNvPicPr>
            <a:picLocks noChangeAspect="1"/>
          </p:cNvPicPr>
          <p:nvPr/>
        </p:nvPicPr>
        <p:blipFill>
          <a:blip r:embed="rId3"/>
          <a:stretch>
            <a:fillRect/>
          </a:stretch>
        </p:blipFill>
        <p:spPr>
          <a:xfrm>
            <a:off x="582930" y="4734306"/>
            <a:ext cx="251460" cy="251460"/>
          </a:xfrm>
          <a:prstGeom prst="rect">
            <a:avLst/>
          </a:prstGeom>
        </p:spPr>
      </p:pic>
      <p:sp>
        <p:nvSpPr>
          <p:cNvPr id="17" name="Text 11"/>
          <p:cNvSpPr txBox="1"/>
          <p:nvPr/>
        </p:nvSpPr>
        <p:spPr>
          <a:xfrm>
            <a:off x="1124712" y="4626864"/>
            <a:ext cx="5916168"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Mô hình kinh doanh</a:t>
            </a:r>
            <a:endParaRPr lang="en-US" sz="1500" dirty="0"/>
          </a:p>
        </p:txBody>
      </p:sp>
      <p:sp>
        <p:nvSpPr>
          <p:cNvPr id="18" name="Text 12"/>
          <p:cNvSpPr txBox="1"/>
          <p:nvPr/>
        </p:nvSpPr>
        <p:spPr>
          <a:xfrm>
            <a:off x="1124712" y="4992624"/>
            <a:ext cx="5916168" cy="105156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B2B trực tiếp cho chuỗi F&amp;B, nhà máy thực phẩm, doanh nghiệp điện tử, nội thất/TMĐT; thu thêm phí thiết kế – làm khuôn (~20 triệu/bộ). Nhà máy ở Gia Lai, khách hàng ở miền Trung và miền Nam.</a:t>
            </a:r>
            <a:endParaRPr lang="en-US" sz="1300" dirty="0"/>
          </a:p>
        </p:txBody>
      </p:sp>
      <p:sp>
        <p:nvSpPr>
          <p:cNvPr id="19" name="Text 13"/>
          <p:cNvSpPr txBox="1"/>
          <p:nvPr/>
        </p:nvSpPr>
        <p:spPr>
          <a:xfrm>
            <a:off x="7589520" y="1645920"/>
            <a:ext cx="420624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Cơ cấu doanh thu gộp 2025A</a:t>
            </a:r>
            <a:pPr indent="0" marL="0">
              <a:buNone/>
            </a:pPr>
            <a:r>
              <a:rPr lang="en-US" sz="1100" dirty="0">
                <a:solidFill>
                  <a:srgbClr val="6B6B6B"/>
                </a:solidFill>
                <a:latin typeface="Calibri" pitchFamily="34" charset="0"/>
                <a:ea typeface="Calibri" pitchFamily="34" charset="-122"/>
                <a:cs typeface="Calibri" pitchFamily="34" charset="-120"/>
              </a:rPr>
              <a:t>  (%; tổng 47,9 tỷ)</a:t>
            </a:r>
            <a:endParaRPr lang="en-US" sz="1400" dirty="0"/>
          </a:p>
        </p:txBody>
      </p:sp>
      <p:graphicFrame>
        <p:nvGraphicFramePr>
          <p:cNvPr id="20" name="Chart 0" descr=""/>
          <p:cNvGraphicFramePr/>
          <p:nvPr/>
        </p:nvGraphicFramePr>
        <p:xfrm>
          <a:off x="7589520" y="2011680"/>
          <a:ext cx="4114800" cy="2834640"/>
        </p:xfrm>
        <a:graphic xmlns:a="http://schemas.openxmlformats.org/drawingml/2006/main">
          <a:graphicData uri="http://schemas.openxmlformats.org/drawingml/2006/chart">
            <c:chart xmlns:c="http://schemas.openxmlformats.org/drawingml/2006/chart" r:id="rId4"/>
          </a:graphicData>
        </a:graphic>
      </p:graphicFrame>
      <p:sp>
        <p:nvSpPr>
          <p:cNvPr id="21" name="Shape 14"/>
          <p:cNvSpPr/>
          <p:nvPr/>
        </p:nvSpPr>
        <p:spPr>
          <a:xfrm>
            <a:off x="7589520" y="5029200"/>
            <a:ext cx="4142232" cy="1143000"/>
          </a:xfrm>
          <a:prstGeom prst="rect">
            <a:avLst/>
          </a:prstGeom>
          <a:solidFill>
            <a:srgbClr val="F6EDEF"/>
          </a:solidFill>
          <a:ln w="6350">
            <a:solidFill>
              <a:srgbClr val="F6EDEF"/>
            </a:solidFill>
            <a:prstDash val="solid"/>
          </a:ln>
        </p:spPr>
      </p:sp>
      <p:sp>
        <p:nvSpPr>
          <p:cNvPr id="22" name="Text 15"/>
          <p:cNvSpPr txBox="1"/>
          <p:nvPr/>
        </p:nvSpPr>
        <p:spPr>
          <a:xfrm>
            <a:off x="7754112" y="5120640"/>
            <a:ext cx="3840480" cy="960120"/>
          </a:xfrm>
          <a:prstGeom prst="rect">
            <a:avLst/>
          </a:prstGeom>
          <a:noFill/>
          <a:ln/>
        </p:spPr>
        <p:txBody>
          <a:bodyPr wrap="square" lIns="0" tIns="0" rIns="0" bIns="0" rtlCol="0" anchor="ctr"/>
          <a:lstStyle/>
          <a:p>
            <a:pPr indent="0" marL="0">
              <a:buNone/>
            </a:pPr>
            <a:r>
              <a:rPr lang="en-US" sz="1200" b="1" dirty="0">
                <a:solidFill>
                  <a:srgbClr val="1F1F1F"/>
                </a:solidFill>
                <a:latin typeface="Calibri" pitchFamily="34" charset="0"/>
                <a:ea typeface="Calibri" pitchFamily="34" charset="-122"/>
                <a:cs typeface="Calibri" pitchFamily="34" charset="-120"/>
              </a:rPr>
              <a:t>Tăng trưởng 2025: </a:t>
            </a:r>
            <a:pPr indent="0" marL="0">
              <a:buNone/>
            </a:pPr>
            <a:r>
              <a:rPr lang="en-US" sz="1200" dirty="0">
                <a:solidFill>
                  <a:srgbClr val="3A3A3A"/>
                </a:solidFill>
                <a:latin typeface="Calibri" pitchFamily="34" charset="0"/>
                <a:ea typeface="Calibri" pitchFamily="34" charset="-122"/>
                <a:cs typeface="Calibri" pitchFamily="34" charset="-120"/>
              </a:rPr>
              <a:t>F&amp;B/FMCG +58%, đệm điện tử +110% (từ nền nhỏ). Mảng khuôn là cửa vào khách hàng mới vì mỗi SKU mới cần một bộ khuôn riêng.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1 · THỊ TRƯỜNG MỤC TIÊU</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AgriPack đã chiếm 4,3% thị trường mục tiêu – tăng trưởng tiếp theo phải đến từ giành thị phần</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IMARC Group (2025); dự phóng của nhóm (Drivers); doanh thu F&amp;B quy đổi USD theo tỷ giá bình quân năm</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02920" y="1691640"/>
            <a:ext cx="5852160" cy="896112"/>
          </a:xfrm>
          <a:prstGeom prst="rect">
            <a:avLst/>
          </a:prstGeom>
          <a:solidFill>
            <a:srgbClr val="D0D0D0"/>
          </a:solidFill>
          <a:ln w="6350">
            <a:solidFill>
              <a:srgbClr val="D0D0D0"/>
            </a:solidFill>
            <a:prstDash val="solid"/>
          </a:ln>
        </p:spPr>
      </p:sp>
      <p:sp>
        <p:nvSpPr>
          <p:cNvPr id="8" name="Text 5"/>
          <p:cNvSpPr txBox="1"/>
          <p:nvPr/>
        </p:nvSpPr>
        <p:spPr>
          <a:xfrm>
            <a:off x="594360" y="1783080"/>
            <a:ext cx="5669280" cy="365760"/>
          </a:xfrm>
          <a:prstGeom prst="rect">
            <a:avLst/>
          </a:prstGeom>
          <a:noFill/>
          <a:ln/>
        </p:spPr>
        <p:txBody>
          <a:bodyPr wrap="square" lIns="0" tIns="0" rIns="0" bIns="0" rtlCol="0" anchor="ctr"/>
          <a:lstStyle/>
          <a:p>
            <a:pPr algn="ctr" indent="0" marL="0">
              <a:buNone/>
            </a:pPr>
            <a:r>
              <a:rPr lang="en-US" sz="1350" b="1" dirty="0">
                <a:solidFill>
                  <a:srgbClr val="1F1F1F"/>
                </a:solidFill>
                <a:latin typeface="Calibri" pitchFamily="34" charset="0"/>
                <a:ea typeface="Calibri" pitchFamily="34" charset="-122"/>
                <a:cs typeface="Calibri" pitchFamily="34" charset="-120"/>
              </a:rPr>
              <a:t>TAM – bao bì xanh Việt Nam</a:t>
            </a:r>
            <a:endParaRPr lang="en-US" sz="1350" dirty="0"/>
          </a:p>
        </p:txBody>
      </p:sp>
      <p:sp>
        <p:nvSpPr>
          <p:cNvPr id="9" name="Text 6"/>
          <p:cNvSpPr txBox="1"/>
          <p:nvPr/>
        </p:nvSpPr>
        <p:spPr>
          <a:xfrm>
            <a:off x="594360" y="2148840"/>
            <a:ext cx="5669280" cy="329184"/>
          </a:xfrm>
          <a:prstGeom prst="rect">
            <a:avLst/>
          </a:prstGeom>
          <a:noFill/>
          <a:ln/>
        </p:spPr>
        <p:txBody>
          <a:bodyPr wrap="square" lIns="0" tIns="0" rIns="0" bIns="0" rtlCol="0" anchor="ctr"/>
          <a:lstStyle/>
          <a:p>
            <a:pPr algn="ctr" indent="0" marL="0">
              <a:buNone/>
            </a:pPr>
            <a:r>
              <a:rPr lang="en-US" sz="1250" dirty="0">
                <a:solidFill>
                  <a:srgbClr val="1F1F1F"/>
                </a:solidFill>
                <a:latin typeface="Calibri" pitchFamily="34" charset="0"/>
                <a:ea typeface="Calibri" pitchFamily="34" charset="-122"/>
                <a:cs typeface="Calibri" pitchFamily="34" charset="-120"/>
              </a:rPr>
              <a:t>1.130 triệu USD (2025)</a:t>
            </a:r>
            <a:endParaRPr lang="en-US" sz="1250" dirty="0"/>
          </a:p>
        </p:txBody>
      </p:sp>
      <p:sp>
        <p:nvSpPr>
          <p:cNvPr id="10" name="Shape 7"/>
          <p:cNvSpPr/>
          <p:nvPr/>
        </p:nvSpPr>
        <p:spPr>
          <a:xfrm>
            <a:off x="914400" y="2715768"/>
            <a:ext cx="5029200" cy="896112"/>
          </a:xfrm>
          <a:prstGeom prst="rect">
            <a:avLst/>
          </a:prstGeom>
          <a:solidFill>
            <a:srgbClr val="A3A3A3"/>
          </a:solidFill>
          <a:ln w="6350">
            <a:solidFill>
              <a:srgbClr val="A3A3A3"/>
            </a:solidFill>
            <a:prstDash val="solid"/>
          </a:ln>
        </p:spPr>
      </p:sp>
      <p:sp>
        <p:nvSpPr>
          <p:cNvPr id="11" name="Text 8"/>
          <p:cNvSpPr txBox="1"/>
          <p:nvPr/>
        </p:nvSpPr>
        <p:spPr>
          <a:xfrm>
            <a:off x="1005840" y="2807208"/>
            <a:ext cx="48463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SAM – đồ dùng 1 lần phân hủy sinh học, ngành ăn uống</a:t>
            </a:r>
            <a:endParaRPr lang="en-US" sz="1350" dirty="0"/>
          </a:p>
        </p:txBody>
      </p:sp>
      <p:sp>
        <p:nvSpPr>
          <p:cNvPr id="12" name="Text 9"/>
          <p:cNvSpPr txBox="1"/>
          <p:nvPr/>
        </p:nvSpPr>
        <p:spPr>
          <a:xfrm>
            <a:off x="1005840" y="3172968"/>
            <a:ext cx="4846320" cy="329184"/>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33,9 triệu USD (2025) → 42,8 triệu USD (2030)</a:t>
            </a:r>
            <a:endParaRPr lang="en-US" sz="1250" dirty="0"/>
          </a:p>
        </p:txBody>
      </p:sp>
      <p:sp>
        <p:nvSpPr>
          <p:cNvPr id="13" name="Shape 10"/>
          <p:cNvSpPr/>
          <p:nvPr/>
        </p:nvSpPr>
        <p:spPr>
          <a:xfrm>
            <a:off x="1325880" y="3739896"/>
            <a:ext cx="4206240" cy="896112"/>
          </a:xfrm>
          <a:prstGeom prst="rect">
            <a:avLst/>
          </a:prstGeom>
          <a:solidFill>
            <a:srgbClr val="404040"/>
          </a:solidFill>
          <a:ln w="6350">
            <a:solidFill>
              <a:srgbClr val="404040"/>
            </a:solidFill>
            <a:prstDash val="solid"/>
          </a:ln>
        </p:spPr>
      </p:sp>
      <p:sp>
        <p:nvSpPr>
          <p:cNvPr id="14" name="Text 11"/>
          <p:cNvSpPr txBox="1"/>
          <p:nvPr/>
        </p:nvSpPr>
        <p:spPr>
          <a:xfrm>
            <a:off x="1417320" y="3831336"/>
            <a:ext cx="40233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SOM 2030E – doanh thu F&amp;B AgriPack</a:t>
            </a:r>
            <a:endParaRPr lang="en-US" sz="1350" dirty="0"/>
          </a:p>
        </p:txBody>
      </p:sp>
      <p:sp>
        <p:nvSpPr>
          <p:cNvPr id="15" name="Text 12"/>
          <p:cNvSpPr txBox="1"/>
          <p:nvPr/>
        </p:nvSpPr>
        <p:spPr>
          <a:xfrm>
            <a:off x="1417320" y="4197096"/>
            <a:ext cx="4023360" cy="329184"/>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4,69 triệu USD = 11,0% SAM</a:t>
            </a:r>
            <a:endParaRPr lang="en-US" sz="1250" dirty="0"/>
          </a:p>
        </p:txBody>
      </p:sp>
      <p:sp>
        <p:nvSpPr>
          <p:cNvPr id="16" name="Shape 13"/>
          <p:cNvSpPr/>
          <p:nvPr/>
        </p:nvSpPr>
        <p:spPr>
          <a:xfrm>
            <a:off x="1691640" y="4764024"/>
            <a:ext cx="3474720" cy="896112"/>
          </a:xfrm>
          <a:prstGeom prst="rect">
            <a:avLst/>
          </a:prstGeom>
          <a:solidFill>
            <a:srgbClr val="7B1E2B"/>
          </a:solidFill>
          <a:ln w="6350">
            <a:solidFill>
              <a:srgbClr val="7B1E2B"/>
            </a:solidFill>
            <a:prstDash val="solid"/>
          </a:ln>
        </p:spPr>
      </p:sp>
      <p:sp>
        <p:nvSpPr>
          <p:cNvPr id="17" name="Text 14"/>
          <p:cNvSpPr txBox="1"/>
          <p:nvPr/>
        </p:nvSpPr>
        <p:spPr>
          <a:xfrm>
            <a:off x="1783080" y="4855464"/>
            <a:ext cx="329184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SOM 2025 – doanh thu F&amp;B AgriPack</a:t>
            </a:r>
            <a:endParaRPr lang="en-US" sz="1350" dirty="0"/>
          </a:p>
        </p:txBody>
      </p:sp>
      <p:sp>
        <p:nvSpPr>
          <p:cNvPr id="18" name="Text 15"/>
          <p:cNvSpPr txBox="1"/>
          <p:nvPr/>
        </p:nvSpPr>
        <p:spPr>
          <a:xfrm>
            <a:off x="1783080" y="5221224"/>
            <a:ext cx="3291840" cy="329184"/>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1,46 triệu USD = 4,3% SAM</a:t>
            </a:r>
            <a:endParaRPr lang="en-US" sz="1250" dirty="0"/>
          </a:p>
        </p:txBody>
      </p:sp>
      <p:sp>
        <p:nvSpPr>
          <p:cNvPr id="19" name="Text 16"/>
          <p:cNvSpPr txBox="1"/>
          <p:nvPr/>
        </p:nvSpPr>
        <p:spPr>
          <a:xfrm>
            <a:off x="457200" y="5806440"/>
            <a:ext cx="5943600" cy="237744"/>
          </a:xfrm>
          <a:prstGeom prst="rect">
            <a:avLst/>
          </a:prstGeom>
          <a:noFill/>
          <a:ln/>
        </p:spPr>
        <p:txBody>
          <a:bodyPr wrap="square" lIns="0" tIns="0" rIns="0" bIns="0" rtlCol="0" anchor="t"/>
          <a:lstStyle/>
          <a:p>
            <a:pPr algn="ctr" indent="0" marL="0">
              <a:buNone/>
            </a:pPr>
            <a:r>
              <a:rPr lang="en-US" sz="1000" i="1" dirty="0">
                <a:solidFill>
                  <a:srgbClr val="6B6B6B"/>
                </a:solidFill>
                <a:latin typeface="Calibri" pitchFamily="34" charset="0"/>
                <a:ea typeface="Calibri" pitchFamily="34" charset="-122"/>
                <a:cs typeface="Calibri" pitchFamily="34" charset="-120"/>
              </a:rPr>
              <a:t>Độ rộng các tầng không theo tỷ lệ</a:t>
            </a:r>
            <a:endParaRPr lang="en-US" sz="1000" dirty="0"/>
          </a:p>
        </p:txBody>
      </p:sp>
      <p:sp>
        <p:nvSpPr>
          <p:cNvPr id="20" name="Text 17"/>
          <p:cNvSpPr txBox="1"/>
          <p:nvPr/>
        </p:nvSpPr>
        <p:spPr>
          <a:xfrm>
            <a:off x="6766560" y="1645920"/>
            <a:ext cx="493776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Thị phần ngầm định của AgriPack trong SAM</a:t>
            </a:r>
            <a:pPr indent="0" marL="0">
              <a:buNone/>
            </a:pPr>
            <a:r>
              <a:rPr lang="en-US" sz="1100" dirty="0">
                <a:solidFill>
                  <a:srgbClr val="6B6B6B"/>
                </a:solidFill>
                <a:latin typeface="Calibri" pitchFamily="34" charset="0"/>
                <a:ea typeface="Calibri" pitchFamily="34" charset="-122"/>
                <a:cs typeface="Calibri" pitchFamily="34" charset="-120"/>
              </a:rPr>
              <a:t>  (%)</a:t>
            </a:r>
            <a:endParaRPr lang="en-US" sz="1400" dirty="0"/>
          </a:p>
        </p:txBody>
      </p:sp>
      <p:graphicFrame>
        <p:nvGraphicFramePr>
          <p:cNvPr id="21" name="Chart 0" descr=""/>
          <p:cNvGraphicFramePr/>
          <p:nvPr/>
        </p:nvGraphicFramePr>
        <p:xfrm>
          <a:off x="6766560" y="201168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22" name="Text 18"/>
          <p:cNvSpPr txBox="1"/>
          <p:nvPr/>
        </p:nvSpPr>
        <p:spPr>
          <a:xfrm>
            <a:off x="6812280" y="4663440"/>
            <a:ext cx="4892040" cy="160020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rgbClr val="1F1F1F"/>
                </a:solidFill>
                <a:latin typeface="Calibri" pitchFamily="34" charset="0"/>
                <a:ea typeface="Calibri" pitchFamily="34" charset="-122"/>
                <a:cs typeface="Calibri" pitchFamily="34" charset="-120"/>
              </a:rPr>
              <a:t>Doanh thu F&amp;B tăng 26%/năm (USD) </a:t>
            </a:r>
            <a:pPr indent="0" marL="0">
              <a:spcAft>
                <a:spcPts val="500"/>
              </a:spcAft>
              <a:buNone/>
            </a:pPr>
            <a:r>
              <a:rPr lang="en-US" sz="1250" dirty="0">
                <a:solidFill>
                  <a:srgbClr val="3A3A3A"/>
                </a:solidFill>
                <a:latin typeface="Calibri" pitchFamily="34" charset="0"/>
                <a:ea typeface="Calibri" pitchFamily="34" charset="-122"/>
                <a:cs typeface="Calibri" pitchFamily="34" charset="-120"/>
              </a:rPr>
              <a:t>trong khi SAM chỉ tăng 4,7%/năm.</a:t>
            </a:r>
            <a:endParaRPr lang="en-US" sz="1250" dirty="0"/>
          </a:p>
          <a:p>
            <a:pPr marL="177800" indent="-177800">
              <a:spcAft>
                <a:spcPts val="500"/>
              </a:spcAft>
              <a:buSzPct val="100000"/>
              <a:buChar char="•"/>
            </a:pPr>
            <a:r>
              <a:rPr lang="en-US" sz="1250" b="1" dirty="0">
                <a:solidFill>
                  <a:srgbClr val="1F1F1F"/>
                </a:solidFill>
                <a:latin typeface="Calibri" pitchFamily="34" charset="0"/>
                <a:ea typeface="Calibri" pitchFamily="34" charset="-122"/>
                <a:cs typeface="Calibri" pitchFamily="34" charset="-120"/>
              </a:rPr>
              <a:t>Động lực cầu: </a:t>
            </a:r>
            <a:pPr indent="0" marL="0">
              <a:spcAft>
                <a:spcPts val="500"/>
              </a:spcAft>
              <a:buNone/>
            </a:pPr>
            <a:r>
              <a:rPr lang="en-US" sz="1250" dirty="0">
                <a:solidFill>
                  <a:srgbClr val="3A3A3A"/>
                </a:solidFill>
                <a:latin typeface="Calibri" pitchFamily="34" charset="0"/>
                <a:ea typeface="Calibri" pitchFamily="34" charset="-122"/>
                <a:cs typeface="Calibri" pitchFamily="34" charset="-120"/>
              </a:rPr>
              <a:t>Điều 64 NĐ 08/2022, trách nhiệm tái chế (NĐ 110/2026), dịch vụ ăn uống +16,4% (8T-2026).</a:t>
            </a:r>
            <a:endParaRPr lang="en-US" sz="1250" dirty="0"/>
          </a:p>
          <a:p>
            <a:pPr marL="177800" indent="-177800">
              <a:spcAft>
                <a:spcPts val="500"/>
              </a:spcAft>
              <a:buSzPct val="100000"/>
              <a:buChar char="•"/>
            </a:pPr>
            <a:r>
              <a:rPr lang="en-US" sz="1250" b="1" dirty="0">
                <a:solidFill>
                  <a:srgbClr val="1F1F1F"/>
                </a:solidFill>
                <a:latin typeface="Calibri" pitchFamily="34" charset="0"/>
                <a:ea typeface="Calibri" pitchFamily="34" charset="-122"/>
                <a:cs typeface="Calibri" pitchFamily="34" charset="-120"/>
              </a:rPr>
              <a:t>Ngưỡng kiểm soát: </a:t>
            </a:r>
            <a:pPr indent="0" marL="0">
              <a:spcAft>
                <a:spcPts val="500"/>
              </a:spcAft>
              <a:buNone/>
            </a:pPr>
            <a:r>
              <a:rPr lang="en-US" sz="1250" dirty="0">
                <a:solidFill>
                  <a:srgbClr val="3A3A3A"/>
                </a:solidFill>
                <a:latin typeface="Calibri" pitchFamily="34" charset="0"/>
                <a:ea typeface="Calibri" pitchFamily="34" charset="-122"/>
                <a:cs typeface="Calibri" pitchFamily="34" charset="-120"/>
              </a:rPr>
              <a:t>thị phần trên 15% SAM là thiếu cơ sở với doanh nghiệp một nhà máy.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2 · PHÂN TÍCH BÁO CÁO TÀI CHÍNH</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Doanh thu 2023–2025 tăng 56%/năm; biên EBITDA từ −14% lên 16% nhờ lấp đầy công suất sẵn có</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BCTC 2023–2025 (đề bài); tính toán của nhóm</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457200" y="1572768"/>
            <a:ext cx="36576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Doanh thu thuần</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8" name="Chart 0" descr=""/>
          <p:cNvGraphicFramePr/>
          <p:nvPr/>
        </p:nvGraphicFramePr>
        <p:xfrm>
          <a:off x="457200" y="1874520"/>
          <a:ext cx="356616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457200" y="3886200"/>
            <a:ext cx="36576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Biên EBITDA</a:t>
            </a:r>
            <a:pPr indent="0" marL="0">
              <a:buNone/>
            </a:pPr>
            <a:r>
              <a:rPr lang="en-US" sz="1100" dirty="0">
                <a:solidFill>
                  <a:srgbClr val="6B6B6B"/>
                </a:solidFill>
                <a:latin typeface="Calibri" pitchFamily="34" charset="0"/>
                <a:ea typeface="Calibri" pitchFamily="34" charset="-122"/>
                <a:cs typeface="Calibri" pitchFamily="34" charset="-120"/>
              </a:rPr>
              <a:t>  (%)</a:t>
            </a:r>
            <a:endParaRPr lang="en-US" sz="1400" dirty="0"/>
          </a:p>
        </p:txBody>
      </p:sp>
      <p:graphicFrame>
        <p:nvGraphicFramePr>
          <p:cNvPr id="10" name="Chart 1" descr=""/>
          <p:cNvGraphicFramePr/>
          <p:nvPr/>
        </p:nvGraphicFramePr>
        <p:xfrm>
          <a:off x="457200" y="4187952"/>
          <a:ext cx="3566160" cy="2011680"/>
        </p:xfrm>
        <a:graphic xmlns:a="http://schemas.openxmlformats.org/drawingml/2006/main">
          <a:graphicData uri="http://schemas.openxmlformats.org/drawingml/2006/chart">
            <c:chart xmlns:c="http://schemas.openxmlformats.org/drawingml/2006/chart" r:id="rId2"/>
          </a:graphicData>
        </a:graphic>
      </p:graphicFrame>
      <p:sp>
        <p:nvSpPr>
          <p:cNvPr id="11" name="Text 6"/>
          <p:cNvSpPr txBox="1"/>
          <p:nvPr/>
        </p:nvSpPr>
        <p:spPr>
          <a:xfrm>
            <a:off x="4343400" y="1572768"/>
            <a:ext cx="374904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Chi phí / doanh thu thuần</a:t>
            </a:r>
            <a:pPr indent="0" marL="0">
              <a:buNone/>
            </a:pPr>
            <a:r>
              <a:rPr lang="en-US" sz="1100" dirty="0">
                <a:solidFill>
                  <a:srgbClr val="6B6B6B"/>
                </a:solidFill>
                <a:latin typeface="Calibri" pitchFamily="34" charset="0"/>
                <a:ea typeface="Calibri" pitchFamily="34" charset="-122"/>
                <a:cs typeface="Calibri" pitchFamily="34" charset="-120"/>
              </a:rPr>
              <a:t>  (%)</a:t>
            </a:r>
            <a:endParaRPr lang="en-US" sz="1400" dirty="0"/>
          </a:p>
        </p:txBody>
      </p:sp>
      <p:graphicFrame>
        <p:nvGraphicFramePr>
          <p:cNvPr id="12" name="Chart 2" descr=""/>
          <p:cNvGraphicFramePr/>
          <p:nvPr/>
        </p:nvGraphicFramePr>
        <p:xfrm>
          <a:off x="4343400" y="1874520"/>
          <a:ext cx="3703320" cy="4297680"/>
        </p:xfrm>
        <a:graphic xmlns:a="http://schemas.openxmlformats.org/drawingml/2006/main">
          <a:graphicData uri="http://schemas.openxmlformats.org/drawingml/2006/chart">
            <c:chart xmlns:c="http://schemas.openxmlformats.org/drawingml/2006/chart" r:id="rId3"/>
          </a:graphicData>
        </a:graphic>
      </p:graphicFrame>
      <p:sp>
        <p:nvSpPr>
          <p:cNvPr id="13" name="Shape 7"/>
          <p:cNvSpPr/>
          <p:nvPr/>
        </p:nvSpPr>
        <p:spPr>
          <a:xfrm>
            <a:off x="8366760" y="1645920"/>
            <a:ext cx="502920" cy="502920"/>
          </a:xfrm>
          <a:prstGeom prst="ellipse">
            <a:avLst/>
          </a:prstGeom>
          <a:solidFill>
            <a:srgbClr val="7B1E2B"/>
          </a:solidFill>
          <a:ln w="6350">
            <a:solidFill>
              <a:srgbClr val="7B1E2B"/>
            </a:solidFill>
            <a:prstDash val="solid"/>
          </a:ln>
        </p:spPr>
      </p:sp>
      <p:pic>
        <p:nvPicPr>
          <p:cNvPr id="14" name="Image 0" descr="preencoded.png">    </p:cNvPr>
          <p:cNvPicPr>
            <a:picLocks noChangeAspect="1"/>
          </p:cNvPicPr>
          <p:nvPr/>
        </p:nvPicPr>
        <p:blipFill>
          <a:blip r:embed="rId4"/>
          <a:stretch>
            <a:fillRect/>
          </a:stretch>
        </p:blipFill>
        <p:spPr>
          <a:xfrm>
            <a:off x="8492490" y="1771650"/>
            <a:ext cx="251460" cy="251460"/>
          </a:xfrm>
          <a:prstGeom prst="rect">
            <a:avLst/>
          </a:prstGeom>
        </p:spPr>
      </p:pic>
      <p:sp>
        <p:nvSpPr>
          <p:cNvPr id="15" name="Text 8"/>
          <p:cNvSpPr txBox="1"/>
          <p:nvPr/>
        </p:nvSpPr>
        <p:spPr>
          <a:xfrm>
            <a:off x="9034272" y="1664208"/>
            <a:ext cx="2697480" cy="310896"/>
          </a:xfrm>
          <a:prstGeom prst="rect">
            <a:avLst/>
          </a:prstGeom>
          <a:noFill/>
          <a:ln/>
        </p:spPr>
        <p:txBody>
          <a:bodyPr wrap="square" lIns="0" tIns="0" rIns="0" bIns="0" rtlCol="0" anchor="t"/>
          <a:lstStyle/>
          <a:p>
            <a:pPr indent="0" marL="0">
              <a:buNone/>
            </a:pPr>
            <a:r>
              <a:rPr lang="en-US" sz="1400" b="1" dirty="0">
                <a:solidFill>
                  <a:srgbClr val="1F1F1F"/>
                </a:solidFill>
                <a:latin typeface="Calibri" pitchFamily="34" charset="0"/>
                <a:ea typeface="Calibri" pitchFamily="34" charset="-122"/>
                <a:cs typeface="Calibri" pitchFamily="34" charset="-120"/>
              </a:rPr>
              <a:t>Đòn bẩy hoạt động</a:t>
            </a:r>
            <a:endParaRPr lang="en-US" sz="1400" dirty="0"/>
          </a:p>
        </p:txBody>
      </p:sp>
      <p:sp>
        <p:nvSpPr>
          <p:cNvPr id="16" name="Text 9"/>
          <p:cNvSpPr txBox="1"/>
          <p:nvPr/>
        </p:nvSpPr>
        <p:spPr>
          <a:xfrm>
            <a:off x="9034272" y="2029968"/>
            <a:ext cx="2697480" cy="1097280"/>
          </a:xfrm>
          <a:prstGeom prst="rect">
            <a:avLst/>
          </a:prstGeom>
          <a:noFill/>
          <a:ln/>
        </p:spPr>
        <p:txBody>
          <a:bodyPr wrap="square" lIns="0" tIns="0" rIns="0" bIns="0" rtlCol="0" anchor="t"/>
          <a:lstStyle/>
          <a:p>
            <a:pPr indent="0" marL="0">
              <a:buNone/>
            </a:pPr>
            <a:r>
              <a:rPr lang="en-US" sz="1200" dirty="0">
                <a:solidFill>
                  <a:srgbClr val="3A3A3A"/>
                </a:solidFill>
                <a:latin typeface="Calibri" pitchFamily="34" charset="0"/>
                <a:ea typeface="Calibri" pitchFamily="34" charset="-122"/>
                <a:cs typeface="Calibri" pitchFamily="34" charset="-120"/>
              </a:rPr>
              <a:t>Tiền lương giảm từ 36,0% xuống 22,6% doanh thu, tiền thuê từ 20,5% xuống 15,9%; chi phí biến đổi chỉ giảm 1 điểm %.</a:t>
            </a:r>
            <a:endParaRPr lang="en-US" sz="1200" dirty="0"/>
          </a:p>
        </p:txBody>
      </p:sp>
      <p:sp>
        <p:nvSpPr>
          <p:cNvPr id="17" name="Shape 10"/>
          <p:cNvSpPr/>
          <p:nvPr/>
        </p:nvSpPr>
        <p:spPr>
          <a:xfrm>
            <a:off x="8366760" y="3163824"/>
            <a:ext cx="502920" cy="502920"/>
          </a:xfrm>
          <a:prstGeom prst="ellipse">
            <a:avLst/>
          </a:prstGeom>
          <a:solidFill>
            <a:srgbClr val="7B1E2B"/>
          </a:solidFill>
          <a:ln w="6350">
            <a:solidFill>
              <a:srgbClr val="7B1E2B"/>
            </a:solidFill>
            <a:prstDash val="solid"/>
          </a:ln>
        </p:spPr>
      </p:sp>
      <p:pic>
        <p:nvPicPr>
          <p:cNvPr id="18" name="Image 1" descr="preencoded.png">    </p:cNvPr>
          <p:cNvPicPr>
            <a:picLocks noChangeAspect="1"/>
          </p:cNvPicPr>
          <p:nvPr/>
        </p:nvPicPr>
        <p:blipFill>
          <a:blip r:embed="rId5"/>
          <a:stretch>
            <a:fillRect/>
          </a:stretch>
        </p:blipFill>
        <p:spPr>
          <a:xfrm>
            <a:off x="8492490" y="3289554"/>
            <a:ext cx="251460" cy="251460"/>
          </a:xfrm>
          <a:prstGeom prst="rect">
            <a:avLst/>
          </a:prstGeom>
        </p:spPr>
      </p:pic>
      <p:sp>
        <p:nvSpPr>
          <p:cNvPr id="19" name="Text 11"/>
          <p:cNvSpPr txBox="1"/>
          <p:nvPr/>
        </p:nvSpPr>
        <p:spPr>
          <a:xfrm>
            <a:off x="9034272" y="3182112"/>
            <a:ext cx="2697480" cy="310896"/>
          </a:xfrm>
          <a:prstGeom prst="rect">
            <a:avLst/>
          </a:prstGeom>
          <a:noFill/>
          <a:ln/>
        </p:spPr>
        <p:txBody>
          <a:bodyPr wrap="square" lIns="0" tIns="0" rIns="0" bIns="0" rtlCol="0" anchor="t"/>
          <a:lstStyle/>
          <a:p>
            <a:pPr indent="0" marL="0">
              <a:buNone/>
            </a:pPr>
            <a:r>
              <a:rPr lang="en-US" sz="1400" b="1" dirty="0">
                <a:solidFill>
                  <a:srgbClr val="1F1F1F"/>
                </a:solidFill>
                <a:latin typeface="Calibri" pitchFamily="34" charset="0"/>
                <a:ea typeface="Calibri" pitchFamily="34" charset="-122"/>
                <a:cs typeface="Calibri" pitchFamily="34" charset="-120"/>
              </a:rPr>
              <a:t>Biên gộp 73% cần đọc lại</a:t>
            </a:r>
            <a:endParaRPr lang="en-US" sz="1400" dirty="0"/>
          </a:p>
        </p:txBody>
      </p:sp>
      <p:sp>
        <p:nvSpPr>
          <p:cNvPr id="20" name="Text 12"/>
          <p:cNvSpPr txBox="1"/>
          <p:nvPr/>
        </p:nvSpPr>
        <p:spPr>
          <a:xfrm>
            <a:off x="9034272" y="3547872"/>
            <a:ext cx="2697480" cy="1097280"/>
          </a:xfrm>
          <a:prstGeom prst="rect">
            <a:avLst/>
          </a:prstGeom>
          <a:noFill/>
          <a:ln/>
        </p:spPr>
        <p:txBody>
          <a:bodyPr wrap="square" lIns="0" tIns="0" rIns="0" bIns="0" rtlCol="0" anchor="t"/>
          <a:lstStyle/>
          <a:p>
            <a:pPr indent="0" marL="0">
              <a:buNone/>
            </a:pPr>
            <a:r>
              <a:rPr lang="en-US" sz="1200" dirty="0">
                <a:solidFill>
                  <a:srgbClr val="3A3A3A"/>
                </a:solidFill>
                <a:latin typeface="Calibri" pitchFamily="34" charset="0"/>
                <a:ea typeface="Calibri" pitchFamily="34" charset="-122"/>
                <a:cs typeface="Calibri" pitchFamily="34" charset="-120"/>
              </a:rPr>
              <a:t>Lương công nhân, điện nước, khấu hao nằm ngoài giá vốn. Phân loại lại, biên gộp 2025 chỉ còn khoảng 41% – nên so sánh bằng biên EBITDA.</a:t>
            </a:r>
            <a:endParaRPr lang="en-US" sz="1200" dirty="0"/>
          </a:p>
        </p:txBody>
      </p:sp>
      <p:sp>
        <p:nvSpPr>
          <p:cNvPr id="21" name="Shape 13"/>
          <p:cNvSpPr/>
          <p:nvPr/>
        </p:nvSpPr>
        <p:spPr>
          <a:xfrm>
            <a:off x="8366760" y="4681728"/>
            <a:ext cx="502920" cy="502920"/>
          </a:xfrm>
          <a:prstGeom prst="ellipse">
            <a:avLst/>
          </a:prstGeom>
          <a:solidFill>
            <a:srgbClr val="7B1E2B"/>
          </a:solidFill>
          <a:ln w="6350">
            <a:solidFill>
              <a:srgbClr val="7B1E2B"/>
            </a:solidFill>
            <a:prstDash val="solid"/>
          </a:ln>
        </p:spPr>
      </p:sp>
      <p:pic>
        <p:nvPicPr>
          <p:cNvPr id="22" name="Image 2" descr="preencoded.png">    </p:cNvPr>
          <p:cNvPicPr>
            <a:picLocks noChangeAspect="1"/>
          </p:cNvPicPr>
          <p:nvPr/>
        </p:nvPicPr>
        <p:blipFill>
          <a:blip r:embed="rId6"/>
          <a:stretch>
            <a:fillRect/>
          </a:stretch>
        </p:blipFill>
        <p:spPr>
          <a:xfrm>
            <a:off x="8492490" y="4807458"/>
            <a:ext cx="251460" cy="251460"/>
          </a:xfrm>
          <a:prstGeom prst="rect">
            <a:avLst/>
          </a:prstGeom>
        </p:spPr>
      </p:pic>
      <p:sp>
        <p:nvSpPr>
          <p:cNvPr id="23" name="Text 14"/>
          <p:cNvSpPr txBox="1"/>
          <p:nvPr/>
        </p:nvSpPr>
        <p:spPr>
          <a:xfrm>
            <a:off x="9034272" y="4700016"/>
            <a:ext cx="2697480" cy="310896"/>
          </a:xfrm>
          <a:prstGeom prst="rect">
            <a:avLst/>
          </a:prstGeom>
          <a:noFill/>
          <a:ln/>
        </p:spPr>
        <p:txBody>
          <a:bodyPr wrap="square" lIns="0" tIns="0" rIns="0" bIns="0" rtlCol="0" anchor="t"/>
          <a:lstStyle/>
          <a:p>
            <a:pPr indent="0" marL="0">
              <a:buNone/>
            </a:pPr>
            <a:r>
              <a:rPr lang="en-US" sz="1400" b="1" dirty="0">
                <a:solidFill>
                  <a:srgbClr val="1F1F1F"/>
                </a:solidFill>
                <a:latin typeface="Calibri" pitchFamily="34" charset="0"/>
                <a:ea typeface="Calibri" pitchFamily="34" charset="-122"/>
                <a:cs typeface="Calibri" pitchFamily="34" charset="-120"/>
              </a:rPr>
              <a:t>ROE 15,9% &lt; Ke 16,2%</a:t>
            </a:r>
            <a:endParaRPr lang="en-US" sz="1400" dirty="0"/>
          </a:p>
        </p:txBody>
      </p:sp>
      <p:sp>
        <p:nvSpPr>
          <p:cNvPr id="24" name="Text 15"/>
          <p:cNvSpPr txBox="1"/>
          <p:nvPr/>
        </p:nvSpPr>
        <p:spPr>
          <a:xfrm>
            <a:off x="9034272" y="5065776"/>
            <a:ext cx="2697480" cy="1097280"/>
          </a:xfrm>
          <a:prstGeom prst="rect">
            <a:avLst/>
          </a:prstGeom>
          <a:noFill/>
          <a:ln/>
        </p:spPr>
        <p:txBody>
          <a:bodyPr wrap="square" lIns="0" tIns="0" rIns="0" bIns="0" rtlCol="0" anchor="t"/>
          <a:lstStyle/>
          <a:p>
            <a:pPr indent="0" marL="0">
              <a:buNone/>
            </a:pPr>
            <a:r>
              <a:rPr lang="en-US" sz="1200" dirty="0">
                <a:solidFill>
                  <a:srgbClr val="3A3A3A"/>
                </a:solidFill>
                <a:latin typeface="Calibri" pitchFamily="34" charset="0"/>
                <a:ea typeface="Calibri" pitchFamily="34" charset="-122"/>
                <a:cs typeface="Calibri" pitchFamily="34" charset="-120"/>
              </a:rPr>
              <a:t>Có lãi kế toán nhưng chưa tạo lợi nhuận kinh tế: định giá phải dựa vào tăng trưởng có lãi sau đầu tư.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2 · DÒNG TIỀN VÀ GIAI ĐOẠN PHÁT TRIỂN</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FCF dương lần đầu năm 2025; AgriPack ở giai đoạn Đầu tăng trưởng – chúng tôi dùng tỷ lệ thất bại z = 40%</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BCTC 2023–2025 (đề bài); tỷ lệ thất bại theo giai đoạn: đề bài (mục III.1); lựa chọn của nhóm</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457200" y="1572768"/>
            <a:ext cx="512064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Dòng tiền 2023A–2025A</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8" name="Chart 0" descr=""/>
          <p:cNvGraphicFramePr/>
          <p:nvPr/>
        </p:nvGraphicFramePr>
        <p:xfrm>
          <a:off x="457200" y="187452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457200" y="5394960"/>
            <a:ext cx="5120640" cy="274320"/>
          </a:xfrm>
          <a:prstGeom prst="rect">
            <a:avLst/>
          </a:prstGeom>
          <a:noFill/>
          <a:ln/>
        </p:spPr>
        <p:txBody>
          <a:bodyPr wrap="square" lIns="0" tIns="0" rIns="0" bIns="0" rtlCol="0" anchor="t"/>
          <a:lstStyle/>
          <a:p>
            <a:pPr indent="0" marL="0">
              <a:buNone/>
            </a:pPr>
            <a:r>
              <a:rPr lang="en-US" sz="1200" i="1" dirty="0">
                <a:solidFill>
                  <a:srgbClr val="6B6B6B"/>
                </a:solidFill>
                <a:latin typeface="Calibri" pitchFamily="34" charset="0"/>
                <a:ea typeface="Calibri" pitchFamily="34" charset="-122"/>
                <a:cs typeface="Calibri" pitchFamily="34" charset="-120"/>
              </a:rPr>
              <a:t>Vốn góp nhận được: 8,1 tỷ (2023) · 7,0 tỷ (2024) · 0 (2025)</a:t>
            </a:r>
            <a:endParaRPr lang="en-US" sz="1200" dirty="0"/>
          </a:p>
        </p:txBody>
      </p:sp>
      <p:sp>
        <p:nvSpPr>
          <p:cNvPr id="10" name="Text 6"/>
          <p:cNvSpPr txBox="1"/>
          <p:nvPr/>
        </p:nvSpPr>
        <p:spPr>
          <a:xfrm>
            <a:off x="6172200" y="1572768"/>
            <a:ext cx="557784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Tỷ lệ thất bại theo giai đoạn đầu tư</a:t>
            </a:r>
            <a:pPr indent="0" marL="0">
              <a:buNone/>
            </a:pPr>
            <a:r>
              <a:rPr lang="en-US" sz="1100" dirty="0">
                <a:solidFill>
                  <a:srgbClr val="6B6B6B"/>
                </a:solidFill>
                <a:latin typeface="Calibri" pitchFamily="34" charset="0"/>
                <a:ea typeface="Calibri" pitchFamily="34" charset="-122"/>
                <a:cs typeface="Calibri" pitchFamily="34" charset="-120"/>
              </a:rPr>
              <a:t>  (đề bài)</a:t>
            </a:r>
            <a:endParaRPr lang="en-US" sz="1400" dirty="0"/>
          </a:p>
        </p:txBody>
      </p:sp>
      <p:sp>
        <p:nvSpPr>
          <p:cNvPr id="11" name="Shape 7"/>
          <p:cNvSpPr/>
          <p:nvPr/>
        </p:nvSpPr>
        <p:spPr>
          <a:xfrm>
            <a:off x="7909560" y="2057400"/>
            <a:ext cx="0" cy="1874520"/>
          </a:xfrm>
          <a:prstGeom prst="line">
            <a:avLst/>
          </a:prstGeom>
          <a:noFill/>
          <a:ln w="9525">
            <a:solidFill>
              <a:srgbClr val="E4E4E4"/>
            </a:solidFill>
            <a:prstDash val="solid"/>
          </a:ln>
        </p:spPr>
      </p:sp>
      <p:sp>
        <p:nvSpPr>
          <p:cNvPr id="12" name="Text 8"/>
          <p:cNvSpPr txBox="1"/>
          <p:nvPr/>
        </p:nvSpPr>
        <p:spPr>
          <a:xfrm>
            <a:off x="7589520" y="396849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0%</a:t>
            </a:r>
            <a:endParaRPr lang="en-US" sz="1050" dirty="0"/>
          </a:p>
        </p:txBody>
      </p:sp>
      <p:sp>
        <p:nvSpPr>
          <p:cNvPr id="13" name="Shape 9"/>
          <p:cNvSpPr/>
          <p:nvPr/>
        </p:nvSpPr>
        <p:spPr>
          <a:xfrm>
            <a:off x="8698230" y="2057400"/>
            <a:ext cx="0" cy="1874520"/>
          </a:xfrm>
          <a:prstGeom prst="line">
            <a:avLst/>
          </a:prstGeom>
          <a:noFill/>
          <a:ln w="9525">
            <a:solidFill>
              <a:srgbClr val="E4E4E4"/>
            </a:solidFill>
            <a:prstDash val="solid"/>
          </a:ln>
        </p:spPr>
      </p:sp>
      <p:sp>
        <p:nvSpPr>
          <p:cNvPr id="14" name="Text 10"/>
          <p:cNvSpPr txBox="1"/>
          <p:nvPr/>
        </p:nvSpPr>
        <p:spPr>
          <a:xfrm>
            <a:off x="8378190" y="396849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25%</a:t>
            </a:r>
            <a:endParaRPr lang="en-US" sz="1050" dirty="0"/>
          </a:p>
        </p:txBody>
      </p:sp>
      <p:sp>
        <p:nvSpPr>
          <p:cNvPr id="15" name="Shape 11"/>
          <p:cNvSpPr/>
          <p:nvPr/>
        </p:nvSpPr>
        <p:spPr>
          <a:xfrm>
            <a:off x="9486900" y="2057400"/>
            <a:ext cx="0" cy="1874520"/>
          </a:xfrm>
          <a:prstGeom prst="line">
            <a:avLst/>
          </a:prstGeom>
          <a:noFill/>
          <a:ln w="9525">
            <a:solidFill>
              <a:srgbClr val="E4E4E4"/>
            </a:solidFill>
            <a:prstDash val="solid"/>
          </a:ln>
        </p:spPr>
      </p:sp>
      <p:sp>
        <p:nvSpPr>
          <p:cNvPr id="16" name="Text 12"/>
          <p:cNvSpPr txBox="1"/>
          <p:nvPr/>
        </p:nvSpPr>
        <p:spPr>
          <a:xfrm>
            <a:off x="9166860" y="396849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50%</a:t>
            </a:r>
            <a:endParaRPr lang="en-US" sz="1050" dirty="0"/>
          </a:p>
        </p:txBody>
      </p:sp>
      <p:sp>
        <p:nvSpPr>
          <p:cNvPr id="17" name="Shape 13"/>
          <p:cNvSpPr/>
          <p:nvPr/>
        </p:nvSpPr>
        <p:spPr>
          <a:xfrm>
            <a:off x="10275570" y="2057400"/>
            <a:ext cx="0" cy="1874520"/>
          </a:xfrm>
          <a:prstGeom prst="line">
            <a:avLst/>
          </a:prstGeom>
          <a:noFill/>
          <a:ln w="9525">
            <a:solidFill>
              <a:srgbClr val="E4E4E4"/>
            </a:solidFill>
            <a:prstDash val="solid"/>
          </a:ln>
        </p:spPr>
      </p:sp>
      <p:sp>
        <p:nvSpPr>
          <p:cNvPr id="18" name="Text 14"/>
          <p:cNvSpPr txBox="1"/>
          <p:nvPr/>
        </p:nvSpPr>
        <p:spPr>
          <a:xfrm>
            <a:off x="9955530" y="396849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75%</a:t>
            </a:r>
            <a:endParaRPr lang="en-US" sz="1050" dirty="0"/>
          </a:p>
        </p:txBody>
      </p:sp>
      <p:sp>
        <p:nvSpPr>
          <p:cNvPr id="19" name="Shape 15"/>
          <p:cNvSpPr/>
          <p:nvPr/>
        </p:nvSpPr>
        <p:spPr>
          <a:xfrm>
            <a:off x="11064240" y="2057400"/>
            <a:ext cx="0" cy="1874520"/>
          </a:xfrm>
          <a:prstGeom prst="line">
            <a:avLst/>
          </a:prstGeom>
          <a:noFill/>
          <a:ln w="9525">
            <a:solidFill>
              <a:srgbClr val="E4E4E4"/>
            </a:solidFill>
            <a:prstDash val="solid"/>
          </a:ln>
        </p:spPr>
      </p:sp>
      <p:sp>
        <p:nvSpPr>
          <p:cNvPr id="20" name="Text 16"/>
          <p:cNvSpPr txBox="1"/>
          <p:nvPr/>
        </p:nvSpPr>
        <p:spPr>
          <a:xfrm>
            <a:off x="10744200" y="396849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100%</a:t>
            </a:r>
            <a:endParaRPr lang="en-US" sz="1050" dirty="0"/>
          </a:p>
        </p:txBody>
      </p:sp>
      <p:sp>
        <p:nvSpPr>
          <p:cNvPr id="21" name="Text 17"/>
          <p:cNvSpPr txBox="1"/>
          <p:nvPr/>
        </p:nvSpPr>
        <p:spPr>
          <a:xfrm>
            <a:off x="6172200" y="2112264"/>
            <a:ext cx="1600200" cy="438912"/>
          </a:xfrm>
          <a:prstGeom prst="rect">
            <a:avLst/>
          </a:prstGeom>
          <a:noFill/>
          <a:ln/>
        </p:spPr>
        <p:txBody>
          <a:bodyPr wrap="square" lIns="0" tIns="0" rIns="0" bIns="0" rtlCol="0" anchor="ctr"/>
          <a:lstStyle/>
          <a:p>
            <a:pPr algn="r" indent="0" marL="0">
              <a:buNone/>
            </a:pPr>
            <a:r>
              <a:rPr lang="en-US" sz="1250" dirty="0">
                <a:solidFill>
                  <a:srgbClr val="1F1F1F"/>
                </a:solidFill>
                <a:latin typeface="Calibri" pitchFamily="34" charset="0"/>
                <a:ea typeface="Calibri" pitchFamily="34" charset="-122"/>
                <a:cs typeface="Calibri" pitchFamily="34" charset="-120"/>
              </a:rPr>
              <a:t>Ươm mầm</a:t>
            </a:r>
            <a:endParaRPr lang="en-US" sz="1250" dirty="0"/>
          </a:p>
        </p:txBody>
      </p:sp>
      <p:sp>
        <p:nvSpPr>
          <p:cNvPr id="22" name="Shape 18"/>
          <p:cNvSpPr/>
          <p:nvPr/>
        </p:nvSpPr>
        <p:spPr>
          <a:xfrm>
            <a:off x="9960102" y="2226564"/>
            <a:ext cx="473202" cy="210312"/>
          </a:xfrm>
          <a:prstGeom prst="rect">
            <a:avLst/>
          </a:prstGeom>
          <a:solidFill>
            <a:srgbClr val="D0D0D0"/>
          </a:solidFill>
          <a:ln w="6350">
            <a:solidFill>
              <a:srgbClr val="D0D0D0"/>
            </a:solidFill>
            <a:prstDash val="solid"/>
          </a:ln>
        </p:spPr>
      </p:sp>
      <p:sp>
        <p:nvSpPr>
          <p:cNvPr id="23" name="Text 19"/>
          <p:cNvSpPr txBox="1"/>
          <p:nvPr/>
        </p:nvSpPr>
        <p:spPr>
          <a:xfrm>
            <a:off x="9301734" y="219456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65%</a:t>
            </a:r>
            <a:endParaRPr lang="en-US" sz="1100" dirty="0"/>
          </a:p>
        </p:txBody>
      </p:sp>
      <p:sp>
        <p:nvSpPr>
          <p:cNvPr id="24" name="Text 20"/>
          <p:cNvSpPr txBox="1"/>
          <p:nvPr/>
        </p:nvSpPr>
        <p:spPr>
          <a:xfrm>
            <a:off x="10488168" y="219456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80%</a:t>
            </a:r>
            <a:endParaRPr lang="en-US" sz="1100" dirty="0"/>
          </a:p>
        </p:txBody>
      </p:sp>
      <p:sp>
        <p:nvSpPr>
          <p:cNvPr id="25" name="Text 21"/>
          <p:cNvSpPr txBox="1"/>
          <p:nvPr/>
        </p:nvSpPr>
        <p:spPr>
          <a:xfrm>
            <a:off x="6172200" y="2569464"/>
            <a:ext cx="1600200" cy="438912"/>
          </a:xfrm>
          <a:prstGeom prst="rect">
            <a:avLst/>
          </a:prstGeom>
          <a:noFill/>
          <a:ln/>
        </p:spPr>
        <p:txBody>
          <a:bodyPr wrap="square" lIns="0" tIns="0" rIns="0" bIns="0" rtlCol="0" anchor="ctr"/>
          <a:lstStyle/>
          <a:p>
            <a:pPr algn="r" indent="0" marL="0">
              <a:buNone/>
            </a:pPr>
            <a:r>
              <a:rPr lang="en-US" sz="1250" dirty="0">
                <a:solidFill>
                  <a:srgbClr val="1F1F1F"/>
                </a:solidFill>
                <a:latin typeface="Calibri" pitchFamily="34" charset="0"/>
                <a:ea typeface="Calibri" pitchFamily="34" charset="-122"/>
                <a:cs typeface="Calibri" pitchFamily="34" charset="-120"/>
              </a:rPr>
              <a:t>Thử nghiệm</a:t>
            </a:r>
            <a:endParaRPr lang="en-US" sz="1250" dirty="0"/>
          </a:p>
        </p:txBody>
      </p:sp>
      <p:sp>
        <p:nvSpPr>
          <p:cNvPr id="26" name="Shape 22"/>
          <p:cNvSpPr/>
          <p:nvPr/>
        </p:nvSpPr>
        <p:spPr>
          <a:xfrm>
            <a:off x="9486900" y="2683764"/>
            <a:ext cx="473202" cy="210312"/>
          </a:xfrm>
          <a:prstGeom prst="rect">
            <a:avLst/>
          </a:prstGeom>
          <a:solidFill>
            <a:srgbClr val="D0D0D0"/>
          </a:solidFill>
          <a:ln w="6350">
            <a:solidFill>
              <a:srgbClr val="D0D0D0"/>
            </a:solidFill>
            <a:prstDash val="solid"/>
          </a:ln>
        </p:spPr>
      </p:sp>
      <p:sp>
        <p:nvSpPr>
          <p:cNvPr id="27" name="Text 23"/>
          <p:cNvSpPr txBox="1"/>
          <p:nvPr/>
        </p:nvSpPr>
        <p:spPr>
          <a:xfrm>
            <a:off x="8828532" y="265176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50%</a:t>
            </a:r>
            <a:endParaRPr lang="en-US" sz="1100" dirty="0"/>
          </a:p>
        </p:txBody>
      </p:sp>
      <p:sp>
        <p:nvSpPr>
          <p:cNvPr id="28" name="Text 24"/>
          <p:cNvSpPr txBox="1"/>
          <p:nvPr/>
        </p:nvSpPr>
        <p:spPr>
          <a:xfrm>
            <a:off x="10014966" y="265176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65%</a:t>
            </a:r>
            <a:endParaRPr lang="en-US" sz="1100" dirty="0"/>
          </a:p>
        </p:txBody>
      </p:sp>
      <p:sp>
        <p:nvSpPr>
          <p:cNvPr id="29" name="Text 25"/>
          <p:cNvSpPr txBox="1"/>
          <p:nvPr/>
        </p:nvSpPr>
        <p:spPr>
          <a:xfrm>
            <a:off x="6172200" y="3026664"/>
            <a:ext cx="1600200" cy="438912"/>
          </a:xfrm>
          <a:prstGeom prst="rect">
            <a:avLst/>
          </a:prstGeom>
          <a:noFill/>
          <a:ln/>
        </p:spPr>
        <p:txBody>
          <a:bodyPr wrap="square" lIns="0" tIns="0" rIns="0" bIns="0" rtlCol="0" anchor="ctr"/>
          <a:lstStyle/>
          <a:p>
            <a:pPr algn="r" indent="0" marL="0">
              <a:buNone/>
            </a:pPr>
            <a:r>
              <a:rPr lang="en-US" sz="1250" b="1" dirty="0">
                <a:solidFill>
                  <a:srgbClr val="1F1F1F"/>
                </a:solidFill>
                <a:latin typeface="Calibri" pitchFamily="34" charset="0"/>
                <a:ea typeface="Calibri" pitchFamily="34" charset="-122"/>
                <a:cs typeface="Calibri" pitchFamily="34" charset="-120"/>
              </a:rPr>
              <a:t>Đầu tăng trưởng</a:t>
            </a:r>
            <a:endParaRPr lang="en-US" sz="1250" dirty="0"/>
          </a:p>
        </p:txBody>
      </p:sp>
      <p:sp>
        <p:nvSpPr>
          <p:cNvPr id="30" name="Shape 26"/>
          <p:cNvSpPr/>
          <p:nvPr/>
        </p:nvSpPr>
        <p:spPr>
          <a:xfrm>
            <a:off x="9013698" y="3140964"/>
            <a:ext cx="315468" cy="210312"/>
          </a:xfrm>
          <a:prstGeom prst="rect">
            <a:avLst/>
          </a:prstGeom>
          <a:solidFill>
            <a:srgbClr val="7B1E2B"/>
          </a:solidFill>
          <a:ln w="6350">
            <a:solidFill>
              <a:srgbClr val="7B1E2B"/>
            </a:solidFill>
            <a:prstDash val="solid"/>
          </a:ln>
        </p:spPr>
      </p:sp>
      <p:sp>
        <p:nvSpPr>
          <p:cNvPr id="31" name="Text 27"/>
          <p:cNvSpPr txBox="1"/>
          <p:nvPr/>
        </p:nvSpPr>
        <p:spPr>
          <a:xfrm>
            <a:off x="8355330" y="310896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35%</a:t>
            </a:r>
            <a:endParaRPr lang="en-US" sz="1100" dirty="0"/>
          </a:p>
        </p:txBody>
      </p:sp>
      <p:sp>
        <p:nvSpPr>
          <p:cNvPr id="32" name="Text 28"/>
          <p:cNvSpPr txBox="1"/>
          <p:nvPr/>
        </p:nvSpPr>
        <p:spPr>
          <a:xfrm>
            <a:off x="9384030" y="310896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45%</a:t>
            </a:r>
            <a:endParaRPr lang="en-US" sz="1100" dirty="0"/>
          </a:p>
        </p:txBody>
      </p:sp>
      <p:sp>
        <p:nvSpPr>
          <p:cNvPr id="33" name="Shape 29"/>
          <p:cNvSpPr/>
          <p:nvPr/>
        </p:nvSpPr>
        <p:spPr>
          <a:xfrm>
            <a:off x="9171432" y="3095244"/>
            <a:ext cx="0" cy="301752"/>
          </a:xfrm>
          <a:prstGeom prst="line">
            <a:avLst/>
          </a:prstGeom>
          <a:noFill/>
          <a:ln w="28575">
            <a:solidFill>
              <a:srgbClr val="FFFFFF"/>
            </a:solidFill>
            <a:prstDash val="solid"/>
          </a:ln>
        </p:spPr>
      </p:sp>
      <p:sp>
        <p:nvSpPr>
          <p:cNvPr id="34" name="Text 30"/>
          <p:cNvSpPr txBox="1"/>
          <p:nvPr/>
        </p:nvSpPr>
        <p:spPr>
          <a:xfrm>
            <a:off x="6172200" y="3483864"/>
            <a:ext cx="1600200" cy="438912"/>
          </a:xfrm>
          <a:prstGeom prst="rect">
            <a:avLst/>
          </a:prstGeom>
          <a:noFill/>
          <a:ln/>
        </p:spPr>
        <p:txBody>
          <a:bodyPr wrap="square" lIns="0" tIns="0" rIns="0" bIns="0" rtlCol="0" anchor="ctr"/>
          <a:lstStyle/>
          <a:p>
            <a:pPr algn="r" indent="0" marL="0">
              <a:buNone/>
            </a:pPr>
            <a:r>
              <a:rPr lang="en-US" sz="1250" dirty="0">
                <a:solidFill>
                  <a:srgbClr val="1F1F1F"/>
                </a:solidFill>
                <a:latin typeface="Calibri" pitchFamily="34" charset="0"/>
                <a:ea typeface="Calibri" pitchFamily="34" charset="-122"/>
                <a:cs typeface="Calibri" pitchFamily="34" charset="-120"/>
              </a:rPr>
              <a:t>Cuối tăng trưởng</a:t>
            </a:r>
            <a:endParaRPr lang="en-US" sz="1250" dirty="0"/>
          </a:p>
        </p:txBody>
      </p:sp>
      <p:sp>
        <p:nvSpPr>
          <p:cNvPr id="35" name="Shape 31"/>
          <p:cNvSpPr/>
          <p:nvPr/>
        </p:nvSpPr>
        <p:spPr>
          <a:xfrm>
            <a:off x="8540496" y="3598164"/>
            <a:ext cx="315468" cy="210312"/>
          </a:xfrm>
          <a:prstGeom prst="rect">
            <a:avLst/>
          </a:prstGeom>
          <a:solidFill>
            <a:srgbClr val="D0D0D0"/>
          </a:solidFill>
          <a:ln w="6350">
            <a:solidFill>
              <a:srgbClr val="D0D0D0"/>
            </a:solidFill>
            <a:prstDash val="solid"/>
          </a:ln>
        </p:spPr>
      </p:sp>
      <p:sp>
        <p:nvSpPr>
          <p:cNvPr id="36" name="Text 32"/>
          <p:cNvSpPr txBox="1"/>
          <p:nvPr/>
        </p:nvSpPr>
        <p:spPr>
          <a:xfrm>
            <a:off x="7882128" y="356616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20%</a:t>
            </a:r>
            <a:endParaRPr lang="en-US" sz="1100" dirty="0"/>
          </a:p>
        </p:txBody>
      </p:sp>
      <p:sp>
        <p:nvSpPr>
          <p:cNvPr id="37" name="Text 33"/>
          <p:cNvSpPr txBox="1"/>
          <p:nvPr/>
        </p:nvSpPr>
        <p:spPr>
          <a:xfrm>
            <a:off x="8910828" y="356616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30%</a:t>
            </a:r>
            <a:endParaRPr lang="en-US" sz="1100" dirty="0"/>
          </a:p>
        </p:txBody>
      </p:sp>
      <p:sp>
        <p:nvSpPr>
          <p:cNvPr id="38" name="Shape 34"/>
          <p:cNvSpPr/>
          <p:nvPr/>
        </p:nvSpPr>
        <p:spPr>
          <a:xfrm>
            <a:off x="9171432" y="1920240"/>
            <a:ext cx="0" cy="2011680"/>
          </a:xfrm>
          <a:prstGeom prst="line">
            <a:avLst/>
          </a:prstGeom>
          <a:noFill/>
          <a:ln w="15875">
            <a:solidFill>
              <a:srgbClr val="5A1520"/>
            </a:solidFill>
            <a:prstDash val="dash"/>
          </a:ln>
        </p:spPr>
      </p:sp>
      <p:sp>
        <p:nvSpPr>
          <p:cNvPr id="39" name="Text 35"/>
          <p:cNvSpPr txBox="1"/>
          <p:nvPr/>
        </p:nvSpPr>
        <p:spPr>
          <a:xfrm>
            <a:off x="9226296" y="1792224"/>
            <a:ext cx="2926080" cy="237744"/>
          </a:xfrm>
          <a:prstGeom prst="rect">
            <a:avLst/>
          </a:prstGeom>
          <a:noFill/>
          <a:ln/>
        </p:spPr>
        <p:txBody>
          <a:bodyPr wrap="square" lIns="0" tIns="0" rIns="0" bIns="0" rtlCol="0" anchor="t"/>
          <a:lstStyle/>
          <a:p>
            <a:pPr indent="0" marL="0">
              <a:buNone/>
            </a:pPr>
            <a:r>
              <a:rPr lang="en-US" sz="1100" b="1" dirty="0">
                <a:solidFill>
                  <a:srgbClr val="5A1520"/>
                </a:solidFill>
                <a:latin typeface="Calibri" pitchFamily="34" charset="0"/>
                <a:ea typeface="Calibri" pitchFamily="34" charset="-122"/>
                <a:cs typeface="Calibri" pitchFamily="34" charset="-120"/>
              </a:rPr>
              <a:t>AgriPack: z = 40%</a:t>
            </a:r>
            <a:endParaRPr lang="en-US" sz="1100" dirty="0"/>
          </a:p>
        </p:txBody>
      </p:sp>
      <p:sp>
        <p:nvSpPr>
          <p:cNvPr id="40" name="Shape 36"/>
          <p:cNvSpPr/>
          <p:nvPr/>
        </p:nvSpPr>
        <p:spPr>
          <a:xfrm>
            <a:off x="6172200" y="4434840"/>
            <a:ext cx="5559552" cy="1737360"/>
          </a:xfrm>
          <a:prstGeom prst="rect">
            <a:avLst/>
          </a:prstGeom>
          <a:solidFill>
            <a:srgbClr val="F6EDEF"/>
          </a:solidFill>
          <a:ln w="6350">
            <a:solidFill>
              <a:srgbClr val="F6EDEF"/>
            </a:solidFill>
            <a:prstDash val="solid"/>
          </a:ln>
        </p:spPr>
      </p:sp>
      <p:sp>
        <p:nvSpPr>
          <p:cNvPr id="41" name="Text 37"/>
          <p:cNvSpPr txBox="1"/>
          <p:nvPr/>
        </p:nvSpPr>
        <p:spPr>
          <a:xfrm>
            <a:off x="6355080" y="4526280"/>
            <a:ext cx="5257800" cy="1572768"/>
          </a:xfrm>
          <a:prstGeom prst="rect">
            <a:avLst/>
          </a:prstGeom>
          <a:noFill/>
          <a:ln/>
        </p:spPr>
        <p:txBody>
          <a:bodyPr wrap="square" lIns="0" tIns="0" rIns="0" bIns="0" rtlCol="0" anchor="t"/>
          <a:lstStyle/>
          <a:p>
            <a:pPr indent="0" marL="0">
              <a:spcAft>
                <a:spcPts val="300"/>
              </a:spcAft>
              <a:buNone/>
            </a:pPr>
            <a:r>
              <a:rPr lang="en-US" sz="1250" b="1" dirty="0">
                <a:solidFill>
                  <a:srgbClr val="7B1E2B"/>
                </a:solidFill>
                <a:latin typeface="Calibri" pitchFamily="34" charset="0"/>
                <a:ea typeface="Calibri" pitchFamily="34" charset="-122"/>
                <a:cs typeface="Calibri" pitchFamily="34" charset="-120"/>
              </a:rPr>
              <a:t>Vì sao là Đầu tăng trưởng</a:t>
            </a:r>
            <a:endParaRPr lang="en-US" sz="1250" dirty="0"/>
          </a:p>
          <a:p>
            <a:pPr marL="177800" indent="-177800">
              <a:spcAft>
                <a:spcPts val="300"/>
              </a:spcAft>
              <a:buSzPct val="100000"/>
              <a:buChar char="•"/>
            </a:pPr>
            <a:r>
              <a:rPr lang="en-US" sz="1250" dirty="0">
                <a:solidFill>
                  <a:srgbClr val="3A3A3A"/>
                </a:solidFill>
                <a:latin typeface="Calibri" pitchFamily="34" charset="0"/>
                <a:ea typeface="Calibri" pitchFamily="34" charset="-122"/>
                <a:cs typeface="Calibri" pitchFamily="34" charset="-120"/>
              </a:rPr>
              <a:t>Doanh thu 47,5 tỷ, CAGR 56%; năm đầu có lãi (LNST 4,4 tỷ)</a:t>
            </a:r>
            <a:endParaRPr lang="en-US" sz="1250" dirty="0"/>
          </a:p>
          <a:p>
            <a:pPr marL="177800" indent="-177800">
              <a:spcAft>
                <a:spcPts val="300"/>
              </a:spcAft>
              <a:buSzPct val="100000"/>
              <a:buChar char="•"/>
            </a:pPr>
            <a:r>
              <a:rPr lang="en-US" sz="1250" dirty="0">
                <a:solidFill>
                  <a:srgbClr val="3A3A3A"/>
                </a:solidFill>
                <a:latin typeface="Calibri" pitchFamily="34" charset="0"/>
                <a:ea typeface="Calibri" pitchFamily="34" charset="-122"/>
                <a:cs typeface="Calibri" pitchFamily="34" charset="-120"/>
              </a:rPr>
              <a:t>FCF 1,2 tỷ, không cần vốn góp; nợ vay chỉ 5,3% VCSH</a:t>
            </a:r>
            <a:endParaRPr lang="en-US" sz="1250" dirty="0"/>
          </a:p>
          <a:p>
            <a:pPr marL="177800" indent="-177800">
              <a:spcAft>
                <a:spcPts val="300"/>
              </a:spcAft>
              <a:buSzPct val="100000"/>
              <a:buChar char="•"/>
            </a:pPr>
            <a:r>
              <a:rPr lang="en-US" sz="1250" dirty="0">
                <a:solidFill>
                  <a:srgbClr val="3A3A3A"/>
                </a:solidFill>
                <a:latin typeface="Calibri" pitchFamily="34" charset="0"/>
                <a:ea typeface="Calibri" pitchFamily="34" charset="-122"/>
                <a:cs typeface="Calibri" pitchFamily="34" charset="-120"/>
              </a:rPr>
              <a:t>ROE 15,9% &lt; Ke 16,2%; nhà máy 2027 làm TSCĐ tăng gấp ba → rủi ro kéo về 45%</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3 · VĨ MÔ VÀ NGÀNH</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Vĩ mô hỗ trợ cầu nhưng đẩy chi phí và lãi suất lên; biên EBITDA của AgriPack thuộc nhóm cao nhất ngành bao bì</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Cục Thống kê, NHNN, Vietcombank qua FiinX (9/2026); FiinX – BCTC quý đến Q2/2026 (TTM); mô hình của nhóm</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457200" y="1627632"/>
            <a:ext cx="2743200" cy="2148840"/>
          </a:xfrm>
          <a:prstGeom prst="rect">
            <a:avLst/>
          </a:prstGeom>
          <a:solidFill>
            <a:srgbClr val="F6EDEF"/>
          </a:solidFill>
          <a:ln w="6350">
            <a:solidFill>
              <a:srgbClr val="F6EDEF"/>
            </a:solidFill>
            <a:prstDash val="solid"/>
          </a:ln>
        </p:spPr>
      </p:sp>
      <p:sp>
        <p:nvSpPr>
          <p:cNvPr id="8" name="Text 5"/>
          <p:cNvSpPr txBox="1"/>
          <p:nvPr/>
        </p:nvSpPr>
        <p:spPr>
          <a:xfrm>
            <a:off x="640080" y="1755648"/>
            <a:ext cx="2377440" cy="658368"/>
          </a:xfrm>
          <a:prstGeom prst="rect">
            <a:avLst/>
          </a:prstGeom>
          <a:noFill/>
          <a:ln/>
        </p:spPr>
        <p:txBody>
          <a:bodyPr wrap="square" lIns="0" tIns="0" rIns="0" bIns="0" rtlCol="0" anchor="ctr"/>
          <a:lstStyle/>
          <a:p>
            <a:pPr indent="0" marL="0">
              <a:buNone/>
            </a:pPr>
            <a:r>
              <a:rPr lang="en-US" sz="3000" b="1" dirty="0">
                <a:solidFill>
                  <a:srgbClr val="7B1E2B"/>
                </a:solidFill>
                <a:latin typeface="Calibri" pitchFamily="34" charset="0"/>
                <a:ea typeface="Calibri" pitchFamily="34" charset="-122"/>
                <a:cs typeface="Calibri" pitchFamily="34" charset="-120"/>
              </a:rPr>
              <a:t>8,18%</a:t>
            </a:r>
            <a:endParaRPr lang="en-US" sz="3000" dirty="0"/>
          </a:p>
        </p:txBody>
      </p:sp>
      <p:sp>
        <p:nvSpPr>
          <p:cNvPr id="9" name="Text 6"/>
          <p:cNvSpPr txBox="1"/>
          <p:nvPr/>
        </p:nvSpPr>
        <p:spPr>
          <a:xfrm>
            <a:off x="640080" y="2432304"/>
            <a:ext cx="2377440"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GDP 6T-2026</a:t>
            </a:r>
            <a:endParaRPr lang="en-US" sz="1350" dirty="0"/>
          </a:p>
        </p:txBody>
      </p:sp>
      <p:sp>
        <p:nvSpPr>
          <p:cNvPr id="10" name="Text 7"/>
          <p:cNvSpPr txBox="1"/>
          <p:nvPr/>
        </p:nvSpPr>
        <p:spPr>
          <a:xfrm>
            <a:off x="640080" y="2761488"/>
            <a:ext cx="2377440" cy="941832"/>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Dịch vụ ăn uống +16,4% (8T) → sản lượng F&amp;B +32% năm 2026</a:t>
            </a:r>
            <a:endParaRPr lang="en-US" sz="1200" dirty="0"/>
          </a:p>
        </p:txBody>
      </p:sp>
      <p:sp>
        <p:nvSpPr>
          <p:cNvPr id="11" name="Shape 8"/>
          <p:cNvSpPr/>
          <p:nvPr/>
        </p:nvSpPr>
        <p:spPr>
          <a:xfrm>
            <a:off x="3383280" y="1627632"/>
            <a:ext cx="2743200" cy="2148840"/>
          </a:xfrm>
          <a:prstGeom prst="rect">
            <a:avLst/>
          </a:prstGeom>
          <a:solidFill>
            <a:srgbClr val="F6EDEF"/>
          </a:solidFill>
          <a:ln w="6350">
            <a:solidFill>
              <a:srgbClr val="F6EDEF"/>
            </a:solidFill>
            <a:prstDash val="solid"/>
          </a:ln>
        </p:spPr>
      </p:sp>
      <p:sp>
        <p:nvSpPr>
          <p:cNvPr id="12" name="Text 9"/>
          <p:cNvSpPr txBox="1"/>
          <p:nvPr/>
        </p:nvSpPr>
        <p:spPr>
          <a:xfrm>
            <a:off x="3566160" y="1755648"/>
            <a:ext cx="2377440" cy="658368"/>
          </a:xfrm>
          <a:prstGeom prst="rect">
            <a:avLst/>
          </a:prstGeom>
          <a:noFill/>
          <a:ln/>
        </p:spPr>
        <p:txBody>
          <a:bodyPr wrap="square" lIns="0" tIns="0" rIns="0" bIns="0" rtlCol="0" anchor="ctr"/>
          <a:lstStyle/>
          <a:p>
            <a:pPr indent="0" marL="0">
              <a:buNone/>
            </a:pPr>
            <a:r>
              <a:rPr lang="en-US" sz="3000" b="1" dirty="0">
                <a:solidFill>
                  <a:srgbClr val="7B1E2B"/>
                </a:solidFill>
                <a:latin typeface="Calibri" pitchFamily="34" charset="0"/>
                <a:ea typeface="Calibri" pitchFamily="34" charset="-122"/>
                <a:cs typeface="Calibri" pitchFamily="34" charset="-120"/>
              </a:rPr>
              <a:t>4,45%</a:t>
            </a:r>
            <a:endParaRPr lang="en-US" sz="3000" dirty="0"/>
          </a:p>
        </p:txBody>
      </p:sp>
      <p:sp>
        <p:nvSpPr>
          <p:cNvPr id="13" name="Text 10"/>
          <p:cNvSpPr txBox="1"/>
          <p:nvPr/>
        </p:nvSpPr>
        <p:spPr>
          <a:xfrm>
            <a:off x="3566160" y="2432304"/>
            <a:ext cx="2377440"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CPI bình quân 8T-2026</a:t>
            </a:r>
            <a:endParaRPr lang="en-US" sz="1350" dirty="0"/>
          </a:p>
        </p:txBody>
      </p:sp>
      <p:sp>
        <p:nvSpPr>
          <p:cNvPr id="14" name="Text 11"/>
          <p:cNvSpPr txBox="1"/>
          <p:nvPr/>
        </p:nvSpPr>
        <p:spPr>
          <a:xfrm>
            <a:off x="3566160" y="2761488"/>
            <a:ext cx="2377440" cy="941832"/>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Lương tối thiểu +7,2%, giá điện +4,8% → giá bán chỉ +2%/năm</a:t>
            </a:r>
            <a:endParaRPr lang="en-US" sz="1200" dirty="0"/>
          </a:p>
        </p:txBody>
      </p:sp>
      <p:sp>
        <p:nvSpPr>
          <p:cNvPr id="15" name="Shape 12"/>
          <p:cNvSpPr/>
          <p:nvPr/>
        </p:nvSpPr>
        <p:spPr>
          <a:xfrm>
            <a:off x="457200" y="3959352"/>
            <a:ext cx="2743200" cy="2148840"/>
          </a:xfrm>
          <a:prstGeom prst="rect">
            <a:avLst/>
          </a:prstGeom>
          <a:solidFill>
            <a:srgbClr val="F6EDEF"/>
          </a:solidFill>
          <a:ln w="6350">
            <a:solidFill>
              <a:srgbClr val="F6EDEF"/>
            </a:solidFill>
            <a:prstDash val="solid"/>
          </a:ln>
        </p:spPr>
      </p:sp>
      <p:sp>
        <p:nvSpPr>
          <p:cNvPr id="16" name="Text 13"/>
          <p:cNvSpPr txBox="1"/>
          <p:nvPr/>
        </p:nvSpPr>
        <p:spPr>
          <a:xfrm>
            <a:off x="640080" y="4087368"/>
            <a:ext cx="2377440" cy="658368"/>
          </a:xfrm>
          <a:prstGeom prst="rect">
            <a:avLst/>
          </a:prstGeom>
          <a:noFill/>
          <a:ln/>
        </p:spPr>
        <p:txBody>
          <a:bodyPr wrap="square" lIns="0" tIns="0" rIns="0" bIns="0" rtlCol="0" anchor="ctr"/>
          <a:lstStyle/>
          <a:p>
            <a:pPr indent="0" marL="0">
              <a:buNone/>
            </a:pPr>
            <a:r>
              <a:rPr lang="en-US" sz="3000" b="1" dirty="0">
                <a:solidFill>
                  <a:srgbClr val="7B1E2B"/>
                </a:solidFill>
                <a:latin typeface="Calibri" pitchFamily="34" charset="0"/>
                <a:ea typeface="Calibri" pitchFamily="34" charset="-122"/>
                <a:cs typeface="Calibri" pitchFamily="34" charset="-120"/>
              </a:rPr>
              <a:t>8,4–10,7%</a:t>
            </a:r>
            <a:endParaRPr lang="en-US" sz="3000" dirty="0"/>
          </a:p>
        </p:txBody>
      </p:sp>
      <p:sp>
        <p:nvSpPr>
          <p:cNvPr id="17" name="Text 14"/>
          <p:cNvSpPr txBox="1"/>
          <p:nvPr/>
        </p:nvSpPr>
        <p:spPr>
          <a:xfrm>
            <a:off x="640080" y="4764024"/>
            <a:ext cx="2377440"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Lãi vay trung–dài hạn (8/2026)</a:t>
            </a:r>
            <a:endParaRPr lang="en-US" sz="1350" dirty="0"/>
          </a:p>
        </p:txBody>
      </p:sp>
      <p:sp>
        <p:nvSpPr>
          <p:cNvPr id="18" name="Text 15"/>
          <p:cNvSpPr txBox="1"/>
          <p:nvPr/>
        </p:nvSpPr>
        <p:spPr>
          <a:xfrm>
            <a:off x="640080" y="5093208"/>
            <a:ext cx="2377440" cy="941832"/>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+1,7 điểm % từ 12/2025 → chi phí nợ Kd = 10%</a:t>
            </a:r>
            <a:endParaRPr lang="en-US" sz="1200" dirty="0"/>
          </a:p>
        </p:txBody>
      </p:sp>
      <p:sp>
        <p:nvSpPr>
          <p:cNvPr id="19" name="Shape 16"/>
          <p:cNvSpPr/>
          <p:nvPr/>
        </p:nvSpPr>
        <p:spPr>
          <a:xfrm>
            <a:off x="3383280" y="3959352"/>
            <a:ext cx="2743200" cy="2148840"/>
          </a:xfrm>
          <a:prstGeom prst="rect">
            <a:avLst/>
          </a:prstGeom>
          <a:solidFill>
            <a:srgbClr val="F6EDEF"/>
          </a:solidFill>
          <a:ln w="6350">
            <a:solidFill>
              <a:srgbClr val="F6EDEF"/>
            </a:solidFill>
            <a:prstDash val="solid"/>
          </a:ln>
        </p:spPr>
      </p:sp>
      <p:sp>
        <p:nvSpPr>
          <p:cNvPr id="20" name="Text 17"/>
          <p:cNvSpPr txBox="1"/>
          <p:nvPr/>
        </p:nvSpPr>
        <p:spPr>
          <a:xfrm>
            <a:off x="3566160" y="4087368"/>
            <a:ext cx="2377440" cy="658368"/>
          </a:xfrm>
          <a:prstGeom prst="rect">
            <a:avLst/>
          </a:prstGeom>
          <a:noFill/>
          <a:ln/>
        </p:spPr>
        <p:txBody>
          <a:bodyPr wrap="square" lIns="0" tIns="0" rIns="0" bIns="0" rtlCol="0" anchor="ctr"/>
          <a:lstStyle/>
          <a:p>
            <a:pPr indent="0" marL="0">
              <a:buNone/>
            </a:pPr>
            <a:r>
              <a:rPr lang="en-US" sz="3000" b="1" dirty="0">
                <a:solidFill>
                  <a:srgbClr val="7B1E2B"/>
                </a:solidFill>
                <a:latin typeface="Calibri" pitchFamily="34" charset="0"/>
                <a:ea typeface="Calibri" pitchFamily="34" charset="-122"/>
                <a:cs typeface="Calibri" pitchFamily="34" charset="-120"/>
              </a:rPr>
              <a:t>+10,9%</a:t>
            </a:r>
            <a:endParaRPr lang="en-US" sz="3000" dirty="0"/>
          </a:p>
        </p:txBody>
      </p:sp>
      <p:sp>
        <p:nvSpPr>
          <p:cNvPr id="21" name="Text 18"/>
          <p:cNvSpPr txBox="1"/>
          <p:nvPr/>
        </p:nvSpPr>
        <p:spPr>
          <a:xfrm>
            <a:off x="3566160" y="4764024"/>
            <a:ext cx="2377440" cy="310896"/>
          </a:xfrm>
          <a:prstGeom prst="rect">
            <a:avLst/>
          </a:prstGeom>
          <a:noFill/>
          <a:ln/>
        </p:spPr>
        <p:txBody>
          <a:bodyPr wrap="square" lIns="0" tIns="0" rIns="0" bIns="0" rtlCol="0" anchor="t"/>
          <a:lstStyle/>
          <a:p>
            <a:pPr indent="0" marL="0">
              <a:buNone/>
            </a:pPr>
            <a:r>
              <a:rPr lang="en-US" sz="1350" b="1" dirty="0">
                <a:solidFill>
                  <a:srgbClr val="1F1F1F"/>
                </a:solidFill>
                <a:latin typeface="Calibri" pitchFamily="34" charset="0"/>
                <a:ea typeface="Calibri" pitchFamily="34" charset="-122"/>
                <a:cs typeface="Calibri" pitchFamily="34" charset="-120"/>
              </a:rPr>
              <a:t>CNY/VND từ cuối 2024</a:t>
            </a:r>
            <a:endParaRPr lang="en-US" sz="1350" dirty="0"/>
          </a:p>
        </p:txBody>
      </p:sp>
      <p:sp>
        <p:nvSpPr>
          <p:cNvPr id="22" name="Text 19"/>
          <p:cNvSpPr txBox="1"/>
          <p:nvPr/>
        </p:nvSpPr>
        <p:spPr>
          <a:xfrm>
            <a:off x="3566160" y="5093208"/>
            <a:ext cx="2377440" cy="941832"/>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Máy ép nhập từ Trung Quốc: CNY +5% ≈ CAPEX +1,3 tỷ</a:t>
            </a:r>
            <a:endParaRPr lang="en-US" sz="1200" dirty="0"/>
          </a:p>
        </p:txBody>
      </p:sp>
      <p:sp>
        <p:nvSpPr>
          <p:cNvPr id="23" name="Text 20"/>
          <p:cNvSpPr txBox="1"/>
          <p:nvPr/>
        </p:nvSpPr>
        <p:spPr>
          <a:xfrm>
            <a:off x="6583680" y="1572768"/>
            <a:ext cx="512064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Biên EBITDA: AgriPack và DN bao bì niêm yết</a:t>
            </a:r>
            <a:pPr indent="0" marL="0">
              <a:buNone/>
            </a:pPr>
            <a:r>
              <a:rPr lang="en-US" sz="1100" dirty="0">
                <a:solidFill>
                  <a:srgbClr val="6B6B6B"/>
                </a:solidFill>
                <a:latin typeface="Calibri" pitchFamily="34" charset="0"/>
                <a:ea typeface="Calibri" pitchFamily="34" charset="-122"/>
                <a:cs typeface="Calibri" pitchFamily="34" charset="-120"/>
              </a:rPr>
              <a:t>  (%)</a:t>
            </a:r>
            <a:endParaRPr lang="en-US" sz="1400" dirty="0"/>
          </a:p>
        </p:txBody>
      </p:sp>
      <p:graphicFrame>
        <p:nvGraphicFramePr>
          <p:cNvPr id="24" name="Chart 0" descr=""/>
          <p:cNvGraphicFramePr/>
          <p:nvPr/>
        </p:nvGraphicFramePr>
        <p:xfrm>
          <a:off x="6583680" y="1874520"/>
          <a:ext cx="5120640" cy="3977640"/>
        </p:xfrm>
        <a:graphic xmlns:a="http://schemas.openxmlformats.org/drawingml/2006/main">
          <a:graphicData uri="http://schemas.openxmlformats.org/drawingml/2006/chart">
            <c:chart xmlns:c="http://schemas.openxmlformats.org/drawingml/2006/chart" r:id="rId1"/>
          </a:graphicData>
        </a:graphic>
      </p:graphicFrame>
      <p:sp>
        <p:nvSpPr>
          <p:cNvPr id="25" name="Text 21"/>
          <p:cNvSpPr txBox="1"/>
          <p:nvPr/>
        </p:nvSpPr>
        <p:spPr>
          <a:xfrm>
            <a:off x="6583680" y="5897880"/>
            <a:ext cx="5120640" cy="274320"/>
          </a:xfrm>
          <a:prstGeom prst="rect">
            <a:avLst/>
          </a:prstGeom>
          <a:noFill/>
          <a:ln/>
        </p:spPr>
        <p:txBody>
          <a:bodyPr wrap="square" lIns="0" tIns="0" rIns="0" bIns="0" rtlCol="0" anchor="t"/>
          <a:lstStyle/>
          <a:p>
            <a:pPr indent="0" marL="0">
              <a:buNone/>
            </a:pPr>
            <a:r>
              <a:rPr lang="en-US" sz="1100" i="1" dirty="0">
                <a:solidFill>
                  <a:srgbClr val="6B6B6B"/>
                </a:solidFill>
                <a:latin typeface="Calibri" pitchFamily="34" charset="0"/>
                <a:ea typeface="Calibri" pitchFamily="34" charset="-122"/>
                <a:cs typeface="Calibri" pitchFamily="34" charset="-120"/>
              </a:rPr>
              <a:t>Trung vị 15 DN bao bì niêm yết: 8,8% · AgriPack: năm 2025; DN niêm yết: TTM đến Q2/2026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4 · DỰ PHÓNG PRO FORMA 5 NĂM</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Doanh thu 2030E đạt 170 tỷ đồng (CAGR 29%), dự phóng theo sản lượng × giá và pha công suất</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Dự phóng của nhóm (Drivers, kịch bản cơ sở)</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
        <p:nvSpPr>
          <p:cNvPr id="7" name="Text 4"/>
          <p:cNvSpPr txBox="1"/>
          <p:nvPr/>
        </p:nvSpPr>
        <p:spPr>
          <a:xfrm>
            <a:off x="457200" y="1572768"/>
            <a:ext cx="576072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Doanh thu gộp theo phân khúc</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8" name="Chart 0" descr=""/>
          <p:cNvGraphicFramePr/>
          <p:nvPr/>
        </p:nvGraphicFramePr>
        <p:xfrm>
          <a:off x="457200" y="1874520"/>
          <a:ext cx="57607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0" y="1627632"/>
          <a:ext cx="5148072" cy="914400"/>
        </p:xfrm>
        <a:graphic>
          <a:graphicData uri="http://schemas.openxmlformats.org/drawingml/2006/table">
            <a:tbl>
              <a:tblPr/>
              <a:tblGrid>
                <a:gridCol w="1947672"/>
                <a:gridCol w="640080"/>
                <a:gridCol w="640080"/>
                <a:gridCol w="640080"/>
                <a:gridCol w="640080"/>
                <a:gridCol w="64008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Giả định (cơ sở)</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26E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27E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28E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29E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30E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r>
              <a:tr h="329184">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Sản lượng F&amp;B (triệu hộp)</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33,1</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41,4</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48,4</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29184">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Tăng sản lượng F&amp;B</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29184">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Tăng giá F&amp;B, khuôn</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29184">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Chi phí biến đổi / DT</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27,0%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26,5%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27,0%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29184">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Tiền lương / DT</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22,5%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23,5%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22,5%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29184">
                <a:tc>
                  <a:txBody>
                    <a:bodyPr/>
                    <a:lstStyle/>
                    <a:p>
                      <a:pPr algn="l" indent="0" marL="0">
                        <a:buNone/>
                      </a:pPr>
                      <a:r>
                        <a:rPr lang="en-US" sz="1200" b="1" dirty="0">
                          <a:solidFill>
                            <a:srgbClr val="7B1E2B"/>
                          </a:solidFill>
                          <a:latin typeface="Calibri" pitchFamily="34" charset="0"/>
                          <a:ea typeface="Calibri" pitchFamily="34" charset="-122"/>
                          <a:cs typeface="Calibri" pitchFamily="34" charset="-120"/>
                        </a:rPr>
                        <a:t>CAPEX / DT</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65%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r>
            </a:tbl>
          </a:graphicData>
        </a:graphic>
      </p:graphicFrame>
      <p:sp>
        <p:nvSpPr>
          <p:cNvPr id="10" name="Shape 5"/>
          <p:cNvSpPr/>
          <p:nvPr/>
        </p:nvSpPr>
        <p:spPr>
          <a:xfrm>
            <a:off x="6583680" y="4206240"/>
            <a:ext cx="5148072" cy="1965960"/>
          </a:xfrm>
          <a:prstGeom prst="rect">
            <a:avLst/>
          </a:prstGeom>
          <a:solidFill>
            <a:srgbClr val="F6EDEF"/>
          </a:solidFill>
          <a:ln w="6350">
            <a:solidFill>
              <a:srgbClr val="F6EDEF"/>
            </a:solidFill>
            <a:prstDash val="solid"/>
          </a:ln>
        </p:spPr>
      </p:sp>
      <p:sp>
        <p:nvSpPr>
          <p:cNvPr id="11" name="Text 6"/>
          <p:cNvSpPr txBox="1"/>
          <p:nvPr/>
        </p:nvSpPr>
        <p:spPr>
          <a:xfrm>
            <a:off x="6748272" y="4315968"/>
            <a:ext cx="4846320" cy="1783080"/>
          </a:xfrm>
          <a:prstGeom prst="rect">
            <a:avLst/>
          </a:prstGeom>
          <a:noFill/>
          <a:ln/>
        </p:spPr>
        <p:txBody>
          <a:bodyPr wrap="square" lIns="0" tIns="0" rIns="0" bIns="0" rtlCol="0" anchor="t"/>
          <a:lstStyle/>
          <a:p>
            <a:pPr indent="0" marL="0">
              <a:spcAft>
                <a:spcPts val="400"/>
              </a:spcAft>
              <a:buNone/>
            </a:pPr>
            <a:r>
              <a:rPr lang="en-US" sz="1250" b="1" dirty="0">
                <a:solidFill>
                  <a:srgbClr val="7B1E2B"/>
                </a:solidFill>
                <a:latin typeface="Calibri" pitchFamily="34" charset="0"/>
                <a:ea typeface="Calibri" pitchFamily="34" charset="-122"/>
                <a:cs typeface="Calibri" pitchFamily="34" charset="-120"/>
              </a:rPr>
              <a:t>Vì sao không giữ 40–50%/năm như lịch sử?</a:t>
            </a:r>
            <a:endParaRPr lang="en-US" sz="1250" dirty="0"/>
          </a:p>
          <a:p>
            <a:pPr marL="177800" indent="-177800">
              <a:spcAft>
                <a:spcPts val="400"/>
              </a:spcAft>
              <a:buSzPct val="100000"/>
              <a:buChar char="•"/>
            </a:pPr>
            <a:r>
              <a:rPr lang="en-US" sz="1250" dirty="0">
                <a:solidFill>
                  <a:srgbClr val="3A3A3A"/>
                </a:solidFill>
                <a:latin typeface="Calibri" pitchFamily="34" charset="0"/>
                <a:ea typeface="Calibri" pitchFamily="34" charset="-122"/>
                <a:cs typeface="Calibri" pitchFamily="34" charset="-120"/>
              </a:rPr>
              <a:t>Giữ nhịp đó sẽ cần 15–18% SAM toàn quốc – khó bảo vệ với doanh nghiệp một nhà máy.</a:t>
            </a:r>
            <a:endParaRPr lang="en-US" sz="1250" dirty="0"/>
          </a:p>
          <a:p>
            <a:pPr marL="177800" indent="-177800">
              <a:spcAft>
                <a:spcPts val="400"/>
              </a:spcAft>
              <a:buSzPct val="100000"/>
              <a:buChar char="•"/>
            </a:pPr>
            <a:r>
              <a:rPr lang="en-US" sz="1250" dirty="0">
                <a:solidFill>
                  <a:srgbClr val="3A3A3A"/>
                </a:solidFill>
                <a:latin typeface="Calibri" pitchFamily="34" charset="0"/>
                <a:ea typeface="Calibri" pitchFamily="34" charset="-122"/>
                <a:cs typeface="Calibri" pitchFamily="34" charset="-120"/>
              </a:rPr>
              <a:t>Năm 2027 nhà máy mới chưa chạy nên doanh thu chỉ tăng 25%; năm 2028 tăng 38% khi hai dây chuyền mới vận hành.</a:t>
            </a:r>
            <a:endParaRPr lang="en-US" sz="1250" dirty="0"/>
          </a:p>
          <a:p>
            <a:pPr marL="177800" indent="-177800">
              <a:spcAft>
                <a:spcPts val="400"/>
              </a:spcAft>
              <a:buSzPct val="100000"/>
              <a:buChar char="•"/>
            </a:pPr>
            <a:r>
              <a:rPr lang="en-US" sz="1250" dirty="0">
                <a:solidFill>
                  <a:srgbClr val="3A3A3A"/>
                </a:solidFill>
                <a:latin typeface="Calibri" pitchFamily="34" charset="0"/>
                <a:ea typeface="Calibri" pitchFamily="34" charset="-122"/>
                <a:cs typeface="Calibri" pitchFamily="34" charset="-120"/>
              </a:rPr>
              <a:t>Vốn lưu động tăng từ 15% lên 18% doanh thu vì kỳ thu tiền kéo dài lên 30 ngày.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4 · BIÊN LỢI NHUẬN, CAPEX VÀ DÒNG TIỀN</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Nhà máy 2027 kéo FCFF âm ba năm liên tiếp; ROIC chỉ quay về ngang WACC vào năm 2030</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Mô hình (Drivers, DCF, Income Statement); 2025A: FCF = CFO − CAPEX</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
        <p:nvSpPr>
          <p:cNvPr id="7" name="Text 4"/>
          <p:cNvSpPr txBox="1"/>
          <p:nvPr/>
        </p:nvSpPr>
        <p:spPr>
          <a:xfrm>
            <a:off x="457200" y="1572768"/>
            <a:ext cx="54864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CAPEX và FCFF</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8" name="Chart 0" descr=""/>
          <p:cNvGraphicFramePr/>
          <p:nvPr/>
        </p:nvGraphicFramePr>
        <p:xfrm>
          <a:off x="457200" y="1874520"/>
          <a:ext cx="5486400" cy="32918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6263640" y="1572768"/>
            <a:ext cx="54864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ROIC so với WACC</a:t>
            </a:r>
            <a:pPr indent="0" marL="0">
              <a:buNone/>
            </a:pPr>
            <a:r>
              <a:rPr lang="en-US" sz="1100" dirty="0">
                <a:solidFill>
                  <a:srgbClr val="6B6B6B"/>
                </a:solidFill>
                <a:latin typeface="Calibri" pitchFamily="34" charset="0"/>
                <a:ea typeface="Calibri" pitchFamily="34" charset="-122"/>
                <a:cs typeface="Calibri" pitchFamily="34" charset="-120"/>
              </a:rPr>
              <a:t>  (%)</a:t>
            </a:r>
            <a:endParaRPr lang="en-US" sz="1400" dirty="0"/>
          </a:p>
        </p:txBody>
      </p:sp>
      <p:graphicFrame>
        <p:nvGraphicFramePr>
          <p:cNvPr id="10" name="Chart 1" descr=""/>
          <p:cNvGraphicFramePr/>
          <p:nvPr/>
        </p:nvGraphicFramePr>
        <p:xfrm>
          <a:off x="6263640" y="1874520"/>
          <a:ext cx="5486400" cy="329184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457200" y="5349240"/>
            <a:ext cx="3576218" cy="868680"/>
          </a:xfrm>
          <a:prstGeom prst="rect">
            <a:avLst/>
          </a:prstGeom>
          <a:solidFill>
            <a:srgbClr val="F6EDEF"/>
          </a:solidFill>
          <a:ln w="6350">
            <a:solidFill>
              <a:srgbClr val="F6EDEF"/>
            </a:solidFill>
            <a:prstDash val="solid"/>
          </a:ln>
        </p:spPr>
      </p:sp>
      <p:sp>
        <p:nvSpPr>
          <p:cNvPr id="12" name="Text 7"/>
          <p:cNvSpPr txBox="1"/>
          <p:nvPr/>
        </p:nvSpPr>
        <p:spPr>
          <a:xfrm>
            <a:off x="594360" y="5394960"/>
            <a:ext cx="1600200" cy="777240"/>
          </a:xfrm>
          <a:prstGeom prst="rect">
            <a:avLst/>
          </a:prstGeom>
          <a:noFill/>
          <a:ln/>
        </p:spPr>
        <p:txBody>
          <a:bodyPr wrap="square" lIns="0" tIns="0" rIns="0" bIns="0" rtlCol="0" anchor="ctr"/>
          <a:lstStyle/>
          <a:p>
            <a:pPr indent="0" marL="0">
              <a:buNone/>
            </a:pPr>
            <a:r>
              <a:rPr lang="en-US" sz="2400" b="1" dirty="0">
                <a:solidFill>
                  <a:srgbClr val="7B1E2B"/>
                </a:solidFill>
                <a:latin typeface="Calibri" pitchFamily="34" charset="0"/>
                <a:ea typeface="Calibri" pitchFamily="34" charset="-122"/>
                <a:cs typeface="Calibri" pitchFamily="34" charset="-120"/>
              </a:rPr>
              <a:t>20,2%</a:t>
            </a:r>
            <a:endParaRPr lang="en-US" sz="2400" dirty="0"/>
          </a:p>
        </p:txBody>
      </p:sp>
      <p:sp>
        <p:nvSpPr>
          <p:cNvPr id="13" name="Text 8"/>
          <p:cNvSpPr txBox="1"/>
          <p:nvPr/>
        </p:nvSpPr>
        <p:spPr>
          <a:xfrm>
            <a:off x="2240280" y="5413248"/>
            <a:ext cx="1701698" cy="749808"/>
          </a:xfrm>
          <a:prstGeom prst="rect">
            <a:avLst/>
          </a:prstGeom>
          <a:noFill/>
          <a:ln/>
        </p:spPr>
        <p:txBody>
          <a:bodyPr wrap="square" lIns="0" tIns="0" rIns="0" bIns="0" rtlCol="0" anchor="ctr"/>
          <a:lstStyle/>
          <a:p>
            <a:pPr indent="0" marL="0">
              <a:buNone/>
            </a:pPr>
            <a:r>
              <a:rPr lang="en-US" sz="1150" b="1" dirty="0">
                <a:solidFill>
                  <a:srgbClr val="1F1F1F"/>
                </a:solidFill>
                <a:latin typeface="Calibri" pitchFamily="34" charset="0"/>
                <a:ea typeface="Calibri" pitchFamily="34" charset="-122"/>
                <a:cs typeface="Calibri" pitchFamily="34" charset="-120"/>
              </a:rPr>
              <a:t>Biên EBITDA 2030E</a:t>
            </a:r>
            <a:endParaRPr lang="en-US" sz="1150" dirty="0"/>
          </a:p>
          <a:p>
            <a:pPr indent="0" marL="0">
              <a:buNone/>
            </a:pPr>
            <a:r>
              <a:rPr lang="en-US" sz="1150" dirty="0">
                <a:solidFill>
                  <a:srgbClr val="6B6B6B"/>
                </a:solidFill>
                <a:latin typeface="Calibri" pitchFamily="34" charset="0"/>
                <a:ea typeface="Calibri" pitchFamily="34" charset="-122"/>
                <a:cs typeface="Calibri" pitchFamily="34" charset="-120"/>
              </a:rPr>
              <a:t>từ 16,2% năm 2025; giảm còn 16,1% năm 2028</a:t>
            </a:r>
            <a:endParaRPr lang="en-US" sz="1150" dirty="0"/>
          </a:p>
        </p:txBody>
      </p:sp>
      <p:sp>
        <p:nvSpPr>
          <p:cNvPr id="14" name="Shape 9"/>
          <p:cNvSpPr/>
          <p:nvPr/>
        </p:nvSpPr>
        <p:spPr>
          <a:xfrm>
            <a:off x="4307738" y="5349240"/>
            <a:ext cx="3576218" cy="868680"/>
          </a:xfrm>
          <a:prstGeom prst="rect">
            <a:avLst/>
          </a:prstGeom>
          <a:solidFill>
            <a:srgbClr val="F6EDEF"/>
          </a:solidFill>
          <a:ln w="6350">
            <a:solidFill>
              <a:srgbClr val="F6EDEF"/>
            </a:solidFill>
            <a:prstDash val="solid"/>
          </a:ln>
        </p:spPr>
      </p:sp>
      <p:sp>
        <p:nvSpPr>
          <p:cNvPr id="15" name="Text 10"/>
          <p:cNvSpPr txBox="1"/>
          <p:nvPr/>
        </p:nvSpPr>
        <p:spPr>
          <a:xfrm>
            <a:off x="4444898" y="5394960"/>
            <a:ext cx="1600200" cy="777240"/>
          </a:xfrm>
          <a:prstGeom prst="rect">
            <a:avLst/>
          </a:prstGeom>
          <a:noFill/>
          <a:ln/>
        </p:spPr>
        <p:txBody>
          <a:bodyPr wrap="square" lIns="0" tIns="0" rIns="0" bIns="0" rtlCol="0" anchor="ctr"/>
          <a:lstStyle/>
          <a:p>
            <a:pPr indent="0" marL="0">
              <a:buNone/>
            </a:pPr>
            <a:r>
              <a:rPr lang="en-US" sz="2400" b="1" dirty="0">
                <a:solidFill>
                  <a:srgbClr val="7B1E2B"/>
                </a:solidFill>
                <a:latin typeface="Calibri" pitchFamily="34" charset="0"/>
                <a:ea typeface="Calibri" pitchFamily="34" charset="-122"/>
                <a:cs typeface="Calibri" pitchFamily="34" charset="-120"/>
              </a:rPr>
              <a:t>−38,9 tỷ</a:t>
            </a:r>
            <a:endParaRPr lang="en-US" sz="2400" dirty="0"/>
          </a:p>
        </p:txBody>
      </p:sp>
      <p:sp>
        <p:nvSpPr>
          <p:cNvPr id="16" name="Text 11"/>
          <p:cNvSpPr txBox="1"/>
          <p:nvPr/>
        </p:nvSpPr>
        <p:spPr>
          <a:xfrm>
            <a:off x="6090818" y="5413248"/>
            <a:ext cx="1701698" cy="749808"/>
          </a:xfrm>
          <a:prstGeom prst="rect">
            <a:avLst/>
          </a:prstGeom>
          <a:noFill/>
          <a:ln/>
        </p:spPr>
        <p:txBody>
          <a:bodyPr wrap="square" lIns="0" tIns="0" rIns="0" bIns="0" rtlCol="0" anchor="ctr"/>
          <a:lstStyle/>
          <a:p>
            <a:pPr indent="0" marL="0">
              <a:buNone/>
            </a:pPr>
            <a:r>
              <a:rPr lang="en-US" sz="1150" b="1" dirty="0">
                <a:solidFill>
                  <a:srgbClr val="1F1F1F"/>
                </a:solidFill>
                <a:latin typeface="Calibri" pitchFamily="34" charset="0"/>
                <a:ea typeface="Calibri" pitchFamily="34" charset="-122"/>
                <a:cs typeface="Calibri" pitchFamily="34" charset="-120"/>
              </a:rPr>
              <a:t>Tổng FCFF 2026–2030</a:t>
            </a:r>
            <a:endParaRPr lang="en-US" sz="1150" dirty="0"/>
          </a:p>
          <a:p>
            <a:pPr indent="0" marL="0">
              <a:buNone/>
            </a:pPr>
            <a:r>
              <a:rPr lang="en-US" sz="1150" dirty="0">
                <a:solidFill>
                  <a:srgbClr val="6B6B6B"/>
                </a:solidFill>
                <a:latin typeface="Calibri" pitchFamily="34" charset="0"/>
                <a:ea typeface="Calibri" pitchFamily="34" charset="-122"/>
                <a:cs typeface="Calibri" pitchFamily="34" charset="-120"/>
              </a:rPr>
              <a:t>startup hiếm khi tạo FCF dương sớm</a:t>
            </a:r>
            <a:endParaRPr lang="en-US" sz="1150" dirty="0"/>
          </a:p>
        </p:txBody>
      </p:sp>
      <p:sp>
        <p:nvSpPr>
          <p:cNvPr id="17" name="Shape 12"/>
          <p:cNvSpPr/>
          <p:nvPr/>
        </p:nvSpPr>
        <p:spPr>
          <a:xfrm>
            <a:off x="8158277" y="5349240"/>
            <a:ext cx="3576218" cy="868680"/>
          </a:xfrm>
          <a:prstGeom prst="rect">
            <a:avLst/>
          </a:prstGeom>
          <a:solidFill>
            <a:srgbClr val="F6EDEF"/>
          </a:solidFill>
          <a:ln w="6350">
            <a:solidFill>
              <a:srgbClr val="F6EDEF"/>
            </a:solidFill>
            <a:prstDash val="solid"/>
          </a:ln>
        </p:spPr>
      </p:sp>
      <p:sp>
        <p:nvSpPr>
          <p:cNvPr id="18" name="Text 13"/>
          <p:cNvSpPr txBox="1"/>
          <p:nvPr/>
        </p:nvSpPr>
        <p:spPr>
          <a:xfrm>
            <a:off x="8295437" y="5394960"/>
            <a:ext cx="1600200" cy="777240"/>
          </a:xfrm>
          <a:prstGeom prst="rect">
            <a:avLst/>
          </a:prstGeom>
          <a:noFill/>
          <a:ln/>
        </p:spPr>
        <p:txBody>
          <a:bodyPr wrap="square" lIns="0" tIns="0" rIns="0" bIns="0" rtlCol="0" anchor="ctr"/>
          <a:lstStyle/>
          <a:p>
            <a:pPr indent="0" marL="0">
              <a:buNone/>
            </a:pPr>
            <a:r>
              <a:rPr lang="en-US" sz="2400" b="1" dirty="0">
                <a:solidFill>
                  <a:srgbClr val="7B1E2B"/>
                </a:solidFill>
                <a:latin typeface="Calibri" pitchFamily="34" charset="0"/>
                <a:ea typeface="Calibri" pitchFamily="34" charset="-122"/>
                <a:cs typeface="Calibri" pitchFamily="34" charset="-120"/>
              </a:rPr>
              <a:t>1,08x</a:t>
            </a:r>
            <a:endParaRPr lang="en-US" sz="2400" dirty="0"/>
          </a:p>
        </p:txBody>
      </p:sp>
      <p:sp>
        <p:nvSpPr>
          <p:cNvPr id="19" name="Text 14"/>
          <p:cNvSpPr txBox="1"/>
          <p:nvPr/>
        </p:nvSpPr>
        <p:spPr>
          <a:xfrm>
            <a:off x="9941357" y="5413248"/>
            <a:ext cx="1701698" cy="749808"/>
          </a:xfrm>
          <a:prstGeom prst="rect">
            <a:avLst/>
          </a:prstGeom>
          <a:noFill/>
          <a:ln/>
        </p:spPr>
        <p:txBody>
          <a:bodyPr wrap="square" lIns="0" tIns="0" rIns="0" bIns="0" rtlCol="0" anchor="ctr"/>
          <a:lstStyle/>
          <a:p>
            <a:pPr indent="0" marL="0">
              <a:buNone/>
            </a:pPr>
            <a:r>
              <a:rPr lang="en-US" sz="1150" b="1" dirty="0">
                <a:solidFill>
                  <a:srgbClr val="1F1F1F"/>
                </a:solidFill>
                <a:latin typeface="Calibri" pitchFamily="34" charset="0"/>
                <a:ea typeface="Calibri" pitchFamily="34" charset="-122"/>
                <a:cs typeface="Calibri" pitchFamily="34" charset="-120"/>
              </a:rPr>
              <a:t>Vòng quay TSCĐ 2028</a:t>
            </a:r>
            <a:endParaRPr lang="en-US" sz="1150" dirty="0"/>
          </a:p>
          <a:p>
            <a:pPr indent="0" marL="0">
              <a:buNone/>
            </a:pPr>
            <a:r>
              <a:rPr lang="en-US" sz="1150" dirty="0">
                <a:solidFill>
                  <a:srgbClr val="6B6B6B"/>
                </a:solidFill>
                <a:latin typeface="Calibri" pitchFamily="34" charset="0"/>
                <a:ea typeface="Calibri" pitchFamily="34" charset="-122"/>
                <a:cs typeface="Calibri" pitchFamily="34" charset="-120"/>
              </a:rPr>
              <a:t>từ 1,66x năm 2025: nhà máy mới còn công suất trống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4 · NHU CẦU VỐN</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Không gọi vốn cổ phần, tiền mặt âm ngay cuối 2026: cần 37,6 tỷ vốn cổ phần và 31,1 tỷ vay trung hạn</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Mô hình (Cash Flow Statement, Balance Sheet, Pro Forma)</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
        <p:nvSpPr>
          <p:cNvPr id="7" name="Text 4"/>
          <p:cNvSpPr txBox="1"/>
          <p:nvPr/>
        </p:nvSpPr>
        <p:spPr>
          <a:xfrm>
            <a:off x="457200" y="1572768"/>
            <a:ext cx="566928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Nguồn và sử dụng vốn 2026E–2028E</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sp>
        <p:nvSpPr>
          <p:cNvPr id="8" name="Text 5"/>
          <p:cNvSpPr txBox="1"/>
          <p:nvPr/>
        </p:nvSpPr>
        <p:spPr>
          <a:xfrm>
            <a:off x="1874520" y="1892808"/>
            <a:ext cx="1325880" cy="274320"/>
          </a:xfrm>
          <a:prstGeom prst="rect">
            <a:avLst/>
          </a:prstGeom>
          <a:noFill/>
          <a:ln/>
        </p:spPr>
        <p:txBody>
          <a:bodyPr wrap="square" lIns="0" tIns="0" rIns="0" bIns="0" rtlCol="0" anchor="t"/>
          <a:lstStyle/>
          <a:p>
            <a:pPr algn="ctr" indent="0" marL="0">
              <a:buNone/>
            </a:pPr>
            <a:r>
              <a:rPr lang="en-US" sz="1200" b="1" dirty="0">
                <a:solidFill>
                  <a:srgbClr val="6B6B6B"/>
                </a:solidFill>
                <a:latin typeface="Calibri" pitchFamily="34" charset="0"/>
                <a:ea typeface="Calibri" pitchFamily="34" charset="-122"/>
                <a:cs typeface="Calibri" pitchFamily="34" charset="-120"/>
              </a:rPr>
              <a:t>NGUỒN 91,2</a:t>
            </a:r>
            <a:endParaRPr lang="en-US" sz="1200" dirty="0"/>
          </a:p>
        </p:txBody>
      </p:sp>
      <p:sp>
        <p:nvSpPr>
          <p:cNvPr id="9" name="Shape 6"/>
          <p:cNvSpPr/>
          <p:nvPr/>
        </p:nvSpPr>
        <p:spPr>
          <a:xfrm>
            <a:off x="1965960" y="2240280"/>
            <a:ext cx="1143000" cy="924926"/>
          </a:xfrm>
          <a:prstGeom prst="rect">
            <a:avLst/>
          </a:prstGeom>
          <a:solidFill>
            <a:srgbClr val="404040"/>
          </a:solidFill>
          <a:ln w="19050">
            <a:solidFill>
              <a:srgbClr val="FFFFFF"/>
            </a:solidFill>
            <a:prstDash val="solid"/>
          </a:ln>
        </p:spPr>
      </p:sp>
      <p:sp>
        <p:nvSpPr>
          <p:cNvPr id="10" name="Text 7"/>
          <p:cNvSpPr txBox="1"/>
          <p:nvPr/>
        </p:nvSpPr>
        <p:spPr>
          <a:xfrm>
            <a:off x="1965960" y="2547295"/>
            <a:ext cx="114300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22,5</a:t>
            </a:r>
            <a:endParaRPr lang="en-US" sz="1500" dirty="0"/>
          </a:p>
        </p:txBody>
      </p:sp>
      <p:sp>
        <p:nvSpPr>
          <p:cNvPr id="11" name="Text 8"/>
          <p:cNvSpPr txBox="1"/>
          <p:nvPr/>
        </p:nvSpPr>
        <p:spPr>
          <a:xfrm>
            <a:off x="457200" y="2428423"/>
            <a:ext cx="1417320" cy="548640"/>
          </a:xfrm>
          <a:prstGeom prst="rect">
            <a:avLst/>
          </a:prstGeom>
          <a:noFill/>
          <a:ln/>
        </p:spPr>
        <p:txBody>
          <a:bodyPr wrap="square" lIns="0" tIns="0" rIns="0" bIns="0" rtlCol="0" anchor="ctr"/>
          <a:lstStyle/>
          <a:p>
            <a:pPr algn="r" indent="0" marL="0">
              <a:buNone/>
            </a:pPr>
            <a:r>
              <a:rPr lang="en-US" sz="1200" dirty="0">
                <a:solidFill>
                  <a:srgbClr val="1F1F1F"/>
                </a:solidFill>
                <a:latin typeface="Calibri" pitchFamily="34" charset="0"/>
                <a:ea typeface="Calibri" pitchFamily="34" charset="-122"/>
                <a:cs typeface="Calibri" pitchFamily="34" charset="-120"/>
              </a:rPr>
              <a:t>CFO 2026–2028</a:t>
            </a:r>
            <a:endParaRPr lang="en-US" sz="1200" dirty="0"/>
          </a:p>
        </p:txBody>
      </p:sp>
      <p:sp>
        <p:nvSpPr>
          <p:cNvPr id="12" name="Shape 9"/>
          <p:cNvSpPr/>
          <p:nvPr/>
        </p:nvSpPr>
        <p:spPr>
          <a:xfrm>
            <a:off x="1965960" y="3165206"/>
            <a:ext cx="1143000" cy="1545884"/>
          </a:xfrm>
          <a:prstGeom prst="rect">
            <a:avLst/>
          </a:prstGeom>
          <a:solidFill>
            <a:srgbClr val="7B1E2B"/>
          </a:solidFill>
          <a:ln w="19050">
            <a:solidFill>
              <a:srgbClr val="FFFFFF"/>
            </a:solidFill>
            <a:prstDash val="solid"/>
          </a:ln>
        </p:spPr>
      </p:sp>
      <p:sp>
        <p:nvSpPr>
          <p:cNvPr id="13" name="Text 10"/>
          <p:cNvSpPr txBox="1"/>
          <p:nvPr/>
        </p:nvSpPr>
        <p:spPr>
          <a:xfrm>
            <a:off x="1965960" y="3782700"/>
            <a:ext cx="114300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37,6</a:t>
            </a:r>
            <a:endParaRPr lang="en-US" sz="1500" dirty="0"/>
          </a:p>
        </p:txBody>
      </p:sp>
      <p:sp>
        <p:nvSpPr>
          <p:cNvPr id="14" name="Text 11"/>
          <p:cNvSpPr txBox="1"/>
          <p:nvPr/>
        </p:nvSpPr>
        <p:spPr>
          <a:xfrm>
            <a:off x="457200" y="3663828"/>
            <a:ext cx="1417320" cy="548640"/>
          </a:xfrm>
          <a:prstGeom prst="rect">
            <a:avLst/>
          </a:prstGeom>
          <a:noFill/>
          <a:ln/>
        </p:spPr>
        <p:txBody>
          <a:bodyPr wrap="square" lIns="0" tIns="0" rIns="0" bIns="0" rtlCol="0" anchor="ctr"/>
          <a:lstStyle/>
          <a:p>
            <a:pPr algn="r" indent="0" marL="0">
              <a:buNone/>
            </a:pPr>
            <a:r>
              <a:rPr lang="en-US" sz="1200" dirty="0">
                <a:solidFill>
                  <a:srgbClr val="1F1F1F"/>
                </a:solidFill>
                <a:latin typeface="Calibri" pitchFamily="34" charset="0"/>
                <a:ea typeface="Calibri" pitchFamily="34" charset="-122"/>
                <a:cs typeface="Calibri" pitchFamily="34" charset="-120"/>
              </a:rPr>
              <a:t>Vốn cổ phần Series A</a:t>
            </a:r>
            <a:endParaRPr lang="en-US" sz="1200" dirty="0"/>
          </a:p>
        </p:txBody>
      </p:sp>
      <p:sp>
        <p:nvSpPr>
          <p:cNvPr id="15" name="Shape 12"/>
          <p:cNvSpPr/>
          <p:nvPr/>
        </p:nvSpPr>
        <p:spPr>
          <a:xfrm>
            <a:off x="1965960" y="4711090"/>
            <a:ext cx="1143000" cy="1278230"/>
          </a:xfrm>
          <a:prstGeom prst="rect">
            <a:avLst/>
          </a:prstGeom>
          <a:solidFill>
            <a:srgbClr val="A3A3A3"/>
          </a:solidFill>
          <a:ln w="19050">
            <a:solidFill>
              <a:srgbClr val="FFFFFF"/>
            </a:solidFill>
            <a:prstDash val="solid"/>
          </a:ln>
        </p:spPr>
      </p:sp>
      <p:sp>
        <p:nvSpPr>
          <p:cNvPr id="16" name="Text 13"/>
          <p:cNvSpPr txBox="1"/>
          <p:nvPr/>
        </p:nvSpPr>
        <p:spPr>
          <a:xfrm>
            <a:off x="1965960" y="5194757"/>
            <a:ext cx="114300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31,1</a:t>
            </a:r>
            <a:endParaRPr lang="en-US" sz="1500" dirty="0"/>
          </a:p>
        </p:txBody>
      </p:sp>
      <p:sp>
        <p:nvSpPr>
          <p:cNvPr id="17" name="Text 14"/>
          <p:cNvSpPr txBox="1"/>
          <p:nvPr/>
        </p:nvSpPr>
        <p:spPr>
          <a:xfrm>
            <a:off x="457200" y="5075885"/>
            <a:ext cx="1417320" cy="548640"/>
          </a:xfrm>
          <a:prstGeom prst="rect">
            <a:avLst/>
          </a:prstGeom>
          <a:noFill/>
          <a:ln/>
        </p:spPr>
        <p:txBody>
          <a:bodyPr wrap="square" lIns="0" tIns="0" rIns="0" bIns="0" rtlCol="0" anchor="ctr"/>
          <a:lstStyle/>
          <a:p>
            <a:pPr algn="r" indent="0" marL="0">
              <a:buNone/>
            </a:pPr>
            <a:r>
              <a:rPr lang="en-US" sz="1200" dirty="0">
                <a:solidFill>
                  <a:srgbClr val="1F1F1F"/>
                </a:solidFill>
                <a:latin typeface="Calibri" pitchFamily="34" charset="0"/>
                <a:ea typeface="Calibri" pitchFamily="34" charset="-122"/>
                <a:cs typeface="Calibri" pitchFamily="34" charset="-120"/>
              </a:rPr>
              <a:t>Vay trung hạn</a:t>
            </a:r>
            <a:endParaRPr lang="en-US" sz="1200" dirty="0"/>
          </a:p>
        </p:txBody>
      </p:sp>
      <p:sp>
        <p:nvSpPr>
          <p:cNvPr id="18" name="Text 15"/>
          <p:cNvSpPr txBox="1"/>
          <p:nvPr/>
        </p:nvSpPr>
        <p:spPr>
          <a:xfrm>
            <a:off x="3291840" y="1892808"/>
            <a:ext cx="1325880" cy="274320"/>
          </a:xfrm>
          <a:prstGeom prst="rect">
            <a:avLst/>
          </a:prstGeom>
          <a:noFill/>
          <a:ln/>
        </p:spPr>
        <p:txBody>
          <a:bodyPr wrap="square" lIns="0" tIns="0" rIns="0" bIns="0" rtlCol="0" anchor="t"/>
          <a:lstStyle/>
          <a:p>
            <a:pPr algn="ctr" indent="0" marL="0">
              <a:buNone/>
            </a:pPr>
            <a:r>
              <a:rPr lang="en-US" sz="1200" b="1" dirty="0">
                <a:solidFill>
                  <a:srgbClr val="6B6B6B"/>
                </a:solidFill>
                <a:latin typeface="Calibri" pitchFamily="34" charset="0"/>
                <a:ea typeface="Calibri" pitchFamily="34" charset="-122"/>
                <a:cs typeface="Calibri" pitchFamily="34" charset="-120"/>
              </a:rPr>
              <a:t>SỬ DỤNG 91,2</a:t>
            </a:r>
            <a:endParaRPr lang="en-US" sz="1200" dirty="0"/>
          </a:p>
        </p:txBody>
      </p:sp>
      <p:sp>
        <p:nvSpPr>
          <p:cNvPr id="19" name="Shape 16"/>
          <p:cNvSpPr/>
          <p:nvPr/>
        </p:nvSpPr>
        <p:spPr>
          <a:xfrm>
            <a:off x="3383280" y="2240280"/>
            <a:ext cx="1143000" cy="3198339"/>
          </a:xfrm>
          <a:prstGeom prst="rect">
            <a:avLst/>
          </a:prstGeom>
          <a:solidFill>
            <a:srgbClr val="404040"/>
          </a:solidFill>
          <a:ln w="19050">
            <a:solidFill>
              <a:srgbClr val="FFFFFF"/>
            </a:solidFill>
            <a:prstDash val="solid"/>
          </a:ln>
        </p:spPr>
      </p:sp>
      <p:sp>
        <p:nvSpPr>
          <p:cNvPr id="20" name="Text 17"/>
          <p:cNvSpPr txBox="1"/>
          <p:nvPr/>
        </p:nvSpPr>
        <p:spPr>
          <a:xfrm>
            <a:off x="3383280" y="3684002"/>
            <a:ext cx="114300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77,8</a:t>
            </a:r>
            <a:endParaRPr lang="en-US" sz="1500" dirty="0"/>
          </a:p>
        </p:txBody>
      </p:sp>
      <p:sp>
        <p:nvSpPr>
          <p:cNvPr id="21" name="Text 18"/>
          <p:cNvSpPr txBox="1"/>
          <p:nvPr/>
        </p:nvSpPr>
        <p:spPr>
          <a:xfrm>
            <a:off x="4617720" y="3565130"/>
            <a:ext cx="1508760" cy="54864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CAPEX 2026–2028</a:t>
            </a:r>
            <a:endParaRPr lang="en-US" sz="1200" dirty="0"/>
          </a:p>
        </p:txBody>
      </p:sp>
      <p:sp>
        <p:nvSpPr>
          <p:cNvPr id="22" name="Shape 19"/>
          <p:cNvSpPr/>
          <p:nvPr/>
        </p:nvSpPr>
        <p:spPr>
          <a:xfrm>
            <a:off x="3383280" y="5438619"/>
            <a:ext cx="1143000" cy="550701"/>
          </a:xfrm>
          <a:prstGeom prst="rect">
            <a:avLst/>
          </a:prstGeom>
          <a:solidFill>
            <a:srgbClr val="D0D0D0"/>
          </a:solidFill>
          <a:ln w="19050">
            <a:solidFill>
              <a:srgbClr val="FFFFFF"/>
            </a:solidFill>
            <a:prstDash val="solid"/>
          </a:ln>
        </p:spPr>
      </p:sp>
      <p:sp>
        <p:nvSpPr>
          <p:cNvPr id="23" name="Text 20"/>
          <p:cNvSpPr txBox="1"/>
          <p:nvPr/>
        </p:nvSpPr>
        <p:spPr>
          <a:xfrm>
            <a:off x="3383280" y="5558522"/>
            <a:ext cx="1143000" cy="310896"/>
          </a:xfrm>
          <a:prstGeom prst="rect">
            <a:avLst/>
          </a:prstGeom>
          <a:noFill/>
          <a:ln/>
        </p:spPr>
        <p:txBody>
          <a:bodyPr wrap="square" lIns="0" tIns="0" rIns="0" bIns="0" rtlCol="0" anchor="ctr"/>
          <a:lstStyle/>
          <a:p>
            <a:pPr algn="ctr" indent="0" marL="0">
              <a:buNone/>
            </a:pPr>
            <a:r>
              <a:rPr lang="en-US" sz="1500" b="1" dirty="0">
                <a:solidFill>
                  <a:srgbClr val="1F1F1F"/>
                </a:solidFill>
                <a:latin typeface="Calibri" pitchFamily="34" charset="0"/>
                <a:ea typeface="Calibri" pitchFamily="34" charset="-122"/>
                <a:cs typeface="Calibri" pitchFamily="34" charset="-120"/>
              </a:rPr>
              <a:t>13,4</a:t>
            </a:r>
            <a:endParaRPr lang="en-US" sz="1500" dirty="0"/>
          </a:p>
        </p:txBody>
      </p:sp>
      <p:sp>
        <p:nvSpPr>
          <p:cNvPr id="24" name="Text 21"/>
          <p:cNvSpPr txBox="1"/>
          <p:nvPr/>
        </p:nvSpPr>
        <p:spPr>
          <a:xfrm>
            <a:off x="4617720" y="5439650"/>
            <a:ext cx="1508760" cy="54864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Tăng tiền dự trữ</a:t>
            </a:r>
            <a:endParaRPr lang="en-US" sz="1200" dirty="0"/>
          </a:p>
        </p:txBody>
      </p:sp>
      <p:sp>
        <p:nvSpPr>
          <p:cNvPr id="25" name="Text 22"/>
          <p:cNvSpPr txBox="1"/>
          <p:nvPr/>
        </p:nvSpPr>
        <p:spPr>
          <a:xfrm>
            <a:off x="6263640" y="1572768"/>
            <a:ext cx="54864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Tiền mặt cuối kỳ: có và không gọi vốn cổ phần</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26" name="Chart 0" descr=""/>
          <p:cNvGraphicFramePr/>
          <p:nvPr/>
        </p:nvGraphicFramePr>
        <p:xfrm>
          <a:off x="6263640" y="187452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27" name="Shape 23"/>
          <p:cNvSpPr/>
          <p:nvPr/>
        </p:nvSpPr>
        <p:spPr>
          <a:xfrm>
            <a:off x="6263640" y="5303520"/>
            <a:ext cx="5468112" cy="868680"/>
          </a:xfrm>
          <a:prstGeom prst="rect">
            <a:avLst/>
          </a:prstGeom>
          <a:solidFill>
            <a:srgbClr val="F6EDEF"/>
          </a:solidFill>
          <a:ln w="6350">
            <a:solidFill>
              <a:srgbClr val="F6EDEF"/>
            </a:solidFill>
            <a:prstDash val="solid"/>
          </a:ln>
        </p:spPr>
      </p:sp>
      <p:sp>
        <p:nvSpPr>
          <p:cNvPr id="28" name="Text 24"/>
          <p:cNvSpPr txBox="1"/>
          <p:nvPr/>
        </p:nvSpPr>
        <p:spPr>
          <a:xfrm>
            <a:off x="6419088" y="5349240"/>
            <a:ext cx="5166360" cy="777240"/>
          </a:xfrm>
          <a:prstGeom prst="rect">
            <a:avLst/>
          </a:prstGeom>
          <a:noFill/>
          <a:ln/>
        </p:spPr>
        <p:txBody>
          <a:bodyPr wrap="square" lIns="0" tIns="0" rIns="0" bIns="0" rtlCol="0" anchor="ctr"/>
          <a:lstStyle/>
          <a:p>
            <a:pPr indent="0" marL="0">
              <a:buNone/>
            </a:pPr>
            <a:r>
              <a:rPr lang="en-US" sz="1250" dirty="0">
                <a:solidFill>
                  <a:srgbClr val="3A3A3A"/>
                </a:solidFill>
                <a:latin typeface="Calibri" pitchFamily="34" charset="0"/>
                <a:ea typeface="Calibri" pitchFamily="34" charset="-122"/>
                <a:cs typeface="Calibri" pitchFamily="34" charset="-120"/>
              </a:rPr>
              <a:t>Thiếu hụt lớn nhất so với tiền tối thiểu (5% doanh thu): </a:t>
            </a:r>
            <a:pPr indent="0" marL="0">
              <a:buNone/>
            </a:pPr>
            <a:r>
              <a:rPr lang="en-US" sz="1250" b="1" dirty="0">
                <a:solidFill>
                  <a:srgbClr val="7B1E2B"/>
                </a:solidFill>
                <a:latin typeface="Calibri" pitchFamily="34" charset="0"/>
                <a:ea typeface="Calibri" pitchFamily="34" charset="-122"/>
                <a:cs typeface="Calibri" pitchFamily="34" charset="-120"/>
              </a:rPr>
              <a:t>34,2 tỷ</a:t>
            </a:r>
            <a:pPr indent="0" marL="0">
              <a:buNone/>
            </a:pPr>
            <a:r>
              <a:rPr lang="en-US" sz="1250" dirty="0">
                <a:solidFill>
                  <a:srgbClr val="3A3A3A"/>
                </a:solidFill>
                <a:latin typeface="Calibri" pitchFamily="34" charset="0"/>
                <a:ea typeface="Calibri" pitchFamily="34" charset="-122"/>
                <a:cs typeface="Calibri" pitchFamily="34" charset="-120"/>
              </a:rPr>
              <a:t>; cộng 10% dự phòng → 37,6 tỷ vốn cổ phần, giải ngân đầu năm 2026.</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5 · ĐỊNH GIÁ DCF</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DCF: WACC 13,8%, giá trị cuối kỳ tạo toàn bộ giá trị doanh nghiệp – pre-money 38,9 tỷ đồng</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Damodaran (01/2026); NHNN (8/2026); mô hình (Discount rate, DCF). Rf và CRP là ước tính của nhóm</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sp>
        <p:nvSpPr>
          <p:cNvPr id="7" name="Text 4"/>
          <p:cNvSpPr txBox="1"/>
          <p:nvPr/>
        </p:nvSpPr>
        <p:spPr>
          <a:xfrm>
            <a:off x="457200" y="1572768"/>
            <a:ext cx="45720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Chi phí vốn bình quân (WACC)</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901952"/>
          <a:ext cx="4572000" cy="914400"/>
        </p:xfrm>
        <a:graphic>
          <a:graphicData uri="http://schemas.openxmlformats.org/drawingml/2006/table">
            <a:tbl>
              <a:tblPr/>
              <a:tblGrid>
                <a:gridCol w="3291840"/>
                <a:gridCol w="1280160"/>
              </a:tblGrid>
              <a:tr h="370332">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Thành phần</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Giá trị</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Rf – TPCP 10 năm (ước tính)</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4,20%</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ERP thị trường phát triển</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4,23%</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 Phần bù rủi ro quốc gia (ước tính)</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3,90%</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βu ngành bao bì (Damodaran)</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0,78</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β có đòn bẩy (D/E mục tiêu 41%)</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1,04</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Total beta = β / ρ (ρ = 0,7)</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1,48</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Ke = Rf + β × ERP</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16,2%</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Kd trước / sau thuế</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10% / 8%</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dirty="0">
                          <a:solidFill>
                            <a:srgbClr val="3A3A3A"/>
                          </a:solidFill>
                          <a:latin typeface="Calibri" pitchFamily="34" charset="0"/>
                          <a:ea typeface="Calibri" pitchFamily="34" charset="-122"/>
                          <a:cs typeface="Calibri" pitchFamily="34" charset="-120"/>
                        </a:rPr>
                        <a:t>Tỷ trọng E / D</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50" dirty="0">
                          <a:solidFill>
                            <a:srgbClr val="3A3A3A"/>
                          </a:solidFill>
                          <a:latin typeface="Calibri" pitchFamily="34" charset="0"/>
                          <a:ea typeface="Calibri" pitchFamily="34" charset="-122"/>
                          <a:cs typeface="Calibri" pitchFamily="34" charset="-120"/>
                        </a:rPr>
                        <a:t>71% / 29%</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70332">
                <a:tc>
                  <a:txBody>
                    <a:bodyPr/>
                    <a:lstStyle/>
                    <a:p>
                      <a:pPr algn="l" indent="0" marL="0">
                        <a:buNone/>
                      </a:pPr>
                      <a:r>
                        <a:rPr lang="en-US" sz="1250" b="1" dirty="0">
                          <a:solidFill>
                            <a:srgbClr val="7B1E2B"/>
                          </a:solidFill>
                          <a:latin typeface="Calibri" pitchFamily="34" charset="0"/>
                          <a:ea typeface="Calibri" pitchFamily="34" charset="-122"/>
                          <a:cs typeface="Calibri" pitchFamily="34" charset="-120"/>
                        </a:rPr>
                        <a:t>WACC</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50" b="1" dirty="0">
                          <a:solidFill>
                            <a:srgbClr val="7B1E2B"/>
                          </a:solidFill>
                          <a:latin typeface="Calibri" pitchFamily="34" charset="0"/>
                          <a:ea typeface="Calibri" pitchFamily="34" charset="-122"/>
                          <a:cs typeface="Calibri" pitchFamily="34" charset="-120"/>
                        </a:rPr>
                        <a:t>13,8%</a:t>
                      </a:r>
                      <a:endParaRPr lang="en-US" sz="12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r>
            </a:tbl>
          </a:graphicData>
        </a:graphic>
      </p:graphicFrame>
      <p:sp>
        <p:nvSpPr>
          <p:cNvPr id="9" name="Text 5"/>
          <p:cNvSpPr txBox="1"/>
          <p:nvPr/>
        </p:nvSpPr>
        <p:spPr>
          <a:xfrm>
            <a:off x="5669280" y="1572768"/>
            <a:ext cx="603504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Từ dòng tiền đến pre-money</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sp>
        <p:nvSpPr>
          <p:cNvPr id="10" name="Shape 6"/>
          <p:cNvSpPr/>
          <p:nvPr/>
        </p:nvSpPr>
        <p:spPr>
          <a:xfrm>
            <a:off x="5669280" y="3568026"/>
            <a:ext cx="6062472" cy="0"/>
          </a:xfrm>
          <a:prstGeom prst="line">
            <a:avLst/>
          </a:prstGeom>
          <a:noFill/>
          <a:ln w="9525">
            <a:solidFill>
              <a:srgbClr val="9A9A9A"/>
            </a:solidFill>
            <a:prstDash val="solid"/>
          </a:ln>
        </p:spPr>
      </p:sp>
      <p:sp>
        <p:nvSpPr>
          <p:cNvPr id="11" name="Shape 7"/>
          <p:cNvSpPr/>
          <p:nvPr/>
        </p:nvSpPr>
        <p:spPr>
          <a:xfrm>
            <a:off x="5891571" y="3568026"/>
            <a:ext cx="565831" cy="1095414"/>
          </a:xfrm>
          <a:prstGeom prst="rect">
            <a:avLst/>
          </a:prstGeom>
          <a:solidFill>
            <a:srgbClr val="A3A3A3"/>
          </a:solidFill>
          <a:ln w="6350">
            <a:solidFill>
              <a:srgbClr val="A3A3A3"/>
            </a:solidFill>
            <a:prstDash val="solid"/>
          </a:ln>
        </p:spPr>
      </p:sp>
      <p:sp>
        <p:nvSpPr>
          <p:cNvPr id="12" name="Text 8"/>
          <p:cNvSpPr txBox="1"/>
          <p:nvPr/>
        </p:nvSpPr>
        <p:spPr>
          <a:xfrm>
            <a:off x="5662971" y="4690872"/>
            <a:ext cx="1023031" cy="274320"/>
          </a:xfrm>
          <a:prstGeom prst="rect">
            <a:avLst/>
          </a:prstGeom>
          <a:noFill/>
          <a:ln/>
        </p:spPr>
        <p:txBody>
          <a:bodyPr wrap="square" lIns="0" tIns="0" rIns="0" bIns="0" rtlCol="0" anchor="t"/>
          <a:lstStyle/>
          <a:p>
            <a:pPr algn="ctr" indent="0" marL="0">
              <a:buNone/>
            </a:pPr>
            <a:r>
              <a:rPr lang="en-US" sz="1300" b="1" dirty="0">
                <a:solidFill>
                  <a:srgbClr val="1F1F1F"/>
                </a:solidFill>
                <a:latin typeface="Calibri" pitchFamily="34" charset="0"/>
                <a:ea typeface="Calibri" pitchFamily="34" charset="-122"/>
                <a:cs typeface="Calibri" pitchFamily="34" charset="-120"/>
              </a:rPr>
              <a:t>−33,0</a:t>
            </a:r>
            <a:endParaRPr lang="en-US" sz="1300" dirty="0"/>
          </a:p>
        </p:txBody>
      </p:sp>
      <p:sp>
        <p:nvSpPr>
          <p:cNvPr id="13" name="Text 9"/>
          <p:cNvSpPr txBox="1"/>
          <p:nvPr/>
        </p:nvSpPr>
        <p:spPr>
          <a:xfrm>
            <a:off x="5687568" y="5047488"/>
            <a:ext cx="973836" cy="54864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PV FCFF 2026–2030</a:t>
            </a:r>
            <a:endParaRPr lang="en-US" sz="1100" dirty="0"/>
          </a:p>
        </p:txBody>
      </p:sp>
      <p:sp>
        <p:nvSpPr>
          <p:cNvPr id="14" name="Shape 10"/>
          <p:cNvSpPr/>
          <p:nvPr/>
        </p:nvSpPr>
        <p:spPr>
          <a:xfrm>
            <a:off x="6457401" y="4663440"/>
            <a:ext cx="444581" cy="0"/>
          </a:xfrm>
          <a:prstGeom prst="line">
            <a:avLst/>
          </a:prstGeom>
          <a:noFill/>
          <a:ln w="9525">
            <a:solidFill>
              <a:srgbClr val="8C8C8C"/>
            </a:solidFill>
            <a:prstDash val="dash"/>
          </a:ln>
        </p:spPr>
      </p:sp>
      <p:sp>
        <p:nvSpPr>
          <p:cNvPr id="15" name="Shape 11"/>
          <p:cNvSpPr/>
          <p:nvPr/>
        </p:nvSpPr>
        <p:spPr>
          <a:xfrm>
            <a:off x="6901983" y="2319395"/>
            <a:ext cx="565831" cy="2344045"/>
          </a:xfrm>
          <a:prstGeom prst="rect">
            <a:avLst/>
          </a:prstGeom>
          <a:solidFill>
            <a:srgbClr val="404040"/>
          </a:solidFill>
          <a:ln w="6350">
            <a:solidFill>
              <a:srgbClr val="404040"/>
            </a:solidFill>
            <a:prstDash val="solid"/>
          </a:ln>
        </p:spPr>
      </p:sp>
      <p:sp>
        <p:nvSpPr>
          <p:cNvPr id="16" name="Text 12"/>
          <p:cNvSpPr txBox="1"/>
          <p:nvPr/>
        </p:nvSpPr>
        <p:spPr>
          <a:xfrm>
            <a:off x="6673383" y="2026787"/>
            <a:ext cx="1023031" cy="274320"/>
          </a:xfrm>
          <a:prstGeom prst="rect">
            <a:avLst/>
          </a:prstGeom>
          <a:noFill/>
          <a:ln/>
        </p:spPr>
        <p:txBody>
          <a:bodyPr wrap="square" lIns="0" tIns="0" rIns="0" bIns="0" rtlCol="0" anchor="t"/>
          <a:lstStyle/>
          <a:p>
            <a:pPr algn="ctr" indent="0" marL="0">
              <a:buNone/>
            </a:pPr>
            <a:r>
              <a:rPr lang="en-US" sz="1300" b="1" dirty="0">
                <a:solidFill>
                  <a:srgbClr val="1F1F1F"/>
                </a:solidFill>
                <a:latin typeface="Calibri" pitchFamily="34" charset="0"/>
                <a:ea typeface="Calibri" pitchFamily="34" charset="-122"/>
                <a:cs typeface="Calibri" pitchFamily="34" charset="-120"/>
              </a:rPr>
              <a:t>+70,6</a:t>
            </a:r>
            <a:endParaRPr lang="en-US" sz="1300" dirty="0"/>
          </a:p>
        </p:txBody>
      </p:sp>
      <p:sp>
        <p:nvSpPr>
          <p:cNvPr id="17" name="Text 13"/>
          <p:cNvSpPr txBox="1"/>
          <p:nvPr/>
        </p:nvSpPr>
        <p:spPr>
          <a:xfrm>
            <a:off x="6697980" y="5047488"/>
            <a:ext cx="973836" cy="54864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PV giá trị cuối kỳ</a:t>
            </a:r>
            <a:endParaRPr lang="en-US" sz="1100" dirty="0"/>
          </a:p>
        </p:txBody>
      </p:sp>
      <p:sp>
        <p:nvSpPr>
          <p:cNvPr id="18" name="Shape 14"/>
          <p:cNvSpPr/>
          <p:nvPr/>
        </p:nvSpPr>
        <p:spPr>
          <a:xfrm>
            <a:off x="7467813" y="2319395"/>
            <a:ext cx="444581" cy="0"/>
          </a:xfrm>
          <a:prstGeom prst="line">
            <a:avLst/>
          </a:prstGeom>
          <a:noFill/>
          <a:ln w="9525">
            <a:solidFill>
              <a:srgbClr val="8C8C8C"/>
            </a:solidFill>
            <a:prstDash val="dash"/>
          </a:ln>
        </p:spPr>
      </p:sp>
      <p:sp>
        <p:nvSpPr>
          <p:cNvPr id="19" name="Shape 15"/>
          <p:cNvSpPr/>
          <p:nvPr/>
        </p:nvSpPr>
        <p:spPr>
          <a:xfrm>
            <a:off x="7912395" y="2319395"/>
            <a:ext cx="565831" cy="1248631"/>
          </a:xfrm>
          <a:prstGeom prst="rect">
            <a:avLst/>
          </a:prstGeom>
          <a:solidFill>
            <a:srgbClr val="7B1E2B"/>
          </a:solidFill>
          <a:ln w="6350">
            <a:solidFill>
              <a:srgbClr val="7B1E2B"/>
            </a:solidFill>
            <a:prstDash val="solid"/>
          </a:ln>
        </p:spPr>
      </p:sp>
      <p:sp>
        <p:nvSpPr>
          <p:cNvPr id="20" name="Text 16"/>
          <p:cNvSpPr txBox="1"/>
          <p:nvPr/>
        </p:nvSpPr>
        <p:spPr>
          <a:xfrm>
            <a:off x="7683795" y="2026787"/>
            <a:ext cx="1023031" cy="274320"/>
          </a:xfrm>
          <a:prstGeom prst="rect">
            <a:avLst/>
          </a:prstGeom>
          <a:noFill/>
          <a:ln/>
        </p:spPr>
        <p:txBody>
          <a:bodyPr wrap="square" lIns="0" tIns="0" rIns="0" bIns="0" rtlCol="0" anchor="t"/>
          <a:lstStyle/>
          <a:p>
            <a:pPr algn="ctr" indent="0" marL="0">
              <a:buNone/>
            </a:pPr>
            <a:r>
              <a:rPr lang="en-US" sz="1300" b="1" dirty="0">
                <a:solidFill>
                  <a:srgbClr val="1F1F1F"/>
                </a:solidFill>
                <a:latin typeface="Calibri" pitchFamily="34" charset="0"/>
                <a:ea typeface="Calibri" pitchFamily="34" charset="-122"/>
                <a:cs typeface="Calibri" pitchFamily="34" charset="-120"/>
              </a:rPr>
              <a:t>37,6</a:t>
            </a:r>
            <a:endParaRPr lang="en-US" sz="1300" dirty="0"/>
          </a:p>
        </p:txBody>
      </p:sp>
      <p:sp>
        <p:nvSpPr>
          <p:cNvPr id="21" name="Text 17"/>
          <p:cNvSpPr txBox="1"/>
          <p:nvPr/>
        </p:nvSpPr>
        <p:spPr>
          <a:xfrm>
            <a:off x="7708392" y="5047488"/>
            <a:ext cx="973836" cy="54864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Giá trị doanh nghiệp</a:t>
            </a:r>
            <a:endParaRPr lang="en-US" sz="1100" dirty="0"/>
          </a:p>
        </p:txBody>
      </p:sp>
      <p:sp>
        <p:nvSpPr>
          <p:cNvPr id="22" name="Shape 18"/>
          <p:cNvSpPr/>
          <p:nvPr/>
        </p:nvSpPr>
        <p:spPr>
          <a:xfrm>
            <a:off x="8478225" y="2319395"/>
            <a:ext cx="444581" cy="0"/>
          </a:xfrm>
          <a:prstGeom prst="line">
            <a:avLst/>
          </a:prstGeom>
          <a:noFill/>
          <a:ln w="9525">
            <a:solidFill>
              <a:srgbClr val="8C8C8C"/>
            </a:solidFill>
            <a:prstDash val="dash"/>
          </a:ln>
        </p:spPr>
      </p:sp>
      <p:sp>
        <p:nvSpPr>
          <p:cNvPr id="23" name="Shape 19"/>
          <p:cNvSpPr/>
          <p:nvPr/>
        </p:nvSpPr>
        <p:spPr>
          <a:xfrm>
            <a:off x="8922807" y="2221992"/>
            <a:ext cx="565831" cy="97403"/>
          </a:xfrm>
          <a:prstGeom prst="rect">
            <a:avLst/>
          </a:prstGeom>
          <a:solidFill>
            <a:srgbClr val="A3A3A3"/>
          </a:solidFill>
          <a:ln w="6350">
            <a:solidFill>
              <a:srgbClr val="A3A3A3"/>
            </a:solidFill>
            <a:prstDash val="solid"/>
          </a:ln>
        </p:spPr>
      </p:sp>
      <p:sp>
        <p:nvSpPr>
          <p:cNvPr id="24" name="Text 20"/>
          <p:cNvSpPr txBox="1"/>
          <p:nvPr/>
        </p:nvSpPr>
        <p:spPr>
          <a:xfrm>
            <a:off x="8694207" y="1929384"/>
            <a:ext cx="1023031" cy="274320"/>
          </a:xfrm>
          <a:prstGeom prst="rect">
            <a:avLst/>
          </a:prstGeom>
          <a:noFill/>
          <a:ln/>
        </p:spPr>
        <p:txBody>
          <a:bodyPr wrap="square" lIns="0" tIns="0" rIns="0" bIns="0" rtlCol="0" anchor="t"/>
          <a:lstStyle/>
          <a:p>
            <a:pPr algn="ctr" indent="0" marL="0">
              <a:buNone/>
            </a:pPr>
            <a:r>
              <a:rPr lang="en-US" sz="1300" b="1" dirty="0">
                <a:solidFill>
                  <a:srgbClr val="1F1F1F"/>
                </a:solidFill>
                <a:latin typeface="Calibri" pitchFamily="34" charset="0"/>
                <a:ea typeface="Calibri" pitchFamily="34" charset="-122"/>
                <a:cs typeface="Calibri" pitchFamily="34" charset="-120"/>
              </a:rPr>
              <a:t>+2,9</a:t>
            </a:r>
            <a:endParaRPr lang="en-US" sz="1300" dirty="0"/>
          </a:p>
        </p:txBody>
      </p:sp>
      <p:sp>
        <p:nvSpPr>
          <p:cNvPr id="25" name="Text 21"/>
          <p:cNvSpPr txBox="1"/>
          <p:nvPr/>
        </p:nvSpPr>
        <p:spPr>
          <a:xfrm>
            <a:off x="8718804" y="5047488"/>
            <a:ext cx="973836" cy="54864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 Tiền 31/12/2025</a:t>
            </a:r>
            <a:endParaRPr lang="en-US" sz="1100" dirty="0"/>
          </a:p>
        </p:txBody>
      </p:sp>
      <p:sp>
        <p:nvSpPr>
          <p:cNvPr id="26" name="Shape 22"/>
          <p:cNvSpPr/>
          <p:nvPr/>
        </p:nvSpPr>
        <p:spPr>
          <a:xfrm>
            <a:off x="9488637" y="2221992"/>
            <a:ext cx="444581" cy="0"/>
          </a:xfrm>
          <a:prstGeom prst="line">
            <a:avLst/>
          </a:prstGeom>
          <a:noFill/>
          <a:ln w="9525">
            <a:solidFill>
              <a:srgbClr val="8C8C8C"/>
            </a:solidFill>
            <a:prstDash val="dash"/>
          </a:ln>
        </p:spPr>
      </p:sp>
      <p:sp>
        <p:nvSpPr>
          <p:cNvPr id="27" name="Shape 23"/>
          <p:cNvSpPr/>
          <p:nvPr/>
        </p:nvSpPr>
        <p:spPr>
          <a:xfrm>
            <a:off x="9933219" y="2221992"/>
            <a:ext cx="565831" cy="53213"/>
          </a:xfrm>
          <a:prstGeom prst="rect">
            <a:avLst/>
          </a:prstGeom>
          <a:solidFill>
            <a:srgbClr val="A3A3A3"/>
          </a:solidFill>
          <a:ln w="6350">
            <a:solidFill>
              <a:srgbClr val="A3A3A3"/>
            </a:solidFill>
            <a:prstDash val="solid"/>
          </a:ln>
        </p:spPr>
      </p:sp>
      <p:sp>
        <p:nvSpPr>
          <p:cNvPr id="28" name="Text 24"/>
          <p:cNvSpPr txBox="1"/>
          <p:nvPr/>
        </p:nvSpPr>
        <p:spPr>
          <a:xfrm>
            <a:off x="9704619" y="2302637"/>
            <a:ext cx="1023031" cy="274320"/>
          </a:xfrm>
          <a:prstGeom prst="rect">
            <a:avLst/>
          </a:prstGeom>
          <a:noFill/>
          <a:ln/>
        </p:spPr>
        <p:txBody>
          <a:bodyPr wrap="square" lIns="0" tIns="0" rIns="0" bIns="0" rtlCol="0" anchor="t"/>
          <a:lstStyle/>
          <a:p>
            <a:pPr algn="ctr" indent="0" marL="0">
              <a:buNone/>
            </a:pPr>
            <a:r>
              <a:rPr lang="en-US" sz="1300" b="1" dirty="0">
                <a:solidFill>
                  <a:srgbClr val="1F1F1F"/>
                </a:solidFill>
                <a:latin typeface="Calibri" pitchFamily="34" charset="0"/>
                <a:ea typeface="Calibri" pitchFamily="34" charset="-122"/>
                <a:cs typeface="Calibri" pitchFamily="34" charset="-120"/>
              </a:rPr>
              <a:t>−1,6</a:t>
            </a:r>
            <a:endParaRPr lang="en-US" sz="1300" dirty="0"/>
          </a:p>
        </p:txBody>
      </p:sp>
      <p:sp>
        <p:nvSpPr>
          <p:cNvPr id="29" name="Text 25"/>
          <p:cNvSpPr txBox="1"/>
          <p:nvPr/>
        </p:nvSpPr>
        <p:spPr>
          <a:xfrm>
            <a:off x="9729216" y="5047488"/>
            <a:ext cx="973836" cy="54864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 Nợ vay 31/12/2025</a:t>
            </a:r>
            <a:endParaRPr lang="en-US" sz="1100" dirty="0"/>
          </a:p>
        </p:txBody>
      </p:sp>
      <p:sp>
        <p:nvSpPr>
          <p:cNvPr id="30" name="Shape 26"/>
          <p:cNvSpPr/>
          <p:nvPr/>
        </p:nvSpPr>
        <p:spPr>
          <a:xfrm>
            <a:off x="10499049" y="2275205"/>
            <a:ext cx="444581" cy="0"/>
          </a:xfrm>
          <a:prstGeom prst="line">
            <a:avLst/>
          </a:prstGeom>
          <a:noFill/>
          <a:ln w="9525">
            <a:solidFill>
              <a:srgbClr val="8C8C8C"/>
            </a:solidFill>
            <a:prstDash val="dash"/>
          </a:ln>
        </p:spPr>
      </p:sp>
      <p:sp>
        <p:nvSpPr>
          <p:cNvPr id="31" name="Shape 27"/>
          <p:cNvSpPr/>
          <p:nvPr/>
        </p:nvSpPr>
        <p:spPr>
          <a:xfrm>
            <a:off x="10943631" y="2275205"/>
            <a:ext cx="565831" cy="1292822"/>
          </a:xfrm>
          <a:prstGeom prst="rect">
            <a:avLst/>
          </a:prstGeom>
          <a:solidFill>
            <a:srgbClr val="7B1E2B"/>
          </a:solidFill>
          <a:ln w="6350">
            <a:solidFill>
              <a:srgbClr val="7B1E2B"/>
            </a:solidFill>
            <a:prstDash val="solid"/>
          </a:ln>
        </p:spPr>
      </p:sp>
      <p:sp>
        <p:nvSpPr>
          <p:cNvPr id="32" name="Text 28"/>
          <p:cNvSpPr txBox="1"/>
          <p:nvPr/>
        </p:nvSpPr>
        <p:spPr>
          <a:xfrm>
            <a:off x="10715031" y="1982597"/>
            <a:ext cx="1023031" cy="274320"/>
          </a:xfrm>
          <a:prstGeom prst="rect">
            <a:avLst/>
          </a:prstGeom>
          <a:noFill/>
          <a:ln/>
        </p:spPr>
        <p:txBody>
          <a:bodyPr wrap="square" lIns="0" tIns="0" rIns="0" bIns="0" rtlCol="0" anchor="t"/>
          <a:lstStyle/>
          <a:p>
            <a:pPr algn="ctr" indent="0" marL="0">
              <a:buNone/>
            </a:pPr>
            <a:r>
              <a:rPr lang="en-US" sz="1300" b="1" dirty="0">
                <a:solidFill>
                  <a:srgbClr val="1F1F1F"/>
                </a:solidFill>
                <a:latin typeface="Calibri" pitchFamily="34" charset="0"/>
                <a:ea typeface="Calibri" pitchFamily="34" charset="-122"/>
                <a:cs typeface="Calibri" pitchFamily="34" charset="-120"/>
              </a:rPr>
              <a:t>38,9</a:t>
            </a:r>
            <a:endParaRPr lang="en-US" sz="1300" dirty="0"/>
          </a:p>
        </p:txBody>
      </p:sp>
      <p:sp>
        <p:nvSpPr>
          <p:cNvPr id="33" name="Text 29"/>
          <p:cNvSpPr txBox="1"/>
          <p:nvPr/>
        </p:nvSpPr>
        <p:spPr>
          <a:xfrm>
            <a:off x="10739628" y="5047488"/>
            <a:ext cx="973836" cy="54864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Pre-money</a:t>
            </a:r>
            <a:endParaRPr lang="en-US" sz="1100" dirty="0"/>
          </a:p>
        </p:txBody>
      </p:sp>
      <p:sp>
        <p:nvSpPr>
          <p:cNvPr id="34" name="Text 30"/>
          <p:cNvSpPr txBox="1"/>
          <p:nvPr/>
        </p:nvSpPr>
        <p:spPr>
          <a:xfrm>
            <a:off x="5669280" y="5760720"/>
            <a:ext cx="6062472" cy="457200"/>
          </a:xfrm>
          <a:prstGeom prst="rect">
            <a:avLst/>
          </a:prstGeom>
          <a:noFill/>
          <a:ln/>
        </p:spPr>
        <p:txBody>
          <a:bodyPr wrap="square" lIns="0" tIns="0" rIns="0" bIns="0" rtlCol="0" anchor="t"/>
          <a:lstStyle/>
          <a:p>
            <a:pPr indent="0" marL="0">
              <a:buNone/>
            </a:pPr>
            <a:r>
              <a:rPr lang="en-US" sz="1100" i="1" dirty="0">
                <a:solidFill>
                  <a:srgbClr val="6B6B6B"/>
                </a:solidFill>
                <a:latin typeface="Calibri" pitchFamily="34" charset="0"/>
                <a:ea typeface="Calibri" pitchFamily="34" charset="-122"/>
                <a:cs typeface="Calibri" pitchFamily="34" charset="-120"/>
              </a:rPr>
              <a:t>Giá trị cuối kỳ: FCFF chuẩn hóa = NOPAT 2031 × (1 − g/RONIC), g = 5%, RONIC = 18%. Độ nhạy WACC ±1 điểm %, g ±1 điểm %: 27,5–56,8 tỷ.</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5 · ĐỊNH GIÁ VC METHOD</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VC Method: giá trị thoái vốn 198,7 tỷ năm 2030; sau 40% xác suất thất bại còn pre-money 24,8 tỷ</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Mô hình (VCM); bội số thoái vốn: bình quân ngành Containers &amp; Packaging 2026 (FiinX)</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457200" y="1691640"/>
            <a:ext cx="2468880" cy="2240280"/>
          </a:xfrm>
          <a:prstGeom prst="rect">
            <a:avLst/>
          </a:prstGeom>
          <a:solidFill>
            <a:srgbClr val="F6EDEF"/>
          </a:solidFill>
          <a:ln w="6350">
            <a:solidFill>
              <a:srgbClr val="F6EDEF"/>
            </a:solidFill>
            <a:prstDash val="solid"/>
          </a:ln>
        </p:spPr>
      </p:sp>
      <p:sp>
        <p:nvSpPr>
          <p:cNvPr id="8" name="Text 5"/>
          <p:cNvSpPr txBox="1"/>
          <p:nvPr/>
        </p:nvSpPr>
        <p:spPr>
          <a:xfrm>
            <a:off x="621792" y="1801368"/>
            <a:ext cx="2139696" cy="329184"/>
          </a:xfrm>
          <a:prstGeom prst="rect">
            <a:avLst/>
          </a:prstGeom>
          <a:noFill/>
          <a:ln/>
        </p:spPr>
        <p:txBody>
          <a:bodyPr wrap="square" lIns="0" tIns="0" rIns="0" bIns="0" rtlCol="0" anchor="t"/>
          <a:lstStyle/>
          <a:p>
            <a:pPr indent="0" marL="0">
              <a:buNone/>
            </a:pPr>
            <a:r>
              <a:rPr lang="en-US" sz="1300" b="1" dirty="0">
                <a:solidFill>
                  <a:srgbClr val="6B6B6B"/>
                </a:solidFill>
                <a:latin typeface="Calibri" pitchFamily="34" charset="0"/>
                <a:ea typeface="Calibri" pitchFamily="34" charset="-122"/>
                <a:cs typeface="Calibri" pitchFamily="34" charset="-120"/>
              </a:rPr>
              <a:t>Giá trị thoái vốn 2030E</a:t>
            </a:r>
            <a:endParaRPr lang="en-US" sz="1300" dirty="0"/>
          </a:p>
        </p:txBody>
      </p:sp>
      <p:sp>
        <p:nvSpPr>
          <p:cNvPr id="9" name="Text 6"/>
          <p:cNvSpPr txBox="1"/>
          <p:nvPr/>
        </p:nvSpPr>
        <p:spPr>
          <a:xfrm>
            <a:off x="621792" y="2157984"/>
            <a:ext cx="2139696" cy="658368"/>
          </a:xfrm>
          <a:prstGeom prst="rect">
            <a:avLst/>
          </a:prstGeom>
          <a:noFill/>
          <a:ln/>
        </p:spPr>
        <p:txBody>
          <a:bodyPr wrap="square" lIns="0" tIns="0" rIns="0" bIns="0" rtlCol="0" anchor="ctr"/>
          <a:lstStyle/>
          <a:p>
            <a:pPr indent="0" marL="0">
              <a:buNone/>
            </a:pPr>
            <a:r>
              <a:rPr lang="en-US" sz="3200" b="1" dirty="0">
                <a:solidFill>
                  <a:srgbClr val="7B1E2B"/>
                </a:solidFill>
                <a:latin typeface="Calibri" pitchFamily="34" charset="0"/>
                <a:ea typeface="Calibri" pitchFamily="34" charset="-122"/>
                <a:cs typeface="Calibri" pitchFamily="34" charset="-120"/>
              </a:rPr>
              <a:t>198,7 tỷ</a:t>
            </a:r>
            <a:endParaRPr lang="en-US" sz="3200" dirty="0"/>
          </a:p>
        </p:txBody>
      </p:sp>
      <p:sp>
        <p:nvSpPr>
          <p:cNvPr id="10" name="Text 7"/>
          <p:cNvSpPr txBox="1"/>
          <p:nvPr/>
        </p:nvSpPr>
        <p:spPr>
          <a:xfrm>
            <a:off x="621792" y="2852928"/>
            <a:ext cx="2139696" cy="1051560"/>
          </a:xfrm>
          <a:prstGeom prst="rect">
            <a:avLst/>
          </a:prstGeom>
          <a:noFill/>
          <a:ln/>
        </p:spPr>
        <p:txBody>
          <a:bodyPr wrap="square" lIns="0" tIns="0" rIns="0" bIns="0" rtlCol="0" anchor="t"/>
          <a:lstStyle/>
          <a:p>
            <a:pPr indent="0" marL="0">
              <a:buNone/>
            </a:pPr>
            <a:r>
              <a:rPr lang="en-US" sz="1250" dirty="0">
                <a:solidFill>
                  <a:srgbClr val="3A3A3A"/>
                </a:solidFill>
                <a:latin typeface="Calibri" pitchFamily="34" charset="0"/>
                <a:ea typeface="Calibri" pitchFamily="34" charset="-122"/>
                <a:cs typeface="Calibri" pitchFamily="34" charset="-120"/>
              </a:rPr>
              <a:t>Bình quân P/E 9,4x × LNST (130,2) và EV/EBITDA 8,0x + tiền − nợ (267,2)</a:t>
            </a:r>
            <a:endParaRPr lang="en-US" sz="1250" dirty="0"/>
          </a:p>
        </p:txBody>
      </p:sp>
      <p:sp>
        <p:nvSpPr>
          <p:cNvPr id="11" name="Shape 8"/>
          <p:cNvSpPr/>
          <p:nvPr/>
        </p:nvSpPr>
        <p:spPr>
          <a:xfrm>
            <a:off x="3004261" y="2651760"/>
            <a:ext cx="310896" cy="329184"/>
          </a:xfrm>
          <a:prstGeom prst="rightArrow">
            <a:avLst/>
          </a:prstGeom>
          <a:solidFill>
            <a:srgbClr val="A3A3A3"/>
          </a:solidFill>
          <a:ln w="12700">
            <a:solidFill>
              <a:srgbClr val="A3A3A3"/>
            </a:solidFill>
            <a:prstDash val="solid"/>
          </a:ln>
        </p:spPr>
      </p:sp>
      <p:sp>
        <p:nvSpPr>
          <p:cNvPr id="12" name="Shape 9"/>
          <p:cNvSpPr/>
          <p:nvPr/>
        </p:nvSpPr>
        <p:spPr>
          <a:xfrm>
            <a:off x="3393338" y="1691640"/>
            <a:ext cx="2468880" cy="2240280"/>
          </a:xfrm>
          <a:prstGeom prst="rect">
            <a:avLst/>
          </a:prstGeom>
          <a:solidFill>
            <a:srgbClr val="F6EDEF"/>
          </a:solidFill>
          <a:ln w="6350">
            <a:solidFill>
              <a:srgbClr val="F6EDEF"/>
            </a:solidFill>
            <a:prstDash val="solid"/>
          </a:ln>
        </p:spPr>
      </p:sp>
      <p:sp>
        <p:nvSpPr>
          <p:cNvPr id="13" name="Text 10"/>
          <p:cNvSpPr txBox="1"/>
          <p:nvPr/>
        </p:nvSpPr>
        <p:spPr>
          <a:xfrm>
            <a:off x="3557930" y="1801368"/>
            <a:ext cx="2139696" cy="329184"/>
          </a:xfrm>
          <a:prstGeom prst="rect">
            <a:avLst/>
          </a:prstGeom>
          <a:noFill/>
          <a:ln/>
        </p:spPr>
        <p:txBody>
          <a:bodyPr wrap="square" lIns="0" tIns="0" rIns="0" bIns="0" rtlCol="0" anchor="t"/>
          <a:lstStyle/>
          <a:p>
            <a:pPr indent="0" marL="0">
              <a:buNone/>
            </a:pPr>
            <a:r>
              <a:rPr lang="en-US" sz="1300" b="1" dirty="0">
                <a:solidFill>
                  <a:srgbClr val="6B6B6B"/>
                </a:solidFill>
                <a:latin typeface="Calibri" pitchFamily="34" charset="0"/>
                <a:ea typeface="Calibri" pitchFamily="34" charset="-122"/>
                <a:cs typeface="Calibri" pitchFamily="34" charset="-120"/>
              </a:rPr>
              <a:t>× (1 − z)</a:t>
            </a:r>
            <a:endParaRPr lang="en-US" sz="1300" dirty="0"/>
          </a:p>
        </p:txBody>
      </p:sp>
      <p:sp>
        <p:nvSpPr>
          <p:cNvPr id="14" name="Text 11"/>
          <p:cNvSpPr txBox="1"/>
          <p:nvPr/>
        </p:nvSpPr>
        <p:spPr>
          <a:xfrm>
            <a:off x="3557930" y="2157984"/>
            <a:ext cx="2139696" cy="658368"/>
          </a:xfrm>
          <a:prstGeom prst="rect">
            <a:avLst/>
          </a:prstGeom>
          <a:noFill/>
          <a:ln/>
        </p:spPr>
        <p:txBody>
          <a:bodyPr wrap="square" lIns="0" tIns="0" rIns="0" bIns="0" rtlCol="0" anchor="ctr"/>
          <a:lstStyle/>
          <a:p>
            <a:pPr indent="0" marL="0">
              <a:buNone/>
            </a:pPr>
            <a:r>
              <a:rPr lang="en-US" sz="3200" b="1" dirty="0">
                <a:solidFill>
                  <a:srgbClr val="7B1E2B"/>
                </a:solidFill>
                <a:latin typeface="Calibri" pitchFamily="34" charset="0"/>
                <a:ea typeface="Calibri" pitchFamily="34" charset="-122"/>
                <a:cs typeface="Calibri" pitchFamily="34" charset="-120"/>
              </a:rPr>
              <a:t>60%</a:t>
            </a:r>
            <a:endParaRPr lang="en-US" sz="3200" dirty="0"/>
          </a:p>
        </p:txBody>
      </p:sp>
      <p:sp>
        <p:nvSpPr>
          <p:cNvPr id="15" name="Text 12"/>
          <p:cNvSpPr txBox="1"/>
          <p:nvPr/>
        </p:nvSpPr>
        <p:spPr>
          <a:xfrm>
            <a:off x="3557930" y="2852928"/>
            <a:ext cx="2139696" cy="1051560"/>
          </a:xfrm>
          <a:prstGeom prst="rect">
            <a:avLst/>
          </a:prstGeom>
          <a:noFill/>
          <a:ln/>
        </p:spPr>
        <p:txBody>
          <a:bodyPr wrap="square" lIns="0" tIns="0" rIns="0" bIns="0" rtlCol="0" anchor="t"/>
          <a:lstStyle/>
          <a:p>
            <a:pPr indent="0" marL="0">
              <a:buNone/>
            </a:pPr>
            <a:r>
              <a:rPr lang="en-US" sz="1250" dirty="0">
                <a:solidFill>
                  <a:srgbClr val="3A3A3A"/>
                </a:solidFill>
                <a:latin typeface="Calibri" pitchFamily="34" charset="0"/>
                <a:ea typeface="Calibri" pitchFamily="34" charset="-122"/>
                <a:cs typeface="Calibri" pitchFamily="34" charset="-120"/>
              </a:rPr>
              <a:t>z = 40% là xác suất thất bại tích lũy 5 năm (≈ 9,7%/năm)</a:t>
            </a:r>
            <a:endParaRPr lang="en-US" sz="1250" dirty="0"/>
          </a:p>
        </p:txBody>
      </p:sp>
      <p:sp>
        <p:nvSpPr>
          <p:cNvPr id="16" name="Shape 13"/>
          <p:cNvSpPr/>
          <p:nvPr/>
        </p:nvSpPr>
        <p:spPr>
          <a:xfrm>
            <a:off x="5940400" y="2651760"/>
            <a:ext cx="310896" cy="329184"/>
          </a:xfrm>
          <a:prstGeom prst="rightArrow">
            <a:avLst/>
          </a:prstGeom>
          <a:solidFill>
            <a:srgbClr val="A3A3A3"/>
          </a:solidFill>
          <a:ln w="12700">
            <a:solidFill>
              <a:srgbClr val="A3A3A3"/>
            </a:solidFill>
            <a:prstDash val="solid"/>
          </a:ln>
        </p:spPr>
      </p:sp>
      <p:sp>
        <p:nvSpPr>
          <p:cNvPr id="17" name="Shape 14"/>
          <p:cNvSpPr/>
          <p:nvPr/>
        </p:nvSpPr>
        <p:spPr>
          <a:xfrm>
            <a:off x="6329477" y="1691640"/>
            <a:ext cx="2468880" cy="2240280"/>
          </a:xfrm>
          <a:prstGeom prst="rect">
            <a:avLst/>
          </a:prstGeom>
          <a:solidFill>
            <a:srgbClr val="F6EDEF"/>
          </a:solidFill>
          <a:ln w="6350">
            <a:solidFill>
              <a:srgbClr val="F6EDEF"/>
            </a:solidFill>
            <a:prstDash val="solid"/>
          </a:ln>
        </p:spPr>
      </p:sp>
      <p:sp>
        <p:nvSpPr>
          <p:cNvPr id="18" name="Text 15"/>
          <p:cNvSpPr txBox="1"/>
          <p:nvPr/>
        </p:nvSpPr>
        <p:spPr>
          <a:xfrm>
            <a:off x="6494069" y="1801368"/>
            <a:ext cx="2139696" cy="329184"/>
          </a:xfrm>
          <a:prstGeom prst="rect">
            <a:avLst/>
          </a:prstGeom>
          <a:noFill/>
          <a:ln/>
        </p:spPr>
        <p:txBody>
          <a:bodyPr wrap="square" lIns="0" tIns="0" rIns="0" bIns="0" rtlCol="0" anchor="t"/>
          <a:lstStyle/>
          <a:p>
            <a:pPr indent="0" marL="0">
              <a:buNone/>
            </a:pPr>
            <a:r>
              <a:rPr lang="en-US" sz="1300" b="1" dirty="0">
                <a:solidFill>
                  <a:srgbClr val="6B6B6B"/>
                </a:solidFill>
                <a:latin typeface="Calibri" pitchFamily="34" charset="0"/>
                <a:ea typeface="Calibri" pitchFamily="34" charset="-122"/>
                <a:cs typeface="Calibri" pitchFamily="34" charset="-120"/>
              </a:rPr>
              <a:t>÷ (1 + WACC)⁵ = post-money</a:t>
            </a:r>
            <a:endParaRPr lang="en-US" sz="1300" dirty="0"/>
          </a:p>
        </p:txBody>
      </p:sp>
      <p:sp>
        <p:nvSpPr>
          <p:cNvPr id="19" name="Text 16"/>
          <p:cNvSpPr txBox="1"/>
          <p:nvPr/>
        </p:nvSpPr>
        <p:spPr>
          <a:xfrm>
            <a:off x="6494069" y="2157984"/>
            <a:ext cx="2139696" cy="658368"/>
          </a:xfrm>
          <a:prstGeom prst="rect">
            <a:avLst/>
          </a:prstGeom>
          <a:noFill/>
          <a:ln/>
        </p:spPr>
        <p:txBody>
          <a:bodyPr wrap="square" lIns="0" tIns="0" rIns="0" bIns="0" rtlCol="0" anchor="ctr"/>
          <a:lstStyle/>
          <a:p>
            <a:pPr indent="0" marL="0">
              <a:buNone/>
            </a:pPr>
            <a:r>
              <a:rPr lang="en-US" sz="3200" b="1" dirty="0">
                <a:solidFill>
                  <a:srgbClr val="7B1E2B"/>
                </a:solidFill>
                <a:latin typeface="Calibri" pitchFamily="34" charset="0"/>
                <a:ea typeface="Calibri" pitchFamily="34" charset="-122"/>
                <a:cs typeface="Calibri" pitchFamily="34" charset="-120"/>
              </a:rPr>
              <a:t>62,4 tỷ</a:t>
            </a:r>
            <a:endParaRPr lang="en-US" sz="3200" dirty="0"/>
          </a:p>
        </p:txBody>
      </p:sp>
      <p:sp>
        <p:nvSpPr>
          <p:cNvPr id="20" name="Text 17"/>
          <p:cNvSpPr txBox="1"/>
          <p:nvPr/>
        </p:nvSpPr>
        <p:spPr>
          <a:xfrm>
            <a:off x="6494069" y="2852928"/>
            <a:ext cx="2139696" cy="1051560"/>
          </a:xfrm>
          <a:prstGeom prst="rect">
            <a:avLst/>
          </a:prstGeom>
          <a:noFill/>
          <a:ln/>
        </p:spPr>
        <p:txBody>
          <a:bodyPr wrap="square" lIns="0" tIns="0" rIns="0" bIns="0" rtlCol="0" anchor="t"/>
          <a:lstStyle/>
          <a:p>
            <a:pPr indent="0" marL="0">
              <a:buNone/>
            </a:pPr>
            <a:r>
              <a:rPr lang="en-US" sz="1250" dirty="0">
                <a:solidFill>
                  <a:srgbClr val="3A3A3A"/>
                </a:solidFill>
                <a:latin typeface="Calibri" pitchFamily="34" charset="0"/>
                <a:ea typeface="Calibri" pitchFamily="34" charset="-122"/>
                <a:cs typeface="Calibri" pitchFamily="34" charset="-120"/>
              </a:rPr>
              <a:t>Tương đương tỷ suất yêu cầu 26,1%/năm khi thành công</a:t>
            </a:r>
            <a:endParaRPr lang="en-US" sz="1250" dirty="0"/>
          </a:p>
        </p:txBody>
      </p:sp>
      <p:sp>
        <p:nvSpPr>
          <p:cNvPr id="21" name="Shape 18"/>
          <p:cNvSpPr/>
          <p:nvPr/>
        </p:nvSpPr>
        <p:spPr>
          <a:xfrm>
            <a:off x="8876538" y="2651760"/>
            <a:ext cx="310896" cy="329184"/>
          </a:xfrm>
          <a:prstGeom prst="rightArrow">
            <a:avLst/>
          </a:prstGeom>
          <a:solidFill>
            <a:srgbClr val="A3A3A3"/>
          </a:solidFill>
          <a:ln w="12700">
            <a:solidFill>
              <a:srgbClr val="A3A3A3"/>
            </a:solidFill>
            <a:prstDash val="solid"/>
          </a:ln>
        </p:spPr>
      </p:sp>
      <p:sp>
        <p:nvSpPr>
          <p:cNvPr id="22" name="Shape 19"/>
          <p:cNvSpPr/>
          <p:nvPr/>
        </p:nvSpPr>
        <p:spPr>
          <a:xfrm>
            <a:off x="9265615" y="1691640"/>
            <a:ext cx="2468880" cy="2240280"/>
          </a:xfrm>
          <a:prstGeom prst="rect">
            <a:avLst/>
          </a:prstGeom>
          <a:solidFill>
            <a:srgbClr val="7B1E2B"/>
          </a:solidFill>
          <a:ln w="6350">
            <a:solidFill>
              <a:srgbClr val="7B1E2B"/>
            </a:solidFill>
            <a:prstDash val="solid"/>
          </a:ln>
        </p:spPr>
      </p:sp>
      <p:sp>
        <p:nvSpPr>
          <p:cNvPr id="23" name="Text 20"/>
          <p:cNvSpPr txBox="1"/>
          <p:nvPr/>
        </p:nvSpPr>
        <p:spPr>
          <a:xfrm>
            <a:off x="9430207" y="1801368"/>
            <a:ext cx="2139696" cy="329184"/>
          </a:xfrm>
          <a:prstGeom prst="rect">
            <a:avLst/>
          </a:prstGeom>
          <a:noFill/>
          <a:ln/>
        </p:spPr>
        <p:txBody>
          <a:bodyPr wrap="square" lIns="0" tIns="0" rIns="0" bIns="0" rtlCol="0" anchor="t"/>
          <a:lstStyle/>
          <a:p>
            <a:pPr indent="0" marL="0">
              <a:buNone/>
            </a:pPr>
            <a:r>
              <a:rPr lang="en-US" sz="1300" b="1" dirty="0">
                <a:solidFill>
                  <a:srgbClr val="EBCFD4"/>
                </a:solidFill>
                <a:latin typeface="Calibri" pitchFamily="34" charset="0"/>
                <a:ea typeface="Calibri" pitchFamily="34" charset="-122"/>
                <a:cs typeface="Calibri" pitchFamily="34" charset="-120"/>
              </a:rPr>
              <a:t>− vốn mới 37,6 tỷ</a:t>
            </a:r>
            <a:endParaRPr lang="en-US" sz="1300" dirty="0"/>
          </a:p>
        </p:txBody>
      </p:sp>
      <p:sp>
        <p:nvSpPr>
          <p:cNvPr id="24" name="Text 21"/>
          <p:cNvSpPr txBox="1"/>
          <p:nvPr/>
        </p:nvSpPr>
        <p:spPr>
          <a:xfrm>
            <a:off x="9430207" y="2157984"/>
            <a:ext cx="2139696" cy="65836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24,8 tỷ</a:t>
            </a:r>
            <a:endParaRPr lang="en-US" sz="3200" dirty="0"/>
          </a:p>
        </p:txBody>
      </p:sp>
      <p:sp>
        <p:nvSpPr>
          <p:cNvPr id="25" name="Text 22"/>
          <p:cNvSpPr txBox="1"/>
          <p:nvPr/>
        </p:nvSpPr>
        <p:spPr>
          <a:xfrm>
            <a:off x="9430207" y="2852928"/>
            <a:ext cx="2139696" cy="1051560"/>
          </a:xfrm>
          <a:prstGeom prst="rect">
            <a:avLst/>
          </a:prstGeom>
          <a:noFill/>
          <a:ln/>
        </p:spPr>
        <p:txBody>
          <a:bodyPr wrap="square" lIns="0" tIns="0" rIns="0" bIns="0" rtlCol="0" anchor="t"/>
          <a:lstStyle/>
          <a:p>
            <a:pPr indent="0" marL="0">
              <a:buNone/>
            </a:pPr>
            <a:r>
              <a:rPr lang="en-US" sz="1250" dirty="0">
                <a:solidFill>
                  <a:srgbClr val="EBCFD4"/>
                </a:solidFill>
                <a:latin typeface="Calibri" pitchFamily="34" charset="0"/>
                <a:ea typeface="Calibri" pitchFamily="34" charset="-122"/>
                <a:cs typeface="Calibri" pitchFamily="34" charset="-120"/>
              </a:rPr>
              <a:t>Pre-money; nếu chỉ dùng VC Method, nhà đầu tư nhận 60,3%</a:t>
            </a:r>
            <a:endParaRPr lang="en-US" sz="1250" dirty="0"/>
          </a:p>
        </p:txBody>
      </p:sp>
      <p:sp>
        <p:nvSpPr>
          <p:cNvPr id="26" name="Shape 23"/>
          <p:cNvSpPr/>
          <p:nvPr/>
        </p:nvSpPr>
        <p:spPr>
          <a:xfrm>
            <a:off x="457200" y="4343400"/>
            <a:ext cx="502920" cy="502920"/>
          </a:xfrm>
          <a:prstGeom prst="ellipse">
            <a:avLst/>
          </a:prstGeom>
          <a:solidFill>
            <a:srgbClr val="7B1E2B"/>
          </a:solidFill>
          <a:ln w="6350">
            <a:solidFill>
              <a:srgbClr val="7B1E2B"/>
            </a:solidFill>
            <a:prstDash val="solid"/>
          </a:ln>
        </p:spPr>
      </p:sp>
      <p:pic>
        <p:nvPicPr>
          <p:cNvPr id="27" name="Image 0" descr="preencoded.png">    </p:cNvPr>
          <p:cNvPicPr>
            <a:picLocks noChangeAspect="1"/>
          </p:cNvPicPr>
          <p:nvPr/>
        </p:nvPicPr>
        <p:blipFill>
          <a:blip r:embed="rId1"/>
          <a:stretch>
            <a:fillRect/>
          </a:stretch>
        </p:blipFill>
        <p:spPr>
          <a:xfrm>
            <a:off x="582930" y="4469130"/>
            <a:ext cx="251460" cy="251460"/>
          </a:xfrm>
          <a:prstGeom prst="rect">
            <a:avLst/>
          </a:prstGeom>
        </p:spPr>
      </p:pic>
      <p:sp>
        <p:nvSpPr>
          <p:cNvPr id="28" name="Text 24"/>
          <p:cNvSpPr txBox="1"/>
          <p:nvPr/>
        </p:nvSpPr>
        <p:spPr>
          <a:xfrm>
            <a:off x="1124712" y="4361688"/>
            <a:ext cx="4788256"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Lỗi thường gặp: dùng 40% như xác suất mỗi năm</a:t>
            </a:r>
            <a:endParaRPr lang="en-US" sz="1500" dirty="0"/>
          </a:p>
        </p:txBody>
      </p:sp>
      <p:sp>
        <p:nvSpPr>
          <p:cNvPr id="29" name="Text 25"/>
          <p:cNvSpPr txBox="1"/>
          <p:nvPr/>
        </p:nvSpPr>
        <p:spPr>
          <a:xfrm>
            <a:off x="1124712" y="4727448"/>
            <a:ext cx="4788256" cy="137160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Tỷ suất yêu cầu sẽ lên 90% và post-money chỉ còn 8,1 tỷ – thấp hơn cả số vốn cần gọi.</a:t>
            </a:r>
            <a:endParaRPr lang="en-US" sz="1300" dirty="0"/>
          </a:p>
        </p:txBody>
      </p:sp>
      <p:sp>
        <p:nvSpPr>
          <p:cNvPr id="30" name="Shape 26"/>
          <p:cNvSpPr/>
          <p:nvPr/>
        </p:nvSpPr>
        <p:spPr>
          <a:xfrm>
            <a:off x="6278728" y="4343400"/>
            <a:ext cx="502920" cy="502920"/>
          </a:xfrm>
          <a:prstGeom prst="ellipse">
            <a:avLst/>
          </a:prstGeom>
          <a:solidFill>
            <a:srgbClr val="7B1E2B"/>
          </a:solidFill>
          <a:ln w="6350">
            <a:solidFill>
              <a:srgbClr val="7B1E2B"/>
            </a:solidFill>
            <a:prstDash val="solid"/>
          </a:ln>
        </p:spPr>
      </p:sp>
      <p:pic>
        <p:nvPicPr>
          <p:cNvPr id="31" name="Image 1" descr="preencoded.png">    </p:cNvPr>
          <p:cNvPicPr>
            <a:picLocks noChangeAspect="1"/>
          </p:cNvPicPr>
          <p:nvPr/>
        </p:nvPicPr>
        <p:blipFill>
          <a:blip r:embed="rId2"/>
          <a:stretch>
            <a:fillRect/>
          </a:stretch>
        </p:blipFill>
        <p:spPr>
          <a:xfrm>
            <a:off x="6404458" y="4469130"/>
            <a:ext cx="251460" cy="251460"/>
          </a:xfrm>
          <a:prstGeom prst="rect">
            <a:avLst/>
          </a:prstGeom>
        </p:spPr>
      </p:pic>
      <p:sp>
        <p:nvSpPr>
          <p:cNvPr id="32" name="Text 27"/>
          <p:cNvSpPr txBox="1"/>
          <p:nvPr/>
        </p:nvSpPr>
        <p:spPr>
          <a:xfrm>
            <a:off x="6946240" y="4361688"/>
            <a:ext cx="4788256"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Vì sao DCF và VC Method chênh 14 tỷ?</a:t>
            </a:r>
            <a:endParaRPr lang="en-US" sz="1500" dirty="0"/>
          </a:p>
        </p:txBody>
      </p:sp>
      <p:sp>
        <p:nvSpPr>
          <p:cNvPr id="33" name="Text 28"/>
          <p:cNvSpPr txBox="1"/>
          <p:nvPr/>
        </p:nvSpPr>
        <p:spPr>
          <a:xfrm>
            <a:off x="6946240" y="4727448"/>
            <a:ext cx="4788256" cy="137160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VC Method trừ xác suất thất bại, DCF thì không. DCF × xác suất sống sót (60% × 38,9 + 40% × 15,0 tỷ giá trị thanh lý) = 29,4 tỷ – sát mức bình quân 31,8 tỷ.</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5 · TỔNG HỢP ĐỊNH GIÁ</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Pre-money khuyến nghị 31,8 tỷ đồng (bình quân DCF và VC Method); kịch bản Bear cho giá trị âm</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Mô hình (Summary, Sensitivity; các kịch bản chạy bằng ô chọn ở Drivers)</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14</a:t>
            </a:r>
            <a:endParaRPr lang="en-US" sz="1000" dirty="0"/>
          </a:p>
        </p:txBody>
      </p:sp>
      <p:sp>
        <p:nvSpPr>
          <p:cNvPr id="7" name="Text 4"/>
          <p:cNvSpPr txBox="1"/>
          <p:nvPr/>
        </p:nvSpPr>
        <p:spPr>
          <a:xfrm>
            <a:off x="457200" y="1572768"/>
            <a:ext cx="64008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Khoảng giá trị pre-money</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sp>
        <p:nvSpPr>
          <p:cNvPr id="8" name="Shape 5"/>
          <p:cNvSpPr/>
          <p:nvPr/>
        </p:nvSpPr>
        <p:spPr>
          <a:xfrm>
            <a:off x="2423160" y="2286000"/>
            <a:ext cx="0" cy="3154680"/>
          </a:xfrm>
          <a:prstGeom prst="line">
            <a:avLst/>
          </a:prstGeom>
          <a:noFill/>
          <a:ln w="9525">
            <a:solidFill>
              <a:srgbClr val="E4E4E4"/>
            </a:solidFill>
            <a:prstDash val="solid"/>
          </a:ln>
        </p:spPr>
      </p:sp>
      <p:sp>
        <p:nvSpPr>
          <p:cNvPr id="9" name="Text 6"/>
          <p:cNvSpPr txBox="1"/>
          <p:nvPr/>
        </p:nvSpPr>
        <p:spPr>
          <a:xfrm>
            <a:off x="2103120" y="547725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0</a:t>
            </a:r>
            <a:endParaRPr lang="en-US" sz="1050" dirty="0"/>
          </a:p>
        </p:txBody>
      </p:sp>
      <p:sp>
        <p:nvSpPr>
          <p:cNvPr id="10" name="Shape 7"/>
          <p:cNvSpPr/>
          <p:nvPr/>
        </p:nvSpPr>
        <p:spPr>
          <a:xfrm>
            <a:off x="3182112" y="2286000"/>
            <a:ext cx="0" cy="3154680"/>
          </a:xfrm>
          <a:prstGeom prst="line">
            <a:avLst/>
          </a:prstGeom>
          <a:noFill/>
          <a:ln w="9525">
            <a:solidFill>
              <a:srgbClr val="E4E4E4"/>
            </a:solidFill>
            <a:prstDash val="solid"/>
          </a:ln>
        </p:spPr>
      </p:sp>
      <p:sp>
        <p:nvSpPr>
          <p:cNvPr id="11" name="Text 8"/>
          <p:cNvSpPr txBox="1"/>
          <p:nvPr/>
        </p:nvSpPr>
        <p:spPr>
          <a:xfrm>
            <a:off x="2862072" y="547725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20</a:t>
            </a:r>
            <a:endParaRPr lang="en-US" sz="1050" dirty="0"/>
          </a:p>
        </p:txBody>
      </p:sp>
      <p:sp>
        <p:nvSpPr>
          <p:cNvPr id="12" name="Shape 9"/>
          <p:cNvSpPr/>
          <p:nvPr/>
        </p:nvSpPr>
        <p:spPr>
          <a:xfrm>
            <a:off x="3941064" y="2286000"/>
            <a:ext cx="0" cy="3154680"/>
          </a:xfrm>
          <a:prstGeom prst="line">
            <a:avLst/>
          </a:prstGeom>
          <a:noFill/>
          <a:ln w="9525">
            <a:solidFill>
              <a:srgbClr val="E4E4E4"/>
            </a:solidFill>
            <a:prstDash val="solid"/>
          </a:ln>
        </p:spPr>
      </p:sp>
      <p:sp>
        <p:nvSpPr>
          <p:cNvPr id="13" name="Text 10"/>
          <p:cNvSpPr txBox="1"/>
          <p:nvPr/>
        </p:nvSpPr>
        <p:spPr>
          <a:xfrm>
            <a:off x="3621024" y="547725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40</a:t>
            </a:r>
            <a:endParaRPr lang="en-US" sz="1050" dirty="0"/>
          </a:p>
        </p:txBody>
      </p:sp>
      <p:sp>
        <p:nvSpPr>
          <p:cNvPr id="14" name="Shape 11"/>
          <p:cNvSpPr/>
          <p:nvPr/>
        </p:nvSpPr>
        <p:spPr>
          <a:xfrm>
            <a:off x="4700016" y="2286000"/>
            <a:ext cx="0" cy="3154680"/>
          </a:xfrm>
          <a:prstGeom prst="line">
            <a:avLst/>
          </a:prstGeom>
          <a:noFill/>
          <a:ln w="9525">
            <a:solidFill>
              <a:srgbClr val="E4E4E4"/>
            </a:solidFill>
            <a:prstDash val="solid"/>
          </a:ln>
        </p:spPr>
      </p:sp>
      <p:sp>
        <p:nvSpPr>
          <p:cNvPr id="15" name="Text 12"/>
          <p:cNvSpPr txBox="1"/>
          <p:nvPr/>
        </p:nvSpPr>
        <p:spPr>
          <a:xfrm>
            <a:off x="4379976" y="547725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60</a:t>
            </a:r>
            <a:endParaRPr lang="en-US" sz="1050" dirty="0"/>
          </a:p>
        </p:txBody>
      </p:sp>
      <p:sp>
        <p:nvSpPr>
          <p:cNvPr id="16" name="Shape 13"/>
          <p:cNvSpPr/>
          <p:nvPr/>
        </p:nvSpPr>
        <p:spPr>
          <a:xfrm>
            <a:off x="5458968" y="2286000"/>
            <a:ext cx="0" cy="3154680"/>
          </a:xfrm>
          <a:prstGeom prst="line">
            <a:avLst/>
          </a:prstGeom>
          <a:noFill/>
          <a:ln w="9525">
            <a:solidFill>
              <a:srgbClr val="E4E4E4"/>
            </a:solidFill>
            <a:prstDash val="solid"/>
          </a:ln>
        </p:spPr>
      </p:sp>
      <p:sp>
        <p:nvSpPr>
          <p:cNvPr id="17" name="Text 14"/>
          <p:cNvSpPr txBox="1"/>
          <p:nvPr/>
        </p:nvSpPr>
        <p:spPr>
          <a:xfrm>
            <a:off x="5138928" y="547725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80</a:t>
            </a:r>
            <a:endParaRPr lang="en-US" sz="1050" dirty="0"/>
          </a:p>
        </p:txBody>
      </p:sp>
      <p:sp>
        <p:nvSpPr>
          <p:cNvPr id="18" name="Shape 15"/>
          <p:cNvSpPr/>
          <p:nvPr/>
        </p:nvSpPr>
        <p:spPr>
          <a:xfrm>
            <a:off x="6217920" y="2286000"/>
            <a:ext cx="0" cy="3154680"/>
          </a:xfrm>
          <a:prstGeom prst="line">
            <a:avLst/>
          </a:prstGeom>
          <a:noFill/>
          <a:ln w="9525">
            <a:solidFill>
              <a:srgbClr val="E4E4E4"/>
            </a:solidFill>
            <a:prstDash val="solid"/>
          </a:ln>
        </p:spPr>
      </p:sp>
      <p:sp>
        <p:nvSpPr>
          <p:cNvPr id="19" name="Text 16"/>
          <p:cNvSpPr txBox="1"/>
          <p:nvPr/>
        </p:nvSpPr>
        <p:spPr>
          <a:xfrm>
            <a:off x="5897880" y="5477256"/>
            <a:ext cx="640080" cy="237744"/>
          </a:xfrm>
          <a:prstGeom prst="rect">
            <a:avLst/>
          </a:prstGeom>
          <a:noFill/>
          <a:ln/>
        </p:spPr>
        <p:txBody>
          <a:bodyPr wrap="square" lIns="0" tIns="0" rIns="0" bIns="0" rtlCol="0" anchor="t"/>
          <a:lstStyle/>
          <a:p>
            <a:pPr algn="ctr" indent="0" marL="0">
              <a:buNone/>
            </a:pPr>
            <a:r>
              <a:rPr lang="en-US" sz="1050" dirty="0">
                <a:solidFill>
                  <a:srgbClr val="6B6B6B"/>
                </a:solidFill>
                <a:latin typeface="Calibri" pitchFamily="34" charset="0"/>
                <a:ea typeface="Calibri" pitchFamily="34" charset="-122"/>
                <a:cs typeface="Calibri" pitchFamily="34" charset="-120"/>
              </a:rPr>
              <a:t>100</a:t>
            </a:r>
            <a:endParaRPr lang="en-US" sz="1050" dirty="0"/>
          </a:p>
        </p:txBody>
      </p:sp>
      <p:sp>
        <p:nvSpPr>
          <p:cNvPr id="20" name="Text 17"/>
          <p:cNvSpPr txBox="1"/>
          <p:nvPr/>
        </p:nvSpPr>
        <p:spPr>
          <a:xfrm>
            <a:off x="457200" y="2500884"/>
            <a:ext cx="1828800" cy="438912"/>
          </a:xfrm>
          <a:prstGeom prst="rect">
            <a:avLst/>
          </a:prstGeom>
          <a:noFill/>
          <a:ln/>
        </p:spPr>
        <p:txBody>
          <a:bodyPr wrap="square" lIns="0" tIns="0" rIns="0" bIns="0" rtlCol="0" anchor="ctr"/>
          <a:lstStyle/>
          <a:p>
            <a:pPr algn="r" indent="0" marL="0">
              <a:buNone/>
            </a:pPr>
            <a:r>
              <a:rPr lang="en-US" sz="1250" dirty="0">
                <a:solidFill>
                  <a:srgbClr val="1F1F1F"/>
                </a:solidFill>
                <a:latin typeface="Calibri" pitchFamily="34" charset="0"/>
                <a:ea typeface="Calibri" pitchFamily="34" charset="-122"/>
                <a:cs typeface="Calibri" pitchFamily="34" charset="-120"/>
              </a:rPr>
              <a:t>DCF</a:t>
            </a:r>
            <a:endParaRPr lang="en-US" sz="1250" dirty="0"/>
          </a:p>
        </p:txBody>
      </p:sp>
      <p:sp>
        <p:nvSpPr>
          <p:cNvPr id="21" name="Shape 18"/>
          <p:cNvSpPr/>
          <p:nvPr/>
        </p:nvSpPr>
        <p:spPr>
          <a:xfrm>
            <a:off x="3467515" y="2541575"/>
            <a:ext cx="1111029" cy="357530"/>
          </a:xfrm>
          <a:prstGeom prst="rect">
            <a:avLst/>
          </a:prstGeom>
          <a:solidFill>
            <a:srgbClr val="404040"/>
          </a:solidFill>
          <a:ln w="6350">
            <a:solidFill>
              <a:srgbClr val="404040"/>
            </a:solidFill>
            <a:prstDash val="solid"/>
          </a:ln>
        </p:spPr>
      </p:sp>
      <p:sp>
        <p:nvSpPr>
          <p:cNvPr id="22" name="Text 19"/>
          <p:cNvSpPr txBox="1"/>
          <p:nvPr/>
        </p:nvSpPr>
        <p:spPr>
          <a:xfrm>
            <a:off x="2809147" y="258318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27,5</a:t>
            </a:r>
            <a:endParaRPr lang="en-US" sz="1100" dirty="0"/>
          </a:p>
        </p:txBody>
      </p:sp>
      <p:sp>
        <p:nvSpPr>
          <p:cNvPr id="23" name="Text 20"/>
          <p:cNvSpPr txBox="1"/>
          <p:nvPr/>
        </p:nvSpPr>
        <p:spPr>
          <a:xfrm>
            <a:off x="4633408" y="258318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56,8</a:t>
            </a:r>
            <a:endParaRPr lang="en-US" sz="1100" dirty="0"/>
          </a:p>
        </p:txBody>
      </p:sp>
      <p:sp>
        <p:nvSpPr>
          <p:cNvPr id="24" name="Shape 21"/>
          <p:cNvSpPr/>
          <p:nvPr/>
        </p:nvSpPr>
        <p:spPr>
          <a:xfrm>
            <a:off x="3900679" y="2495855"/>
            <a:ext cx="0" cy="448970"/>
          </a:xfrm>
          <a:prstGeom prst="line">
            <a:avLst/>
          </a:prstGeom>
          <a:noFill/>
          <a:ln w="28575">
            <a:solidFill>
              <a:srgbClr val="FFFFFF"/>
            </a:solidFill>
            <a:prstDash val="solid"/>
          </a:ln>
        </p:spPr>
      </p:sp>
      <p:sp>
        <p:nvSpPr>
          <p:cNvPr id="25" name="Text 22"/>
          <p:cNvSpPr txBox="1"/>
          <p:nvPr/>
        </p:nvSpPr>
        <p:spPr>
          <a:xfrm>
            <a:off x="3626359" y="2917393"/>
            <a:ext cx="548640" cy="228600"/>
          </a:xfrm>
          <a:prstGeom prst="rect">
            <a:avLst/>
          </a:prstGeom>
          <a:solidFill>
            <a:srgbClr val="FFFFFF"/>
          </a:solidFill>
          <a:ln/>
        </p:spPr>
        <p:txBody>
          <a:bodyPr wrap="square" lIns="0" tIns="0" rIns="0" bIns="0" rtlCol="0" anchor="ctr"/>
          <a:lstStyle/>
          <a:p>
            <a:pPr algn="ctr" indent="0" marL="0">
              <a:buNone/>
            </a:pPr>
            <a:r>
              <a:rPr lang="en-US" sz="1150" b="1" dirty="0">
                <a:solidFill>
                  <a:srgbClr val="1F1F1F"/>
                </a:solidFill>
                <a:latin typeface="Calibri" pitchFamily="34" charset="0"/>
                <a:ea typeface="Calibri" pitchFamily="34" charset="-122"/>
                <a:cs typeface="Calibri" pitchFamily="34" charset="-120"/>
              </a:rPr>
              <a:t>38,9</a:t>
            </a:r>
            <a:endParaRPr lang="en-US" sz="1150" dirty="0"/>
          </a:p>
        </p:txBody>
      </p:sp>
      <p:sp>
        <p:nvSpPr>
          <p:cNvPr id="26" name="Text 23"/>
          <p:cNvSpPr txBox="1"/>
          <p:nvPr/>
        </p:nvSpPr>
        <p:spPr>
          <a:xfrm>
            <a:off x="457200" y="3278124"/>
            <a:ext cx="1828800" cy="438912"/>
          </a:xfrm>
          <a:prstGeom prst="rect">
            <a:avLst/>
          </a:prstGeom>
          <a:noFill/>
          <a:ln/>
        </p:spPr>
        <p:txBody>
          <a:bodyPr wrap="square" lIns="0" tIns="0" rIns="0" bIns="0" rtlCol="0" anchor="ctr"/>
          <a:lstStyle/>
          <a:p>
            <a:pPr algn="r" indent="0" marL="0">
              <a:buNone/>
            </a:pPr>
            <a:r>
              <a:rPr lang="en-US" sz="1250" dirty="0">
                <a:solidFill>
                  <a:srgbClr val="1F1F1F"/>
                </a:solidFill>
                <a:latin typeface="Calibri" pitchFamily="34" charset="0"/>
                <a:ea typeface="Calibri" pitchFamily="34" charset="-122"/>
                <a:cs typeface="Calibri" pitchFamily="34" charset="-120"/>
              </a:rPr>
              <a:t>VC Method</a:t>
            </a:r>
            <a:endParaRPr lang="en-US" sz="1250" dirty="0"/>
          </a:p>
        </p:txBody>
      </p:sp>
      <p:sp>
        <p:nvSpPr>
          <p:cNvPr id="27" name="Shape 24"/>
          <p:cNvSpPr/>
          <p:nvPr/>
        </p:nvSpPr>
        <p:spPr>
          <a:xfrm>
            <a:off x="2839863" y="3318815"/>
            <a:ext cx="1104393" cy="357530"/>
          </a:xfrm>
          <a:prstGeom prst="rect">
            <a:avLst/>
          </a:prstGeom>
          <a:solidFill>
            <a:srgbClr val="A3A3A3"/>
          </a:solidFill>
          <a:ln w="6350">
            <a:solidFill>
              <a:srgbClr val="A3A3A3"/>
            </a:solidFill>
            <a:prstDash val="solid"/>
          </a:ln>
        </p:spPr>
      </p:sp>
      <p:sp>
        <p:nvSpPr>
          <p:cNvPr id="28" name="Text 25"/>
          <p:cNvSpPr txBox="1"/>
          <p:nvPr/>
        </p:nvSpPr>
        <p:spPr>
          <a:xfrm>
            <a:off x="2181495" y="336042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11,0</a:t>
            </a:r>
            <a:endParaRPr lang="en-US" sz="1100" dirty="0"/>
          </a:p>
        </p:txBody>
      </p:sp>
      <p:sp>
        <p:nvSpPr>
          <p:cNvPr id="29" name="Text 26"/>
          <p:cNvSpPr txBox="1"/>
          <p:nvPr/>
        </p:nvSpPr>
        <p:spPr>
          <a:xfrm>
            <a:off x="3999120" y="336042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40,1</a:t>
            </a:r>
            <a:endParaRPr lang="en-US" sz="1100" dirty="0"/>
          </a:p>
        </p:txBody>
      </p:sp>
      <p:sp>
        <p:nvSpPr>
          <p:cNvPr id="30" name="Shape 27"/>
          <p:cNvSpPr/>
          <p:nvPr/>
        </p:nvSpPr>
        <p:spPr>
          <a:xfrm>
            <a:off x="3362477" y="3273095"/>
            <a:ext cx="0" cy="448970"/>
          </a:xfrm>
          <a:prstGeom prst="line">
            <a:avLst/>
          </a:prstGeom>
          <a:noFill/>
          <a:ln w="28575">
            <a:solidFill>
              <a:srgbClr val="FFFFFF"/>
            </a:solidFill>
            <a:prstDash val="solid"/>
          </a:ln>
        </p:spPr>
      </p:sp>
      <p:sp>
        <p:nvSpPr>
          <p:cNvPr id="31" name="Text 28"/>
          <p:cNvSpPr txBox="1"/>
          <p:nvPr/>
        </p:nvSpPr>
        <p:spPr>
          <a:xfrm>
            <a:off x="3088157" y="3694633"/>
            <a:ext cx="548640" cy="228600"/>
          </a:xfrm>
          <a:prstGeom prst="rect">
            <a:avLst/>
          </a:prstGeom>
          <a:solidFill>
            <a:srgbClr val="FFFFFF"/>
          </a:solidFill>
          <a:ln/>
        </p:spPr>
        <p:txBody>
          <a:bodyPr wrap="square" lIns="0" tIns="0" rIns="0" bIns="0" rtlCol="0" anchor="ctr"/>
          <a:lstStyle/>
          <a:p>
            <a:pPr algn="ctr" indent="0" marL="0">
              <a:buNone/>
            </a:pPr>
            <a:r>
              <a:rPr lang="en-US" sz="1150" b="1" dirty="0">
                <a:solidFill>
                  <a:srgbClr val="1F1F1F"/>
                </a:solidFill>
                <a:latin typeface="Calibri" pitchFamily="34" charset="0"/>
                <a:ea typeface="Calibri" pitchFamily="34" charset="-122"/>
                <a:cs typeface="Calibri" pitchFamily="34" charset="-120"/>
              </a:rPr>
              <a:t>24,8</a:t>
            </a:r>
            <a:endParaRPr lang="en-US" sz="1150" dirty="0"/>
          </a:p>
        </p:txBody>
      </p:sp>
      <p:sp>
        <p:nvSpPr>
          <p:cNvPr id="32" name="Text 29"/>
          <p:cNvSpPr txBox="1"/>
          <p:nvPr/>
        </p:nvSpPr>
        <p:spPr>
          <a:xfrm>
            <a:off x="457200" y="4055364"/>
            <a:ext cx="1828800" cy="438912"/>
          </a:xfrm>
          <a:prstGeom prst="rect">
            <a:avLst/>
          </a:prstGeom>
          <a:noFill/>
          <a:ln/>
        </p:spPr>
        <p:txBody>
          <a:bodyPr wrap="square" lIns="0" tIns="0" rIns="0" bIns="0" rtlCol="0" anchor="ctr"/>
          <a:lstStyle/>
          <a:p>
            <a:pPr algn="r" indent="0" marL="0">
              <a:buNone/>
            </a:pPr>
            <a:r>
              <a:rPr lang="en-US" sz="1250" dirty="0">
                <a:solidFill>
                  <a:srgbClr val="1F1F1F"/>
                </a:solidFill>
                <a:latin typeface="Calibri" pitchFamily="34" charset="0"/>
                <a:ea typeface="Calibri" pitchFamily="34" charset="-122"/>
                <a:cs typeface="Calibri" pitchFamily="34" charset="-120"/>
              </a:rPr>
              <a:t>Bội số EV/EBITDA 26E</a:t>
            </a:r>
            <a:endParaRPr lang="en-US" sz="1250" dirty="0"/>
          </a:p>
        </p:txBody>
      </p:sp>
      <p:sp>
        <p:nvSpPr>
          <p:cNvPr id="33" name="Shape 30"/>
          <p:cNvSpPr/>
          <p:nvPr/>
        </p:nvSpPr>
        <p:spPr>
          <a:xfrm>
            <a:off x="4936082" y="4096055"/>
            <a:ext cx="993607" cy="357530"/>
          </a:xfrm>
          <a:prstGeom prst="rect">
            <a:avLst/>
          </a:prstGeom>
          <a:solidFill>
            <a:srgbClr val="D0D0D0"/>
          </a:solidFill>
          <a:ln w="6350">
            <a:solidFill>
              <a:srgbClr val="D0D0D0"/>
            </a:solidFill>
            <a:prstDash val="solid"/>
          </a:ln>
        </p:spPr>
      </p:sp>
      <p:sp>
        <p:nvSpPr>
          <p:cNvPr id="34" name="Text 31"/>
          <p:cNvSpPr txBox="1"/>
          <p:nvPr/>
        </p:nvSpPr>
        <p:spPr>
          <a:xfrm>
            <a:off x="4277714" y="413766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66,2</a:t>
            </a:r>
            <a:endParaRPr lang="en-US" sz="1100" dirty="0"/>
          </a:p>
        </p:txBody>
      </p:sp>
      <p:sp>
        <p:nvSpPr>
          <p:cNvPr id="35" name="Text 32"/>
          <p:cNvSpPr txBox="1"/>
          <p:nvPr/>
        </p:nvSpPr>
        <p:spPr>
          <a:xfrm>
            <a:off x="5984554" y="413766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92,4</a:t>
            </a:r>
            <a:endParaRPr lang="en-US" sz="1100" dirty="0"/>
          </a:p>
        </p:txBody>
      </p:sp>
      <p:sp>
        <p:nvSpPr>
          <p:cNvPr id="36" name="Text 33"/>
          <p:cNvSpPr txBox="1"/>
          <p:nvPr/>
        </p:nvSpPr>
        <p:spPr>
          <a:xfrm>
            <a:off x="457200" y="4832604"/>
            <a:ext cx="1828800" cy="438912"/>
          </a:xfrm>
          <a:prstGeom prst="rect">
            <a:avLst/>
          </a:prstGeom>
          <a:noFill/>
          <a:ln/>
        </p:spPr>
        <p:txBody>
          <a:bodyPr wrap="square" lIns="0" tIns="0" rIns="0" bIns="0" rtlCol="0" anchor="ctr"/>
          <a:lstStyle/>
          <a:p>
            <a:pPr algn="r" indent="0" marL="0">
              <a:buNone/>
            </a:pPr>
            <a:r>
              <a:rPr lang="en-US" sz="1250" b="1" dirty="0">
                <a:solidFill>
                  <a:srgbClr val="1F1F1F"/>
                </a:solidFill>
                <a:latin typeface="Calibri" pitchFamily="34" charset="0"/>
                <a:ea typeface="Calibri" pitchFamily="34" charset="-122"/>
                <a:cs typeface="Calibri" pitchFamily="34" charset="-120"/>
              </a:rPr>
              <a:t>Khuyến nghị</a:t>
            </a:r>
            <a:endParaRPr lang="en-US" sz="1250" dirty="0"/>
          </a:p>
        </p:txBody>
      </p:sp>
      <p:sp>
        <p:nvSpPr>
          <p:cNvPr id="37" name="Shape 34"/>
          <p:cNvSpPr/>
          <p:nvPr/>
        </p:nvSpPr>
        <p:spPr>
          <a:xfrm>
            <a:off x="3153689" y="4873295"/>
            <a:ext cx="1107711" cy="357530"/>
          </a:xfrm>
          <a:prstGeom prst="rect">
            <a:avLst/>
          </a:prstGeom>
          <a:solidFill>
            <a:srgbClr val="7B1E2B"/>
          </a:solidFill>
          <a:ln w="6350">
            <a:solidFill>
              <a:srgbClr val="7B1E2B"/>
            </a:solidFill>
            <a:prstDash val="solid"/>
          </a:ln>
        </p:spPr>
      </p:sp>
      <p:sp>
        <p:nvSpPr>
          <p:cNvPr id="38" name="Text 35"/>
          <p:cNvSpPr txBox="1"/>
          <p:nvPr/>
        </p:nvSpPr>
        <p:spPr>
          <a:xfrm>
            <a:off x="2495321" y="4914900"/>
            <a:ext cx="603504" cy="274320"/>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19,3</a:t>
            </a:r>
            <a:endParaRPr lang="en-US" sz="1100" dirty="0"/>
          </a:p>
        </p:txBody>
      </p:sp>
      <p:sp>
        <p:nvSpPr>
          <p:cNvPr id="39" name="Text 36"/>
          <p:cNvSpPr txBox="1"/>
          <p:nvPr/>
        </p:nvSpPr>
        <p:spPr>
          <a:xfrm>
            <a:off x="4316264" y="4914900"/>
            <a:ext cx="6400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48,4</a:t>
            </a:r>
            <a:endParaRPr lang="en-US" sz="1100" dirty="0"/>
          </a:p>
        </p:txBody>
      </p:sp>
      <p:sp>
        <p:nvSpPr>
          <p:cNvPr id="40" name="Shape 37"/>
          <p:cNvSpPr/>
          <p:nvPr/>
        </p:nvSpPr>
        <p:spPr>
          <a:xfrm>
            <a:off x="3631578" y="4827575"/>
            <a:ext cx="0" cy="448970"/>
          </a:xfrm>
          <a:prstGeom prst="line">
            <a:avLst/>
          </a:prstGeom>
          <a:noFill/>
          <a:ln w="28575">
            <a:solidFill>
              <a:srgbClr val="FFFFFF"/>
            </a:solidFill>
            <a:prstDash val="solid"/>
          </a:ln>
        </p:spPr>
      </p:sp>
      <p:sp>
        <p:nvSpPr>
          <p:cNvPr id="41" name="Text 38"/>
          <p:cNvSpPr txBox="1"/>
          <p:nvPr/>
        </p:nvSpPr>
        <p:spPr>
          <a:xfrm>
            <a:off x="3357258" y="5249113"/>
            <a:ext cx="548640" cy="228600"/>
          </a:xfrm>
          <a:prstGeom prst="rect">
            <a:avLst/>
          </a:prstGeom>
          <a:solidFill>
            <a:srgbClr val="FFFFFF"/>
          </a:solidFill>
          <a:ln/>
        </p:spPr>
        <p:txBody>
          <a:bodyPr wrap="square" lIns="0" tIns="0" rIns="0" bIns="0" rtlCol="0" anchor="ctr"/>
          <a:lstStyle/>
          <a:p>
            <a:pPr algn="ctr" indent="0" marL="0">
              <a:buNone/>
            </a:pPr>
            <a:r>
              <a:rPr lang="en-US" sz="1150" b="1" dirty="0">
                <a:solidFill>
                  <a:srgbClr val="1F1F1F"/>
                </a:solidFill>
                <a:latin typeface="Calibri" pitchFamily="34" charset="0"/>
                <a:ea typeface="Calibri" pitchFamily="34" charset="-122"/>
                <a:cs typeface="Calibri" pitchFamily="34" charset="-120"/>
              </a:rPr>
              <a:t>31,8</a:t>
            </a:r>
            <a:endParaRPr lang="en-US" sz="1150" dirty="0"/>
          </a:p>
        </p:txBody>
      </p:sp>
      <p:sp>
        <p:nvSpPr>
          <p:cNvPr id="42" name="Shape 39"/>
          <p:cNvSpPr/>
          <p:nvPr/>
        </p:nvSpPr>
        <p:spPr>
          <a:xfrm>
            <a:off x="3850398" y="2148840"/>
            <a:ext cx="0" cy="3291840"/>
          </a:xfrm>
          <a:prstGeom prst="line">
            <a:avLst/>
          </a:prstGeom>
          <a:noFill/>
          <a:ln w="15875">
            <a:solidFill>
              <a:srgbClr val="5A1520"/>
            </a:solidFill>
            <a:prstDash val="dash"/>
          </a:ln>
        </p:spPr>
      </p:sp>
      <p:sp>
        <p:nvSpPr>
          <p:cNvPr id="43" name="Text 40"/>
          <p:cNvSpPr txBox="1"/>
          <p:nvPr/>
        </p:nvSpPr>
        <p:spPr>
          <a:xfrm>
            <a:off x="3905262" y="2020824"/>
            <a:ext cx="2926080" cy="237744"/>
          </a:xfrm>
          <a:prstGeom prst="rect">
            <a:avLst/>
          </a:prstGeom>
          <a:noFill/>
          <a:ln/>
        </p:spPr>
        <p:txBody>
          <a:bodyPr wrap="square" lIns="0" tIns="0" rIns="0" bIns="0" rtlCol="0" anchor="t"/>
          <a:lstStyle/>
          <a:p>
            <a:pPr indent="0" marL="0">
              <a:buNone/>
            </a:pPr>
            <a:r>
              <a:rPr lang="en-US" sz="1100" b="1" dirty="0">
                <a:solidFill>
                  <a:srgbClr val="5A1520"/>
                </a:solidFill>
                <a:latin typeface="Calibri" pitchFamily="34" charset="0"/>
                <a:ea typeface="Calibri" pitchFamily="34" charset="-122"/>
                <a:cs typeface="Calibri" pitchFamily="34" charset="-120"/>
              </a:rPr>
              <a:t>Vốn cổ phần cần gọi: 37,6</a:t>
            </a:r>
            <a:endParaRPr lang="en-US" sz="1100" dirty="0"/>
          </a:p>
        </p:txBody>
      </p:sp>
      <p:sp>
        <p:nvSpPr>
          <p:cNvPr id="44" name="Text 41"/>
          <p:cNvSpPr txBox="1"/>
          <p:nvPr/>
        </p:nvSpPr>
        <p:spPr>
          <a:xfrm>
            <a:off x="457200" y="5897880"/>
            <a:ext cx="6400800" cy="274320"/>
          </a:xfrm>
          <a:prstGeom prst="rect">
            <a:avLst/>
          </a:prstGeom>
          <a:noFill/>
          <a:ln/>
        </p:spPr>
        <p:txBody>
          <a:bodyPr wrap="square" lIns="0" tIns="0" rIns="0" bIns="0" rtlCol="0" anchor="t"/>
          <a:lstStyle/>
          <a:p>
            <a:pPr indent="0" marL="0">
              <a:buNone/>
            </a:pPr>
            <a:r>
              <a:rPr lang="en-US" sz="1100" i="1" dirty="0">
                <a:solidFill>
                  <a:srgbClr val="6B6B6B"/>
                </a:solidFill>
                <a:latin typeface="Calibri" pitchFamily="34" charset="0"/>
                <a:ea typeface="Calibri" pitchFamily="34" charset="-122"/>
                <a:cs typeface="Calibri" pitchFamily="34" charset="-120"/>
              </a:rPr>
              <a:t>Bội số EV/EBITDA chỉ để đối chiếu: bỏ qua gần 69 tỷ vốn cần cho nhà máy.</a:t>
            </a:r>
            <a:endParaRPr lang="en-US" sz="1100" dirty="0"/>
          </a:p>
        </p:txBody>
      </p:sp>
      <p:sp>
        <p:nvSpPr>
          <p:cNvPr id="45" name="Text 42"/>
          <p:cNvSpPr txBox="1"/>
          <p:nvPr/>
        </p:nvSpPr>
        <p:spPr>
          <a:xfrm>
            <a:off x="7178040" y="1572768"/>
            <a:ext cx="45720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Kết quả theo kịch bản</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178040" y="1901952"/>
          <a:ext cx="4553712" cy="914400"/>
        </p:xfrm>
        <a:graphic>
          <a:graphicData uri="http://schemas.openxmlformats.org/drawingml/2006/table">
            <a:tbl>
              <a:tblPr/>
              <a:tblGrid>
                <a:gridCol w="1700784"/>
                <a:gridCol w="713232"/>
                <a:gridCol w="713232"/>
                <a:gridCol w="713232"/>
                <a:gridCol w="713232"/>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Chỉ tiêu</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Bear</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Bull</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Trễ 2028</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r>
              <a:tr h="384048">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Doanh thu 2030E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170,3</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116,9</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214,8</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174,7</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84048">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Biên EBITDA 2030E</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20,2%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13,5%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23,7%</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20,6%</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84048">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Pre-money DCF</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38,9</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(25,9)</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97,4</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31,9</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84048">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Pre-money VC Method</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24,8</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68,0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384048">
                <a:tc>
                  <a:txBody>
                    <a:bodyPr/>
                    <a:lstStyle/>
                    <a:p>
                      <a:pPr algn="l" indent="0" marL="0">
                        <a:buNone/>
                      </a:pPr>
                      <a:r>
                        <a:rPr lang="en-US" sz="1200" b="1" dirty="0">
                          <a:solidFill>
                            <a:srgbClr val="7B1E2B"/>
                          </a:solidFill>
                          <a:latin typeface="Calibri" pitchFamily="34" charset="0"/>
                          <a:ea typeface="Calibri" pitchFamily="34" charset="-122"/>
                          <a:cs typeface="Calibri" pitchFamily="34" charset="-120"/>
                        </a:rPr>
                        <a:t>Pre-money bình quân</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31,8</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82,7</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c>
                  <a:txBody>
                    <a:bodyPr/>
                    <a:lstStyle/>
                    <a:p>
                      <a:pPr algn="r" indent="0" marL="0">
                        <a:buNone/>
                      </a:pPr>
                      <a:r>
                        <a:rPr lang="en-US" sz="1200" b="1" dirty="0">
                          <a:solidFill>
                            <a:srgbClr val="7B1E2B"/>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6EDEF"/>
                    </a:solidFill>
                  </a:tcPr>
                </a:tc>
              </a:tr>
              <a:tr h="384048">
                <a:tc>
                  <a:txBody>
                    <a:bodyPr/>
                    <a:lstStyle/>
                    <a:p>
                      <a:pPr algn="l" indent="0" marL="0">
                        <a:buNone/>
                      </a:pPr>
                      <a:r>
                        <a:rPr lang="en-US" sz="1200" dirty="0">
                          <a:solidFill>
                            <a:srgbClr val="3A3A3A"/>
                          </a:solidFill>
                          <a:latin typeface="Calibri" pitchFamily="34" charset="0"/>
                          <a:ea typeface="Calibri" pitchFamily="34" charset="-122"/>
                          <a:cs typeface="Calibri" pitchFamily="34" charset="-120"/>
                        </a:rPr>
                        <a:t>Tỷ lệ NĐT (gọi 1 lần)</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54,2%</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n.m.</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r" indent="0" marL="0">
                        <a:buNone/>
                      </a:pPr>
                      <a:r>
                        <a:rPr lang="en-US" sz="1200" dirty="0">
                          <a:solidFill>
                            <a:srgbClr val="3A3A3A"/>
                          </a:solidFill>
                          <a:latin typeface="Calibri" pitchFamily="34" charset="0"/>
                          <a:ea typeface="Calibri" pitchFamily="34" charset="-122"/>
                          <a:cs typeface="Calibri" pitchFamily="34" charset="-120"/>
                        </a:rPr>
                        <a:t>65,3%</a:t>
                      </a:r>
                      <a:endParaRPr lang="en-US" sz="120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bl>
          </a:graphicData>
        </a:graphic>
      </p:graphicFrame>
      <p:sp>
        <p:nvSpPr>
          <p:cNvPr id="47" name="Shape 43"/>
          <p:cNvSpPr/>
          <p:nvPr/>
        </p:nvSpPr>
        <p:spPr>
          <a:xfrm>
            <a:off x="7178040" y="4754880"/>
            <a:ext cx="4553712" cy="1417320"/>
          </a:xfrm>
          <a:prstGeom prst="rect">
            <a:avLst/>
          </a:prstGeom>
          <a:solidFill>
            <a:srgbClr val="F6EDEF"/>
          </a:solidFill>
          <a:ln w="6350">
            <a:solidFill>
              <a:srgbClr val="F6EDEF"/>
            </a:solidFill>
            <a:prstDash val="solid"/>
          </a:ln>
        </p:spPr>
      </p:sp>
      <p:sp>
        <p:nvSpPr>
          <p:cNvPr id="48" name="Text 44"/>
          <p:cNvSpPr txBox="1"/>
          <p:nvPr/>
        </p:nvSpPr>
        <p:spPr>
          <a:xfrm>
            <a:off x="7333488" y="4846320"/>
            <a:ext cx="4251960" cy="1234440"/>
          </a:xfrm>
          <a:prstGeom prst="rect">
            <a:avLst/>
          </a:prstGeom>
          <a:noFill/>
          <a:ln/>
        </p:spPr>
        <p:txBody>
          <a:bodyPr wrap="square" lIns="0" tIns="0" rIns="0" bIns="0" rtlCol="0" anchor="ctr"/>
          <a:lstStyle/>
          <a:p>
            <a:pPr indent="0" marL="0">
              <a:buNone/>
            </a:pPr>
            <a:r>
              <a:rPr lang="en-US" sz="1200" b="1" dirty="0">
                <a:solidFill>
                  <a:srgbClr val="7B1E2B"/>
                </a:solidFill>
                <a:latin typeface="Calibri" pitchFamily="34" charset="0"/>
                <a:ea typeface="Calibri" pitchFamily="34" charset="-122"/>
                <a:cs typeface="Calibri" pitchFamily="34" charset="-120"/>
              </a:rPr>
              <a:t>Bear: </a:t>
            </a:r>
            <a:pPr indent="0" marL="0">
              <a:buNone/>
            </a:pPr>
            <a:r>
              <a:rPr lang="en-US" sz="1200" dirty="0">
                <a:solidFill>
                  <a:srgbClr val="3A3A3A"/>
                </a:solidFill>
                <a:latin typeface="Calibri" pitchFamily="34" charset="0"/>
                <a:ea typeface="Calibri" pitchFamily="34" charset="-122"/>
                <a:cs typeface="Calibri" pitchFamily="34" charset="-120"/>
              </a:rPr>
              <a:t>sản lượng bằng 70% cơ sở, giá bán chỉ +1%/năm, chi phí biến đổi +1 điểm % → nhà máy 2027 phá hủy giá trị nếu cầu không đến. </a:t>
            </a:r>
            <a:pPr indent="0" marL="0">
              <a:buNone/>
            </a:pPr>
            <a:r>
              <a:rPr lang="en-US" sz="1200" b="1" dirty="0">
                <a:solidFill>
                  <a:srgbClr val="7B1E2B"/>
                </a:solidFill>
                <a:latin typeface="Calibri" pitchFamily="34" charset="0"/>
                <a:ea typeface="Calibri" pitchFamily="34" charset="-122"/>
                <a:cs typeface="Calibri" pitchFamily="34" charset="-120"/>
              </a:rPr>
              <a:t>Bull: </a:t>
            </a:r>
            <a:pPr indent="0" marL="0">
              <a:buNone/>
            </a:pPr>
            <a:r>
              <a:rPr lang="en-US" sz="1200" dirty="0">
                <a:solidFill>
                  <a:srgbClr val="3A3A3A"/>
                </a:solidFill>
                <a:latin typeface="Calibri" pitchFamily="34" charset="0"/>
                <a:ea typeface="Calibri" pitchFamily="34" charset="-122"/>
                <a:cs typeface="Calibri" pitchFamily="34" charset="-120"/>
              </a:rPr>
              <a:t>nhà đầu tư chỉ cần 28,5% cổ phần.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PHẦN 6 · KẾ HOẠCH HUY ĐỘNG VỐN</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Chia Series A hai đợt: founder giữ 50,5% và IRR kỳ vọng của nhà đầu tư tăng từ 11,4% lên 14,0%</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Mô hình (Summary, VCM); IRR kỳ vọng tính cả xác suất thất bại, giá trị thu hồi khi thất bại = 0</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640080" y="1938528"/>
            <a:ext cx="10911535" cy="0"/>
          </a:xfrm>
          <a:prstGeom prst="line">
            <a:avLst/>
          </a:prstGeom>
          <a:noFill/>
          <a:ln w="25400">
            <a:solidFill>
              <a:srgbClr val="A3A3A3"/>
            </a:solidFill>
            <a:prstDash val="solid"/>
          </a:ln>
        </p:spPr>
      </p:sp>
      <p:sp>
        <p:nvSpPr>
          <p:cNvPr id="8" name="Shape 5"/>
          <p:cNvSpPr/>
          <p:nvPr/>
        </p:nvSpPr>
        <p:spPr>
          <a:xfrm>
            <a:off x="521208" y="1819656"/>
            <a:ext cx="237744" cy="237744"/>
          </a:xfrm>
          <a:prstGeom prst="ellipse">
            <a:avLst/>
          </a:prstGeom>
          <a:solidFill>
            <a:srgbClr val="7B1E2B"/>
          </a:solidFill>
          <a:ln w="19050">
            <a:solidFill>
              <a:srgbClr val="FFFFFF"/>
            </a:solidFill>
            <a:prstDash val="solid"/>
          </a:ln>
        </p:spPr>
      </p:sp>
      <p:sp>
        <p:nvSpPr>
          <p:cNvPr id="9" name="Text 6"/>
          <p:cNvSpPr txBox="1"/>
          <p:nvPr/>
        </p:nvSpPr>
        <p:spPr>
          <a:xfrm>
            <a:off x="457200" y="1481328"/>
            <a:ext cx="1783080" cy="274320"/>
          </a:xfrm>
          <a:prstGeom prst="rect">
            <a:avLst/>
          </a:prstGeom>
          <a:noFill/>
          <a:ln/>
        </p:spPr>
        <p:txBody>
          <a:bodyPr wrap="square" lIns="0" tIns="0" rIns="0" bIns="0" rtlCol="0" anchor="t"/>
          <a:lstStyle/>
          <a:p>
            <a:pPr algn="l" indent="0" marL="0">
              <a:buNone/>
            </a:pPr>
            <a:r>
              <a:rPr lang="en-US" sz="1200" b="1" dirty="0">
                <a:solidFill>
                  <a:srgbClr val="6B6B6B"/>
                </a:solidFill>
                <a:latin typeface="Calibri" pitchFamily="34" charset="0"/>
                <a:ea typeface="Calibri" pitchFamily="34" charset="-122"/>
                <a:cs typeface="Calibri" pitchFamily="34" charset="-120"/>
              </a:rPr>
              <a:t>Q1/2026</a:t>
            </a:r>
            <a:endParaRPr lang="en-US" sz="1200" dirty="0"/>
          </a:p>
        </p:txBody>
      </p:sp>
      <p:sp>
        <p:nvSpPr>
          <p:cNvPr id="10" name="Text 7"/>
          <p:cNvSpPr txBox="1"/>
          <p:nvPr/>
        </p:nvSpPr>
        <p:spPr>
          <a:xfrm>
            <a:off x="457200" y="2157984"/>
            <a:ext cx="1783080" cy="292608"/>
          </a:xfrm>
          <a:prstGeom prst="rect">
            <a:avLst/>
          </a:prstGeom>
          <a:noFill/>
          <a:ln/>
        </p:spPr>
        <p:txBody>
          <a:bodyPr wrap="square" lIns="0" tIns="0" rIns="0" bIns="0" rtlCol="0" anchor="t"/>
          <a:lstStyle/>
          <a:p>
            <a:pPr algn="l" indent="0" marL="0">
              <a:buNone/>
            </a:pPr>
            <a:r>
              <a:rPr lang="en-US" sz="1350" b="1" dirty="0">
                <a:solidFill>
                  <a:srgbClr val="7B1E2B"/>
                </a:solidFill>
                <a:latin typeface="Calibri" pitchFamily="34" charset="0"/>
                <a:ea typeface="Calibri" pitchFamily="34" charset="-122"/>
                <a:cs typeface="Calibri" pitchFamily="34" charset="-120"/>
              </a:rPr>
              <a:t>Đợt 1: 20,7 tỷ</a:t>
            </a:r>
            <a:endParaRPr lang="en-US" sz="1350" dirty="0"/>
          </a:p>
        </p:txBody>
      </p:sp>
      <p:sp>
        <p:nvSpPr>
          <p:cNvPr id="11" name="Text 8"/>
          <p:cNvSpPr txBox="1"/>
          <p:nvPr/>
        </p:nvSpPr>
        <p:spPr>
          <a:xfrm>
            <a:off x="457200" y="2468880"/>
            <a:ext cx="1783080" cy="914400"/>
          </a:xfrm>
          <a:prstGeom prst="rect">
            <a:avLst/>
          </a:prstGeom>
          <a:noFill/>
          <a:ln/>
        </p:spPr>
        <p:txBody>
          <a:bodyPr wrap="square" lIns="0" tIns="0" rIns="0" bIns="0" rtlCol="0" anchor="t"/>
          <a:lstStyle/>
          <a:p>
            <a:pPr algn="l" indent="0" marL="0">
              <a:buNone/>
            </a:pPr>
            <a:r>
              <a:rPr lang="en-US" sz="1100" dirty="0">
                <a:solidFill>
                  <a:srgbClr val="3A3A3A"/>
                </a:solidFill>
                <a:latin typeface="Calibri" pitchFamily="34" charset="0"/>
                <a:ea typeface="Calibri" pitchFamily="34" charset="-122"/>
                <a:cs typeface="Calibri" pitchFamily="34" charset="-120"/>
              </a:rPr>
              <a:t>Pre-money 31,8 tỷ → NĐT 39,4%</a:t>
            </a:r>
            <a:endParaRPr lang="en-US" sz="1100" dirty="0"/>
          </a:p>
        </p:txBody>
      </p:sp>
      <p:sp>
        <p:nvSpPr>
          <p:cNvPr id="12" name="Shape 9"/>
          <p:cNvSpPr/>
          <p:nvPr/>
        </p:nvSpPr>
        <p:spPr>
          <a:xfrm>
            <a:off x="3249092" y="1819656"/>
            <a:ext cx="237744" cy="237744"/>
          </a:xfrm>
          <a:prstGeom prst="ellipse">
            <a:avLst/>
          </a:prstGeom>
          <a:solidFill>
            <a:srgbClr val="404040"/>
          </a:solidFill>
          <a:ln w="19050">
            <a:solidFill>
              <a:srgbClr val="FFFFFF"/>
            </a:solidFill>
            <a:prstDash val="solid"/>
          </a:ln>
        </p:spPr>
      </p:sp>
      <p:sp>
        <p:nvSpPr>
          <p:cNvPr id="13" name="Text 10"/>
          <p:cNvSpPr txBox="1"/>
          <p:nvPr/>
        </p:nvSpPr>
        <p:spPr>
          <a:xfrm>
            <a:off x="2453564" y="1481328"/>
            <a:ext cx="1828800" cy="274320"/>
          </a:xfrm>
          <a:prstGeom prst="rect">
            <a:avLst/>
          </a:prstGeom>
          <a:noFill/>
          <a:ln/>
        </p:spPr>
        <p:txBody>
          <a:bodyPr wrap="square" lIns="0" tIns="0" rIns="0" bIns="0" rtlCol="0" anchor="t"/>
          <a:lstStyle/>
          <a:p>
            <a:pPr algn="ctr" indent="0" marL="0">
              <a:buNone/>
            </a:pPr>
            <a:r>
              <a:rPr lang="en-US" sz="1200" b="1" dirty="0">
                <a:solidFill>
                  <a:srgbClr val="6B6B6B"/>
                </a:solidFill>
                <a:latin typeface="Calibri" pitchFamily="34" charset="0"/>
                <a:ea typeface="Calibri" pitchFamily="34" charset="-122"/>
                <a:cs typeface="Calibri" pitchFamily="34" charset="-120"/>
              </a:rPr>
              <a:t>2027</a:t>
            </a:r>
            <a:endParaRPr lang="en-US" sz="1200" dirty="0"/>
          </a:p>
        </p:txBody>
      </p:sp>
      <p:sp>
        <p:nvSpPr>
          <p:cNvPr id="14" name="Text 11"/>
          <p:cNvSpPr txBox="1"/>
          <p:nvPr/>
        </p:nvSpPr>
        <p:spPr>
          <a:xfrm>
            <a:off x="2453564" y="2157984"/>
            <a:ext cx="1828800" cy="292608"/>
          </a:xfrm>
          <a:prstGeom prst="rect">
            <a:avLst/>
          </a:prstGeom>
          <a:noFill/>
          <a:ln/>
        </p:spPr>
        <p:txBody>
          <a:bodyPr wrap="square" lIns="0" tIns="0" rIns="0" bIns="0" rtlCol="0" anchor="t"/>
          <a:lstStyle/>
          <a:p>
            <a:pPr algn="ctr" indent="0" marL="0">
              <a:buNone/>
            </a:pPr>
            <a:r>
              <a:rPr lang="en-US" sz="1350" b="1" dirty="0">
                <a:solidFill>
                  <a:srgbClr val="1F1F1F"/>
                </a:solidFill>
                <a:latin typeface="Calibri" pitchFamily="34" charset="0"/>
                <a:ea typeface="Calibri" pitchFamily="34" charset="-122"/>
                <a:cs typeface="Calibri" pitchFamily="34" charset="-120"/>
              </a:rPr>
              <a:t>Xây nhà máy</a:t>
            </a:r>
            <a:endParaRPr lang="en-US" sz="1350" dirty="0"/>
          </a:p>
        </p:txBody>
      </p:sp>
      <p:sp>
        <p:nvSpPr>
          <p:cNvPr id="15" name="Text 12"/>
          <p:cNvSpPr txBox="1"/>
          <p:nvPr/>
        </p:nvSpPr>
        <p:spPr>
          <a:xfrm>
            <a:off x="2453564" y="2468880"/>
            <a:ext cx="1828800" cy="914400"/>
          </a:xfrm>
          <a:prstGeom prst="rect">
            <a:avLst/>
          </a:prstGeom>
          <a:noFill/>
          <a:ln/>
        </p:spPr>
        <p:txBody>
          <a:bodyPr wrap="square" lIns="0" tIns="0" rIns="0" bIns="0" rtlCol="0" anchor="t"/>
          <a:lstStyle/>
          <a:p>
            <a:pPr algn="ctr" indent="0" marL="0">
              <a:buNone/>
            </a:pPr>
            <a:r>
              <a:rPr lang="en-US" sz="1100" dirty="0">
                <a:solidFill>
                  <a:srgbClr val="3A3A3A"/>
                </a:solidFill>
                <a:latin typeface="Calibri" pitchFamily="34" charset="0"/>
                <a:ea typeface="Calibri" pitchFamily="34" charset="-122"/>
                <a:cs typeface="Calibri" pitchFamily="34" charset="-120"/>
              </a:rPr>
              <a:t>CAPEX 51,8 tỷ; vay 31,1 tỷ, 7 năm, ân hạn gốc 2 năm</a:t>
            </a:r>
            <a:endParaRPr lang="en-US" sz="1100" dirty="0"/>
          </a:p>
        </p:txBody>
      </p:sp>
      <p:sp>
        <p:nvSpPr>
          <p:cNvPr id="16" name="Shape 13"/>
          <p:cNvSpPr/>
          <p:nvPr/>
        </p:nvSpPr>
        <p:spPr>
          <a:xfrm>
            <a:off x="5976976" y="1819656"/>
            <a:ext cx="237744" cy="237744"/>
          </a:xfrm>
          <a:prstGeom prst="ellipse">
            <a:avLst/>
          </a:prstGeom>
          <a:solidFill>
            <a:srgbClr val="404040"/>
          </a:solidFill>
          <a:ln w="19050">
            <a:solidFill>
              <a:srgbClr val="FFFFFF"/>
            </a:solidFill>
            <a:prstDash val="solid"/>
          </a:ln>
        </p:spPr>
      </p:sp>
      <p:sp>
        <p:nvSpPr>
          <p:cNvPr id="17" name="Text 14"/>
          <p:cNvSpPr txBox="1"/>
          <p:nvPr/>
        </p:nvSpPr>
        <p:spPr>
          <a:xfrm>
            <a:off x="5181448" y="1481328"/>
            <a:ext cx="1828800" cy="274320"/>
          </a:xfrm>
          <a:prstGeom prst="rect">
            <a:avLst/>
          </a:prstGeom>
          <a:noFill/>
          <a:ln/>
        </p:spPr>
        <p:txBody>
          <a:bodyPr wrap="square" lIns="0" tIns="0" rIns="0" bIns="0" rtlCol="0" anchor="t"/>
          <a:lstStyle/>
          <a:p>
            <a:pPr algn="ctr" indent="0" marL="0">
              <a:buNone/>
            </a:pPr>
            <a:r>
              <a:rPr lang="en-US" sz="1200" b="1" dirty="0">
                <a:solidFill>
                  <a:srgbClr val="6B6B6B"/>
                </a:solidFill>
                <a:latin typeface="Calibri" pitchFamily="34" charset="0"/>
                <a:ea typeface="Calibri" pitchFamily="34" charset="-122"/>
                <a:cs typeface="Calibri" pitchFamily="34" charset="-120"/>
              </a:rPr>
              <a:t>Q4/2027</a:t>
            </a:r>
            <a:endParaRPr lang="en-US" sz="1200" dirty="0"/>
          </a:p>
        </p:txBody>
      </p:sp>
      <p:sp>
        <p:nvSpPr>
          <p:cNvPr id="18" name="Text 15"/>
          <p:cNvSpPr txBox="1"/>
          <p:nvPr/>
        </p:nvSpPr>
        <p:spPr>
          <a:xfrm>
            <a:off x="5181448" y="2157984"/>
            <a:ext cx="1828800" cy="292608"/>
          </a:xfrm>
          <a:prstGeom prst="rect">
            <a:avLst/>
          </a:prstGeom>
          <a:noFill/>
          <a:ln/>
        </p:spPr>
        <p:txBody>
          <a:bodyPr wrap="square" lIns="0" tIns="0" rIns="0" bIns="0" rtlCol="0" anchor="t"/>
          <a:lstStyle/>
          <a:p>
            <a:pPr algn="ctr" indent="0" marL="0">
              <a:buNone/>
            </a:pPr>
            <a:r>
              <a:rPr lang="en-US" sz="1350" b="1" dirty="0">
                <a:solidFill>
                  <a:srgbClr val="1F1F1F"/>
                </a:solidFill>
                <a:latin typeface="Calibri" pitchFamily="34" charset="0"/>
                <a:ea typeface="Calibri" pitchFamily="34" charset="-122"/>
                <a:cs typeface="Calibri" pitchFamily="34" charset="-120"/>
              </a:rPr>
              <a:t>Mốc giải ngân đợt 2</a:t>
            </a:r>
            <a:endParaRPr lang="en-US" sz="1350" dirty="0"/>
          </a:p>
        </p:txBody>
      </p:sp>
      <p:sp>
        <p:nvSpPr>
          <p:cNvPr id="19" name="Text 16"/>
          <p:cNvSpPr txBox="1"/>
          <p:nvPr/>
        </p:nvSpPr>
        <p:spPr>
          <a:xfrm>
            <a:off x="5181448" y="2468880"/>
            <a:ext cx="1828800" cy="914400"/>
          </a:xfrm>
          <a:prstGeom prst="rect">
            <a:avLst/>
          </a:prstGeom>
          <a:noFill/>
          <a:ln/>
        </p:spPr>
        <p:txBody>
          <a:bodyPr wrap="square" lIns="0" tIns="0" rIns="0" bIns="0" rtlCol="0" anchor="t"/>
          <a:lstStyle/>
          <a:p>
            <a:pPr algn="ctr" indent="0" marL="0">
              <a:buNone/>
            </a:pPr>
            <a:r>
              <a:rPr lang="en-US" sz="1100" dirty="0">
                <a:solidFill>
                  <a:srgbClr val="3A3A3A"/>
                </a:solidFill>
                <a:latin typeface="Calibri" pitchFamily="34" charset="0"/>
                <a:ea typeface="Calibri" pitchFamily="34" charset="-122"/>
                <a:cs typeface="Calibri" pitchFamily="34" charset="-120"/>
              </a:rPr>
              <a:t>Vận hành thương mại; DT 2027 ≥ 75 tỷ; biên EBITDA ≥ 16%; hợp đồng bã mía; chứng nhận vật liệu</a:t>
            </a:r>
            <a:endParaRPr lang="en-US" sz="1100" dirty="0"/>
          </a:p>
        </p:txBody>
      </p:sp>
      <p:sp>
        <p:nvSpPr>
          <p:cNvPr id="20" name="Shape 17"/>
          <p:cNvSpPr/>
          <p:nvPr/>
        </p:nvSpPr>
        <p:spPr>
          <a:xfrm>
            <a:off x="8704859" y="1819656"/>
            <a:ext cx="237744" cy="237744"/>
          </a:xfrm>
          <a:prstGeom prst="ellipse">
            <a:avLst/>
          </a:prstGeom>
          <a:solidFill>
            <a:srgbClr val="7B1E2B"/>
          </a:solidFill>
          <a:ln w="19050">
            <a:solidFill>
              <a:srgbClr val="FFFFFF"/>
            </a:solidFill>
            <a:prstDash val="solid"/>
          </a:ln>
        </p:spPr>
      </p:sp>
      <p:sp>
        <p:nvSpPr>
          <p:cNvPr id="21" name="Text 18"/>
          <p:cNvSpPr txBox="1"/>
          <p:nvPr/>
        </p:nvSpPr>
        <p:spPr>
          <a:xfrm>
            <a:off x="7909331" y="1481328"/>
            <a:ext cx="1828800" cy="274320"/>
          </a:xfrm>
          <a:prstGeom prst="rect">
            <a:avLst/>
          </a:prstGeom>
          <a:noFill/>
          <a:ln/>
        </p:spPr>
        <p:txBody>
          <a:bodyPr wrap="square" lIns="0" tIns="0" rIns="0" bIns="0" rtlCol="0" anchor="t"/>
          <a:lstStyle/>
          <a:p>
            <a:pPr algn="ctr" indent="0" marL="0">
              <a:buNone/>
            </a:pPr>
            <a:r>
              <a:rPr lang="en-US" sz="1200" b="1" dirty="0">
                <a:solidFill>
                  <a:srgbClr val="6B6B6B"/>
                </a:solidFill>
                <a:latin typeface="Calibri" pitchFamily="34" charset="0"/>
                <a:ea typeface="Calibri" pitchFamily="34" charset="-122"/>
                <a:cs typeface="Calibri" pitchFamily="34" charset="-120"/>
              </a:rPr>
              <a:t>Cuối 2027</a:t>
            </a:r>
            <a:endParaRPr lang="en-US" sz="1200" dirty="0"/>
          </a:p>
        </p:txBody>
      </p:sp>
      <p:sp>
        <p:nvSpPr>
          <p:cNvPr id="22" name="Text 19"/>
          <p:cNvSpPr txBox="1"/>
          <p:nvPr/>
        </p:nvSpPr>
        <p:spPr>
          <a:xfrm>
            <a:off x="7909331" y="2157984"/>
            <a:ext cx="1828800" cy="292608"/>
          </a:xfrm>
          <a:prstGeom prst="rect">
            <a:avLst/>
          </a:prstGeom>
          <a:noFill/>
          <a:ln/>
        </p:spPr>
        <p:txBody>
          <a:bodyPr wrap="square" lIns="0" tIns="0" rIns="0" bIns="0" rtlCol="0" anchor="t"/>
          <a:lstStyle/>
          <a:p>
            <a:pPr algn="ctr" indent="0" marL="0">
              <a:buNone/>
            </a:pPr>
            <a:r>
              <a:rPr lang="en-US" sz="1350" b="1" dirty="0">
                <a:solidFill>
                  <a:srgbClr val="7B1E2B"/>
                </a:solidFill>
                <a:latin typeface="Calibri" pitchFamily="34" charset="0"/>
                <a:ea typeface="Calibri" pitchFamily="34" charset="-122"/>
                <a:cs typeface="Calibri" pitchFamily="34" charset="-120"/>
              </a:rPr>
              <a:t>Đợt 2: 16,9 tỷ</a:t>
            </a:r>
            <a:endParaRPr lang="en-US" sz="1350" dirty="0"/>
          </a:p>
        </p:txBody>
      </p:sp>
      <p:sp>
        <p:nvSpPr>
          <p:cNvPr id="23" name="Text 20"/>
          <p:cNvSpPr txBox="1"/>
          <p:nvPr/>
        </p:nvSpPr>
        <p:spPr>
          <a:xfrm>
            <a:off x="7909331" y="2468880"/>
            <a:ext cx="1828800" cy="914400"/>
          </a:xfrm>
          <a:prstGeom prst="rect">
            <a:avLst/>
          </a:prstGeom>
          <a:noFill/>
          <a:ln/>
        </p:spPr>
        <p:txBody>
          <a:bodyPr wrap="square" lIns="0" tIns="0" rIns="0" bIns="0" rtlCol="0" anchor="t"/>
          <a:lstStyle/>
          <a:p>
            <a:pPr algn="ctr" indent="0" marL="0">
              <a:buNone/>
            </a:pPr>
            <a:r>
              <a:rPr lang="en-US" sz="1100" dirty="0">
                <a:solidFill>
                  <a:srgbClr val="3A3A3A"/>
                </a:solidFill>
                <a:latin typeface="Calibri" pitchFamily="34" charset="0"/>
                <a:ea typeface="Calibri" pitchFamily="34" charset="-122"/>
                <a:cs typeface="Calibri" pitchFamily="34" charset="-120"/>
              </a:rPr>
              <a:t>Post-money 101 tỷ (z còn 25%) → thêm 16,8%</a:t>
            </a:r>
            <a:endParaRPr lang="en-US" sz="1100" dirty="0"/>
          </a:p>
        </p:txBody>
      </p:sp>
      <p:sp>
        <p:nvSpPr>
          <p:cNvPr id="24" name="Shape 21"/>
          <p:cNvSpPr/>
          <p:nvPr/>
        </p:nvSpPr>
        <p:spPr>
          <a:xfrm>
            <a:off x="11432743" y="1819656"/>
            <a:ext cx="237744" cy="237744"/>
          </a:xfrm>
          <a:prstGeom prst="ellipse">
            <a:avLst/>
          </a:prstGeom>
          <a:solidFill>
            <a:srgbClr val="404040"/>
          </a:solidFill>
          <a:ln w="19050">
            <a:solidFill>
              <a:srgbClr val="FFFFFF"/>
            </a:solidFill>
            <a:prstDash val="solid"/>
          </a:ln>
        </p:spPr>
      </p:sp>
      <p:sp>
        <p:nvSpPr>
          <p:cNvPr id="25" name="Text 22"/>
          <p:cNvSpPr txBox="1"/>
          <p:nvPr/>
        </p:nvSpPr>
        <p:spPr>
          <a:xfrm>
            <a:off x="9951415" y="1481328"/>
            <a:ext cx="1783080" cy="274320"/>
          </a:xfrm>
          <a:prstGeom prst="rect">
            <a:avLst/>
          </a:prstGeom>
          <a:noFill/>
          <a:ln/>
        </p:spPr>
        <p:txBody>
          <a:bodyPr wrap="square" lIns="0" tIns="0" rIns="0" bIns="0" rtlCol="0" anchor="t"/>
          <a:lstStyle/>
          <a:p>
            <a:pPr algn="r" indent="0" marL="0">
              <a:buNone/>
            </a:pPr>
            <a:r>
              <a:rPr lang="en-US" sz="1200" b="1" dirty="0">
                <a:solidFill>
                  <a:srgbClr val="6B6B6B"/>
                </a:solidFill>
                <a:latin typeface="Calibri" pitchFamily="34" charset="0"/>
                <a:ea typeface="Calibri" pitchFamily="34" charset="-122"/>
                <a:cs typeface="Calibri" pitchFamily="34" charset="-120"/>
              </a:rPr>
              <a:t>2030</a:t>
            </a:r>
            <a:endParaRPr lang="en-US" sz="1200" dirty="0"/>
          </a:p>
        </p:txBody>
      </p:sp>
      <p:sp>
        <p:nvSpPr>
          <p:cNvPr id="26" name="Text 23"/>
          <p:cNvSpPr txBox="1"/>
          <p:nvPr/>
        </p:nvSpPr>
        <p:spPr>
          <a:xfrm>
            <a:off x="9951415" y="2157984"/>
            <a:ext cx="1783080" cy="292608"/>
          </a:xfrm>
          <a:prstGeom prst="rect">
            <a:avLst/>
          </a:prstGeom>
          <a:noFill/>
          <a:ln/>
        </p:spPr>
        <p:txBody>
          <a:bodyPr wrap="square" lIns="0" tIns="0" rIns="0" bIns="0" rtlCol="0" anchor="t"/>
          <a:lstStyle/>
          <a:p>
            <a:pPr algn="r" indent="0" marL="0">
              <a:buNone/>
            </a:pPr>
            <a:r>
              <a:rPr lang="en-US" sz="1350" b="1" dirty="0">
                <a:solidFill>
                  <a:srgbClr val="1F1F1F"/>
                </a:solidFill>
                <a:latin typeface="Calibri" pitchFamily="34" charset="0"/>
                <a:ea typeface="Calibri" pitchFamily="34" charset="-122"/>
                <a:cs typeface="Calibri" pitchFamily="34" charset="-120"/>
              </a:rPr>
              <a:t>Thoái vốn</a:t>
            </a:r>
            <a:endParaRPr lang="en-US" sz="1350" dirty="0"/>
          </a:p>
        </p:txBody>
      </p:sp>
      <p:sp>
        <p:nvSpPr>
          <p:cNvPr id="27" name="Text 24"/>
          <p:cNvSpPr txBox="1"/>
          <p:nvPr/>
        </p:nvSpPr>
        <p:spPr>
          <a:xfrm>
            <a:off x="9951415" y="2468880"/>
            <a:ext cx="1783080" cy="914400"/>
          </a:xfrm>
          <a:prstGeom prst="rect">
            <a:avLst/>
          </a:prstGeom>
          <a:noFill/>
          <a:ln/>
        </p:spPr>
        <p:txBody>
          <a:bodyPr wrap="square" lIns="0" tIns="0" rIns="0" bIns="0" rtlCol="0" anchor="t"/>
          <a:lstStyle/>
          <a:p>
            <a:pPr algn="r" indent="0" marL="0">
              <a:buNone/>
            </a:pPr>
            <a:r>
              <a:rPr lang="en-US" sz="1100" dirty="0">
                <a:solidFill>
                  <a:srgbClr val="3A3A3A"/>
                </a:solidFill>
                <a:latin typeface="Calibri" pitchFamily="34" charset="0"/>
                <a:ea typeface="Calibri" pitchFamily="34" charset="-122"/>
                <a:cs typeface="Calibri" pitchFamily="34" charset="-120"/>
              </a:rPr>
              <a:t>Bán cho nhà đầu tư chiến lược (tập đoàn bao bì, chuỗi F&amp;B)</a:t>
            </a:r>
            <a:endParaRPr lang="en-US" sz="1100" dirty="0"/>
          </a:p>
        </p:txBody>
      </p:sp>
      <p:sp>
        <p:nvSpPr>
          <p:cNvPr id="28" name="Text 25"/>
          <p:cNvSpPr txBox="1"/>
          <p:nvPr/>
        </p:nvSpPr>
        <p:spPr>
          <a:xfrm>
            <a:off x="457200" y="3520440"/>
            <a:ext cx="557784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Tỷ lệ founder &amp; cổ đông hiện hữu theo phương án</a:t>
            </a:r>
            <a:pPr indent="0" marL="0">
              <a:buNone/>
            </a:pPr>
            <a:r>
              <a:rPr lang="en-US" sz="1100" dirty="0">
                <a:solidFill>
                  <a:srgbClr val="6B6B6B"/>
                </a:solidFill>
                <a:latin typeface="Calibri" pitchFamily="34" charset="0"/>
                <a:ea typeface="Calibri" pitchFamily="34" charset="-122"/>
                <a:cs typeface="Calibri" pitchFamily="34" charset="-120"/>
              </a:rPr>
              <a:t>  (%)</a:t>
            </a:r>
            <a:endParaRPr lang="en-US" sz="1400" dirty="0"/>
          </a:p>
        </p:txBody>
      </p:sp>
      <p:graphicFrame>
        <p:nvGraphicFramePr>
          <p:cNvPr id="29" name="Chart 0" descr=""/>
          <p:cNvGraphicFramePr/>
          <p:nvPr/>
        </p:nvGraphicFramePr>
        <p:xfrm>
          <a:off x="457200" y="3794760"/>
          <a:ext cx="5577840" cy="2514600"/>
        </p:xfrm>
        <a:graphic xmlns:a="http://schemas.openxmlformats.org/drawingml/2006/main">
          <a:graphicData uri="http://schemas.openxmlformats.org/drawingml/2006/chart">
            <c:chart xmlns:c="http://schemas.openxmlformats.org/drawingml/2006/chart" r:id="rId1"/>
          </a:graphicData>
        </a:graphic>
      </p:graphicFrame>
      <p:sp>
        <p:nvSpPr>
          <p:cNvPr id="30" name="Text 26"/>
          <p:cNvSpPr txBox="1"/>
          <p:nvPr/>
        </p:nvSpPr>
        <p:spPr>
          <a:xfrm>
            <a:off x="6400800" y="3520440"/>
            <a:ext cx="530352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IRR của nhà đầu tư</a:t>
            </a:r>
            <a:pPr indent="0" marL="0">
              <a:buNone/>
            </a:pPr>
            <a:r>
              <a:rPr lang="en-US" sz="1100" dirty="0">
                <a:solidFill>
                  <a:srgbClr val="6B6B6B"/>
                </a:solidFill>
                <a:latin typeface="Calibri" pitchFamily="34" charset="0"/>
                <a:ea typeface="Calibri" pitchFamily="34" charset="-122"/>
                <a:cs typeface="Calibri" pitchFamily="34" charset="-120"/>
              </a:rPr>
              <a:t>  (%; WACC 13,8%)</a:t>
            </a:r>
            <a:endParaRPr lang="en-US" sz="1400" dirty="0"/>
          </a:p>
        </p:txBody>
      </p:sp>
      <p:graphicFrame>
        <p:nvGraphicFramePr>
          <p:cNvPr id="31" name="Chart 1" descr=""/>
          <p:cNvGraphicFramePr/>
          <p:nvPr/>
        </p:nvGraphicFramePr>
        <p:xfrm>
          <a:off x="6400800" y="3794760"/>
          <a:ext cx="5330952" cy="25146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RỦI RO ĐẦU TƯ</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Ngoài rủi ro cầu, trễ tiến độ nhà máy làm pre-money khuyến nghị giảm nhiều nhất</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Mô hình (Summary, Sensitivity); độ nhạy của một phương pháp được quy về pre-money khuyến nghị theo trọng số 50/50; ngưỡng theo dõi là đề xuất của nhóm</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16</a:t>
            </a:r>
            <a:endParaRPr lang="en-US" sz="1000" dirty="0"/>
          </a:p>
        </p:txBody>
      </p:sp>
      <p:sp>
        <p:nvSpPr>
          <p:cNvPr id="7" name="Text 4"/>
          <p:cNvSpPr txBox="1"/>
          <p:nvPr/>
        </p:nvSpPr>
        <p:spPr>
          <a:xfrm>
            <a:off x="457200" y="1572768"/>
            <a:ext cx="493776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Tác động lên pre-money khuyến nghị</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8" name="Chart 0" descr=""/>
          <p:cNvGraphicFramePr/>
          <p:nvPr/>
        </p:nvGraphicFramePr>
        <p:xfrm>
          <a:off x="457200" y="187452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457200" y="5349240"/>
            <a:ext cx="4937760" cy="822960"/>
          </a:xfrm>
          <a:prstGeom prst="rect">
            <a:avLst/>
          </a:prstGeom>
          <a:solidFill>
            <a:srgbClr val="F6EDEF"/>
          </a:solidFill>
          <a:ln w="6350">
            <a:solidFill>
              <a:srgbClr val="F6EDEF"/>
            </a:solidFill>
            <a:prstDash val="solid"/>
          </a:ln>
        </p:spPr>
      </p:sp>
      <p:sp>
        <p:nvSpPr>
          <p:cNvPr id="10" name="Text 6"/>
          <p:cNvSpPr txBox="1"/>
          <p:nvPr/>
        </p:nvSpPr>
        <p:spPr>
          <a:xfrm>
            <a:off x="612648" y="5394960"/>
            <a:ext cx="4663440" cy="731520"/>
          </a:xfrm>
          <a:prstGeom prst="rect">
            <a:avLst/>
          </a:prstGeom>
          <a:noFill/>
          <a:ln/>
        </p:spPr>
        <p:txBody>
          <a:bodyPr wrap="square" lIns="0" tIns="0" rIns="0" bIns="0" rtlCol="0" anchor="ctr"/>
          <a:lstStyle/>
          <a:p>
            <a:pPr indent="0" marL="0">
              <a:buNone/>
            </a:pPr>
            <a:r>
              <a:rPr lang="en-US" sz="1250" b="1" dirty="0">
                <a:solidFill>
                  <a:srgbClr val="7B1E2B"/>
                </a:solidFill>
                <a:latin typeface="Calibri" pitchFamily="34" charset="0"/>
                <a:ea typeface="Calibri" pitchFamily="34" charset="-122"/>
                <a:cs typeface="Calibri" pitchFamily="34" charset="-120"/>
              </a:rPr>
              <a:t>Kịch bản Bear (không vẽ): </a:t>
            </a:r>
            <a:pPr indent="0" marL="0">
              <a:buNone/>
            </a:pPr>
            <a:r>
              <a:rPr lang="en-US" sz="1250" dirty="0">
                <a:solidFill>
                  <a:srgbClr val="3A3A3A"/>
                </a:solidFill>
                <a:latin typeface="Calibri" pitchFamily="34" charset="0"/>
                <a:ea typeface="Calibri" pitchFamily="34" charset="-122"/>
                <a:cs typeface="Calibri" pitchFamily="34" charset="-120"/>
              </a:rPr>
              <a:t>pre-money giảm 59,1 tỷ, xuống mức âm.</a:t>
            </a:r>
            <a:endParaRPr lang="en-US" sz="1250" dirty="0"/>
          </a:p>
        </p:txBody>
      </p:sp>
      <p:sp>
        <p:nvSpPr>
          <p:cNvPr id="11" name="Text 7"/>
          <p:cNvSpPr txBox="1"/>
          <p:nvPr/>
        </p:nvSpPr>
        <p:spPr>
          <a:xfrm>
            <a:off x="5760720" y="1572768"/>
            <a:ext cx="594360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Rủi ro chính và chỉ báo theo dõi</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60720" y="1901952"/>
          <a:ext cx="5971032" cy="914400"/>
        </p:xfrm>
        <a:graphic>
          <a:graphicData uri="http://schemas.openxmlformats.org/drawingml/2006/table">
            <a:tbl>
              <a:tblPr/>
              <a:tblGrid>
                <a:gridCol w="1691640"/>
                <a:gridCol w="2359152"/>
                <a:gridCol w="1920240"/>
              </a:tblGrid>
              <a:tr h="43891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Rủi ro</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Chỉ báo theo dõi (ngưỡng)</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Giảm thiểu</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7B1E2B"/>
                    </a:solidFill>
                  </a:tcPr>
                </a:tc>
              </a:tr>
              <a:tr h="438912">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Cầu thấp hơn dự phóng</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Sản lượng F&amp;B 2026 tăng &lt; 25%</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Mốc giải ngân đợt 2</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438912">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Chậm tiến độ nhà máy</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Chưa vận hành thương mại trước 31/12/2027</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Hợp đồng EPC có phạt chậm</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438912">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Nguồn cung bã mía</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Bã mía có hợp đồng cho 2027 &lt; 70%</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Hợp đồng dài hạn 2–3 nhà máy đường</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438912">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Lãi suất, tín dụng</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EBIT/lãi vay &lt; 1,5 lần (2028E: 1,9)</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Ân hạn gốc 2 năm; hồ sơ NATIF</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438912">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Kiểm nghiệm vật liệu</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Chưa có chứng nhận trước Q2/2027</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Kiểm nghiệm sớm (TT 27/2026)</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r h="438912">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Tỷ giá CNY</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CNY/VND vượt 4.100</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c>
                  <a:txBody>
                    <a:bodyPr/>
                    <a:lstStyle/>
                    <a:p>
                      <a:pPr algn="l" indent="0" marL="0">
                        <a:buNone/>
                      </a:pPr>
                      <a:r>
                        <a:rPr lang="en-US" sz="1150" dirty="0">
                          <a:solidFill>
                            <a:srgbClr val="3A3A3A"/>
                          </a:solidFill>
                          <a:latin typeface="Calibri" pitchFamily="34" charset="0"/>
                          <a:ea typeface="Calibri" pitchFamily="34" charset="-122"/>
                          <a:cs typeface="Calibri" pitchFamily="34" charset="-120"/>
                        </a:rPr>
                        <a:t>Chốt giá VND, mua kỳ hạn</a:t>
                      </a:r>
                      <a:endParaRPr lang="en-US" sz="1150" dirty="0">
                        <a:latin typeface="Calibri" charset="0"/>
                        <a:ea typeface="Calibri" charset="0"/>
                        <a:cs typeface="Calibri" charset="0"/>
                      </a:endParaRPr>
                    </a:p>
                  </a:txBody>
                  <a:tcPr marL="73152" marR="73152" marT="27432" marB="27432"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tcPr>
                </a:tc>
              </a:tr>
            </a:tbl>
          </a:graphicData>
        </a:graphic>
      </p:graphicFrame>
      <p:sp>
        <p:nvSpPr>
          <p:cNvPr id="13" name="Text 8"/>
          <p:cNvSpPr txBox="1"/>
          <p:nvPr/>
        </p:nvSpPr>
        <p:spPr>
          <a:xfrm>
            <a:off x="5760720" y="5440680"/>
            <a:ext cx="5971032" cy="731520"/>
          </a:xfrm>
          <a:prstGeom prst="rect">
            <a:avLst/>
          </a:prstGeom>
          <a:noFill/>
          <a:ln/>
        </p:spPr>
        <p:txBody>
          <a:bodyPr wrap="square" lIns="0" tIns="0" rIns="0" bIns="0" rtlCol="0" anchor="t"/>
          <a:lstStyle/>
          <a:p>
            <a:pPr indent="0" marL="0">
              <a:buNone/>
            </a:pPr>
            <a:r>
              <a:rPr lang="en-US" sz="1150" i="1" dirty="0">
                <a:solidFill>
                  <a:srgbClr val="6B6B6B"/>
                </a:solidFill>
                <a:latin typeface="Calibri" pitchFamily="34" charset="0"/>
                <a:ea typeface="Calibri" pitchFamily="34" charset="-122"/>
                <a:cs typeface="Calibri" pitchFamily="34" charset="-120"/>
              </a:rPr>
              <a:t>Ngoài mô hình: chất lượng số liệu (cần BCTC kiểm toán), phụ thuộc đội ngũ sáng lập (cam kết gắn bó), uy tín "xanh" (chứng nhận phân hủy, an toàn thực phẩm).</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10896"/>
            <a:ext cx="9144000" cy="256032"/>
          </a:xfrm>
          <a:prstGeom prst="rect">
            <a:avLst/>
          </a:prstGeom>
          <a:noFill/>
          <a:ln/>
        </p:spPr>
        <p:txBody>
          <a:bodyPr wrap="square" lIns="0" tIns="0" rIns="0" bIns="0" rtlCol="0" anchor="t"/>
          <a:lstStyle/>
          <a:p>
            <a:pPr indent="0" marL="0">
              <a:buNone/>
            </a:pPr>
            <a:r>
              <a:rPr lang="en-US" sz="1100" b="1" spc="150" kern="0" dirty="0">
                <a:solidFill>
                  <a:srgbClr val="7B1E2B"/>
                </a:solidFill>
                <a:latin typeface="Calibri" pitchFamily="34" charset="0"/>
                <a:ea typeface="Calibri" pitchFamily="34" charset="-122"/>
                <a:cs typeface="Calibri" pitchFamily="34" charset="-120"/>
              </a:rPr>
              <a:t>CÂU HỎI BONUS</a:t>
            </a:r>
            <a:endParaRPr lang="en-US" sz="1100" dirty="0"/>
          </a:p>
        </p:txBody>
      </p:sp>
      <p:sp>
        <p:nvSpPr>
          <p:cNvPr id="3" name="Text 1"/>
          <p:cNvSpPr txBox="1"/>
          <p:nvPr/>
        </p:nvSpPr>
        <p:spPr>
          <a:xfrm>
            <a:off x="457200" y="585216"/>
            <a:ext cx="11277295" cy="822960"/>
          </a:xfrm>
          <a:prstGeom prst="rect">
            <a:avLst/>
          </a:prstGeom>
          <a:noFill/>
          <a:ln/>
        </p:spPr>
        <p:txBody>
          <a:bodyPr wrap="square" lIns="0" tIns="0" rIns="0" bIns="0" rtlCol="0" anchor="t"/>
          <a:lstStyle/>
          <a:p>
            <a:pPr indent="0" marL="0">
              <a:buNone/>
            </a:pPr>
            <a:r>
              <a:rPr lang="en-US" sz="2400" b="1" dirty="0">
                <a:solidFill>
                  <a:srgbClr val="1F1F1F"/>
                </a:solidFill>
                <a:latin typeface="Calibri" pitchFamily="34" charset="0"/>
                <a:ea typeface="Calibri" pitchFamily="34" charset="-122"/>
                <a:cs typeface="Calibri" pitchFamily="34" charset="-120"/>
              </a:rPr>
              <a:t>Nếu chưa có doanh thu: dùng VC Method với tỷ lệ thất bại cao hơn, đối chiếu bằng Scorecard và Berkus</a:t>
            </a:r>
            <a:endParaRPr lang="en-US" sz="2400" dirty="0"/>
          </a:p>
        </p:txBody>
      </p:sp>
      <p:sp>
        <p:nvSpPr>
          <p:cNvPr id="4" name="Text 2"/>
          <p:cNvSpPr txBox="1"/>
          <p:nvPr/>
        </p:nvSpPr>
        <p:spPr>
          <a:xfrm>
            <a:off x="457200" y="6400800"/>
            <a:ext cx="10241280" cy="27432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Nguồn: Minh họa trên mô hình (VCM): giữ nguyên giá trị thoái vốn và WACC, chỉ đổi z theo giai đoạn</a:t>
            </a:r>
            <a:endParaRPr lang="en-US" sz="950" dirty="0"/>
          </a:p>
        </p:txBody>
      </p:sp>
      <p:sp>
        <p:nvSpPr>
          <p:cNvPr id="5" name="Text 3"/>
          <p:cNvSpPr txBox="1"/>
          <p:nvPr/>
        </p:nvSpPr>
        <p:spPr>
          <a:xfrm>
            <a:off x="11185855" y="6400800"/>
            <a:ext cx="5486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17</a:t>
            </a:r>
            <a:endParaRPr lang="en-US" sz="1000" dirty="0"/>
          </a:p>
        </p:txBody>
      </p:sp>
      <p:sp>
        <p:nvSpPr>
          <p:cNvPr id="7" name="Text 4"/>
          <p:cNvSpPr txBox="1"/>
          <p:nvPr/>
        </p:nvSpPr>
        <p:spPr>
          <a:xfrm>
            <a:off x="457200" y="1572768"/>
            <a:ext cx="4937760" cy="292608"/>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Post-money theo VC Method, giữ nguyên giá trị thoái vốn</a:t>
            </a:r>
            <a:pPr indent="0" marL="0">
              <a:buNone/>
            </a:pPr>
            <a:r>
              <a:rPr lang="en-US" sz="1100" dirty="0">
                <a:solidFill>
                  <a:srgbClr val="6B6B6B"/>
                </a:solidFill>
                <a:latin typeface="Calibri" pitchFamily="34" charset="0"/>
                <a:ea typeface="Calibri" pitchFamily="34" charset="-122"/>
                <a:cs typeface="Calibri" pitchFamily="34" charset="-120"/>
              </a:rPr>
              <a:t>  (tỷ đồng)</a:t>
            </a:r>
            <a:endParaRPr lang="en-US" sz="1400" dirty="0"/>
          </a:p>
        </p:txBody>
      </p:sp>
      <p:graphicFrame>
        <p:nvGraphicFramePr>
          <p:cNvPr id="8" name="Chart 0" descr=""/>
          <p:cNvGraphicFramePr/>
          <p:nvPr/>
        </p:nvGraphicFramePr>
        <p:xfrm>
          <a:off x="457200" y="187452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897880" y="1691640"/>
            <a:ext cx="502920" cy="502920"/>
          </a:xfrm>
          <a:prstGeom prst="ellipse">
            <a:avLst/>
          </a:prstGeom>
          <a:solidFill>
            <a:srgbClr val="7B1E2B"/>
          </a:solidFill>
          <a:ln w="6350">
            <a:solidFill>
              <a:srgbClr val="7B1E2B"/>
            </a:solidFill>
            <a:prstDash val="solid"/>
          </a:ln>
        </p:spPr>
      </p:sp>
      <p:pic>
        <p:nvPicPr>
          <p:cNvPr id="10" name="Image 0" descr="preencoded.png">    </p:cNvPr>
          <p:cNvPicPr>
            <a:picLocks noChangeAspect="1"/>
          </p:cNvPicPr>
          <p:nvPr/>
        </p:nvPicPr>
        <p:blipFill>
          <a:blip r:embed="rId2"/>
          <a:stretch>
            <a:fillRect/>
          </a:stretch>
        </p:blipFill>
        <p:spPr>
          <a:xfrm>
            <a:off x="6023610" y="1817370"/>
            <a:ext cx="251460" cy="251460"/>
          </a:xfrm>
          <a:prstGeom prst="rect">
            <a:avLst/>
          </a:prstGeom>
        </p:spPr>
      </p:pic>
      <p:sp>
        <p:nvSpPr>
          <p:cNvPr id="11" name="Text 6"/>
          <p:cNvSpPr txBox="1"/>
          <p:nvPr/>
        </p:nvSpPr>
        <p:spPr>
          <a:xfrm>
            <a:off x="6565392" y="1709928"/>
            <a:ext cx="5166360"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VC Method, z theo giai đoạn</a:t>
            </a:r>
            <a:endParaRPr lang="en-US" sz="1500" dirty="0"/>
          </a:p>
        </p:txBody>
      </p:sp>
      <p:sp>
        <p:nvSpPr>
          <p:cNvPr id="12" name="Text 7"/>
          <p:cNvSpPr txBox="1"/>
          <p:nvPr/>
        </p:nvSpPr>
        <p:spPr>
          <a:xfrm>
            <a:off x="6565392" y="2075688"/>
            <a:ext cx="5166360" cy="91440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Giữ giá trị thoái vốn và WACC, nâng z lên 57,5% (Thử nghiệm) hoặc 72,5% (Ươm mầm): post-money giảm từ 62,4 xuống 44,2 và 28,6 tỷ.</a:t>
            </a:r>
            <a:endParaRPr lang="en-US" sz="1300" dirty="0"/>
          </a:p>
        </p:txBody>
      </p:sp>
      <p:sp>
        <p:nvSpPr>
          <p:cNvPr id="13" name="Shape 8"/>
          <p:cNvSpPr/>
          <p:nvPr/>
        </p:nvSpPr>
        <p:spPr>
          <a:xfrm>
            <a:off x="5897880" y="3063240"/>
            <a:ext cx="502920" cy="502920"/>
          </a:xfrm>
          <a:prstGeom prst="ellipse">
            <a:avLst/>
          </a:prstGeom>
          <a:solidFill>
            <a:srgbClr val="7B1E2B"/>
          </a:solidFill>
          <a:ln w="6350">
            <a:solidFill>
              <a:srgbClr val="7B1E2B"/>
            </a:solidFill>
            <a:prstDash val="solid"/>
          </a:ln>
        </p:spPr>
      </p:sp>
      <p:pic>
        <p:nvPicPr>
          <p:cNvPr id="14" name="Image 1" descr="preencoded.png">    </p:cNvPr>
          <p:cNvPicPr>
            <a:picLocks noChangeAspect="1"/>
          </p:cNvPicPr>
          <p:nvPr/>
        </p:nvPicPr>
        <p:blipFill>
          <a:blip r:embed="rId3"/>
          <a:stretch>
            <a:fillRect/>
          </a:stretch>
        </p:blipFill>
        <p:spPr>
          <a:xfrm>
            <a:off x="6023610" y="3188970"/>
            <a:ext cx="251460" cy="251460"/>
          </a:xfrm>
          <a:prstGeom prst="rect">
            <a:avLst/>
          </a:prstGeom>
        </p:spPr>
      </p:pic>
      <p:sp>
        <p:nvSpPr>
          <p:cNvPr id="15" name="Text 9"/>
          <p:cNvSpPr txBox="1"/>
          <p:nvPr/>
        </p:nvSpPr>
        <p:spPr>
          <a:xfrm>
            <a:off x="6565392" y="3081528"/>
            <a:ext cx="5166360"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Scorecard</a:t>
            </a:r>
            <a:endParaRPr lang="en-US" sz="1500" dirty="0"/>
          </a:p>
        </p:txBody>
      </p:sp>
      <p:sp>
        <p:nvSpPr>
          <p:cNvPr id="16" name="Text 10"/>
          <p:cNvSpPr txBox="1"/>
          <p:nvPr/>
        </p:nvSpPr>
        <p:spPr>
          <a:xfrm>
            <a:off x="6565392" y="3447288"/>
            <a:ext cx="5166360" cy="91440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Lấy pre-money trung vị các vòng hạt giống cùng ngành, điều chỉnh theo đội ngũ, quy mô thị trường, sản phẩm, cạnh tranh và kênh bán.</a:t>
            </a:r>
            <a:endParaRPr lang="en-US" sz="1300" dirty="0"/>
          </a:p>
        </p:txBody>
      </p:sp>
      <p:sp>
        <p:nvSpPr>
          <p:cNvPr id="17" name="Shape 11"/>
          <p:cNvSpPr/>
          <p:nvPr/>
        </p:nvSpPr>
        <p:spPr>
          <a:xfrm>
            <a:off x="5897880" y="4434840"/>
            <a:ext cx="502920" cy="502920"/>
          </a:xfrm>
          <a:prstGeom prst="ellipse">
            <a:avLst/>
          </a:prstGeom>
          <a:solidFill>
            <a:srgbClr val="7B1E2B"/>
          </a:solidFill>
          <a:ln w="6350">
            <a:solidFill>
              <a:srgbClr val="7B1E2B"/>
            </a:solidFill>
            <a:prstDash val="solid"/>
          </a:ln>
        </p:spPr>
      </p:sp>
      <p:pic>
        <p:nvPicPr>
          <p:cNvPr id="18" name="Image 2" descr="preencoded.png">    </p:cNvPr>
          <p:cNvPicPr>
            <a:picLocks noChangeAspect="1"/>
          </p:cNvPicPr>
          <p:nvPr/>
        </p:nvPicPr>
        <p:blipFill>
          <a:blip r:embed="rId4"/>
          <a:stretch>
            <a:fillRect/>
          </a:stretch>
        </p:blipFill>
        <p:spPr>
          <a:xfrm>
            <a:off x="6023610" y="4560570"/>
            <a:ext cx="251460" cy="251460"/>
          </a:xfrm>
          <a:prstGeom prst="rect">
            <a:avLst/>
          </a:prstGeom>
        </p:spPr>
      </p:pic>
      <p:sp>
        <p:nvSpPr>
          <p:cNvPr id="19" name="Text 12"/>
          <p:cNvSpPr txBox="1"/>
          <p:nvPr/>
        </p:nvSpPr>
        <p:spPr>
          <a:xfrm>
            <a:off x="6565392" y="4453128"/>
            <a:ext cx="5166360" cy="310896"/>
          </a:xfrm>
          <a:prstGeom prst="rect">
            <a:avLst/>
          </a:prstGeom>
          <a:noFill/>
          <a:ln/>
        </p:spPr>
        <p:txBody>
          <a:bodyPr wrap="square" lIns="0" tIns="0" rIns="0" bIns="0" rtlCol="0" anchor="t"/>
          <a:lstStyle/>
          <a:p>
            <a:pPr indent="0" marL="0">
              <a:buNone/>
            </a:pPr>
            <a:r>
              <a:rPr lang="en-US" sz="1500" b="1" dirty="0">
                <a:solidFill>
                  <a:srgbClr val="1F1F1F"/>
                </a:solidFill>
                <a:latin typeface="Calibri" pitchFamily="34" charset="0"/>
                <a:ea typeface="Calibri" pitchFamily="34" charset="-122"/>
                <a:cs typeface="Calibri" pitchFamily="34" charset="-120"/>
              </a:rPr>
              <a:t>Berkus</a:t>
            </a:r>
            <a:endParaRPr lang="en-US" sz="1500" dirty="0"/>
          </a:p>
        </p:txBody>
      </p:sp>
      <p:sp>
        <p:nvSpPr>
          <p:cNvPr id="20" name="Text 13"/>
          <p:cNvSpPr txBox="1"/>
          <p:nvPr/>
        </p:nvSpPr>
        <p:spPr>
          <a:xfrm>
            <a:off x="6565392" y="4818888"/>
            <a:ext cx="5166360" cy="914400"/>
          </a:xfrm>
          <a:prstGeom prst="rect">
            <a:avLst/>
          </a:prstGeom>
          <a:noFill/>
          <a:ln/>
        </p:spPr>
        <p:txBody>
          <a:bodyPr wrap="square" lIns="0" tIns="0" rIns="0" bIns="0" rtlCol="0" anchor="t"/>
          <a:lstStyle/>
          <a:p>
            <a:pPr indent="0" marL="0">
              <a:buNone/>
            </a:pPr>
            <a:r>
              <a:rPr lang="en-US" sz="1300" dirty="0">
                <a:solidFill>
                  <a:srgbClr val="3A3A3A"/>
                </a:solidFill>
                <a:latin typeface="Calibri" pitchFamily="34" charset="0"/>
                <a:ea typeface="Calibri" pitchFamily="34" charset="-122"/>
                <a:cs typeface="Calibri" pitchFamily="34" charset="-120"/>
              </a:rPr>
              <a:t>Cộng giá trị cho năm cột mốc – ý tưởng, mẫu thử, đội ngũ, quan hệ chiến lược, bán hàng đầu tiên – mỗi cột mốc có mức trần.</a:t>
            </a:r>
            <a:endParaRPr lang="en-US" sz="1300" dirty="0"/>
          </a:p>
        </p:txBody>
      </p:sp>
      <p:sp>
        <p:nvSpPr>
          <p:cNvPr id="21" name="Shape 14"/>
          <p:cNvSpPr/>
          <p:nvPr/>
        </p:nvSpPr>
        <p:spPr>
          <a:xfrm>
            <a:off x="5897880" y="5669280"/>
            <a:ext cx="5833872" cy="548640"/>
          </a:xfrm>
          <a:prstGeom prst="rect">
            <a:avLst/>
          </a:prstGeom>
          <a:solidFill>
            <a:srgbClr val="F6EDEF"/>
          </a:solidFill>
          <a:ln w="6350">
            <a:solidFill>
              <a:srgbClr val="F6EDEF"/>
            </a:solidFill>
            <a:prstDash val="solid"/>
          </a:ln>
        </p:spPr>
      </p:sp>
      <p:sp>
        <p:nvSpPr>
          <p:cNvPr id="22" name="Text 15"/>
          <p:cNvSpPr txBox="1"/>
          <p:nvPr/>
        </p:nvSpPr>
        <p:spPr>
          <a:xfrm>
            <a:off x="6035040" y="5696712"/>
            <a:ext cx="5577840" cy="493776"/>
          </a:xfrm>
          <a:prstGeom prst="rect">
            <a:avLst/>
          </a:prstGeom>
          <a:noFill/>
          <a:ln/>
        </p:spPr>
        <p:txBody>
          <a:bodyPr wrap="square" lIns="0" tIns="0" rIns="0" bIns="0" rtlCol="0" anchor="ctr"/>
          <a:lstStyle/>
          <a:p>
            <a:pPr indent="0" marL="0">
              <a:buNone/>
            </a:pPr>
            <a:r>
              <a:rPr lang="en-US" sz="1150" dirty="0">
                <a:solidFill>
                  <a:srgbClr val="3A3A3A"/>
                </a:solidFill>
                <a:latin typeface="Calibri" pitchFamily="34" charset="0"/>
                <a:ea typeface="Calibri" pitchFamily="34" charset="-122"/>
                <a:cs typeface="Calibri" pitchFamily="34" charset="-120"/>
              </a:rPr>
              <a:t>Cần có: kiểm nghiệm vật liệu, thư ý định mua (LOI) của chuỗi F&amp;B, hợp đồng bã mía, chi phí dây chuyền thử.</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7B1E2B"/>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EBCFD4"/>
                </a:solidFill>
                <a:latin typeface="Calibri" pitchFamily="34" charset="0"/>
                <a:ea typeface="Calibri" pitchFamily="34" charset="-122"/>
                <a:cs typeface="Calibri" pitchFamily="34" charset="-120"/>
              </a:rPr>
              <a:t>KẾT LUẬN</a:t>
            </a:r>
            <a:endParaRPr lang="en-US" sz="1200" dirty="0"/>
          </a:p>
        </p:txBody>
      </p:sp>
      <p:sp>
        <p:nvSpPr>
          <p:cNvPr id="3" name="Text 1"/>
          <p:cNvSpPr txBox="1"/>
          <p:nvPr/>
        </p:nvSpPr>
        <p:spPr>
          <a:xfrm>
            <a:off x="548640" y="777240"/>
            <a:ext cx="11155680" cy="91440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AgriPack đáng giá khoảng 32 tỷ đồng trước khi gọi vốn; cấu trúc hai đợt là điều kiện để thương vụ khả thi</a:t>
            </a:r>
            <a:endParaRPr lang="en-US" sz="2600" dirty="0"/>
          </a:p>
        </p:txBody>
      </p:sp>
      <p:sp>
        <p:nvSpPr>
          <p:cNvPr id="4" name="Shape 2"/>
          <p:cNvSpPr/>
          <p:nvPr/>
        </p:nvSpPr>
        <p:spPr>
          <a:xfrm>
            <a:off x="457200" y="1965960"/>
            <a:ext cx="3576218" cy="2240280"/>
          </a:xfrm>
          <a:prstGeom prst="rect">
            <a:avLst/>
          </a:prstGeom>
          <a:solidFill>
            <a:srgbClr val="5A1520"/>
          </a:solidFill>
          <a:ln w="6350">
            <a:solidFill>
              <a:srgbClr val="5A1520"/>
            </a:solidFill>
            <a:prstDash val="solid"/>
          </a:ln>
        </p:spPr>
      </p:sp>
      <p:sp>
        <p:nvSpPr>
          <p:cNvPr id="5" name="Shape 3"/>
          <p:cNvSpPr/>
          <p:nvPr/>
        </p:nvSpPr>
        <p:spPr>
          <a:xfrm>
            <a:off x="685800" y="2194560"/>
            <a:ext cx="566928" cy="566928"/>
          </a:xfrm>
          <a:prstGeom prst="ellipse">
            <a:avLst/>
          </a:prstGeom>
          <a:solidFill>
            <a:srgbClr val="FFFFFF"/>
          </a:solidFill>
          <a:ln w="12700">
            <a:solidFill>
              <a:srgbClr val="FFFFFF"/>
            </a:solidFill>
            <a:prstDash val="solid"/>
          </a:ln>
        </p:spPr>
      </p:sp>
      <p:sp>
        <p:nvSpPr>
          <p:cNvPr id="6" name="Text 4"/>
          <p:cNvSpPr txBox="1"/>
          <p:nvPr/>
        </p:nvSpPr>
        <p:spPr>
          <a:xfrm>
            <a:off x="685800" y="2194560"/>
            <a:ext cx="566928" cy="566928"/>
          </a:xfrm>
          <a:prstGeom prst="rect">
            <a:avLst/>
          </a:prstGeom>
          <a:noFill/>
          <a:ln/>
        </p:spPr>
        <p:txBody>
          <a:bodyPr wrap="square" lIns="0" tIns="0" rIns="0" bIns="0" rtlCol="0" anchor="ctr"/>
          <a:lstStyle/>
          <a:p>
            <a:pPr algn="ctr" indent="0" marL="0">
              <a:buNone/>
            </a:pPr>
            <a:r>
              <a:rPr lang="en-US" sz="2000" b="1" dirty="0">
                <a:solidFill>
                  <a:srgbClr val="7B1E2B"/>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417320" y="2258568"/>
            <a:ext cx="2387498"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Định giá</a:t>
            </a:r>
            <a:endParaRPr lang="en-US" sz="2000" dirty="0"/>
          </a:p>
        </p:txBody>
      </p:sp>
      <p:sp>
        <p:nvSpPr>
          <p:cNvPr id="8" name="Text 6"/>
          <p:cNvSpPr txBox="1"/>
          <p:nvPr/>
        </p:nvSpPr>
        <p:spPr>
          <a:xfrm>
            <a:off x="685800" y="2907792"/>
            <a:ext cx="3119018" cy="1188720"/>
          </a:xfrm>
          <a:prstGeom prst="rect">
            <a:avLst/>
          </a:prstGeom>
          <a:noFill/>
          <a:ln/>
        </p:spPr>
        <p:txBody>
          <a:bodyPr wrap="square" lIns="0" tIns="0" rIns="0" bIns="0" rtlCol="0" anchor="t"/>
          <a:lstStyle/>
          <a:p>
            <a:pPr indent="0" marL="0">
              <a:buNone/>
            </a:pPr>
            <a:r>
              <a:rPr lang="en-US" sz="1500" dirty="0">
                <a:solidFill>
                  <a:srgbClr val="EBCFD4"/>
                </a:solidFill>
                <a:latin typeface="Calibri" pitchFamily="34" charset="0"/>
                <a:ea typeface="Calibri" pitchFamily="34" charset="-122"/>
                <a:cs typeface="Calibri" pitchFamily="34" charset="-120"/>
              </a:rPr>
              <a:t>Pre-money 31,8 tỷ (19,3–48,4 tỷ): DCF 38,9 tỷ, VC Method 24,8 tỷ. Bội số ngành chỉ để đối chiếu.</a:t>
            </a:r>
            <a:endParaRPr lang="en-US" sz="1500" dirty="0"/>
          </a:p>
        </p:txBody>
      </p:sp>
      <p:sp>
        <p:nvSpPr>
          <p:cNvPr id="9" name="Shape 7"/>
          <p:cNvSpPr/>
          <p:nvPr/>
        </p:nvSpPr>
        <p:spPr>
          <a:xfrm>
            <a:off x="4307738" y="1965960"/>
            <a:ext cx="3576218" cy="2240280"/>
          </a:xfrm>
          <a:prstGeom prst="rect">
            <a:avLst/>
          </a:prstGeom>
          <a:solidFill>
            <a:srgbClr val="5A1520"/>
          </a:solidFill>
          <a:ln w="6350">
            <a:solidFill>
              <a:srgbClr val="5A1520"/>
            </a:solidFill>
            <a:prstDash val="solid"/>
          </a:ln>
        </p:spPr>
      </p:sp>
      <p:sp>
        <p:nvSpPr>
          <p:cNvPr id="10" name="Shape 8"/>
          <p:cNvSpPr/>
          <p:nvPr/>
        </p:nvSpPr>
        <p:spPr>
          <a:xfrm>
            <a:off x="4536338" y="2194560"/>
            <a:ext cx="566928" cy="566928"/>
          </a:xfrm>
          <a:prstGeom prst="ellipse">
            <a:avLst/>
          </a:prstGeom>
          <a:solidFill>
            <a:srgbClr val="FFFFFF"/>
          </a:solidFill>
          <a:ln w="12700">
            <a:solidFill>
              <a:srgbClr val="FFFFFF"/>
            </a:solidFill>
            <a:prstDash val="solid"/>
          </a:ln>
        </p:spPr>
      </p:sp>
      <p:sp>
        <p:nvSpPr>
          <p:cNvPr id="11" name="Text 9"/>
          <p:cNvSpPr txBox="1"/>
          <p:nvPr/>
        </p:nvSpPr>
        <p:spPr>
          <a:xfrm>
            <a:off x="4536338" y="2194560"/>
            <a:ext cx="566928" cy="566928"/>
          </a:xfrm>
          <a:prstGeom prst="rect">
            <a:avLst/>
          </a:prstGeom>
          <a:noFill/>
          <a:ln/>
        </p:spPr>
        <p:txBody>
          <a:bodyPr wrap="square" lIns="0" tIns="0" rIns="0" bIns="0" rtlCol="0" anchor="ctr"/>
          <a:lstStyle/>
          <a:p>
            <a:pPr algn="ctr" indent="0" marL="0">
              <a:buNone/>
            </a:pPr>
            <a:r>
              <a:rPr lang="en-US" sz="2000" b="1" dirty="0">
                <a:solidFill>
                  <a:srgbClr val="7B1E2B"/>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5267858" y="2258568"/>
            <a:ext cx="2387498"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Tài trợ</a:t>
            </a:r>
            <a:endParaRPr lang="en-US" sz="2000" dirty="0"/>
          </a:p>
        </p:txBody>
      </p:sp>
      <p:sp>
        <p:nvSpPr>
          <p:cNvPr id="13" name="Text 11"/>
          <p:cNvSpPr txBox="1"/>
          <p:nvPr/>
        </p:nvSpPr>
        <p:spPr>
          <a:xfrm>
            <a:off x="4536338" y="2907792"/>
            <a:ext cx="3119018" cy="1188720"/>
          </a:xfrm>
          <a:prstGeom prst="rect">
            <a:avLst/>
          </a:prstGeom>
          <a:noFill/>
          <a:ln/>
        </p:spPr>
        <p:txBody>
          <a:bodyPr wrap="square" lIns="0" tIns="0" rIns="0" bIns="0" rtlCol="0" anchor="t"/>
          <a:lstStyle/>
          <a:p>
            <a:pPr indent="0" marL="0">
              <a:buNone/>
            </a:pPr>
            <a:r>
              <a:rPr lang="en-US" sz="1500" dirty="0">
                <a:solidFill>
                  <a:srgbClr val="EBCFD4"/>
                </a:solidFill>
                <a:latin typeface="Calibri" pitchFamily="34" charset="0"/>
                <a:ea typeface="Calibri" pitchFamily="34" charset="-122"/>
                <a:cs typeface="Calibri" pitchFamily="34" charset="-120"/>
              </a:rPr>
              <a:t>37,6 tỷ vốn cổ phần chia hai đợt và 31,1 tỷ vay trung hạn cho nhà máy 2027. Founder giữ 50,5%.</a:t>
            </a:r>
            <a:endParaRPr lang="en-US" sz="1500" dirty="0"/>
          </a:p>
        </p:txBody>
      </p:sp>
      <p:sp>
        <p:nvSpPr>
          <p:cNvPr id="14" name="Shape 12"/>
          <p:cNvSpPr/>
          <p:nvPr/>
        </p:nvSpPr>
        <p:spPr>
          <a:xfrm>
            <a:off x="8158277" y="1965960"/>
            <a:ext cx="3576218" cy="2240280"/>
          </a:xfrm>
          <a:prstGeom prst="rect">
            <a:avLst/>
          </a:prstGeom>
          <a:solidFill>
            <a:srgbClr val="5A1520"/>
          </a:solidFill>
          <a:ln w="6350">
            <a:solidFill>
              <a:srgbClr val="5A1520"/>
            </a:solidFill>
            <a:prstDash val="solid"/>
          </a:ln>
        </p:spPr>
      </p:sp>
      <p:sp>
        <p:nvSpPr>
          <p:cNvPr id="15" name="Shape 13"/>
          <p:cNvSpPr/>
          <p:nvPr/>
        </p:nvSpPr>
        <p:spPr>
          <a:xfrm>
            <a:off x="8386877" y="2194560"/>
            <a:ext cx="566928" cy="566928"/>
          </a:xfrm>
          <a:prstGeom prst="ellipse">
            <a:avLst/>
          </a:prstGeom>
          <a:solidFill>
            <a:srgbClr val="FFFFFF"/>
          </a:solidFill>
          <a:ln w="12700">
            <a:solidFill>
              <a:srgbClr val="FFFFFF"/>
            </a:solidFill>
            <a:prstDash val="solid"/>
          </a:ln>
        </p:spPr>
      </p:sp>
      <p:sp>
        <p:nvSpPr>
          <p:cNvPr id="16" name="Text 14"/>
          <p:cNvSpPr txBox="1"/>
          <p:nvPr/>
        </p:nvSpPr>
        <p:spPr>
          <a:xfrm>
            <a:off x="8386877" y="2194560"/>
            <a:ext cx="566928" cy="566928"/>
          </a:xfrm>
          <a:prstGeom prst="rect">
            <a:avLst/>
          </a:prstGeom>
          <a:noFill/>
          <a:ln/>
        </p:spPr>
        <p:txBody>
          <a:bodyPr wrap="square" lIns="0" tIns="0" rIns="0" bIns="0" rtlCol="0" anchor="ctr"/>
          <a:lstStyle/>
          <a:p>
            <a:pPr algn="ctr" indent="0" marL="0">
              <a:buNone/>
            </a:pPr>
            <a:r>
              <a:rPr lang="en-US" sz="2000" b="1" dirty="0">
                <a:solidFill>
                  <a:srgbClr val="7B1E2B"/>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9118397" y="2258568"/>
            <a:ext cx="2387498"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Điều kiện</a:t>
            </a:r>
            <a:endParaRPr lang="en-US" sz="2000" dirty="0"/>
          </a:p>
        </p:txBody>
      </p:sp>
      <p:sp>
        <p:nvSpPr>
          <p:cNvPr id="18" name="Text 16"/>
          <p:cNvSpPr txBox="1"/>
          <p:nvPr/>
        </p:nvSpPr>
        <p:spPr>
          <a:xfrm>
            <a:off x="8386877" y="2907792"/>
            <a:ext cx="3119018" cy="1188720"/>
          </a:xfrm>
          <a:prstGeom prst="rect">
            <a:avLst/>
          </a:prstGeom>
          <a:noFill/>
          <a:ln/>
        </p:spPr>
        <p:txBody>
          <a:bodyPr wrap="square" lIns="0" tIns="0" rIns="0" bIns="0" rtlCol="0" anchor="t"/>
          <a:lstStyle/>
          <a:p>
            <a:pPr indent="0" marL="0">
              <a:buNone/>
            </a:pPr>
            <a:r>
              <a:rPr lang="en-US" sz="1500" dirty="0">
                <a:solidFill>
                  <a:srgbClr val="EBCFD4"/>
                </a:solidFill>
                <a:latin typeface="Calibri" pitchFamily="34" charset="0"/>
                <a:ea typeface="Calibri" pitchFamily="34" charset="-122"/>
                <a:cs typeface="Calibri" pitchFamily="34" charset="-120"/>
              </a:rPr>
              <a:t>Đợt 2 chỉ giải ngân khi nhà máy vận hành thương mại, doanh thu 2027 ≥ 75 tỷ, biên EBITDA ≥ 16%, có hợp đồng bã mía và chứng nhận vật liệu.</a:t>
            </a:r>
            <a:endParaRPr lang="en-US" sz="1500" dirty="0"/>
          </a:p>
        </p:txBody>
      </p:sp>
      <p:sp>
        <p:nvSpPr>
          <p:cNvPr id="19" name="Text 17"/>
          <p:cNvSpPr txBox="1"/>
          <p:nvPr/>
        </p:nvSpPr>
        <p:spPr>
          <a:xfrm>
            <a:off x="548640" y="4526280"/>
            <a:ext cx="11155680" cy="86868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Giả định cần lưu ý: </a:t>
            </a:r>
            <a:pPr indent="0" marL="0">
              <a:buNone/>
            </a:pPr>
            <a:r>
              <a:rPr lang="en-US" sz="1350" dirty="0">
                <a:solidFill>
                  <a:srgbClr val="EBCFD4"/>
                </a:solidFill>
                <a:latin typeface="Calibri" pitchFamily="34" charset="0"/>
                <a:ea typeface="Calibri" pitchFamily="34" charset="-122"/>
                <a:cs typeface="Calibri" pitchFamily="34" charset="-120"/>
              </a:rPr>
              <a:t>Rf 4,2% và phần bù rủi ro quốc gia 3,9% là ước tính; đề bài đặt khoản đầu tư lớn năm 2027 còn file Excel mẫu đặt năm 2028 (phương án 2028: pre-money 24,0 tỷ); năm thành lập 2021 là giả định để khớp BCTC.</a:t>
            </a:r>
            <a:endParaRPr lang="en-US" sz="1350" dirty="0"/>
          </a:p>
        </p:txBody>
      </p:sp>
      <p:sp>
        <p:nvSpPr>
          <p:cNvPr id="20" name="Text 18"/>
          <p:cNvSpPr txBox="1"/>
          <p:nvPr/>
        </p:nvSpPr>
        <p:spPr>
          <a:xfrm>
            <a:off x="548640" y="5760720"/>
            <a:ext cx="11155680" cy="36576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Cảm ơn thầy cô và các bạn đã lắng nghe – mời đặt câu hỏi.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AgriPack – Định giá và đề xuất gọi vốn Series A</dc:title>
  <dc:subject>PptxGenJS Presentation</dc:subject>
  <dc:creator>Nhóm AgriPack – học phần TTKN</dc:creator>
  <cp:lastModifiedBy>Nhóm AgriPack – học phần TTKN</cp:lastModifiedBy>
  <cp:revision>1</cp:revision>
  <dcterms:created xsi:type="dcterms:W3CDTF">2026-09-29T07:43:03Z</dcterms:created>
  <dcterms:modified xsi:type="dcterms:W3CDTF">2026-09-29T07:43:03Z</dcterms:modified>
</cp:coreProperties>
</file>