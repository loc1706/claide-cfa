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10" y="9510"/>
            <a:ext cx="7540874" cy="656722"/>
          </a:xfrm>
          <a:prstGeom prst="rect">
            <a:avLst/>
          </a:prstGeom>
          <a:solidFill>
            <a:srgbClr val="7B1E2B"/>
          </a:solidFill>
          <a:ln/>
        </p:spPr>
      </p:sp>
      <p:sp>
        <p:nvSpPr>
          <p:cNvPr id="3" name="Shape 1"/>
          <p:cNvSpPr/>
          <p:nvPr/>
        </p:nvSpPr>
        <p:spPr>
          <a:xfrm>
            <a:off x="405354" y="774222"/>
            <a:ext cx="2159996" cy="158648"/>
          </a:xfrm>
          <a:prstGeom prst="rect">
            <a:avLst/>
          </a:prstGeom>
          <a:solidFill>
            <a:srgbClr val="404040"/>
          </a:solidFill>
          <a:ln/>
        </p:spPr>
      </p:sp>
      <p:sp>
        <p:nvSpPr>
          <p:cNvPr id="4" name="Shape 2"/>
          <p:cNvSpPr/>
          <p:nvPr/>
        </p:nvSpPr>
        <p:spPr>
          <a:xfrm>
            <a:off x="405354" y="7672182"/>
            <a:ext cx="2159996" cy="158648"/>
          </a:xfrm>
          <a:prstGeom prst="rect">
            <a:avLst/>
          </a:prstGeom>
          <a:solidFill>
            <a:srgbClr val="404040"/>
          </a:solidFill>
          <a:ln/>
        </p:spPr>
      </p:sp>
      <p:sp>
        <p:nvSpPr>
          <p:cNvPr id="5" name="Shape 3"/>
          <p:cNvSpPr/>
          <p:nvPr/>
        </p:nvSpPr>
        <p:spPr>
          <a:xfrm>
            <a:off x="2745303" y="1205362"/>
            <a:ext cx="4409237" cy="881024"/>
          </a:xfrm>
          <a:prstGeom prst="rect">
            <a:avLst/>
          </a:prstGeom>
          <a:solidFill>
            <a:srgbClr val="F7F4F4"/>
          </a:solidFill>
          <a:ln/>
        </p:spPr>
      </p:sp>
      <p:sp>
        <p:nvSpPr>
          <p:cNvPr id="6" name="Shape 4"/>
          <p:cNvSpPr/>
          <p:nvPr/>
        </p:nvSpPr>
        <p:spPr>
          <a:xfrm>
            <a:off x="405354" y="3854379"/>
            <a:ext cx="2159996" cy="0"/>
          </a:xfrm>
          <a:prstGeom prst="line">
            <a:avLst/>
          </a:prstGeom>
          <a:noFill/>
          <a:ln w="9525">
            <a:solidFill>
              <a:srgbClr val="7B1E2B"/>
            </a:solidFill>
            <a:prstDash val="solid"/>
          </a:ln>
        </p:spPr>
      </p:sp>
      <p:sp>
        <p:nvSpPr>
          <p:cNvPr id="7" name="Shape 5"/>
          <p:cNvSpPr/>
          <p:nvPr/>
        </p:nvSpPr>
        <p:spPr>
          <a:xfrm>
            <a:off x="405354" y="6060735"/>
            <a:ext cx="2159996" cy="0"/>
          </a:xfrm>
          <a:prstGeom prst="line">
            <a:avLst/>
          </a:prstGeom>
          <a:noFill/>
          <a:ln w="9525">
            <a:solidFill>
              <a:srgbClr val="7B1E2B"/>
            </a:solidFill>
            <a:prstDash val="solid"/>
          </a:ln>
        </p:spPr>
      </p:sp>
      <p:sp>
        <p:nvSpPr>
          <p:cNvPr id="8" name="Shape 6"/>
          <p:cNvSpPr/>
          <p:nvPr/>
        </p:nvSpPr>
        <p:spPr>
          <a:xfrm>
            <a:off x="2745303" y="1210117"/>
            <a:ext cx="4409237" cy="0"/>
          </a:xfrm>
          <a:prstGeom prst="line">
            <a:avLst/>
          </a:prstGeom>
          <a:noFill/>
          <a:ln w="9525">
            <a:solidFill>
              <a:srgbClr val="7B1E2B"/>
            </a:solidFill>
            <a:prstDash val="solid"/>
          </a:ln>
        </p:spPr>
      </p:sp>
      <p:sp>
        <p:nvSpPr>
          <p:cNvPr id="9" name="Shape 7"/>
          <p:cNvSpPr/>
          <p:nvPr/>
        </p:nvSpPr>
        <p:spPr>
          <a:xfrm>
            <a:off x="7149785" y="1205362"/>
            <a:ext cx="0" cy="881024"/>
          </a:xfrm>
          <a:prstGeom prst="line">
            <a:avLst/>
          </a:prstGeom>
          <a:noFill/>
          <a:ln w="9525">
            <a:solidFill>
              <a:srgbClr val="7B1E2B"/>
            </a:solidFill>
            <a:prstDash val="solid"/>
          </a:ln>
        </p:spPr>
      </p:sp>
      <p:sp>
        <p:nvSpPr>
          <p:cNvPr id="10" name="Shape 8"/>
          <p:cNvSpPr/>
          <p:nvPr/>
        </p:nvSpPr>
        <p:spPr>
          <a:xfrm>
            <a:off x="2745303" y="2081723"/>
            <a:ext cx="4409237" cy="0"/>
          </a:xfrm>
          <a:prstGeom prst="line">
            <a:avLst/>
          </a:prstGeom>
          <a:noFill/>
          <a:ln w="9525">
            <a:solidFill>
              <a:srgbClr val="7B1E2B"/>
            </a:solidFill>
            <a:prstDash val="solid"/>
          </a:ln>
        </p:spPr>
      </p:sp>
      <p:sp>
        <p:nvSpPr>
          <p:cNvPr id="11" name="Shape 9"/>
          <p:cNvSpPr/>
          <p:nvPr/>
        </p:nvSpPr>
        <p:spPr>
          <a:xfrm>
            <a:off x="2764323" y="1205362"/>
            <a:ext cx="0" cy="881024"/>
          </a:xfrm>
          <a:prstGeom prst="line">
            <a:avLst/>
          </a:prstGeom>
          <a:noFill/>
          <a:ln w="38100">
            <a:solidFill>
              <a:srgbClr val="7B1E2B"/>
            </a:solidFill>
            <a:prstDash val="solid"/>
          </a:ln>
        </p:spPr>
      </p:sp>
      <p:sp>
        <p:nvSpPr>
          <p:cNvPr id="12" name="Shape 10"/>
          <p:cNvSpPr/>
          <p:nvPr/>
        </p:nvSpPr>
        <p:spPr>
          <a:xfrm>
            <a:off x="2745303" y="5422301"/>
            <a:ext cx="4409237" cy="0"/>
          </a:xfrm>
          <a:prstGeom prst="line">
            <a:avLst/>
          </a:prstGeom>
          <a:noFill/>
          <a:ln w="9525">
            <a:solidFill>
              <a:srgbClr val="7B1E2B"/>
            </a:solidFill>
            <a:prstDash val="solid"/>
          </a:ln>
        </p:spPr>
      </p:sp>
      <p:sp>
        <p:nvSpPr>
          <p:cNvPr id="13" name="Shape 11"/>
          <p:cNvSpPr/>
          <p:nvPr/>
        </p:nvSpPr>
        <p:spPr>
          <a:xfrm>
            <a:off x="405354" y="10369479"/>
            <a:ext cx="6749004" cy="0"/>
          </a:xfrm>
          <a:prstGeom prst="line">
            <a:avLst/>
          </a:prstGeom>
          <a:noFill/>
          <a:ln w="9525">
            <a:solidFill>
              <a:srgbClr val="BFBFBF"/>
            </a:solidFill>
            <a:prstDash val="solid"/>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354" y="932871"/>
          <a:ext cx="2159996" cy="914400"/>
        </p:xfrm>
        <a:graphic>
          <a:graphicData uri="http://schemas.openxmlformats.org/drawingml/2006/table">
            <a:tbl>
              <a:tblPr/>
              <a:tblGrid>
                <a:gridCol w="843717"/>
                <a:gridCol w="1316279"/>
              </a:tblGrid>
              <a:tr h="13990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Ngành</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Bao bì bền vững (B2B)</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Sản phẩm</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Hộp, khay, đệm từ bã mía + vỏ trứng</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Nhà máy</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Gia Lai (1 nhà máy)</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Thành lập (giả định)</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2021</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Giai đoạn</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Đầu tăng trưởng (z 35–45%)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Doanh thu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47,5 tỷ (+53,7%)</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Biên EBITDA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16,2%</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LNST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4,4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VCSH 31/12/2025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30,0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D/E 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6,5%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ROE 2025A / Ke</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15,9% / 15,9%</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Thị phần SAM 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4,3%</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WACC / g / z</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13,6% / 5,0% / 40%</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DCF / VCM / Multiples</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41,1 / 25,3 / 27,7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Pre-money (40/40/20)</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32,1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Khoảng giá trị</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19,7–49,2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354" y="7830922"/>
          <a:ext cx="2159996" cy="914400"/>
        </p:xfrm>
        <a:graphic>
          <a:graphicData uri="http://schemas.openxmlformats.org/drawingml/2006/table">
            <a:tbl>
              <a:tblPr/>
              <a:tblGrid>
                <a:gridCol w="1998055"/>
                <a:gridCol w="161940"/>
              </a:tblGrid>
              <a:tr h="140818">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1. Đề xuất ý tưởng khởi nghiệp</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2</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2. Báo cáo tài chính và xác định giai đoạn</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4</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3. Phân tích vĩ mô và phân tích ngành</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6</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4. Lập dự phóng pro forma 5 năm (2026E–2030E)</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12</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5. Định giá</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14</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8. Câu hỏi Bonus: định giá khi chưa có doanh thu</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15</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1">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16</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305" y="1386505"/>
          <a:ext cx="4217761" cy="914400"/>
        </p:xfrm>
        <a:graphic>
          <a:graphicData uri="http://schemas.openxmlformats.org/drawingml/2006/table">
            <a:tbl>
              <a:tblPr/>
              <a:tblGrid>
                <a:gridCol w="1307501"/>
                <a:gridCol w="2910261"/>
              </a:tblGrid>
              <a:tr h="246797">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Pre-money bình quân</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b="1" dirty="0">
                          <a:solidFill>
                            <a:srgbClr val="1F1F1F"/>
                          </a:solidFill>
                          <a:latin typeface="Calibri" pitchFamily="34" charset="0"/>
                          <a:ea typeface="Calibri" pitchFamily="34" charset="-122"/>
                          <a:cs typeface="Calibri" pitchFamily="34" charset="-120"/>
                        </a:rPr>
                        <a:t>32,1 tỷ đồng</a:t>
                      </a:r>
                      <a:pPr algn="l" indent="0" marL="0">
                        <a:buNone/>
                      </a:pPr>
                      <a:r>
                        <a:rPr lang="en-US" sz="710" dirty="0">
                          <a:solidFill>
                            <a:srgbClr val="1F1F1F"/>
                          </a:solidFill>
                          <a:latin typeface="Calibri" pitchFamily="34" charset="0"/>
                          <a:ea typeface="Calibri" pitchFamily="34" charset="-122"/>
                          <a:cs typeface="Calibri" pitchFamily="34" charset="-120"/>
                        </a:rPr>
                        <a:t> (khoảng 19,7–49,2 tỷ), trọng số DCF 40%, VC Method 40%, Multiples 20%</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DCF / VC Method / Multiples</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41,1 / 25,3 / 27,7 tỷ; DCF điều chỉnh xác suất sống sót 30,7 tỷ</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Chi phí vốn</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WACC 13,6%; Rf 3,92% (TPCP 10 năm, bình quân 10 năm); beta 1,48</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Hàm ý</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1,07 lần VCSH sổ sách; P/E 2025A 9,1 lần; EV/EBITDA 2025A 4,0 lần</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303" y="5691683"/>
          <a:ext cx="4409237" cy="914400"/>
        </p:xfrm>
        <a:graphic>
          <a:graphicData uri="http://schemas.openxmlformats.org/drawingml/2006/table">
            <a:tbl>
              <a:tblPr/>
              <a:tblGrid>
                <a:gridCol w="1016081"/>
                <a:gridCol w="424007"/>
                <a:gridCol w="424007"/>
                <a:gridCol w="424007"/>
                <a:gridCol w="424007"/>
                <a:gridCol w="424007"/>
                <a:gridCol w="424007"/>
                <a:gridCol w="424007"/>
                <a:gridCol w="425013"/>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2023A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2024A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Doanh thu thuần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19,4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141,6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170,3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Tăng trưởng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59,1%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25,2%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38,5%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28,3%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13">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gộp (70% lương, 90% KH vào GVHB)</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FCF/FCFF*</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CAPEX/doanh thu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ROIC</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8,0%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Vốn chủ sở hữu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19,1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25,6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105,0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Nợ vay</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pSp>
        <p:nvGrpSpPr>
          <p:cNvPr id="143" name="Fig. 01 – biểu đồ"/>
          <p:cNvGrpSpPr/>
          <p:nvPr/>
        </p:nvGrpSpPr>
        <p:grpSpPr>
          <a:xfrm>
            <a:off x="444764" y="4236964"/>
            <a:ext cx="2081266" cy="846734"/>
            <a:chOff x="444764" y="4236964"/>
            <a:chExt cx="2081266" cy="846734"/>
          </a:xfrm>
        </p:grpSpPr>
        <p:sp>
          <p:nvSpPr>
            <p:cNvPr id="18" name="svg0_0"/>
            <p:cNvSpPr/>
            <p:nvPr/>
          </p:nvSpPr>
          <p:spPr>
            <a:xfrm>
              <a:off x="1225205" y="4248120"/>
              <a:ext cx="1300825" cy="716615"/>
            </a:xfrm>
            <a:prstGeom prst="rect">
              <a:avLst/>
            </a:prstGeom>
            <a:solidFill>
              <a:srgbClr val="F3F1F1"/>
            </a:solidFill>
            <a:ln/>
          </p:spPr>
        </p:sp>
        <p:sp>
          <p:nvSpPr>
            <p:cNvPr id="19" name="svg0_1"/>
            <p:cNvSpPr/>
            <p:nvPr/>
          </p:nvSpPr>
          <p:spPr>
            <a:xfrm>
              <a:off x="494233" y="4894235"/>
              <a:ext cx="161300" cy="70592"/>
            </a:xfrm>
            <a:prstGeom prst="rect">
              <a:avLst/>
            </a:prstGeom>
            <a:solidFill>
              <a:srgbClr val="7B1E2B"/>
            </a:solidFill>
            <a:ln/>
          </p:spPr>
        </p:sp>
        <p:sp>
          <p:nvSpPr>
            <p:cNvPr id="20" name="svg0_2"/>
            <p:cNvSpPr txBox="1"/>
            <p:nvPr/>
          </p:nvSpPr>
          <p:spPr>
            <a:xfrm>
              <a:off x="507218" y="4784872"/>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19</a:t>
              </a:r>
              <a:endParaRPr lang="en-US" sz="649" dirty="0"/>
            </a:p>
          </p:txBody>
        </p:sp>
        <p:sp>
          <p:nvSpPr>
            <p:cNvPr id="21" name="svg0_3"/>
            <p:cNvSpPr txBox="1"/>
            <p:nvPr/>
          </p:nvSpPr>
          <p:spPr>
            <a:xfrm>
              <a:off x="487284"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22" name="svg0_4"/>
            <p:cNvSpPr/>
            <p:nvPr/>
          </p:nvSpPr>
          <p:spPr>
            <a:xfrm>
              <a:off x="754289" y="4852538"/>
              <a:ext cx="161300" cy="112288"/>
            </a:xfrm>
            <a:prstGeom prst="rect">
              <a:avLst/>
            </a:prstGeom>
            <a:solidFill>
              <a:srgbClr val="7B1E2B"/>
            </a:solidFill>
            <a:ln/>
          </p:spPr>
        </p:sp>
        <p:sp>
          <p:nvSpPr>
            <p:cNvPr id="23" name="svg0_5"/>
            <p:cNvSpPr txBox="1"/>
            <p:nvPr/>
          </p:nvSpPr>
          <p:spPr>
            <a:xfrm>
              <a:off x="768828" y="4743633"/>
              <a:ext cx="133320"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31</a:t>
              </a:r>
              <a:endParaRPr lang="en-US" sz="649" dirty="0"/>
            </a:p>
          </p:txBody>
        </p:sp>
        <p:sp>
          <p:nvSpPr>
            <p:cNvPr id="24" name="svg0_6"/>
            <p:cNvSpPr txBox="1"/>
            <p:nvPr/>
          </p:nvSpPr>
          <p:spPr>
            <a:xfrm>
              <a:off x="748436"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25" name="svg0_7"/>
            <p:cNvSpPr/>
            <p:nvPr/>
          </p:nvSpPr>
          <p:spPr>
            <a:xfrm>
              <a:off x="1014435" y="4792096"/>
              <a:ext cx="161392" cy="172730"/>
            </a:xfrm>
            <a:prstGeom prst="rect">
              <a:avLst/>
            </a:prstGeom>
            <a:solidFill>
              <a:srgbClr val="7B1E2B"/>
            </a:solidFill>
            <a:ln/>
          </p:spPr>
        </p:sp>
        <p:sp>
          <p:nvSpPr>
            <p:cNvPr id="26" name="svg0_8"/>
            <p:cNvSpPr txBox="1"/>
            <p:nvPr/>
          </p:nvSpPr>
          <p:spPr>
            <a:xfrm>
              <a:off x="1027603" y="4682734"/>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48</a:t>
              </a:r>
              <a:endParaRPr lang="en-US" sz="649" dirty="0"/>
            </a:p>
          </p:txBody>
        </p:sp>
        <p:sp>
          <p:nvSpPr>
            <p:cNvPr id="27" name="svg0_9"/>
            <p:cNvSpPr txBox="1"/>
            <p:nvPr/>
          </p:nvSpPr>
          <p:spPr>
            <a:xfrm>
              <a:off x="1007577"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28" name="svg0_10"/>
            <p:cNvSpPr/>
            <p:nvPr/>
          </p:nvSpPr>
          <p:spPr>
            <a:xfrm>
              <a:off x="1274674" y="4733666"/>
              <a:ext cx="161300" cy="231160"/>
            </a:xfrm>
            <a:prstGeom prst="rect">
              <a:avLst/>
            </a:prstGeom>
            <a:pattFill prst="wdUpDiag">
              <a:fgClr>
                <a:srgbClr val="7B1E2B"/>
              </a:fgClr>
              <a:bgClr>
                <a:srgbClr val="FFFFFF"/>
              </a:bgClr>
            </a:pattFill>
            <a:ln w="7874">
              <a:solidFill>
                <a:srgbClr val="7B1E2B"/>
              </a:solidFill>
              <a:prstDash val="solid"/>
            </a:ln>
          </p:spPr>
        </p:sp>
        <p:sp>
          <p:nvSpPr>
            <p:cNvPr id="29" name="svg0_11"/>
            <p:cNvSpPr txBox="1"/>
            <p:nvPr/>
          </p:nvSpPr>
          <p:spPr>
            <a:xfrm>
              <a:off x="1288755" y="4623846"/>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64</a:t>
              </a:r>
              <a:endParaRPr lang="en-US" sz="649" dirty="0"/>
            </a:p>
          </p:txBody>
        </p:sp>
        <p:sp>
          <p:nvSpPr>
            <p:cNvPr id="30" name="svg0_12"/>
            <p:cNvSpPr txBox="1"/>
            <p:nvPr/>
          </p:nvSpPr>
          <p:spPr>
            <a:xfrm>
              <a:off x="1272753"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31" name="svg0_13"/>
            <p:cNvSpPr/>
            <p:nvPr/>
          </p:nvSpPr>
          <p:spPr>
            <a:xfrm>
              <a:off x="1534729" y="4675236"/>
              <a:ext cx="161300" cy="289590"/>
            </a:xfrm>
            <a:prstGeom prst="rect">
              <a:avLst/>
            </a:prstGeom>
            <a:pattFill prst="wdUpDiag">
              <a:fgClr>
                <a:srgbClr val="7B1E2B"/>
              </a:fgClr>
              <a:bgClr>
                <a:srgbClr val="FFFFFF"/>
              </a:bgClr>
            </a:pattFill>
            <a:ln w="7874">
              <a:solidFill>
                <a:srgbClr val="7B1E2B"/>
              </a:solidFill>
              <a:prstDash val="solid"/>
            </a:ln>
          </p:spPr>
        </p:sp>
        <p:sp>
          <p:nvSpPr>
            <p:cNvPr id="32" name="svg0_14"/>
            <p:cNvSpPr txBox="1"/>
            <p:nvPr/>
          </p:nvSpPr>
          <p:spPr>
            <a:xfrm>
              <a:off x="1547896" y="4565874"/>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80</a:t>
              </a:r>
              <a:endParaRPr lang="en-US" sz="649" dirty="0"/>
            </a:p>
          </p:txBody>
        </p:sp>
        <p:sp>
          <p:nvSpPr>
            <p:cNvPr id="33" name="svg0_15"/>
            <p:cNvSpPr txBox="1"/>
            <p:nvPr/>
          </p:nvSpPr>
          <p:spPr>
            <a:xfrm>
              <a:off x="1531986"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34" name="svg0_16"/>
            <p:cNvSpPr/>
            <p:nvPr/>
          </p:nvSpPr>
          <p:spPr>
            <a:xfrm>
              <a:off x="1794876" y="4563862"/>
              <a:ext cx="161392" cy="400873"/>
            </a:xfrm>
            <a:prstGeom prst="rect">
              <a:avLst/>
            </a:prstGeom>
            <a:pattFill prst="wdUpDiag">
              <a:fgClr>
                <a:srgbClr val="7B1E2B"/>
              </a:fgClr>
              <a:bgClr>
                <a:srgbClr val="FFFFFF"/>
              </a:bgClr>
            </a:pattFill>
            <a:ln w="7874">
              <a:solidFill>
                <a:srgbClr val="7B1E2B"/>
              </a:solidFill>
              <a:prstDash val="solid"/>
            </a:ln>
          </p:spPr>
        </p:sp>
        <p:sp>
          <p:nvSpPr>
            <p:cNvPr id="35" name="svg0_17"/>
            <p:cNvSpPr txBox="1"/>
            <p:nvPr/>
          </p:nvSpPr>
          <p:spPr>
            <a:xfrm>
              <a:off x="1785366" y="4454957"/>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110</a:t>
              </a:r>
              <a:endParaRPr lang="en-US" sz="649" dirty="0"/>
            </a:p>
          </p:txBody>
        </p:sp>
        <p:sp>
          <p:nvSpPr>
            <p:cNvPr id="36" name="svg0_18"/>
            <p:cNvSpPr txBox="1"/>
            <p:nvPr/>
          </p:nvSpPr>
          <p:spPr>
            <a:xfrm>
              <a:off x="1793047"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37" name="svg0_19"/>
            <p:cNvSpPr/>
            <p:nvPr/>
          </p:nvSpPr>
          <p:spPr>
            <a:xfrm>
              <a:off x="2055114" y="4450568"/>
              <a:ext cx="161300" cy="514259"/>
            </a:xfrm>
            <a:prstGeom prst="rect">
              <a:avLst/>
            </a:prstGeom>
            <a:pattFill prst="wdUpDiag">
              <a:fgClr>
                <a:srgbClr val="7B1E2B"/>
              </a:fgClr>
              <a:bgClr>
                <a:srgbClr val="FFFFFF"/>
              </a:bgClr>
            </a:pattFill>
            <a:ln w="7874">
              <a:solidFill>
                <a:srgbClr val="7B1E2B"/>
              </a:solidFill>
              <a:prstDash val="solid"/>
            </a:ln>
          </p:spPr>
        </p:sp>
        <p:sp>
          <p:nvSpPr>
            <p:cNvPr id="38" name="svg0_20"/>
            <p:cNvSpPr txBox="1"/>
            <p:nvPr/>
          </p:nvSpPr>
          <p:spPr>
            <a:xfrm>
              <a:off x="2044507" y="4341114"/>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142</a:t>
              </a:r>
              <a:endParaRPr lang="en-US" sz="649" dirty="0"/>
            </a:p>
          </p:txBody>
        </p:sp>
        <p:sp>
          <p:nvSpPr>
            <p:cNvPr id="39" name="svg0_21"/>
            <p:cNvSpPr txBox="1"/>
            <p:nvPr/>
          </p:nvSpPr>
          <p:spPr>
            <a:xfrm>
              <a:off x="2052279"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40" name="svg0_22"/>
            <p:cNvSpPr/>
            <p:nvPr/>
          </p:nvSpPr>
          <p:spPr>
            <a:xfrm>
              <a:off x="2315261" y="4346326"/>
              <a:ext cx="161392" cy="618500"/>
            </a:xfrm>
            <a:prstGeom prst="rect">
              <a:avLst/>
            </a:prstGeom>
            <a:pattFill prst="wdUpDiag">
              <a:fgClr>
                <a:srgbClr val="7B1E2B"/>
              </a:fgClr>
              <a:bgClr>
                <a:srgbClr val="FFFFFF"/>
              </a:bgClr>
            </a:pattFill>
            <a:ln w="7874">
              <a:solidFill>
                <a:srgbClr val="7B1E2B"/>
              </a:solidFill>
              <a:prstDash val="solid"/>
            </a:ln>
          </p:spPr>
        </p:sp>
        <p:sp>
          <p:nvSpPr>
            <p:cNvPr id="41" name="svg0_23"/>
            <p:cNvSpPr txBox="1"/>
            <p:nvPr/>
          </p:nvSpPr>
          <p:spPr>
            <a:xfrm>
              <a:off x="2305568" y="4236964"/>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170</a:t>
              </a:r>
              <a:endParaRPr lang="en-US" sz="649" dirty="0"/>
            </a:p>
          </p:txBody>
        </p:sp>
        <p:sp>
          <p:nvSpPr>
            <p:cNvPr id="42" name="svg0_24"/>
            <p:cNvSpPr txBox="1"/>
            <p:nvPr/>
          </p:nvSpPr>
          <p:spPr>
            <a:xfrm>
              <a:off x="2313341"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43" name="svg0_25"/>
            <p:cNvSpPr/>
            <p:nvPr/>
          </p:nvSpPr>
          <p:spPr>
            <a:xfrm>
              <a:off x="444764" y="4964826"/>
              <a:ext cx="2081266" cy="0"/>
            </a:xfrm>
            <a:prstGeom prst="line">
              <a:avLst/>
            </a:prstGeom>
            <a:noFill/>
            <a:ln w="6858">
              <a:solidFill>
                <a:srgbClr val="8C8C8C"/>
              </a:solidFill>
              <a:prstDash val="solid"/>
            </a:ln>
          </p:spPr>
        </p:sp>
      </p:grpSp>
      <p:grpSp>
        <p:nvGrpSpPr>
          <p:cNvPr id="144" name="Fig. 01 – biểu đồ"/>
          <p:cNvGrpSpPr/>
          <p:nvPr/>
        </p:nvGrpSpPr>
        <p:grpSpPr>
          <a:xfrm>
            <a:off x="383591" y="5225156"/>
            <a:ext cx="2199864" cy="556412"/>
            <a:chOff x="383591" y="5225156"/>
            <a:chExt cx="2199864" cy="556412"/>
          </a:xfrm>
        </p:grpSpPr>
        <p:sp>
          <p:nvSpPr>
            <p:cNvPr id="44" name="svg1_26"/>
            <p:cNvSpPr/>
            <p:nvPr/>
          </p:nvSpPr>
          <p:spPr>
            <a:xfrm>
              <a:off x="1300277" y="5242438"/>
              <a:ext cx="1225753" cy="422178"/>
            </a:xfrm>
            <a:prstGeom prst="rect">
              <a:avLst/>
            </a:prstGeom>
            <a:solidFill>
              <a:srgbClr val="F3F1F1"/>
            </a:solidFill>
            <a:ln/>
          </p:spPr>
        </p:sp>
        <p:sp>
          <p:nvSpPr>
            <p:cNvPr id="45" name="svg1_27"/>
            <p:cNvSpPr/>
            <p:nvPr/>
          </p:nvSpPr>
          <p:spPr>
            <a:xfrm>
              <a:off x="621426" y="5664617"/>
              <a:ext cx="1885036" cy="0"/>
            </a:xfrm>
            <a:prstGeom prst="line">
              <a:avLst/>
            </a:prstGeom>
            <a:noFill/>
            <a:ln w="4953">
              <a:solidFill>
                <a:srgbClr val="E4E4E4"/>
              </a:solidFill>
              <a:prstDash val="solid"/>
            </a:ln>
          </p:spPr>
        </p:sp>
        <p:sp>
          <p:nvSpPr>
            <p:cNvPr id="46" name="svg1_28"/>
            <p:cNvSpPr txBox="1"/>
            <p:nvPr/>
          </p:nvSpPr>
          <p:spPr>
            <a:xfrm>
              <a:off x="383591" y="5613959"/>
              <a:ext cx="224851"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47" name="svg1_29"/>
            <p:cNvSpPr/>
            <p:nvPr/>
          </p:nvSpPr>
          <p:spPr>
            <a:xfrm>
              <a:off x="621426" y="5503682"/>
              <a:ext cx="1885036" cy="0"/>
            </a:xfrm>
            <a:prstGeom prst="line">
              <a:avLst/>
            </a:prstGeom>
            <a:noFill/>
            <a:ln w="4953">
              <a:solidFill>
                <a:srgbClr val="E4E4E4"/>
              </a:solidFill>
              <a:prstDash val="solid"/>
            </a:ln>
          </p:spPr>
        </p:sp>
        <p:sp>
          <p:nvSpPr>
            <p:cNvPr id="48" name="svg1_30"/>
            <p:cNvSpPr txBox="1"/>
            <p:nvPr/>
          </p:nvSpPr>
          <p:spPr>
            <a:xfrm>
              <a:off x="464424" y="5452933"/>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49" name="svg1_31"/>
            <p:cNvSpPr/>
            <p:nvPr/>
          </p:nvSpPr>
          <p:spPr>
            <a:xfrm>
              <a:off x="621426" y="5342565"/>
              <a:ext cx="1885036" cy="0"/>
            </a:xfrm>
            <a:prstGeom prst="line">
              <a:avLst/>
            </a:prstGeom>
            <a:noFill/>
            <a:ln w="4953">
              <a:solidFill>
                <a:srgbClr val="E4E4E4"/>
              </a:solidFill>
              <a:prstDash val="solid"/>
            </a:ln>
          </p:spPr>
        </p:sp>
        <p:sp>
          <p:nvSpPr>
            <p:cNvPr id="50" name="svg1_32"/>
            <p:cNvSpPr txBox="1"/>
            <p:nvPr/>
          </p:nvSpPr>
          <p:spPr>
            <a:xfrm>
              <a:off x="423642" y="5291907"/>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51" name="svg1_33"/>
            <p:cNvSpPr/>
            <p:nvPr/>
          </p:nvSpPr>
          <p:spPr>
            <a:xfrm>
              <a:off x="621426" y="5503682"/>
              <a:ext cx="1885036" cy="0"/>
            </a:xfrm>
            <a:prstGeom prst="line">
              <a:avLst/>
            </a:prstGeom>
            <a:noFill/>
            <a:ln w="6858">
              <a:solidFill>
                <a:srgbClr val="8C8C8C"/>
              </a:solidFill>
              <a:prstDash val="solid"/>
            </a:ln>
          </p:spPr>
        </p:sp>
        <p:sp>
          <p:nvSpPr>
            <p:cNvPr id="52" name="svg1_34"/>
            <p:cNvSpPr txBox="1"/>
            <p:nvPr/>
          </p:nvSpPr>
          <p:spPr>
            <a:xfrm>
              <a:off x="554035"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53" name="svg1_35"/>
            <p:cNvSpPr txBox="1"/>
            <p:nvPr/>
          </p:nvSpPr>
          <p:spPr>
            <a:xfrm>
              <a:off x="818114"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54" name="svg1_36"/>
            <p:cNvSpPr txBox="1"/>
            <p:nvPr/>
          </p:nvSpPr>
          <p:spPr>
            <a:xfrm>
              <a:off x="1081187"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55" name="svg1_37"/>
            <p:cNvSpPr txBox="1"/>
            <p:nvPr/>
          </p:nvSpPr>
          <p:spPr>
            <a:xfrm>
              <a:off x="1349380"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56" name="svg1_38"/>
            <p:cNvSpPr txBox="1"/>
            <p:nvPr/>
          </p:nvSpPr>
          <p:spPr>
            <a:xfrm>
              <a:off x="1612453"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57" name="svg1_39"/>
            <p:cNvSpPr txBox="1"/>
            <p:nvPr/>
          </p:nvSpPr>
          <p:spPr>
            <a:xfrm>
              <a:off x="1876532"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58" name="svg1_40"/>
            <p:cNvSpPr txBox="1"/>
            <p:nvPr/>
          </p:nvSpPr>
          <p:spPr>
            <a:xfrm>
              <a:off x="2139605"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59" name="svg1_41"/>
            <p:cNvSpPr txBox="1"/>
            <p:nvPr/>
          </p:nvSpPr>
          <p:spPr>
            <a:xfrm>
              <a:off x="2403775"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60" name="svg1_42"/>
            <p:cNvSpPr/>
            <p:nvPr/>
          </p:nvSpPr>
          <p:spPr>
            <a:xfrm>
              <a:off x="640994" y="5340828"/>
              <a:ext cx="1845716" cy="277063"/>
            </a:xfrm>
            <a:custGeom>
              <a:avLst/>
              <a:gdLst/>
              <a:ahLst/>
              <a:cxnLst/>
              <a:rect l="l" t="t" r="r" b="b"/>
              <a:pathLst>
                <a:path w="1845716" h="277063">
                  <a:moveTo>
                    <a:pt x="0" y="277063"/>
                  </a:moveTo>
                  <a:lnTo>
                    <a:pt x="263713" y="110277"/>
                  </a:lnTo>
                  <a:lnTo>
                    <a:pt x="527334" y="32461"/>
                  </a:lnTo>
                  <a:lnTo>
                    <a:pt x="791047" y="18837"/>
                  </a:lnTo>
                  <a:lnTo>
                    <a:pt x="1054669" y="18654"/>
                  </a:lnTo>
                  <a:lnTo>
                    <a:pt x="1318473" y="33284"/>
                  </a:lnTo>
                  <a:lnTo>
                    <a:pt x="1582003" y="9693"/>
                  </a:lnTo>
                  <a:lnTo>
                    <a:pt x="1845716" y="0"/>
                  </a:lnTo>
                </a:path>
              </a:pathLst>
            </a:custGeom>
            <a:noFill/>
            <a:ln w="15748">
              <a:solidFill>
                <a:srgbClr val="7B1E2B"/>
              </a:solidFill>
              <a:prstDash val="solid"/>
            </a:ln>
          </p:spPr>
        </p:sp>
        <p:sp>
          <p:nvSpPr>
            <p:cNvPr id="61" name="svg1_43"/>
            <p:cNvSpPr/>
            <p:nvPr/>
          </p:nvSpPr>
          <p:spPr>
            <a:xfrm>
              <a:off x="620420" y="5597408"/>
              <a:ext cx="41239" cy="41239"/>
            </a:xfrm>
            <a:prstGeom prst="ellipse">
              <a:avLst/>
            </a:prstGeom>
            <a:solidFill>
              <a:srgbClr val="7B1E2B"/>
            </a:solidFill>
            <a:ln w="7874">
              <a:solidFill>
                <a:srgbClr val="FFFFFF"/>
              </a:solidFill>
              <a:prstDash val="solid"/>
            </a:ln>
          </p:spPr>
        </p:sp>
        <p:sp>
          <p:nvSpPr>
            <p:cNvPr id="62" name="svg1_44"/>
            <p:cNvSpPr/>
            <p:nvPr/>
          </p:nvSpPr>
          <p:spPr>
            <a:xfrm>
              <a:off x="884225" y="5430622"/>
              <a:ext cx="41239" cy="41239"/>
            </a:xfrm>
            <a:prstGeom prst="ellipse">
              <a:avLst/>
            </a:prstGeom>
            <a:solidFill>
              <a:srgbClr val="7B1E2B"/>
            </a:solidFill>
            <a:ln w="7874">
              <a:solidFill>
                <a:srgbClr val="FFFFFF"/>
              </a:solidFill>
              <a:prstDash val="solid"/>
            </a:ln>
          </p:spPr>
        </p:sp>
        <p:sp>
          <p:nvSpPr>
            <p:cNvPr id="63" name="svg1_45"/>
            <p:cNvSpPr/>
            <p:nvPr/>
          </p:nvSpPr>
          <p:spPr>
            <a:xfrm>
              <a:off x="1147755" y="5352806"/>
              <a:ext cx="41239" cy="41239"/>
            </a:xfrm>
            <a:prstGeom prst="ellipse">
              <a:avLst/>
            </a:prstGeom>
            <a:solidFill>
              <a:srgbClr val="7B1E2B"/>
            </a:solidFill>
            <a:ln w="7874">
              <a:solidFill>
                <a:srgbClr val="FFFFFF"/>
              </a:solidFill>
              <a:prstDash val="solid"/>
            </a:ln>
          </p:spPr>
        </p:sp>
        <p:sp>
          <p:nvSpPr>
            <p:cNvPr id="64" name="svg1_46"/>
            <p:cNvSpPr/>
            <p:nvPr/>
          </p:nvSpPr>
          <p:spPr>
            <a:xfrm>
              <a:off x="1411468" y="5339182"/>
              <a:ext cx="41239" cy="41239"/>
            </a:xfrm>
            <a:prstGeom prst="ellipse">
              <a:avLst/>
            </a:prstGeom>
            <a:solidFill>
              <a:srgbClr val="7B1E2B"/>
            </a:solidFill>
            <a:ln w="7874">
              <a:solidFill>
                <a:srgbClr val="FFFFFF"/>
              </a:solidFill>
              <a:prstDash val="solid"/>
            </a:ln>
          </p:spPr>
        </p:sp>
        <p:sp>
          <p:nvSpPr>
            <p:cNvPr id="65" name="svg1_47"/>
            <p:cNvSpPr/>
            <p:nvPr/>
          </p:nvSpPr>
          <p:spPr>
            <a:xfrm>
              <a:off x="1675181" y="5338999"/>
              <a:ext cx="41239" cy="41239"/>
            </a:xfrm>
            <a:prstGeom prst="ellipse">
              <a:avLst/>
            </a:prstGeom>
            <a:solidFill>
              <a:srgbClr val="7B1E2B"/>
            </a:solidFill>
            <a:ln w="7874">
              <a:solidFill>
                <a:srgbClr val="FFFFFF"/>
              </a:solidFill>
              <a:prstDash val="solid"/>
            </a:ln>
          </p:spPr>
        </p:sp>
        <p:sp>
          <p:nvSpPr>
            <p:cNvPr id="66" name="svg1_48"/>
            <p:cNvSpPr/>
            <p:nvPr/>
          </p:nvSpPr>
          <p:spPr>
            <a:xfrm>
              <a:off x="1938894" y="5353538"/>
              <a:ext cx="41239" cy="41239"/>
            </a:xfrm>
            <a:prstGeom prst="ellipse">
              <a:avLst/>
            </a:prstGeom>
            <a:solidFill>
              <a:srgbClr val="7B1E2B"/>
            </a:solidFill>
            <a:ln w="7874">
              <a:solidFill>
                <a:srgbClr val="FFFFFF"/>
              </a:solidFill>
              <a:prstDash val="solid"/>
            </a:ln>
          </p:spPr>
        </p:sp>
        <p:sp>
          <p:nvSpPr>
            <p:cNvPr id="67" name="svg1_49"/>
            <p:cNvSpPr/>
            <p:nvPr/>
          </p:nvSpPr>
          <p:spPr>
            <a:xfrm>
              <a:off x="2202424" y="5330038"/>
              <a:ext cx="41239" cy="41239"/>
            </a:xfrm>
            <a:prstGeom prst="ellipse">
              <a:avLst/>
            </a:prstGeom>
            <a:solidFill>
              <a:srgbClr val="7B1E2B"/>
            </a:solidFill>
            <a:ln w="7874">
              <a:solidFill>
                <a:srgbClr val="FFFFFF"/>
              </a:solidFill>
              <a:prstDash val="solid"/>
            </a:ln>
          </p:spPr>
        </p:sp>
        <p:sp>
          <p:nvSpPr>
            <p:cNvPr id="68" name="svg1_50"/>
            <p:cNvSpPr/>
            <p:nvPr/>
          </p:nvSpPr>
          <p:spPr>
            <a:xfrm>
              <a:off x="2466228" y="5320254"/>
              <a:ext cx="41239" cy="41239"/>
            </a:xfrm>
            <a:prstGeom prst="ellipse">
              <a:avLst/>
            </a:prstGeom>
            <a:solidFill>
              <a:srgbClr val="7B1E2B"/>
            </a:solidFill>
            <a:ln w="7874">
              <a:solidFill>
                <a:srgbClr val="FFFFFF"/>
              </a:solidFill>
              <a:prstDash val="solid"/>
            </a:ln>
          </p:spPr>
        </p:sp>
        <p:sp>
          <p:nvSpPr>
            <p:cNvPr id="69" name="svg1_51"/>
            <p:cNvSpPr txBox="1"/>
            <p:nvPr/>
          </p:nvSpPr>
          <p:spPr>
            <a:xfrm>
              <a:off x="680405" y="5576560"/>
              <a:ext cx="231709"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a:t>
              </a:r>
              <a:endParaRPr lang="en-US" sz="588" dirty="0"/>
            </a:p>
          </p:txBody>
        </p:sp>
        <p:sp>
          <p:nvSpPr>
            <p:cNvPr id="70" name="svg1_52"/>
            <p:cNvSpPr txBox="1"/>
            <p:nvPr/>
          </p:nvSpPr>
          <p:spPr>
            <a:xfrm>
              <a:off x="1075517" y="5257526"/>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1" name="svg1_53"/>
            <p:cNvSpPr txBox="1"/>
            <p:nvPr/>
          </p:nvSpPr>
          <p:spPr>
            <a:xfrm>
              <a:off x="1339505" y="5243810"/>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18%</a:t>
              </a:r>
              <a:endParaRPr lang="en-US" sz="588" dirty="0"/>
            </a:p>
          </p:txBody>
        </p:sp>
        <p:sp>
          <p:nvSpPr>
            <p:cNvPr id="72" name="svg1_54"/>
            <p:cNvSpPr txBox="1"/>
            <p:nvPr/>
          </p:nvSpPr>
          <p:spPr>
            <a:xfrm>
              <a:off x="1866748" y="539102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3" name="svg1_55"/>
            <p:cNvSpPr txBox="1"/>
            <p:nvPr/>
          </p:nvSpPr>
          <p:spPr>
            <a:xfrm>
              <a:off x="2393991" y="5225156"/>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grpSp>
      <p:grpSp>
        <p:nvGrpSpPr>
          <p:cNvPr id="145" name="Fig. 02 – biểu đồ"/>
          <p:cNvGrpSpPr/>
          <p:nvPr/>
        </p:nvGrpSpPr>
        <p:grpSpPr>
          <a:xfrm>
            <a:off x="342534" y="6466545"/>
            <a:ext cx="2186788" cy="949056"/>
            <a:chOff x="342534" y="6466545"/>
            <a:chExt cx="2186788" cy="949056"/>
          </a:xfrm>
        </p:grpSpPr>
        <p:sp>
          <p:nvSpPr>
            <p:cNvPr id="74" name="svg2_56"/>
            <p:cNvSpPr/>
            <p:nvPr/>
          </p:nvSpPr>
          <p:spPr>
            <a:xfrm>
              <a:off x="1112368" y="6567312"/>
              <a:ext cx="0" cy="736275"/>
            </a:xfrm>
            <a:prstGeom prst="line">
              <a:avLst/>
            </a:prstGeom>
            <a:noFill/>
            <a:ln w="4953">
              <a:solidFill>
                <a:srgbClr val="E4E4E4"/>
              </a:solidFill>
              <a:prstDash val="solid"/>
            </a:ln>
          </p:spPr>
        </p:sp>
        <p:sp>
          <p:nvSpPr>
            <p:cNvPr id="75" name="svg2_57"/>
            <p:cNvSpPr txBox="1"/>
            <p:nvPr/>
          </p:nvSpPr>
          <p:spPr>
            <a:xfrm>
              <a:off x="1072683" y="7310811"/>
              <a:ext cx="8156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76" name="svg2_58"/>
            <p:cNvSpPr/>
            <p:nvPr/>
          </p:nvSpPr>
          <p:spPr>
            <a:xfrm>
              <a:off x="1305763" y="6567312"/>
              <a:ext cx="0" cy="736275"/>
            </a:xfrm>
            <a:prstGeom prst="line">
              <a:avLst/>
            </a:prstGeom>
            <a:noFill/>
            <a:ln w="4953">
              <a:solidFill>
                <a:srgbClr val="E4E4E4"/>
              </a:solidFill>
              <a:prstDash val="solid"/>
            </a:ln>
          </p:spPr>
        </p:sp>
        <p:sp>
          <p:nvSpPr>
            <p:cNvPr id="77" name="svg2_59"/>
            <p:cNvSpPr txBox="1"/>
            <p:nvPr/>
          </p:nvSpPr>
          <p:spPr>
            <a:xfrm>
              <a:off x="1245779"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78" name="svg2_60"/>
            <p:cNvSpPr/>
            <p:nvPr/>
          </p:nvSpPr>
          <p:spPr>
            <a:xfrm>
              <a:off x="1499433" y="6567312"/>
              <a:ext cx="0" cy="736275"/>
            </a:xfrm>
            <a:prstGeom prst="line">
              <a:avLst/>
            </a:prstGeom>
            <a:noFill/>
            <a:ln w="4953">
              <a:solidFill>
                <a:srgbClr val="E4E4E4"/>
              </a:solidFill>
              <a:prstDash val="solid"/>
            </a:ln>
          </p:spPr>
        </p:sp>
        <p:sp>
          <p:nvSpPr>
            <p:cNvPr id="79" name="svg2_61"/>
            <p:cNvSpPr txBox="1"/>
            <p:nvPr/>
          </p:nvSpPr>
          <p:spPr>
            <a:xfrm>
              <a:off x="1439083"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80" name="svg2_62"/>
            <p:cNvSpPr/>
            <p:nvPr/>
          </p:nvSpPr>
          <p:spPr>
            <a:xfrm>
              <a:off x="1692920" y="6567312"/>
              <a:ext cx="0" cy="736275"/>
            </a:xfrm>
            <a:prstGeom prst="line">
              <a:avLst/>
            </a:prstGeom>
            <a:noFill/>
            <a:ln w="4953">
              <a:solidFill>
                <a:srgbClr val="E4E4E4"/>
              </a:solidFill>
              <a:prstDash val="solid"/>
            </a:ln>
          </p:spPr>
        </p:sp>
        <p:sp>
          <p:nvSpPr>
            <p:cNvPr id="81" name="svg2_63"/>
            <p:cNvSpPr txBox="1"/>
            <p:nvPr/>
          </p:nvSpPr>
          <p:spPr>
            <a:xfrm>
              <a:off x="1632478"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82" name="svg2_64"/>
            <p:cNvSpPr/>
            <p:nvPr/>
          </p:nvSpPr>
          <p:spPr>
            <a:xfrm>
              <a:off x="1886499" y="6567312"/>
              <a:ext cx="0" cy="736275"/>
            </a:xfrm>
            <a:prstGeom prst="line">
              <a:avLst/>
            </a:prstGeom>
            <a:noFill/>
            <a:ln w="4953">
              <a:solidFill>
                <a:srgbClr val="E4E4E4"/>
              </a:solidFill>
              <a:prstDash val="solid"/>
            </a:ln>
          </p:spPr>
        </p:sp>
        <p:sp>
          <p:nvSpPr>
            <p:cNvPr id="83" name="svg2_65"/>
            <p:cNvSpPr txBox="1"/>
            <p:nvPr/>
          </p:nvSpPr>
          <p:spPr>
            <a:xfrm>
              <a:off x="1826880"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84" name="svg2_66"/>
            <p:cNvSpPr/>
            <p:nvPr/>
          </p:nvSpPr>
          <p:spPr>
            <a:xfrm>
              <a:off x="2079986" y="6567312"/>
              <a:ext cx="0" cy="736275"/>
            </a:xfrm>
            <a:prstGeom prst="line">
              <a:avLst/>
            </a:prstGeom>
            <a:noFill/>
            <a:ln w="4953">
              <a:solidFill>
                <a:srgbClr val="E4E4E4"/>
              </a:solidFill>
              <a:prstDash val="solid"/>
            </a:ln>
          </p:spPr>
        </p:sp>
        <p:sp>
          <p:nvSpPr>
            <p:cNvPr id="85" name="svg2_67"/>
            <p:cNvSpPr txBox="1"/>
            <p:nvPr/>
          </p:nvSpPr>
          <p:spPr>
            <a:xfrm>
              <a:off x="2020367"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86" name="svg2_68"/>
            <p:cNvSpPr/>
            <p:nvPr/>
          </p:nvSpPr>
          <p:spPr>
            <a:xfrm>
              <a:off x="2273656" y="6567312"/>
              <a:ext cx="0" cy="736275"/>
            </a:xfrm>
            <a:prstGeom prst="line">
              <a:avLst/>
            </a:prstGeom>
            <a:noFill/>
            <a:ln w="4953">
              <a:solidFill>
                <a:srgbClr val="E4E4E4"/>
              </a:solidFill>
              <a:prstDash val="solid"/>
            </a:ln>
          </p:spPr>
        </p:sp>
        <p:sp>
          <p:nvSpPr>
            <p:cNvPr id="87" name="svg2_69"/>
            <p:cNvSpPr txBox="1"/>
            <p:nvPr/>
          </p:nvSpPr>
          <p:spPr>
            <a:xfrm>
              <a:off x="2213671"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60</a:t>
              </a:r>
              <a:endParaRPr lang="en-US" sz="557" dirty="0"/>
            </a:p>
          </p:txBody>
        </p:sp>
        <p:sp>
          <p:nvSpPr>
            <p:cNvPr id="88" name="svg2_70"/>
            <p:cNvSpPr/>
            <p:nvPr/>
          </p:nvSpPr>
          <p:spPr>
            <a:xfrm>
              <a:off x="2467051" y="6567312"/>
              <a:ext cx="0" cy="736275"/>
            </a:xfrm>
            <a:prstGeom prst="line">
              <a:avLst/>
            </a:prstGeom>
            <a:noFill/>
            <a:ln w="4953">
              <a:solidFill>
                <a:srgbClr val="E4E4E4"/>
              </a:solidFill>
              <a:prstDash val="solid"/>
            </a:ln>
          </p:spPr>
        </p:sp>
        <p:sp>
          <p:nvSpPr>
            <p:cNvPr id="89" name="svg2_71"/>
            <p:cNvSpPr txBox="1"/>
            <p:nvPr/>
          </p:nvSpPr>
          <p:spPr>
            <a:xfrm>
              <a:off x="2407067"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70</a:t>
              </a:r>
              <a:endParaRPr lang="en-US" sz="557" dirty="0"/>
            </a:p>
          </p:txBody>
        </p:sp>
        <p:sp>
          <p:nvSpPr>
            <p:cNvPr id="90" name="svg2_72"/>
            <p:cNvSpPr txBox="1"/>
            <p:nvPr/>
          </p:nvSpPr>
          <p:spPr>
            <a:xfrm>
              <a:off x="897666" y="6593190"/>
              <a:ext cx="1791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DCF</a:t>
              </a:r>
              <a:endParaRPr lang="en-US" sz="587" dirty="0"/>
            </a:p>
          </p:txBody>
        </p:sp>
        <p:sp>
          <p:nvSpPr>
            <p:cNvPr id="91" name="svg2_73"/>
            <p:cNvSpPr/>
            <p:nvPr/>
          </p:nvSpPr>
          <p:spPr>
            <a:xfrm>
              <a:off x="1674724" y="6596756"/>
              <a:ext cx="602407" cy="88331"/>
            </a:xfrm>
            <a:prstGeom prst="rect">
              <a:avLst/>
            </a:prstGeom>
            <a:solidFill>
              <a:srgbClr val="404040"/>
            </a:solidFill>
            <a:ln/>
          </p:spPr>
        </p:sp>
        <p:sp>
          <p:nvSpPr>
            <p:cNvPr id="92" name="svg2_74"/>
            <p:cNvSpPr txBox="1"/>
            <p:nvPr/>
          </p:nvSpPr>
          <p:spPr>
            <a:xfrm>
              <a:off x="1474470" y="6593190"/>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29,1</a:t>
              </a:r>
              <a:endParaRPr lang="en-US" sz="557" dirty="0"/>
            </a:p>
          </p:txBody>
        </p:sp>
        <p:sp>
          <p:nvSpPr>
            <p:cNvPr id="93" name="svg2_75"/>
            <p:cNvSpPr txBox="1"/>
            <p:nvPr/>
          </p:nvSpPr>
          <p:spPr>
            <a:xfrm>
              <a:off x="2296241" y="6593190"/>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60,2</a:t>
              </a:r>
              <a:endParaRPr lang="en-US" sz="557" dirty="0"/>
            </a:p>
          </p:txBody>
        </p:sp>
        <p:sp>
          <p:nvSpPr>
            <p:cNvPr id="94" name="svg2_76"/>
            <p:cNvSpPr/>
            <p:nvPr/>
          </p:nvSpPr>
          <p:spPr>
            <a:xfrm>
              <a:off x="1907896" y="6584960"/>
              <a:ext cx="0" cy="111923"/>
            </a:xfrm>
            <a:prstGeom prst="line">
              <a:avLst/>
            </a:prstGeom>
            <a:noFill/>
            <a:ln w="13716">
              <a:solidFill>
                <a:srgbClr val="FFFFFF"/>
              </a:solidFill>
              <a:prstDash val="solid"/>
            </a:ln>
          </p:spPr>
        </p:sp>
        <p:sp>
          <p:nvSpPr>
            <p:cNvPr id="95" name="svg2_77"/>
            <p:cNvSpPr txBox="1"/>
            <p:nvPr/>
          </p:nvSpPr>
          <p:spPr>
            <a:xfrm>
              <a:off x="645749" y="6769852"/>
              <a:ext cx="42729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VC Method</a:t>
              </a:r>
              <a:endParaRPr lang="en-US" sz="587" dirty="0"/>
            </a:p>
          </p:txBody>
        </p:sp>
        <p:sp>
          <p:nvSpPr>
            <p:cNvPr id="96" name="svg2_78"/>
            <p:cNvSpPr/>
            <p:nvPr/>
          </p:nvSpPr>
          <p:spPr>
            <a:xfrm>
              <a:off x="1333104" y="6773418"/>
              <a:ext cx="568208" cy="88422"/>
            </a:xfrm>
            <a:prstGeom prst="rect">
              <a:avLst/>
            </a:prstGeom>
            <a:solidFill>
              <a:srgbClr val="A3A3A3"/>
            </a:solidFill>
            <a:ln/>
          </p:spPr>
        </p:sp>
        <p:sp>
          <p:nvSpPr>
            <p:cNvPr id="97" name="svg2_79"/>
            <p:cNvSpPr txBox="1"/>
            <p:nvPr/>
          </p:nvSpPr>
          <p:spPr>
            <a:xfrm>
              <a:off x="1132850" y="6769852"/>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11,4</a:t>
              </a:r>
              <a:endParaRPr lang="en-US" sz="557" dirty="0"/>
            </a:p>
          </p:txBody>
        </p:sp>
        <p:sp>
          <p:nvSpPr>
            <p:cNvPr id="98" name="svg2_80"/>
            <p:cNvSpPr txBox="1"/>
            <p:nvPr/>
          </p:nvSpPr>
          <p:spPr>
            <a:xfrm>
              <a:off x="1921246" y="6769852"/>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40,8</a:t>
              </a:r>
              <a:endParaRPr lang="en-US" sz="557" dirty="0"/>
            </a:p>
          </p:txBody>
        </p:sp>
        <p:sp>
          <p:nvSpPr>
            <p:cNvPr id="99" name="svg2_81"/>
            <p:cNvSpPr/>
            <p:nvPr/>
          </p:nvSpPr>
          <p:spPr>
            <a:xfrm>
              <a:off x="1601937" y="6761622"/>
              <a:ext cx="0" cy="111923"/>
            </a:xfrm>
            <a:prstGeom prst="line">
              <a:avLst/>
            </a:prstGeom>
            <a:noFill/>
            <a:ln w="13716">
              <a:solidFill>
                <a:srgbClr val="404040"/>
              </a:solidFill>
              <a:prstDash val="solid"/>
            </a:ln>
          </p:spPr>
        </p:sp>
        <p:sp>
          <p:nvSpPr>
            <p:cNvPr id="100" name="svg2_82"/>
            <p:cNvSpPr txBox="1"/>
            <p:nvPr/>
          </p:nvSpPr>
          <p:spPr>
            <a:xfrm>
              <a:off x="469727" y="6946605"/>
              <a:ext cx="60780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Multiples 2025A</a:t>
              </a:r>
              <a:endParaRPr lang="en-US" sz="587" dirty="0"/>
            </a:p>
          </p:txBody>
        </p:sp>
        <p:sp>
          <p:nvSpPr>
            <p:cNvPr id="101" name="svg2_83"/>
            <p:cNvSpPr/>
            <p:nvPr/>
          </p:nvSpPr>
          <p:spPr>
            <a:xfrm>
              <a:off x="1454170" y="6950080"/>
              <a:ext cx="509138" cy="88422"/>
            </a:xfrm>
            <a:prstGeom prst="rect">
              <a:avLst/>
            </a:prstGeom>
            <a:solidFill>
              <a:srgbClr val="D0D0D0"/>
            </a:solidFill>
            <a:ln/>
          </p:spPr>
        </p:sp>
        <p:sp>
          <p:nvSpPr>
            <p:cNvPr id="102" name="svg2_84"/>
            <p:cNvSpPr txBox="1"/>
            <p:nvPr/>
          </p:nvSpPr>
          <p:spPr>
            <a:xfrm>
              <a:off x="1253551" y="6946605"/>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17,7</a:t>
              </a:r>
              <a:endParaRPr lang="en-US" sz="557" dirty="0"/>
            </a:p>
          </p:txBody>
        </p:sp>
        <p:sp>
          <p:nvSpPr>
            <p:cNvPr id="103" name="svg2_85"/>
            <p:cNvSpPr txBox="1"/>
            <p:nvPr/>
          </p:nvSpPr>
          <p:spPr>
            <a:xfrm>
              <a:off x="1983059" y="6946605"/>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44,0</a:t>
              </a:r>
              <a:endParaRPr lang="en-US" sz="557" dirty="0"/>
            </a:p>
          </p:txBody>
        </p:sp>
        <p:sp>
          <p:nvSpPr>
            <p:cNvPr id="104" name="svg2_86"/>
            <p:cNvSpPr/>
            <p:nvPr/>
          </p:nvSpPr>
          <p:spPr>
            <a:xfrm>
              <a:off x="1648663" y="6938376"/>
              <a:ext cx="0" cy="111923"/>
            </a:xfrm>
            <a:prstGeom prst="line">
              <a:avLst/>
            </a:prstGeom>
            <a:noFill/>
            <a:ln w="13716">
              <a:solidFill>
                <a:srgbClr val="404040"/>
              </a:solidFill>
              <a:prstDash val="solid"/>
            </a:ln>
          </p:spPr>
        </p:sp>
        <p:sp>
          <p:nvSpPr>
            <p:cNvPr id="105" name="svg2_87"/>
            <p:cNvSpPr txBox="1"/>
            <p:nvPr/>
          </p:nvSpPr>
          <p:spPr>
            <a:xfrm>
              <a:off x="342534" y="7123267"/>
              <a:ext cx="73078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Bình quân 40/40/20</a:t>
              </a:r>
              <a:endParaRPr lang="en-US" sz="587" dirty="0"/>
            </a:p>
          </p:txBody>
        </p:sp>
        <p:sp>
          <p:nvSpPr>
            <p:cNvPr id="106" name="svg2_88"/>
            <p:cNvSpPr/>
            <p:nvPr/>
          </p:nvSpPr>
          <p:spPr>
            <a:xfrm>
              <a:off x="1493947" y="7126834"/>
              <a:ext cx="570037" cy="88422"/>
            </a:xfrm>
            <a:prstGeom prst="rect">
              <a:avLst/>
            </a:prstGeom>
            <a:solidFill>
              <a:srgbClr val="7B1E2B"/>
            </a:solidFill>
            <a:ln/>
          </p:spPr>
        </p:sp>
        <p:sp>
          <p:nvSpPr>
            <p:cNvPr id="107" name="svg2_89"/>
            <p:cNvSpPr txBox="1"/>
            <p:nvPr/>
          </p:nvSpPr>
          <p:spPr>
            <a:xfrm>
              <a:off x="1293785" y="7123267"/>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19,7</a:t>
              </a:r>
              <a:endParaRPr lang="en-US" sz="557" dirty="0"/>
            </a:p>
          </p:txBody>
        </p:sp>
        <p:sp>
          <p:nvSpPr>
            <p:cNvPr id="108" name="svg2_90"/>
            <p:cNvSpPr txBox="1"/>
            <p:nvPr/>
          </p:nvSpPr>
          <p:spPr>
            <a:xfrm>
              <a:off x="2083186" y="7123267"/>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49,2</a:t>
              </a:r>
              <a:endParaRPr lang="en-US" sz="557" dirty="0"/>
            </a:p>
          </p:txBody>
        </p:sp>
        <p:sp>
          <p:nvSpPr>
            <p:cNvPr id="109" name="svg2_91"/>
            <p:cNvSpPr/>
            <p:nvPr/>
          </p:nvSpPr>
          <p:spPr>
            <a:xfrm>
              <a:off x="1733611" y="7115038"/>
              <a:ext cx="0" cy="111923"/>
            </a:xfrm>
            <a:prstGeom prst="line">
              <a:avLst/>
            </a:prstGeom>
            <a:noFill/>
            <a:ln w="13716">
              <a:solidFill>
                <a:srgbClr val="FFFFFF"/>
              </a:solidFill>
              <a:prstDash val="solid"/>
            </a:ln>
          </p:spPr>
        </p:sp>
        <p:sp>
          <p:nvSpPr>
            <p:cNvPr id="110" name="svg2_92"/>
            <p:cNvSpPr/>
            <p:nvPr/>
          </p:nvSpPr>
          <p:spPr>
            <a:xfrm>
              <a:off x="1692372" y="6547653"/>
              <a:ext cx="0" cy="755934"/>
            </a:xfrm>
            <a:prstGeom prst="line">
              <a:avLst/>
            </a:prstGeom>
            <a:noFill/>
            <a:ln w="8890">
              <a:solidFill>
                <a:srgbClr val="5C1520"/>
              </a:solidFill>
              <a:prstDash val="dash"/>
            </a:ln>
          </p:spPr>
        </p:sp>
        <p:sp>
          <p:nvSpPr>
            <p:cNvPr id="111" name="svg2_93"/>
            <p:cNvSpPr txBox="1"/>
            <p:nvPr/>
          </p:nvSpPr>
          <p:spPr>
            <a:xfrm>
              <a:off x="1712123" y="6466545"/>
              <a:ext cx="639806"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VCSH sổ sách 30,0</a:t>
              </a:r>
              <a:endParaRPr lang="en-US" sz="557" dirty="0"/>
            </a:p>
          </p:txBody>
        </p:sp>
        <p:sp>
          <p:nvSpPr>
            <p:cNvPr id="112" name="svg2_94"/>
            <p:cNvSpPr txBox="1"/>
            <p:nvPr/>
          </p:nvSpPr>
          <p:spPr>
            <a:xfrm>
              <a:off x="1835292" y="6673657"/>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41,1</a:t>
              </a:r>
              <a:endParaRPr lang="en-US" sz="557" dirty="0"/>
            </a:p>
          </p:txBody>
        </p:sp>
        <p:sp>
          <p:nvSpPr>
            <p:cNvPr id="113" name="svg2_95"/>
            <p:cNvSpPr txBox="1"/>
            <p:nvPr/>
          </p:nvSpPr>
          <p:spPr>
            <a:xfrm>
              <a:off x="1529883" y="6850410"/>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25,3</a:t>
              </a:r>
              <a:endParaRPr lang="en-US" sz="557" dirty="0"/>
            </a:p>
          </p:txBody>
        </p:sp>
        <p:sp>
          <p:nvSpPr>
            <p:cNvPr id="114" name="svg2_96"/>
            <p:cNvSpPr txBox="1"/>
            <p:nvPr/>
          </p:nvSpPr>
          <p:spPr>
            <a:xfrm>
              <a:off x="1576060" y="7027073"/>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27,7</a:t>
              </a:r>
              <a:endParaRPr lang="en-US" sz="557" dirty="0"/>
            </a:p>
          </p:txBody>
        </p:sp>
        <p:sp>
          <p:nvSpPr>
            <p:cNvPr id="115" name="svg2_97"/>
            <p:cNvSpPr txBox="1"/>
            <p:nvPr/>
          </p:nvSpPr>
          <p:spPr>
            <a:xfrm>
              <a:off x="1661556" y="7203735"/>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32,1</a:t>
              </a:r>
              <a:endParaRPr lang="en-US" sz="557" dirty="0"/>
            </a:p>
          </p:txBody>
        </p:sp>
      </p:grpSp>
      <p:sp>
        <p:nvSpPr>
          <p:cNvPr id="116" name="Text 110"/>
          <p:cNvSpPr txBox="1"/>
          <p:nvPr/>
        </p:nvSpPr>
        <p:spPr>
          <a:xfrm>
            <a:off x="405354" y="138989"/>
            <a:ext cx="2434407" cy="266730"/>
          </a:xfrm>
          <a:prstGeom prst="rect">
            <a:avLst/>
          </a:prstGeom>
          <a:noFill/>
          <a:ln/>
        </p:spPr>
        <p:txBody>
          <a:bodyPr wrap="none" lIns="0" tIns="0" rIns="0" bIns="0" rtlCol="0" anchor="t"/>
          <a:lstStyle/>
          <a:p>
            <a:pPr algn="l" indent="0" marL="0">
              <a:lnSpc>
                <a:spcPts val="2100"/>
              </a:lnSpc>
              <a:buNone/>
            </a:pPr>
            <a:r>
              <a:rPr lang="en-US" sz="2000" b="1" spc="80" kern="0" dirty="0">
                <a:solidFill>
                  <a:srgbClr val="FFFFFF"/>
                </a:solidFill>
                <a:latin typeface="Calibri" pitchFamily="34" charset="0"/>
                <a:ea typeface="Calibri" pitchFamily="34" charset="-122"/>
                <a:cs typeface="Calibri" pitchFamily="34" charset="-120"/>
              </a:rPr>
              <a:t>CTCP AGRIPACK</a:t>
            </a:r>
            <a:endParaRPr lang="en-US" sz="2000" dirty="0"/>
          </a:p>
        </p:txBody>
      </p:sp>
      <p:sp>
        <p:nvSpPr>
          <p:cNvPr id="117" name="Text 111"/>
          <p:cNvSpPr txBox="1"/>
          <p:nvPr/>
        </p:nvSpPr>
        <p:spPr>
          <a:xfrm>
            <a:off x="405354" y="434431"/>
            <a:ext cx="2434407" cy="123993"/>
          </a:xfrm>
          <a:prstGeom prst="rect">
            <a:avLst/>
          </a:prstGeom>
          <a:noFill/>
          <a:ln/>
        </p:spPr>
        <p:txBody>
          <a:bodyPr wrap="none" lIns="0" tIns="0" rIns="0" bIns="0" rtlCol="0" anchor="t"/>
          <a:lstStyle/>
          <a:p>
            <a:pPr algn="l" indent="0" marL="0">
              <a:lnSpc>
                <a:spcPts val="976"/>
              </a:lnSpc>
              <a:buNone/>
            </a:pPr>
            <a:r>
              <a:rPr lang="en-US" sz="800" dirty="0">
                <a:solidFill>
                  <a:srgbClr val="FFFFFF"/>
                </a:solidFill>
                <a:latin typeface="Calibri" pitchFamily="34" charset="0"/>
                <a:ea typeface="Calibri" pitchFamily="34" charset="-122"/>
                <a:cs typeface="Calibri" pitchFamily="34" charset="-120"/>
              </a:rPr>
              <a:t>Bao bì từ bã mía – vỏ trứng · B2B · Gia Lai</a:t>
            </a:r>
            <a:endParaRPr lang="en-US" sz="800" dirty="0"/>
          </a:p>
        </p:txBody>
      </p:sp>
      <p:sp>
        <p:nvSpPr>
          <p:cNvPr id="118" name="Text 112"/>
          <p:cNvSpPr txBox="1"/>
          <p:nvPr/>
        </p:nvSpPr>
        <p:spPr>
          <a:xfrm>
            <a:off x="2811963" y="176479"/>
            <a:ext cx="4342486" cy="381853"/>
          </a:xfrm>
          <a:prstGeom prst="rect">
            <a:avLst/>
          </a:prstGeom>
          <a:noFill/>
          <a:ln/>
        </p:spPr>
        <p:txBody>
          <a:bodyPr wrap="square" lIns="0" tIns="0" rIns="0" bIns="0" rtlCol="0" anchor="t"/>
          <a:lstStyle/>
          <a:p>
            <a:pPr algn="r" indent="0" marL="0">
              <a:lnSpc>
                <a:spcPts val="938"/>
              </a:lnSpc>
              <a:buNone/>
            </a:pPr>
            <a:r>
              <a:rPr lang="en-US"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Ngày báo cáo: 30/09/2026 · Thời điểm định giá: 01/01/2026</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en-US" sz="680" dirty="0"/>
          </a:p>
        </p:txBody>
      </p:sp>
      <p:sp>
        <p:nvSpPr>
          <p:cNvPr id="119" name="Text 113"/>
          <p:cNvSpPr txBox="1"/>
          <p:nvPr/>
        </p:nvSpPr>
        <p:spPr>
          <a:xfrm>
            <a:off x="463052" y="799460"/>
            <a:ext cx="2167402" cy="108174"/>
          </a:xfrm>
          <a:prstGeom prst="rect">
            <a:avLst/>
          </a:prstGeom>
          <a:noFill/>
          <a:ln/>
        </p:spPr>
        <p:txBody>
          <a:bodyPr wrap="none" lIns="0" tIns="0" rIns="0" bIns="0" rtlCol="0" anchor="t"/>
          <a:lstStyle/>
          <a:p>
            <a:pPr algn="l" indent="0" marL="0">
              <a:lnSpc>
                <a:spcPts val="854"/>
              </a:lnSpc>
              <a:buNone/>
            </a:pPr>
            <a:r>
              <a:rPr lang="en-US" sz="700" b="1" spc="40" kern="0" dirty="0">
                <a:solidFill>
                  <a:srgbClr val="FFFFFF"/>
                </a:solidFill>
                <a:latin typeface="Calibri" pitchFamily="34" charset="0"/>
                <a:ea typeface="Calibri" pitchFamily="34" charset="-122"/>
                <a:cs typeface="Calibri" pitchFamily="34" charset="-120"/>
              </a:rPr>
              <a:t>THÔNG TIN CHÍNH</a:t>
            </a:r>
            <a:endParaRPr lang="en-US" sz="700" dirty="0"/>
          </a:p>
        </p:txBody>
      </p:sp>
      <p:sp>
        <p:nvSpPr>
          <p:cNvPr id="120" name="Text 114"/>
          <p:cNvSpPr txBox="1"/>
          <p:nvPr/>
        </p:nvSpPr>
        <p:spPr>
          <a:xfrm>
            <a:off x="405354" y="358051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en-US" sz="600" dirty="0"/>
          </a:p>
        </p:txBody>
      </p:sp>
      <p:sp>
        <p:nvSpPr>
          <p:cNvPr id="121" name="Text 115"/>
          <p:cNvSpPr txBox="1"/>
          <p:nvPr/>
        </p:nvSpPr>
        <p:spPr>
          <a:xfrm>
            <a:off x="405354" y="388071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tăng 3,6 lần đến 2030E; biên EBITDA giảm năm 2028 khi nhà máy mới chạy</a:t>
            </a:r>
            <a:endParaRPr lang="en-US" sz="720" dirty="0"/>
          </a:p>
        </p:txBody>
      </p:sp>
      <p:sp>
        <p:nvSpPr>
          <p:cNvPr id="122" name="Text 116"/>
          <p:cNvSpPr txBox="1"/>
          <p:nvPr/>
        </p:nvSpPr>
        <p:spPr>
          <a:xfrm>
            <a:off x="405354" y="4132082"/>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Doanh thu thuần (tỷ đồng)</a:t>
            </a:r>
            <a:endParaRPr lang="en-US" sz="640" dirty="0"/>
          </a:p>
        </p:txBody>
      </p:sp>
      <p:sp>
        <p:nvSpPr>
          <p:cNvPr id="123" name="Text 117"/>
          <p:cNvSpPr txBox="1"/>
          <p:nvPr/>
        </p:nvSpPr>
        <p:spPr>
          <a:xfrm>
            <a:off x="405354" y="5096957"/>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Biên EBITDA (%)</a:t>
            </a:r>
            <a:endParaRPr lang="en-US" sz="640" dirty="0"/>
          </a:p>
        </p:txBody>
      </p:sp>
      <p:sp>
        <p:nvSpPr>
          <p:cNvPr id="124" name="Text 118"/>
          <p:cNvSpPr txBox="1"/>
          <p:nvPr/>
        </p:nvSpPr>
        <p:spPr>
          <a:xfrm>
            <a:off x="405354" y="5790438"/>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en-US" sz="600" dirty="0"/>
          </a:p>
        </p:txBody>
      </p:sp>
      <p:sp>
        <p:nvSpPr>
          <p:cNvPr id="125" name="Text 119"/>
          <p:cNvSpPr txBox="1"/>
          <p:nvPr/>
        </p:nvSpPr>
        <p:spPr>
          <a:xfrm>
            <a:off x="405354" y="608706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Ba phương pháp cho 25–41 tỷ; bình quân gần VCSH sổ sách</a:t>
            </a:r>
            <a:endParaRPr lang="en-US" sz="720" dirty="0"/>
          </a:p>
        </p:txBody>
      </p:sp>
      <p:sp>
        <p:nvSpPr>
          <p:cNvPr id="126" name="Text 120"/>
          <p:cNvSpPr txBox="1"/>
          <p:nvPr/>
        </p:nvSpPr>
        <p:spPr>
          <a:xfrm>
            <a:off x="405354" y="632408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127" name="Text 121"/>
          <p:cNvSpPr txBox="1"/>
          <p:nvPr/>
        </p:nvSpPr>
        <p:spPr>
          <a:xfrm>
            <a:off x="405354" y="749808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Sensitivity, Multiples)</a:t>
            </a:r>
            <a:endParaRPr lang="en-US" sz="600" dirty="0"/>
          </a:p>
        </p:txBody>
      </p:sp>
      <p:sp>
        <p:nvSpPr>
          <p:cNvPr id="128" name="Text 122"/>
          <p:cNvSpPr txBox="1"/>
          <p:nvPr/>
        </p:nvSpPr>
        <p:spPr>
          <a:xfrm>
            <a:off x="463052" y="7697419"/>
            <a:ext cx="2167402" cy="108174"/>
          </a:xfrm>
          <a:prstGeom prst="rect">
            <a:avLst/>
          </a:prstGeom>
          <a:noFill/>
          <a:ln/>
        </p:spPr>
        <p:txBody>
          <a:bodyPr wrap="none" lIns="0" tIns="0" rIns="0" bIns="0" rtlCol="0" anchor="t"/>
          <a:lstStyle/>
          <a:p>
            <a:pPr algn="l" indent="0" marL="0">
              <a:lnSpc>
                <a:spcPts val="854"/>
              </a:lnSpc>
              <a:buNone/>
            </a:pPr>
            <a:r>
              <a:rPr lang="en-US" sz="700" b="1" spc="40" kern="0" dirty="0">
                <a:solidFill>
                  <a:srgbClr val="FFFFFF"/>
                </a:solidFill>
                <a:latin typeface="Calibri" pitchFamily="34" charset="0"/>
                <a:ea typeface="Calibri" pitchFamily="34" charset="-122"/>
                <a:cs typeface="Calibri" pitchFamily="34" charset="-120"/>
              </a:rPr>
              <a:t>NỘI DUNG BÁO CÁO</a:t>
            </a:r>
            <a:endParaRPr lang="en-US" sz="700" dirty="0"/>
          </a:p>
        </p:txBody>
      </p:sp>
      <p:sp>
        <p:nvSpPr>
          <p:cNvPr id="129" name="Text 123"/>
          <p:cNvSpPr txBox="1"/>
          <p:nvPr/>
        </p:nvSpPr>
        <p:spPr>
          <a:xfrm>
            <a:off x="405354" y="897867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Mục 1–3 giữ nguyên văn bài của nhóm; Mục 6 (kế hoạch huy động vốn) và Mục 7 (pitching) không thuộc phạm vi báo cáo này.</a:t>
            </a:r>
            <a:endParaRPr lang="en-US" sz="600" dirty="0"/>
          </a:p>
        </p:txBody>
      </p:sp>
      <p:sp>
        <p:nvSpPr>
          <p:cNvPr id="130" name="Text 124"/>
          <p:cNvSpPr txBox="1"/>
          <p:nvPr/>
        </p:nvSpPr>
        <p:spPr>
          <a:xfrm>
            <a:off x="2745303" y="774222"/>
            <a:ext cx="4519422" cy="359268"/>
          </a:xfrm>
          <a:prstGeom prst="rect">
            <a:avLst/>
          </a:prstGeom>
          <a:noFill/>
          <a:ln/>
        </p:spPr>
        <p:txBody>
          <a:bodyPr wrap="square" lIns="0" tIns="0" rIns="0" bIns="0" rtlCol="0" anchor="t"/>
          <a:lstStyle/>
          <a:p>
            <a:pPr algn="l" indent="0" marL="0">
              <a:lnSpc>
                <a:spcPts val="1415"/>
              </a:lnSpc>
              <a:buNone/>
            </a:pPr>
            <a:r>
              <a:rPr lang="en-US" sz="1220" b="1" dirty="0">
                <a:solidFill>
                  <a:srgbClr val="7B1E2B"/>
                </a:solidFill>
                <a:latin typeface="Calibri" pitchFamily="34" charset="0"/>
                <a:ea typeface="Calibri" pitchFamily="34" charset="-122"/>
                <a:cs typeface="Calibri" pitchFamily="34" charset="-120"/>
              </a:rPr>
              <a:t>AgriPack đã qua giai đoạn thử nghiệm; pre-money 32,1 tỷ đồng vì nhà máy 2027 mới là nơi tạo giá trị</a:t>
            </a:r>
            <a:endParaRPr lang="en-US" sz="1220" dirty="0"/>
          </a:p>
        </p:txBody>
      </p:sp>
      <p:sp>
        <p:nvSpPr>
          <p:cNvPr id="131" name="Text 125"/>
          <p:cNvSpPr txBox="1"/>
          <p:nvPr/>
        </p:nvSpPr>
        <p:spPr>
          <a:xfrm>
            <a:off x="2855305" y="1258032"/>
            <a:ext cx="4470867" cy="106893"/>
          </a:xfrm>
          <a:prstGeom prst="rect">
            <a:avLst/>
          </a:prstGeom>
          <a:noFill/>
          <a:ln/>
        </p:spPr>
        <p:txBody>
          <a:bodyPr wrap="none" lIns="0" tIns="0" rIns="0" bIns="0" rtlCol="0" anchor="t"/>
          <a:lstStyle/>
          <a:p>
            <a:pPr algn="l" indent="0" marL="0">
              <a:lnSpc>
                <a:spcPts val="842"/>
              </a:lnSpc>
              <a:buNone/>
            </a:pPr>
            <a:r>
              <a:rPr lang="en-US" sz="690" b="1" spc="40" kern="0" dirty="0">
                <a:solidFill>
                  <a:srgbClr val="7B1E2B"/>
                </a:solidFill>
                <a:latin typeface="Calibri" pitchFamily="34" charset="0"/>
                <a:ea typeface="Calibri" pitchFamily="34" charset="-122"/>
                <a:cs typeface="Calibri" pitchFamily="34" charset="-120"/>
              </a:rPr>
              <a:t>KẾT QUẢ ĐỊNH GIÁ (T0 = 01/01/2026)</a:t>
            </a:r>
            <a:endParaRPr lang="en-US" sz="690" dirty="0"/>
          </a:p>
        </p:txBody>
      </p:sp>
      <p:sp>
        <p:nvSpPr>
          <p:cNvPr id="132" name="Text 126"/>
          <p:cNvSpPr txBox="1"/>
          <p:nvPr/>
        </p:nvSpPr>
        <p:spPr>
          <a:xfrm>
            <a:off x="2745303" y="2165574"/>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Doanh nghiệp (Mục 1).</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B2B cho doanh nghiệp F&amp;B, điện tử, nội thất và TMĐT ở miền Trung và miền Nam. Thực phẩm/FMCG chiếm gần 80% doanh thu (Fig. 07).</a:t>
            </a:r>
            <a:endParaRPr lang="en-US" sz="850" dirty="0"/>
          </a:p>
        </p:txBody>
      </p:sp>
      <p:sp>
        <p:nvSpPr>
          <p:cNvPr id="133" name="Text 127"/>
          <p:cNvSpPr txBox="1"/>
          <p:nvPr/>
        </p:nvSpPr>
        <p:spPr>
          <a:xfrm>
            <a:off x="2745303" y="2597902"/>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Giai đoạn (Mục 2).</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Doanh thu tăng 59,1% và 53,7%, LNST và FCF dương lần đầu năm 2025, D/E chỉ 6,5%, nhưng quy mô còn nhỏ so với các doanh nghiệp dẫn đầu: nhóm xếp AgriPack vào giai đoạn đầu tăng trưởng, tỷ lệ thất bại 35–45% (dùng z = 40%).</a:t>
            </a:r>
            <a:endParaRPr lang="en-US" sz="850" dirty="0"/>
          </a:p>
        </p:txBody>
      </p:sp>
      <p:sp>
        <p:nvSpPr>
          <p:cNvPr id="134" name="Text 128"/>
          <p:cNvSpPr txBox="1"/>
          <p:nvPr/>
        </p:nvSpPr>
        <p:spPr>
          <a:xfrm>
            <a:off x="2745303" y="3030322"/>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Vĩ mô, ngành → giả định (Mục 3, 4.1).</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GDP 6 tháng 2026 tăng 8,18%, TMĐT và lộ trình hạn chế nhựa dùng một lần hỗ trợ cầu, nhưng SAM chỉ tăng 4,7%/năm và khách hàng B2B có sức mạnh đàm phán cao. Mô hình vì vậy cho giá bán chỉ tăng 2%/năm (CPI 4,45%) và chi phí biến đổi tăng lên 27% doanh thu; tăng trưởng đến từ giành thị phần (4,3% → 11,0% SAM). Chạy lại mô hình cho từng nhân tố cho thấy cầu tác động mạnh nhất: tốc độ tăng sản lượng ±20% làm pre-money thay đổi −24,3/+28,3 tỷ, gấp 4–5 lần giá bán, lãi suất hay CRP ±1 điểm % (Fig. 30).</a:t>
            </a:r>
            <a:endParaRPr lang="en-US" sz="850" dirty="0"/>
          </a:p>
        </p:txBody>
      </p:sp>
      <p:sp>
        <p:nvSpPr>
          <p:cNvPr id="135" name="Text 129"/>
          <p:cNvSpPr txBox="1"/>
          <p:nvPr/>
        </p:nvSpPr>
        <p:spPr>
          <a:xfrm>
            <a:off x="2745303" y="3857305"/>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Dự phóng (Mục 4).</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Doanh thu 170,3 tỷ năm 2030 (CAGR 29%); biên EBITDA 16,2% → 20,2% (Fig. 01). BCKQKD theo chức năng (70% tiền lương, 90% khấu hao vào giá vốn): biên gộp 51,0% (2025A) → 47,6% (2030E). CAPEX 65% doanh thu năm 2027 làm FCFF âm ba năm; tỷ lệ tái đầu tư 10% từ 2029, cao hơn trung vị ngành 3,1% vì AgriPack còn tăng 17–28%/năm (Fig. 03).</a:t>
            </a:r>
            <a:endParaRPr lang="en-US" sz="850" dirty="0"/>
          </a:p>
        </p:txBody>
      </p:sp>
      <p:sp>
        <p:nvSpPr>
          <p:cNvPr id="136" name="Text 130"/>
          <p:cNvSpPr txBox="1"/>
          <p:nvPr/>
        </p:nvSpPr>
        <p:spPr>
          <a:xfrm>
            <a:off x="2745303" y="4421215"/>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Định giá (Mục 5).</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DCF 41,1 tỷ, VC Method 25,3 tỷ, Multiples 27,7 tỷ; bình quân 32,1 tỷ (Fig. 02). Khi DCF được điều chỉnh theo xác suất sống sót (30,7 tỷ), ba phương pháp hội tụ quanh 25–31 tỷ. Mức 32,1 tỷ chỉ bằng 1,07 lần VCSH sổ sách: nhà đầu tư trả rất ít cho tăng trưởng vì tăng trưởng cần gần 69 tỷ vốn bên ngoài và ROIC 2027–2029 thấp hơn WACC.</a:t>
            </a:r>
            <a:endParaRPr lang="en-US" sz="850" dirty="0"/>
          </a:p>
        </p:txBody>
      </p:sp>
      <p:sp>
        <p:nvSpPr>
          <p:cNvPr id="137" name="Text 131"/>
          <p:cNvSpPr txBox="1"/>
          <p:nvPr/>
        </p:nvSpPr>
        <p:spPr>
          <a:xfrm>
            <a:off x="2745303" y="4985217"/>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Điều cần theo dõi.</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Kịch bản Bear (sản lượng bằng 70% cơ sở) cho giá trị vốn chủ âm. Chỉ báo sớm: sản lượng F&amp;B 2026 tăng dưới 25% (mô hình: 32%), chưa có chứng nhận vật liệu tiếp xúc thực phẩm trước Q2/2027, hoặc nhà máy mới chưa vận hành trước 31/12/2027.</a:t>
            </a:r>
            <a:endParaRPr lang="en-US" sz="850" dirty="0"/>
          </a:p>
        </p:txBody>
      </p:sp>
      <p:sp>
        <p:nvSpPr>
          <p:cNvPr id="138" name="Text 132"/>
          <p:cNvSpPr txBox="1"/>
          <p:nvPr/>
        </p:nvSpPr>
        <p:spPr>
          <a:xfrm>
            <a:off x="2745303" y="5448544"/>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Tóm tắt tài chính</a:t>
            </a:r>
            <a:endParaRPr lang="en-US" sz="720" dirty="0"/>
          </a:p>
        </p:txBody>
      </p:sp>
      <p:sp>
        <p:nvSpPr>
          <p:cNvPr id="139" name="Text 133"/>
          <p:cNvSpPr txBox="1"/>
          <p:nvPr/>
        </p:nvSpPr>
        <p:spPr>
          <a:xfrm>
            <a:off x="2745303" y="5576103"/>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40" name="Text 134"/>
          <p:cNvSpPr txBox="1"/>
          <p:nvPr/>
        </p:nvSpPr>
        <p:spPr>
          <a:xfrm>
            <a:off x="2745303" y="7471288"/>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en-US" sz="600" dirty="0"/>
          </a:p>
        </p:txBody>
      </p:sp>
      <p:sp>
        <p:nvSpPr>
          <p:cNvPr id="141" name="Text 135"/>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42" name="Text 136"/>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2159996"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pSp>
        <p:nvGrpSpPr>
          <p:cNvPr id="56" name="Fig. 04 – biểu đồ"/>
          <p:cNvGrpSpPr/>
          <p:nvPr/>
        </p:nvGrpSpPr>
        <p:grpSpPr>
          <a:xfrm>
            <a:off x="306873" y="1253825"/>
            <a:ext cx="2145365" cy="764896"/>
            <a:chOff x="306873" y="1253825"/>
            <a:chExt cx="2145365" cy="764896"/>
          </a:xfrm>
        </p:grpSpPr>
        <p:sp>
          <p:nvSpPr>
            <p:cNvPr id="6" name="svg0_0"/>
            <p:cNvSpPr/>
            <p:nvPr/>
          </p:nvSpPr>
          <p:spPr>
            <a:xfrm>
              <a:off x="1171164" y="1253825"/>
              <a:ext cx="0" cy="657819"/>
            </a:xfrm>
            <a:prstGeom prst="line">
              <a:avLst/>
            </a:prstGeom>
            <a:noFill/>
            <a:ln w="4953">
              <a:solidFill>
                <a:srgbClr val="E4E4E4"/>
              </a:solidFill>
              <a:prstDash val="solid"/>
            </a:ln>
          </p:spPr>
        </p:sp>
        <p:sp>
          <p:nvSpPr>
            <p:cNvPr id="7" name="svg0_1"/>
            <p:cNvSpPr txBox="1"/>
            <p:nvPr/>
          </p:nvSpPr>
          <p:spPr>
            <a:xfrm>
              <a:off x="1132027" y="1913931"/>
              <a:ext cx="81564"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0</a:t>
              </a:r>
              <a:endParaRPr lang="en-US" sz="541" dirty="0"/>
            </a:p>
          </p:txBody>
        </p:sp>
        <p:sp>
          <p:nvSpPr>
            <p:cNvPr id="8" name="svg0_2"/>
            <p:cNvSpPr/>
            <p:nvPr/>
          </p:nvSpPr>
          <p:spPr>
            <a:xfrm>
              <a:off x="1463589" y="1253825"/>
              <a:ext cx="0" cy="657819"/>
            </a:xfrm>
            <a:prstGeom prst="line">
              <a:avLst/>
            </a:prstGeom>
            <a:noFill/>
            <a:ln w="4953">
              <a:solidFill>
                <a:srgbClr val="E4E4E4"/>
              </a:solidFill>
              <a:prstDash val="solid"/>
            </a:ln>
          </p:spPr>
        </p:sp>
        <p:sp>
          <p:nvSpPr>
            <p:cNvPr id="9" name="svg0_3"/>
            <p:cNvSpPr txBox="1"/>
            <p:nvPr/>
          </p:nvSpPr>
          <p:spPr>
            <a:xfrm>
              <a:off x="1355415" y="191393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1.000</a:t>
              </a:r>
              <a:endParaRPr lang="en-US" sz="541" dirty="0"/>
            </a:p>
          </p:txBody>
        </p:sp>
        <p:sp>
          <p:nvSpPr>
            <p:cNvPr id="10" name="svg0_4"/>
            <p:cNvSpPr/>
            <p:nvPr/>
          </p:nvSpPr>
          <p:spPr>
            <a:xfrm>
              <a:off x="1755922" y="1253825"/>
              <a:ext cx="0" cy="657819"/>
            </a:xfrm>
            <a:prstGeom prst="line">
              <a:avLst/>
            </a:prstGeom>
            <a:noFill/>
            <a:ln w="4953">
              <a:solidFill>
                <a:srgbClr val="E4E4E4"/>
              </a:solidFill>
              <a:prstDash val="solid"/>
            </a:ln>
          </p:spPr>
        </p:sp>
        <p:sp>
          <p:nvSpPr>
            <p:cNvPr id="11" name="svg0_5"/>
            <p:cNvSpPr txBox="1"/>
            <p:nvPr/>
          </p:nvSpPr>
          <p:spPr>
            <a:xfrm>
              <a:off x="1647840" y="191393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2.000</a:t>
              </a:r>
              <a:endParaRPr lang="en-US" sz="541" dirty="0"/>
            </a:p>
          </p:txBody>
        </p:sp>
        <p:sp>
          <p:nvSpPr>
            <p:cNvPr id="12" name="svg0_6"/>
            <p:cNvSpPr/>
            <p:nvPr/>
          </p:nvSpPr>
          <p:spPr>
            <a:xfrm>
              <a:off x="2048256" y="1253825"/>
              <a:ext cx="0" cy="657819"/>
            </a:xfrm>
            <a:prstGeom prst="line">
              <a:avLst/>
            </a:prstGeom>
            <a:noFill/>
            <a:ln w="4953">
              <a:solidFill>
                <a:srgbClr val="E4E4E4"/>
              </a:solidFill>
              <a:prstDash val="solid"/>
            </a:ln>
          </p:spPr>
        </p:sp>
        <p:sp>
          <p:nvSpPr>
            <p:cNvPr id="13" name="svg0_7"/>
            <p:cNvSpPr txBox="1"/>
            <p:nvPr/>
          </p:nvSpPr>
          <p:spPr>
            <a:xfrm>
              <a:off x="1939442" y="191393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3.000</a:t>
              </a:r>
              <a:endParaRPr lang="en-US" sz="541" dirty="0"/>
            </a:p>
          </p:txBody>
        </p:sp>
        <p:sp>
          <p:nvSpPr>
            <p:cNvPr id="14" name="svg0_8"/>
            <p:cNvSpPr/>
            <p:nvPr/>
          </p:nvSpPr>
          <p:spPr>
            <a:xfrm>
              <a:off x="2340590" y="1253825"/>
              <a:ext cx="0" cy="657819"/>
            </a:xfrm>
            <a:prstGeom prst="line">
              <a:avLst/>
            </a:prstGeom>
            <a:noFill/>
            <a:ln w="4953">
              <a:solidFill>
                <a:srgbClr val="E4E4E4"/>
              </a:solidFill>
              <a:prstDash val="solid"/>
            </a:ln>
          </p:spPr>
        </p:sp>
        <p:sp>
          <p:nvSpPr>
            <p:cNvPr id="15" name="svg0_9"/>
            <p:cNvSpPr txBox="1"/>
            <p:nvPr/>
          </p:nvSpPr>
          <p:spPr>
            <a:xfrm>
              <a:off x="2232050" y="191393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4.000</a:t>
              </a:r>
              <a:endParaRPr lang="en-US" sz="541" dirty="0"/>
            </a:p>
          </p:txBody>
        </p:sp>
        <p:sp>
          <p:nvSpPr>
            <p:cNvPr id="16" name="svg0_10"/>
            <p:cNvSpPr txBox="1"/>
            <p:nvPr/>
          </p:nvSpPr>
          <p:spPr>
            <a:xfrm>
              <a:off x="817474" y="1258123"/>
              <a:ext cx="3181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Xốp EPS</a:t>
              </a:r>
              <a:endParaRPr lang="en-US" sz="587" dirty="0"/>
            </a:p>
          </p:txBody>
        </p:sp>
        <p:sp>
          <p:nvSpPr>
            <p:cNvPr id="17" name="svg0_11"/>
            <p:cNvSpPr/>
            <p:nvPr/>
          </p:nvSpPr>
          <p:spPr>
            <a:xfrm>
              <a:off x="1288207" y="1273485"/>
              <a:ext cx="58522" cy="66385"/>
            </a:xfrm>
            <a:prstGeom prst="rect">
              <a:avLst/>
            </a:prstGeom>
            <a:solidFill>
              <a:srgbClr val="A3A3A3"/>
            </a:solidFill>
            <a:ln/>
          </p:spPr>
        </p:sp>
        <p:sp>
          <p:nvSpPr>
            <p:cNvPr id="18" name="svg0_12"/>
            <p:cNvSpPr txBox="1"/>
            <p:nvPr/>
          </p:nvSpPr>
          <p:spPr>
            <a:xfrm>
              <a:off x="1366571" y="1258123"/>
              <a:ext cx="271120"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400–600</a:t>
              </a:r>
              <a:endParaRPr lang="en-US" sz="557" dirty="0"/>
            </a:p>
          </p:txBody>
        </p:sp>
        <p:sp>
          <p:nvSpPr>
            <p:cNvPr id="19" name="svg0_13"/>
            <p:cNvSpPr txBox="1"/>
            <p:nvPr/>
          </p:nvSpPr>
          <p:spPr>
            <a:xfrm>
              <a:off x="1006023" y="1385773"/>
              <a:ext cx="12591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PP</a:t>
              </a:r>
              <a:endParaRPr lang="en-US" sz="587" dirty="0"/>
            </a:p>
          </p:txBody>
        </p:sp>
        <p:sp>
          <p:nvSpPr>
            <p:cNvPr id="20" name="svg0_14"/>
            <p:cNvSpPr/>
            <p:nvPr/>
          </p:nvSpPr>
          <p:spPr>
            <a:xfrm>
              <a:off x="1460114" y="1401135"/>
              <a:ext cx="23500" cy="66385"/>
            </a:xfrm>
            <a:prstGeom prst="rect">
              <a:avLst/>
            </a:prstGeom>
            <a:solidFill>
              <a:srgbClr val="A3A3A3"/>
            </a:solidFill>
            <a:ln/>
          </p:spPr>
        </p:sp>
        <p:sp>
          <p:nvSpPr>
            <p:cNvPr id="21" name="svg0_15"/>
            <p:cNvSpPr txBox="1"/>
            <p:nvPr/>
          </p:nvSpPr>
          <p:spPr>
            <a:xfrm>
              <a:off x="1503091" y="1385773"/>
              <a:ext cx="128656"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988</a:t>
              </a:r>
              <a:endParaRPr lang="en-US" sz="557" dirty="0"/>
            </a:p>
          </p:txBody>
        </p:sp>
        <p:sp>
          <p:nvSpPr>
            <p:cNvPr id="22" name="svg0_16"/>
            <p:cNvSpPr txBox="1"/>
            <p:nvPr/>
          </p:nvSpPr>
          <p:spPr>
            <a:xfrm>
              <a:off x="622706" y="1513423"/>
              <a:ext cx="50922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Kraft (nắp PP)</a:t>
              </a:r>
              <a:endParaRPr lang="en-US" sz="587" dirty="0"/>
            </a:p>
          </p:txBody>
        </p:sp>
        <p:sp>
          <p:nvSpPr>
            <p:cNvPr id="23" name="svg0_17"/>
            <p:cNvSpPr/>
            <p:nvPr/>
          </p:nvSpPr>
          <p:spPr>
            <a:xfrm>
              <a:off x="1565910" y="1528785"/>
              <a:ext cx="58522" cy="66385"/>
            </a:xfrm>
            <a:prstGeom prst="rect">
              <a:avLst/>
            </a:prstGeom>
            <a:solidFill>
              <a:srgbClr val="A3A3A3"/>
            </a:solidFill>
            <a:ln/>
          </p:spPr>
        </p:sp>
        <p:sp>
          <p:nvSpPr>
            <p:cNvPr id="24" name="svg0_18"/>
            <p:cNvSpPr txBox="1"/>
            <p:nvPr/>
          </p:nvSpPr>
          <p:spPr>
            <a:xfrm>
              <a:off x="1644366" y="1513423"/>
              <a:ext cx="378104"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1.350–1.550</a:t>
              </a:r>
              <a:endParaRPr lang="en-US" sz="557" dirty="0"/>
            </a:p>
          </p:txBody>
        </p:sp>
        <p:sp>
          <p:nvSpPr>
            <p:cNvPr id="25" name="svg0_19"/>
            <p:cNvSpPr txBox="1"/>
            <p:nvPr/>
          </p:nvSpPr>
          <p:spPr>
            <a:xfrm>
              <a:off x="859170" y="1641074"/>
              <a:ext cx="27514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Bã mía</a:t>
              </a:r>
              <a:endParaRPr lang="en-US" sz="587" dirty="0"/>
            </a:p>
          </p:txBody>
        </p:sp>
        <p:sp>
          <p:nvSpPr>
            <p:cNvPr id="26" name="svg0_20"/>
            <p:cNvSpPr/>
            <p:nvPr/>
          </p:nvSpPr>
          <p:spPr>
            <a:xfrm>
              <a:off x="1726662" y="1656436"/>
              <a:ext cx="233812" cy="66294"/>
            </a:xfrm>
            <a:prstGeom prst="rect">
              <a:avLst/>
            </a:prstGeom>
            <a:solidFill>
              <a:srgbClr val="404040"/>
            </a:solidFill>
            <a:ln/>
          </p:spPr>
        </p:sp>
        <p:sp>
          <p:nvSpPr>
            <p:cNvPr id="27" name="svg0_21"/>
            <p:cNvSpPr txBox="1"/>
            <p:nvPr/>
          </p:nvSpPr>
          <p:spPr>
            <a:xfrm>
              <a:off x="1980133" y="1641074"/>
              <a:ext cx="378104"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1.900–2.700</a:t>
              </a:r>
              <a:endParaRPr lang="en-US" sz="557" dirty="0"/>
            </a:p>
          </p:txBody>
        </p:sp>
        <p:sp>
          <p:nvSpPr>
            <p:cNvPr id="28" name="svg0_22"/>
            <p:cNvSpPr txBox="1"/>
            <p:nvPr/>
          </p:nvSpPr>
          <p:spPr>
            <a:xfrm>
              <a:off x="306873" y="1768724"/>
              <a:ext cx="825155"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AgriPack (500–800 ml)</a:t>
              </a:r>
              <a:endParaRPr lang="en-US" sz="587" dirty="0"/>
            </a:p>
          </p:txBody>
        </p:sp>
        <p:sp>
          <p:nvSpPr>
            <p:cNvPr id="29" name="svg0_23"/>
            <p:cNvSpPr/>
            <p:nvPr/>
          </p:nvSpPr>
          <p:spPr>
            <a:xfrm>
              <a:off x="1902043" y="1783994"/>
              <a:ext cx="438546" cy="66294"/>
            </a:xfrm>
            <a:prstGeom prst="rect">
              <a:avLst/>
            </a:prstGeom>
            <a:solidFill>
              <a:srgbClr val="7B1E2B"/>
            </a:solidFill>
            <a:ln/>
          </p:spPr>
        </p:sp>
        <p:sp>
          <p:nvSpPr>
            <p:cNvPr id="30" name="svg0_24"/>
            <p:cNvSpPr txBox="1"/>
            <p:nvPr/>
          </p:nvSpPr>
          <p:spPr>
            <a:xfrm>
              <a:off x="1504005" y="1768724"/>
              <a:ext cx="380208" cy="104790"/>
            </a:xfrm>
            <a:prstGeom prst="rect">
              <a:avLst/>
            </a:prstGeom>
            <a:solidFill>
              <a:srgbClr val="FFFFFF"/>
            </a:solidFill>
            <a:ln/>
          </p:spPr>
          <p:txBody>
            <a:bodyPr wrap="none" lIns="0" tIns="0" rIns="0" bIns="0" rtlCol="0" anchor="ctr"/>
            <a:lstStyle/>
            <a:p>
              <a:pPr algn="r" indent="0" marL="0">
                <a:buNone/>
              </a:pPr>
              <a:r>
                <a:rPr lang="en-US" sz="557" b="1" dirty="0">
                  <a:solidFill>
                    <a:srgbClr val="262626"/>
                  </a:solidFill>
                  <a:latin typeface="Calibri" pitchFamily="34" charset="0"/>
                  <a:ea typeface="Calibri" pitchFamily="34" charset="-122"/>
                  <a:cs typeface="Calibri" pitchFamily="34" charset="-120"/>
                </a:rPr>
                <a:t>2.500–4.000</a:t>
              </a:r>
              <a:endParaRPr lang="en-US" sz="557" dirty="0"/>
            </a:p>
          </p:txBody>
        </p:sp>
      </p:grpSp>
      <p:sp>
        <p:nvSpPr>
          <p:cNvPr id="31" name="Text 29"/>
          <p:cNvSpPr txBox="1"/>
          <p:nvPr/>
        </p:nvSpPr>
        <p:spPr>
          <a:xfrm>
            <a:off x="2745303" y="3811585"/>
            <a:ext cx="4409237" cy="1201979"/>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Từ 01/01/2026, không sản xuất và nhập khẩu túi ni lông khó phân hủy sinh học có kích thước nhỏ. Tổ chức, cá nhân sản xuất hay nhập khẩu sản phẩm nhựa sử dụng một lần, bao bì nhựa khó phân hủy sinh học (gồm túi ni lông, hộp nhựa xốp đóng gói, chứa đựng thực phẩm) phải thực hiện trách nhiệm tái chế, xử lý theo quy định.</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a:t>
            </a:r>
            <a:endParaRPr lang="en-US" sz="850" dirty="0"/>
          </a:p>
        </p:txBody>
      </p:sp>
      <p:sp>
        <p:nvSpPr>
          <p:cNvPr id="32" name="Text 30"/>
          <p:cNvSpPr txBox="1"/>
          <p:nvPr/>
        </p:nvSpPr>
        <p:spPr>
          <a:xfrm>
            <a:off x="2745303" y="6640830"/>
            <a:ext cx="4409237" cy="816193"/>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en-US" sz="850" dirty="0"/>
          </a:p>
        </p:txBody>
      </p:sp>
      <p:sp>
        <p:nvSpPr>
          <p:cNvPr id="33" name="Text 31"/>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34" name="Text 32"/>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35" name="Text 33"/>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1. ĐỀ XUẤT Ý TƯỞNG KHỞI NGHIỆP</a:t>
            </a:r>
            <a:endParaRPr lang="en-US" sz="880" dirty="0"/>
          </a:p>
        </p:txBody>
      </p:sp>
      <p:sp>
        <p:nvSpPr>
          <p:cNvPr id="36" name="Text 34"/>
          <p:cNvSpPr txBox="1"/>
          <p:nvPr/>
        </p:nvSpPr>
        <p:spPr>
          <a:xfrm>
            <a:off x="405354" y="86200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en-US" sz="720" dirty="0"/>
          </a:p>
        </p:txBody>
      </p:sp>
      <p:sp>
        <p:nvSpPr>
          <p:cNvPr id="37" name="Text 35"/>
          <p:cNvSpPr txBox="1"/>
          <p:nvPr/>
        </p:nvSpPr>
        <p:spPr>
          <a:xfrm>
            <a:off x="405354" y="109910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Giá tham khảo hộp 500 ml có nắp, đồng/chiếc</a:t>
            </a:r>
            <a:endParaRPr lang="en-US" sz="630" dirty="0"/>
          </a:p>
        </p:txBody>
      </p:sp>
      <p:sp>
        <p:nvSpPr>
          <p:cNvPr id="38" name="Text 36"/>
          <p:cNvSpPr txBox="1"/>
          <p:nvPr/>
        </p:nvSpPr>
        <p:spPr>
          <a:xfrm>
            <a:off x="405354" y="206691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en-US" sz="600" dirty="0"/>
          </a:p>
        </p:txBody>
      </p:sp>
      <p:sp>
        <p:nvSpPr>
          <p:cNvPr id="39" name="Text 37"/>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Tổng quan doanh nghiệp</a:t>
            </a:r>
            <a:endParaRPr lang="en-US" sz="900" dirty="0"/>
          </a:p>
        </p:txBody>
      </p:sp>
      <p:sp>
        <p:nvSpPr>
          <p:cNvPr id="40" name="Text 38"/>
          <p:cNvSpPr txBox="1"/>
          <p:nvPr/>
        </p:nvSpPr>
        <p:spPr>
          <a:xfrm>
            <a:off x="2745303" y="1014618"/>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en-US" sz="850" dirty="0"/>
          </a:p>
        </p:txBody>
      </p:sp>
      <p:sp>
        <p:nvSpPr>
          <p:cNvPr id="41" name="Text 39"/>
          <p:cNvSpPr txBox="1"/>
          <p:nvPr/>
        </p:nvSpPr>
        <p:spPr>
          <a:xfrm>
            <a:off x="2745303" y="197318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1.1 Sản phẩm kinh doanh</a:t>
            </a:r>
            <a:endParaRPr lang="en-US" sz="900" dirty="0"/>
          </a:p>
        </p:txBody>
      </p:sp>
      <p:sp>
        <p:nvSpPr>
          <p:cNvPr id="42" name="Text 40"/>
          <p:cNvSpPr txBox="1"/>
          <p:nvPr/>
        </p:nvSpPr>
        <p:spPr>
          <a:xfrm>
            <a:off x="2745303" y="2142531"/>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1.1.1. Vấn đề thị trường</a:t>
            </a:r>
            <a:endParaRPr lang="en-US" sz="820" dirty="0"/>
          </a:p>
        </p:txBody>
      </p:sp>
      <p:sp>
        <p:nvSpPr>
          <p:cNvPr id="43" name="Text 41"/>
          <p:cNvSpPr txBox="1"/>
          <p:nvPr/>
        </p:nvSpPr>
        <p:spPr>
          <a:xfrm>
            <a:off x="2745303" y="2289109"/>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a:t>
            </a:r>
            <a:endParaRPr lang="en-US" sz="850" dirty="0"/>
          </a:p>
        </p:txBody>
      </p:sp>
      <p:sp>
        <p:nvSpPr>
          <p:cNvPr id="44" name="Text 42"/>
          <p:cNvSpPr txBox="1"/>
          <p:nvPr/>
        </p:nvSpPr>
        <p:spPr>
          <a:xfrm>
            <a:off x="2745303" y="324776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quyết số 28/2022/NQ-HĐND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en-US" sz="850" dirty="0"/>
          </a:p>
        </p:txBody>
      </p:sp>
      <p:sp>
        <p:nvSpPr>
          <p:cNvPr id="45" name="Text 43"/>
          <p:cNvSpPr txBox="1"/>
          <p:nvPr/>
        </p:nvSpPr>
        <p:spPr>
          <a:xfrm>
            <a:off x="2745303" y="5065685"/>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en-US" sz="850" dirty="0"/>
          </a:p>
        </p:txBody>
      </p:sp>
      <p:sp>
        <p:nvSpPr>
          <p:cNvPr id="46" name="Text 44"/>
          <p:cNvSpPr txBox="1"/>
          <p:nvPr/>
        </p:nvSpPr>
        <p:spPr>
          <a:xfrm>
            <a:off x="2745303" y="5234849"/>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04).</a:t>
            </a:r>
            <a:endParaRPr lang="en-US" sz="850" dirty="0"/>
          </a:p>
        </p:txBody>
      </p:sp>
      <p:sp>
        <p:nvSpPr>
          <p:cNvPr id="47" name="Text 45"/>
          <p:cNvSpPr txBox="1"/>
          <p:nvPr/>
        </p:nvSpPr>
        <p:spPr>
          <a:xfrm>
            <a:off x="2745303" y="632508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1.1.2. Giải pháp sản phẩm</a:t>
            </a:r>
            <a:endParaRPr lang="en-US" sz="820" dirty="0"/>
          </a:p>
        </p:txBody>
      </p:sp>
      <p:sp>
        <p:nvSpPr>
          <p:cNvPr id="48" name="Text 46"/>
          <p:cNvSpPr txBox="1"/>
          <p:nvPr/>
        </p:nvSpPr>
        <p:spPr>
          <a:xfrm>
            <a:off x="2745303" y="6471666"/>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cung ứng bốn loại sản phẩm:</a:t>
            </a:r>
            <a:endParaRPr lang="en-US" sz="850" dirty="0"/>
          </a:p>
        </p:txBody>
      </p:sp>
      <p:sp>
        <p:nvSpPr>
          <p:cNvPr id="49" name="Text 47"/>
          <p:cNvSpPr txBox="1"/>
          <p:nvPr/>
        </p:nvSpPr>
        <p:spPr>
          <a:xfrm>
            <a:off x="2745303" y="7509144"/>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en-US" sz="850" dirty="0"/>
          </a:p>
        </p:txBody>
      </p:sp>
      <p:sp>
        <p:nvSpPr>
          <p:cNvPr id="50" name="Text 48"/>
          <p:cNvSpPr txBox="1"/>
          <p:nvPr/>
        </p:nvSpPr>
        <p:spPr>
          <a:xfrm>
            <a:off x="2745303" y="8072963"/>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en-US" sz="850" dirty="0"/>
          </a:p>
        </p:txBody>
      </p:sp>
      <p:sp>
        <p:nvSpPr>
          <p:cNvPr id="51" name="Text 49"/>
          <p:cNvSpPr txBox="1"/>
          <p:nvPr/>
        </p:nvSpPr>
        <p:spPr>
          <a:xfrm>
            <a:off x="2745303" y="942627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en-US" sz="900" dirty="0"/>
          </a:p>
        </p:txBody>
      </p:sp>
      <p:sp>
        <p:nvSpPr>
          <p:cNvPr id="52" name="Text 50"/>
          <p:cNvSpPr txBox="1"/>
          <p:nvPr/>
        </p:nvSpPr>
        <p:spPr>
          <a:xfrm>
            <a:off x="2745303" y="9595714"/>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1.2.1. Khách hàng mục tiêu</a:t>
            </a:r>
            <a:endParaRPr lang="en-US" sz="820" dirty="0"/>
          </a:p>
        </p:txBody>
      </p:sp>
      <p:sp>
        <p:nvSpPr>
          <p:cNvPr id="53" name="Text 51"/>
          <p:cNvSpPr txBox="1"/>
          <p:nvPr/>
        </p:nvSpPr>
        <p:spPr>
          <a:xfrm>
            <a:off x="2745303" y="9742292"/>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en-US" sz="850" dirty="0"/>
          </a:p>
        </p:txBody>
      </p:sp>
      <p:sp>
        <p:nvSpPr>
          <p:cNvPr id="54" name="Text 52"/>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55" name="Text 53"/>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702143"/>
            <a:ext cx="6749004" cy="0"/>
          </a:xfrm>
          <a:prstGeom prst="line">
            <a:avLst/>
          </a:prstGeom>
          <a:noFill/>
          <a:ln w="9525">
            <a:solidFill>
              <a:srgbClr val="7B1E2B"/>
            </a:solidFill>
            <a:prstDash val="solid"/>
          </a:ln>
        </p:spPr>
      </p:sp>
      <p:sp>
        <p:nvSpPr>
          <p:cNvPr id="5" name="Shape 3"/>
          <p:cNvSpPr/>
          <p:nvPr/>
        </p:nvSpPr>
        <p:spPr>
          <a:xfrm>
            <a:off x="405354" y="4463552"/>
            <a:ext cx="2159996" cy="0"/>
          </a:xfrm>
          <a:prstGeom prst="line">
            <a:avLst/>
          </a:prstGeom>
          <a:noFill/>
          <a:ln w="9525">
            <a:solidFill>
              <a:srgbClr val="7B1E2B"/>
            </a:solidFill>
            <a:prstDash val="solid"/>
          </a:ln>
        </p:spPr>
      </p:sp>
      <p:sp>
        <p:nvSpPr>
          <p:cNvPr id="6" name="Shape 4"/>
          <p:cNvSpPr/>
          <p:nvPr/>
        </p:nvSpPr>
        <p:spPr>
          <a:xfrm>
            <a:off x="405354" y="6210513"/>
            <a:ext cx="2159996" cy="0"/>
          </a:xfrm>
          <a:prstGeom prst="line">
            <a:avLst/>
          </a:prstGeom>
          <a:noFill/>
          <a:ln w="9525">
            <a:solidFill>
              <a:srgbClr val="7B1E2B"/>
            </a:solidFill>
            <a:prstDash val="solid"/>
          </a:ln>
        </p:spPr>
      </p:sp>
      <p:sp>
        <p:nvSpPr>
          <p:cNvPr id="7" name="Shape 5"/>
          <p:cNvSpPr/>
          <p:nvPr/>
        </p:nvSpPr>
        <p:spPr>
          <a:xfrm>
            <a:off x="405354" y="7898404"/>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2159996" cy="914400"/>
        </p:xfrm>
        <a:graphic>
          <a:graphicData uri="http://schemas.openxmlformats.org/drawingml/2006/table">
            <a:tbl>
              <a:tblPr/>
              <a:tblGrid>
                <a:gridCol w="993404"/>
                <a:gridCol w="367132"/>
                <a:gridCol w="367132"/>
                <a:gridCol w="432237"/>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Triệu USD</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2025</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2030E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CAGR</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TAM – bao bì xanh Việt Nam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1.129,8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1.384,5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33,93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42,75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4,73%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SOM – doanh thu F&amp;B/FMCG của AgriPack</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1,46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26,2%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i="1" dirty="0">
                          <a:solidFill>
                            <a:srgbClr val="555555"/>
                          </a:solidFill>
                          <a:latin typeface="Calibri" pitchFamily="34" charset="0"/>
                          <a:ea typeface="Calibri" pitchFamily="34" charset="-122"/>
                          <a:cs typeface="Calibri" pitchFamily="34" charset="-120"/>
                        </a:rPr>
                        <a:t>SOM / SAM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i="1" dirty="0">
                          <a:solidFill>
                            <a:srgbClr val="555555"/>
                          </a:solidFill>
                          <a:latin typeface="Calibri" pitchFamily="34" charset="0"/>
                          <a:ea typeface="Calibri" pitchFamily="34" charset="-122"/>
                          <a:cs typeface="Calibri" pitchFamily="34" charset="-120"/>
                        </a:rPr>
                        <a:t>4,3%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i="1" dirty="0">
                          <a:solidFill>
                            <a:srgbClr val="555555"/>
                          </a:solidFill>
                          <a:latin typeface="Calibri" pitchFamily="34" charset="0"/>
                          <a:ea typeface="Calibri" pitchFamily="34" charset="-122"/>
                          <a:cs typeface="Calibri" pitchFamily="34" charset="-120"/>
                        </a:rPr>
                        <a:t>11,0%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354" y="2870302"/>
          <a:ext cx="6749004" cy="914400"/>
        </p:xfrm>
        <a:graphic>
          <a:graphicData uri="http://schemas.openxmlformats.org/drawingml/2006/table">
            <a:tbl>
              <a:tblPr/>
              <a:tblGrid>
                <a:gridCol w="1147298"/>
                <a:gridCol w="1619677"/>
                <a:gridCol w="1957090"/>
                <a:gridCol w="2024939"/>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Phân khúc sản phẩm AgriPack</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thay thế tham chiếu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thị trường tham chiếu (Cơ sở xác định giá)</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bán AgriPack</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44019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Hộp/khay F&amp;B, FMCG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Hộp bã mía Thái Lan và Trung Quốc (ecoeshop.com)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Giá hộp bã mía Thái Lan: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2.100 – 2.4000đ/cái (dung tích 600ml)</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Giá hộp bã mía Trung Quốc: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1.900 – 4.000đ/cái (dung tích 600 - 750ml)</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2.500 – 4.000 đ/cái (tùy dung tích từ 500ml – 800ml)</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bảo vệ thiết bị, linh kiện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2.600 - 18.200đ/cái (ép khuôn tiêu chuẩn)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bảo vệ nội thất/e-commerce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520 - 11.700đ/cái (ép khuôn cơ bản)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Thiết kế - Chế tạo khuôn – Ép mẫu thử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Báo giá theo dự án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Khoảng 20 triệu đồng/ bộ khuôn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Báo giá theo dự án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Khoảng 20 triệu đồng/ bộ khuôn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31" name="Fig. 07 – biểu đồ"/>
          <p:cNvGrpSpPr/>
          <p:nvPr/>
        </p:nvGrpSpPr>
        <p:grpSpPr>
          <a:xfrm>
            <a:off x="444764" y="4844766"/>
            <a:ext cx="2081266" cy="1078626"/>
            <a:chOff x="444764" y="4844766"/>
            <a:chExt cx="2081266" cy="1078626"/>
          </a:xfrm>
        </p:grpSpPr>
        <p:sp>
          <p:nvSpPr>
            <p:cNvPr id="11" name="svg0_0"/>
            <p:cNvSpPr/>
            <p:nvPr/>
          </p:nvSpPr>
          <p:spPr>
            <a:xfrm>
              <a:off x="576621" y="5601706"/>
              <a:ext cx="430042" cy="202814"/>
            </a:xfrm>
            <a:prstGeom prst="rect">
              <a:avLst/>
            </a:prstGeom>
            <a:solidFill>
              <a:srgbClr val="7B1E2B"/>
            </a:solidFill>
            <a:ln w="6858">
              <a:solidFill>
                <a:srgbClr val="FFFFFF"/>
              </a:solidFill>
              <a:prstDash val="solid"/>
            </a:ln>
          </p:spPr>
        </p:sp>
        <p:sp>
          <p:nvSpPr>
            <p:cNvPr id="12" name="svg0_1"/>
            <p:cNvSpPr txBox="1"/>
            <p:nvPr/>
          </p:nvSpPr>
          <p:spPr>
            <a:xfrm>
              <a:off x="702259" y="5653644"/>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77%</a:t>
              </a:r>
              <a:endParaRPr lang="en-US" sz="557" dirty="0"/>
            </a:p>
          </p:txBody>
        </p:sp>
        <p:sp>
          <p:nvSpPr>
            <p:cNvPr id="13" name="svg0_2"/>
            <p:cNvSpPr/>
            <p:nvPr/>
          </p:nvSpPr>
          <p:spPr>
            <a:xfrm>
              <a:off x="576621" y="5561106"/>
              <a:ext cx="430042" cy="40599"/>
            </a:xfrm>
            <a:prstGeom prst="rect">
              <a:avLst/>
            </a:prstGeom>
            <a:solidFill>
              <a:srgbClr val="A3A3A3"/>
            </a:solidFill>
            <a:ln w="6858">
              <a:solidFill>
                <a:srgbClr val="FFFFFF"/>
              </a:solidFill>
              <a:prstDash val="solid"/>
            </a:ln>
          </p:spPr>
        </p:sp>
        <p:sp>
          <p:nvSpPr>
            <p:cNvPr id="14" name="svg0_3"/>
            <p:cNvSpPr/>
            <p:nvPr/>
          </p:nvSpPr>
          <p:spPr>
            <a:xfrm>
              <a:off x="576621" y="5540624"/>
              <a:ext cx="430042" cy="20574"/>
            </a:xfrm>
            <a:prstGeom prst="rect">
              <a:avLst/>
            </a:prstGeom>
            <a:solidFill>
              <a:srgbClr val="404040"/>
            </a:solidFill>
            <a:ln w="6858">
              <a:solidFill>
                <a:srgbClr val="FFFFFF"/>
              </a:solidFill>
              <a:prstDash val="solid"/>
            </a:ln>
          </p:spPr>
        </p:sp>
        <p:sp>
          <p:nvSpPr>
            <p:cNvPr id="15" name="svg0_4"/>
            <p:cNvSpPr txBox="1"/>
            <p:nvPr/>
          </p:nvSpPr>
          <p:spPr>
            <a:xfrm>
              <a:off x="688360" y="5431170"/>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19,6</a:t>
              </a:r>
              <a:endParaRPr lang="en-US" sz="649" dirty="0"/>
            </a:p>
          </p:txBody>
        </p:sp>
        <p:sp>
          <p:nvSpPr>
            <p:cNvPr id="16" name="svg0_5"/>
            <p:cNvSpPr txBox="1"/>
            <p:nvPr/>
          </p:nvSpPr>
          <p:spPr>
            <a:xfrm>
              <a:off x="686074"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17" name="svg0_6"/>
            <p:cNvSpPr/>
            <p:nvPr/>
          </p:nvSpPr>
          <p:spPr>
            <a:xfrm>
              <a:off x="1270284" y="5479999"/>
              <a:ext cx="430134" cy="324521"/>
            </a:xfrm>
            <a:prstGeom prst="rect">
              <a:avLst/>
            </a:prstGeom>
            <a:solidFill>
              <a:srgbClr val="7B1E2B"/>
            </a:solidFill>
            <a:ln w="6858">
              <a:solidFill>
                <a:srgbClr val="FFFFFF"/>
              </a:solidFill>
              <a:prstDash val="solid"/>
            </a:ln>
          </p:spPr>
        </p:sp>
        <p:sp>
          <p:nvSpPr>
            <p:cNvPr id="18" name="svg0_7"/>
            <p:cNvSpPr txBox="1"/>
            <p:nvPr/>
          </p:nvSpPr>
          <p:spPr>
            <a:xfrm>
              <a:off x="1396289" y="5592836"/>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77%</a:t>
              </a:r>
              <a:endParaRPr lang="en-US" sz="557" dirty="0"/>
            </a:p>
          </p:txBody>
        </p:sp>
        <p:sp>
          <p:nvSpPr>
            <p:cNvPr id="19" name="svg0_8"/>
            <p:cNvSpPr/>
            <p:nvPr/>
          </p:nvSpPr>
          <p:spPr>
            <a:xfrm>
              <a:off x="1270284" y="5423124"/>
              <a:ext cx="430134" cy="56876"/>
            </a:xfrm>
            <a:prstGeom prst="rect">
              <a:avLst/>
            </a:prstGeom>
            <a:solidFill>
              <a:srgbClr val="A3A3A3"/>
            </a:solidFill>
            <a:ln w="6858">
              <a:solidFill>
                <a:srgbClr val="FFFFFF"/>
              </a:solidFill>
              <a:prstDash val="solid"/>
            </a:ln>
          </p:spPr>
        </p:sp>
        <p:sp>
          <p:nvSpPr>
            <p:cNvPr id="20" name="svg0_9"/>
            <p:cNvSpPr/>
            <p:nvPr/>
          </p:nvSpPr>
          <p:spPr>
            <a:xfrm>
              <a:off x="1270284" y="5392491"/>
              <a:ext cx="430134" cy="30724"/>
            </a:xfrm>
            <a:prstGeom prst="rect">
              <a:avLst/>
            </a:prstGeom>
            <a:solidFill>
              <a:srgbClr val="404040"/>
            </a:solidFill>
            <a:ln w="6858">
              <a:solidFill>
                <a:srgbClr val="FFFFFF"/>
              </a:solidFill>
              <a:prstDash val="solid"/>
            </a:ln>
          </p:spPr>
        </p:sp>
        <p:sp>
          <p:nvSpPr>
            <p:cNvPr id="21" name="svg0_10"/>
            <p:cNvSpPr/>
            <p:nvPr/>
          </p:nvSpPr>
          <p:spPr>
            <a:xfrm>
              <a:off x="1270284" y="5384902"/>
              <a:ext cx="430134" cy="7590"/>
            </a:xfrm>
            <a:prstGeom prst="rect">
              <a:avLst/>
            </a:prstGeom>
            <a:solidFill>
              <a:srgbClr val="D0D0D0"/>
            </a:solidFill>
            <a:ln w="6858">
              <a:solidFill>
                <a:srgbClr val="FFFFFF"/>
              </a:solidFill>
              <a:prstDash val="solid"/>
            </a:ln>
          </p:spPr>
        </p:sp>
        <p:sp>
          <p:nvSpPr>
            <p:cNvPr id="22" name="svg0_11"/>
            <p:cNvSpPr txBox="1"/>
            <p:nvPr/>
          </p:nvSpPr>
          <p:spPr>
            <a:xfrm>
              <a:off x="1382481" y="5275997"/>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31,2</a:t>
              </a:r>
              <a:endParaRPr lang="en-US" sz="649" dirty="0"/>
            </a:p>
          </p:txBody>
        </p:sp>
        <p:sp>
          <p:nvSpPr>
            <p:cNvPr id="23" name="svg0_12"/>
            <p:cNvSpPr txBox="1"/>
            <p:nvPr/>
          </p:nvSpPr>
          <p:spPr>
            <a:xfrm>
              <a:off x="1380104"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24" name="svg0_13"/>
            <p:cNvSpPr/>
            <p:nvPr/>
          </p:nvSpPr>
          <p:spPr>
            <a:xfrm>
              <a:off x="1964040" y="5291999"/>
              <a:ext cx="430134" cy="512521"/>
            </a:xfrm>
            <a:prstGeom prst="rect">
              <a:avLst/>
            </a:prstGeom>
            <a:solidFill>
              <a:srgbClr val="7B1E2B"/>
            </a:solidFill>
            <a:ln w="6858">
              <a:solidFill>
                <a:srgbClr val="FFFFFF"/>
              </a:solidFill>
              <a:prstDash val="solid"/>
            </a:ln>
          </p:spPr>
        </p:sp>
        <p:sp>
          <p:nvSpPr>
            <p:cNvPr id="25" name="svg0_14"/>
            <p:cNvSpPr txBox="1"/>
            <p:nvPr/>
          </p:nvSpPr>
          <p:spPr>
            <a:xfrm>
              <a:off x="2090410" y="5498562"/>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79%</a:t>
              </a:r>
              <a:endParaRPr lang="en-US" sz="557" dirty="0"/>
            </a:p>
          </p:txBody>
        </p:sp>
        <p:sp>
          <p:nvSpPr>
            <p:cNvPr id="26" name="svg0_15"/>
            <p:cNvSpPr/>
            <p:nvPr/>
          </p:nvSpPr>
          <p:spPr>
            <a:xfrm>
              <a:off x="1964040" y="5212537"/>
              <a:ext cx="430134" cy="79461"/>
            </a:xfrm>
            <a:prstGeom prst="rect">
              <a:avLst/>
            </a:prstGeom>
            <a:solidFill>
              <a:srgbClr val="A3A3A3"/>
            </a:solidFill>
            <a:ln w="6858">
              <a:solidFill>
                <a:srgbClr val="FFFFFF"/>
              </a:solidFill>
              <a:prstDash val="solid"/>
            </a:ln>
          </p:spPr>
        </p:sp>
        <p:sp>
          <p:nvSpPr>
            <p:cNvPr id="27" name="svg0_16"/>
            <p:cNvSpPr/>
            <p:nvPr/>
          </p:nvSpPr>
          <p:spPr>
            <a:xfrm>
              <a:off x="1964040" y="5175595"/>
              <a:ext cx="430134" cy="36850"/>
            </a:xfrm>
            <a:prstGeom prst="rect">
              <a:avLst/>
            </a:prstGeom>
            <a:solidFill>
              <a:srgbClr val="404040"/>
            </a:solidFill>
            <a:ln w="6858">
              <a:solidFill>
                <a:srgbClr val="FFFFFF"/>
              </a:solidFill>
              <a:prstDash val="solid"/>
            </a:ln>
          </p:spPr>
        </p:sp>
        <p:sp>
          <p:nvSpPr>
            <p:cNvPr id="28" name="svg0_17"/>
            <p:cNvSpPr/>
            <p:nvPr/>
          </p:nvSpPr>
          <p:spPr>
            <a:xfrm>
              <a:off x="1964040" y="5159593"/>
              <a:ext cx="430134" cy="16002"/>
            </a:xfrm>
            <a:prstGeom prst="rect">
              <a:avLst/>
            </a:prstGeom>
            <a:solidFill>
              <a:srgbClr val="D0D0D0"/>
            </a:solidFill>
            <a:ln w="6858">
              <a:solidFill>
                <a:srgbClr val="FFFFFF"/>
              </a:solidFill>
              <a:prstDash val="solid"/>
            </a:ln>
          </p:spPr>
        </p:sp>
        <p:sp>
          <p:nvSpPr>
            <p:cNvPr id="29" name="svg0_18"/>
            <p:cNvSpPr txBox="1"/>
            <p:nvPr/>
          </p:nvSpPr>
          <p:spPr>
            <a:xfrm>
              <a:off x="2076511" y="5050231"/>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47,9</a:t>
              </a:r>
              <a:endParaRPr lang="en-US" sz="649" dirty="0"/>
            </a:p>
          </p:txBody>
        </p:sp>
        <p:sp>
          <p:nvSpPr>
            <p:cNvPr id="30" name="svg0_19"/>
            <p:cNvSpPr txBox="1"/>
            <p:nvPr/>
          </p:nvSpPr>
          <p:spPr>
            <a:xfrm>
              <a:off x="2074225"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31" name="svg0_20"/>
            <p:cNvSpPr/>
            <p:nvPr/>
          </p:nvSpPr>
          <p:spPr>
            <a:xfrm>
              <a:off x="444764" y="5804520"/>
              <a:ext cx="2081266" cy="0"/>
            </a:xfrm>
            <a:prstGeom prst="line">
              <a:avLst/>
            </a:prstGeom>
            <a:noFill/>
            <a:ln w="6858">
              <a:solidFill>
                <a:srgbClr val="8C8C8C"/>
              </a:solidFill>
              <a:prstDash val="solid"/>
            </a:ln>
          </p:spPr>
        </p:sp>
        <p:sp>
          <p:nvSpPr>
            <p:cNvPr id="32" name="svg0_21"/>
            <p:cNvSpPr/>
            <p:nvPr/>
          </p:nvSpPr>
          <p:spPr>
            <a:xfrm>
              <a:off x="444764" y="4865980"/>
              <a:ext cx="60899" cy="60899"/>
            </a:xfrm>
            <a:prstGeom prst="rect">
              <a:avLst/>
            </a:prstGeom>
            <a:solidFill>
              <a:srgbClr val="7B1E2B"/>
            </a:solidFill>
            <a:ln/>
          </p:spPr>
        </p:sp>
        <p:sp>
          <p:nvSpPr>
            <p:cNvPr id="33" name="svg0_22"/>
            <p:cNvSpPr txBox="1"/>
            <p:nvPr/>
          </p:nvSpPr>
          <p:spPr>
            <a:xfrm>
              <a:off x="528157" y="4844766"/>
              <a:ext cx="671901"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Thực phẩm/FMCG</a:t>
              </a:r>
              <a:endParaRPr lang="en-US" sz="587" dirty="0"/>
            </a:p>
          </p:txBody>
        </p:sp>
        <p:sp>
          <p:nvSpPr>
            <p:cNvPr id="34" name="svg0_23"/>
            <p:cNvSpPr/>
            <p:nvPr/>
          </p:nvSpPr>
          <p:spPr>
            <a:xfrm>
              <a:off x="1107430" y="4865980"/>
              <a:ext cx="60899" cy="60899"/>
            </a:xfrm>
            <a:prstGeom prst="rect">
              <a:avLst/>
            </a:prstGeom>
            <a:solidFill>
              <a:srgbClr val="A3A3A3"/>
            </a:solidFill>
            <a:ln/>
          </p:spPr>
        </p:sp>
        <p:sp>
          <p:nvSpPr>
            <p:cNvPr id="35" name="svg0_24"/>
            <p:cNvSpPr txBox="1"/>
            <p:nvPr/>
          </p:nvSpPr>
          <p:spPr>
            <a:xfrm>
              <a:off x="1190823" y="4844766"/>
              <a:ext cx="66339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Thiết kế theo mẫu</a:t>
              </a:r>
              <a:endParaRPr lang="en-US" sz="587" dirty="0"/>
            </a:p>
          </p:txBody>
        </p:sp>
        <p:sp>
          <p:nvSpPr>
            <p:cNvPr id="36" name="svg0_25"/>
            <p:cNvSpPr/>
            <p:nvPr/>
          </p:nvSpPr>
          <p:spPr>
            <a:xfrm>
              <a:off x="1875343" y="4865980"/>
              <a:ext cx="60899" cy="60899"/>
            </a:xfrm>
            <a:prstGeom prst="rect">
              <a:avLst/>
            </a:prstGeom>
            <a:solidFill>
              <a:srgbClr val="404040"/>
            </a:solidFill>
            <a:ln/>
          </p:spPr>
        </p:sp>
        <p:sp>
          <p:nvSpPr>
            <p:cNvPr id="37" name="svg0_26"/>
            <p:cNvSpPr txBox="1"/>
            <p:nvPr/>
          </p:nvSpPr>
          <p:spPr>
            <a:xfrm>
              <a:off x="1958553" y="4844766"/>
              <a:ext cx="56537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thất/E-com</a:t>
              </a:r>
              <a:endParaRPr lang="en-US" sz="587" dirty="0"/>
            </a:p>
          </p:txBody>
        </p:sp>
        <p:sp>
          <p:nvSpPr>
            <p:cNvPr id="38" name="svg0_27"/>
            <p:cNvSpPr/>
            <p:nvPr/>
          </p:nvSpPr>
          <p:spPr>
            <a:xfrm>
              <a:off x="444764" y="4954311"/>
              <a:ext cx="60899" cy="60899"/>
            </a:xfrm>
            <a:prstGeom prst="rect">
              <a:avLst/>
            </a:prstGeom>
            <a:solidFill>
              <a:srgbClr val="D0D0D0"/>
            </a:solidFill>
            <a:ln/>
          </p:spPr>
        </p:sp>
        <p:sp>
          <p:nvSpPr>
            <p:cNvPr id="39" name="svg0_28"/>
            <p:cNvSpPr txBox="1"/>
            <p:nvPr/>
          </p:nvSpPr>
          <p:spPr>
            <a:xfrm>
              <a:off x="528157" y="4933097"/>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grpSp>
        <p:nvGrpSpPr>
          <p:cNvPr id="132" name="Fig. 08 – biểu đồ"/>
          <p:cNvGrpSpPr/>
          <p:nvPr/>
        </p:nvGrpSpPr>
        <p:grpSpPr>
          <a:xfrm>
            <a:off x="444856" y="6591635"/>
            <a:ext cx="2081083" cy="1019830"/>
            <a:chOff x="444856" y="6591635"/>
            <a:chExt cx="2081083" cy="1019830"/>
          </a:xfrm>
        </p:grpSpPr>
        <p:sp>
          <p:nvSpPr>
            <p:cNvPr id="40" name="svg1_29"/>
            <p:cNvSpPr/>
            <p:nvPr/>
          </p:nvSpPr>
          <p:spPr>
            <a:xfrm>
              <a:off x="576621" y="7390912"/>
              <a:ext cx="430042" cy="101590"/>
            </a:xfrm>
            <a:prstGeom prst="rect">
              <a:avLst/>
            </a:prstGeom>
            <a:solidFill>
              <a:srgbClr val="D0D0D0"/>
            </a:solidFill>
            <a:ln w="6858">
              <a:solidFill>
                <a:srgbClr val="FFFFFF"/>
              </a:solidFill>
              <a:prstDash val="solid"/>
            </a:ln>
          </p:spPr>
        </p:sp>
        <p:sp>
          <p:nvSpPr>
            <p:cNvPr id="41" name="svg1_30"/>
            <p:cNvSpPr txBox="1"/>
            <p:nvPr/>
          </p:nvSpPr>
          <p:spPr>
            <a:xfrm>
              <a:off x="721279" y="7391827"/>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6,0</a:t>
              </a:r>
              <a:endParaRPr lang="en-US" sz="557" dirty="0"/>
            </a:p>
          </p:txBody>
        </p:sp>
        <p:sp>
          <p:nvSpPr>
            <p:cNvPr id="42" name="svg1_31"/>
            <p:cNvSpPr/>
            <p:nvPr/>
          </p:nvSpPr>
          <p:spPr>
            <a:xfrm>
              <a:off x="576621" y="7235373"/>
              <a:ext cx="430042" cy="155539"/>
            </a:xfrm>
            <a:prstGeom prst="rect">
              <a:avLst/>
            </a:prstGeom>
            <a:solidFill>
              <a:srgbClr val="7B1E2B"/>
            </a:solidFill>
            <a:ln w="6858">
              <a:solidFill>
                <a:srgbClr val="FFFFFF"/>
              </a:solidFill>
              <a:prstDash val="solid"/>
            </a:ln>
          </p:spPr>
        </p:sp>
        <p:sp>
          <p:nvSpPr>
            <p:cNvPr id="43" name="svg1_32"/>
            <p:cNvSpPr txBox="1"/>
            <p:nvPr/>
          </p:nvSpPr>
          <p:spPr>
            <a:xfrm>
              <a:off x="721279" y="7263171"/>
              <a:ext cx="142372"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9,2</a:t>
              </a:r>
              <a:endParaRPr lang="en-US" sz="557" dirty="0"/>
            </a:p>
          </p:txBody>
        </p:sp>
        <p:sp>
          <p:nvSpPr>
            <p:cNvPr id="44" name="svg1_33"/>
            <p:cNvSpPr/>
            <p:nvPr/>
          </p:nvSpPr>
          <p:spPr>
            <a:xfrm>
              <a:off x="576621" y="7117141"/>
              <a:ext cx="430042" cy="118232"/>
            </a:xfrm>
            <a:prstGeom prst="rect">
              <a:avLst/>
            </a:prstGeom>
            <a:solidFill>
              <a:srgbClr val="A3A3A3"/>
            </a:solidFill>
            <a:ln w="6858">
              <a:solidFill>
                <a:srgbClr val="FFFFFF"/>
              </a:solidFill>
              <a:prstDash val="solid"/>
            </a:ln>
          </p:spPr>
        </p:sp>
        <p:sp>
          <p:nvSpPr>
            <p:cNvPr id="45" name="svg1_34"/>
            <p:cNvSpPr txBox="1"/>
            <p:nvPr/>
          </p:nvSpPr>
          <p:spPr>
            <a:xfrm>
              <a:off x="721279" y="712674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7,0</a:t>
              </a:r>
              <a:endParaRPr lang="en-US" sz="557" dirty="0"/>
            </a:p>
          </p:txBody>
        </p:sp>
        <p:sp>
          <p:nvSpPr>
            <p:cNvPr id="46" name="svg1_35"/>
            <p:cNvSpPr txBox="1"/>
            <p:nvPr/>
          </p:nvSpPr>
          <p:spPr>
            <a:xfrm>
              <a:off x="688360" y="700823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22,2</a:t>
              </a:r>
              <a:endParaRPr lang="en-US" sz="649" dirty="0"/>
            </a:p>
          </p:txBody>
        </p:sp>
        <p:sp>
          <p:nvSpPr>
            <p:cNvPr id="47" name="svg1_36"/>
            <p:cNvSpPr txBox="1"/>
            <p:nvPr/>
          </p:nvSpPr>
          <p:spPr>
            <a:xfrm>
              <a:off x="68607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48" name="svg1_37"/>
            <p:cNvSpPr/>
            <p:nvPr/>
          </p:nvSpPr>
          <p:spPr>
            <a:xfrm>
              <a:off x="1270284" y="7342266"/>
              <a:ext cx="430134" cy="150327"/>
            </a:xfrm>
            <a:prstGeom prst="rect">
              <a:avLst/>
            </a:prstGeom>
            <a:solidFill>
              <a:srgbClr val="D0D0D0"/>
            </a:solidFill>
            <a:ln w="6858">
              <a:solidFill>
                <a:srgbClr val="FFFFFF"/>
              </a:solidFill>
              <a:prstDash val="solid"/>
            </a:ln>
          </p:spPr>
        </p:sp>
        <p:sp>
          <p:nvSpPr>
            <p:cNvPr id="49" name="svg1_38"/>
            <p:cNvSpPr txBox="1"/>
            <p:nvPr/>
          </p:nvSpPr>
          <p:spPr>
            <a:xfrm>
              <a:off x="1415400" y="7367229"/>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8,9</a:t>
              </a:r>
              <a:endParaRPr lang="en-US" sz="557" dirty="0"/>
            </a:p>
          </p:txBody>
        </p:sp>
        <p:sp>
          <p:nvSpPr>
            <p:cNvPr id="50" name="svg1_39"/>
            <p:cNvSpPr/>
            <p:nvPr/>
          </p:nvSpPr>
          <p:spPr>
            <a:xfrm>
              <a:off x="1270284" y="7133783"/>
              <a:ext cx="430134" cy="208392"/>
            </a:xfrm>
            <a:prstGeom prst="rect">
              <a:avLst/>
            </a:prstGeom>
            <a:solidFill>
              <a:srgbClr val="7B1E2B"/>
            </a:solidFill>
            <a:ln w="6858">
              <a:solidFill>
                <a:srgbClr val="FFFFFF"/>
              </a:solidFill>
              <a:prstDash val="solid"/>
            </a:ln>
          </p:spPr>
        </p:sp>
        <p:sp>
          <p:nvSpPr>
            <p:cNvPr id="51" name="svg1_40"/>
            <p:cNvSpPr txBox="1"/>
            <p:nvPr/>
          </p:nvSpPr>
          <p:spPr>
            <a:xfrm>
              <a:off x="1395009" y="7188647"/>
              <a:ext cx="183154"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12,3</a:t>
              </a:r>
              <a:endParaRPr lang="en-US" sz="557" dirty="0"/>
            </a:p>
          </p:txBody>
        </p:sp>
        <p:sp>
          <p:nvSpPr>
            <p:cNvPr id="52" name="svg1_41"/>
            <p:cNvSpPr/>
            <p:nvPr/>
          </p:nvSpPr>
          <p:spPr>
            <a:xfrm>
              <a:off x="1270284" y="7003755"/>
              <a:ext cx="430134" cy="130028"/>
            </a:xfrm>
            <a:prstGeom prst="rect">
              <a:avLst/>
            </a:prstGeom>
            <a:solidFill>
              <a:srgbClr val="A3A3A3"/>
            </a:solidFill>
            <a:ln w="6858">
              <a:solidFill>
                <a:srgbClr val="FFFFFF"/>
              </a:solidFill>
              <a:prstDash val="solid"/>
            </a:ln>
          </p:spPr>
        </p:sp>
        <p:sp>
          <p:nvSpPr>
            <p:cNvPr id="53" name="svg1_42"/>
            <p:cNvSpPr txBox="1"/>
            <p:nvPr/>
          </p:nvSpPr>
          <p:spPr>
            <a:xfrm>
              <a:off x="1415400" y="701875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7,7</a:t>
              </a:r>
              <a:endParaRPr lang="en-US" sz="557" dirty="0"/>
            </a:p>
          </p:txBody>
        </p:sp>
        <p:sp>
          <p:nvSpPr>
            <p:cNvPr id="54" name="svg1_43"/>
            <p:cNvSpPr txBox="1"/>
            <p:nvPr/>
          </p:nvSpPr>
          <p:spPr>
            <a:xfrm>
              <a:off x="1382481" y="6894393"/>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28,9</a:t>
              </a:r>
              <a:endParaRPr lang="en-US" sz="649" dirty="0"/>
            </a:p>
          </p:txBody>
        </p:sp>
        <p:sp>
          <p:nvSpPr>
            <p:cNvPr id="55" name="svg1_44"/>
            <p:cNvSpPr txBox="1"/>
            <p:nvPr/>
          </p:nvSpPr>
          <p:spPr>
            <a:xfrm>
              <a:off x="138010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56" name="svg1_45"/>
            <p:cNvSpPr/>
            <p:nvPr/>
          </p:nvSpPr>
          <p:spPr>
            <a:xfrm>
              <a:off x="1964040" y="7273961"/>
              <a:ext cx="430042" cy="218633"/>
            </a:xfrm>
            <a:prstGeom prst="rect">
              <a:avLst/>
            </a:prstGeom>
            <a:solidFill>
              <a:srgbClr val="D0D0D0"/>
            </a:solidFill>
            <a:ln w="6858">
              <a:solidFill>
                <a:srgbClr val="FFFFFF"/>
              </a:solidFill>
              <a:prstDash val="solid"/>
            </a:ln>
          </p:spPr>
        </p:sp>
        <p:sp>
          <p:nvSpPr>
            <p:cNvPr id="57" name="svg1_46"/>
            <p:cNvSpPr txBox="1"/>
            <p:nvPr/>
          </p:nvSpPr>
          <p:spPr>
            <a:xfrm>
              <a:off x="2089038" y="7333854"/>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12,9</a:t>
              </a:r>
              <a:endParaRPr lang="en-US" sz="557" dirty="0"/>
            </a:p>
          </p:txBody>
        </p:sp>
        <p:sp>
          <p:nvSpPr>
            <p:cNvPr id="58" name="svg1_47"/>
            <p:cNvSpPr/>
            <p:nvPr/>
          </p:nvSpPr>
          <p:spPr>
            <a:xfrm>
              <a:off x="1964040" y="7000921"/>
              <a:ext cx="430042" cy="273223"/>
            </a:xfrm>
            <a:prstGeom prst="rect">
              <a:avLst/>
            </a:prstGeom>
            <a:solidFill>
              <a:srgbClr val="7B1E2B"/>
            </a:solidFill>
            <a:ln w="6858">
              <a:solidFill>
                <a:srgbClr val="FFFFFF"/>
              </a:solidFill>
              <a:prstDash val="solid"/>
            </a:ln>
          </p:spPr>
        </p:sp>
        <p:sp>
          <p:nvSpPr>
            <p:cNvPr id="59" name="svg1_48"/>
            <p:cNvSpPr txBox="1"/>
            <p:nvPr/>
          </p:nvSpPr>
          <p:spPr>
            <a:xfrm>
              <a:off x="2089038" y="7087423"/>
              <a:ext cx="183154"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16,2</a:t>
              </a:r>
              <a:endParaRPr lang="en-US" sz="557" dirty="0"/>
            </a:p>
          </p:txBody>
        </p:sp>
        <p:sp>
          <p:nvSpPr>
            <p:cNvPr id="60" name="svg1_49"/>
            <p:cNvSpPr/>
            <p:nvPr/>
          </p:nvSpPr>
          <p:spPr>
            <a:xfrm>
              <a:off x="1964040" y="6818772"/>
              <a:ext cx="430042" cy="182057"/>
            </a:xfrm>
            <a:prstGeom prst="rect">
              <a:avLst/>
            </a:prstGeom>
            <a:solidFill>
              <a:srgbClr val="A3A3A3"/>
            </a:solidFill>
            <a:ln w="6858">
              <a:solidFill>
                <a:srgbClr val="FFFFFF"/>
              </a:solidFill>
              <a:prstDash val="solid"/>
            </a:ln>
          </p:spPr>
        </p:sp>
        <p:sp>
          <p:nvSpPr>
            <p:cNvPr id="61" name="svg1_50"/>
            <p:cNvSpPr txBox="1"/>
            <p:nvPr/>
          </p:nvSpPr>
          <p:spPr>
            <a:xfrm>
              <a:off x="2089038" y="6859737"/>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10,8</a:t>
              </a:r>
              <a:endParaRPr lang="en-US" sz="557" dirty="0"/>
            </a:p>
          </p:txBody>
        </p:sp>
        <p:sp>
          <p:nvSpPr>
            <p:cNvPr id="62" name="svg1_51"/>
            <p:cNvSpPr txBox="1"/>
            <p:nvPr/>
          </p:nvSpPr>
          <p:spPr>
            <a:xfrm>
              <a:off x="2076420" y="670977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39,9</a:t>
              </a:r>
              <a:endParaRPr lang="en-US" sz="649" dirty="0"/>
            </a:p>
          </p:txBody>
        </p:sp>
        <p:sp>
          <p:nvSpPr>
            <p:cNvPr id="63" name="svg1_52"/>
            <p:cNvSpPr txBox="1"/>
            <p:nvPr/>
          </p:nvSpPr>
          <p:spPr>
            <a:xfrm>
              <a:off x="207413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64" name="svg1_53"/>
            <p:cNvSpPr/>
            <p:nvPr/>
          </p:nvSpPr>
          <p:spPr>
            <a:xfrm>
              <a:off x="444856" y="7492594"/>
              <a:ext cx="2081083" cy="0"/>
            </a:xfrm>
            <a:prstGeom prst="line">
              <a:avLst/>
            </a:prstGeom>
            <a:noFill/>
            <a:ln w="6858">
              <a:solidFill>
                <a:srgbClr val="8C8C8C"/>
              </a:solidFill>
              <a:prstDash val="solid"/>
            </a:ln>
          </p:spPr>
        </p:sp>
        <p:sp>
          <p:nvSpPr>
            <p:cNvPr id="65" name="svg1_54"/>
            <p:cNvSpPr/>
            <p:nvPr/>
          </p:nvSpPr>
          <p:spPr>
            <a:xfrm>
              <a:off x="444856" y="6612941"/>
              <a:ext cx="60899" cy="60899"/>
            </a:xfrm>
            <a:prstGeom prst="rect">
              <a:avLst/>
            </a:prstGeom>
            <a:solidFill>
              <a:srgbClr val="D0D0D0"/>
            </a:solidFill>
            <a:ln/>
          </p:spPr>
        </p:sp>
        <p:sp>
          <p:nvSpPr>
            <p:cNvPr id="66" name="svg1_55"/>
            <p:cNvSpPr txBox="1"/>
            <p:nvPr/>
          </p:nvSpPr>
          <p:spPr>
            <a:xfrm>
              <a:off x="528249" y="6591635"/>
              <a:ext cx="23600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COGS</a:t>
              </a:r>
              <a:endParaRPr lang="en-US" sz="587" dirty="0"/>
            </a:p>
          </p:txBody>
        </p:sp>
        <p:sp>
          <p:nvSpPr>
            <p:cNvPr id="67" name="svg1_56"/>
            <p:cNvSpPr/>
            <p:nvPr/>
          </p:nvSpPr>
          <p:spPr>
            <a:xfrm>
              <a:off x="756849" y="6612941"/>
              <a:ext cx="60899" cy="60899"/>
            </a:xfrm>
            <a:prstGeom prst="rect">
              <a:avLst/>
            </a:prstGeom>
            <a:solidFill>
              <a:srgbClr val="7B1E2B"/>
            </a:solidFill>
            <a:ln/>
          </p:spPr>
        </p:sp>
        <p:sp>
          <p:nvSpPr>
            <p:cNvPr id="68" name="svg1_57"/>
            <p:cNvSpPr txBox="1"/>
            <p:nvPr/>
          </p:nvSpPr>
          <p:spPr>
            <a:xfrm>
              <a:off x="840425" y="6591635"/>
              <a:ext cx="2431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SG&amp;A</a:t>
              </a:r>
              <a:endParaRPr lang="en-US" sz="587" dirty="0"/>
            </a:p>
          </p:txBody>
        </p:sp>
        <p:sp>
          <p:nvSpPr>
            <p:cNvPr id="69" name="svg1_58"/>
            <p:cNvSpPr/>
            <p:nvPr/>
          </p:nvSpPr>
          <p:spPr>
            <a:xfrm>
              <a:off x="1069025" y="6612941"/>
              <a:ext cx="60899" cy="60899"/>
            </a:xfrm>
            <a:prstGeom prst="rect">
              <a:avLst/>
            </a:prstGeom>
            <a:solidFill>
              <a:srgbClr val="A3A3A3"/>
            </a:solidFill>
            <a:ln/>
          </p:spPr>
        </p:sp>
        <p:sp>
          <p:nvSpPr>
            <p:cNvPr id="70" name="svg1_59"/>
            <p:cNvSpPr txBox="1"/>
            <p:nvPr/>
          </p:nvSpPr>
          <p:spPr>
            <a:xfrm>
              <a:off x="1152601" y="6591635"/>
              <a:ext cx="272125"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Payroll</a:t>
              </a:r>
              <a:endParaRPr lang="en-US" sz="587" dirty="0"/>
            </a:p>
          </p:txBody>
        </p:sp>
      </p:grpSp>
      <p:grpSp>
        <p:nvGrpSpPr>
          <p:cNvPr id="133" name="Fig. 09 – biểu đồ"/>
          <p:cNvGrpSpPr/>
          <p:nvPr/>
        </p:nvGrpSpPr>
        <p:grpSpPr>
          <a:xfrm>
            <a:off x="425105" y="8192567"/>
            <a:ext cx="2120493" cy="975207"/>
            <a:chOff x="425105" y="8192567"/>
            <a:chExt cx="2120493" cy="975207"/>
          </a:xfrm>
        </p:grpSpPr>
        <p:sp>
          <p:nvSpPr>
            <p:cNvPr id="71" name="svg2_60"/>
            <p:cNvSpPr/>
            <p:nvPr/>
          </p:nvSpPr>
          <p:spPr>
            <a:xfrm>
              <a:off x="425105" y="8195767"/>
              <a:ext cx="147218" cy="107991"/>
            </a:xfrm>
            <a:prstGeom prst="rect">
              <a:avLst/>
            </a:prstGeom>
            <a:solidFill>
              <a:srgbClr val="7B1E2B"/>
            </a:solidFill>
            <a:ln/>
          </p:spPr>
        </p:sp>
        <p:sp>
          <p:nvSpPr>
            <p:cNvPr id="72" name="svg2_61"/>
            <p:cNvSpPr txBox="1"/>
            <p:nvPr/>
          </p:nvSpPr>
          <p:spPr>
            <a:xfrm>
              <a:off x="455371" y="8193481"/>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1</a:t>
              </a:r>
              <a:endParaRPr lang="en-US" sz="649" dirty="0"/>
            </a:p>
          </p:txBody>
        </p:sp>
        <p:sp>
          <p:nvSpPr>
            <p:cNvPr id="73" name="svg2_62"/>
            <p:cNvSpPr/>
            <p:nvPr/>
          </p:nvSpPr>
          <p:spPr>
            <a:xfrm>
              <a:off x="572323" y="8195767"/>
              <a:ext cx="1973275" cy="107991"/>
            </a:xfrm>
            <a:prstGeom prst="rect">
              <a:avLst/>
            </a:prstGeom>
            <a:solidFill>
              <a:srgbClr val="F4EEEE"/>
            </a:solidFill>
            <a:ln/>
          </p:spPr>
        </p:sp>
        <p:sp>
          <p:nvSpPr>
            <p:cNvPr id="74" name="svg2_63"/>
            <p:cNvSpPr txBox="1"/>
            <p:nvPr/>
          </p:nvSpPr>
          <p:spPr>
            <a:xfrm>
              <a:off x="621426" y="8192567"/>
              <a:ext cx="1430487"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Thu gom nguyên liệu (bã mía, vỏ trứng)</a:t>
              </a:r>
              <a:endParaRPr lang="en-US" sz="603" dirty="0"/>
            </a:p>
          </p:txBody>
        </p:sp>
        <p:sp>
          <p:nvSpPr>
            <p:cNvPr id="75" name="svg2_64"/>
            <p:cNvSpPr/>
            <p:nvPr/>
          </p:nvSpPr>
          <p:spPr>
            <a:xfrm>
              <a:off x="473202" y="8309701"/>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76" name="svg2_65"/>
            <p:cNvSpPr/>
            <p:nvPr/>
          </p:nvSpPr>
          <p:spPr>
            <a:xfrm>
              <a:off x="425105" y="8339145"/>
              <a:ext cx="147218" cy="107991"/>
            </a:xfrm>
            <a:prstGeom prst="rect">
              <a:avLst/>
            </a:prstGeom>
            <a:solidFill>
              <a:srgbClr val="7B1E2B"/>
            </a:solidFill>
            <a:ln/>
          </p:spPr>
        </p:sp>
        <p:sp>
          <p:nvSpPr>
            <p:cNvPr id="77" name="svg2_66"/>
            <p:cNvSpPr txBox="1"/>
            <p:nvPr/>
          </p:nvSpPr>
          <p:spPr>
            <a:xfrm>
              <a:off x="455371" y="8336859"/>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2</a:t>
              </a:r>
              <a:endParaRPr lang="en-US" sz="649" dirty="0"/>
            </a:p>
          </p:txBody>
        </p:sp>
        <p:sp>
          <p:nvSpPr>
            <p:cNvPr id="78" name="svg2_67"/>
            <p:cNvSpPr/>
            <p:nvPr/>
          </p:nvSpPr>
          <p:spPr>
            <a:xfrm>
              <a:off x="572323" y="8339145"/>
              <a:ext cx="1973275" cy="107991"/>
            </a:xfrm>
            <a:prstGeom prst="rect">
              <a:avLst/>
            </a:prstGeom>
            <a:solidFill>
              <a:srgbClr val="F4EEEE"/>
            </a:solidFill>
            <a:ln/>
          </p:spPr>
        </p:sp>
        <p:sp>
          <p:nvSpPr>
            <p:cNvPr id="79" name="svg2_68"/>
            <p:cNvSpPr txBox="1"/>
            <p:nvPr/>
          </p:nvSpPr>
          <p:spPr>
            <a:xfrm>
              <a:off x="621426" y="8335853"/>
              <a:ext cx="1221547"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Xử lý, chuẩn hóa bã mía, vỏ trứng</a:t>
              </a:r>
              <a:endParaRPr lang="en-US" sz="603" dirty="0"/>
            </a:p>
          </p:txBody>
        </p:sp>
        <p:sp>
          <p:nvSpPr>
            <p:cNvPr id="80" name="svg2_69"/>
            <p:cNvSpPr/>
            <p:nvPr/>
          </p:nvSpPr>
          <p:spPr>
            <a:xfrm>
              <a:off x="473202" y="8453079"/>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81" name="svg2_70"/>
            <p:cNvSpPr/>
            <p:nvPr/>
          </p:nvSpPr>
          <p:spPr>
            <a:xfrm>
              <a:off x="425105" y="8482523"/>
              <a:ext cx="147218" cy="107991"/>
            </a:xfrm>
            <a:prstGeom prst="rect">
              <a:avLst/>
            </a:prstGeom>
            <a:solidFill>
              <a:srgbClr val="7B1E2B"/>
            </a:solidFill>
            <a:ln/>
          </p:spPr>
        </p:sp>
        <p:sp>
          <p:nvSpPr>
            <p:cNvPr id="82" name="svg2_71"/>
            <p:cNvSpPr txBox="1"/>
            <p:nvPr/>
          </p:nvSpPr>
          <p:spPr>
            <a:xfrm>
              <a:off x="455371" y="8480237"/>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3</a:t>
              </a:r>
              <a:endParaRPr lang="en-US" sz="649" dirty="0"/>
            </a:p>
          </p:txBody>
        </p:sp>
        <p:sp>
          <p:nvSpPr>
            <p:cNvPr id="83" name="svg2_72"/>
            <p:cNvSpPr/>
            <p:nvPr/>
          </p:nvSpPr>
          <p:spPr>
            <a:xfrm>
              <a:off x="572323" y="8482523"/>
              <a:ext cx="1973275" cy="107991"/>
            </a:xfrm>
            <a:prstGeom prst="rect">
              <a:avLst/>
            </a:prstGeom>
            <a:solidFill>
              <a:srgbClr val="F4EEEE"/>
            </a:solidFill>
            <a:ln/>
          </p:spPr>
        </p:sp>
        <p:sp>
          <p:nvSpPr>
            <p:cNvPr id="84" name="svg2_73"/>
            <p:cNvSpPr txBox="1"/>
            <p:nvPr/>
          </p:nvSpPr>
          <p:spPr>
            <a:xfrm>
              <a:off x="621426" y="8479231"/>
              <a:ext cx="966704"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Phối trộn, tạo sợi tự nhiên</a:t>
              </a:r>
              <a:endParaRPr lang="en-US" sz="603" dirty="0"/>
            </a:p>
          </p:txBody>
        </p:sp>
        <p:sp>
          <p:nvSpPr>
            <p:cNvPr id="85" name="svg2_74"/>
            <p:cNvSpPr/>
            <p:nvPr/>
          </p:nvSpPr>
          <p:spPr>
            <a:xfrm>
              <a:off x="473202" y="8596274"/>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86" name="svg2_75"/>
            <p:cNvSpPr/>
            <p:nvPr/>
          </p:nvSpPr>
          <p:spPr>
            <a:xfrm>
              <a:off x="425105" y="8625810"/>
              <a:ext cx="147218" cy="107899"/>
            </a:xfrm>
            <a:prstGeom prst="rect">
              <a:avLst/>
            </a:prstGeom>
            <a:solidFill>
              <a:srgbClr val="7B1E2B"/>
            </a:solidFill>
            <a:ln/>
          </p:spPr>
        </p:sp>
        <p:sp>
          <p:nvSpPr>
            <p:cNvPr id="87" name="svg2_76"/>
            <p:cNvSpPr txBox="1"/>
            <p:nvPr/>
          </p:nvSpPr>
          <p:spPr>
            <a:xfrm>
              <a:off x="455371" y="8623524"/>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4</a:t>
              </a:r>
              <a:endParaRPr lang="en-US" sz="649" dirty="0"/>
            </a:p>
          </p:txBody>
        </p:sp>
        <p:sp>
          <p:nvSpPr>
            <p:cNvPr id="88" name="svg2_77"/>
            <p:cNvSpPr/>
            <p:nvPr/>
          </p:nvSpPr>
          <p:spPr>
            <a:xfrm>
              <a:off x="572323" y="8625810"/>
              <a:ext cx="1973275" cy="107899"/>
            </a:xfrm>
            <a:prstGeom prst="rect">
              <a:avLst/>
            </a:prstGeom>
            <a:solidFill>
              <a:srgbClr val="F4EEEE"/>
            </a:solidFill>
            <a:ln/>
          </p:spPr>
        </p:sp>
        <p:sp>
          <p:nvSpPr>
            <p:cNvPr id="89" name="svg2_78"/>
            <p:cNvSpPr txBox="1"/>
            <p:nvPr/>
          </p:nvSpPr>
          <p:spPr>
            <a:xfrm>
              <a:off x="621426" y="8622518"/>
              <a:ext cx="560253"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Thiết kế khuôn</a:t>
              </a:r>
              <a:endParaRPr lang="en-US" sz="603" dirty="0"/>
            </a:p>
          </p:txBody>
        </p:sp>
        <p:sp>
          <p:nvSpPr>
            <p:cNvPr id="90" name="svg2_79"/>
            <p:cNvSpPr/>
            <p:nvPr/>
          </p:nvSpPr>
          <p:spPr>
            <a:xfrm>
              <a:off x="473202" y="8739652"/>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91" name="svg2_80"/>
            <p:cNvSpPr/>
            <p:nvPr/>
          </p:nvSpPr>
          <p:spPr>
            <a:xfrm>
              <a:off x="425105" y="8769187"/>
              <a:ext cx="147218" cy="107899"/>
            </a:xfrm>
            <a:prstGeom prst="rect">
              <a:avLst/>
            </a:prstGeom>
            <a:solidFill>
              <a:srgbClr val="7B1E2B"/>
            </a:solidFill>
            <a:ln/>
          </p:spPr>
        </p:sp>
        <p:sp>
          <p:nvSpPr>
            <p:cNvPr id="92" name="svg2_81"/>
            <p:cNvSpPr txBox="1"/>
            <p:nvPr/>
          </p:nvSpPr>
          <p:spPr>
            <a:xfrm>
              <a:off x="455828" y="8766901"/>
              <a:ext cx="85771"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5</a:t>
              </a:r>
              <a:endParaRPr lang="en-US" sz="649" dirty="0"/>
            </a:p>
          </p:txBody>
        </p:sp>
        <p:sp>
          <p:nvSpPr>
            <p:cNvPr id="93" name="svg2_82"/>
            <p:cNvSpPr/>
            <p:nvPr/>
          </p:nvSpPr>
          <p:spPr>
            <a:xfrm>
              <a:off x="572323" y="8769187"/>
              <a:ext cx="1973275" cy="107899"/>
            </a:xfrm>
            <a:prstGeom prst="rect">
              <a:avLst/>
            </a:prstGeom>
            <a:solidFill>
              <a:srgbClr val="F4EEEE"/>
            </a:solidFill>
            <a:ln/>
          </p:spPr>
        </p:sp>
        <p:sp>
          <p:nvSpPr>
            <p:cNvPr id="94" name="svg2_83"/>
            <p:cNvSpPr txBox="1"/>
            <p:nvPr/>
          </p:nvSpPr>
          <p:spPr>
            <a:xfrm>
              <a:off x="621426" y="8765896"/>
              <a:ext cx="1337493"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Ép khuôn, tạo hình và sấy hoàn thiện</a:t>
              </a:r>
              <a:endParaRPr lang="en-US" sz="603" dirty="0"/>
            </a:p>
          </p:txBody>
        </p:sp>
        <p:sp>
          <p:nvSpPr>
            <p:cNvPr id="95" name="svg2_84"/>
            <p:cNvSpPr/>
            <p:nvPr/>
          </p:nvSpPr>
          <p:spPr>
            <a:xfrm>
              <a:off x="473202" y="8883030"/>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96" name="svg2_85"/>
            <p:cNvSpPr/>
            <p:nvPr/>
          </p:nvSpPr>
          <p:spPr>
            <a:xfrm>
              <a:off x="425105" y="8912474"/>
              <a:ext cx="147218" cy="107991"/>
            </a:xfrm>
            <a:prstGeom prst="rect">
              <a:avLst/>
            </a:prstGeom>
            <a:solidFill>
              <a:srgbClr val="7B1E2B"/>
            </a:solidFill>
            <a:ln/>
          </p:spPr>
        </p:sp>
        <p:sp>
          <p:nvSpPr>
            <p:cNvPr id="97" name="svg2_86"/>
            <p:cNvSpPr txBox="1"/>
            <p:nvPr/>
          </p:nvSpPr>
          <p:spPr>
            <a:xfrm>
              <a:off x="455371" y="8910188"/>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6</a:t>
              </a:r>
              <a:endParaRPr lang="en-US" sz="649" dirty="0"/>
            </a:p>
          </p:txBody>
        </p:sp>
        <p:sp>
          <p:nvSpPr>
            <p:cNvPr id="98" name="svg2_87"/>
            <p:cNvSpPr/>
            <p:nvPr/>
          </p:nvSpPr>
          <p:spPr>
            <a:xfrm>
              <a:off x="572323" y="8912474"/>
              <a:ext cx="1973275" cy="107991"/>
            </a:xfrm>
            <a:prstGeom prst="rect">
              <a:avLst/>
            </a:prstGeom>
            <a:solidFill>
              <a:srgbClr val="F4EEEE"/>
            </a:solidFill>
            <a:ln/>
          </p:spPr>
        </p:sp>
        <p:sp>
          <p:nvSpPr>
            <p:cNvPr id="99" name="svg2_88"/>
            <p:cNvSpPr txBox="1"/>
            <p:nvPr/>
          </p:nvSpPr>
          <p:spPr>
            <a:xfrm>
              <a:off x="621426" y="8909182"/>
              <a:ext cx="739018"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Kiểm tra chất lượng</a:t>
              </a:r>
              <a:endParaRPr lang="en-US" sz="603" dirty="0"/>
            </a:p>
          </p:txBody>
        </p:sp>
        <p:sp>
          <p:nvSpPr>
            <p:cNvPr id="100" name="svg2_89"/>
            <p:cNvSpPr/>
            <p:nvPr/>
          </p:nvSpPr>
          <p:spPr>
            <a:xfrm>
              <a:off x="473202" y="9026408"/>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101" name="svg2_90"/>
            <p:cNvSpPr/>
            <p:nvPr/>
          </p:nvSpPr>
          <p:spPr>
            <a:xfrm>
              <a:off x="425105" y="9055760"/>
              <a:ext cx="147218" cy="107991"/>
            </a:xfrm>
            <a:prstGeom prst="rect">
              <a:avLst/>
            </a:prstGeom>
            <a:solidFill>
              <a:srgbClr val="7B1E2B"/>
            </a:solidFill>
            <a:ln/>
          </p:spPr>
        </p:sp>
        <p:sp>
          <p:nvSpPr>
            <p:cNvPr id="102" name="svg2_91"/>
            <p:cNvSpPr txBox="1"/>
            <p:nvPr/>
          </p:nvSpPr>
          <p:spPr>
            <a:xfrm>
              <a:off x="455371" y="9053474"/>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7</a:t>
              </a:r>
              <a:endParaRPr lang="en-US" sz="649" dirty="0"/>
            </a:p>
          </p:txBody>
        </p:sp>
        <p:sp>
          <p:nvSpPr>
            <p:cNvPr id="103" name="svg2_92"/>
            <p:cNvSpPr/>
            <p:nvPr/>
          </p:nvSpPr>
          <p:spPr>
            <a:xfrm>
              <a:off x="572323" y="9055760"/>
              <a:ext cx="1973275" cy="107991"/>
            </a:xfrm>
            <a:prstGeom prst="rect">
              <a:avLst/>
            </a:prstGeom>
            <a:solidFill>
              <a:srgbClr val="F4EEEE"/>
            </a:solidFill>
            <a:ln/>
          </p:spPr>
        </p:sp>
        <p:sp>
          <p:nvSpPr>
            <p:cNvPr id="104" name="svg2_93"/>
            <p:cNvSpPr txBox="1"/>
            <p:nvPr/>
          </p:nvSpPr>
          <p:spPr>
            <a:xfrm>
              <a:off x="621426" y="9052560"/>
              <a:ext cx="1425458"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Phân phối trực tiếp tới khách hàng B2B</a:t>
              </a:r>
              <a:endParaRPr lang="en-US" sz="603" dirty="0"/>
            </a:p>
          </p:txBody>
        </p:sp>
      </p:grpSp>
      <p:sp>
        <p:nvSpPr>
          <p:cNvPr id="105" name="Text 101"/>
          <p:cNvSpPr txBox="1"/>
          <p:nvPr/>
        </p:nvSpPr>
        <p:spPr>
          <a:xfrm>
            <a:off x="2745303" y="990387"/>
            <a:ext cx="4409237" cy="1465052"/>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 thị trường SAM với mức doanh thu ~4,7 triệu USD. Thị trường miền Trung và Nam là hai thị trường AgriPack tập trung khai thác, sau đó sẽ mở rộng ra Hà Nội và miền Bắc (Fig. 05).</a:t>
            </a:r>
            <a:endParaRPr lang="en-US" sz="850" dirty="0"/>
          </a:p>
        </p:txBody>
      </p:sp>
      <p:sp>
        <p:nvSpPr>
          <p:cNvPr id="106" name="Text 102"/>
          <p:cNvSpPr txBox="1"/>
          <p:nvPr/>
        </p:nvSpPr>
        <p:spPr>
          <a:xfrm>
            <a:off x="2745303" y="7022043"/>
            <a:ext cx="4409237" cy="974476"/>
          </a:xfrm>
          <a:prstGeom prst="rect">
            <a:avLst/>
          </a:prstGeom>
          <a:noFill/>
          <a:ln/>
        </p:spPr>
        <p:txBody>
          <a:bodyPr wrap="square" lIns="0" tIns="0" rIns="0" bIns="0" rtlCol="0" anchor="t"/>
          <a:lstStyle/>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Phối trộn, tạo sợi tự nhiên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Ép khuôn, tạo hình và sấy hoàn thiện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Phân phối trực tiếp tới khách hàng B2B</a:t>
            </a:r>
            <a:endParaRPr lang="en-US" sz="850" dirty="0"/>
          </a:p>
        </p:txBody>
      </p:sp>
      <p:sp>
        <p:nvSpPr>
          <p:cNvPr id="107" name="Text 10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8" name="Text 10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09" name="Text 105"/>
          <p:cNvSpPr txBox="1"/>
          <p:nvPr/>
        </p:nvSpPr>
        <p:spPr>
          <a:xfrm>
            <a:off x="405354" y="58923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SOM tăng từ 4,3% lên 11,0% SAM đến 2030E</a:t>
            </a:r>
            <a:endParaRPr lang="en-US" sz="720" dirty="0"/>
          </a:p>
        </p:txBody>
      </p:sp>
      <p:sp>
        <p:nvSpPr>
          <p:cNvPr id="110" name="Text 106"/>
          <p:cNvSpPr txBox="1"/>
          <p:nvPr/>
        </p:nvSpPr>
        <p:spPr>
          <a:xfrm>
            <a:off x="405354" y="180712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en-US" sz="600" dirty="0"/>
          </a:p>
        </p:txBody>
      </p:sp>
      <p:sp>
        <p:nvSpPr>
          <p:cNvPr id="111" name="Text 107"/>
          <p:cNvSpPr txBox="1"/>
          <p:nvPr/>
        </p:nvSpPr>
        <p:spPr>
          <a:xfrm>
            <a:off x="2745303" y="55805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en-US" sz="850" dirty="0"/>
          </a:p>
        </p:txBody>
      </p:sp>
      <p:sp>
        <p:nvSpPr>
          <p:cNvPr id="112" name="Text 108"/>
          <p:cNvSpPr txBox="1"/>
          <p:nvPr/>
        </p:nvSpPr>
        <p:spPr>
          <a:xfrm>
            <a:off x="405354" y="2550810"/>
            <a:ext cx="7153991"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1.2.2. Chiến lược giá bán</a:t>
            </a:r>
            <a:endParaRPr lang="en-US" sz="820" dirty="0"/>
          </a:p>
        </p:txBody>
      </p:sp>
      <p:sp>
        <p:nvSpPr>
          <p:cNvPr id="113" name="Text 109"/>
          <p:cNvSpPr txBox="1"/>
          <p:nvPr/>
        </p:nvSpPr>
        <p:spPr>
          <a:xfrm>
            <a:off x="405354" y="272857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en-US" sz="720" dirty="0"/>
          </a:p>
        </p:txBody>
      </p:sp>
      <p:sp>
        <p:nvSpPr>
          <p:cNvPr id="114" name="Text 110"/>
          <p:cNvSpPr txBox="1"/>
          <p:nvPr/>
        </p:nvSpPr>
        <p:spPr>
          <a:xfrm>
            <a:off x="405354" y="4295485"/>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en-US" sz="600" dirty="0"/>
          </a:p>
        </p:txBody>
      </p:sp>
      <p:sp>
        <p:nvSpPr>
          <p:cNvPr id="115" name="Text 111"/>
          <p:cNvSpPr txBox="1"/>
          <p:nvPr/>
        </p:nvSpPr>
        <p:spPr>
          <a:xfrm>
            <a:off x="405354" y="448988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Thực phẩm/FMCG chiếm gần 80% doanh thu bán hàng</a:t>
            </a:r>
            <a:endParaRPr lang="en-US" sz="720" dirty="0"/>
          </a:p>
        </p:txBody>
      </p:sp>
      <p:sp>
        <p:nvSpPr>
          <p:cNvPr id="116" name="Text 112"/>
          <p:cNvSpPr txBox="1"/>
          <p:nvPr/>
        </p:nvSpPr>
        <p:spPr>
          <a:xfrm>
            <a:off x="405354" y="472699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7" name="Text 113"/>
          <p:cNvSpPr txBox="1"/>
          <p:nvPr/>
        </p:nvSpPr>
        <p:spPr>
          <a:xfrm>
            <a:off x="405354" y="594012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en-US" sz="600" dirty="0"/>
          </a:p>
        </p:txBody>
      </p:sp>
      <p:sp>
        <p:nvSpPr>
          <p:cNvPr id="118" name="Text 114"/>
          <p:cNvSpPr txBox="1"/>
          <p:nvPr/>
        </p:nvSpPr>
        <p:spPr>
          <a:xfrm>
            <a:off x="405354" y="623675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en-US" sz="720" dirty="0"/>
          </a:p>
        </p:txBody>
      </p:sp>
      <p:sp>
        <p:nvSpPr>
          <p:cNvPr id="119" name="Text 115"/>
          <p:cNvSpPr txBox="1"/>
          <p:nvPr/>
        </p:nvSpPr>
        <p:spPr>
          <a:xfrm>
            <a:off x="405354" y="647386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20" name="Text 116"/>
          <p:cNvSpPr txBox="1"/>
          <p:nvPr/>
        </p:nvSpPr>
        <p:spPr>
          <a:xfrm>
            <a:off x="405354" y="762819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en-US" sz="600" dirty="0"/>
          </a:p>
        </p:txBody>
      </p:sp>
      <p:sp>
        <p:nvSpPr>
          <p:cNvPr id="121" name="Text 117"/>
          <p:cNvSpPr txBox="1"/>
          <p:nvPr/>
        </p:nvSpPr>
        <p:spPr>
          <a:xfrm>
            <a:off x="405354" y="792483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en-US" sz="720" dirty="0"/>
          </a:p>
        </p:txBody>
      </p:sp>
      <p:sp>
        <p:nvSpPr>
          <p:cNvPr id="122" name="Text 118"/>
          <p:cNvSpPr txBox="1"/>
          <p:nvPr/>
        </p:nvSpPr>
        <p:spPr>
          <a:xfrm>
            <a:off x="405354" y="920133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en-US" sz="600" dirty="0"/>
          </a:p>
        </p:txBody>
      </p:sp>
      <p:sp>
        <p:nvSpPr>
          <p:cNvPr id="123" name="Text 119"/>
          <p:cNvSpPr txBox="1"/>
          <p:nvPr/>
        </p:nvSpPr>
        <p:spPr>
          <a:xfrm>
            <a:off x="2745303" y="447306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1.3. Mô hình kinh doanh và Chuỗi giá trị</a:t>
            </a:r>
            <a:endParaRPr lang="en-US" sz="900" dirty="0"/>
          </a:p>
        </p:txBody>
      </p:sp>
      <p:sp>
        <p:nvSpPr>
          <p:cNvPr id="124" name="Text 120"/>
          <p:cNvSpPr txBox="1"/>
          <p:nvPr/>
        </p:nvSpPr>
        <p:spPr>
          <a:xfrm>
            <a:off x="2745303" y="4642409"/>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1.3.1. Mô hình kinh doanh</a:t>
            </a:r>
            <a:endParaRPr lang="en-US" sz="820" dirty="0"/>
          </a:p>
        </p:txBody>
      </p:sp>
      <p:sp>
        <p:nvSpPr>
          <p:cNvPr id="125" name="Text 121"/>
          <p:cNvSpPr txBox="1"/>
          <p:nvPr/>
        </p:nvSpPr>
        <p:spPr>
          <a:xfrm>
            <a:off x="2745303" y="4788987"/>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en-US" sz="850" dirty="0"/>
          </a:p>
        </p:txBody>
      </p:sp>
      <p:sp>
        <p:nvSpPr>
          <p:cNvPr id="126" name="Text 122"/>
          <p:cNvSpPr txBox="1"/>
          <p:nvPr/>
        </p:nvSpPr>
        <p:spPr>
          <a:xfrm>
            <a:off x="2745303" y="5616062"/>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07, Fig. 08).</a:t>
            </a:r>
            <a:endParaRPr lang="en-US" sz="850" dirty="0"/>
          </a:p>
        </p:txBody>
      </p:sp>
      <p:sp>
        <p:nvSpPr>
          <p:cNvPr id="127" name="Text 123"/>
          <p:cNvSpPr txBox="1"/>
          <p:nvPr/>
        </p:nvSpPr>
        <p:spPr>
          <a:xfrm>
            <a:off x="2745303" y="6574627"/>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1.3.2 Chuỗi giá trị</a:t>
            </a:r>
            <a:endParaRPr lang="en-US" sz="820" dirty="0"/>
          </a:p>
        </p:txBody>
      </p:sp>
      <p:sp>
        <p:nvSpPr>
          <p:cNvPr id="128" name="Text 124"/>
          <p:cNvSpPr txBox="1"/>
          <p:nvPr/>
        </p:nvSpPr>
        <p:spPr>
          <a:xfrm>
            <a:off x="2745303" y="6721206"/>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09; sơ đồ chi tiết ở Fig. A02)</a:t>
            </a:r>
            <a:endParaRPr lang="en-US" sz="850" dirty="0"/>
          </a:p>
        </p:txBody>
      </p:sp>
      <p:sp>
        <p:nvSpPr>
          <p:cNvPr id="129" name="Text 125"/>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30" name="Text 126"/>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3</a:t>
            </a:r>
            <a:endParaRPr lang="en-US"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2159996" cy="0"/>
          </a:xfrm>
          <a:prstGeom prst="line">
            <a:avLst/>
          </a:prstGeom>
          <a:noFill/>
          <a:ln w="9525">
            <a:solidFill>
              <a:srgbClr val="7B1E2B"/>
            </a:solidFill>
            <a:prstDash val="solid"/>
          </a:ln>
        </p:spPr>
      </p:sp>
      <p:sp>
        <p:nvSpPr>
          <p:cNvPr id="5" name="Shape 3"/>
          <p:cNvSpPr/>
          <p:nvPr/>
        </p:nvSpPr>
        <p:spPr>
          <a:xfrm>
            <a:off x="405354" y="1794144"/>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354" y="1105052"/>
          <a:ext cx="2159996" cy="914400"/>
        </p:xfrm>
        <a:graphic>
          <a:graphicData uri="http://schemas.openxmlformats.org/drawingml/2006/table">
            <a:tbl>
              <a:tblPr/>
              <a:tblGrid>
                <a:gridCol w="863925"/>
                <a:gridCol w="431871"/>
                <a:gridCol w="431871"/>
                <a:gridCol w="43223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Doanh thu thuần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19.438.240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30.928.285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47.546.528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Tăng trưởng doanh thu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59,1%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53,7%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354" y="2173072"/>
          <a:ext cx="2159996" cy="914400"/>
        </p:xfrm>
        <a:graphic>
          <a:graphicData uri="http://schemas.openxmlformats.org/drawingml/2006/table">
            <a:tbl>
              <a:tblPr/>
              <a:tblGrid>
                <a:gridCol w="863925"/>
                <a:gridCol w="431871"/>
                <a:gridCol w="431871"/>
                <a:gridCol w="43223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Doanh thu thuần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19.438.240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30.928.285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47.546.528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gộp</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13.426.489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22.035.714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34.621.079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gộp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69,1%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71,2%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19984">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chi phí hoạt động (chi phí bán hàng và quản lý doanh nghiệp + lương)</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16.189.000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20.021.150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26.926.450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EBITDA</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(2.762.511)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2.014.564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7.694.629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EBITDA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EBIT</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(4.194.711)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(360.716)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4.562.677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EBIT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9,6%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sau thuế</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(4.309.011)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(503.276)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4.420.495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lợi nhuận ròng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-22,2%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9,3%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ROE</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ROA</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Vòng quay tổng tài sản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1,04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4579">
                <a:tc gridSpan="4">
                  <a:txBody>
                    <a:bodyPr/>
                    <a:lstStyle/>
                    <a:p>
                      <a:pPr algn="l" indent="0" marL="0">
                        <a:buNone/>
                      </a:pPr>
                      <a:r>
                        <a:rPr lang="en-US" sz="614" dirty="0">
                          <a:solidFill>
                            <a:srgbClr val="333333"/>
                          </a:solidFill>
                          <a:latin typeface="Calibri" pitchFamily="34" charset="0"/>
                          <a:ea typeface="Calibri" pitchFamily="34" charset="-122"/>
                          <a:cs typeface="Calibri" pitchFamily="34" charset="-120"/>
                        </a:rPr>
                        <a:t>Ghi nhớ (Mục 4): khi phân bổ 70% tiền lương và 90% khấu hao vào giá vốn, biên lợi nhuận gộp 2023–2025 là 37,3% – 46,9% – 51,0%; EBITDA, EBIT và LNST không đổi.</a:t>
                      </a:r>
                      <a:endParaRPr lang="en-US" sz="614"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0" cap="flat" cmpd="sng" algn="ctr">
                      <a:noFill/>
                    </a:lnB>
                  </a:tcPr>
                </a:tc>
                <a:tc hMerge="1">
                  <a:tcPr/>
                </a:tc>
                <a:tc hMerge="1">
                  <a:tcPr/>
                </a:tc>
                <a:tc hMerge="1">
                  <a:tcPr/>
                </a:tc>
              </a:tr>
            </a:tbl>
          </a:graphicData>
        </a:graphic>
      </p:graphicFrame>
      <p:sp>
        <p:nvSpPr>
          <p:cNvPr id="9"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1" name="Text 7"/>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2. BÁO CÁO TÀI CHÍNH VÀ XÁC ĐỊNH GIAI ĐOẠN</a:t>
            </a:r>
            <a:endParaRPr lang="en-US" sz="880" dirty="0"/>
          </a:p>
        </p:txBody>
      </p:sp>
      <p:sp>
        <p:nvSpPr>
          <p:cNvPr id="12" name="Text 8"/>
          <p:cNvSpPr txBox="1"/>
          <p:nvPr/>
        </p:nvSpPr>
        <p:spPr>
          <a:xfrm>
            <a:off x="405354" y="86200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tăng 59,1% và 53,7%</a:t>
            </a:r>
            <a:endParaRPr lang="en-US" sz="720" dirty="0"/>
          </a:p>
        </p:txBody>
      </p:sp>
      <p:sp>
        <p:nvSpPr>
          <p:cNvPr id="13" name="Text 9"/>
          <p:cNvSpPr txBox="1"/>
          <p:nvPr/>
        </p:nvSpPr>
        <p:spPr>
          <a:xfrm>
            <a:off x="405354" y="98956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14" name="Text 10"/>
          <p:cNvSpPr txBox="1"/>
          <p:nvPr/>
        </p:nvSpPr>
        <p:spPr>
          <a:xfrm>
            <a:off x="405354" y="161528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15" name="Text 11"/>
          <p:cNvSpPr txBox="1"/>
          <p:nvPr/>
        </p:nvSpPr>
        <p:spPr>
          <a:xfrm>
            <a:off x="405354" y="182047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en-US" sz="720" dirty="0"/>
          </a:p>
        </p:txBody>
      </p:sp>
      <p:sp>
        <p:nvSpPr>
          <p:cNvPr id="16" name="Text 12"/>
          <p:cNvSpPr txBox="1"/>
          <p:nvPr/>
        </p:nvSpPr>
        <p:spPr>
          <a:xfrm>
            <a:off x="405354" y="205758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17" name="Text 13"/>
          <p:cNvSpPr txBox="1"/>
          <p:nvPr/>
        </p:nvSpPr>
        <p:spPr>
          <a:xfrm>
            <a:off x="405354" y="4757532"/>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 (ROE, ROA, vòng quay trên số dư bình quân)</a:t>
            </a:r>
            <a:endParaRPr lang="en-US" sz="600" dirty="0"/>
          </a:p>
        </p:txBody>
      </p:sp>
      <p:sp>
        <p:nvSpPr>
          <p:cNvPr id="18" name="Text 14"/>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2.1. Quy mô doanh thu</a:t>
            </a:r>
            <a:endParaRPr lang="en-US" sz="900" dirty="0"/>
          </a:p>
        </p:txBody>
      </p:sp>
      <p:sp>
        <p:nvSpPr>
          <p:cNvPr id="19" name="Text 15"/>
          <p:cNvSpPr txBox="1"/>
          <p:nvPr/>
        </p:nvSpPr>
        <p:spPr>
          <a:xfrm>
            <a:off x="2745303" y="101461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10).</a:t>
            </a:r>
            <a:endParaRPr lang="en-US" sz="850" dirty="0"/>
          </a:p>
        </p:txBody>
      </p:sp>
      <p:sp>
        <p:nvSpPr>
          <p:cNvPr id="20" name="Text 16"/>
          <p:cNvSpPr txBox="1"/>
          <p:nvPr/>
        </p:nvSpPr>
        <p:spPr>
          <a:xfrm>
            <a:off x="2745303" y="144694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doanh thu 47,5 tỷ đồng (tương đương khoảng 1,83 triệu USD với tỷ giá 25,974.5 VND/USD) năm 2025, AgriPack hiện chiếm 0,16% quy mô thị trường bao bì xanh toàn quốc và 5,4% thị trường bao bì xanh ngành F&amp;B.</a:t>
            </a:r>
            <a:endParaRPr lang="en-US" sz="850" dirty="0"/>
          </a:p>
        </p:txBody>
      </p:sp>
      <p:sp>
        <p:nvSpPr>
          <p:cNvPr id="21" name="Text 17"/>
          <p:cNvSpPr txBox="1"/>
          <p:nvPr/>
        </p:nvSpPr>
        <p:spPr>
          <a:xfrm>
            <a:off x="2745303" y="2142348"/>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Điều này cho thấy AgriPack đang có vị thế tương đối vững chắc trong phân khúc F&amp;B, với 5,4% thị phần toàn quốc và 7,3% tại miền Trung - Nam, cho thấy năng lực cạnh tranh, kênh phân phối và nhận diện thương hiệu tốt trong ngành F&amp;B nội địa. Tuy nhiên, thị phần 0,16% toàn ngành bao bì xanh cho thấy quy mô còn nhỏ và phụ thuộc vào một phân khúc. Mức 7,3% cũng cho thấy dư địa tăng trưởng tại thị trường hiện tại đang dần thu hẹp, nhưng đồng thời mở ra cơ hội lớn khi AgriPack có thể khai thác 99,84% thị trường còn lại, mở rộng ra miền Bắc và các lĩnh vực như logistics, FMCG và nông sản xuất khẩu.</a:t>
            </a:r>
            <a:endParaRPr lang="en-US" sz="850" dirty="0"/>
          </a:p>
        </p:txBody>
      </p:sp>
      <p:sp>
        <p:nvSpPr>
          <p:cNvPr id="22" name="Text 18"/>
          <p:cNvSpPr txBox="1"/>
          <p:nvPr/>
        </p:nvSpPr>
        <p:spPr>
          <a:xfrm>
            <a:off x="2745303" y="3100913"/>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en-US" sz="850" dirty="0"/>
          </a:p>
        </p:txBody>
      </p:sp>
      <p:sp>
        <p:nvSpPr>
          <p:cNvPr id="23" name="Text 19"/>
          <p:cNvSpPr txBox="1"/>
          <p:nvPr/>
        </p:nvSpPr>
        <p:spPr>
          <a:xfrm>
            <a:off x="2745303" y="4059570"/>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a:t>
            </a:r>
            <a:endParaRPr lang="en-US" sz="850" dirty="0"/>
          </a:p>
        </p:txBody>
      </p:sp>
      <p:sp>
        <p:nvSpPr>
          <p:cNvPr id="24" name="Text 20"/>
          <p:cNvSpPr txBox="1"/>
          <p:nvPr/>
        </p:nvSpPr>
        <p:spPr>
          <a:xfrm>
            <a:off x="2745303" y="4755063"/>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2.2. Mức độ sinh lời</a:t>
            </a:r>
            <a:endParaRPr lang="en-US" sz="900" dirty="0"/>
          </a:p>
        </p:txBody>
      </p:sp>
      <p:sp>
        <p:nvSpPr>
          <p:cNvPr id="25" name="Text 21"/>
          <p:cNvSpPr txBox="1"/>
          <p:nvPr/>
        </p:nvSpPr>
        <p:spPr>
          <a:xfrm>
            <a:off x="2745303" y="4924410"/>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Biên lợi nhuận gộp tăng đều đặn qua ba năm: 69,1% (2023) → 71,2% (2024) → 72,8%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11).</a:t>
            </a:r>
            <a:endParaRPr lang="en-US" sz="850" dirty="0"/>
          </a:p>
        </p:txBody>
      </p:sp>
      <p:sp>
        <p:nvSpPr>
          <p:cNvPr id="26" name="Text 22"/>
          <p:cNvSpPr txBox="1"/>
          <p:nvPr/>
        </p:nvSpPr>
        <p:spPr>
          <a:xfrm>
            <a:off x="2745303" y="5619902"/>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29%/năm.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a:t>
            </a:r>
            <a:endParaRPr lang="en-US" sz="850" dirty="0"/>
          </a:p>
        </p:txBody>
      </p:sp>
      <p:sp>
        <p:nvSpPr>
          <p:cNvPr id="27" name="Text 23"/>
          <p:cNvSpPr txBox="1"/>
          <p:nvPr/>
        </p:nvSpPr>
        <p:spPr>
          <a:xfrm>
            <a:off x="2745303" y="6841632"/>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en-US" sz="850" dirty="0"/>
          </a:p>
        </p:txBody>
      </p:sp>
      <p:sp>
        <p:nvSpPr>
          <p:cNvPr id="28" name="Text 24"/>
          <p:cNvSpPr txBox="1"/>
          <p:nvPr/>
        </p:nvSpPr>
        <p:spPr>
          <a:xfrm>
            <a:off x="2745303" y="7668707"/>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en-US" sz="850" dirty="0"/>
          </a:p>
        </p:txBody>
      </p:sp>
      <p:sp>
        <p:nvSpPr>
          <p:cNvPr id="29" name="Text 25"/>
          <p:cNvSpPr txBox="1"/>
          <p:nvPr/>
        </p:nvSpPr>
        <p:spPr>
          <a:xfrm>
            <a:off x="2745303" y="8627273"/>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en-US" sz="850" dirty="0"/>
          </a:p>
        </p:txBody>
      </p:sp>
      <p:sp>
        <p:nvSpPr>
          <p:cNvPr id="30" name="Text 26"/>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1" name="Text 27"/>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4</a:t>
            </a:r>
            <a:endParaRPr lang="en-US"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557955"/>
            <a:ext cx="2159996" cy="0"/>
          </a:xfrm>
          <a:prstGeom prst="line">
            <a:avLst/>
          </a:prstGeom>
          <a:noFill/>
          <a:ln w="9525">
            <a:solidFill>
              <a:srgbClr val="7B1E2B"/>
            </a:solidFill>
            <a:prstDash val="solid"/>
          </a:ln>
        </p:spPr>
      </p:sp>
      <p:sp>
        <p:nvSpPr>
          <p:cNvPr id="5" name="Shape 3"/>
          <p:cNvSpPr/>
          <p:nvPr/>
        </p:nvSpPr>
        <p:spPr>
          <a:xfrm>
            <a:off x="405354" y="2744754"/>
            <a:ext cx="2159996" cy="0"/>
          </a:xfrm>
          <a:prstGeom prst="line">
            <a:avLst/>
          </a:prstGeom>
          <a:noFill/>
          <a:ln w="9525">
            <a:solidFill>
              <a:srgbClr val="7B1E2B"/>
            </a:solidFill>
            <a:prstDash val="solid"/>
          </a:ln>
        </p:spPr>
      </p:sp>
      <p:sp>
        <p:nvSpPr>
          <p:cNvPr id="6" name="Shape 4"/>
          <p:cNvSpPr/>
          <p:nvPr/>
        </p:nvSpPr>
        <p:spPr>
          <a:xfrm>
            <a:off x="405354" y="3968039"/>
            <a:ext cx="2159996" cy="0"/>
          </a:xfrm>
          <a:prstGeom prst="line">
            <a:avLst/>
          </a:prstGeom>
          <a:noFill/>
          <a:ln w="9525">
            <a:solidFill>
              <a:srgbClr val="7B1E2B"/>
            </a:solidFill>
            <a:prstDash val="solid"/>
          </a:ln>
        </p:spPr>
      </p:sp>
      <p:sp>
        <p:nvSpPr>
          <p:cNvPr id="7" name="Shape 5"/>
          <p:cNvSpPr/>
          <p:nvPr/>
        </p:nvSpPr>
        <p:spPr>
          <a:xfrm>
            <a:off x="405354" y="5383164"/>
            <a:ext cx="2159996" cy="0"/>
          </a:xfrm>
          <a:prstGeom prst="line">
            <a:avLst/>
          </a:prstGeom>
          <a:noFill/>
          <a:ln w="9525">
            <a:solidFill>
              <a:srgbClr val="7B1E2B"/>
            </a:solidFill>
            <a:prstDash val="solid"/>
          </a:ln>
        </p:spPr>
      </p:sp>
      <p:sp>
        <p:nvSpPr>
          <p:cNvPr id="8" name="Shape 6"/>
          <p:cNvSpPr/>
          <p:nvPr/>
        </p:nvSpPr>
        <p:spPr>
          <a:xfrm>
            <a:off x="405354" y="7481712"/>
            <a:ext cx="6749004" cy="0"/>
          </a:xfrm>
          <a:prstGeom prst="line">
            <a:avLst/>
          </a:prstGeom>
          <a:noFill/>
          <a:ln w="9525">
            <a:solidFill>
              <a:srgbClr val="7B1E2B"/>
            </a:solidFill>
            <a:prstDash val="solid"/>
          </a:ln>
        </p:spPr>
      </p:sp>
      <p:sp>
        <p:nvSpPr>
          <p:cNvPr id="9" name="Shape 7"/>
          <p:cNvSpPr/>
          <p:nvPr/>
        </p:nvSpPr>
        <p:spPr>
          <a:xfrm>
            <a:off x="405354" y="10369479"/>
            <a:ext cx="6749004" cy="0"/>
          </a:xfrm>
          <a:prstGeom prst="line">
            <a:avLst/>
          </a:prstGeom>
          <a:noFill/>
          <a:ln w="9525">
            <a:solidFill>
              <a:srgbClr val="BFBFB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tài sản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20.547.789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27.423.353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31.917.540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Tài sản dài hạn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15.511.800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19.442.120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21.394.688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Nợ dài hạn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354" y="1827246"/>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(5.009.000)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(6.305.600)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(5.084.520)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CAPEX/Doanh thu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10,7%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CAPEX/Khấu hao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354" y="3014137"/>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tài sản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20.547.789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27.423.353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31.917.540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nợ phải trả</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1.492.800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1.871.640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1.945.332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Vốn chủ sở hữu</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19.054.989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25.551.713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29.972.208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Tỷ lệ Nợ/Vốn CSH (D/E)</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354" y="4237512"/>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3571">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Lưu chuyển tiền thuần từ HĐKD</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(3.957.011)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697.144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6.282.469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(5.009.000)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(6.305.600)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(5.084.520)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Dòng tiền tự do (FCF = OCF − 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(8.966.011)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(5.608.456)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1.197.949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Số dư tiền mặt cuối kỳ</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43.989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1.735.533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2.933.482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354" y="5762092"/>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3571">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Hệ số thanh toán hiện hành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17,2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Hệ số thanh toán nhanh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8,7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13,4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354" y="7649870"/>
          <a:ext cx="6749004" cy="914400"/>
        </p:xfrm>
        <a:graphic>
          <a:graphicData uri="http://schemas.openxmlformats.org/drawingml/2006/table">
            <a:tbl>
              <a:tblPr/>
              <a:tblGrid>
                <a:gridCol w="1012332"/>
                <a:gridCol w="2834549"/>
                <a:gridCol w="2902123"/>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Diễn giải từ BCTC 2023-2025</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Hàm ý về giai đoạn</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236007">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Quy mô tương đối so với ngành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2025 khoảng </a:t>
                      </a:r>
                      <a:pPr algn="l" indent="0" marL="0">
                        <a:buNone/>
                      </a:pPr>
                      <a:r>
                        <a:rPr lang="en-US" sz="634" b="1" dirty="0">
                          <a:solidFill>
                            <a:srgbClr val="1F1F1F"/>
                          </a:solidFill>
                          <a:latin typeface="Calibri" pitchFamily="34" charset="0"/>
                          <a:ea typeface="Calibri" pitchFamily="34" charset="-122"/>
                          <a:cs typeface="Calibri" pitchFamily="34" charset="-120"/>
                        </a:rPr>
                        <a:t>47,5 tỷ đồng</a:t>
                      </a:r>
                      <a:pPr algn="l" indent="0" marL="0">
                        <a:buNone/>
                      </a:pPr>
                      <a:r>
                        <a:rPr lang="en-US" sz="634" dirty="0">
                          <a:solidFill>
                            <a:srgbClr val="1F1F1F"/>
                          </a:solidFill>
                          <a:latin typeface="Calibri" pitchFamily="34" charset="0"/>
                          <a:ea typeface="Calibri" pitchFamily="34" charset="-122"/>
                          <a:cs typeface="Calibri" pitchFamily="34" charset="-120"/>
                        </a:rPr>
                        <a:t>, trong khi An Phát khoảng </a:t>
                      </a:r>
                      <a:pPr algn="l" indent="0" marL="0">
                        <a:buNone/>
                      </a:pPr>
                      <a:r>
                        <a:rPr lang="en-US" sz="634" b="1" dirty="0">
                          <a:solidFill>
                            <a:srgbClr val="1F1F1F"/>
                          </a:solidFill>
                          <a:latin typeface="Calibri" pitchFamily="34" charset="0"/>
                          <a:ea typeface="Calibri" pitchFamily="34" charset="-122"/>
                          <a:cs typeface="Calibri" pitchFamily="34" charset="-120"/>
                        </a:rPr>
                        <a:t>10.746 tỷ đồng</a:t>
                      </a:r>
                      <a:pPr algn="l" indent="0" marL="0">
                        <a:buNone/>
                      </a:pPr>
                      <a:r>
                        <a:rPr lang="en-US" sz="634" dirty="0">
                          <a:solidFill>
                            <a:srgbClr val="1F1F1F"/>
                          </a:solidFill>
                          <a:latin typeface="Calibri" pitchFamily="34" charset="0"/>
                          <a:ea typeface="Calibri" pitchFamily="34" charset="-122"/>
                          <a:cs typeface="Calibri" pitchFamily="34" charset="-120"/>
                        </a:rPr>
                        <a:t> và Đông Hải Bến Tre khoảng </a:t>
                      </a:r>
                      <a:pPr algn="l" indent="0" marL="0">
                        <a:buNone/>
                      </a:pPr>
                      <a:r>
                        <a:rPr lang="en-US" sz="634" b="1" dirty="0">
                          <a:solidFill>
                            <a:srgbClr val="1F1F1F"/>
                          </a:solidFill>
                          <a:latin typeface="Calibri" pitchFamily="34" charset="0"/>
                          <a:ea typeface="Calibri" pitchFamily="34" charset="-122"/>
                          <a:cs typeface="Calibri" pitchFamily="34" charset="-120"/>
                        </a:rPr>
                        <a:t>3.633 tỷ đồng</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Tăng trưởng doanh thu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tăng từ </a:t>
                      </a:r>
                      <a:pPr algn="l" indent="0" marL="0">
                        <a:buNone/>
                      </a:pPr>
                      <a:r>
                        <a:rPr lang="en-US" sz="634" b="1" dirty="0">
                          <a:solidFill>
                            <a:srgbClr val="1F1F1F"/>
                          </a:solidFill>
                          <a:latin typeface="Calibri" pitchFamily="34" charset="0"/>
                          <a:ea typeface="Calibri" pitchFamily="34" charset="-122"/>
                          <a:cs typeface="Calibri" pitchFamily="34" charset="-120"/>
                        </a:rPr>
                        <a:t>19,4 tỷ đồng (2023) → 30,9 tỷ (2024) → 47,5 tỷ (2025)</a:t>
                      </a:r>
                      <a:pPr algn="l" indent="0" marL="0">
                        <a:buNone/>
                      </a:pPr>
                      <a:r>
                        <a:rPr lang="en-US" sz="634" dirty="0">
                          <a:solidFill>
                            <a:srgbClr val="1F1F1F"/>
                          </a:solidFill>
                          <a:latin typeface="Calibri" pitchFamily="34" charset="0"/>
                          <a:ea typeface="Calibri" pitchFamily="34" charset="-122"/>
                          <a:cs typeface="Calibri" pitchFamily="34" charset="-120"/>
                        </a:rPr>
                        <a:t>, tương ứng tăng </a:t>
                      </a:r>
                      <a:pPr algn="l" indent="0" marL="0">
                        <a:buNone/>
                      </a:pPr>
                      <a:r>
                        <a:rPr lang="en-US" sz="634" b="1" dirty="0">
                          <a:solidFill>
                            <a:srgbClr val="1F1F1F"/>
                          </a:solidFill>
                          <a:latin typeface="Calibri" pitchFamily="34" charset="0"/>
                          <a:ea typeface="Calibri" pitchFamily="34" charset="-122"/>
                          <a:cs typeface="Calibri" pitchFamily="34" charset="-120"/>
                        </a:rPr>
                        <a:t>59,1% và 53,7%</a:t>
                      </a:r>
                      <a:pPr algn="l" indent="0" marL="0">
                        <a:buNone/>
                      </a:pPr>
                      <a:r>
                        <a:rPr lang="en-US" sz="634" dirty="0">
                          <a:solidFill>
                            <a:srgbClr val="1F1F1F"/>
                          </a:solidFill>
                          <a:latin typeface="Calibri" pitchFamily="34" charset="0"/>
                          <a:ea typeface="Calibri" pitchFamily="34" charset="-122"/>
                          <a:cs typeface="Calibri" pitchFamily="34" charset="-120"/>
                        </a:rPr>
                        <a:t>, CAGR khoảng </a:t>
                      </a:r>
                      <a:pPr algn="l" indent="0" marL="0">
                        <a:buNone/>
                      </a:pPr>
                      <a:r>
                        <a:rPr lang="en-US" sz="634" b="1" dirty="0">
                          <a:solidFill>
                            <a:srgbClr val="1F1F1F"/>
                          </a:solidFill>
                          <a:latin typeface="Calibri" pitchFamily="34" charset="0"/>
                          <a:ea typeface="Calibri" pitchFamily="34" charset="-122"/>
                          <a:cs typeface="Calibri" pitchFamily="34" charset="-120"/>
                        </a:rPr>
                        <a:t>56,4%/năm</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buNone/>
                      </a:pPr>
                      <a:r>
                        <a:rPr lang="en-US" sz="634" b="1" dirty="0">
                          <a:solidFill>
                            <a:srgbClr val="1F1F1F"/>
                          </a:solidFill>
                          <a:latin typeface="Calibri" pitchFamily="34" charset="0"/>
                          <a:ea typeface="Calibri" pitchFamily="34" charset="-122"/>
                          <a:cs typeface="Calibri" pitchFamily="34" charset="-120"/>
                        </a:rPr>
                        <a:t>mở rộng thị trường</a:t>
                      </a:r>
                      <a:pPr algn="l" indent="0" marL="0">
                        <a:buNone/>
                      </a:pPr>
                      <a:r>
                        <a:rPr lang="en-US" sz="634"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Mức độ sinh lời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Biên gộp tăng </a:t>
                      </a:r>
                      <a:pPr algn="l" indent="0" marL="0">
                        <a:buNone/>
                      </a:pPr>
                      <a:r>
                        <a:rPr lang="en-US" sz="634" b="1" dirty="0">
                          <a:solidFill>
                            <a:srgbClr val="1F1F1F"/>
                          </a:solidFill>
                          <a:latin typeface="Calibri" pitchFamily="34" charset="0"/>
                          <a:ea typeface="Calibri" pitchFamily="34" charset="-122"/>
                          <a:cs typeface="Calibri" pitchFamily="34" charset="-120"/>
                        </a:rPr>
                        <a:t>69,1% → 71,2% → 72,8%</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buNone/>
                      </a:pPr>
                      <a:r>
                        <a:rPr lang="en-US" sz="634" b="1" dirty="0">
                          <a:solidFill>
                            <a:srgbClr val="1F1F1F"/>
                          </a:solidFill>
                          <a:latin typeface="Calibri" pitchFamily="34" charset="0"/>
                          <a:ea typeface="Calibri" pitchFamily="34" charset="-122"/>
                          <a:cs typeface="Calibri" pitchFamily="34" charset="-120"/>
                        </a:rPr>
                        <a:t>4,42 tỷ đồng</a:t>
                      </a:r>
                      <a:pPr algn="l" indent="0" marL="0">
                        <a:buNone/>
                      </a:pPr>
                      <a:r>
                        <a:rPr lang="en-US" sz="634" dirty="0">
                          <a:solidFill>
                            <a:srgbClr val="1F1F1F"/>
                          </a:solidFill>
                          <a:latin typeface="Calibri" pitchFamily="34" charset="0"/>
                          <a:ea typeface="Calibri" pitchFamily="34" charset="-122"/>
                          <a:cs typeface="Calibri" pitchFamily="34" charset="-120"/>
                        </a:rPr>
                        <a:t>, biên ròng </a:t>
                      </a:r>
                      <a:pPr algn="l" indent="0" marL="0">
                        <a:buNone/>
                      </a:pPr>
                      <a:r>
                        <a:rPr lang="en-US" sz="634" b="1" dirty="0">
                          <a:solidFill>
                            <a:srgbClr val="1F1F1F"/>
                          </a:solidFill>
                          <a:latin typeface="Calibri" pitchFamily="34" charset="0"/>
                          <a:ea typeface="Calibri" pitchFamily="34" charset="-122"/>
                          <a:cs typeface="Calibri" pitchFamily="34" charset="-120"/>
                        </a:rPr>
                        <a:t>9,3%</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buNone/>
                      </a:pPr>
                      <a:r>
                        <a:rPr lang="en-US" sz="634" b="1" dirty="0">
                          <a:solidFill>
                            <a:srgbClr val="1F1F1F"/>
                          </a:solidFill>
                          <a:latin typeface="Calibri" pitchFamily="34" charset="0"/>
                          <a:ea typeface="Calibri" pitchFamily="34" charset="-122"/>
                          <a:cs typeface="Calibri" pitchFamily="34" charset="-120"/>
                        </a:rPr>
                        <a:t>đầu giai đoạn tăng trưởng</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Hiệu quả sử dụng tài sản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Vòng quay tổng tài sản tăng từ </a:t>
                      </a:r>
                      <a:pPr algn="l" indent="0" marL="0">
                        <a:buNone/>
                      </a:pPr>
                      <a:r>
                        <a:rPr lang="en-US" sz="634" b="1" dirty="0">
                          <a:solidFill>
                            <a:srgbClr val="1F1F1F"/>
                          </a:solidFill>
                          <a:latin typeface="Calibri" pitchFamily="34" charset="0"/>
                          <a:ea typeface="Calibri" pitchFamily="34" charset="-122"/>
                          <a:cs typeface="Calibri" pitchFamily="34" charset="-120"/>
                        </a:rPr>
                        <a:t>1,04 lần → 1,29 lần → 1,60 lần</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buNone/>
                      </a:pPr>
                      <a:r>
                        <a:rPr lang="en-US" sz="634" b="1" dirty="0">
                          <a:solidFill>
                            <a:srgbClr val="1F1F1F"/>
                          </a:solidFill>
                          <a:latin typeface="Calibri" pitchFamily="34" charset="0"/>
                          <a:ea typeface="Calibri" pitchFamily="34" charset="-122"/>
                          <a:cs typeface="Calibri" pitchFamily="34" charset="-120"/>
                        </a:rPr>
                        <a:t>lấp đầy công suất</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Năng lực sản xuất và tài sản dài hạn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dài hạn ròng tăng từ </a:t>
                      </a:r>
                      <a:pPr algn="l" indent="0" marL="0">
                        <a:buNone/>
                      </a:pPr>
                      <a:r>
                        <a:rPr lang="en-US" sz="634" b="1" dirty="0">
                          <a:solidFill>
                            <a:srgbClr val="1F1F1F"/>
                          </a:solidFill>
                          <a:latin typeface="Calibri" pitchFamily="34" charset="0"/>
                          <a:ea typeface="Calibri" pitchFamily="34" charset="-122"/>
                          <a:cs typeface="Calibri" pitchFamily="34" charset="-120"/>
                        </a:rPr>
                        <a:t>15,5 tỷ → 21,4 tỷ đồng</a:t>
                      </a:r>
                      <a:pPr algn="l" indent="0" marL="0">
                        <a:buNone/>
                      </a:pPr>
                      <a:r>
                        <a:rPr lang="en-US" sz="634" dirty="0">
                          <a:solidFill>
                            <a:srgbClr val="1F1F1F"/>
                          </a:solidFill>
                          <a:latin typeface="Calibri" pitchFamily="34" charset="0"/>
                          <a:ea typeface="Calibri" pitchFamily="34" charset="-122"/>
                          <a:cs typeface="Calibri" pitchFamily="34" charset="-120"/>
                        </a:rPr>
                        <a:t>, chiếm khoảng </a:t>
                      </a:r>
                      <a:pPr algn="l" indent="0" marL="0">
                        <a:buNone/>
                      </a:pPr>
                      <a:r>
                        <a:rPr lang="en-US" sz="634" b="1" dirty="0">
                          <a:solidFill>
                            <a:srgbClr val="1F1F1F"/>
                          </a:solidFill>
                          <a:latin typeface="Calibri" pitchFamily="34" charset="0"/>
                          <a:ea typeface="Calibri" pitchFamily="34" charset="-122"/>
                          <a:cs typeface="Calibri" pitchFamily="34" charset="-120"/>
                        </a:rPr>
                        <a:t>67-76% tổng tài sản</a:t>
                      </a:r>
                      <a:pPr algn="l" indent="0" marL="0">
                        <a:buNone/>
                      </a:pPr>
                      <a:r>
                        <a:rPr lang="en-US" sz="634" dirty="0">
                          <a:solidFill>
                            <a:srgbClr val="1F1F1F"/>
                          </a:solidFill>
                          <a:latin typeface="Calibri" pitchFamily="34" charset="0"/>
                          <a:ea typeface="Calibri" pitchFamily="34" charset="-122"/>
                          <a:cs typeface="Calibri" pitchFamily="34" charset="-120"/>
                        </a:rPr>
                        <a:t>. Doanh nghiệp đã sở hữu </a:t>
                      </a:r>
                      <a:pPr algn="l" indent="0" marL="0">
                        <a:buNone/>
                      </a:pPr>
                      <a:r>
                        <a:rPr lang="en-US" sz="634"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buNone/>
                      </a:pPr>
                      <a:r>
                        <a:rPr lang="en-US" sz="634" dirty="0">
                          <a:solidFill>
                            <a:srgbClr val="1F1F1F"/>
                          </a:solidFill>
                          <a:latin typeface="Calibri" pitchFamily="34" charset="0"/>
                          <a:ea typeface="Calibri" pitchFamily="34" charset="-122"/>
                          <a:cs typeface="Calibri" pitchFamily="34" charset="-120"/>
                        </a:rPr>
                        <a:t>, vận hành ổn định qua 3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đã </a:t>
                      </a:r>
                      <a:pPr algn="l" indent="0" marL="0">
                        <a:buNone/>
                      </a:pPr>
                      <a:r>
                        <a:rPr lang="en-US" sz="634"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buNone/>
                      </a:pPr>
                      <a:r>
                        <a:rPr lang="en-US" sz="634"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Cường độ CAPEX</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CAPEX/Doanh thu giảm từ </a:t>
                      </a:r>
                      <a:pPr algn="l" indent="0" marL="0">
                        <a:buNone/>
                      </a:pPr>
                      <a:r>
                        <a:rPr lang="en-US" sz="634" b="1" dirty="0">
                          <a:solidFill>
                            <a:srgbClr val="1F1F1F"/>
                          </a:solidFill>
                          <a:latin typeface="Calibri" pitchFamily="34" charset="0"/>
                          <a:ea typeface="Calibri" pitchFamily="34" charset="-122"/>
                          <a:cs typeface="Calibri" pitchFamily="34" charset="-120"/>
                        </a:rPr>
                        <a:t>25,8% → 20,4% → 10,7%</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CAPEX/khấu hao giảm từ </a:t>
                      </a:r>
                      <a:pPr algn="l" indent="0" marL="0">
                        <a:buNone/>
                      </a:pPr>
                      <a:r>
                        <a:rPr lang="en-US" sz="634" b="1" dirty="0">
                          <a:solidFill>
                            <a:srgbClr val="1F1F1F"/>
                          </a:solidFill>
                          <a:latin typeface="Calibri" pitchFamily="34" charset="0"/>
                          <a:ea typeface="Calibri" pitchFamily="34" charset="-122"/>
                          <a:cs typeface="Calibri" pitchFamily="34" charset="-120"/>
                        </a:rPr>
                        <a:t>3,50x → 2,65x → 1,62x</a:t>
                      </a:r>
                      <a:pPr algn="l" indent="0" marL="0">
                        <a:buNone/>
                      </a:pPr>
                      <a:r>
                        <a:rPr lang="en-US" sz="634" dirty="0">
                          <a:solidFill>
                            <a:srgbClr val="1F1F1F"/>
                          </a:solidFill>
                          <a:latin typeface="Calibri" pitchFamily="34" charset="0"/>
                          <a:ea typeface="Calibri" pitchFamily="34" charset="-122"/>
                          <a:cs typeface="Calibri" pitchFamily="34" charset="-120"/>
                        </a:rPr>
                        <a:t>, nhưng vẫn &gt;1.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a:t>
                      </a:r>
                      <a:pPr algn="l" indent="0" marL="0">
                        <a:buNone/>
                      </a:pPr>
                      <a:r>
                        <a:rPr lang="en-US" sz="634"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buNone/>
                      </a:pPr>
                      <a:r>
                        <a:rPr lang="en-US" sz="634" dirty="0">
                          <a:solidFill>
                            <a:srgbClr val="1F1F1F"/>
                          </a:solidFill>
                          <a:latin typeface="Calibri" pitchFamily="34" charset="0"/>
                          <a:ea typeface="Calibri" pitchFamily="34" charset="-122"/>
                          <a:cs typeface="Calibri" pitchFamily="34" charset="-120"/>
                        </a:rPr>
                        <a:t>, phù hợp với đầu tăng trưởng.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8"/>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7" name="Text 9"/>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8" name="Text 10"/>
          <p:cNvSpPr txBox="1"/>
          <p:nvPr/>
        </p:nvSpPr>
        <p:spPr>
          <a:xfrm>
            <a:off x="405354" y="58923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Tài sản dài hạn chiếm 67–76% tổng tài sản</a:t>
            </a:r>
            <a:endParaRPr lang="en-US" sz="720" dirty="0"/>
          </a:p>
        </p:txBody>
      </p:sp>
      <p:sp>
        <p:nvSpPr>
          <p:cNvPr id="19" name="Text 11"/>
          <p:cNvSpPr txBox="1"/>
          <p:nvPr/>
        </p:nvSpPr>
        <p:spPr>
          <a:xfrm>
            <a:off x="405354" y="71679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0" name="Text 12"/>
          <p:cNvSpPr txBox="1"/>
          <p:nvPr/>
        </p:nvSpPr>
        <p:spPr>
          <a:xfrm>
            <a:off x="405354" y="1379007"/>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21" name="Text 13"/>
          <p:cNvSpPr txBox="1"/>
          <p:nvPr/>
        </p:nvSpPr>
        <p:spPr>
          <a:xfrm>
            <a:off x="405354" y="158428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CAPEX/doanh thu giảm từ 25,8% xuống 10,7%</a:t>
            </a:r>
            <a:endParaRPr lang="en-US" sz="720" dirty="0"/>
          </a:p>
        </p:txBody>
      </p:sp>
      <p:sp>
        <p:nvSpPr>
          <p:cNvPr id="22" name="Text 14"/>
          <p:cNvSpPr txBox="1"/>
          <p:nvPr/>
        </p:nvSpPr>
        <p:spPr>
          <a:xfrm>
            <a:off x="405354" y="171184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3" name="Text 15"/>
          <p:cNvSpPr txBox="1"/>
          <p:nvPr/>
        </p:nvSpPr>
        <p:spPr>
          <a:xfrm>
            <a:off x="405354" y="256580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4" name="Text 16"/>
          <p:cNvSpPr txBox="1"/>
          <p:nvPr/>
        </p:nvSpPr>
        <p:spPr>
          <a:xfrm>
            <a:off x="405354" y="2770998"/>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D/E giảm từ 7,8% xuống 6,5%</a:t>
            </a:r>
            <a:endParaRPr lang="en-US" sz="720" dirty="0"/>
          </a:p>
        </p:txBody>
      </p:sp>
      <p:sp>
        <p:nvSpPr>
          <p:cNvPr id="25" name="Text 17"/>
          <p:cNvSpPr txBox="1"/>
          <p:nvPr/>
        </p:nvSpPr>
        <p:spPr>
          <a:xfrm>
            <a:off x="405354" y="289855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6" name="Text 18"/>
          <p:cNvSpPr txBox="1"/>
          <p:nvPr/>
        </p:nvSpPr>
        <p:spPr>
          <a:xfrm>
            <a:off x="405354" y="378918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7" name="Text 19"/>
          <p:cNvSpPr txBox="1"/>
          <p:nvPr/>
        </p:nvSpPr>
        <p:spPr>
          <a:xfrm>
            <a:off x="405354" y="399437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FCF chuyển dương lần đầu năm 2025</a:t>
            </a:r>
            <a:endParaRPr lang="en-US" sz="720" dirty="0"/>
          </a:p>
        </p:txBody>
      </p:sp>
      <p:sp>
        <p:nvSpPr>
          <p:cNvPr id="28" name="Text 20"/>
          <p:cNvSpPr txBox="1"/>
          <p:nvPr/>
        </p:nvSpPr>
        <p:spPr>
          <a:xfrm>
            <a:off x="405354" y="412193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9" name="Text 21"/>
          <p:cNvSpPr txBox="1"/>
          <p:nvPr/>
        </p:nvSpPr>
        <p:spPr>
          <a:xfrm>
            <a:off x="405354" y="520430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30" name="Text 22"/>
          <p:cNvSpPr txBox="1"/>
          <p:nvPr/>
        </p:nvSpPr>
        <p:spPr>
          <a:xfrm>
            <a:off x="405354" y="540940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en-US" sz="720" dirty="0"/>
          </a:p>
        </p:txBody>
      </p:sp>
      <p:sp>
        <p:nvSpPr>
          <p:cNvPr id="31" name="Text 23"/>
          <p:cNvSpPr txBox="1"/>
          <p:nvPr/>
        </p:nvSpPr>
        <p:spPr>
          <a:xfrm>
            <a:off x="405354" y="564651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Lần</a:t>
            </a:r>
            <a:endParaRPr lang="en-US" sz="630" dirty="0"/>
          </a:p>
        </p:txBody>
      </p:sp>
      <p:sp>
        <p:nvSpPr>
          <p:cNvPr id="32" name="Text 24"/>
          <p:cNvSpPr txBox="1"/>
          <p:nvPr/>
        </p:nvSpPr>
        <p:spPr>
          <a:xfrm>
            <a:off x="405354" y="6368064"/>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33" name="Text 25"/>
          <p:cNvSpPr txBox="1"/>
          <p:nvPr/>
        </p:nvSpPr>
        <p:spPr>
          <a:xfrm>
            <a:off x="2745303" y="572323"/>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en-US" sz="900" dirty="0"/>
          </a:p>
        </p:txBody>
      </p:sp>
      <p:sp>
        <p:nvSpPr>
          <p:cNvPr id="34" name="Text 26"/>
          <p:cNvSpPr txBox="1"/>
          <p:nvPr/>
        </p:nvSpPr>
        <p:spPr>
          <a:xfrm>
            <a:off x="2745303" y="741761"/>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12).</a:t>
            </a:r>
            <a:endParaRPr lang="en-US" sz="850" dirty="0"/>
          </a:p>
        </p:txBody>
      </p:sp>
      <p:sp>
        <p:nvSpPr>
          <p:cNvPr id="35" name="Text 27"/>
          <p:cNvSpPr txBox="1"/>
          <p:nvPr/>
        </p:nvSpPr>
        <p:spPr>
          <a:xfrm>
            <a:off x="2745303" y="1568745"/>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13).</a:t>
            </a:r>
            <a:endParaRPr lang="en-US" sz="850" dirty="0"/>
          </a:p>
        </p:txBody>
      </p:sp>
      <p:sp>
        <p:nvSpPr>
          <p:cNvPr id="36" name="Text 28"/>
          <p:cNvSpPr txBox="1"/>
          <p:nvPr/>
        </p:nvSpPr>
        <p:spPr>
          <a:xfrm>
            <a:off x="2745303" y="3053639"/>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14).</a:t>
            </a:r>
            <a:endParaRPr lang="en-US" sz="850" dirty="0"/>
          </a:p>
        </p:txBody>
      </p:sp>
      <p:sp>
        <p:nvSpPr>
          <p:cNvPr id="37" name="Text 29"/>
          <p:cNvSpPr txBox="1"/>
          <p:nvPr/>
        </p:nvSpPr>
        <p:spPr>
          <a:xfrm>
            <a:off x="2745303" y="414387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2.4. Dòng tiền</a:t>
            </a:r>
            <a:endParaRPr lang="en-US" sz="900" dirty="0"/>
          </a:p>
        </p:txBody>
      </p:sp>
      <p:sp>
        <p:nvSpPr>
          <p:cNvPr id="38" name="Text 30"/>
          <p:cNvSpPr txBox="1"/>
          <p:nvPr/>
        </p:nvSpPr>
        <p:spPr>
          <a:xfrm>
            <a:off x="2745303" y="4313225"/>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15).</a:t>
            </a:r>
            <a:endParaRPr lang="en-US" sz="850" dirty="0"/>
          </a:p>
        </p:txBody>
      </p:sp>
      <p:sp>
        <p:nvSpPr>
          <p:cNvPr id="39" name="Text 31"/>
          <p:cNvSpPr txBox="1"/>
          <p:nvPr/>
        </p:nvSpPr>
        <p:spPr>
          <a:xfrm>
            <a:off x="2745303" y="5140300"/>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en-US" sz="850" dirty="0"/>
          </a:p>
        </p:txBody>
      </p:sp>
      <p:sp>
        <p:nvSpPr>
          <p:cNvPr id="40" name="Text 32"/>
          <p:cNvSpPr txBox="1"/>
          <p:nvPr/>
        </p:nvSpPr>
        <p:spPr>
          <a:xfrm>
            <a:off x="2745303" y="5704119"/>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2.5. Thanh khoản và vốn lưu động</a:t>
            </a:r>
            <a:endParaRPr lang="en-US" sz="900" dirty="0"/>
          </a:p>
        </p:txBody>
      </p:sp>
      <p:sp>
        <p:nvSpPr>
          <p:cNvPr id="41" name="Text 33"/>
          <p:cNvSpPr txBox="1"/>
          <p:nvPr/>
        </p:nvSpPr>
        <p:spPr>
          <a:xfrm>
            <a:off x="2745303" y="5873466"/>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16).</a:t>
            </a:r>
            <a:endParaRPr lang="en-US" sz="850" dirty="0"/>
          </a:p>
        </p:txBody>
      </p:sp>
      <p:sp>
        <p:nvSpPr>
          <p:cNvPr id="42" name="Text 34"/>
          <p:cNvSpPr txBox="1"/>
          <p:nvPr/>
        </p:nvSpPr>
        <p:spPr>
          <a:xfrm>
            <a:off x="2745303" y="683212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2.6. Kết luận: xác định giai đoạn phát triển</a:t>
            </a:r>
            <a:endParaRPr lang="en-US" sz="900" dirty="0"/>
          </a:p>
        </p:txBody>
      </p:sp>
      <p:sp>
        <p:nvSpPr>
          <p:cNvPr id="43" name="Text 35"/>
          <p:cNvSpPr txBox="1"/>
          <p:nvPr/>
        </p:nvSpPr>
        <p:spPr>
          <a:xfrm>
            <a:off x="2745303" y="7001469"/>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17).</a:t>
            </a:r>
            <a:endParaRPr lang="en-US" sz="850" dirty="0"/>
          </a:p>
        </p:txBody>
      </p:sp>
      <p:sp>
        <p:nvSpPr>
          <p:cNvPr id="44" name="Text 36"/>
          <p:cNvSpPr txBox="1"/>
          <p:nvPr/>
        </p:nvSpPr>
        <p:spPr>
          <a:xfrm>
            <a:off x="405354" y="7508047"/>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sp>
        <p:nvSpPr>
          <p:cNvPr id="45" name="Text 37"/>
          <p:cNvSpPr txBox="1"/>
          <p:nvPr/>
        </p:nvSpPr>
        <p:spPr>
          <a:xfrm>
            <a:off x="405354" y="945462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46" name="Text 38"/>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7" name="Text 39"/>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5</a:t>
            </a:r>
            <a:endParaRPr lang="en-US"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3462650"/>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562813"/>
            <a:ext cx="6749004" cy="0"/>
          </a:xfrm>
          <a:prstGeom prst="line">
            <a:avLst/>
          </a:prstGeom>
          <a:noFill/>
          <a:ln w="9525">
            <a:solidFill>
              <a:srgbClr val="7B1E2B"/>
            </a:solidFill>
            <a:prstDash val="solid"/>
          </a:ln>
        </p:spPr>
      </p:sp>
      <p:sp>
        <p:nvSpPr>
          <p:cNvPr id="5" name="Shape 3"/>
          <p:cNvSpPr/>
          <p:nvPr/>
        </p:nvSpPr>
        <p:spPr>
          <a:xfrm>
            <a:off x="405354" y="2185507"/>
            <a:ext cx="2159996" cy="0"/>
          </a:xfrm>
          <a:prstGeom prst="line">
            <a:avLst/>
          </a:prstGeom>
          <a:noFill/>
          <a:ln w="9525">
            <a:solidFill>
              <a:srgbClr val="7B1E2B"/>
            </a:solidFill>
            <a:prstDash val="solid"/>
          </a:ln>
        </p:spPr>
      </p:sp>
      <p:sp>
        <p:nvSpPr>
          <p:cNvPr id="6" name="Shape 4"/>
          <p:cNvSpPr/>
          <p:nvPr/>
        </p:nvSpPr>
        <p:spPr>
          <a:xfrm>
            <a:off x="405354" y="3740170"/>
            <a:ext cx="2159996" cy="0"/>
          </a:xfrm>
          <a:prstGeom prst="line">
            <a:avLst/>
          </a:prstGeom>
          <a:noFill/>
          <a:ln w="9525">
            <a:solidFill>
              <a:srgbClr val="7B1E2B"/>
            </a:solidFill>
            <a:prstDash val="solid"/>
          </a:ln>
        </p:spPr>
      </p:sp>
      <p:sp>
        <p:nvSpPr>
          <p:cNvPr id="7" name="Shape 5"/>
          <p:cNvSpPr/>
          <p:nvPr/>
        </p:nvSpPr>
        <p:spPr>
          <a:xfrm>
            <a:off x="405354" y="5310469"/>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012332"/>
                <a:gridCol w="2834549"/>
                <a:gridCol w="2902123"/>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Diễn giải từ BCTC 2023-2025</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Hàm ý về giai đoạn</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44019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Khả năng tự tài trợ</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D/E giảm </a:t>
                      </a:r>
                      <a:pPr algn="l" indent="0" marL="0">
                        <a:buNone/>
                      </a:pPr>
                      <a:r>
                        <a:rPr lang="en-US" sz="634" b="1" dirty="0">
                          <a:solidFill>
                            <a:srgbClr val="1F1F1F"/>
                          </a:solidFill>
                          <a:latin typeface="Calibri" pitchFamily="34" charset="0"/>
                          <a:ea typeface="Calibri" pitchFamily="34" charset="-122"/>
                          <a:cs typeface="Calibri" pitchFamily="34" charset="-120"/>
                        </a:rPr>
                        <a:t>7,8% → 7,3% → 6,5%</a:t>
                      </a:r>
                      <a:pPr algn="l" indent="0" marL="0">
                        <a:buNone/>
                      </a:pPr>
                      <a:r>
                        <a:rPr lang="en-US" sz="634"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buNone/>
                      </a:pPr>
                      <a:r>
                        <a:rPr lang="en-US" sz="634" b="1" dirty="0">
                          <a:solidFill>
                            <a:srgbClr val="1F1F1F"/>
                          </a:solidFill>
                          <a:latin typeface="Calibri" pitchFamily="34" charset="0"/>
                          <a:ea typeface="Calibri" pitchFamily="34" charset="-122"/>
                          <a:cs typeface="Calibri" pitchFamily="34" charset="-120"/>
                        </a:rPr>
                        <a:t>4,42 tỷ đồng lợi nhuận giữ lại</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bắt đầu chuyển từ </a:t>
                      </a:r>
                      <a:pPr algn="l" indent="0" marL="0">
                        <a:buNone/>
                      </a:pPr>
                      <a:r>
                        <a:rPr lang="en-US" sz="634" b="1" dirty="0">
                          <a:solidFill>
                            <a:srgbClr val="1F1F1F"/>
                          </a:solidFill>
                          <a:latin typeface="Calibri" pitchFamily="34" charset="0"/>
                          <a:ea typeface="Calibri" pitchFamily="34" charset="-122"/>
                          <a:cs typeface="Calibri" pitchFamily="34" charset="-120"/>
                        </a:rPr>
                        <a:t>phụ thuộc vốn bên ngoài</a:t>
                      </a:r>
                      <a:pPr algn="l" indent="0" marL="0">
                        <a:buNone/>
                      </a:pPr>
                      <a:r>
                        <a:rPr lang="en-US" sz="634"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Dòng tiền từ HĐKD và FCF</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CFO: </a:t>
                      </a:r>
                      <a:pPr algn="l" indent="0" marL="0">
                        <a:buNone/>
                      </a:pPr>
                      <a:r>
                        <a:rPr lang="en-US" sz="634" b="1" dirty="0">
                          <a:solidFill>
                            <a:srgbClr val="1F1F1F"/>
                          </a:solidFill>
                          <a:latin typeface="Calibri" pitchFamily="34" charset="0"/>
                          <a:ea typeface="Calibri" pitchFamily="34" charset="-122"/>
                          <a:cs typeface="Calibri" pitchFamily="34" charset="-120"/>
                        </a:rPr>
                        <a:t>-3,96 tỷ (2023) → 0,70 tỷ (2024) → 6,28 tỷ (2025)</a:t>
                      </a:r>
                      <a:pPr algn="l" indent="0" marL="0">
                        <a:buNone/>
                      </a:pPr>
                      <a:r>
                        <a:rPr lang="en-US" sz="634" dirty="0">
                          <a:solidFill>
                            <a:srgbClr val="1F1F1F"/>
                          </a:solidFill>
                          <a:latin typeface="Calibri" pitchFamily="34" charset="0"/>
                          <a:ea typeface="Calibri" pitchFamily="34" charset="-122"/>
                          <a:cs typeface="Calibri" pitchFamily="34" charset="-120"/>
                        </a:rPr>
                        <a:t>. FCF: </a:t>
                      </a:r>
                      <a:pPr algn="l" indent="0" marL="0">
                        <a:buNone/>
                      </a:pPr>
                      <a:r>
                        <a:rPr lang="en-US" sz="634" b="1" dirty="0">
                          <a:solidFill>
                            <a:srgbClr val="1F1F1F"/>
                          </a:solidFill>
                          <a:latin typeface="Calibri" pitchFamily="34" charset="0"/>
                          <a:ea typeface="Calibri" pitchFamily="34" charset="-122"/>
                          <a:cs typeface="Calibri" pitchFamily="34" charset="-120"/>
                        </a:rPr>
                        <a:t>-8,97 tỷ → -5,61 tỷ → +1,20 tỷ</a:t>
                      </a:r>
                      <a:pPr algn="l" indent="0" marL="0">
                        <a:buNone/>
                      </a:pPr>
                      <a:r>
                        <a:rPr lang="en-US" sz="634"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Đây là dấu hiệu rất quan trọng của </a:t>
                      </a:r>
                      <a:pPr algn="l" indent="0" marL="0">
                        <a:buNone/>
                      </a:pPr>
                      <a:r>
                        <a:rPr lang="en-US" sz="634" b="1" dirty="0">
                          <a:solidFill>
                            <a:srgbClr val="1F1F1F"/>
                          </a:solidFill>
                          <a:latin typeface="Calibri" pitchFamily="34" charset="0"/>
                          <a:ea typeface="Calibri" pitchFamily="34" charset="-122"/>
                          <a:cs typeface="Calibri" pitchFamily="34" charset="-120"/>
                        </a:rPr>
                        <a:t>điểm chuyển sang tăng trưởng thực chất</a:t>
                      </a:r>
                      <a:pPr algn="l" indent="0" marL="0">
                        <a:buNone/>
                      </a:pPr>
                      <a:r>
                        <a:rPr lang="en-US" sz="634"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Thanh khoản và cơ cấu nợ</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Hệ số thanh toán hiện hành tăng </a:t>
                      </a:r>
                      <a:pPr algn="l" indent="0" marL="0">
                        <a:buNone/>
                      </a:pPr>
                      <a:r>
                        <a:rPr lang="en-US" sz="634" b="1" dirty="0">
                          <a:solidFill>
                            <a:srgbClr val="1F1F1F"/>
                          </a:solidFill>
                          <a:latin typeface="Calibri" pitchFamily="34" charset="0"/>
                          <a:ea typeface="Calibri" pitchFamily="34" charset="-122"/>
                          <a:cs typeface="Calibri" pitchFamily="34" charset="-120"/>
                        </a:rPr>
                        <a:t>17,2x → 21,5x → 23,6x</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Hệ số thanh toán nhanh </a:t>
                      </a:r>
                      <a:pPr algn="l" indent="0" marL="0">
                        <a:buNone/>
                      </a:pPr>
                      <a:r>
                        <a:rPr lang="en-US" sz="634" b="1" dirty="0">
                          <a:solidFill>
                            <a:srgbClr val="1F1F1F"/>
                          </a:solidFill>
                          <a:latin typeface="Calibri" pitchFamily="34" charset="0"/>
                          <a:ea typeface="Calibri" pitchFamily="34" charset="-122"/>
                          <a:cs typeface="Calibri" pitchFamily="34" charset="-120"/>
                        </a:rPr>
                        <a:t>8,7x → 13,4x → 15,2x</a:t>
                      </a:r>
                      <a:pPr algn="l" indent="0" marL="0">
                        <a:buNone/>
                      </a:pPr>
                      <a:r>
                        <a:rPr lang="en-US" sz="634" dirty="0">
                          <a:solidFill>
                            <a:srgbClr val="1F1F1F"/>
                          </a:solidFill>
                          <a:latin typeface="Calibri" pitchFamily="34" charset="0"/>
                          <a:ea typeface="Calibri" pitchFamily="34" charset="-122"/>
                          <a:cs typeface="Calibri" pitchFamily="34" charset="-120"/>
                        </a:rPr>
                        <a:t>; nợ ngắn hạn rất thấp và D/E chỉ 6,5% năm 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04" name="Fig. 18 – biểu đồ"/>
          <p:cNvGrpSpPr/>
          <p:nvPr/>
        </p:nvGrpSpPr>
        <p:grpSpPr>
          <a:xfrm>
            <a:off x="327995" y="2370765"/>
            <a:ext cx="2255276" cy="792053"/>
            <a:chOff x="327995" y="2370765"/>
            <a:chExt cx="2255276" cy="792053"/>
          </a:xfrm>
        </p:grpSpPr>
        <p:sp>
          <p:nvSpPr>
            <p:cNvPr id="10" name="svg0_0"/>
            <p:cNvSpPr/>
            <p:nvPr/>
          </p:nvSpPr>
          <p:spPr>
            <a:xfrm>
              <a:off x="994501" y="2471532"/>
              <a:ext cx="0" cy="579181"/>
            </a:xfrm>
            <a:prstGeom prst="line">
              <a:avLst/>
            </a:prstGeom>
            <a:noFill/>
            <a:ln w="4953">
              <a:solidFill>
                <a:srgbClr val="E4E4E4"/>
              </a:solidFill>
              <a:prstDash val="solid"/>
            </a:ln>
          </p:spPr>
        </p:sp>
        <p:sp>
          <p:nvSpPr>
            <p:cNvPr id="11" name="svg0_1"/>
            <p:cNvSpPr txBox="1"/>
            <p:nvPr/>
          </p:nvSpPr>
          <p:spPr>
            <a:xfrm>
              <a:off x="925830" y="3058028"/>
              <a:ext cx="14392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2" name="svg0_2"/>
            <p:cNvSpPr/>
            <p:nvPr/>
          </p:nvSpPr>
          <p:spPr>
            <a:xfrm>
              <a:off x="1362639" y="2471532"/>
              <a:ext cx="0" cy="579181"/>
            </a:xfrm>
            <a:prstGeom prst="line">
              <a:avLst/>
            </a:prstGeom>
            <a:noFill/>
            <a:ln w="4953">
              <a:solidFill>
                <a:srgbClr val="E4E4E4"/>
              </a:solidFill>
              <a:prstDash val="solid"/>
            </a:ln>
          </p:spPr>
        </p:sp>
        <p:sp>
          <p:nvSpPr>
            <p:cNvPr id="13" name="svg0_3"/>
            <p:cNvSpPr txBox="1"/>
            <p:nvPr/>
          </p:nvSpPr>
          <p:spPr>
            <a:xfrm>
              <a:off x="1273668"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25%</a:t>
              </a:r>
              <a:endParaRPr lang="en-US" sz="557" dirty="0"/>
            </a:p>
          </p:txBody>
        </p:sp>
        <p:sp>
          <p:nvSpPr>
            <p:cNvPr id="14" name="svg0_4"/>
            <p:cNvSpPr/>
            <p:nvPr/>
          </p:nvSpPr>
          <p:spPr>
            <a:xfrm>
              <a:off x="1730776" y="2471532"/>
              <a:ext cx="0" cy="579181"/>
            </a:xfrm>
            <a:prstGeom prst="line">
              <a:avLst/>
            </a:prstGeom>
            <a:noFill/>
            <a:ln w="4953">
              <a:solidFill>
                <a:srgbClr val="E4E4E4"/>
              </a:solidFill>
              <a:prstDash val="solid"/>
            </a:ln>
          </p:spPr>
        </p:sp>
        <p:sp>
          <p:nvSpPr>
            <p:cNvPr id="15" name="svg0_5"/>
            <p:cNvSpPr txBox="1"/>
            <p:nvPr/>
          </p:nvSpPr>
          <p:spPr>
            <a:xfrm>
              <a:off x="1641805"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6" name="svg0_6"/>
            <p:cNvSpPr/>
            <p:nvPr/>
          </p:nvSpPr>
          <p:spPr>
            <a:xfrm>
              <a:off x="2099005" y="2471532"/>
              <a:ext cx="0" cy="579181"/>
            </a:xfrm>
            <a:prstGeom prst="line">
              <a:avLst/>
            </a:prstGeom>
            <a:noFill/>
            <a:ln w="4953">
              <a:solidFill>
                <a:srgbClr val="E4E4E4"/>
              </a:solidFill>
              <a:prstDash val="solid"/>
            </a:ln>
          </p:spPr>
        </p:sp>
        <p:sp>
          <p:nvSpPr>
            <p:cNvPr id="17" name="svg0_7"/>
            <p:cNvSpPr txBox="1"/>
            <p:nvPr/>
          </p:nvSpPr>
          <p:spPr>
            <a:xfrm>
              <a:off x="2009943"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75%</a:t>
              </a:r>
              <a:endParaRPr lang="en-US" sz="557" dirty="0"/>
            </a:p>
          </p:txBody>
        </p:sp>
        <p:sp>
          <p:nvSpPr>
            <p:cNvPr id="18" name="svg0_8"/>
            <p:cNvSpPr/>
            <p:nvPr/>
          </p:nvSpPr>
          <p:spPr>
            <a:xfrm>
              <a:off x="2467143" y="2471532"/>
              <a:ext cx="0" cy="579181"/>
            </a:xfrm>
            <a:prstGeom prst="line">
              <a:avLst/>
            </a:prstGeom>
            <a:noFill/>
            <a:ln w="4953">
              <a:solidFill>
                <a:srgbClr val="E4E4E4"/>
              </a:solidFill>
              <a:prstDash val="solid"/>
            </a:ln>
          </p:spPr>
        </p:sp>
        <p:sp>
          <p:nvSpPr>
            <p:cNvPr id="19" name="svg0_9"/>
            <p:cNvSpPr txBox="1"/>
            <p:nvPr/>
          </p:nvSpPr>
          <p:spPr>
            <a:xfrm>
              <a:off x="2357780" y="3058028"/>
              <a:ext cx="22549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20" name="svg0_10"/>
            <p:cNvSpPr txBox="1"/>
            <p:nvPr/>
          </p:nvSpPr>
          <p:spPr>
            <a:xfrm>
              <a:off x="546537" y="2487625"/>
              <a:ext cx="40873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Ươm mầm</a:t>
              </a:r>
              <a:endParaRPr lang="en-US" sz="588" dirty="0"/>
            </a:p>
          </p:txBody>
        </p:sp>
        <p:sp>
          <p:nvSpPr>
            <p:cNvPr id="21" name="svg0_11"/>
            <p:cNvSpPr/>
            <p:nvPr/>
          </p:nvSpPr>
          <p:spPr>
            <a:xfrm>
              <a:off x="1951695" y="2500975"/>
              <a:ext cx="221010" cy="68763"/>
            </a:xfrm>
            <a:prstGeom prst="rect">
              <a:avLst/>
            </a:prstGeom>
            <a:solidFill>
              <a:srgbClr val="D0D0D0"/>
            </a:solidFill>
            <a:ln/>
          </p:spPr>
        </p:sp>
        <p:sp>
          <p:nvSpPr>
            <p:cNvPr id="22" name="svg0_12"/>
            <p:cNvSpPr txBox="1"/>
            <p:nvPr/>
          </p:nvSpPr>
          <p:spPr>
            <a:xfrm>
              <a:off x="1753911" y="2487625"/>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23" name="svg0_13"/>
            <p:cNvSpPr txBox="1"/>
            <p:nvPr/>
          </p:nvSpPr>
          <p:spPr>
            <a:xfrm>
              <a:off x="2192274" y="2487625"/>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80%</a:t>
              </a:r>
              <a:endParaRPr lang="en-US" sz="557" dirty="0"/>
            </a:p>
          </p:txBody>
        </p:sp>
        <p:sp>
          <p:nvSpPr>
            <p:cNvPr id="24" name="svg0_14"/>
            <p:cNvSpPr txBox="1"/>
            <p:nvPr/>
          </p:nvSpPr>
          <p:spPr>
            <a:xfrm>
              <a:off x="501457" y="2625060"/>
              <a:ext cx="45372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Thử nghiệm</a:t>
              </a:r>
              <a:endParaRPr lang="en-US" sz="588" dirty="0"/>
            </a:p>
          </p:txBody>
        </p:sp>
        <p:sp>
          <p:nvSpPr>
            <p:cNvPr id="25" name="svg0_15"/>
            <p:cNvSpPr/>
            <p:nvPr/>
          </p:nvSpPr>
          <p:spPr>
            <a:xfrm>
              <a:off x="1730776" y="2638410"/>
              <a:ext cx="220919" cy="68763"/>
            </a:xfrm>
            <a:prstGeom prst="rect">
              <a:avLst/>
            </a:prstGeom>
            <a:solidFill>
              <a:srgbClr val="D0D0D0"/>
            </a:solidFill>
            <a:ln/>
          </p:spPr>
        </p:sp>
        <p:sp>
          <p:nvSpPr>
            <p:cNvPr id="26" name="svg0_16"/>
            <p:cNvSpPr txBox="1"/>
            <p:nvPr/>
          </p:nvSpPr>
          <p:spPr>
            <a:xfrm>
              <a:off x="1532992" y="262506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27" name="svg0_17"/>
            <p:cNvSpPr txBox="1"/>
            <p:nvPr/>
          </p:nvSpPr>
          <p:spPr>
            <a:xfrm>
              <a:off x="1971355" y="262506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28" name="svg0_18"/>
            <p:cNvSpPr txBox="1"/>
            <p:nvPr/>
          </p:nvSpPr>
          <p:spPr>
            <a:xfrm>
              <a:off x="343723" y="2762494"/>
              <a:ext cx="61438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Đầu tăng trưởng</a:t>
              </a:r>
              <a:endParaRPr lang="en-US" sz="588" dirty="0"/>
            </a:p>
          </p:txBody>
        </p:sp>
        <p:sp>
          <p:nvSpPr>
            <p:cNvPr id="29" name="svg0_19"/>
            <p:cNvSpPr/>
            <p:nvPr/>
          </p:nvSpPr>
          <p:spPr>
            <a:xfrm>
              <a:off x="1509949" y="2775844"/>
              <a:ext cx="147218" cy="68763"/>
            </a:xfrm>
            <a:prstGeom prst="rect">
              <a:avLst/>
            </a:prstGeom>
            <a:solidFill>
              <a:srgbClr val="7B1E2B"/>
            </a:solidFill>
            <a:ln/>
          </p:spPr>
        </p:sp>
        <p:sp>
          <p:nvSpPr>
            <p:cNvPr id="30" name="svg0_20"/>
            <p:cNvSpPr txBox="1"/>
            <p:nvPr/>
          </p:nvSpPr>
          <p:spPr>
            <a:xfrm>
              <a:off x="1312164" y="2762494"/>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35%</a:t>
              </a:r>
              <a:endParaRPr lang="en-US" sz="557" dirty="0"/>
            </a:p>
          </p:txBody>
        </p:sp>
        <p:sp>
          <p:nvSpPr>
            <p:cNvPr id="31" name="svg0_21"/>
            <p:cNvSpPr txBox="1"/>
            <p:nvPr/>
          </p:nvSpPr>
          <p:spPr>
            <a:xfrm>
              <a:off x="1676735" y="2762494"/>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45%</a:t>
              </a:r>
              <a:endParaRPr lang="en-US" sz="557" dirty="0"/>
            </a:p>
          </p:txBody>
        </p:sp>
        <p:sp>
          <p:nvSpPr>
            <p:cNvPr id="32" name="svg0_22"/>
            <p:cNvSpPr txBox="1"/>
            <p:nvPr/>
          </p:nvSpPr>
          <p:spPr>
            <a:xfrm>
              <a:off x="327995" y="2900020"/>
              <a:ext cx="63020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Cuối tăng trưởng</a:t>
              </a:r>
              <a:endParaRPr lang="en-US" sz="588" dirty="0"/>
            </a:p>
          </p:txBody>
        </p:sp>
        <p:sp>
          <p:nvSpPr>
            <p:cNvPr id="33" name="svg0_23"/>
            <p:cNvSpPr/>
            <p:nvPr/>
          </p:nvSpPr>
          <p:spPr>
            <a:xfrm>
              <a:off x="1289030" y="2913278"/>
              <a:ext cx="147218" cy="68763"/>
            </a:xfrm>
            <a:prstGeom prst="rect">
              <a:avLst/>
            </a:prstGeom>
            <a:solidFill>
              <a:srgbClr val="D0D0D0"/>
            </a:solidFill>
            <a:ln/>
          </p:spPr>
        </p:sp>
        <p:sp>
          <p:nvSpPr>
            <p:cNvPr id="34" name="svg0_24"/>
            <p:cNvSpPr txBox="1"/>
            <p:nvPr/>
          </p:nvSpPr>
          <p:spPr>
            <a:xfrm>
              <a:off x="1091245" y="290002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35" name="svg0_25"/>
            <p:cNvSpPr txBox="1"/>
            <p:nvPr/>
          </p:nvSpPr>
          <p:spPr>
            <a:xfrm>
              <a:off x="1455908" y="290002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36" name="svg0_26"/>
            <p:cNvSpPr/>
            <p:nvPr/>
          </p:nvSpPr>
          <p:spPr>
            <a:xfrm>
              <a:off x="1583558" y="2451964"/>
              <a:ext cx="0" cy="598841"/>
            </a:xfrm>
            <a:prstGeom prst="line">
              <a:avLst/>
            </a:prstGeom>
            <a:noFill/>
            <a:ln w="8890">
              <a:solidFill>
                <a:srgbClr val="5C1520"/>
              </a:solidFill>
              <a:prstDash val="dash"/>
            </a:ln>
          </p:spPr>
        </p:sp>
        <p:sp>
          <p:nvSpPr>
            <p:cNvPr id="37" name="svg0_27"/>
            <p:cNvSpPr txBox="1"/>
            <p:nvPr/>
          </p:nvSpPr>
          <p:spPr>
            <a:xfrm>
              <a:off x="1603126" y="2370765"/>
              <a:ext cx="599664"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AgriPack z = 40%</a:t>
              </a:r>
              <a:endParaRPr lang="en-US" sz="557" dirty="0"/>
            </a:p>
          </p:txBody>
        </p:sp>
      </p:grpSp>
      <p:grpSp>
        <p:nvGrpSpPr>
          <p:cNvPr id="105" name="Fig. 19 – biểu đồ"/>
          <p:cNvGrpSpPr/>
          <p:nvPr/>
        </p:nvGrpSpPr>
        <p:grpSpPr>
          <a:xfrm>
            <a:off x="444764" y="4121475"/>
            <a:ext cx="2081266" cy="880384"/>
            <a:chOff x="444764" y="4121475"/>
            <a:chExt cx="2081266" cy="880384"/>
          </a:xfrm>
        </p:grpSpPr>
        <p:sp>
          <p:nvSpPr>
            <p:cNvPr id="38" name="svg1_28"/>
            <p:cNvSpPr/>
            <p:nvPr/>
          </p:nvSpPr>
          <p:spPr>
            <a:xfrm>
              <a:off x="506852" y="4426702"/>
              <a:ext cx="193213" cy="458114"/>
            </a:xfrm>
            <a:prstGeom prst="rect">
              <a:avLst/>
            </a:prstGeom>
            <a:solidFill>
              <a:srgbClr val="A3A3A3"/>
            </a:solidFill>
            <a:ln/>
          </p:spPr>
        </p:sp>
        <p:sp>
          <p:nvSpPr>
            <p:cNvPr id="39" name="svg1_29"/>
            <p:cNvSpPr txBox="1"/>
            <p:nvPr/>
          </p:nvSpPr>
          <p:spPr>
            <a:xfrm>
              <a:off x="515264" y="433050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7,63</a:t>
              </a:r>
              <a:endParaRPr lang="en-US" sz="541" dirty="0"/>
            </a:p>
          </p:txBody>
        </p:sp>
        <p:sp>
          <p:nvSpPr>
            <p:cNvPr id="40" name="svg1_30"/>
            <p:cNvSpPr/>
            <p:nvPr/>
          </p:nvSpPr>
          <p:spPr>
            <a:xfrm>
              <a:off x="709757" y="4393692"/>
              <a:ext cx="193030" cy="491216"/>
            </a:xfrm>
            <a:prstGeom prst="rect">
              <a:avLst/>
            </a:prstGeom>
            <a:solidFill>
              <a:srgbClr val="7B1E2B"/>
            </a:solidFill>
            <a:ln/>
          </p:spPr>
        </p:sp>
        <p:sp>
          <p:nvSpPr>
            <p:cNvPr id="41" name="svg1_31"/>
            <p:cNvSpPr txBox="1"/>
            <p:nvPr/>
          </p:nvSpPr>
          <p:spPr>
            <a:xfrm>
              <a:off x="717438" y="429813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8,18</a:t>
              </a:r>
              <a:endParaRPr lang="en-US" sz="541" dirty="0"/>
            </a:p>
          </p:txBody>
        </p:sp>
        <p:sp>
          <p:nvSpPr>
            <p:cNvPr id="42" name="svg1_32"/>
            <p:cNvSpPr txBox="1"/>
            <p:nvPr/>
          </p:nvSpPr>
          <p:spPr>
            <a:xfrm>
              <a:off x="609265" y="4897069"/>
              <a:ext cx="191110"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GDP</a:t>
              </a:r>
              <a:endParaRPr lang="en-US" sz="588" dirty="0"/>
            </a:p>
          </p:txBody>
        </p:sp>
        <p:sp>
          <p:nvSpPr>
            <p:cNvPr id="43" name="svg1_33"/>
            <p:cNvSpPr/>
            <p:nvPr/>
          </p:nvSpPr>
          <p:spPr>
            <a:xfrm>
              <a:off x="1027146" y="4651919"/>
              <a:ext cx="193213" cy="232989"/>
            </a:xfrm>
            <a:prstGeom prst="rect">
              <a:avLst/>
            </a:prstGeom>
            <a:solidFill>
              <a:srgbClr val="A3A3A3"/>
            </a:solidFill>
            <a:ln/>
          </p:spPr>
        </p:sp>
        <p:sp>
          <p:nvSpPr>
            <p:cNvPr id="44" name="svg1_34"/>
            <p:cNvSpPr txBox="1"/>
            <p:nvPr/>
          </p:nvSpPr>
          <p:spPr>
            <a:xfrm>
              <a:off x="1035558" y="4556364"/>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3,88</a:t>
              </a:r>
              <a:endParaRPr lang="en-US" sz="541" dirty="0"/>
            </a:p>
          </p:txBody>
        </p:sp>
        <p:sp>
          <p:nvSpPr>
            <p:cNvPr id="45" name="svg1_35"/>
            <p:cNvSpPr/>
            <p:nvPr/>
          </p:nvSpPr>
          <p:spPr>
            <a:xfrm>
              <a:off x="1230142" y="4652467"/>
              <a:ext cx="193030" cy="232440"/>
            </a:xfrm>
            <a:prstGeom prst="rect">
              <a:avLst/>
            </a:prstGeom>
            <a:solidFill>
              <a:srgbClr val="7B1E2B"/>
            </a:solidFill>
            <a:ln/>
          </p:spPr>
        </p:sp>
        <p:sp>
          <p:nvSpPr>
            <p:cNvPr id="46" name="svg1_36"/>
            <p:cNvSpPr txBox="1"/>
            <p:nvPr/>
          </p:nvSpPr>
          <p:spPr>
            <a:xfrm>
              <a:off x="1237823" y="4556364"/>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3,87</a:t>
              </a:r>
              <a:endParaRPr lang="en-US" sz="541" dirty="0"/>
            </a:p>
          </p:txBody>
        </p:sp>
        <p:sp>
          <p:nvSpPr>
            <p:cNvPr id="47" name="svg1_37"/>
            <p:cNvSpPr txBox="1"/>
            <p:nvPr/>
          </p:nvSpPr>
          <p:spPr>
            <a:xfrm>
              <a:off x="963412" y="4897069"/>
              <a:ext cx="52632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Nông, lâm, TS</a:t>
              </a:r>
              <a:endParaRPr lang="en-US" sz="588" dirty="0"/>
            </a:p>
          </p:txBody>
        </p:sp>
        <p:sp>
          <p:nvSpPr>
            <p:cNvPr id="48" name="svg1_38"/>
            <p:cNvSpPr/>
            <p:nvPr/>
          </p:nvSpPr>
          <p:spPr>
            <a:xfrm>
              <a:off x="1547531" y="4378056"/>
              <a:ext cx="193030" cy="506852"/>
            </a:xfrm>
            <a:prstGeom prst="rect">
              <a:avLst/>
            </a:prstGeom>
            <a:solidFill>
              <a:srgbClr val="A3A3A3"/>
            </a:solidFill>
            <a:ln/>
          </p:spPr>
        </p:sp>
        <p:sp>
          <p:nvSpPr>
            <p:cNvPr id="49" name="svg1_39"/>
            <p:cNvSpPr txBox="1"/>
            <p:nvPr/>
          </p:nvSpPr>
          <p:spPr>
            <a:xfrm>
              <a:off x="1555943" y="4282410"/>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8,44</a:t>
              </a:r>
              <a:endParaRPr lang="en-US" sz="541" dirty="0"/>
            </a:p>
          </p:txBody>
        </p:sp>
        <p:sp>
          <p:nvSpPr>
            <p:cNvPr id="50" name="svg1_40"/>
            <p:cNvSpPr/>
            <p:nvPr/>
          </p:nvSpPr>
          <p:spPr>
            <a:xfrm>
              <a:off x="1750527" y="4295851"/>
              <a:ext cx="193030" cy="589056"/>
            </a:xfrm>
            <a:prstGeom prst="rect">
              <a:avLst/>
            </a:prstGeom>
            <a:solidFill>
              <a:srgbClr val="7B1E2B"/>
            </a:solidFill>
            <a:ln/>
          </p:spPr>
        </p:sp>
        <p:sp>
          <p:nvSpPr>
            <p:cNvPr id="51" name="svg1_41"/>
            <p:cNvSpPr txBox="1"/>
            <p:nvPr/>
          </p:nvSpPr>
          <p:spPr>
            <a:xfrm>
              <a:off x="1758117" y="4199931"/>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9,81</a:t>
              </a:r>
              <a:endParaRPr lang="en-US" sz="541" dirty="0"/>
            </a:p>
          </p:txBody>
        </p:sp>
        <p:sp>
          <p:nvSpPr>
            <p:cNvPr id="52" name="svg1_42"/>
            <p:cNvSpPr txBox="1"/>
            <p:nvPr/>
          </p:nvSpPr>
          <p:spPr>
            <a:xfrm>
              <a:off x="1493124" y="4897069"/>
              <a:ext cx="507492"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CN, xây dựng</a:t>
              </a:r>
              <a:endParaRPr lang="en-US" sz="588" dirty="0"/>
            </a:p>
          </p:txBody>
        </p:sp>
        <p:sp>
          <p:nvSpPr>
            <p:cNvPr id="53" name="svg1_43"/>
            <p:cNvSpPr/>
            <p:nvPr/>
          </p:nvSpPr>
          <p:spPr>
            <a:xfrm>
              <a:off x="2067916" y="4382902"/>
              <a:ext cx="193030" cy="502006"/>
            </a:xfrm>
            <a:prstGeom prst="rect">
              <a:avLst/>
            </a:prstGeom>
            <a:solidFill>
              <a:srgbClr val="A3A3A3"/>
            </a:solidFill>
            <a:ln/>
          </p:spPr>
        </p:sp>
        <p:sp>
          <p:nvSpPr>
            <p:cNvPr id="54" name="svg1_44"/>
            <p:cNvSpPr txBox="1"/>
            <p:nvPr/>
          </p:nvSpPr>
          <p:spPr>
            <a:xfrm>
              <a:off x="2076328" y="428734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8,36</a:t>
              </a:r>
              <a:endParaRPr lang="en-US" sz="541" dirty="0"/>
            </a:p>
          </p:txBody>
        </p:sp>
        <p:sp>
          <p:nvSpPr>
            <p:cNvPr id="55" name="svg1_45"/>
            <p:cNvSpPr/>
            <p:nvPr/>
          </p:nvSpPr>
          <p:spPr>
            <a:xfrm>
              <a:off x="2270730" y="4399087"/>
              <a:ext cx="193213" cy="485821"/>
            </a:xfrm>
            <a:prstGeom prst="rect">
              <a:avLst/>
            </a:prstGeom>
            <a:solidFill>
              <a:srgbClr val="7B1E2B"/>
            </a:solidFill>
            <a:ln/>
          </p:spPr>
        </p:sp>
        <p:sp>
          <p:nvSpPr>
            <p:cNvPr id="56" name="svg1_46"/>
            <p:cNvSpPr txBox="1"/>
            <p:nvPr/>
          </p:nvSpPr>
          <p:spPr>
            <a:xfrm>
              <a:off x="2278502" y="4303075"/>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8,09</a:t>
              </a:r>
              <a:endParaRPr lang="en-US" sz="541" dirty="0"/>
            </a:p>
          </p:txBody>
        </p:sp>
        <p:sp>
          <p:nvSpPr>
            <p:cNvPr id="57" name="svg1_47"/>
            <p:cNvSpPr txBox="1"/>
            <p:nvPr/>
          </p:nvSpPr>
          <p:spPr>
            <a:xfrm>
              <a:off x="2116470" y="4897069"/>
              <a:ext cx="298917"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Dịch vụ</a:t>
              </a:r>
              <a:endParaRPr lang="en-US" sz="588" dirty="0"/>
            </a:p>
          </p:txBody>
        </p:sp>
        <p:sp>
          <p:nvSpPr>
            <p:cNvPr id="58" name="svg1_48"/>
            <p:cNvSpPr/>
            <p:nvPr/>
          </p:nvSpPr>
          <p:spPr>
            <a:xfrm>
              <a:off x="444764" y="4884908"/>
              <a:ext cx="2081266" cy="0"/>
            </a:xfrm>
            <a:prstGeom prst="line">
              <a:avLst/>
            </a:prstGeom>
            <a:noFill/>
            <a:ln w="6858">
              <a:solidFill>
                <a:srgbClr val="8C8C8C"/>
              </a:solidFill>
              <a:prstDash val="solid"/>
            </a:ln>
          </p:spPr>
        </p:sp>
        <p:sp>
          <p:nvSpPr>
            <p:cNvPr id="59" name="svg1_49"/>
            <p:cNvSpPr/>
            <p:nvPr/>
          </p:nvSpPr>
          <p:spPr>
            <a:xfrm>
              <a:off x="444764" y="4142689"/>
              <a:ext cx="60899" cy="60899"/>
            </a:xfrm>
            <a:prstGeom prst="rect">
              <a:avLst/>
            </a:prstGeom>
            <a:solidFill>
              <a:srgbClr val="A3A3A3"/>
            </a:solidFill>
            <a:ln/>
          </p:spPr>
        </p:sp>
        <p:sp>
          <p:nvSpPr>
            <p:cNvPr id="60" name="svg1_50"/>
            <p:cNvSpPr txBox="1"/>
            <p:nvPr/>
          </p:nvSpPr>
          <p:spPr>
            <a:xfrm>
              <a:off x="528157" y="4121475"/>
              <a:ext cx="490758"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6 tháng 2025</a:t>
              </a:r>
              <a:endParaRPr lang="en-US" sz="588" dirty="0"/>
            </a:p>
          </p:txBody>
        </p:sp>
        <p:sp>
          <p:nvSpPr>
            <p:cNvPr id="61" name="svg1_51"/>
            <p:cNvSpPr/>
            <p:nvPr/>
          </p:nvSpPr>
          <p:spPr>
            <a:xfrm>
              <a:off x="1037295" y="4142689"/>
              <a:ext cx="60899" cy="60899"/>
            </a:xfrm>
            <a:prstGeom prst="rect">
              <a:avLst/>
            </a:prstGeom>
            <a:solidFill>
              <a:srgbClr val="7B1E2B"/>
            </a:solidFill>
            <a:ln/>
          </p:spPr>
        </p:sp>
        <p:sp>
          <p:nvSpPr>
            <p:cNvPr id="62" name="svg1_52"/>
            <p:cNvSpPr txBox="1"/>
            <p:nvPr/>
          </p:nvSpPr>
          <p:spPr>
            <a:xfrm>
              <a:off x="1121054" y="4121475"/>
              <a:ext cx="490758"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6 tháng 2026</a:t>
              </a:r>
              <a:endParaRPr lang="en-US" sz="588" dirty="0"/>
            </a:p>
          </p:txBody>
        </p:sp>
      </p:grpSp>
      <p:grpSp>
        <p:nvGrpSpPr>
          <p:cNvPr id="106" name="Fig. 20 – biểu đồ"/>
          <p:cNvGrpSpPr/>
          <p:nvPr/>
        </p:nvGrpSpPr>
        <p:grpSpPr>
          <a:xfrm>
            <a:off x="167152" y="5708965"/>
            <a:ext cx="2434590" cy="467350"/>
            <a:chOff x="167152" y="5708965"/>
            <a:chExt cx="2434590" cy="467350"/>
          </a:xfrm>
        </p:grpSpPr>
        <p:sp>
          <p:nvSpPr>
            <p:cNvPr id="63" name="svg2_53"/>
            <p:cNvSpPr txBox="1"/>
            <p:nvPr/>
          </p:nvSpPr>
          <p:spPr>
            <a:xfrm>
              <a:off x="567294" y="5717286"/>
              <a:ext cx="82012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CPI bình quân 8T/2026</a:t>
              </a:r>
              <a:endParaRPr lang="en-US" sz="588" dirty="0"/>
            </a:p>
          </p:txBody>
        </p:sp>
        <p:sp>
          <p:nvSpPr>
            <p:cNvPr id="64" name="svg2_54"/>
            <p:cNvSpPr/>
            <p:nvPr/>
          </p:nvSpPr>
          <p:spPr>
            <a:xfrm>
              <a:off x="1426464" y="5728716"/>
              <a:ext cx="625084" cy="72969"/>
            </a:xfrm>
            <a:prstGeom prst="rect">
              <a:avLst/>
            </a:prstGeom>
            <a:solidFill>
              <a:srgbClr val="A3A3A3"/>
            </a:solidFill>
            <a:ln/>
          </p:spPr>
        </p:sp>
        <p:sp>
          <p:nvSpPr>
            <p:cNvPr id="65" name="svg2_55"/>
            <p:cNvSpPr txBox="1"/>
            <p:nvPr/>
          </p:nvSpPr>
          <p:spPr>
            <a:xfrm>
              <a:off x="470459" y="5835152"/>
              <a:ext cx="916960"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Lạm phát cơ bản 8T/2026</a:t>
              </a:r>
              <a:endParaRPr lang="en-US" sz="588" dirty="0"/>
            </a:p>
          </p:txBody>
        </p:sp>
        <p:sp>
          <p:nvSpPr>
            <p:cNvPr id="66" name="svg2_56"/>
            <p:cNvSpPr/>
            <p:nvPr/>
          </p:nvSpPr>
          <p:spPr>
            <a:xfrm>
              <a:off x="1426464" y="5846399"/>
              <a:ext cx="595457" cy="73061"/>
            </a:xfrm>
            <a:prstGeom prst="rect">
              <a:avLst/>
            </a:prstGeom>
            <a:solidFill>
              <a:srgbClr val="A3A3A3"/>
            </a:solidFill>
            <a:ln/>
          </p:spPr>
        </p:sp>
        <p:sp>
          <p:nvSpPr>
            <p:cNvPr id="67" name="svg2_57"/>
            <p:cNvSpPr txBox="1"/>
            <p:nvPr/>
          </p:nvSpPr>
          <p:spPr>
            <a:xfrm>
              <a:off x="504292" y="5952927"/>
              <a:ext cx="88459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Nhà ở, điện, nước, VLXD</a:t>
              </a:r>
              <a:endParaRPr lang="en-US" sz="588" dirty="0"/>
            </a:p>
          </p:txBody>
        </p:sp>
        <p:sp>
          <p:nvSpPr>
            <p:cNvPr id="68" name="svg2_58"/>
            <p:cNvSpPr/>
            <p:nvPr/>
          </p:nvSpPr>
          <p:spPr>
            <a:xfrm>
              <a:off x="1426464" y="5964265"/>
              <a:ext cx="942472" cy="73061"/>
            </a:xfrm>
            <a:prstGeom prst="rect">
              <a:avLst/>
            </a:prstGeom>
            <a:solidFill>
              <a:srgbClr val="404040"/>
            </a:solidFill>
            <a:ln/>
          </p:spPr>
        </p:sp>
        <p:sp>
          <p:nvSpPr>
            <p:cNvPr id="69" name="svg2_59"/>
            <p:cNvSpPr txBox="1"/>
            <p:nvPr/>
          </p:nvSpPr>
          <p:spPr>
            <a:xfrm>
              <a:off x="167152" y="6070702"/>
              <a:ext cx="121990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Giá bán AgriPack 2026E (giả định)</a:t>
              </a:r>
              <a:endParaRPr lang="en-US" sz="588" dirty="0"/>
            </a:p>
          </p:txBody>
        </p:sp>
        <p:sp>
          <p:nvSpPr>
            <p:cNvPr id="70" name="svg2_60"/>
            <p:cNvSpPr/>
            <p:nvPr/>
          </p:nvSpPr>
          <p:spPr>
            <a:xfrm>
              <a:off x="1426464" y="6082132"/>
              <a:ext cx="280904" cy="73061"/>
            </a:xfrm>
            <a:prstGeom prst="rect">
              <a:avLst/>
            </a:prstGeom>
            <a:solidFill>
              <a:srgbClr val="7B1E2B"/>
            </a:solidFill>
            <a:ln/>
          </p:spPr>
        </p:sp>
        <p:sp>
          <p:nvSpPr>
            <p:cNvPr id="71" name="svg2_61"/>
            <p:cNvSpPr/>
            <p:nvPr/>
          </p:nvSpPr>
          <p:spPr>
            <a:xfrm>
              <a:off x="1426464" y="5708965"/>
              <a:ext cx="0" cy="467350"/>
            </a:xfrm>
            <a:prstGeom prst="line">
              <a:avLst/>
            </a:prstGeom>
            <a:noFill/>
            <a:ln w="6858">
              <a:solidFill>
                <a:srgbClr val="8C8C8C"/>
              </a:solidFill>
              <a:prstDash val="solid"/>
            </a:ln>
          </p:spPr>
        </p:sp>
        <p:sp>
          <p:nvSpPr>
            <p:cNvPr id="72" name="svg2_62"/>
            <p:cNvSpPr txBox="1"/>
            <p:nvPr/>
          </p:nvSpPr>
          <p:spPr>
            <a:xfrm>
              <a:off x="2076328" y="5717286"/>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4,45%</a:t>
              </a:r>
              <a:endParaRPr lang="en-US" sz="588" dirty="0"/>
            </a:p>
          </p:txBody>
        </p:sp>
        <p:sp>
          <p:nvSpPr>
            <p:cNvPr id="73" name="svg2_63"/>
            <p:cNvSpPr txBox="1"/>
            <p:nvPr/>
          </p:nvSpPr>
          <p:spPr>
            <a:xfrm>
              <a:off x="2046884" y="5835152"/>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4,24%</a:t>
              </a:r>
              <a:endParaRPr lang="en-US" sz="588" dirty="0"/>
            </a:p>
          </p:txBody>
        </p:sp>
        <p:sp>
          <p:nvSpPr>
            <p:cNvPr id="74" name="svg2_64"/>
            <p:cNvSpPr txBox="1"/>
            <p:nvPr/>
          </p:nvSpPr>
          <p:spPr>
            <a:xfrm>
              <a:off x="2393533" y="5952927"/>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6,71%</a:t>
              </a:r>
              <a:endParaRPr lang="en-US" sz="588" dirty="0"/>
            </a:p>
          </p:txBody>
        </p:sp>
        <p:sp>
          <p:nvSpPr>
            <p:cNvPr id="75" name="svg2_65"/>
            <p:cNvSpPr txBox="1"/>
            <p:nvPr/>
          </p:nvSpPr>
          <p:spPr>
            <a:xfrm>
              <a:off x="1731874" y="6070702"/>
              <a:ext cx="208758"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2,00%</a:t>
              </a:r>
              <a:endParaRPr lang="en-US" sz="588" dirty="0"/>
            </a:p>
          </p:txBody>
        </p:sp>
      </p:grpSp>
      <p:sp>
        <p:nvSpPr>
          <p:cNvPr id="76" name="Text 7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7" name="Text 7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8" name="Text 75"/>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17 (tiếp):</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sp>
        <p:nvSpPr>
          <p:cNvPr id="79" name="Text 76"/>
          <p:cNvSpPr txBox="1"/>
          <p:nvPr/>
        </p:nvSpPr>
        <p:spPr>
          <a:xfrm>
            <a:off x="405354" y="201753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80" name="Text 77"/>
          <p:cNvSpPr txBox="1"/>
          <p:nvPr/>
        </p:nvSpPr>
        <p:spPr>
          <a:xfrm>
            <a:off x="405354" y="221193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en-US" sz="720" dirty="0"/>
          </a:p>
        </p:txBody>
      </p:sp>
      <p:sp>
        <p:nvSpPr>
          <p:cNvPr id="81" name="Text 78"/>
          <p:cNvSpPr txBox="1"/>
          <p:nvPr/>
        </p:nvSpPr>
        <p:spPr>
          <a:xfrm>
            <a:off x="405354" y="324538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en-US" sz="600" dirty="0"/>
          </a:p>
        </p:txBody>
      </p:sp>
      <p:sp>
        <p:nvSpPr>
          <p:cNvPr id="82" name="Text 79"/>
          <p:cNvSpPr txBox="1"/>
          <p:nvPr/>
        </p:nvSpPr>
        <p:spPr>
          <a:xfrm>
            <a:off x="2745303" y="2180753"/>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1F1F1F"/>
                </a:solidFill>
                <a:latin typeface="Calibri" pitchFamily="34" charset="0"/>
                <a:ea typeface="Calibri" pitchFamily="34" charset="-122"/>
                <a:cs typeface="Calibri" pitchFamily="34" charset="-120"/>
              </a:rPr>
              <a:t>Kết luận. </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2027, nhóm xác định AgriPack đang ở giai đoạn </a:t>
            </a:r>
            <a:pPr algn="just" indent="0" marL="0">
              <a:lnSpc>
                <a:spcPts val="1037"/>
              </a:lnSpc>
              <a:buNone/>
            </a:pPr>
            <a:r>
              <a:rPr lang="en-US" sz="850" b="1" dirty="0">
                <a:solidFill>
                  <a:srgbClr val="1F1F1F"/>
                </a:solidFill>
                <a:latin typeface="Calibri" pitchFamily="34" charset="0"/>
                <a:ea typeface="Calibri" pitchFamily="34" charset="-122"/>
                <a:cs typeface="Calibri" pitchFamily="34" charset="-120"/>
              </a:rPr>
              <a:t>đầu tăng trưởng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Bước 4, cho mức lợi suất yêu cầu trong phương pháp VC và mức WACC trong DCF ở Bước 5, và cho nhu cầu huy động vốn ngoài ở Phần 6 (Fig. 18).</a:t>
            </a:r>
            <a:endParaRPr lang="en-US" sz="850" dirty="0"/>
          </a:p>
        </p:txBody>
      </p:sp>
      <p:sp>
        <p:nvSpPr>
          <p:cNvPr id="83" name="Text 80"/>
          <p:cNvSpPr txBox="1"/>
          <p:nvPr/>
        </p:nvSpPr>
        <p:spPr>
          <a:xfrm>
            <a:off x="484632" y="34950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3. PHÂN TÍCH VĨ MÔ VÀ PHÂN TÍCH NGÀNH</a:t>
            </a:r>
            <a:endParaRPr lang="en-US" sz="880" dirty="0"/>
          </a:p>
        </p:txBody>
      </p:sp>
      <p:sp>
        <p:nvSpPr>
          <p:cNvPr id="84" name="Text 81"/>
          <p:cNvSpPr txBox="1"/>
          <p:nvPr/>
        </p:nvSpPr>
        <p:spPr>
          <a:xfrm>
            <a:off x="405354" y="376659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en-US" sz="720" dirty="0"/>
          </a:p>
        </p:txBody>
      </p:sp>
      <p:sp>
        <p:nvSpPr>
          <p:cNvPr id="85" name="Text 82"/>
          <p:cNvSpPr txBox="1"/>
          <p:nvPr/>
        </p:nvSpPr>
        <p:spPr>
          <a:xfrm>
            <a:off x="405354" y="400360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so với cùng kỳ</a:t>
            </a:r>
            <a:endParaRPr lang="en-US" sz="630" dirty="0"/>
          </a:p>
        </p:txBody>
      </p:sp>
      <p:sp>
        <p:nvSpPr>
          <p:cNvPr id="86" name="Text 83"/>
          <p:cNvSpPr txBox="1"/>
          <p:nvPr/>
        </p:nvSpPr>
        <p:spPr>
          <a:xfrm>
            <a:off x="405354" y="504026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en-US" sz="600" dirty="0"/>
          </a:p>
        </p:txBody>
      </p:sp>
      <p:sp>
        <p:nvSpPr>
          <p:cNvPr id="87" name="Text 84"/>
          <p:cNvSpPr txBox="1"/>
          <p:nvPr/>
        </p:nvSpPr>
        <p:spPr>
          <a:xfrm>
            <a:off x="405354" y="533689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en-US" sz="720" dirty="0"/>
          </a:p>
        </p:txBody>
      </p:sp>
      <p:sp>
        <p:nvSpPr>
          <p:cNvPr id="88" name="Text 85"/>
          <p:cNvSpPr txBox="1"/>
          <p:nvPr/>
        </p:nvSpPr>
        <p:spPr>
          <a:xfrm>
            <a:off x="405354" y="557390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so với cùng kỳ; giả định giá bán: %/năm</a:t>
            </a:r>
            <a:endParaRPr lang="en-US" sz="630" dirty="0"/>
          </a:p>
        </p:txBody>
      </p:sp>
      <p:sp>
        <p:nvSpPr>
          <p:cNvPr id="89" name="Text 86"/>
          <p:cNvSpPr txBox="1"/>
          <p:nvPr/>
        </p:nvSpPr>
        <p:spPr>
          <a:xfrm>
            <a:off x="405354" y="627671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en-US" sz="600" dirty="0"/>
          </a:p>
        </p:txBody>
      </p:sp>
      <p:sp>
        <p:nvSpPr>
          <p:cNvPr id="90" name="Text 87"/>
          <p:cNvSpPr txBox="1"/>
          <p:nvPr/>
        </p:nvSpPr>
        <p:spPr>
          <a:xfrm>
            <a:off x="2745303" y="37496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3.1. Phân tích vĩ mô</a:t>
            </a:r>
            <a:endParaRPr lang="en-US" sz="900" dirty="0"/>
          </a:p>
        </p:txBody>
      </p:sp>
      <p:sp>
        <p:nvSpPr>
          <p:cNvPr id="91" name="Text 88"/>
          <p:cNvSpPr txBox="1"/>
          <p:nvPr/>
        </p:nvSpPr>
        <p:spPr>
          <a:xfrm>
            <a:off x="2745303" y="3919027"/>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3.1.1. Tăng trưởng GDP</a:t>
            </a:r>
            <a:endParaRPr lang="en-US" sz="820" dirty="0"/>
          </a:p>
        </p:txBody>
      </p:sp>
      <p:sp>
        <p:nvSpPr>
          <p:cNvPr id="92" name="Text 89"/>
          <p:cNvSpPr txBox="1"/>
          <p:nvPr/>
        </p:nvSpPr>
        <p:spPr>
          <a:xfrm>
            <a:off x="2745303" y="406569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19).</a:t>
            </a:r>
            <a:endParaRPr lang="en-US" sz="850" dirty="0"/>
          </a:p>
        </p:txBody>
      </p:sp>
      <p:sp>
        <p:nvSpPr>
          <p:cNvPr id="93" name="Text 90"/>
          <p:cNvSpPr txBox="1"/>
          <p:nvPr/>
        </p:nvSpPr>
        <p:spPr>
          <a:xfrm>
            <a:off x="2745303" y="462960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en-US" sz="850" dirty="0"/>
          </a:p>
        </p:txBody>
      </p:sp>
      <p:sp>
        <p:nvSpPr>
          <p:cNvPr id="94" name="Text 91"/>
          <p:cNvSpPr txBox="1"/>
          <p:nvPr/>
        </p:nvSpPr>
        <p:spPr>
          <a:xfrm>
            <a:off x="2745303" y="519351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en-US" sz="850" dirty="0"/>
          </a:p>
        </p:txBody>
      </p:sp>
      <p:sp>
        <p:nvSpPr>
          <p:cNvPr id="95" name="Text 92"/>
          <p:cNvSpPr txBox="1"/>
          <p:nvPr/>
        </p:nvSpPr>
        <p:spPr>
          <a:xfrm>
            <a:off x="2745303" y="562584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en-US" sz="850" dirty="0"/>
          </a:p>
        </p:txBody>
      </p:sp>
      <p:sp>
        <p:nvSpPr>
          <p:cNvPr id="96" name="Text 93"/>
          <p:cNvSpPr txBox="1"/>
          <p:nvPr/>
        </p:nvSpPr>
        <p:spPr>
          <a:xfrm>
            <a:off x="2745303" y="6189756"/>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en-US" sz="850" dirty="0"/>
          </a:p>
        </p:txBody>
      </p:sp>
      <p:sp>
        <p:nvSpPr>
          <p:cNvPr id="97" name="Text 94"/>
          <p:cNvSpPr txBox="1"/>
          <p:nvPr/>
        </p:nvSpPr>
        <p:spPr>
          <a:xfrm>
            <a:off x="2745303" y="6622085"/>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3.1.2. Lạm phát</a:t>
            </a:r>
            <a:endParaRPr lang="en-US" sz="820" dirty="0"/>
          </a:p>
        </p:txBody>
      </p:sp>
      <p:sp>
        <p:nvSpPr>
          <p:cNvPr id="98" name="Text 95"/>
          <p:cNvSpPr txBox="1"/>
          <p:nvPr/>
        </p:nvSpPr>
        <p:spPr>
          <a:xfrm>
            <a:off x="2745303" y="676875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20).</a:t>
            </a:r>
            <a:endParaRPr lang="en-US" sz="850" dirty="0"/>
          </a:p>
        </p:txBody>
      </p:sp>
      <p:sp>
        <p:nvSpPr>
          <p:cNvPr id="99" name="Text 96"/>
          <p:cNvSpPr txBox="1"/>
          <p:nvPr/>
        </p:nvSpPr>
        <p:spPr>
          <a:xfrm>
            <a:off x="2745303" y="7464156"/>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en-US" sz="850" dirty="0"/>
          </a:p>
        </p:txBody>
      </p:sp>
      <p:sp>
        <p:nvSpPr>
          <p:cNvPr id="100" name="Text 97"/>
          <p:cNvSpPr txBox="1"/>
          <p:nvPr/>
        </p:nvSpPr>
        <p:spPr>
          <a:xfrm>
            <a:off x="2745303" y="8291231"/>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en-US" sz="850" dirty="0"/>
          </a:p>
        </p:txBody>
      </p:sp>
      <p:sp>
        <p:nvSpPr>
          <p:cNvPr id="101" name="Text 98"/>
          <p:cNvSpPr txBox="1"/>
          <p:nvPr/>
        </p:nvSpPr>
        <p:spPr>
          <a:xfrm>
            <a:off x="2745303" y="911830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en-US" sz="850" dirty="0"/>
          </a:p>
        </p:txBody>
      </p:sp>
      <p:sp>
        <p:nvSpPr>
          <p:cNvPr id="102" name="Text 9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03" name="Text 100"/>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6</a:t>
            </a:r>
            <a:endParaRPr lang="en-US"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223546"/>
            <a:ext cx="2159996" cy="0"/>
          </a:xfrm>
          <a:prstGeom prst="line">
            <a:avLst/>
          </a:prstGeom>
          <a:noFill/>
          <a:ln w="9525">
            <a:solidFill>
              <a:srgbClr val="7B1E2B"/>
            </a:solidFill>
            <a:prstDash val="solid"/>
          </a:ln>
        </p:spPr>
      </p:sp>
      <p:sp>
        <p:nvSpPr>
          <p:cNvPr id="5" name="Shape 3"/>
          <p:cNvSpPr/>
          <p:nvPr/>
        </p:nvSpPr>
        <p:spPr>
          <a:xfrm>
            <a:off x="405354" y="3783970"/>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1187988"/>
                <a:gridCol w="972007"/>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Chỉ báo</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Giá trị</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cho vay VND bình quân (6/2026)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8,1–10,5%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Dư nợ tín dụng DNNVV (28/8/2026)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&gt;4,1 triệu tỷ, +12,4%</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NATIF hỗ trợ lãi suất (2026)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50% lãi vay, ≤ 6%/năm, ≤ 5 năm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Quy mô hỗ trợ đợt 1/2026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50 tỷ đồng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Kd trong mô hình (Mục 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10,0%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84" name="Fig. 22 – biểu đồ"/>
          <p:cNvGrpSpPr/>
          <p:nvPr/>
        </p:nvGrpSpPr>
        <p:grpSpPr>
          <a:xfrm>
            <a:off x="261427" y="2631826"/>
            <a:ext cx="2215591" cy="833658"/>
            <a:chOff x="261427" y="2631826"/>
            <a:chExt cx="2215591" cy="833658"/>
          </a:xfrm>
        </p:grpSpPr>
        <p:sp>
          <p:nvSpPr>
            <p:cNvPr id="8" name="svg0_0"/>
            <p:cNvSpPr/>
            <p:nvPr/>
          </p:nvSpPr>
          <p:spPr>
            <a:xfrm>
              <a:off x="1357152" y="2631826"/>
              <a:ext cx="0" cy="726582"/>
            </a:xfrm>
            <a:prstGeom prst="line">
              <a:avLst/>
            </a:prstGeom>
            <a:noFill/>
            <a:ln w="4953">
              <a:solidFill>
                <a:srgbClr val="E4E4E4"/>
              </a:solidFill>
              <a:prstDash val="solid"/>
            </a:ln>
          </p:spPr>
        </p:sp>
        <p:sp>
          <p:nvSpPr>
            <p:cNvPr id="9" name="svg0_1"/>
            <p:cNvSpPr txBox="1"/>
            <p:nvPr/>
          </p:nvSpPr>
          <p:spPr>
            <a:xfrm>
              <a:off x="1228405"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25.500</a:t>
              </a:r>
              <a:endParaRPr lang="en-US" sz="541" dirty="0"/>
            </a:p>
          </p:txBody>
        </p:sp>
        <p:sp>
          <p:nvSpPr>
            <p:cNvPr id="10" name="svg0_2"/>
            <p:cNvSpPr/>
            <p:nvPr/>
          </p:nvSpPr>
          <p:spPr>
            <a:xfrm>
              <a:off x="1645920" y="2631826"/>
              <a:ext cx="0" cy="726582"/>
            </a:xfrm>
            <a:prstGeom prst="line">
              <a:avLst/>
            </a:prstGeom>
            <a:noFill/>
            <a:ln w="4953">
              <a:solidFill>
                <a:srgbClr val="E4E4E4"/>
              </a:solidFill>
              <a:prstDash val="solid"/>
            </a:ln>
          </p:spPr>
        </p:sp>
        <p:sp>
          <p:nvSpPr>
            <p:cNvPr id="11" name="svg0_3"/>
            <p:cNvSpPr txBox="1"/>
            <p:nvPr/>
          </p:nvSpPr>
          <p:spPr>
            <a:xfrm>
              <a:off x="1518087"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26.500</a:t>
              </a:r>
              <a:endParaRPr lang="en-US" sz="541" dirty="0"/>
            </a:p>
          </p:txBody>
        </p:sp>
        <p:sp>
          <p:nvSpPr>
            <p:cNvPr id="12" name="svg0_4"/>
            <p:cNvSpPr/>
            <p:nvPr/>
          </p:nvSpPr>
          <p:spPr>
            <a:xfrm>
              <a:off x="1934596" y="2631826"/>
              <a:ext cx="0" cy="726582"/>
            </a:xfrm>
            <a:prstGeom prst="line">
              <a:avLst/>
            </a:prstGeom>
            <a:noFill/>
            <a:ln w="4953">
              <a:solidFill>
                <a:srgbClr val="E4E4E4"/>
              </a:solidFill>
              <a:prstDash val="solid"/>
            </a:ln>
          </p:spPr>
        </p:sp>
        <p:sp>
          <p:nvSpPr>
            <p:cNvPr id="13" name="svg0_5"/>
            <p:cNvSpPr txBox="1"/>
            <p:nvPr/>
          </p:nvSpPr>
          <p:spPr>
            <a:xfrm>
              <a:off x="1806672"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27.500</a:t>
              </a:r>
              <a:endParaRPr lang="en-US" sz="541" dirty="0"/>
            </a:p>
          </p:txBody>
        </p:sp>
        <p:sp>
          <p:nvSpPr>
            <p:cNvPr id="14" name="svg0_6"/>
            <p:cNvSpPr/>
            <p:nvPr/>
          </p:nvSpPr>
          <p:spPr>
            <a:xfrm>
              <a:off x="2223546" y="2631826"/>
              <a:ext cx="0" cy="726582"/>
            </a:xfrm>
            <a:prstGeom prst="line">
              <a:avLst/>
            </a:prstGeom>
            <a:noFill/>
            <a:ln w="4953">
              <a:solidFill>
                <a:srgbClr val="E4E4E4"/>
              </a:solidFill>
              <a:prstDash val="solid"/>
            </a:ln>
          </p:spPr>
        </p:sp>
        <p:sp>
          <p:nvSpPr>
            <p:cNvPr id="15" name="svg0_7"/>
            <p:cNvSpPr txBox="1"/>
            <p:nvPr/>
          </p:nvSpPr>
          <p:spPr>
            <a:xfrm>
              <a:off x="2095439"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28.500</a:t>
              </a:r>
              <a:endParaRPr lang="en-US" sz="541" dirty="0"/>
            </a:p>
          </p:txBody>
        </p:sp>
        <p:sp>
          <p:nvSpPr>
            <p:cNvPr id="16" name="svg0_8"/>
            <p:cNvSpPr txBox="1"/>
            <p:nvPr/>
          </p:nvSpPr>
          <p:spPr>
            <a:xfrm>
              <a:off x="300106" y="2651851"/>
              <a:ext cx="989198"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Liên ngân hàng cuối 8/2026</a:t>
              </a:r>
              <a:endParaRPr lang="en-US" sz="588" dirty="0"/>
            </a:p>
          </p:txBody>
        </p:sp>
        <p:sp>
          <p:nvSpPr>
            <p:cNvPr id="17" name="svg0_9"/>
            <p:cNvSpPr/>
            <p:nvPr/>
          </p:nvSpPr>
          <p:spPr>
            <a:xfrm>
              <a:off x="1328257" y="2700589"/>
              <a:ext cx="981883" cy="0"/>
            </a:xfrm>
            <a:prstGeom prst="line">
              <a:avLst/>
            </a:prstGeom>
            <a:noFill/>
            <a:ln w="5842">
              <a:solidFill>
                <a:srgbClr val="F0F0F0"/>
              </a:solidFill>
              <a:prstDash val="solid"/>
            </a:ln>
          </p:spPr>
        </p:sp>
        <p:sp>
          <p:nvSpPr>
            <p:cNvPr id="18" name="svg0_10"/>
            <p:cNvSpPr/>
            <p:nvPr/>
          </p:nvSpPr>
          <p:spPr>
            <a:xfrm>
              <a:off x="1496050" y="2671237"/>
              <a:ext cx="58887" cy="58887"/>
            </a:xfrm>
            <a:prstGeom prst="ellipse">
              <a:avLst/>
            </a:prstGeom>
            <a:solidFill>
              <a:srgbClr val="A3A3A3"/>
            </a:solidFill>
            <a:ln w="7874">
              <a:solidFill>
                <a:srgbClr val="FFFFFF"/>
              </a:solidFill>
              <a:prstDash val="solid"/>
            </a:ln>
          </p:spPr>
        </p:sp>
        <p:sp>
          <p:nvSpPr>
            <p:cNvPr id="19" name="svg0_11"/>
            <p:cNvSpPr txBox="1"/>
            <p:nvPr/>
          </p:nvSpPr>
          <p:spPr>
            <a:xfrm>
              <a:off x="1569842" y="2651851"/>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26.083</a:t>
              </a:r>
              <a:endParaRPr lang="en-US" sz="557" dirty="0"/>
            </a:p>
          </p:txBody>
        </p:sp>
        <p:sp>
          <p:nvSpPr>
            <p:cNvPr id="20" name="svg0_12"/>
            <p:cNvSpPr txBox="1"/>
            <p:nvPr/>
          </p:nvSpPr>
          <p:spPr>
            <a:xfrm>
              <a:off x="513984" y="2769718"/>
              <a:ext cx="775320"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Trung tâm 22/9/2026</a:t>
              </a:r>
              <a:endParaRPr lang="en-US" sz="588" dirty="0"/>
            </a:p>
          </p:txBody>
        </p:sp>
        <p:sp>
          <p:nvSpPr>
            <p:cNvPr id="21" name="svg0_13"/>
            <p:cNvSpPr/>
            <p:nvPr/>
          </p:nvSpPr>
          <p:spPr>
            <a:xfrm>
              <a:off x="1328257" y="2818364"/>
              <a:ext cx="981883" cy="0"/>
            </a:xfrm>
            <a:prstGeom prst="line">
              <a:avLst/>
            </a:prstGeom>
            <a:noFill/>
            <a:ln w="5842">
              <a:solidFill>
                <a:srgbClr val="F0F0F0"/>
              </a:solidFill>
              <a:prstDash val="solid"/>
            </a:ln>
          </p:spPr>
        </p:sp>
        <p:sp>
          <p:nvSpPr>
            <p:cNvPr id="22" name="svg0_14"/>
            <p:cNvSpPr/>
            <p:nvPr/>
          </p:nvSpPr>
          <p:spPr>
            <a:xfrm>
              <a:off x="1368125" y="2788920"/>
              <a:ext cx="58887" cy="58887"/>
            </a:xfrm>
            <a:prstGeom prst="ellipse">
              <a:avLst/>
            </a:prstGeom>
            <a:solidFill>
              <a:srgbClr val="A3A3A3"/>
            </a:solidFill>
            <a:ln w="7874">
              <a:solidFill>
                <a:srgbClr val="FFFFFF"/>
              </a:solidFill>
              <a:prstDash val="solid"/>
            </a:ln>
          </p:spPr>
        </p:sp>
        <p:sp>
          <p:nvSpPr>
            <p:cNvPr id="23" name="svg0_15"/>
            <p:cNvSpPr txBox="1"/>
            <p:nvPr/>
          </p:nvSpPr>
          <p:spPr>
            <a:xfrm>
              <a:off x="1442192" y="2769718"/>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25.640</a:t>
              </a:r>
              <a:endParaRPr lang="en-US" sz="557" dirty="0"/>
            </a:p>
          </p:txBody>
        </p:sp>
        <p:sp>
          <p:nvSpPr>
            <p:cNvPr id="24" name="svg0_16"/>
            <p:cNvSpPr txBox="1"/>
            <p:nvPr/>
          </p:nvSpPr>
          <p:spPr>
            <a:xfrm>
              <a:off x="261427" y="2887492"/>
              <a:ext cx="102787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Vietcombank bán 22/9/2026</a:t>
              </a:r>
              <a:endParaRPr lang="en-US" sz="588" dirty="0"/>
            </a:p>
          </p:txBody>
        </p:sp>
        <p:sp>
          <p:nvSpPr>
            <p:cNvPr id="25" name="svg0_17"/>
            <p:cNvSpPr/>
            <p:nvPr/>
          </p:nvSpPr>
          <p:spPr>
            <a:xfrm>
              <a:off x="1328257" y="2936138"/>
              <a:ext cx="981883" cy="0"/>
            </a:xfrm>
            <a:prstGeom prst="line">
              <a:avLst/>
            </a:prstGeom>
            <a:noFill/>
            <a:ln w="5842">
              <a:solidFill>
                <a:srgbClr val="F0F0F0"/>
              </a:solidFill>
              <a:prstDash val="solid"/>
            </a:ln>
          </p:spPr>
        </p:sp>
        <p:sp>
          <p:nvSpPr>
            <p:cNvPr id="26" name="svg0_18"/>
            <p:cNvSpPr/>
            <p:nvPr/>
          </p:nvSpPr>
          <p:spPr>
            <a:xfrm>
              <a:off x="1532717" y="2906786"/>
              <a:ext cx="58887" cy="58887"/>
            </a:xfrm>
            <a:prstGeom prst="ellipse">
              <a:avLst/>
            </a:prstGeom>
            <a:solidFill>
              <a:srgbClr val="A3A3A3"/>
            </a:solidFill>
            <a:ln w="7874">
              <a:solidFill>
                <a:srgbClr val="FFFFFF"/>
              </a:solidFill>
              <a:prstDash val="solid"/>
            </a:ln>
          </p:spPr>
        </p:sp>
        <p:sp>
          <p:nvSpPr>
            <p:cNvPr id="27" name="svg0_19"/>
            <p:cNvSpPr txBox="1"/>
            <p:nvPr/>
          </p:nvSpPr>
          <p:spPr>
            <a:xfrm>
              <a:off x="1606144" y="2887492"/>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26.210</a:t>
              </a:r>
              <a:endParaRPr lang="en-US" sz="557" dirty="0"/>
            </a:p>
          </p:txBody>
        </p:sp>
        <p:sp>
          <p:nvSpPr>
            <p:cNvPr id="28" name="svg0_20"/>
            <p:cNvSpPr txBox="1"/>
            <p:nvPr/>
          </p:nvSpPr>
          <p:spPr>
            <a:xfrm>
              <a:off x="472653" y="3005358"/>
              <a:ext cx="81665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MBS dự báo cuối 2026</a:t>
              </a:r>
              <a:endParaRPr lang="en-US" sz="588" dirty="0"/>
            </a:p>
          </p:txBody>
        </p:sp>
        <p:sp>
          <p:nvSpPr>
            <p:cNvPr id="29" name="svg0_21"/>
            <p:cNvSpPr/>
            <p:nvPr/>
          </p:nvSpPr>
          <p:spPr>
            <a:xfrm>
              <a:off x="1328257" y="3054005"/>
              <a:ext cx="981883" cy="0"/>
            </a:xfrm>
            <a:prstGeom prst="line">
              <a:avLst/>
            </a:prstGeom>
            <a:noFill/>
            <a:ln w="5842">
              <a:solidFill>
                <a:srgbClr val="F0F0F0"/>
              </a:solidFill>
              <a:prstDash val="solid"/>
            </a:ln>
          </p:spPr>
        </p:sp>
        <p:sp>
          <p:nvSpPr>
            <p:cNvPr id="30" name="svg0_22"/>
            <p:cNvSpPr/>
            <p:nvPr/>
          </p:nvSpPr>
          <p:spPr>
            <a:xfrm>
              <a:off x="1732605" y="3054005"/>
              <a:ext cx="57699" cy="0"/>
            </a:xfrm>
            <a:prstGeom prst="line">
              <a:avLst/>
            </a:prstGeom>
            <a:noFill/>
            <a:ln w="31369">
              <a:solidFill>
                <a:srgbClr val="404040"/>
              </a:solidFill>
              <a:prstDash val="solid"/>
            </a:ln>
          </p:spPr>
        </p:sp>
        <p:sp>
          <p:nvSpPr>
            <p:cNvPr id="31" name="svg0_23"/>
            <p:cNvSpPr txBox="1"/>
            <p:nvPr/>
          </p:nvSpPr>
          <p:spPr>
            <a:xfrm>
              <a:off x="1820113" y="3005358"/>
              <a:ext cx="4497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26.800–27.000</a:t>
              </a:r>
              <a:endParaRPr lang="en-US" sz="557" dirty="0"/>
            </a:p>
          </p:txBody>
        </p:sp>
        <p:sp>
          <p:nvSpPr>
            <p:cNvPr id="32" name="svg0_24"/>
            <p:cNvSpPr txBox="1"/>
            <p:nvPr/>
          </p:nvSpPr>
          <p:spPr>
            <a:xfrm>
              <a:off x="322235" y="3123133"/>
              <a:ext cx="96844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Mô hình: bình quân 2026E</a:t>
              </a:r>
              <a:endParaRPr lang="en-US" sz="588" dirty="0"/>
            </a:p>
          </p:txBody>
        </p:sp>
        <p:sp>
          <p:nvSpPr>
            <p:cNvPr id="33" name="svg0_25"/>
            <p:cNvSpPr/>
            <p:nvPr/>
          </p:nvSpPr>
          <p:spPr>
            <a:xfrm>
              <a:off x="1328257" y="3171871"/>
              <a:ext cx="981883" cy="0"/>
            </a:xfrm>
            <a:prstGeom prst="line">
              <a:avLst/>
            </a:prstGeom>
            <a:noFill/>
            <a:ln w="5842">
              <a:solidFill>
                <a:srgbClr val="F0F0F0"/>
              </a:solidFill>
              <a:prstDash val="solid"/>
            </a:ln>
          </p:spPr>
        </p:sp>
        <p:sp>
          <p:nvSpPr>
            <p:cNvPr id="34" name="svg0_26"/>
            <p:cNvSpPr/>
            <p:nvPr/>
          </p:nvSpPr>
          <p:spPr>
            <a:xfrm>
              <a:off x="1558778" y="3142427"/>
              <a:ext cx="58887" cy="58887"/>
            </a:xfrm>
            <a:prstGeom prst="ellipse">
              <a:avLst/>
            </a:prstGeom>
            <a:solidFill>
              <a:srgbClr val="7B1E2B"/>
            </a:solidFill>
            <a:ln w="7874">
              <a:solidFill>
                <a:srgbClr val="FFFFFF"/>
              </a:solidFill>
              <a:prstDash val="solid"/>
            </a:ln>
          </p:spPr>
        </p:sp>
        <p:sp>
          <p:nvSpPr>
            <p:cNvPr id="35" name="svg0_27"/>
            <p:cNvSpPr txBox="1"/>
            <p:nvPr/>
          </p:nvSpPr>
          <p:spPr>
            <a:xfrm>
              <a:off x="1632661" y="3123133"/>
              <a:ext cx="218999" cy="104790"/>
            </a:xfrm>
            <a:prstGeom prst="rect">
              <a:avLst/>
            </a:prstGeom>
            <a:solidFill>
              <a:srgbClr val="FFFFFF"/>
            </a:solidFill>
            <a:ln/>
          </p:spPr>
          <p:txBody>
            <a:bodyPr wrap="none" lIns="0" tIns="0" rIns="0" bIns="0" rtlCol="0" anchor="ctr"/>
            <a:lstStyle/>
            <a:p>
              <a:pPr algn="l" indent="0" marL="0">
                <a:buNone/>
              </a:pPr>
              <a:r>
                <a:rPr lang="en-US" sz="557" b="1" dirty="0">
                  <a:solidFill>
                    <a:srgbClr val="262626"/>
                  </a:solidFill>
                  <a:latin typeface="Calibri" pitchFamily="34" charset="0"/>
                  <a:ea typeface="Calibri" pitchFamily="34" charset="-122"/>
                  <a:cs typeface="Calibri" pitchFamily="34" charset="-120"/>
                </a:rPr>
                <a:t>26.300</a:t>
              </a:r>
              <a:endParaRPr lang="en-US" sz="557" dirty="0"/>
            </a:p>
          </p:txBody>
        </p:sp>
        <p:sp>
          <p:nvSpPr>
            <p:cNvPr id="36" name="svg0_28"/>
            <p:cNvSpPr txBox="1"/>
            <p:nvPr/>
          </p:nvSpPr>
          <p:spPr>
            <a:xfrm>
              <a:off x="322235" y="3240999"/>
              <a:ext cx="96844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Mô hình: bình quân 2030E</a:t>
              </a:r>
              <a:endParaRPr lang="en-US" sz="588" dirty="0"/>
            </a:p>
          </p:txBody>
        </p:sp>
        <p:sp>
          <p:nvSpPr>
            <p:cNvPr id="37" name="svg0_29"/>
            <p:cNvSpPr/>
            <p:nvPr/>
          </p:nvSpPr>
          <p:spPr>
            <a:xfrm>
              <a:off x="1328257" y="3289645"/>
              <a:ext cx="981883" cy="0"/>
            </a:xfrm>
            <a:prstGeom prst="line">
              <a:avLst/>
            </a:prstGeom>
            <a:noFill/>
            <a:ln w="5842">
              <a:solidFill>
                <a:srgbClr val="F0F0F0"/>
              </a:solidFill>
              <a:prstDash val="solid"/>
            </a:ln>
          </p:spPr>
        </p:sp>
        <p:sp>
          <p:nvSpPr>
            <p:cNvPr id="38" name="svg0_30"/>
            <p:cNvSpPr/>
            <p:nvPr/>
          </p:nvSpPr>
          <p:spPr>
            <a:xfrm>
              <a:off x="2184776" y="3260202"/>
              <a:ext cx="58887" cy="58887"/>
            </a:xfrm>
            <a:prstGeom prst="ellipse">
              <a:avLst/>
            </a:prstGeom>
            <a:solidFill>
              <a:srgbClr val="7B1E2B"/>
            </a:solidFill>
            <a:ln w="7874">
              <a:solidFill>
                <a:srgbClr val="FFFFFF"/>
              </a:solidFill>
              <a:prstDash val="solid"/>
            </a:ln>
          </p:spPr>
        </p:sp>
        <p:sp>
          <p:nvSpPr>
            <p:cNvPr id="39" name="svg0_31"/>
            <p:cNvSpPr txBox="1"/>
            <p:nvPr/>
          </p:nvSpPr>
          <p:spPr>
            <a:xfrm>
              <a:off x="2258019" y="3240999"/>
              <a:ext cx="218999" cy="104790"/>
            </a:xfrm>
            <a:prstGeom prst="rect">
              <a:avLst/>
            </a:prstGeom>
            <a:solidFill>
              <a:srgbClr val="FFFFFF"/>
            </a:solidFill>
            <a:ln/>
          </p:spPr>
          <p:txBody>
            <a:bodyPr wrap="none" lIns="0" tIns="0" rIns="0" bIns="0" rtlCol="0" anchor="ctr"/>
            <a:lstStyle/>
            <a:p>
              <a:pPr algn="l" indent="0" marL="0">
                <a:buNone/>
              </a:pPr>
              <a:r>
                <a:rPr lang="en-US" sz="557" b="1" dirty="0">
                  <a:solidFill>
                    <a:srgbClr val="262626"/>
                  </a:solidFill>
                  <a:latin typeface="Calibri" pitchFamily="34" charset="0"/>
                  <a:ea typeface="Calibri" pitchFamily="34" charset="-122"/>
                  <a:cs typeface="Calibri" pitchFamily="34" charset="-120"/>
                </a:rPr>
                <a:t>28.468</a:t>
              </a:r>
              <a:endParaRPr lang="en-US" sz="557" dirty="0"/>
            </a:p>
          </p:txBody>
        </p:sp>
      </p:grpSp>
      <p:grpSp>
        <p:nvGrpSpPr>
          <p:cNvPr id="85" name="Fig. 23 – biểu đồ"/>
          <p:cNvGrpSpPr/>
          <p:nvPr/>
        </p:nvGrpSpPr>
        <p:grpSpPr>
          <a:xfrm>
            <a:off x="444856" y="4052072"/>
            <a:ext cx="2081083" cy="768096"/>
            <a:chOff x="444856" y="4052072"/>
            <a:chExt cx="2081083" cy="768096"/>
          </a:xfrm>
        </p:grpSpPr>
        <p:sp>
          <p:nvSpPr>
            <p:cNvPr id="40" name="svg1_32"/>
            <p:cNvSpPr/>
            <p:nvPr/>
          </p:nvSpPr>
          <p:spPr>
            <a:xfrm>
              <a:off x="543702" y="4161252"/>
              <a:ext cx="322509" cy="539953"/>
            </a:xfrm>
            <a:prstGeom prst="rect">
              <a:avLst/>
            </a:prstGeom>
            <a:solidFill>
              <a:srgbClr val="A3A3A3"/>
            </a:solidFill>
            <a:ln/>
          </p:spPr>
        </p:sp>
        <p:sp>
          <p:nvSpPr>
            <p:cNvPr id="41" name="svg1_33"/>
            <p:cNvSpPr txBox="1"/>
            <p:nvPr/>
          </p:nvSpPr>
          <p:spPr>
            <a:xfrm>
              <a:off x="614111" y="4052072"/>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634</a:t>
              </a:r>
              <a:endParaRPr lang="en-US" sz="649" dirty="0"/>
            </a:p>
          </p:txBody>
        </p:sp>
        <p:sp>
          <p:nvSpPr>
            <p:cNvPr id="42" name="svg1_34"/>
            <p:cNvSpPr txBox="1"/>
            <p:nvPr/>
          </p:nvSpPr>
          <p:spPr>
            <a:xfrm>
              <a:off x="599664"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2022</a:t>
              </a:r>
              <a:endParaRPr lang="en-US" sz="587" dirty="0"/>
            </a:p>
          </p:txBody>
        </p:sp>
        <p:sp>
          <p:nvSpPr>
            <p:cNvPr id="43" name="svg1_35"/>
            <p:cNvSpPr/>
            <p:nvPr/>
          </p:nvSpPr>
          <p:spPr>
            <a:xfrm>
              <a:off x="1063904" y="4250680"/>
              <a:ext cx="322600" cy="450525"/>
            </a:xfrm>
            <a:prstGeom prst="rect">
              <a:avLst/>
            </a:prstGeom>
            <a:solidFill>
              <a:srgbClr val="A3A3A3"/>
            </a:solidFill>
            <a:ln/>
          </p:spPr>
        </p:sp>
        <p:sp>
          <p:nvSpPr>
            <p:cNvPr id="44" name="svg1_36"/>
            <p:cNvSpPr txBox="1"/>
            <p:nvPr/>
          </p:nvSpPr>
          <p:spPr>
            <a:xfrm>
              <a:off x="1134405" y="4141409"/>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529</a:t>
              </a:r>
              <a:endParaRPr lang="en-US" sz="649" dirty="0"/>
            </a:p>
          </p:txBody>
        </p:sp>
        <p:sp>
          <p:nvSpPr>
            <p:cNvPr id="45" name="svg1_37"/>
            <p:cNvSpPr txBox="1"/>
            <p:nvPr/>
          </p:nvSpPr>
          <p:spPr>
            <a:xfrm>
              <a:off x="1120049"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46" name="svg1_38"/>
            <p:cNvSpPr/>
            <p:nvPr/>
          </p:nvSpPr>
          <p:spPr>
            <a:xfrm>
              <a:off x="1584198" y="4362511"/>
              <a:ext cx="322600" cy="338694"/>
            </a:xfrm>
            <a:prstGeom prst="rect">
              <a:avLst/>
            </a:prstGeom>
            <a:solidFill>
              <a:srgbClr val="A3A3A3"/>
            </a:solidFill>
            <a:ln/>
          </p:spPr>
        </p:sp>
        <p:sp>
          <p:nvSpPr>
            <p:cNvPr id="47" name="svg1_39"/>
            <p:cNvSpPr txBox="1"/>
            <p:nvPr/>
          </p:nvSpPr>
          <p:spPr>
            <a:xfrm>
              <a:off x="1654790" y="4253332"/>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398</a:t>
              </a:r>
              <a:endParaRPr lang="en-US" sz="649" dirty="0"/>
            </a:p>
          </p:txBody>
        </p:sp>
        <p:sp>
          <p:nvSpPr>
            <p:cNvPr id="48" name="svg1_40"/>
            <p:cNvSpPr txBox="1"/>
            <p:nvPr/>
          </p:nvSpPr>
          <p:spPr>
            <a:xfrm>
              <a:off x="1640251"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49" name="svg1_41"/>
            <p:cNvSpPr/>
            <p:nvPr/>
          </p:nvSpPr>
          <p:spPr>
            <a:xfrm>
              <a:off x="2104583" y="4267779"/>
              <a:ext cx="322600" cy="433517"/>
            </a:xfrm>
            <a:prstGeom prst="rect">
              <a:avLst/>
            </a:prstGeom>
            <a:solidFill>
              <a:srgbClr val="7B1E2B"/>
            </a:solidFill>
            <a:ln/>
          </p:spPr>
        </p:sp>
        <p:sp>
          <p:nvSpPr>
            <p:cNvPr id="50" name="svg1_42"/>
            <p:cNvSpPr txBox="1"/>
            <p:nvPr/>
          </p:nvSpPr>
          <p:spPr>
            <a:xfrm>
              <a:off x="2174992" y="4158051"/>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509</a:t>
              </a:r>
              <a:endParaRPr lang="en-US" sz="649" dirty="0"/>
            </a:p>
          </p:txBody>
        </p:sp>
        <p:sp>
          <p:nvSpPr>
            <p:cNvPr id="51" name="svg1_43"/>
            <p:cNvSpPr txBox="1"/>
            <p:nvPr/>
          </p:nvSpPr>
          <p:spPr>
            <a:xfrm>
              <a:off x="2160544"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52" name="svg1_44"/>
            <p:cNvSpPr/>
            <p:nvPr/>
          </p:nvSpPr>
          <p:spPr>
            <a:xfrm>
              <a:off x="444856" y="4701296"/>
              <a:ext cx="2081083" cy="0"/>
            </a:xfrm>
            <a:prstGeom prst="line">
              <a:avLst/>
            </a:prstGeom>
            <a:noFill/>
            <a:ln w="6858">
              <a:solidFill>
                <a:srgbClr val="8C8C8C"/>
              </a:solidFill>
              <a:prstDash val="solid"/>
            </a:ln>
          </p:spPr>
        </p:sp>
      </p:grpSp>
      <p:sp>
        <p:nvSpPr>
          <p:cNvPr id="53" name="Text 5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54" name="Text 5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55" name="Text 52"/>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en-US" sz="720" dirty="0"/>
          </a:p>
        </p:txBody>
      </p:sp>
      <p:sp>
        <p:nvSpPr>
          <p:cNvPr id="56" name="Text 53"/>
          <p:cNvSpPr txBox="1"/>
          <p:nvPr/>
        </p:nvSpPr>
        <p:spPr>
          <a:xfrm>
            <a:off x="405354" y="1953158"/>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en-US" sz="600" dirty="0"/>
          </a:p>
        </p:txBody>
      </p:sp>
      <p:sp>
        <p:nvSpPr>
          <p:cNvPr id="57" name="Text 54"/>
          <p:cNvSpPr txBox="1"/>
          <p:nvPr/>
        </p:nvSpPr>
        <p:spPr>
          <a:xfrm>
            <a:off x="405354" y="224988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en-US" sz="720" dirty="0"/>
          </a:p>
        </p:txBody>
      </p:sp>
      <p:sp>
        <p:nvSpPr>
          <p:cNvPr id="58" name="Text 55"/>
          <p:cNvSpPr txBox="1"/>
          <p:nvPr/>
        </p:nvSpPr>
        <p:spPr>
          <a:xfrm>
            <a:off x="405354" y="248689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VND/USD</a:t>
            </a:r>
            <a:endParaRPr lang="en-US" sz="630" dirty="0"/>
          </a:p>
        </p:txBody>
      </p:sp>
      <p:sp>
        <p:nvSpPr>
          <p:cNvPr id="59" name="Text 56"/>
          <p:cNvSpPr txBox="1"/>
          <p:nvPr/>
        </p:nvSpPr>
        <p:spPr>
          <a:xfrm>
            <a:off x="405354" y="351367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en-US" sz="600" dirty="0"/>
          </a:p>
        </p:txBody>
      </p:sp>
      <p:sp>
        <p:nvSpPr>
          <p:cNvPr id="60" name="Text 57"/>
          <p:cNvSpPr txBox="1"/>
          <p:nvPr/>
        </p:nvSpPr>
        <p:spPr>
          <a:xfrm>
            <a:off x="405354" y="381030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Vốn VC phục hồi 28% năm 2025 sau ba năm giảm</a:t>
            </a:r>
            <a:endParaRPr lang="en-US" sz="720" dirty="0"/>
          </a:p>
        </p:txBody>
      </p:sp>
      <p:sp>
        <p:nvSpPr>
          <p:cNvPr id="61" name="Text 58"/>
          <p:cNvSpPr txBox="1"/>
          <p:nvPr/>
        </p:nvSpPr>
        <p:spPr>
          <a:xfrm>
            <a:off x="405354" y="393786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Triệu USD</a:t>
            </a:r>
            <a:endParaRPr lang="en-US" sz="630" dirty="0"/>
          </a:p>
        </p:txBody>
      </p:sp>
      <p:sp>
        <p:nvSpPr>
          <p:cNvPr id="62" name="Text 59"/>
          <p:cNvSpPr txBox="1"/>
          <p:nvPr/>
        </p:nvSpPr>
        <p:spPr>
          <a:xfrm>
            <a:off x="405354" y="4836902"/>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en-US" sz="600" dirty="0"/>
          </a:p>
        </p:txBody>
      </p:sp>
      <p:sp>
        <p:nvSpPr>
          <p:cNvPr id="63" name="Text 60"/>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en-US" sz="850" dirty="0"/>
          </a:p>
        </p:txBody>
      </p:sp>
      <p:sp>
        <p:nvSpPr>
          <p:cNvPr id="64" name="Text 61"/>
          <p:cNvSpPr txBox="1"/>
          <p:nvPr/>
        </p:nvSpPr>
        <p:spPr>
          <a:xfrm>
            <a:off x="2745303" y="1253551"/>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3.1.3. Lãi suất</a:t>
            </a:r>
            <a:endParaRPr lang="en-US" sz="820" dirty="0"/>
          </a:p>
        </p:txBody>
      </p:sp>
      <p:sp>
        <p:nvSpPr>
          <p:cNvPr id="65" name="Text 62"/>
          <p:cNvSpPr txBox="1"/>
          <p:nvPr/>
        </p:nvSpPr>
        <p:spPr>
          <a:xfrm>
            <a:off x="2745303" y="1400221"/>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21).</a:t>
            </a:r>
            <a:endParaRPr lang="en-US" sz="850" dirty="0"/>
          </a:p>
        </p:txBody>
      </p:sp>
      <p:sp>
        <p:nvSpPr>
          <p:cNvPr id="66" name="Text 63"/>
          <p:cNvSpPr txBox="1"/>
          <p:nvPr/>
        </p:nvSpPr>
        <p:spPr>
          <a:xfrm>
            <a:off x="2745303" y="2095713"/>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en-US" sz="850" dirty="0"/>
          </a:p>
        </p:txBody>
      </p:sp>
      <p:sp>
        <p:nvSpPr>
          <p:cNvPr id="67" name="Text 64"/>
          <p:cNvSpPr txBox="1"/>
          <p:nvPr/>
        </p:nvSpPr>
        <p:spPr>
          <a:xfrm>
            <a:off x="2745303" y="279111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en-US" sz="850" dirty="0"/>
          </a:p>
        </p:txBody>
      </p:sp>
      <p:sp>
        <p:nvSpPr>
          <p:cNvPr id="68" name="Text 65"/>
          <p:cNvSpPr txBox="1"/>
          <p:nvPr/>
        </p:nvSpPr>
        <p:spPr>
          <a:xfrm>
            <a:off x="2745303" y="348660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en-US" sz="850" dirty="0"/>
          </a:p>
        </p:txBody>
      </p:sp>
      <p:sp>
        <p:nvSpPr>
          <p:cNvPr id="69" name="Text 66"/>
          <p:cNvSpPr txBox="1"/>
          <p:nvPr/>
        </p:nvSpPr>
        <p:spPr>
          <a:xfrm>
            <a:off x="2745303" y="418200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3.1.4. Tỷ giá</a:t>
            </a:r>
            <a:endParaRPr lang="en-US" sz="820" dirty="0"/>
          </a:p>
        </p:txBody>
      </p:sp>
      <p:sp>
        <p:nvSpPr>
          <p:cNvPr id="70" name="Text 67"/>
          <p:cNvSpPr txBox="1"/>
          <p:nvPr/>
        </p:nvSpPr>
        <p:spPr>
          <a:xfrm>
            <a:off x="2745303" y="432867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en-US" sz="850" dirty="0"/>
          </a:p>
        </p:txBody>
      </p:sp>
      <p:sp>
        <p:nvSpPr>
          <p:cNvPr id="71" name="Text 68"/>
          <p:cNvSpPr txBox="1"/>
          <p:nvPr/>
        </p:nvSpPr>
        <p:spPr>
          <a:xfrm>
            <a:off x="2745303" y="476100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22).</a:t>
            </a:r>
            <a:endParaRPr lang="en-US" sz="850" dirty="0"/>
          </a:p>
        </p:txBody>
      </p:sp>
      <p:sp>
        <p:nvSpPr>
          <p:cNvPr id="72" name="Text 69"/>
          <p:cNvSpPr txBox="1"/>
          <p:nvPr/>
        </p:nvSpPr>
        <p:spPr>
          <a:xfrm>
            <a:off x="2745303" y="5324917"/>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en-US" sz="850" dirty="0"/>
          </a:p>
        </p:txBody>
      </p:sp>
      <p:sp>
        <p:nvSpPr>
          <p:cNvPr id="73" name="Text 70"/>
          <p:cNvSpPr txBox="1"/>
          <p:nvPr/>
        </p:nvSpPr>
        <p:spPr>
          <a:xfrm>
            <a:off x="2745303" y="575733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en-US" sz="850" dirty="0"/>
          </a:p>
        </p:txBody>
      </p:sp>
      <p:sp>
        <p:nvSpPr>
          <p:cNvPr id="74" name="Text 71"/>
          <p:cNvSpPr txBox="1"/>
          <p:nvPr/>
        </p:nvSpPr>
        <p:spPr>
          <a:xfrm>
            <a:off x="2745303" y="632115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3.1.5. Môi trường đầu tư</a:t>
            </a:r>
            <a:endParaRPr lang="en-US" sz="820" dirty="0"/>
          </a:p>
        </p:txBody>
      </p:sp>
      <p:sp>
        <p:nvSpPr>
          <p:cNvPr id="75" name="Text 72"/>
          <p:cNvSpPr txBox="1"/>
          <p:nvPr/>
        </p:nvSpPr>
        <p:spPr>
          <a:xfrm>
            <a:off x="2745303" y="6467734"/>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37"/>
              </a:lnSpc>
              <a:buNone/>
            </a:pPr>
            <a:r>
              <a:rPr lang="en-US"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23).</a:t>
            </a:r>
            <a:endParaRPr lang="en-US" sz="850" dirty="0"/>
          </a:p>
        </p:txBody>
      </p:sp>
      <p:sp>
        <p:nvSpPr>
          <p:cNvPr id="76" name="Text 73"/>
          <p:cNvSpPr txBox="1"/>
          <p:nvPr/>
        </p:nvSpPr>
        <p:spPr>
          <a:xfrm>
            <a:off x="2745303" y="7163318"/>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en-US" sz="850" dirty="0"/>
          </a:p>
        </p:txBody>
      </p:sp>
      <p:sp>
        <p:nvSpPr>
          <p:cNvPr id="77" name="Text 74"/>
          <p:cNvSpPr txBox="1"/>
          <p:nvPr/>
        </p:nvSpPr>
        <p:spPr>
          <a:xfrm>
            <a:off x="2745303" y="772713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en-US" sz="850" dirty="0"/>
          </a:p>
        </p:txBody>
      </p:sp>
      <p:sp>
        <p:nvSpPr>
          <p:cNvPr id="78" name="Text 75"/>
          <p:cNvSpPr txBox="1"/>
          <p:nvPr/>
        </p:nvSpPr>
        <p:spPr>
          <a:xfrm>
            <a:off x="2745303" y="8422630"/>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en-US" sz="850" dirty="0"/>
          </a:p>
        </p:txBody>
      </p:sp>
      <p:sp>
        <p:nvSpPr>
          <p:cNvPr id="79" name="Text 76"/>
          <p:cNvSpPr txBox="1"/>
          <p:nvPr/>
        </p:nvSpPr>
        <p:spPr>
          <a:xfrm>
            <a:off x="2745303" y="8855050"/>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 Chính sách và pháp luật</a:t>
            </a:r>
            <a:endParaRPr lang="en-US" sz="820" dirty="0"/>
          </a:p>
        </p:txBody>
      </p:sp>
      <p:sp>
        <p:nvSpPr>
          <p:cNvPr id="80" name="Text 77"/>
          <p:cNvSpPr txBox="1"/>
          <p:nvPr/>
        </p:nvSpPr>
        <p:spPr>
          <a:xfrm>
            <a:off x="2745303" y="900162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en-US" sz="820" dirty="0"/>
          </a:p>
        </p:txBody>
      </p:sp>
      <p:sp>
        <p:nvSpPr>
          <p:cNvPr id="81" name="Text 78"/>
          <p:cNvSpPr txBox="1"/>
          <p:nvPr/>
        </p:nvSpPr>
        <p:spPr>
          <a:xfrm>
            <a:off x="2745303" y="9148206"/>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en-US" sz="850" dirty="0"/>
          </a:p>
        </p:txBody>
      </p:sp>
      <p:sp>
        <p:nvSpPr>
          <p:cNvPr id="82" name="Text 7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83" name="Text 80"/>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7</a:t>
            </a:r>
            <a:endParaRPr lang="en-US"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3062874"/>
            <a:ext cx="2159996"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669615"/>
                <a:gridCol w="820674"/>
                <a:gridCol w="669707"/>
              </a:tblGrid>
              <a:tr h="230429">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Văn bản</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Nội dung chính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phản ánh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421173">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TT 27/2026/TT-BYT (1/7/2026)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kiểm nghiệm, chứng nhận &amp; R&amp;D 0,6%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28">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NĐ 48/2026/NĐ-CP; NĐ 110/2026/NĐ-CP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311">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NQ 198/2025/QH15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Luật Thuế TNDN 67/2025/QH15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15% (DT ≤ 3 tỷ), 17% (3–50 tỷ), 20% phổ thông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Thuế suất 17% năm 2026, 20% từ 2027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59" name="Fig. 25 – biểu đồ"/>
          <p:cNvGrpSpPr/>
          <p:nvPr/>
        </p:nvGrpSpPr>
        <p:grpSpPr>
          <a:xfrm>
            <a:off x="302758" y="3461461"/>
            <a:ext cx="2279782" cy="973927"/>
            <a:chOff x="302758" y="3461461"/>
            <a:chExt cx="2279782" cy="973927"/>
          </a:xfrm>
        </p:grpSpPr>
        <p:sp>
          <p:nvSpPr>
            <p:cNvPr id="7" name="svg0_0"/>
            <p:cNvSpPr txBox="1"/>
            <p:nvPr/>
          </p:nvSpPr>
          <p:spPr>
            <a:xfrm>
              <a:off x="526969" y="3466673"/>
              <a:ext cx="82085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Nhựa sinh học (25–33)</a:t>
              </a:r>
              <a:endParaRPr lang="en-US" sz="587" dirty="0"/>
            </a:p>
          </p:txBody>
        </p:sp>
        <p:sp>
          <p:nvSpPr>
            <p:cNvPr id="8" name="svg0_1"/>
            <p:cNvSpPr/>
            <p:nvPr/>
          </p:nvSpPr>
          <p:spPr>
            <a:xfrm>
              <a:off x="1387236" y="3481121"/>
              <a:ext cx="416966" cy="66934"/>
            </a:xfrm>
            <a:prstGeom prst="rect">
              <a:avLst/>
            </a:prstGeom>
            <a:solidFill>
              <a:srgbClr val="A3A3A3"/>
            </a:solidFill>
            <a:ln/>
          </p:spPr>
        </p:sp>
        <p:sp>
          <p:nvSpPr>
            <p:cNvPr id="9" name="svg0_2"/>
            <p:cNvSpPr txBox="1"/>
            <p:nvPr/>
          </p:nvSpPr>
          <p:spPr>
            <a:xfrm>
              <a:off x="601675" y="3574755"/>
              <a:ext cx="74633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Bột giấy đúc (26–31)</a:t>
              </a:r>
              <a:endParaRPr lang="en-US" sz="587" dirty="0"/>
            </a:p>
          </p:txBody>
        </p:sp>
        <p:sp>
          <p:nvSpPr>
            <p:cNvPr id="10" name="svg0_3"/>
            <p:cNvSpPr/>
            <p:nvPr/>
          </p:nvSpPr>
          <p:spPr>
            <a:xfrm>
              <a:off x="1387236" y="3589020"/>
              <a:ext cx="389900" cy="66934"/>
            </a:xfrm>
            <a:prstGeom prst="rect">
              <a:avLst/>
            </a:prstGeom>
            <a:solidFill>
              <a:srgbClr val="A3A3A3"/>
            </a:solidFill>
            <a:ln/>
          </p:spPr>
        </p:sp>
        <p:sp>
          <p:nvSpPr>
            <p:cNvPr id="11" name="svg0_4"/>
            <p:cNvSpPr txBox="1"/>
            <p:nvPr/>
          </p:nvSpPr>
          <p:spPr>
            <a:xfrm>
              <a:off x="652973" y="3682655"/>
              <a:ext cx="69503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giấy (25–30)</a:t>
              </a:r>
              <a:endParaRPr lang="en-US" sz="587" dirty="0"/>
            </a:p>
          </p:txBody>
        </p:sp>
        <p:sp>
          <p:nvSpPr>
            <p:cNvPr id="12" name="svg0_5"/>
            <p:cNvSpPr/>
            <p:nvPr/>
          </p:nvSpPr>
          <p:spPr>
            <a:xfrm>
              <a:off x="1387236" y="3697011"/>
              <a:ext cx="321960" cy="66934"/>
            </a:xfrm>
            <a:prstGeom prst="rect">
              <a:avLst/>
            </a:prstGeom>
            <a:solidFill>
              <a:srgbClr val="A3A3A3"/>
            </a:solidFill>
            <a:ln/>
          </p:spPr>
        </p:sp>
        <p:sp>
          <p:nvSpPr>
            <p:cNvPr id="13" name="svg0_6"/>
            <p:cNvSpPr txBox="1"/>
            <p:nvPr/>
          </p:nvSpPr>
          <p:spPr>
            <a:xfrm>
              <a:off x="455463" y="3790645"/>
              <a:ext cx="8925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nhựa, tấn (23–28)</a:t>
              </a:r>
              <a:endParaRPr lang="en-US" sz="587" dirty="0"/>
            </a:p>
          </p:txBody>
        </p:sp>
        <p:sp>
          <p:nvSpPr>
            <p:cNvPr id="14" name="svg0_7"/>
            <p:cNvSpPr/>
            <p:nvPr/>
          </p:nvSpPr>
          <p:spPr>
            <a:xfrm>
              <a:off x="1387236" y="3805001"/>
              <a:ext cx="279258" cy="66934"/>
            </a:xfrm>
            <a:prstGeom prst="rect">
              <a:avLst/>
            </a:prstGeom>
            <a:solidFill>
              <a:srgbClr val="A3A3A3"/>
            </a:solidFill>
            <a:ln/>
          </p:spPr>
        </p:sp>
        <p:sp>
          <p:nvSpPr>
            <p:cNvPr id="15" name="svg0_8"/>
            <p:cNvSpPr txBox="1"/>
            <p:nvPr/>
          </p:nvSpPr>
          <p:spPr>
            <a:xfrm>
              <a:off x="302758" y="3898636"/>
              <a:ext cx="104525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Thị trường nhựa, tấn (26–31)</a:t>
              </a:r>
              <a:endParaRPr lang="en-US" sz="587" dirty="0"/>
            </a:p>
          </p:txBody>
        </p:sp>
        <p:sp>
          <p:nvSpPr>
            <p:cNvPr id="16" name="svg0_9"/>
            <p:cNvSpPr/>
            <p:nvPr/>
          </p:nvSpPr>
          <p:spPr>
            <a:xfrm>
              <a:off x="1387236" y="3913083"/>
              <a:ext cx="276332" cy="66934"/>
            </a:xfrm>
            <a:prstGeom prst="rect">
              <a:avLst/>
            </a:prstGeom>
            <a:solidFill>
              <a:srgbClr val="A3A3A3"/>
            </a:solidFill>
            <a:ln/>
          </p:spPr>
        </p:sp>
        <p:sp>
          <p:nvSpPr>
            <p:cNvPr id="17" name="svg0_10"/>
            <p:cNvSpPr txBox="1"/>
            <p:nvPr/>
          </p:nvSpPr>
          <p:spPr>
            <a:xfrm>
              <a:off x="360548" y="4006718"/>
              <a:ext cx="98736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SAM F&amp;B phân hủy (26–34)</a:t>
              </a:r>
              <a:endParaRPr lang="en-US" sz="587" dirty="0"/>
            </a:p>
          </p:txBody>
        </p:sp>
        <p:sp>
          <p:nvSpPr>
            <p:cNvPr id="18" name="svg0_11"/>
            <p:cNvSpPr/>
            <p:nvPr/>
          </p:nvSpPr>
          <p:spPr>
            <a:xfrm>
              <a:off x="1387236" y="4020983"/>
              <a:ext cx="156637" cy="66934"/>
            </a:xfrm>
            <a:prstGeom prst="rect">
              <a:avLst/>
            </a:prstGeom>
            <a:solidFill>
              <a:srgbClr val="404040"/>
            </a:solidFill>
            <a:ln/>
          </p:spPr>
        </p:sp>
        <p:sp>
          <p:nvSpPr>
            <p:cNvPr id="19" name="svg0_12"/>
            <p:cNvSpPr txBox="1"/>
            <p:nvPr/>
          </p:nvSpPr>
          <p:spPr>
            <a:xfrm>
              <a:off x="450342" y="4114617"/>
              <a:ext cx="89766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TAM bao bì xanh (26–34)</a:t>
              </a:r>
              <a:endParaRPr lang="en-US" sz="587" dirty="0"/>
            </a:p>
          </p:txBody>
        </p:sp>
        <p:sp>
          <p:nvSpPr>
            <p:cNvPr id="20" name="svg0_13"/>
            <p:cNvSpPr/>
            <p:nvPr/>
          </p:nvSpPr>
          <p:spPr>
            <a:xfrm>
              <a:off x="1387236" y="4128973"/>
              <a:ext cx="137343" cy="66934"/>
            </a:xfrm>
            <a:prstGeom prst="rect">
              <a:avLst/>
            </a:prstGeom>
            <a:solidFill>
              <a:srgbClr val="404040"/>
            </a:solidFill>
            <a:ln/>
          </p:spPr>
        </p:sp>
        <p:sp>
          <p:nvSpPr>
            <p:cNvPr id="21" name="svg0_14"/>
            <p:cNvSpPr txBox="1"/>
            <p:nvPr/>
          </p:nvSpPr>
          <p:spPr>
            <a:xfrm>
              <a:off x="520019" y="4222608"/>
              <a:ext cx="82780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kim loại (24–29)</a:t>
              </a:r>
              <a:endParaRPr lang="en-US" sz="587" dirty="0"/>
            </a:p>
          </p:txBody>
        </p:sp>
        <p:sp>
          <p:nvSpPr>
            <p:cNvPr id="22" name="svg0_15"/>
            <p:cNvSpPr/>
            <p:nvPr/>
          </p:nvSpPr>
          <p:spPr>
            <a:xfrm>
              <a:off x="1387236" y="4236964"/>
              <a:ext cx="101590" cy="66934"/>
            </a:xfrm>
            <a:prstGeom prst="rect">
              <a:avLst/>
            </a:prstGeom>
            <a:solidFill>
              <a:srgbClr val="A3A3A3"/>
            </a:solidFill>
            <a:ln/>
          </p:spPr>
        </p:sp>
        <p:sp>
          <p:nvSpPr>
            <p:cNvPr id="23" name="svg0_16"/>
            <p:cNvSpPr txBox="1"/>
            <p:nvPr/>
          </p:nvSpPr>
          <p:spPr>
            <a:xfrm>
              <a:off x="314828" y="4330598"/>
              <a:ext cx="1033181"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AgriPack dự phóng (25–30E)</a:t>
              </a:r>
              <a:endParaRPr lang="en-US" sz="587" dirty="0"/>
            </a:p>
          </p:txBody>
        </p:sp>
        <p:sp>
          <p:nvSpPr>
            <p:cNvPr id="24" name="svg0_17"/>
            <p:cNvSpPr/>
            <p:nvPr/>
          </p:nvSpPr>
          <p:spPr>
            <a:xfrm>
              <a:off x="1387236" y="4345046"/>
              <a:ext cx="962040" cy="66934"/>
            </a:xfrm>
            <a:prstGeom prst="rect">
              <a:avLst/>
            </a:prstGeom>
            <a:solidFill>
              <a:srgbClr val="7B1E2B"/>
            </a:solidFill>
            <a:ln/>
          </p:spPr>
        </p:sp>
        <p:sp>
          <p:nvSpPr>
            <p:cNvPr id="25" name="svg0_18"/>
            <p:cNvSpPr/>
            <p:nvPr/>
          </p:nvSpPr>
          <p:spPr>
            <a:xfrm>
              <a:off x="1387236" y="3461461"/>
              <a:ext cx="0" cy="969904"/>
            </a:xfrm>
            <a:prstGeom prst="line">
              <a:avLst/>
            </a:prstGeom>
            <a:noFill/>
            <a:ln w="6858">
              <a:solidFill>
                <a:srgbClr val="8C8C8C"/>
              </a:solidFill>
              <a:prstDash val="solid"/>
            </a:ln>
          </p:spPr>
        </p:sp>
        <p:sp>
          <p:nvSpPr>
            <p:cNvPr id="26" name="svg0_19"/>
            <p:cNvSpPr txBox="1"/>
            <p:nvPr/>
          </p:nvSpPr>
          <p:spPr>
            <a:xfrm>
              <a:off x="1828983" y="3466673"/>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12,6%</a:t>
              </a:r>
              <a:endParaRPr lang="en-US" sz="587" dirty="0"/>
            </a:p>
          </p:txBody>
        </p:sp>
        <p:sp>
          <p:nvSpPr>
            <p:cNvPr id="27" name="svg0_20"/>
            <p:cNvSpPr txBox="1"/>
            <p:nvPr/>
          </p:nvSpPr>
          <p:spPr>
            <a:xfrm>
              <a:off x="1801459" y="3574755"/>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11,8%</a:t>
              </a:r>
              <a:endParaRPr lang="en-US" sz="587" dirty="0"/>
            </a:p>
          </p:txBody>
        </p:sp>
        <p:sp>
          <p:nvSpPr>
            <p:cNvPr id="28" name="svg0_21"/>
            <p:cNvSpPr txBox="1"/>
            <p:nvPr/>
          </p:nvSpPr>
          <p:spPr>
            <a:xfrm>
              <a:off x="1733702" y="3682655"/>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9,7%</a:t>
              </a:r>
              <a:endParaRPr lang="en-US" sz="587" dirty="0"/>
            </a:p>
          </p:txBody>
        </p:sp>
        <p:sp>
          <p:nvSpPr>
            <p:cNvPr id="29" name="svg0_22"/>
            <p:cNvSpPr txBox="1"/>
            <p:nvPr/>
          </p:nvSpPr>
          <p:spPr>
            <a:xfrm>
              <a:off x="1691549" y="3790645"/>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8,4%</a:t>
              </a:r>
              <a:endParaRPr lang="en-US" sz="587" dirty="0"/>
            </a:p>
          </p:txBody>
        </p:sp>
        <p:sp>
          <p:nvSpPr>
            <p:cNvPr id="30" name="svg0_23"/>
            <p:cNvSpPr txBox="1"/>
            <p:nvPr/>
          </p:nvSpPr>
          <p:spPr>
            <a:xfrm>
              <a:off x="1687617" y="3898636"/>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8,3%</a:t>
              </a:r>
              <a:endParaRPr lang="en-US" sz="587" dirty="0"/>
            </a:p>
          </p:txBody>
        </p:sp>
        <p:sp>
          <p:nvSpPr>
            <p:cNvPr id="31" name="svg0_24"/>
            <p:cNvSpPr txBox="1"/>
            <p:nvPr/>
          </p:nvSpPr>
          <p:spPr>
            <a:xfrm>
              <a:off x="1567830" y="4006718"/>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4,7%</a:t>
              </a:r>
              <a:endParaRPr lang="en-US" sz="587" dirty="0"/>
            </a:p>
          </p:txBody>
        </p:sp>
        <p:sp>
          <p:nvSpPr>
            <p:cNvPr id="32" name="svg0_25"/>
            <p:cNvSpPr txBox="1"/>
            <p:nvPr/>
          </p:nvSpPr>
          <p:spPr>
            <a:xfrm>
              <a:off x="1549176" y="4114617"/>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a:t>
              </a:r>
              <a:endParaRPr lang="en-US" sz="587" dirty="0"/>
            </a:p>
          </p:txBody>
        </p:sp>
        <p:sp>
          <p:nvSpPr>
            <p:cNvPr id="33" name="svg0_26"/>
            <p:cNvSpPr txBox="1"/>
            <p:nvPr/>
          </p:nvSpPr>
          <p:spPr>
            <a:xfrm>
              <a:off x="1512875" y="4222608"/>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3,1%</a:t>
              </a:r>
              <a:endParaRPr lang="en-US" sz="587" dirty="0"/>
            </a:p>
          </p:txBody>
        </p:sp>
        <p:sp>
          <p:nvSpPr>
            <p:cNvPr id="34" name="svg0_27"/>
            <p:cNvSpPr txBox="1"/>
            <p:nvPr/>
          </p:nvSpPr>
          <p:spPr>
            <a:xfrm>
              <a:off x="2373782" y="4330598"/>
              <a:ext cx="208758" cy="104790"/>
            </a:xfrm>
            <a:prstGeom prst="rect">
              <a:avLst/>
            </a:prstGeom>
            <a:solidFill>
              <a:srgbClr val="FFFFFF"/>
            </a:solidFill>
            <a:ln/>
          </p:spPr>
          <p:txBody>
            <a:bodyPr wrap="none" lIns="0" tIns="0" rIns="0" bIns="0" rtlCol="0" anchor="ctr"/>
            <a:lstStyle/>
            <a:p>
              <a:pPr algn="l" indent="0" marL="0">
                <a:buNone/>
              </a:pPr>
              <a:r>
                <a:rPr lang="en-US" sz="587" b="1" dirty="0">
                  <a:solidFill>
                    <a:srgbClr val="262626"/>
                  </a:solidFill>
                  <a:latin typeface="Calibri" pitchFamily="34" charset="0"/>
                  <a:ea typeface="Calibri" pitchFamily="34" charset="-122"/>
                  <a:cs typeface="Calibri" pitchFamily="34" charset="-120"/>
                </a:rPr>
                <a:t>29,1%</a:t>
              </a:r>
              <a:endParaRPr lang="en-US" sz="587" dirty="0"/>
            </a:p>
          </p:txBody>
        </p:sp>
      </p:grpSp>
      <p:sp>
        <p:nvSpPr>
          <p:cNvPr id="35" name="Text 32"/>
          <p:cNvSpPr txBox="1"/>
          <p:nvPr/>
        </p:nvSpPr>
        <p:spPr>
          <a:xfrm>
            <a:off x="2745303" y="7651974"/>
            <a:ext cx="4409237" cy="553029"/>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giấy và bìa cứng</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nhựa</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kim loại, thuỷ tinh, gỗ</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Các loại bao bì dệt may và các vật liệu phù hợp khác.</a:t>
            </a:r>
            <a:endParaRPr lang="en-US" sz="850" dirty="0"/>
          </a:p>
        </p:txBody>
      </p:sp>
      <p:sp>
        <p:nvSpPr>
          <p:cNvPr id="36" name="Text 3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37" name="Text 3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38" name="Text 3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en-US" sz="720" dirty="0"/>
          </a:p>
        </p:txBody>
      </p:sp>
      <p:sp>
        <p:nvSpPr>
          <p:cNvPr id="39" name="Text 36"/>
          <p:cNvSpPr txBox="1"/>
          <p:nvPr/>
        </p:nvSpPr>
        <p:spPr>
          <a:xfrm>
            <a:off x="405354" y="279266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en-US" sz="600" dirty="0"/>
          </a:p>
        </p:txBody>
      </p:sp>
      <p:sp>
        <p:nvSpPr>
          <p:cNvPr id="40" name="Text 37"/>
          <p:cNvSpPr txBox="1"/>
          <p:nvPr/>
        </p:nvSpPr>
        <p:spPr>
          <a:xfrm>
            <a:off x="405354" y="308920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dự phóng tăng nhanh hơn mọi phân khúc: tăng trưởng phải đến từ giành thị phần</a:t>
            </a:r>
            <a:endParaRPr lang="en-US" sz="720" dirty="0"/>
          </a:p>
        </p:txBody>
      </p:sp>
      <p:sp>
        <p:nvSpPr>
          <p:cNvPr id="41" name="Text 38"/>
          <p:cNvSpPr txBox="1"/>
          <p:nvPr/>
        </p:nvSpPr>
        <p:spPr>
          <a:xfrm>
            <a:off x="405354" y="332631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CAGR, %/năm</a:t>
            </a:r>
            <a:endParaRPr lang="en-US" sz="630" dirty="0"/>
          </a:p>
        </p:txBody>
      </p:sp>
      <p:sp>
        <p:nvSpPr>
          <p:cNvPr id="42" name="Text 39"/>
          <p:cNvSpPr txBox="1"/>
          <p:nvPr/>
        </p:nvSpPr>
        <p:spPr>
          <a:xfrm>
            <a:off x="405354" y="452975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Mordor Intelligence; IMARC Group (2025); VPAS – số liệu trong bài của nhóm (Mục 1.1.1, 3.2.1); dự phóng: mô hình</a:t>
            </a:r>
            <a:endParaRPr lang="en-US" sz="600" dirty="0"/>
          </a:p>
        </p:txBody>
      </p:sp>
      <p:sp>
        <p:nvSpPr>
          <p:cNvPr id="43" name="Text 40"/>
          <p:cNvSpPr txBox="1"/>
          <p:nvPr/>
        </p:nvSpPr>
        <p:spPr>
          <a:xfrm>
            <a:off x="2745303" y="558058"/>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24).</a:t>
            </a:r>
            <a:endParaRPr lang="en-US" sz="850" dirty="0"/>
          </a:p>
        </p:txBody>
      </p:sp>
      <p:sp>
        <p:nvSpPr>
          <p:cNvPr id="44" name="Text 41"/>
          <p:cNvSpPr txBox="1"/>
          <p:nvPr/>
        </p:nvSpPr>
        <p:spPr>
          <a:xfrm>
            <a:off x="2745303" y="1385133"/>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3.1.6.2. Chính sách hỗ trợ startup</a:t>
            </a:r>
            <a:endParaRPr lang="en-US" sz="820" dirty="0"/>
          </a:p>
        </p:txBody>
      </p:sp>
      <p:sp>
        <p:nvSpPr>
          <p:cNvPr id="45" name="Text 42"/>
          <p:cNvSpPr txBox="1"/>
          <p:nvPr/>
        </p:nvSpPr>
        <p:spPr>
          <a:xfrm>
            <a:off x="2745303" y="1531711"/>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a:t>
            </a:r>
            <a:endParaRPr lang="en-US" sz="850" dirty="0"/>
          </a:p>
        </p:txBody>
      </p:sp>
      <p:sp>
        <p:nvSpPr>
          <p:cNvPr id="46" name="Text 43"/>
          <p:cNvSpPr txBox="1"/>
          <p:nvPr/>
        </p:nvSpPr>
        <p:spPr>
          <a:xfrm>
            <a:off x="2745303" y="301660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3.1.6.3. Thuế</a:t>
            </a:r>
            <a:endParaRPr lang="en-US" sz="820" dirty="0"/>
          </a:p>
        </p:txBody>
      </p:sp>
      <p:sp>
        <p:nvSpPr>
          <p:cNvPr id="47" name="Text 44"/>
          <p:cNvSpPr txBox="1"/>
          <p:nvPr/>
        </p:nvSpPr>
        <p:spPr>
          <a:xfrm>
            <a:off x="2745303" y="3163184"/>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en-US" sz="850" dirty="0"/>
          </a:p>
        </p:txBody>
      </p:sp>
      <p:sp>
        <p:nvSpPr>
          <p:cNvPr id="48" name="Text 45"/>
          <p:cNvSpPr txBox="1"/>
          <p:nvPr/>
        </p:nvSpPr>
        <p:spPr>
          <a:xfrm>
            <a:off x="2745303" y="4384914"/>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en-US" sz="850" dirty="0"/>
          </a:p>
        </p:txBody>
      </p:sp>
      <p:sp>
        <p:nvSpPr>
          <p:cNvPr id="49" name="Text 46"/>
          <p:cNvSpPr txBox="1"/>
          <p:nvPr/>
        </p:nvSpPr>
        <p:spPr>
          <a:xfrm>
            <a:off x="2745303" y="5343571"/>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en-US" sz="850" dirty="0"/>
          </a:p>
        </p:txBody>
      </p:sp>
      <p:sp>
        <p:nvSpPr>
          <p:cNvPr id="50" name="Text 47"/>
          <p:cNvSpPr txBox="1"/>
          <p:nvPr/>
        </p:nvSpPr>
        <p:spPr>
          <a:xfrm>
            <a:off x="2745303" y="6433627"/>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3.2. Phân tích ngành</a:t>
            </a:r>
            <a:endParaRPr lang="en-US" sz="900" dirty="0"/>
          </a:p>
        </p:txBody>
      </p:sp>
      <p:sp>
        <p:nvSpPr>
          <p:cNvPr id="51" name="Text 48"/>
          <p:cNvSpPr txBox="1"/>
          <p:nvPr/>
        </p:nvSpPr>
        <p:spPr>
          <a:xfrm>
            <a:off x="2745303" y="6602974"/>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3.2.1 Quy mô và tốc độ tăng trưởng ngành sản xuất bao bì</a:t>
            </a:r>
            <a:endParaRPr lang="en-US" sz="820" dirty="0"/>
          </a:p>
        </p:txBody>
      </p:sp>
      <p:sp>
        <p:nvSpPr>
          <p:cNvPr id="52" name="Text 49"/>
          <p:cNvSpPr txBox="1"/>
          <p:nvPr/>
        </p:nvSpPr>
        <p:spPr>
          <a:xfrm>
            <a:off x="2745303" y="6749735"/>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là một trong những ngành công nghiệp quan trọng, đóng vai trò trong việc bảo quản, vận chuyển, phân phối hàng hoá.</a:t>
            </a:r>
            <a:endParaRPr lang="en-US" sz="850" dirty="0"/>
          </a:p>
        </p:txBody>
      </p:sp>
      <p:sp>
        <p:nvSpPr>
          <p:cNvPr id="53" name="Text 50"/>
          <p:cNvSpPr txBox="1"/>
          <p:nvPr/>
        </p:nvSpPr>
        <p:spPr>
          <a:xfrm>
            <a:off x="2745303" y="7050390"/>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Tại Việt Nam, hiện đang có khoảng gần 14.000 doanh nghiệp, nhà máy hoạt động trong ngành bao bì với các doanh nghiệp tập trung ở các vùng kinh tế trọng điểm như TP. Hồ Chí Minh, Hà Nội, Đà Nẵng.</a:t>
            </a:r>
            <a:endParaRPr lang="en-US" sz="850" dirty="0"/>
          </a:p>
        </p:txBody>
      </p:sp>
      <p:sp>
        <p:nvSpPr>
          <p:cNvPr id="54" name="Text 51"/>
          <p:cNvSpPr txBox="1"/>
          <p:nvPr/>
        </p:nvSpPr>
        <p:spPr>
          <a:xfrm>
            <a:off x="2745303" y="7351227"/>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ngành bao bì in ấn, đóng gói vật liệu được chia thành nhiều phân khúc với các phân khúc chủ yếu như sau:</a:t>
            </a:r>
            <a:endParaRPr lang="en-US" sz="850" dirty="0"/>
          </a:p>
        </p:txBody>
      </p:sp>
      <p:sp>
        <p:nvSpPr>
          <p:cNvPr id="55" name="Text 52"/>
          <p:cNvSpPr txBox="1"/>
          <p:nvPr/>
        </p:nvSpPr>
        <p:spPr>
          <a:xfrm>
            <a:off x="2745303" y="8257123"/>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các chuyên gia tại họp báo giới thiệu ProPak Việt Nam 2024 - Triển lãm Quốc tế lần thứ 17 về công nghệ chế biến và đóng gói bao bì tại Việt Nam thì ngành sản xuất bao bì là một trong những lĩnh vực có tốc độ tăng trưởng cao nhất tại Việt Nam, dự kiến tăng trưởng 15 -20% trong giai đoạn tới. Đồng thời, doanh thu bán hàng của doanh nghiệp thuộc phân khúc bao bì nhựa, giấy và carton chiếm tỷ lệ trên 80% tổng doanh thu trên toàn thị trường bao bì.</a:t>
            </a:r>
            <a:endParaRPr lang="en-US" sz="850" dirty="0"/>
          </a:p>
        </p:txBody>
      </p:sp>
      <p:sp>
        <p:nvSpPr>
          <p:cNvPr id="56" name="Text 53"/>
          <p:cNvSpPr txBox="1"/>
          <p:nvPr/>
        </p:nvSpPr>
        <p:spPr>
          <a:xfrm>
            <a:off x="2745303" y="8952616"/>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giấy và carton, theo số liệu của Mordor Intelligence Inc công bố cho thấy thị trường bao bì giấy Việt Nam đạt khoảng 2,6 tỷ USD vào 2024, 2,85 tỷ USD vào 2025, dự đoán đạt 4,54 tỷ USD vào 2030 và CAGR là 9,73% giai đoạn 2025 - 2030. Bao bì giấy giữ vị trí chủ lực trong cơ cấu sản phẩm bao bì nhờ ưu thế thân thiện với môi trường, sử dụng rộng rãi trong trong nhiều ngành công nghiệp khác nhau từ thực phẩm, đồ uống, dược phẩm, thương mại điện tử. Hiện ngành bao bì giấy Việt Nam có khoảng 4.500 doanh nghiệp.Trong đó, phân khúc bột đúc giấy ( molded fiber and pulp) tại Việt Nam dự kiến tăng trưởng vượt trội trong sản xuất bao bì giấy với tốc độ 11,78% giai đoạn 2026 - 2031 (Fig. 25).</a:t>
            </a:r>
            <a:endParaRPr lang="en-US" sz="850" dirty="0"/>
          </a:p>
        </p:txBody>
      </p:sp>
      <p:sp>
        <p:nvSpPr>
          <p:cNvPr id="57" name="Text 54"/>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58" name="Text 55"/>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8</a:t>
            </a:r>
            <a:endParaRPr lang="en-US"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pSp>
        <p:nvGrpSpPr>
          <p:cNvPr id="45" name="Fig. 26 – biểu đồ"/>
          <p:cNvGrpSpPr/>
          <p:nvPr/>
        </p:nvGrpSpPr>
        <p:grpSpPr>
          <a:xfrm>
            <a:off x="211866" y="961492"/>
            <a:ext cx="2389785" cy="676472"/>
            <a:chOff x="211866" y="961492"/>
            <a:chExt cx="2389785" cy="676472"/>
          </a:xfrm>
        </p:grpSpPr>
        <p:sp>
          <p:nvSpPr>
            <p:cNvPr id="5" name="svg0_0"/>
            <p:cNvSpPr txBox="1"/>
            <p:nvPr/>
          </p:nvSpPr>
          <p:spPr>
            <a:xfrm>
              <a:off x="342260" y="968715"/>
              <a:ext cx="112526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Quan tâm bao bì thân thiện MT</a:t>
              </a:r>
              <a:endParaRPr lang="en-US" sz="587" dirty="0"/>
            </a:p>
          </p:txBody>
        </p:sp>
        <p:sp>
          <p:nvSpPr>
            <p:cNvPr id="6" name="svg0_1"/>
            <p:cNvSpPr/>
            <p:nvPr/>
          </p:nvSpPr>
          <p:spPr>
            <a:xfrm>
              <a:off x="1505011" y="981060"/>
              <a:ext cx="863834" cy="70043"/>
            </a:xfrm>
            <a:prstGeom prst="rect">
              <a:avLst/>
            </a:prstGeom>
            <a:solidFill>
              <a:srgbClr val="7B1E2B"/>
            </a:solidFill>
            <a:ln/>
          </p:spPr>
        </p:sp>
        <p:sp>
          <p:nvSpPr>
            <p:cNvPr id="7" name="svg0_2"/>
            <p:cNvSpPr txBox="1"/>
            <p:nvPr/>
          </p:nvSpPr>
          <p:spPr>
            <a:xfrm>
              <a:off x="211866" y="1081552"/>
              <a:ext cx="125391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Sẵn sàng trả cao hơn cho SP "xanh"</a:t>
              </a:r>
              <a:endParaRPr lang="en-US" sz="587" dirty="0"/>
            </a:p>
          </p:txBody>
        </p:sp>
        <p:sp>
          <p:nvSpPr>
            <p:cNvPr id="8" name="svg0_3"/>
            <p:cNvSpPr/>
            <p:nvPr/>
          </p:nvSpPr>
          <p:spPr>
            <a:xfrm>
              <a:off x="1505011" y="1093988"/>
              <a:ext cx="609722" cy="70043"/>
            </a:xfrm>
            <a:prstGeom prst="rect">
              <a:avLst/>
            </a:prstGeom>
            <a:solidFill>
              <a:srgbClr val="7B1E2B"/>
            </a:solidFill>
            <a:ln/>
          </p:spPr>
        </p:sp>
        <p:sp>
          <p:nvSpPr>
            <p:cNvPr id="9" name="svg0_4"/>
            <p:cNvSpPr txBox="1"/>
            <p:nvPr/>
          </p:nvSpPr>
          <p:spPr>
            <a:xfrm>
              <a:off x="477865" y="1194481"/>
              <a:ext cx="98791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Dân số mua sắm trực tuyến</a:t>
              </a:r>
              <a:endParaRPr lang="en-US" sz="587" dirty="0"/>
            </a:p>
          </p:txBody>
        </p:sp>
        <p:sp>
          <p:nvSpPr>
            <p:cNvPr id="10" name="svg0_5"/>
            <p:cNvSpPr/>
            <p:nvPr/>
          </p:nvSpPr>
          <p:spPr>
            <a:xfrm>
              <a:off x="1505011" y="1206825"/>
              <a:ext cx="562722" cy="70043"/>
            </a:xfrm>
            <a:prstGeom prst="rect">
              <a:avLst/>
            </a:prstGeom>
            <a:solidFill>
              <a:srgbClr val="A3A3A3"/>
            </a:solidFill>
            <a:ln/>
          </p:spPr>
        </p:sp>
        <p:sp>
          <p:nvSpPr>
            <p:cNvPr id="11" name="svg0_6"/>
            <p:cNvSpPr txBox="1"/>
            <p:nvPr/>
          </p:nvSpPr>
          <p:spPr>
            <a:xfrm>
              <a:off x="421721" y="1307318"/>
              <a:ext cx="10477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Sẵn sàng trả thêm tối đa 10%</a:t>
              </a:r>
              <a:endParaRPr lang="en-US" sz="587" dirty="0"/>
            </a:p>
          </p:txBody>
        </p:sp>
        <p:sp>
          <p:nvSpPr>
            <p:cNvPr id="12" name="svg0_7"/>
            <p:cNvSpPr/>
            <p:nvPr/>
          </p:nvSpPr>
          <p:spPr>
            <a:xfrm>
              <a:off x="1505011" y="1319754"/>
              <a:ext cx="538307" cy="69952"/>
            </a:xfrm>
            <a:prstGeom prst="rect">
              <a:avLst/>
            </a:prstGeom>
            <a:solidFill>
              <a:srgbClr val="7B1E2B"/>
            </a:solidFill>
            <a:ln/>
          </p:spPr>
        </p:sp>
        <p:sp>
          <p:nvSpPr>
            <p:cNvPr id="13" name="svg0_8"/>
            <p:cNvSpPr txBox="1"/>
            <p:nvPr/>
          </p:nvSpPr>
          <p:spPr>
            <a:xfrm>
              <a:off x="596463" y="1420246"/>
              <a:ext cx="8693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Tăng trưởng TMĐT/năm</a:t>
              </a:r>
              <a:endParaRPr lang="en-US" sz="587" dirty="0"/>
            </a:p>
          </p:txBody>
        </p:sp>
        <p:sp>
          <p:nvSpPr>
            <p:cNvPr id="14" name="svg0_9"/>
            <p:cNvSpPr/>
            <p:nvPr/>
          </p:nvSpPr>
          <p:spPr>
            <a:xfrm>
              <a:off x="1505011" y="1432682"/>
              <a:ext cx="234544" cy="70043"/>
            </a:xfrm>
            <a:prstGeom prst="rect">
              <a:avLst/>
            </a:prstGeom>
            <a:solidFill>
              <a:srgbClr val="A3A3A3"/>
            </a:solidFill>
            <a:ln/>
          </p:spPr>
        </p:sp>
        <p:sp>
          <p:nvSpPr>
            <p:cNvPr id="15" name="svg0_10"/>
            <p:cNvSpPr txBox="1"/>
            <p:nvPr/>
          </p:nvSpPr>
          <p:spPr>
            <a:xfrm>
              <a:off x="457291" y="1533174"/>
              <a:ext cx="100867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Tăng trưởng xuất khẩu 2025</a:t>
              </a:r>
              <a:endParaRPr lang="en-US" sz="587" dirty="0"/>
            </a:p>
          </p:txBody>
        </p:sp>
        <p:sp>
          <p:nvSpPr>
            <p:cNvPr id="16" name="svg0_11"/>
            <p:cNvSpPr/>
            <p:nvPr/>
          </p:nvSpPr>
          <p:spPr>
            <a:xfrm>
              <a:off x="1505011" y="1545519"/>
              <a:ext cx="159654" cy="70043"/>
            </a:xfrm>
            <a:prstGeom prst="rect">
              <a:avLst/>
            </a:prstGeom>
            <a:solidFill>
              <a:srgbClr val="A3A3A3"/>
            </a:solidFill>
            <a:ln/>
          </p:spPr>
        </p:sp>
        <p:sp>
          <p:nvSpPr>
            <p:cNvPr id="17" name="svg0_12"/>
            <p:cNvSpPr/>
            <p:nvPr/>
          </p:nvSpPr>
          <p:spPr>
            <a:xfrm>
              <a:off x="1505011" y="961492"/>
              <a:ext cx="0" cy="674370"/>
            </a:xfrm>
            <a:prstGeom prst="line">
              <a:avLst/>
            </a:prstGeom>
            <a:noFill/>
            <a:ln w="6858">
              <a:solidFill>
                <a:srgbClr val="8C8C8C"/>
              </a:solidFill>
              <a:prstDash val="solid"/>
            </a:ln>
          </p:spPr>
        </p:sp>
        <p:sp>
          <p:nvSpPr>
            <p:cNvPr id="18" name="svg0_13"/>
            <p:cNvSpPr txBox="1"/>
            <p:nvPr/>
          </p:nvSpPr>
          <p:spPr>
            <a:xfrm>
              <a:off x="2393442" y="968715"/>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92,1%</a:t>
              </a:r>
              <a:endParaRPr lang="en-US" sz="587" dirty="0"/>
            </a:p>
          </p:txBody>
        </p:sp>
        <p:sp>
          <p:nvSpPr>
            <p:cNvPr id="19" name="svg0_14"/>
            <p:cNvSpPr txBox="1"/>
            <p:nvPr/>
          </p:nvSpPr>
          <p:spPr>
            <a:xfrm>
              <a:off x="2139239" y="1081552"/>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65,0%</a:t>
              </a:r>
              <a:endParaRPr lang="en-US" sz="587" dirty="0"/>
            </a:p>
          </p:txBody>
        </p:sp>
        <p:sp>
          <p:nvSpPr>
            <p:cNvPr id="20" name="svg0_15"/>
            <p:cNvSpPr txBox="1"/>
            <p:nvPr/>
          </p:nvSpPr>
          <p:spPr>
            <a:xfrm>
              <a:off x="2092056" y="1194481"/>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60,0%</a:t>
              </a:r>
              <a:endParaRPr lang="en-US" sz="587" dirty="0"/>
            </a:p>
          </p:txBody>
        </p:sp>
        <p:sp>
          <p:nvSpPr>
            <p:cNvPr id="21" name="svg0_16"/>
            <p:cNvSpPr txBox="1"/>
            <p:nvPr/>
          </p:nvSpPr>
          <p:spPr>
            <a:xfrm>
              <a:off x="2067458" y="1307318"/>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57,4%</a:t>
              </a:r>
              <a:endParaRPr lang="en-US" sz="587" dirty="0"/>
            </a:p>
          </p:txBody>
        </p:sp>
        <p:sp>
          <p:nvSpPr>
            <p:cNvPr id="22" name="svg0_17"/>
            <p:cNvSpPr txBox="1"/>
            <p:nvPr/>
          </p:nvSpPr>
          <p:spPr>
            <a:xfrm>
              <a:off x="1764243" y="1420246"/>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25,0%</a:t>
              </a:r>
              <a:endParaRPr lang="en-US" sz="587" dirty="0"/>
            </a:p>
          </p:txBody>
        </p:sp>
        <p:sp>
          <p:nvSpPr>
            <p:cNvPr id="23" name="svg0_18"/>
            <p:cNvSpPr txBox="1"/>
            <p:nvPr/>
          </p:nvSpPr>
          <p:spPr>
            <a:xfrm>
              <a:off x="1689537" y="1533174"/>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17,0%</a:t>
              </a:r>
              <a:endParaRPr lang="en-US" sz="587" dirty="0"/>
            </a:p>
          </p:txBody>
        </p:sp>
      </p:grpSp>
      <p:sp>
        <p:nvSpPr>
          <p:cNvPr id="24" name="Text 22"/>
          <p:cNvSpPr txBox="1"/>
          <p:nvPr/>
        </p:nvSpPr>
        <p:spPr>
          <a:xfrm>
            <a:off x="2745303" y="2734879"/>
            <a:ext cx="4409237" cy="1755008"/>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tái chế. Loại bao bì này được làm từ giấy, nhựa, kim loại, thuỷ tinh đã được sử dụng và được đem xử lý, phân loại và tái sử dụng làm bao bì mới. Với thị trường nhựa sinh học Việt Nam đạt kích thước đạt 69,5 triệu USD năm 2024, dự đoán đạt 227,7 triệu USD năm 2033, CAGR đạt 12,6% trong giai đoạn 2025 - 2033.</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có thể tái sử dụng là những bao bì được thu gom, xử lý và sử dụng lại mà không cần tạo hình, chỉnh sửa. Đây là hoạt động mà các doanh nghiệp thường sử dụng để “xanh hoá” bao bì.</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PLA, Cellulose và phụ phẩm nông nghiệp( bao bì làm từ tinh bột - dễ tạo hình và nhanh phân huỷ, thường sử dụng cho ly, hộp thực phẩm, ống hút, màng bọc).</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PHA/ PHB ( bao bì từ vi sinh vật - có khả năng chịu nhiệt tốt, phân huỷ trong đất lẫn trong nước, sử dụng cho y tế, nông nghiệp, thực phẩm đông lạnh).</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en-US" sz="850" dirty="0"/>
          </a:p>
        </p:txBody>
      </p:sp>
      <p:sp>
        <p:nvSpPr>
          <p:cNvPr id="25" name="Text 2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26" name="Text 2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27" name="Text 2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Người tiêu dùng ưu tiên bao bì xanh nhưng chỉ chấp nhận trả thêm ít</a:t>
            </a:r>
            <a:endParaRPr lang="en-US" sz="720" dirty="0"/>
          </a:p>
        </p:txBody>
      </p:sp>
      <p:sp>
        <p:nvSpPr>
          <p:cNvPr id="28" name="Text 26"/>
          <p:cNvSpPr txBox="1"/>
          <p:nvPr/>
        </p:nvSpPr>
        <p:spPr>
          <a:xfrm>
            <a:off x="405354" y="8262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a:t>
            </a:r>
            <a:endParaRPr lang="en-US" sz="630" dirty="0"/>
          </a:p>
        </p:txBody>
      </p:sp>
      <p:sp>
        <p:nvSpPr>
          <p:cNvPr id="29" name="Text 27"/>
          <p:cNvSpPr txBox="1"/>
          <p:nvPr/>
        </p:nvSpPr>
        <p:spPr>
          <a:xfrm>
            <a:off x="405354" y="173516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Vietnam Report (2024); Nielsen Việt Nam; PwC (2024); số liệu TMĐT, xuất khẩu trong bài của nhóm</a:t>
            </a:r>
            <a:endParaRPr lang="en-US" sz="600" dirty="0"/>
          </a:p>
        </p:txBody>
      </p:sp>
      <p:sp>
        <p:nvSpPr>
          <p:cNvPr id="30" name="Text 28"/>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nhựa, theo báo cáo của VPAS, ngành nhựa bao bì chiếm 39% tỷ trọng toàn ngành công nghệ nhựa tại việt Nam. Thị trường bao bì nhựa Việt nam tăng từ 10,07 triệu tấn năm 2023 lên 15,09 triệu tấn năm 2028, với CAGR khoảng 8,44%. Bao bì nhựa vẫn chiếm tỷ trọng đáng kể trong ngành thực phẩm do khả năng bảo quản vượt trội, giá rẻ, nhu cầu tiêu thụ đồ ăn tiện lợi bùng nổ (bảng các nhóm sản phẩm nhựa ở Fig. A03).</a:t>
            </a:r>
            <a:endParaRPr lang="en-US" sz="850" dirty="0"/>
          </a:p>
        </p:txBody>
      </p:sp>
      <p:sp>
        <p:nvSpPr>
          <p:cNvPr id="31" name="Text 29"/>
          <p:cNvSpPr txBox="1"/>
          <p:nvPr/>
        </p:nvSpPr>
        <p:spPr>
          <a:xfrm>
            <a:off x="2745303" y="1253551"/>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hộp kim loại Việt nam đạt 2,11 tỷ USD vào 2024, dự kiến đạt 2,45 tỷ USD vào 2029, tốc độ tăng trưởng CAGR là 3,07% trong giai đoạn 2024 -2029.</a:t>
            </a:r>
            <a:endParaRPr lang="en-US" sz="850" dirty="0"/>
          </a:p>
        </p:txBody>
      </p:sp>
      <p:sp>
        <p:nvSpPr>
          <p:cNvPr id="32" name="Text 30"/>
          <p:cNvSpPr txBox="1"/>
          <p:nvPr/>
        </p:nvSpPr>
        <p:spPr>
          <a:xfrm>
            <a:off x="2745303" y="1554389"/>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3.2.1.1. Ngành bao bì xanh tại Việt Nam</a:t>
            </a:r>
            <a:endParaRPr lang="en-US" sz="820" dirty="0"/>
          </a:p>
        </p:txBody>
      </p:sp>
      <p:sp>
        <p:nvSpPr>
          <p:cNvPr id="33" name="Text 31"/>
          <p:cNvSpPr txBox="1"/>
          <p:nvPr/>
        </p:nvSpPr>
        <p:spPr>
          <a:xfrm>
            <a:off x="2745303" y="1700967"/>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xanh là một trong những bộ phận có sự chuyển dịch mang tính chiến lược và bền vững trong tổng thể ngành bao bì Việt Nam khi đặt trong bối cảnh nhu cầu chuyển đổi sang các vật liệu thân thiện với môi trường ngày càng mạnh mẽ.</a:t>
            </a:r>
            <a:endParaRPr lang="en-US" sz="850" dirty="0"/>
          </a:p>
        </p:txBody>
      </p:sp>
      <p:sp>
        <p:nvSpPr>
          <p:cNvPr id="34" name="Text 32"/>
          <p:cNvSpPr txBox="1"/>
          <p:nvPr/>
        </p:nvSpPr>
        <p:spPr>
          <a:xfrm>
            <a:off x="2745303" y="2133295"/>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năm 2034, tốc độ tăng trưởng kép hằng năm ( CAGR) là 4,15% trong giai đoạn 2026 - 2034 và có xu hướng tăng trưởng dài hạn.</a:t>
            </a:r>
            <a:endParaRPr lang="en-US" sz="850" dirty="0"/>
          </a:p>
        </p:txBody>
      </p:sp>
      <p:sp>
        <p:nvSpPr>
          <p:cNvPr id="35" name="Text 33"/>
          <p:cNvSpPr txBox="1"/>
          <p:nvPr/>
        </p:nvSpPr>
        <p:spPr>
          <a:xfrm>
            <a:off x="2745303" y="2565624"/>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bao bì xanh được chia thành các nhân tố như sau:</a:t>
            </a:r>
            <a:endParaRPr lang="en-US" sz="850" dirty="0"/>
          </a:p>
        </p:txBody>
      </p:sp>
      <p:sp>
        <p:nvSpPr>
          <p:cNvPr id="36" name="Text 34"/>
          <p:cNvSpPr txBox="1"/>
          <p:nvPr/>
        </p:nvSpPr>
        <p:spPr>
          <a:xfrm>
            <a:off x="2745303" y="4541916"/>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thống kê từ IMARC Group quy mô thị trường bao bì vật liệu sinh học phân huỷ hoàn toàn đạt 1.129,79 triệu USD vào năm 2025. Dự kiến đạt 1.628,64 triệu USD năm 2034, tốc độ tăng trưởng kép hằng năm ( CAGR) là 4,15% trong giai đoạn 2026 - 2034 và có xu hướng tăng trưởng dài hạn.</a:t>
            </a:r>
            <a:endParaRPr lang="en-US" sz="850" dirty="0"/>
          </a:p>
        </p:txBody>
      </p:sp>
      <p:sp>
        <p:nvSpPr>
          <p:cNvPr id="37" name="Text 35"/>
          <p:cNvSpPr txBox="1"/>
          <p:nvPr/>
        </p:nvSpPr>
        <p:spPr>
          <a:xfrm>
            <a:off x="2745303" y="4974245"/>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Bao bì xanh được ứng dụng trong hầu hết các ngành sản xuất và kinh doanh như ngành công nghiệp thực phẩm, đồ uống, y tế, chăm sóc sức khoẻ và điện tử.</a:t>
            </a:r>
            <a:endParaRPr lang="en-US" sz="850" dirty="0"/>
          </a:p>
        </p:txBody>
      </p:sp>
      <p:sp>
        <p:nvSpPr>
          <p:cNvPr id="38" name="Text 36"/>
          <p:cNvSpPr txBox="1"/>
          <p:nvPr/>
        </p:nvSpPr>
        <p:spPr>
          <a:xfrm>
            <a:off x="2745303" y="5275082"/>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3.2.2. Động lực tăng trưởng chính</a:t>
            </a:r>
            <a:endParaRPr lang="en-US" sz="820" dirty="0"/>
          </a:p>
        </p:txBody>
      </p:sp>
      <p:sp>
        <p:nvSpPr>
          <p:cNvPr id="39" name="Text 37"/>
          <p:cNvSpPr txBox="1"/>
          <p:nvPr/>
        </p:nvSpPr>
        <p:spPr>
          <a:xfrm>
            <a:off x="2745303" y="5421660"/>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công nghiệp bao bì xanh của Việt Nam đang được các chuyên gia và nhà đầu tư kỳ vọng sẽ tăng trưởng mạnh do được thúc đẩy bởi các động lực rõ ràng như sau:</a:t>
            </a:r>
            <a:endParaRPr lang="en-US" sz="850" dirty="0"/>
          </a:p>
        </p:txBody>
      </p:sp>
      <p:sp>
        <p:nvSpPr>
          <p:cNvPr id="40" name="Text 38"/>
          <p:cNvSpPr txBox="1"/>
          <p:nvPr/>
        </p:nvSpPr>
        <p:spPr>
          <a:xfrm>
            <a:off x="2745303" y="5722407"/>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đầu tiên là do sự thay đổi trong hành vi người tiêu dùng. Do sự phát triển nhanh chóng của thị trường Việt Nam, khi GDP tăng, thu nhập bình quân đầu người tăng, mức sống tăng đã thúc đẩy các nhu cầu tiêu thụ đối với sản phẩm thực phẩm và đồ uống đóng gói, dược phẩm, sản phẩm, hàng hoá đã thúc đẩy nhu cầu về các giải pháp đóng gói và bao bì. Bên cạnh đó, sự chú ý tới hoạt động bảo vệ môi trường đã tác động đến người tiêu dùng bắt đầu tìm kiếm và sử dụng các sản phẩm có bao bì thân thiện với môi trường khi dựa theo khảo sát của Vietnam Report 2024 có 92,1% người tiêu dùng quan tâm đến tính thân thiện môi trường của bao bì và theo khảo sát của Nielsen Việt Nam cho thấy 65% người tiêu dùng sẵn sàng chi trả cao hơn cho các sản phẩm có “tính xanh”, bền vững. Yếu tố này tác động gián tiếp đến AgriPack: người tiêu dùng của các doanh nghiệp chuyển sang ưa thích các dòng bao bì xanh thì buộc nhà sản xuất ( các doanh nghiệp F&amp;B, doanh nghiệp linh kiện điện tử) phải chuyển đổi dần sang nhà cung cấp bao bì xanh (Fig. 26).</a:t>
            </a:r>
            <a:endParaRPr lang="en-US" sz="850" dirty="0"/>
          </a:p>
        </p:txBody>
      </p:sp>
      <p:sp>
        <p:nvSpPr>
          <p:cNvPr id="41" name="Text 39"/>
          <p:cNvSpPr txBox="1"/>
          <p:nvPr/>
        </p:nvSpPr>
        <p:spPr>
          <a:xfrm>
            <a:off x="2745303" y="7207301"/>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hai là do sự bùng nổ của thương mại điện tử . Thị trường thương mại điện tử Việt Nam đang tăng trưởng mạnh mẽ kể từ giai đoạn 2021 - 2024, tăng trưởng đạt 18%/ năm, năm 2024 ghi nhận xếp hạng thứ ba về quy mô thị trường ở khu vực Đông Nam Á với doanh thu đạt 38,5 tỷ USD vào 2025 với khoảng 60% dân số tham gia mua sắm trực tuyến, tốc độ tăng trưởng trung bình của ngành này là 25%/ năm.Thị trường thương mại điện tử đang trở thành một loại hình bán lẻ quan trọng tại Việt Nam, điều này dẫn đến nhu cầu lớn hơn về bao bì vận chuyển, bao bì đẹp để thu hút khách hàng.</a:t>
            </a:r>
            <a:endParaRPr lang="en-US" sz="850" dirty="0"/>
          </a:p>
        </p:txBody>
      </p:sp>
      <p:sp>
        <p:nvSpPr>
          <p:cNvPr id="42" name="Text 40"/>
          <p:cNvSpPr txBox="1"/>
          <p:nvPr/>
        </p:nvSpPr>
        <p:spPr>
          <a:xfrm>
            <a:off x="2745303" y="8165866"/>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ba, yêu cầu chuỗi cung ứng xanh hoá từ xuất khẩu và FDI. Hoạt động xuất khẩu của Việt Nam năm 2024 đạt 405,94 tỷ USD, năm 2025 đạt 475,04 tỷ USD và khối doanh nghiệp FDI đóng vai trò chủ đạo với tỷ trọng 80% tổng kim ngạch xuất khẩu hàng hoá cả nước.Ngành bao bì là ngành công nghiệp hỗ trợ trực tiếp cho các lĩnh vực như dệt may, da giày, thuỷ sản, linh kiện điện tử, nông sản - những ngành xuất khẩu chủ lực của Việt Nam. Các doanh nghiệp FDI đầu tư vào Việt Nam và các doanh nghiệp Việt cũng đầu tư vào bao bì xanh để đáp ứng yêu cầu cao về môi trường tại các thị trường có tiêu chuẩn cao như EU, Mỹ, Nhật Bản.</a:t>
            </a:r>
            <a:endParaRPr lang="en-US" sz="850" dirty="0"/>
          </a:p>
        </p:txBody>
      </p:sp>
      <p:sp>
        <p:nvSpPr>
          <p:cNvPr id="43" name="Text 41"/>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4" name="Text 42"/>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9</a:t>
            </a:r>
            <a:endParaRPr lang="en-US"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734355"/>
                <a:gridCol w="475031"/>
                <a:gridCol w="950610"/>
              </a:tblGrid>
              <a:tr h="230429">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Lực lượng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Mức độ (nhóm)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Phản ánh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Cạnh tranh nội bộ ngành</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bán tăng 2%/năm (&lt; CPI)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Rào cản gia nhập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CAPEX 65% DT năm 2027 để đạt quy mô công nghiệp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Nhà cung cấp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 biến đổi 25,0% → 27,0%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Khách hàng (B2B)</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Rất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DSO 14 → 30 ngày; giá bám đối thủ</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Sản phẩm thay thế (2026–2030)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Kịch bản Bear: sản lượng 70% Base</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8" name="Text 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Sức mạnh khách hàng và sản phẩm thay thế là hai lực lượng mạnh nhất</a:t>
            </a:r>
            <a:endParaRPr lang="en-US" sz="720" dirty="0"/>
          </a:p>
        </p:txBody>
      </p:sp>
      <p:sp>
        <p:nvSpPr>
          <p:cNvPr id="9" name="Text 6"/>
          <p:cNvSpPr txBox="1"/>
          <p:nvPr/>
        </p:nvSpPr>
        <p:spPr>
          <a:xfrm>
            <a:off x="405354" y="234260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Đánh giá mức độ: bài của nhóm (Mục 3.2.3); cột cuối: cách phản ánh trong mô hình</a:t>
            </a:r>
            <a:endParaRPr lang="en-US" sz="600" dirty="0"/>
          </a:p>
        </p:txBody>
      </p:sp>
      <p:sp>
        <p:nvSpPr>
          <p:cNvPr id="10" name="Text 7"/>
          <p:cNvSpPr txBox="1"/>
          <p:nvPr/>
        </p:nvSpPr>
        <p:spPr>
          <a:xfrm>
            <a:off x="2745303" y="558058"/>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tư, Chính sách EPR, ESG, Luật Bảo vệ Môi trường 2020 và cam kết Net Zero trước 2050 của nhà nước đề ra đã được cụ thể hoá và chuyển đổi dần. Đây là yếu tố trực tiếp thúc đẩy ngành bao bì xanh phát triển do việc chuyển đổi xanh - bảo vệ môi trường EPR làm tăng chi phí dùng bao bì nhựa của khách hàng, từ đó tạo động lực chuyển đổi sang bao bì xanh . Hiện nay, Việt nam đã triển khai các cơ chế trách nhiệm mở rộng của nhà sản xuất ( EPR), do đó, ngành bao bì cũng cần chịu trách nhiệm tái chế hoặc giảm sử dụng bao bì kém thân thiện với môi trường. Nghị định 110/2026/NĐ-CP đã tiếp tục cụ thể hóa trách nhiệm tái chế sản phẩm, bao bì, trách nhiệm xử lý chất thải công nghiệp. Các quy định của chính phủ đã tạo áp lực khiến các doanh nghiệp chuyển đổi sang vật liệu bao bì thân thiện với môi trường.</a:t>
            </a:r>
            <a:endParaRPr lang="en-US" sz="850" dirty="0"/>
          </a:p>
        </p:txBody>
      </p:sp>
      <p:sp>
        <p:nvSpPr>
          <p:cNvPr id="11" name="Text 8"/>
          <p:cNvSpPr txBox="1"/>
          <p:nvPr/>
        </p:nvSpPr>
        <p:spPr>
          <a:xfrm>
            <a:off x="2745303" y="1779880"/>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năm, sự đột phá trong công nghệ sản xuất bao bì xanh. Hiện nay, đã có nhiều sự phát triển trong hoạt động xử lý và tách chiết vật liệu xanh hoá ( vật liệu nhựa sinh học từ bã cà phê, bao bì sinh học từ vỏ trái cây, nhựa sinh học PLA, nhựa sinh học từ tinh bột PHA/PHB), công nghệ ép khuôn (gia công ướt/ khô polyme từ vỏ giáp xác, ép khuôn bột bã mía, ép khuôn nhiệt ướt - wet press thermoforming), chống thấm ẩm mốc và tăng độ dẻo dai , lớp màng sản phẩm( lớp chống dầu/ nước không chưa PAFS, sử dụng vỏ trứng để tăng độ bền, màng nhựa từ bột sắn, BioResin, BioFilm,...).Việt Nam là một quốc gia nông nghiệp, phụ phẩm từ quá trình sản xuất nông nghiệp là rất lớn, do đó, sự đột phá trong công nghệ sản xuất bao bì từ phụ phẩm nông nghiệp đã được tái sử dụng và gia tăng vòng đời.</a:t>
            </a:r>
            <a:endParaRPr lang="en-US" sz="850" dirty="0"/>
          </a:p>
        </p:txBody>
      </p:sp>
      <p:sp>
        <p:nvSpPr>
          <p:cNvPr id="12" name="Text 9"/>
          <p:cNvSpPr txBox="1"/>
          <p:nvPr/>
        </p:nvSpPr>
        <p:spPr>
          <a:xfrm>
            <a:off x="2745303" y="3001609"/>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Chuyển đổi xanh trên thị trường bao bì đã không còn là sự lựa chọn mà đã trở thành yêu cầu bắt buộc với doanh nghiệp ngành bao bì.</a:t>
            </a:r>
            <a:endParaRPr lang="en-US" sz="850" dirty="0"/>
          </a:p>
        </p:txBody>
      </p:sp>
      <p:sp>
        <p:nvSpPr>
          <p:cNvPr id="13" name="Text 10"/>
          <p:cNvSpPr txBox="1"/>
          <p:nvPr/>
        </p:nvSpPr>
        <p:spPr>
          <a:xfrm>
            <a:off x="2745303" y="330235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3.2.3. Môi trường cạnh tranh</a:t>
            </a:r>
            <a:endParaRPr lang="en-US" sz="820" dirty="0"/>
          </a:p>
        </p:txBody>
      </p:sp>
      <p:sp>
        <p:nvSpPr>
          <p:cNvPr id="14" name="Text 11"/>
          <p:cNvSpPr txBox="1"/>
          <p:nvPr/>
        </p:nvSpPr>
        <p:spPr>
          <a:xfrm>
            <a:off x="2745303" y="3448934"/>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Dựa trên lý thuyết 5 lực lượng cạnh tranh của Porter, tổng quan về mức độ cạnh tranh của ngành bao bì xanh như sau: (Fig. 27)</a:t>
            </a:r>
            <a:endParaRPr lang="en-US" sz="850" dirty="0"/>
          </a:p>
        </p:txBody>
      </p:sp>
      <p:sp>
        <p:nvSpPr>
          <p:cNvPr id="15" name="Text 12"/>
          <p:cNvSpPr txBox="1"/>
          <p:nvPr/>
        </p:nvSpPr>
        <p:spPr>
          <a:xfrm>
            <a:off x="2745303" y="3749680"/>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Cạnh tranh trong nội bộ ngành bao bì xanh ở mức độ cao. Ngành bao bì xanh cũng cạnh tranh cao ở các phân khúc chất liệu sản phẩm ( giấy, nhựa tái chế, nhựa sinh học, chất liệu phân huỷ sinh học). Và số doanh nghiệp tham gia thị trường này ngày càng tăng nhanh: một số doanh nghiệp lớn như An Phát Holdings ( AnEco - tiên phong về nhựa sinh học phân huỷ), Hapbio ( bao bì sinh học với chất liệu từ tinh bột ngô sắn); các doanh nghiệp khởi nghiệp sáng tạo tận dụng phụ phẩm nông nghiệp như BioWarps, Thành Long, cùng các nghiên cứu từ các trường đại học như Đại học Nguyễn Tất Thành. Cạnh tranh nội bộ ngành cao bởi một số doanh nghiệp lớn đã có kinh nghiệm lâu năm, quy mô sản xuất lớn, khách hàng doanh nghiệp (B2B) yêu cầu chất lượng ổn định, khả năng đầu tư vào công nghệ sản xuất và R&amp;D cao, tuy nhiên yếu tố giá vẫn là một trong những yếu tố cạnh tranh quan trọng.</a:t>
            </a:r>
            <a:endParaRPr lang="en-US" sz="850" dirty="0"/>
          </a:p>
        </p:txBody>
      </p:sp>
      <p:sp>
        <p:nvSpPr>
          <p:cNvPr id="16" name="Text 13"/>
          <p:cNvSpPr txBox="1"/>
          <p:nvPr/>
        </p:nvSpPr>
        <p:spPr>
          <a:xfrm>
            <a:off x="2745303" y="5102992"/>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Rào cản gia nhập ở mức trung bình cao. Hiện tại, Chính Phủ đang khuyến khích các doanh nghiệp khởi nghiệp gia nhập ngành bao bì xanh thông qua các chính sách khuyến khích. Tuy nhiên, ngành bao bì xanh yêu cầu đầu tư nghiên cứu R&amp;D rất cao để đạt yêu cầu - đây là rào cản khá cao, vốn đầu tư lớn do cần xây dựng dây chuyền sản xuất, chứng chỉ xanh. Ở mức quy mô nhỏ, các doanh nghiệp khởi nghiệp có thể bắt đầu với thiết kế bao bì, thương mại, gia công và cung cấp giải pháp cho doanh nghiệp nhỏ - rào cản lúc này ở mức trung bình. Nhưng trong trường hợp doanh nghiệp tự sản xuất ở quy mô công nghiệp cao thì rào cản tương đối lớn do cần đầu tư vào dây chuyền sản xuất, máy móc, nhà xưởng, kiểm soát chất lượng, nguyên liệu, giấy chứng nhận sản phẩm, giấy sở hữu trí tuệ, hệ thống khách hàng. Do đó, rào cản gia nhập thấp hơn ở các doanh nghiệp nhỏ nhưng cao hơn ở tầng sản xuất quy mô lớn.</a:t>
            </a:r>
            <a:endParaRPr lang="en-US" sz="850" dirty="0"/>
          </a:p>
        </p:txBody>
      </p:sp>
      <p:sp>
        <p:nvSpPr>
          <p:cNvPr id="17" name="Text 14"/>
          <p:cNvSpPr txBox="1"/>
          <p:nvPr/>
        </p:nvSpPr>
        <p:spPr>
          <a:xfrm>
            <a:off x="2745303" y="6456304"/>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Sự ảnh hưởng của nhà cung cấp ở mức trung bình. Nguyên liệu của ngành bao bì xanh - nếu đến từ nguyên liệu giấy tái chế hoặc các vật liệu nhựa sinh học thì sẽ bị phụ thuộc vào các nhà máy lớn, các bên phân phối, sản xuất các chất liệu này làm gia tăng rủi ro về giá và nguồn cung; nếu nguyên liệu đến từ phế phẩm nông nghiệp ( tre, bã mía, vỏ trấu,..) thì sức ảnh hưởng sẽ thấp hơn do Việt Nam là quốc gia nông nghiệp, nguồn nguyên liệu tại địa phương còn rất nhiều nên rủi ro về giá và nguồn cung sẽ thấp hơn, bên cạnh đó doanh nghiệp hoạt động trong lĩnh vực sản xuất bao bì vật liệu sinh học dễ phân huỷ thì cần thiết xây dựng quan hệ hợp tác dài hạn với các nông trại, nhà cung cấp tại địa phương ( nhà máy sản xuất thực phẩm) hoặc các đơn vị thu gom.</a:t>
            </a:r>
            <a:endParaRPr lang="en-US" sz="850" dirty="0"/>
          </a:p>
        </p:txBody>
      </p:sp>
      <p:sp>
        <p:nvSpPr>
          <p:cNvPr id="18" name="Text 15"/>
          <p:cNvSpPr txBox="1"/>
          <p:nvPr/>
        </p:nvSpPr>
        <p:spPr>
          <a:xfrm>
            <a:off x="2745303" y="7546452"/>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Sức mạnh của khách hàng trong ngành bao bì xanh là rất cao. Do ngành bao bì hoạt động kinh doanh theo mô hình B2B ( Business to Business), khách hàng thường là các doanh nghiệp sản xuất. Các khách hàng doanh nghiệp có nhiều lựa chọn từ bao bì giấy, nhựa, carton, các loại bao bì khác, có tính linh hoạt cao và chi phí rẻ hơn và nhiều ứng dụng hơn. Do vậy, khách hàng có nhiều khả năng gây sức ép về giá, yêu cầu về chất lượng, thời gian giao hàng, số lượng sản phẩm, khả năng cung cấp ổn định.</a:t>
            </a:r>
            <a:endParaRPr lang="en-US" sz="850" dirty="0"/>
          </a:p>
        </p:txBody>
      </p:sp>
      <p:sp>
        <p:nvSpPr>
          <p:cNvPr id="19" name="Text 16"/>
          <p:cNvSpPr txBox="1"/>
          <p:nvPr/>
        </p:nvSpPr>
        <p:spPr>
          <a:xfrm>
            <a:off x="2745303" y="8373527"/>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Sản phẩm thay thế có mức ảnh hưởng là cao trong giai đoạn 2026 -2030. Bao bì truyền thống ( nhựa, giấy, kim loại, carton ) đặc trưng là giá rẻ, đa dạng, dễ dàng sản xuất và thời gian nghiên cứu, sản xuất nhanh chóng, trong khi bao bì xanh có chi phí sản xuất cao, công nghệ mới khiến giá thành cao hơn, nhiều sản phẩm bao bì không đáp ứng đủ về mức độ cơ học, mức độ chịu nhiệt và độ bền và lượng cung ứng. Tuy nhiên, áp lực này có xu hướng thay đổi giảm xuống theo thời gian, do xu hướng chuyển dịch “xanh hoá” với các quy định cụ thể của Nhà nước và xã hội để giảm rác thải nhựa - bao bì nhựa dùng một lần.</a:t>
            </a:r>
            <a:endParaRPr lang="en-US" sz="850" dirty="0"/>
          </a:p>
        </p:txBody>
      </p:sp>
      <p:sp>
        <p:nvSpPr>
          <p:cNvPr id="20" name="Text 17"/>
          <p:cNvSpPr txBox="1"/>
          <p:nvPr/>
        </p:nvSpPr>
        <p:spPr>
          <a:xfrm>
            <a:off x="2745303" y="9332092"/>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3.2.4. Đối thủ cạnh tranh</a:t>
            </a:r>
            <a:endParaRPr lang="en-US" sz="820" dirty="0"/>
          </a:p>
        </p:txBody>
      </p:sp>
      <p:sp>
        <p:nvSpPr>
          <p:cNvPr id="21" name="Text 18"/>
          <p:cNvSpPr txBox="1"/>
          <p:nvPr/>
        </p:nvSpPr>
        <p:spPr>
          <a:xfrm>
            <a:off x="2745303" y="9478670"/>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Một số đối thủ cạnh tranh trực tiếp trong ngành bao bì xanh (Fig. A04)</a:t>
            </a:r>
            <a:endParaRPr lang="en-US" sz="850" dirty="0"/>
          </a:p>
        </p:txBody>
      </p:sp>
      <p:sp>
        <p:nvSpPr>
          <p:cNvPr id="22" name="Text 19"/>
          <p:cNvSpPr txBox="1"/>
          <p:nvPr/>
        </p:nvSpPr>
        <p:spPr>
          <a:xfrm>
            <a:off x="2745303" y="9647926"/>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mặt với hai đối thủ lớn. Nhóm thứ nhất là các doanh nghiệp nội địa có quy mô lớn như AnEco và Tetra Pak - những doanh nghiệp có lợi thế về vốn, công suất, hệ thống sản xuất và hệ thống khách hàng, được công nhận trên thị trường. Nhóm thứ hai là các doanh nghiệp khởi nghiệp trong cùng lĩnh vực bao bì xanh như BioWaps, AIRX Coffee - đều là những doanh nghiệp có định hướng sử dụng phụ phẩm nông nghiệp thành vật liệu xanh.</a:t>
            </a:r>
            <a:endParaRPr lang="en-US" sz="850" dirty="0"/>
          </a:p>
        </p:txBody>
      </p:sp>
      <p:sp>
        <p:nvSpPr>
          <p:cNvPr id="23" name="Text 20"/>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4" name="Text 21"/>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10</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1511960"/>
                <a:gridCol w="64803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Sản phẩm thay thế</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Áp lực</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truyền thống, hộp xốp dùng một lần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Rất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Giấy, carton, kraf (giấy từ gỗ mềm)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sinh học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(PLA, PHA)</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tái chế</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 rPET, PCR)</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Bioplastic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(PLA/ PBAT, nhựa phối trộn với nguyên liệu sinh học)</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Bao bì vật liệu sinh học ( bã cà phê,trấu, rơm rạ, vỏ dừa,...)</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xốp bảo vệ (EPE/ PE Foam)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xốp sinh học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(từ sợi nấm, tinh bột)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giấy tổ ong/ giấy nhún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8" name="Text 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en-US" sz="720" dirty="0"/>
          </a:p>
        </p:txBody>
      </p:sp>
      <p:sp>
        <p:nvSpPr>
          <p:cNvPr id="9" name="Text 6"/>
          <p:cNvSpPr txBox="1"/>
          <p:nvPr/>
        </p:nvSpPr>
        <p:spPr>
          <a:xfrm>
            <a:off x="405354" y="278105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3.2.6); ưu, nhược điểm chi tiết ở Fig. A05</a:t>
            </a:r>
            <a:endParaRPr lang="en-US" sz="600" dirty="0"/>
          </a:p>
        </p:txBody>
      </p:sp>
      <p:sp>
        <p:nvSpPr>
          <p:cNvPr id="10" name="Text 7"/>
          <p:cNvSpPr txBox="1"/>
          <p:nvPr/>
        </p:nvSpPr>
        <p:spPr>
          <a:xfrm>
            <a:off x="2745303" y="55805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3.2.5. Rào cản gia nhập</a:t>
            </a:r>
            <a:endParaRPr lang="en-US" sz="820" dirty="0"/>
          </a:p>
        </p:txBody>
      </p:sp>
      <p:sp>
        <p:nvSpPr>
          <p:cNvPr id="11" name="Text 8"/>
          <p:cNvSpPr txBox="1"/>
          <p:nvPr/>
        </p:nvSpPr>
        <p:spPr>
          <a:xfrm>
            <a:off x="2745303" y="704637"/>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sản xuất bao bì xanh có một số rào cản gia nhập rõ ràng như sau:</a:t>
            </a:r>
            <a:endParaRPr lang="en-US" sz="850" dirty="0"/>
          </a:p>
        </p:txBody>
      </p:sp>
      <p:sp>
        <p:nvSpPr>
          <p:cNvPr id="12" name="Text 9"/>
          <p:cNvSpPr txBox="1"/>
          <p:nvPr/>
        </p:nvSpPr>
        <p:spPr>
          <a:xfrm>
            <a:off x="2745303" y="873892"/>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 chuẩn hoá nguyên liệu, máy móc tạo hình, máy sấy nhiệt, hệ thống kiểm tra chất lượng, khuôn, màng lọc theo từng sản phẩm được đặt hàng. Với khách hàng doanh nghiệp ( B2B) còn phải có khả năng duy trì sản lượng ổn định. Do đó, vốn đầu tư ban đầu và vốn lưu động là rào cản lớn, đặc biệt trong giai đoạn startup.</a:t>
            </a:r>
            <a:endParaRPr lang="en-US" sz="850" dirty="0"/>
          </a:p>
        </p:txBody>
      </p:sp>
      <p:sp>
        <p:nvSpPr>
          <p:cNvPr id="13" name="Text 10"/>
          <p:cNvSpPr txBox="1"/>
          <p:nvPr/>
        </p:nvSpPr>
        <p:spPr>
          <a:xfrm>
            <a:off x="2745303" y="1569476"/>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Phụ phẩm nông nghiệp có tính chất không đồng nhất, độ ẩm, thành phần có thể thay đổi theo mùa vụ, nguồn cung và quá trình xử lý. Vì vậy, doanh nghiệp phải nghiên cứu, thử nghiệm lâu dài, chuẩn bị các công nghệ, cách dây chuyền xử lý và chuẩn hoá nguyên liệu trước khi tạo hình, điều này yêu cầu hệ thống xử lý và phân loại có công nghệ cao.</a:t>
            </a:r>
            <a:endParaRPr lang="en-US" sz="850" dirty="0"/>
          </a:p>
        </p:txBody>
      </p:sp>
      <p:sp>
        <p:nvSpPr>
          <p:cNvPr id="14" name="Text 11"/>
          <p:cNvSpPr txBox="1"/>
          <p:nvPr/>
        </p:nvSpPr>
        <p:spPr>
          <a:xfrm>
            <a:off x="2745303" y="2264877"/>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sản phẩm của AgriPack, thì sản phẩm hộp/ khay F&amp;B phải đồng thời đáp ứng độ bền, độ chống thấm mốc, kích thước, khả năng chịu được thực phẩm và độ ổn định.</a:t>
            </a:r>
            <a:endParaRPr lang="en-US" sz="850" dirty="0"/>
          </a:p>
        </p:txBody>
      </p:sp>
      <p:sp>
        <p:nvSpPr>
          <p:cNvPr id="15" name="Text 12"/>
          <p:cNvSpPr txBox="1"/>
          <p:nvPr/>
        </p:nvSpPr>
        <p:spPr>
          <a:xfrm>
            <a:off x="2745303" y="2565624"/>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ba là rào cản về chất lượng sản phẩm. Bao bì xanh không chỉ được yêu cầu làm từ vật liệu tự nhiên mà còn cần phải đáp ứng các tiêu chuẩn về an toàn khi đựng thực phẩm, có kích thước chính xác, chịu được quá trình vận chuyển, duy trì chất lượng ổn định. Điều này đặc biệt quan trọng với bao bì xanh trong ngành F&amp;B khi thực phẩm tiếp xúc trực tiếp với bao bì, các tiêu chuẩn về đảm bảo an toàn thực phẩm sẽ cao hơn và làm tăng yêu cầu kiểm nghiệm, tiêu chuẩn cao hơn về sản phẩm bao bì. Điển hình là doanh nghiệp HAPIBO đã có chứng nhận quốc tế như BPI và OK compost home/ industrial giúp doanh nghiệp có thể cung cấp sản phẩm bao bì tự phân huỷ tới cả các thị trường khó tính như Mỹ và Châu Âu. Bên cạnh các tiêu chuẩn về tính sinh học, phân huỷ trên còn có các tiêu chuẩn bao bì an toàn thực phẩm như FDA, BRC/IOP, ISO 9001:2026, VSATTP, … . Hoạt động chứng nhận sản phẩm thoả mãn các điều kiện trên là một rào cản thực tế đối với doanh nghiệp Startup.</a:t>
            </a:r>
            <a:endParaRPr lang="en-US" sz="850" dirty="0"/>
          </a:p>
        </p:txBody>
      </p:sp>
      <p:sp>
        <p:nvSpPr>
          <p:cNvPr id="16" name="Text 13"/>
          <p:cNvSpPr txBox="1"/>
          <p:nvPr/>
        </p:nvSpPr>
        <p:spPr>
          <a:xfrm>
            <a:off x="2745303" y="405051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tư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en-US" sz="850" dirty="0"/>
          </a:p>
        </p:txBody>
      </p:sp>
      <p:sp>
        <p:nvSpPr>
          <p:cNvPr id="17" name="Text 14"/>
          <p:cNvSpPr txBox="1"/>
          <p:nvPr/>
        </p:nvSpPr>
        <p:spPr>
          <a:xfrm>
            <a:off x="2745303" y="4746010"/>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en-US" sz="850" dirty="0"/>
          </a:p>
        </p:txBody>
      </p:sp>
      <p:sp>
        <p:nvSpPr>
          <p:cNvPr id="18" name="Text 15"/>
          <p:cNvSpPr txBox="1"/>
          <p:nvPr/>
        </p:nvSpPr>
        <p:spPr>
          <a:xfrm>
            <a:off x="2745303" y="5178339"/>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3.2.6. Sản phẩm thay thế</a:t>
            </a:r>
            <a:endParaRPr lang="en-US" sz="820" dirty="0"/>
          </a:p>
        </p:txBody>
      </p:sp>
      <p:sp>
        <p:nvSpPr>
          <p:cNvPr id="19" name="Text 16"/>
          <p:cNvSpPr txBox="1"/>
          <p:nvPr/>
        </p:nvSpPr>
        <p:spPr>
          <a:xfrm>
            <a:off x="2745303" y="5324917"/>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xanh Việt Nam trong ngành F&amp;B, FCGM, đóng gói vận chuyển linh kiện điện tử có những sản phẩm thay thế chính như sau: (Fig. 28; ưu, nhược điểm ở Fig. A05)</a:t>
            </a:r>
            <a:endParaRPr lang="en-US" sz="850" dirty="0"/>
          </a:p>
        </p:txBody>
      </p:sp>
      <p:sp>
        <p:nvSpPr>
          <p:cNvPr id="20" name="Text 17"/>
          <p:cNvSpPr txBox="1"/>
          <p:nvPr/>
        </p:nvSpPr>
        <p:spPr>
          <a:xfrm>
            <a:off x="2745303" y="5625755"/>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3.2.7. Hành vi khách hàng.</a:t>
            </a:r>
            <a:endParaRPr lang="en-US" sz="820" dirty="0"/>
          </a:p>
        </p:txBody>
      </p:sp>
      <p:sp>
        <p:nvSpPr>
          <p:cNvPr id="21" name="Text 18"/>
          <p:cNvSpPr txBox="1"/>
          <p:nvPr/>
        </p:nvSpPr>
        <p:spPr>
          <a:xfrm>
            <a:off x="2745303" y="5772333"/>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chính của ngành sản xuất bao bì xanh có thể phân loại chính gồm khách hàng doanh nghiệp và khách hàng cuối cùng ( người tiêu dùng).</a:t>
            </a:r>
            <a:endParaRPr lang="en-US" sz="850" dirty="0"/>
          </a:p>
        </p:txBody>
      </p:sp>
      <p:sp>
        <p:nvSpPr>
          <p:cNvPr id="22" name="Text 19"/>
          <p:cNvSpPr txBox="1"/>
          <p:nvPr/>
        </p:nvSpPr>
        <p:spPr>
          <a:xfrm>
            <a:off x="2745303" y="6073079"/>
            <a:ext cx="4409237" cy="1973458"/>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khách hàng doanh nghiệp. Khách hàng quan tâm trọng tâm tới yếu tố gồm giá và chất lượng sản phẩm, bên cạnh đó là yếu tố môi trường của sản phẩm. Tối ưu về chi phí là cơ sở đầu tiên của các doanh nghiệp, đặc biệt là trong ngành hàng F&amp;B, thực phẩm, thương mại điện tử. Theo khảo sát của PwC thực hiện vào 2024, cho thấy 57,4% người tiêu dùng Việt nam sẵn sàng trả cao hơn tối đa 10% sản phẩm làm từ vật liệu xanh/ bền vững. Điều này cho thấy yếu tố bền vững có khả năng ảnh hưởng tới hành vi mua hàng, tuy nhiên, mức giá sản phẩm cũng cần phải cân bằng với chi phí. Khách hàng B2B mua bao bì với tần suất thường xuyên và số lượng lớn nên doanh nghiệp quan tâm đến chất lượng sản phẩm phải đồng nhất, công suất của nhà cung cấp phải đáp ứng nhu cầu, thời gian giao hàng ổn định, sự biến động giá, thiết kế và sự đáp ứng yêu cầu kỹ thuật và an toàn cho sử dụng thông qua chứng nhận quốc tế. Đối với doanh nghiệp F&amp;B, doanh nghiệp thực phẩm, khách hàng sẽ yêu cầu giá và hình thức cùng sự an toàn, đáp ứng độ chống thấm, ẩm, mốc. Đối với doanh nghiệp sản xuất, điện tử, nội thất, thương mại điện tử, còn yêu cầu thêm cả yếu tố chống va đập tức độ bền , khả năng bảo vệ của bao bì. Do vậy, khách hàng có sẵn sàng chuyển đổi sang các sản phẩm thay thế có công năng tương đương và giá cạnh tranh. Tuy nhiên, nếu đáp ứng được các nhu cầu trên thì doanh nghiệp sản xuất bao bì sẽ có những hợp đồng dài hạn.</a:t>
            </a:r>
            <a:endParaRPr lang="en-US" sz="850" dirty="0"/>
          </a:p>
        </p:txBody>
      </p:sp>
      <p:sp>
        <p:nvSpPr>
          <p:cNvPr id="23" name="Text 20"/>
          <p:cNvSpPr txBox="1"/>
          <p:nvPr/>
        </p:nvSpPr>
        <p:spPr>
          <a:xfrm>
            <a:off x="2745303" y="8084119"/>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khách hàng cuối cùng tức người tiêu dùng cuối cùng, là khách hàng không trực tiếp của doanh nghiệp sản xuất bao bì. Theo các xu hướng tiêu dùng xanh, người tiêu dùng ( đặc biệt là gen Z và người trẻ) ngày càng có tiêu chuẩn khắt khe trong lựa chọn sản phẩm sử dụng - bao gồm cả bao bì và yêu cầu chứng minh về tính an toàn cũng như nguồn gốc vật liệu tự nhiên rõ ràng.</a:t>
            </a:r>
            <a:endParaRPr lang="en-US" sz="850" dirty="0"/>
          </a:p>
        </p:txBody>
      </p:sp>
      <p:sp>
        <p:nvSpPr>
          <p:cNvPr id="24" name="Text 21"/>
          <p:cNvSpPr txBox="1"/>
          <p:nvPr/>
        </p:nvSpPr>
        <p:spPr>
          <a:xfrm>
            <a:off x="2745303" y="8648121"/>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B2B là đối tượng trực tiếp tạo ra doanh thu và họ quan tâm đến sản phẩm đáp ứng xu hướng xanh hoá của người tiêu dùng cuối cùng và đáp ứng các quy định về bảo vệ môi trường, đồng thời yêu cầu cả và chất lượng ổn định. Người tiêu dùng cuối cùng tạo áp lực gián tiếp thông qua nhu cầu ngày càng cao với bao bì thân thiện với môi trường.</a:t>
            </a:r>
            <a:endParaRPr lang="en-US" sz="850" dirty="0"/>
          </a:p>
        </p:txBody>
      </p:sp>
      <p:sp>
        <p:nvSpPr>
          <p:cNvPr id="25" name="Text 22"/>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6" name="Text 23"/>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11</a:t>
            </a:r>
            <a:endParaRPr lang="en-US"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1494861"/>
            <a:ext cx="6749004" cy="0"/>
          </a:xfrm>
          <a:prstGeom prst="line">
            <a:avLst/>
          </a:prstGeom>
          <a:noFill/>
          <a:ln w="9525">
            <a:solidFill>
              <a:srgbClr val="7B1E2B"/>
            </a:solidFill>
            <a:prstDash val="solid"/>
          </a:ln>
        </p:spPr>
      </p:sp>
      <p:sp>
        <p:nvSpPr>
          <p:cNvPr id="5" name="Shape 3"/>
          <p:cNvSpPr/>
          <p:nvPr/>
        </p:nvSpPr>
        <p:spPr>
          <a:xfrm>
            <a:off x="405354" y="3857122"/>
            <a:ext cx="2159996" cy="0"/>
          </a:xfrm>
          <a:prstGeom prst="line">
            <a:avLst/>
          </a:prstGeom>
          <a:noFill/>
          <a:ln w="9525">
            <a:solidFill>
              <a:srgbClr val="7B1E2B"/>
            </a:solidFill>
            <a:prstDash val="solid"/>
          </a:ln>
        </p:spPr>
      </p:sp>
      <p:sp>
        <p:nvSpPr>
          <p:cNvPr id="6" name="Shape 4"/>
          <p:cNvSpPr/>
          <p:nvPr/>
        </p:nvSpPr>
        <p:spPr>
          <a:xfrm>
            <a:off x="405354" y="5609112"/>
            <a:ext cx="2159996" cy="0"/>
          </a:xfrm>
          <a:prstGeom prst="line">
            <a:avLst/>
          </a:prstGeom>
          <a:noFill/>
          <a:ln w="9525">
            <a:solidFill>
              <a:srgbClr val="7B1E2B"/>
            </a:solidFill>
            <a:prstDash val="solid"/>
          </a:ln>
        </p:spPr>
      </p:sp>
      <p:sp>
        <p:nvSpPr>
          <p:cNvPr id="7" name="Shape 5"/>
          <p:cNvSpPr/>
          <p:nvPr/>
        </p:nvSpPr>
        <p:spPr>
          <a:xfrm>
            <a:off x="405354" y="7225314"/>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354" y="1662928"/>
          <a:ext cx="6749004" cy="914400"/>
        </p:xfrm>
        <a:graphic>
          <a:graphicData uri="http://schemas.openxmlformats.org/drawingml/2006/table">
            <a:tbl>
              <a:tblPr/>
              <a:tblGrid>
                <a:gridCol w="3172145"/>
                <a:gridCol w="1957273"/>
                <a:gridCol w="539770"/>
                <a:gridCol w="539770"/>
                <a:gridCol w="540136"/>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Yếu tố vĩ mô/ngành (mục phân tích)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GDP 6T/2026 +8,18%, tiêu dùng +8,15% (3.1.1); TMĐT +18–25%/năm (3.2.2)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trưởng sản lượng hộp/khay F&amp;B</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TMĐT, nội thất xuất khẩu (3.2.2)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trưởng diện tích đệm nội thất/TMĐT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CPI 8T/2026 +4,45%; khách hàng B2B có sức mạnh rất cao (3.1.2, 3.2.3)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giá bán F&amp;B và khuôn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thu gom, vận chuyển, sấy tăng; bã mía bị cạnh tranh (3.1.2, 3.2.3)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biến đổi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Nhóm điện, nước +6,71%; giá điện +4,8% (3.1.2)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Điện, nước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Lương tối thiểu vùng +7,2% từ 01/2026 (NĐ 293/2025)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Tiền lương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TT 27/2026/TT-BYT; rào cản chất lượng, chứng nhận (3.1.6.1, 3.2.5)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Kiểm nghiệm, chứng nhận &amp; R&amp;D /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Rào cản vốn đầu tư (3.2.5); đề bài: đầu tư lớn 2027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CAPEX / doanh thu (tái đầu tư)</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cho vay 8,1–10,5% (3.1.3)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vay Kd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Luật Thuế TNDN 67/2025/QH15 (3.1.6.3)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Thuế suất TNDN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giá: MBS 26.800–27.000 cuối 2026 (3.1.4)</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giá bình quân USD/VND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26.300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26.826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28.468</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lệ thất bại z trong 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Lợi suất TPCP 10 năm, bình quân 2016–2025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phi rủi ro Rf</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Bội số ngành bao bì (FiinX, 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thoái vốn (VC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8,0x</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354" y="7503018"/>
          <a:ext cx="2159996" cy="914400"/>
        </p:xfrm>
        <a:graphic>
          <a:graphicData uri="http://schemas.openxmlformats.org/drawingml/2006/table">
            <a:tbl>
              <a:tblPr/>
              <a:tblGrid>
                <a:gridCol w="799277"/>
                <a:gridCol w="272034"/>
                <a:gridCol w="272034"/>
                <a:gridCol w="272034"/>
                <a:gridCol w="272034"/>
                <a:gridCol w="272491"/>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28E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29E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SL hộp/khay F&amp;B (tr. cái)</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SL F&amp;B</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số bộ khuôn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m² đệm NT/TMĐT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m² đệm điện tử</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bán F&amp;B, khuôn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đệm bảo vệ</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 biến đổi/DT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Tiền lương/DT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CAPEX/DT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65%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23" name="Fig. 30 – biểu đồ"/>
          <p:cNvGrpSpPr/>
          <p:nvPr/>
        </p:nvGrpSpPr>
        <p:grpSpPr>
          <a:xfrm>
            <a:off x="309250" y="4228643"/>
            <a:ext cx="2151217" cy="1062898"/>
            <a:chOff x="309250" y="4228643"/>
            <a:chExt cx="2151217" cy="1062898"/>
          </a:xfrm>
        </p:grpSpPr>
        <p:sp>
          <p:nvSpPr>
            <p:cNvPr id="11" name="svg0_0"/>
            <p:cNvSpPr/>
            <p:nvPr/>
          </p:nvSpPr>
          <p:spPr>
            <a:xfrm>
              <a:off x="425105" y="4249857"/>
              <a:ext cx="60899" cy="60899"/>
            </a:xfrm>
            <a:prstGeom prst="rect">
              <a:avLst/>
            </a:prstGeom>
            <a:solidFill>
              <a:srgbClr val="A3A3A3"/>
            </a:solidFill>
            <a:ln/>
          </p:spPr>
        </p:sp>
        <p:sp>
          <p:nvSpPr>
            <p:cNvPr id="12" name="svg0_1"/>
            <p:cNvSpPr txBox="1"/>
            <p:nvPr/>
          </p:nvSpPr>
          <p:spPr>
            <a:xfrm>
              <a:off x="508498" y="4228643"/>
              <a:ext cx="262341"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Bất lợi</a:t>
              </a:r>
              <a:endParaRPr lang="en-US" sz="587" dirty="0"/>
            </a:p>
          </p:txBody>
        </p:sp>
        <p:sp>
          <p:nvSpPr>
            <p:cNvPr id="13" name="svg0_2"/>
            <p:cNvSpPr/>
            <p:nvPr/>
          </p:nvSpPr>
          <p:spPr>
            <a:xfrm>
              <a:off x="842437" y="4249857"/>
              <a:ext cx="60899" cy="60899"/>
            </a:xfrm>
            <a:prstGeom prst="rect">
              <a:avLst/>
            </a:prstGeom>
            <a:solidFill>
              <a:srgbClr val="7B1E2B"/>
            </a:solidFill>
            <a:ln/>
          </p:spPr>
        </p:sp>
        <p:sp>
          <p:nvSpPr>
            <p:cNvPr id="14" name="svg0_3"/>
            <p:cNvSpPr txBox="1"/>
            <p:nvPr/>
          </p:nvSpPr>
          <p:spPr>
            <a:xfrm>
              <a:off x="925830" y="4228643"/>
              <a:ext cx="36374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Thuận lợi</a:t>
              </a:r>
              <a:endParaRPr lang="en-US" sz="587" dirty="0"/>
            </a:p>
          </p:txBody>
        </p:sp>
        <p:sp>
          <p:nvSpPr>
            <p:cNvPr id="15" name="svg0_4"/>
            <p:cNvSpPr txBox="1"/>
            <p:nvPr/>
          </p:nvSpPr>
          <p:spPr>
            <a:xfrm>
              <a:off x="453817" y="4391589"/>
              <a:ext cx="77650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Sản lượng ×0,8 / ×1,2</a:t>
              </a:r>
              <a:endParaRPr lang="en-US" sz="587" dirty="0"/>
            </a:p>
          </p:txBody>
        </p:sp>
        <p:sp>
          <p:nvSpPr>
            <p:cNvPr id="16" name="svg0_5"/>
            <p:cNvSpPr/>
            <p:nvPr/>
          </p:nvSpPr>
          <p:spPr>
            <a:xfrm>
              <a:off x="1396197" y="4403019"/>
              <a:ext cx="491673" cy="72238"/>
            </a:xfrm>
            <a:prstGeom prst="rect">
              <a:avLst/>
            </a:prstGeom>
            <a:solidFill>
              <a:srgbClr val="A3A3A3"/>
            </a:solidFill>
            <a:ln w="4953">
              <a:solidFill>
                <a:srgbClr val="FFFFFF"/>
              </a:solidFill>
              <a:prstDash val="solid"/>
            </a:ln>
          </p:spPr>
        </p:sp>
        <p:sp>
          <p:nvSpPr>
            <p:cNvPr id="17" name="svg0_6"/>
            <p:cNvSpPr/>
            <p:nvPr/>
          </p:nvSpPr>
          <p:spPr>
            <a:xfrm>
              <a:off x="1887870" y="4403019"/>
              <a:ext cx="572597" cy="72238"/>
            </a:xfrm>
            <a:prstGeom prst="rect">
              <a:avLst/>
            </a:prstGeom>
            <a:solidFill>
              <a:srgbClr val="7B1E2B"/>
            </a:solidFill>
            <a:ln w="4953">
              <a:solidFill>
                <a:srgbClr val="FFFFFF"/>
              </a:solidFill>
              <a:prstDash val="solid"/>
            </a:ln>
          </p:spPr>
        </p:sp>
        <p:sp>
          <p:nvSpPr>
            <p:cNvPr id="18" name="svg0_7"/>
            <p:cNvSpPr txBox="1"/>
            <p:nvPr/>
          </p:nvSpPr>
          <p:spPr>
            <a:xfrm>
              <a:off x="312359" y="4504426"/>
              <a:ext cx="91933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nhân sự ±1 điểm % DT</a:t>
              </a:r>
              <a:endParaRPr lang="en-US" sz="587" dirty="0"/>
            </a:p>
          </p:txBody>
        </p:sp>
        <p:sp>
          <p:nvSpPr>
            <p:cNvPr id="19" name="svg0_8"/>
            <p:cNvSpPr/>
            <p:nvPr/>
          </p:nvSpPr>
          <p:spPr>
            <a:xfrm>
              <a:off x="1699961" y="4515856"/>
              <a:ext cx="187909" cy="72238"/>
            </a:xfrm>
            <a:prstGeom prst="rect">
              <a:avLst/>
            </a:prstGeom>
            <a:solidFill>
              <a:srgbClr val="A3A3A3"/>
            </a:solidFill>
            <a:ln w="4953">
              <a:solidFill>
                <a:srgbClr val="FFFFFF"/>
              </a:solidFill>
              <a:prstDash val="solid"/>
            </a:ln>
          </p:spPr>
        </p:sp>
        <p:sp>
          <p:nvSpPr>
            <p:cNvPr id="20" name="svg0_9"/>
            <p:cNvSpPr/>
            <p:nvPr/>
          </p:nvSpPr>
          <p:spPr>
            <a:xfrm>
              <a:off x="1887870" y="4515856"/>
              <a:ext cx="181234" cy="72238"/>
            </a:xfrm>
            <a:prstGeom prst="rect">
              <a:avLst/>
            </a:prstGeom>
            <a:solidFill>
              <a:srgbClr val="7B1E2B"/>
            </a:solidFill>
            <a:ln w="4953">
              <a:solidFill>
                <a:srgbClr val="FFFFFF"/>
              </a:solidFill>
              <a:prstDash val="solid"/>
            </a:ln>
          </p:spPr>
        </p:sp>
        <p:sp>
          <p:nvSpPr>
            <p:cNvPr id="21" name="svg0_10"/>
            <p:cNvSpPr txBox="1"/>
            <p:nvPr/>
          </p:nvSpPr>
          <p:spPr>
            <a:xfrm>
              <a:off x="309250" y="4617354"/>
              <a:ext cx="92253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biến đổi ±1 điểm % DT</a:t>
              </a:r>
              <a:endParaRPr lang="en-US" sz="587" dirty="0"/>
            </a:p>
          </p:txBody>
        </p:sp>
        <p:sp>
          <p:nvSpPr>
            <p:cNvPr id="22" name="svg0_11"/>
            <p:cNvSpPr/>
            <p:nvPr/>
          </p:nvSpPr>
          <p:spPr>
            <a:xfrm>
              <a:off x="1735714" y="4628784"/>
              <a:ext cx="152156" cy="72329"/>
            </a:xfrm>
            <a:prstGeom prst="rect">
              <a:avLst/>
            </a:prstGeom>
            <a:solidFill>
              <a:srgbClr val="A3A3A3"/>
            </a:solidFill>
            <a:ln w="4953">
              <a:solidFill>
                <a:srgbClr val="FFFFFF"/>
              </a:solidFill>
              <a:prstDash val="solid"/>
            </a:ln>
          </p:spPr>
        </p:sp>
        <p:sp>
          <p:nvSpPr>
            <p:cNvPr id="23" name="svg0_12"/>
            <p:cNvSpPr/>
            <p:nvPr/>
          </p:nvSpPr>
          <p:spPr>
            <a:xfrm>
              <a:off x="1887870" y="4628784"/>
              <a:ext cx="147950" cy="72329"/>
            </a:xfrm>
            <a:prstGeom prst="rect">
              <a:avLst/>
            </a:prstGeom>
            <a:solidFill>
              <a:srgbClr val="7B1E2B"/>
            </a:solidFill>
            <a:ln w="4953">
              <a:solidFill>
                <a:srgbClr val="FFFFFF"/>
              </a:solidFill>
              <a:prstDash val="solid"/>
            </a:ln>
          </p:spPr>
        </p:sp>
        <p:sp>
          <p:nvSpPr>
            <p:cNvPr id="24" name="svg0_13"/>
            <p:cNvSpPr txBox="1"/>
            <p:nvPr/>
          </p:nvSpPr>
          <p:spPr>
            <a:xfrm>
              <a:off x="362377" y="4730283"/>
              <a:ext cx="86776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Giá bán ±1 điểm %/năm</a:t>
              </a:r>
              <a:endParaRPr lang="en-US" sz="587" dirty="0"/>
            </a:p>
          </p:txBody>
        </p:sp>
        <p:sp>
          <p:nvSpPr>
            <p:cNvPr id="25" name="svg0_14"/>
            <p:cNvSpPr/>
            <p:nvPr/>
          </p:nvSpPr>
          <p:spPr>
            <a:xfrm>
              <a:off x="1766529" y="4741621"/>
              <a:ext cx="121341" cy="72329"/>
            </a:xfrm>
            <a:prstGeom prst="rect">
              <a:avLst/>
            </a:prstGeom>
            <a:solidFill>
              <a:srgbClr val="A3A3A3"/>
            </a:solidFill>
            <a:ln w="4953">
              <a:solidFill>
                <a:srgbClr val="FFFFFF"/>
              </a:solidFill>
              <a:prstDash val="solid"/>
            </a:ln>
          </p:spPr>
        </p:sp>
        <p:sp>
          <p:nvSpPr>
            <p:cNvPr id="26" name="svg0_15"/>
            <p:cNvSpPr/>
            <p:nvPr/>
          </p:nvSpPr>
          <p:spPr>
            <a:xfrm>
              <a:off x="1887870" y="4741621"/>
              <a:ext cx="126187" cy="72329"/>
            </a:xfrm>
            <a:prstGeom prst="rect">
              <a:avLst/>
            </a:prstGeom>
            <a:solidFill>
              <a:srgbClr val="7B1E2B"/>
            </a:solidFill>
            <a:ln w="4953">
              <a:solidFill>
                <a:srgbClr val="FFFFFF"/>
              </a:solidFill>
              <a:prstDash val="solid"/>
            </a:ln>
          </p:spPr>
        </p:sp>
        <p:sp>
          <p:nvSpPr>
            <p:cNvPr id="27" name="svg0_16"/>
            <p:cNvSpPr txBox="1"/>
            <p:nvPr/>
          </p:nvSpPr>
          <p:spPr>
            <a:xfrm>
              <a:off x="675559" y="4843211"/>
              <a:ext cx="55833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CRP ±1 điểm %</a:t>
              </a:r>
              <a:endParaRPr lang="en-US" sz="587" dirty="0"/>
            </a:p>
          </p:txBody>
        </p:sp>
        <p:sp>
          <p:nvSpPr>
            <p:cNvPr id="28" name="svg0_17"/>
            <p:cNvSpPr/>
            <p:nvPr/>
          </p:nvSpPr>
          <p:spPr>
            <a:xfrm>
              <a:off x="1780794" y="4854641"/>
              <a:ext cx="107076" cy="72238"/>
            </a:xfrm>
            <a:prstGeom prst="rect">
              <a:avLst/>
            </a:prstGeom>
            <a:solidFill>
              <a:srgbClr val="A3A3A3"/>
            </a:solidFill>
            <a:ln w="4953">
              <a:solidFill>
                <a:srgbClr val="FFFFFF"/>
              </a:solidFill>
              <a:prstDash val="solid"/>
            </a:ln>
          </p:spPr>
        </p:sp>
        <p:sp>
          <p:nvSpPr>
            <p:cNvPr id="29" name="svg0_18"/>
            <p:cNvSpPr/>
            <p:nvPr/>
          </p:nvSpPr>
          <p:spPr>
            <a:xfrm>
              <a:off x="1887870" y="4854641"/>
              <a:ext cx="134417" cy="72238"/>
            </a:xfrm>
            <a:prstGeom prst="rect">
              <a:avLst/>
            </a:prstGeom>
            <a:solidFill>
              <a:srgbClr val="7B1E2B"/>
            </a:solidFill>
            <a:ln w="4953">
              <a:solidFill>
                <a:srgbClr val="FFFFFF"/>
              </a:solidFill>
              <a:prstDash val="solid"/>
            </a:ln>
          </p:spPr>
        </p:sp>
        <p:sp>
          <p:nvSpPr>
            <p:cNvPr id="30" name="svg0_19"/>
            <p:cNvSpPr txBox="1"/>
            <p:nvPr/>
          </p:nvSpPr>
          <p:spPr>
            <a:xfrm>
              <a:off x="335585" y="4956048"/>
              <a:ext cx="89830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Lãi suất Rf, Kd ±1 điểm %</a:t>
              </a:r>
              <a:endParaRPr lang="en-US" sz="587" dirty="0"/>
            </a:p>
          </p:txBody>
        </p:sp>
        <p:sp>
          <p:nvSpPr>
            <p:cNvPr id="31" name="svg0_20"/>
            <p:cNvSpPr/>
            <p:nvPr/>
          </p:nvSpPr>
          <p:spPr>
            <a:xfrm>
              <a:off x="1781526" y="4967478"/>
              <a:ext cx="106345" cy="72329"/>
            </a:xfrm>
            <a:prstGeom prst="rect">
              <a:avLst/>
            </a:prstGeom>
            <a:solidFill>
              <a:srgbClr val="A3A3A3"/>
            </a:solidFill>
            <a:ln w="4953">
              <a:solidFill>
                <a:srgbClr val="FFFFFF"/>
              </a:solidFill>
              <a:prstDash val="solid"/>
            </a:ln>
          </p:spPr>
        </p:sp>
        <p:sp>
          <p:nvSpPr>
            <p:cNvPr id="32" name="svg0_21"/>
            <p:cNvSpPr/>
            <p:nvPr/>
          </p:nvSpPr>
          <p:spPr>
            <a:xfrm>
              <a:off x="1887870" y="4967478"/>
              <a:ext cx="128016" cy="72329"/>
            </a:xfrm>
            <a:prstGeom prst="rect">
              <a:avLst/>
            </a:prstGeom>
            <a:solidFill>
              <a:srgbClr val="7B1E2B"/>
            </a:solidFill>
            <a:ln w="4953">
              <a:solidFill>
                <a:srgbClr val="FFFFFF"/>
              </a:solidFill>
              <a:prstDash val="solid"/>
            </a:ln>
          </p:spPr>
        </p:sp>
        <p:sp>
          <p:nvSpPr>
            <p:cNvPr id="33" name="svg0_22"/>
            <p:cNvSpPr txBox="1"/>
            <p:nvPr/>
          </p:nvSpPr>
          <p:spPr>
            <a:xfrm>
              <a:off x="503469" y="5068976"/>
              <a:ext cx="72694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Ưu đãi thuế NQ 198</a:t>
              </a:r>
              <a:endParaRPr lang="en-US" sz="587" dirty="0"/>
            </a:p>
          </p:txBody>
        </p:sp>
        <p:sp>
          <p:nvSpPr>
            <p:cNvPr id="34" name="svg0_23"/>
            <p:cNvSpPr/>
            <p:nvPr/>
          </p:nvSpPr>
          <p:spPr>
            <a:xfrm>
              <a:off x="1887870" y="5080315"/>
              <a:ext cx="59893" cy="72329"/>
            </a:xfrm>
            <a:prstGeom prst="rect">
              <a:avLst/>
            </a:prstGeom>
            <a:solidFill>
              <a:srgbClr val="7B1E2B"/>
            </a:solidFill>
            <a:ln w="4953">
              <a:solidFill>
                <a:srgbClr val="FFFFFF"/>
              </a:solidFill>
              <a:prstDash val="solid"/>
            </a:ln>
          </p:spPr>
        </p:sp>
        <p:sp>
          <p:nvSpPr>
            <p:cNvPr id="35" name="svg0_24"/>
            <p:cNvSpPr/>
            <p:nvPr/>
          </p:nvSpPr>
          <p:spPr>
            <a:xfrm>
              <a:off x="1887870" y="4373484"/>
              <a:ext cx="0" cy="811164"/>
            </a:xfrm>
            <a:prstGeom prst="line">
              <a:avLst/>
            </a:prstGeom>
            <a:noFill/>
            <a:ln w="7874">
              <a:solidFill>
                <a:srgbClr val="404040"/>
              </a:solidFill>
              <a:prstDash val="solid"/>
            </a:ln>
          </p:spPr>
        </p:sp>
        <p:sp>
          <p:nvSpPr>
            <p:cNvPr id="36" name="svg0_25"/>
            <p:cNvSpPr txBox="1"/>
            <p:nvPr/>
          </p:nvSpPr>
          <p:spPr>
            <a:xfrm>
              <a:off x="1378824" y="5186751"/>
              <a:ext cx="1022848"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Pre-money cơ sở 32,1 tỷ đồng</a:t>
              </a:r>
              <a:endParaRPr lang="en-US" sz="557" dirty="0"/>
            </a:p>
          </p:txBody>
        </p:sp>
        <p:sp>
          <p:nvSpPr>
            <p:cNvPr id="37" name="svg0_26"/>
            <p:cNvSpPr txBox="1"/>
            <p:nvPr/>
          </p:nvSpPr>
          <p:spPr>
            <a:xfrm>
              <a:off x="1425550" y="4390674"/>
              <a:ext cx="227777" cy="104790"/>
            </a:xfrm>
            <a:prstGeom prst="rect">
              <a:avLst/>
            </a:prstGeom>
            <a:noFill/>
            <a:ln/>
          </p:spPr>
          <p:txBody>
            <a:bodyPr wrap="none" lIns="0" tIns="0" rIns="0" bIns="0" rtlCol="0" anchor="ctr"/>
            <a:lstStyle/>
            <a:p>
              <a:pPr algn="l" indent="0" marL="0">
                <a:buNone/>
              </a:pPr>
              <a:r>
                <a:rPr lang="en-US" sz="572" b="1" dirty="0">
                  <a:solidFill>
                    <a:srgbClr val="262626"/>
                  </a:solidFill>
                  <a:latin typeface="Calibri" pitchFamily="34" charset="0"/>
                  <a:ea typeface="Calibri" pitchFamily="34" charset="-122"/>
                  <a:cs typeface="Calibri" pitchFamily="34" charset="-120"/>
                </a:rPr>
                <a:t>−24,3</a:t>
              </a:r>
              <a:endParaRPr lang="en-US" sz="572" dirty="0"/>
            </a:p>
          </p:txBody>
        </p:sp>
        <p:sp>
          <p:nvSpPr>
            <p:cNvPr id="38" name="svg0_27"/>
            <p:cNvSpPr txBox="1"/>
            <p:nvPr/>
          </p:nvSpPr>
          <p:spPr>
            <a:xfrm>
              <a:off x="2204344" y="4390674"/>
              <a:ext cx="227777" cy="104790"/>
            </a:xfrm>
            <a:prstGeom prst="rect">
              <a:avLst/>
            </a:prstGeom>
            <a:noFill/>
            <a:ln/>
          </p:spPr>
          <p:txBody>
            <a:bodyPr wrap="none" lIns="0" tIns="0" rIns="0" bIns="0" rtlCol="0" anchor="ctr"/>
            <a:lstStyle/>
            <a:p>
              <a:pPr algn="r" indent="0" marL="0">
                <a:buNone/>
              </a:pPr>
              <a:r>
                <a:rPr lang="en-US" sz="572" b="1" dirty="0">
                  <a:solidFill>
                    <a:srgbClr val="FFFFFF"/>
                  </a:solidFill>
                  <a:latin typeface="Calibri" pitchFamily="34" charset="0"/>
                  <a:ea typeface="Calibri" pitchFamily="34" charset="-122"/>
                  <a:cs typeface="Calibri" pitchFamily="34" charset="-120"/>
                </a:rPr>
                <a:t>+28,3</a:t>
              </a:r>
              <a:endParaRPr lang="en-US" sz="572" dirty="0"/>
            </a:p>
          </p:txBody>
        </p:sp>
        <p:sp>
          <p:nvSpPr>
            <p:cNvPr id="39" name="svg0_28"/>
            <p:cNvSpPr txBox="1"/>
            <p:nvPr/>
          </p:nvSpPr>
          <p:spPr>
            <a:xfrm>
              <a:off x="1528054" y="4503511"/>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−9,3</a:t>
              </a:r>
              <a:endParaRPr lang="en-US" sz="572" dirty="0"/>
            </a:p>
          </p:txBody>
        </p:sp>
        <p:sp>
          <p:nvSpPr>
            <p:cNvPr id="40" name="svg0_29"/>
            <p:cNvSpPr txBox="1"/>
            <p:nvPr/>
          </p:nvSpPr>
          <p:spPr>
            <a:xfrm>
              <a:off x="2094067" y="4503511"/>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+8,9</a:t>
              </a:r>
              <a:endParaRPr lang="en-US" sz="572" dirty="0"/>
            </a:p>
          </p:txBody>
        </p:sp>
        <p:sp>
          <p:nvSpPr>
            <p:cNvPr id="41" name="svg0_30"/>
            <p:cNvSpPr txBox="1"/>
            <p:nvPr/>
          </p:nvSpPr>
          <p:spPr>
            <a:xfrm>
              <a:off x="1564356" y="4616348"/>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−7,5</a:t>
              </a:r>
              <a:endParaRPr lang="en-US" sz="572" dirty="0"/>
            </a:p>
          </p:txBody>
        </p:sp>
        <p:sp>
          <p:nvSpPr>
            <p:cNvPr id="42" name="svg0_31"/>
            <p:cNvSpPr txBox="1"/>
            <p:nvPr/>
          </p:nvSpPr>
          <p:spPr>
            <a:xfrm>
              <a:off x="2060600" y="4616348"/>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+7,3</a:t>
              </a:r>
              <a:endParaRPr lang="en-US" sz="572" dirty="0"/>
            </a:p>
          </p:txBody>
        </p:sp>
        <p:sp>
          <p:nvSpPr>
            <p:cNvPr id="43" name="svg0_32"/>
            <p:cNvSpPr txBox="1"/>
            <p:nvPr/>
          </p:nvSpPr>
          <p:spPr>
            <a:xfrm>
              <a:off x="1594896" y="4729277"/>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−6,0</a:t>
              </a:r>
              <a:endParaRPr lang="en-US" sz="572" dirty="0"/>
            </a:p>
          </p:txBody>
        </p:sp>
        <p:sp>
          <p:nvSpPr>
            <p:cNvPr id="44" name="svg0_33"/>
            <p:cNvSpPr txBox="1"/>
            <p:nvPr/>
          </p:nvSpPr>
          <p:spPr>
            <a:xfrm>
              <a:off x="2039112" y="4729277"/>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+6,2</a:t>
              </a:r>
              <a:endParaRPr lang="en-US" sz="572" dirty="0"/>
            </a:p>
          </p:txBody>
        </p:sp>
        <p:sp>
          <p:nvSpPr>
            <p:cNvPr id="45" name="svg0_34"/>
            <p:cNvSpPr txBox="1"/>
            <p:nvPr/>
          </p:nvSpPr>
          <p:spPr>
            <a:xfrm>
              <a:off x="1609618" y="4842205"/>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−5,3</a:t>
              </a:r>
              <a:endParaRPr lang="en-US" sz="572" dirty="0"/>
            </a:p>
          </p:txBody>
        </p:sp>
        <p:sp>
          <p:nvSpPr>
            <p:cNvPr id="46" name="svg0_35"/>
            <p:cNvSpPr txBox="1"/>
            <p:nvPr/>
          </p:nvSpPr>
          <p:spPr>
            <a:xfrm>
              <a:off x="2046884" y="4842205"/>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+6,6</a:t>
              </a:r>
              <a:endParaRPr lang="en-US" sz="572" dirty="0"/>
            </a:p>
          </p:txBody>
        </p:sp>
        <p:sp>
          <p:nvSpPr>
            <p:cNvPr id="47" name="svg0_36"/>
            <p:cNvSpPr txBox="1"/>
            <p:nvPr/>
          </p:nvSpPr>
          <p:spPr>
            <a:xfrm>
              <a:off x="1610624" y="4955134"/>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−5,2</a:t>
              </a:r>
              <a:endParaRPr lang="en-US" sz="572" dirty="0"/>
            </a:p>
          </p:txBody>
        </p:sp>
        <p:sp>
          <p:nvSpPr>
            <p:cNvPr id="48" name="svg0_37"/>
            <p:cNvSpPr txBox="1"/>
            <p:nvPr/>
          </p:nvSpPr>
          <p:spPr>
            <a:xfrm>
              <a:off x="2040026" y="4955134"/>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+6,3</a:t>
              </a:r>
              <a:endParaRPr lang="en-US" sz="572" dirty="0"/>
            </a:p>
          </p:txBody>
        </p:sp>
        <p:sp>
          <p:nvSpPr>
            <p:cNvPr id="49" name="svg0_38"/>
            <p:cNvSpPr txBox="1"/>
            <p:nvPr/>
          </p:nvSpPr>
          <p:spPr>
            <a:xfrm>
              <a:off x="1972361" y="5067971"/>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+3,0</a:t>
              </a:r>
              <a:endParaRPr lang="en-US" sz="572" dirty="0"/>
            </a:p>
          </p:txBody>
        </p:sp>
      </p:grpSp>
      <p:grpSp>
        <p:nvGrpSpPr>
          <p:cNvPr id="124" name="Fig. 31 – biểu đồ"/>
          <p:cNvGrpSpPr/>
          <p:nvPr/>
        </p:nvGrpSpPr>
        <p:grpSpPr>
          <a:xfrm>
            <a:off x="444856" y="5990234"/>
            <a:ext cx="2081174" cy="1039399"/>
            <a:chOff x="444856" y="5990234"/>
            <a:chExt cx="2081174" cy="1039399"/>
          </a:xfrm>
        </p:grpSpPr>
        <p:sp>
          <p:nvSpPr>
            <p:cNvPr id="50" name="svg1_39"/>
            <p:cNvSpPr/>
            <p:nvPr/>
          </p:nvSpPr>
          <p:spPr>
            <a:xfrm>
              <a:off x="791596" y="6135258"/>
              <a:ext cx="1734434" cy="775503"/>
            </a:xfrm>
            <a:prstGeom prst="rect">
              <a:avLst/>
            </a:prstGeom>
            <a:solidFill>
              <a:srgbClr val="F3F1F1"/>
            </a:solidFill>
            <a:ln/>
          </p:spPr>
        </p:sp>
        <p:sp>
          <p:nvSpPr>
            <p:cNvPr id="51" name="svg1_40"/>
            <p:cNvSpPr/>
            <p:nvPr/>
          </p:nvSpPr>
          <p:spPr>
            <a:xfrm>
              <a:off x="510601" y="6761256"/>
              <a:ext cx="215067" cy="149504"/>
            </a:xfrm>
            <a:prstGeom prst="rect">
              <a:avLst/>
            </a:prstGeom>
            <a:solidFill>
              <a:srgbClr val="7B1E2B"/>
            </a:solidFill>
            <a:ln w="6858">
              <a:solidFill>
                <a:srgbClr val="FFFFFF"/>
              </a:solidFill>
              <a:prstDash val="solid"/>
            </a:ln>
          </p:spPr>
        </p:sp>
        <p:sp>
          <p:nvSpPr>
            <p:cNvPr id="52" name="svg1_41"/>
            <p:cNvSpPr/>
            <p:nvPr/>
          </p:nvSpPr>
          <p:spPr>
            <a:xfrm>
              <a:off x="510601" y="6738122"/>
              <a:ext cx="215067" cy="23134"/>
            </a:xfrm>
            <a:prstGeom prst="rect">
              <a:avLst/>
            </a:prstGeom>
            <a:solidFill>
              <a:srgbClr val="A3A3A3"/>
            </a:solidFill>
            <a:ln w="6858">
              <a:solidFill>
                <a:srgbClr val="FFFFFF"/>
              </a:solidFill>
              <a:prstDash val="solid"/>
            </a:ln>
          </p:spPr>
        </p:sp>
        <p:sp>
          <p:nvSpPr>
            <p:cNvPr id="53" name="svg1_42"/>
            <p:cNvSpPr/>
            <p:nvPr/>
          </p:nvSpPr>
          <p:spPr>
            <a:xfrm>
              <a:off x="510601" y="6727424"/>
              <a:ext cx="215067" cy="10698"/>
            </a:xfrm>
            <a:prstGeom prst="rect">
              <a:avLst/>
            </a:prstGeom>
            <a:solidFill>
              <a:srgbClr val="404040"/>
            </a:solidFill>
            <a:ln w="6858">
              <a:solidFill>
                <a:srgbClr val="FFFFFF"/>
              </a:solidFill>
              <a:prstDash val="solid"/>
            </a:ln>
          </p:spPr>
        </p:sp>
        <p:sp>
          <p:nvSpPr>
            <p:cNvPr id="54" name="svg1_43"/>
            <p:cNvSpPr/>
            <p:nvPr/>
          </p:nvSpPr>
          <p:spPr>
            <a:xfrm>
              <a:off x="510601" y="6722669"/>
              <a:ext cx="215067" cy="4755"/>
            </a:xfrm>
            <a:prstGeom prst="rect">
              <a:avLst/>
            </a:prstGeom>
            <a:solidFill>
              <a:srgbClr val="D0D0D0"/>
            </a:solidFill>
            <a:ln w="6858">
              <a:solidFill>
                <a:srgbClr val="FFFFFF"/>
              </a:solidFill>
              <a:prstDash val="solid"/>
            </a:ln>
          </p:spPr>
        </p:sp>
        <p:sp>
          <p:nvSpPr>
            <p:cNvPr id="55" name="svg1_44"/>
            <p:cNvSpPr txBox="1"/>
            <p:nvPr/>
          </p:nvSpPr>
          <p:spPr>
            <a:xfrm>
              <a:off x="551566" y="6613032"/>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48</a:t>
              </a:r>
              <a:endParaRPr lang="en-US" sz="649" dirty="0"/>
            </a:p>
          </p:txBody>
        </p:sp>
        <p:sp>
          <p:nvSpPr>
            <p:cNvPr id="56" name="svg1_45"/>
            <p:cNvSpPr txBox="1"/>
            <p:nvPr/>
          </p:nvSpPr>
          <p:spPr>
            <a:xfrm>
              <a:off x="488381" y="6924843"/>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57" name="svg1_46"/>
            <p:cNvSpPr/>
            <p:nvPr/>
          </p:nvSpPr>
          <p:spPr>
            <a:xfrm>
              <a:off x="857524" y="6709501"/>
              <a:ext cx="215158" cy="201259"/>
            </a:xfrm>
            <a:prstGeom prst="rect">
              <a:avLst/>
            </a:prstGeom>
            <a:solidFill>
              <a:srgbClr val="7B1E2B"/>
            </a:solidFill>
            <a:ln w="6858">
              <a:solidFill>
                <a:srgbClr val="FFFFFF"/>
              </a:solidFill>
              <a:prstDash val="solid"/>
            </a:ln>
          </p:spPr>
        </p:sp>
        <p:sp>
          <p:nvSpPr>
            <p:cNvPr id="58" name="svg1_47"/>
            <p:cNvSpPr/>
            <p:nvPr/>
          </p:nvSpPr>
          <p:spPr>
            <a:xfrm>
              <a:off x="857524" y="6680606"/>
              <a:ext cx="215158" cy="28895"/>
            </a:xfrm>
            <a:prstGeom prst="rect">
              <a:avLst/>
            </a:prstGeom>
            <a:solidFill>
              <a:srgbClr val="A3A3A3"/>
            </a:solidFill>
            <a:ln w="6858">
              <a:solidFill>
                <a:srgbClr val="FFFFFF"/>
              </a:solidFill>
              <a:prstDash val="solid"/>
            </a:ln>
          </p:spPr>
        </p:sp>
        <p:sp>
          <p:nvSpPr>
            <p:cNvPr id="59" name="svg1_48"/>
            <p:cNvSpPr/>
            <p:nvPr/>
          </p:nvSpPr>
          <p:spPr>
            <a:xfrm>
              <a:off x="857524" y="6666525"/>
              <a:ext cx="215158" cy="14082"/>
            </a:xfrm>
            <a:prstGeom prst="rect">
              <a:avLst/>
            </a:prstGeom>
            <a:solidFill>
              <a:srgbClr val="404040"/>
            </a:solidFill>
            <a:ln w="6858">
              <a:solidFill>
                <a:srgbClr val="FFFFFF"/>
              </a:solidFill>
              <a:prstDash val="solid"/>
            </a:ln>
          </p:spPr>
        </p:sp>
        <p:sp>
          <p:nvSpPr>
            <p:cNvPr id="60" name="svg1_49"/>
            <p:cNvSpPr/>
            <p:nvPr/>
          </p:nvSpPr>
          <p:spPr>
            <a:xfrm>
              <a:off x="857524" y="6658844"/>
              <a:ext cx="215158" cy="7590"/>
            </a:xfrm>
            <a:prstGeom prst="rect">
              <a:avLst/>
            </a:prstGeom>
            <a:solidFill>
              <a:srgbClr val="D0D0D0"/>
            </a:solidFill>
            <a:ln w="6858">
              <a:solidFill>
                <a:srgbClr val="FFFFFF"/>
              </a:solidFill>
              <a:prstDash val="solid"/>
            </a:ln>
          </p:spPr>
        </p:sp>
        <p:sp>
          <p:nvSpPr>
            <p:cNvPr id="61" name="svg1_50"/>
            <p:cNvSpPr txBox="1"/>
            <p:nvPr/>
          </p:nvSpPr>
          <p:spPr>
            <a:xfrm>
              <a:off x="898032" y="6549207"/>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64</a:t>
              </a:r>
              <a:endParaRPr lang="en-US" sz="649" dirty="0"/>
            </a:p>
          </p:txBody>
        </p:sp>
        <p:sp>
          <p:nvSpPr>
            <p:cNvPr id="62" name="svg1_51"/>
            <p:cNvSpPr txBox="1"/>
            <p:nvPr/>
          </p:nvSpPr>
          <p:spPr>
            <a:xfrm>
              <a:off x="882030" y="692484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63" name="svg1_52"/>
            <p:cNvSpPr/>
            <p:nvPr/>
          </p:nvSpPr>
          <p:spPr>
            <a:xfrm>
              <a:off x="1204448" y="6660398"/>
              <a:ext cx="215067" cy="250454"/>
            </a:xfrm>
            <a:prstGeom prst="rect">
              <a:avLst/>
            </a:prstGeom>
            <a:solidFill>
              <a:srgbClr val="7B1E2B"/>
            </a:solidFill>
            <a:ln w="6858">
              <a:solidFill>
                <a:srgbClr val="FFFFFF"/>
              </a:solidFill>
              <a:prstDash val="solid"/>
            </a:ln>
          </p:spPr>
        </p:sp>
        <p:sp>
          <p:nvSpPr>
            <p:cNvPr id="64" name="svg1_53"/>
            <p:cNvSpPr/>
            <p:nvPr/>
          </p:nvSpPr>
          <p:spPr>
            <a:xfrm>
              <a:off x="1204448" y="6625560"/>
              <a:ext cx="215067" cy="34656"/>
            </a:xfrm>
            <a:prstGeom prst="rect">
              <a:avLst/>
            </a:prstGeom>
            <a:solidFill>
              <a:srgbClr val="A3A3A3"/>
            </a:solidFill>
            <a:ln w="6858">
              <a:solidFill>
                <a:srgbClr val="FFFFFF"/>
              </a:solidFill>
              <a:prstDash val="solid"/>
            </a:ln>
          </p:spPr>
        </p:sp>
        <p:sp>
          <p:nvSpPr>
            <p:cNvPr id="65" name="svg1_54"/>
            <p:cNvSpPr/>
            <p:nvPr/>
          </p:nvSpPr>
          <p:spPr>
            <a:xfrm>
              <a:off x="1204448" y="6606906"/>
              <a:ext cx="215067" cy="18745"/>
            </a:xfrm>
            <a:prstGeom prst="rect">
              <a:avLst/>
            </a:prstGeom>
            <a:solidFill>
              <a:srgbClr val="404040"/>
            </a:solidFill>
            <a:ln w="6858">
              <a:solidFill>
                <a:srgbClr val="FFFFFF"/>
              </a:solidFill>
              <a:prstDash val="solid"/>
            </a:ln>
          </p:spPr>
        </p:sp>
        <p:sp>
          <p:nvSpPr>
            <p:cNvPr id="66" name="svg1_55"/>
            <p:cNvSpPr/>
            <p:nvPr/>
          </p:nvSpPr>
          <p:spPr>
            <a:xfrm>
              <a:off x="1204448" y="6595293"/>
              <a:ext cx="215067" cy="11613"/>
            </a:xfrm>
            <a:prstGeom prst="rect">
              <a:avLst/>
            </a:prstGeom>
            <a:solidFill>
              <a:srgbClr val="D0D0D0"/>
            </a:solidFill>
            <a:ln w="6858">
              <a:solidFill>
                <a:srgbClr val="FFFFFF"/>
              </a:solidFill>
              <a:prstDash val="solid"/>
            </a:ln>
          </p:spPr>
        </p:sp>
        <p:sp>
          <p:nvSpPr>
            <p:cNvPr id="67" name="svg1_56"/>
            <p:cNvSpPr txBox="1"/>
            <p:nvPr/>
          </p:nvSpPr>
          <p:spPr>
            <a:xfrm>
              <a:off x="1244590" y="6486296"/>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80</a:t>
              </a:r>
              <a:endParaRPr lang="en-US" sz="649" dirty="0"/>
            </a:p>
          </p:txBody>
        </p:sp>
        <p:sp>
          <p:nvSpPr>
            <p:cNvPr id="68" name="svg1_57"/>
            <p:cNvSpPr txBox="1"/>
            <p:nvPr/>
          </p:nvSpPr>
          <p:spPr>
            <a:xfrm>
              <a:off x="1228588" y="692484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69" name="svg1_58"/>
            <p:cNvSpPr/>
            <p:nvPr/>
          </p:nvSpPr>
          <p:spPr>
            <a:xfrm>
              <a:off x="1551280" y="6565849"/>
              <a:ext cx="215067" cy="344912"/>
            </a:xfrm>
            <a:prstGeom prst="rect">
              <a:avLst/>
            </a:prstGeom>
            <a:solidFill>
              <a:srgbClr val="7B1E2B"/>
            </a:solidFill>
            <a:ln w="6858">
              <a:solidFill>
                <a:srgbClr val="FFFFFF"/>
              </a:solidFill>
              <a:prstDash val="solid"/>
            </a:ln>
          </p:spPr>
        </p:sp>
        <p:sp>
          <p:nvSpPr>
            <p:cNvPr id="70" name="svg1_59"/>
            <p:cNvSpPr/>
            <p:nvPr/>
          </p:nvSpPr>
          <p:spPr>
            <a:xfrm>
              <a:off x="1551280" y="6520495"/>
              <a:ext cx="215067" cy="45263"/>
            </a:xfrm>
            <a:prstGeom prst="rect">
              <a:avLst/>
            </a:prstGeom>
            <a:solidFill>
              <a:srgbClr val="A3A3A3"/>
            </a:solidFill>
            <a:ln w="6858">
              <a:solidFill>
                <a:srgbClr val="FFFFFF"/>
              </a:solidFill>
              <a:prstDash val="solid"/>
            </a:ln>
          </p:spPr>
        </p:sp>
        <p:sp>
          <p:nvSpPr>
            <p:cNvPr id="71" name="svg1_60"/>
            <p:cNvSpPr/>
            <p:nvPr/>
          </p:nvSpPr>
          <p:spPr>
            <a:xfrm>
              <a:off x="1551280" y="6493977"/>
              <a:ext cx="215067" cy="26609"/>
            </a:xfrm>
            <a:prstGeom prst="rect">
              <a:avLst/>
            </a:prstGeom>
            <a:solidFill>
              <a:srgbClr val="404040"/>
            </a:solidFill>
            <a:ln w="6858">
              <a:solidFill>
                <a:srgbClr val="FFFFFF"/>
              </a:solidFill>
              <a:prstDash val="solid"/>
            </a:ln>
          </p:spPr>
        </p:sp>
        <p:sp>
          <p:nvSpPr>
            <p:cNvPr id="72" name="svg1_61"/>
            <p:cNvSpPr/>
            <p:nvPr/>
          </p:nvSpPr>
          <p:spPr>
            <a:xfrm>
              <a:off x="1551280" y="6474043"/>
              <a:ext cx="215067" cy="20025"/>
            </a:xfrm>
            <a:prstGeom prst="rect">
              <a:avLst/>
            </a:prstGeom>
            <a:solidFill>
              <a:srgbClr val="D0D0D0"/>
            </a:solidFill>
            <a:ln w="6858">
              <a:solidFill>
                <a:srgbClr val="FFFFFF"/>
              </a:solidFill>
              <a:prstDash val="solid"/>
            </a:ln>
          </p:spPr>
        </p:sp>
        <p:sp>
          <p:nvSpPr>
            <p:cNvPr id="73" name="svg1_62"/>
            <p:cNvSpPr txBox="1"/>
            <p:nvPr/>
          </p:nvSpPr>
          <p:spPr>
            <a:xfrm>
              <a:off x="1568379" y="6364590"/>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111</a:t>
              </a:r>
              <a:endParaRPr lang="en-US" sz="649" dirty="0"/>
            </a:p>
          </p:txBody>
        </p:sp>
        <p:sp>
          <p:nvSpPr>
            <p:cNvPr id="74" name="svg1_63"/>
            <p:cNvSpPr txBox="1"/>
            <p:nvPr/>
          </p:nvSpPr>
          <p:spPr>
            <a:xfrm>
              <a:off x="1576151" y="692484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75" name="svg1_64"/>
            <p:cNvSpPr/>
            <p:nvPr/>
          </p:nvSpPr>
          <p:spPr>
            <a:xfrm>
              <a:off x="1898112" y="6471117"/>
              <a:ext cx="215158" cy="439644"/>
            </a:xfrm>
            <a:prstGeom prst="rect">
              <a:avLst/>
            </a:prstGeom>
            <a:solidFill>
              <a:srgbClr val="7B1E2B"/>
            </a:solidFill>
            <a:ln w="6858">
              <a:solidFill>
                <a:srgbClr val="FFFFFF"/>
              </a:solidFill>
              <a:prstDash val="solid"/>
            </a:ln>
          </p:spPr>
        </p:sp>
        <p:sp>
          <p:nvSpPr>
            <p:cNvPr id="76" name="svg1_65"/>
            <p:cNvSpPr/>
            <p:nvPr/>
          </p:nvSpPr>
          <p:spPr>
            <a:xfrm>
              <a:off x="1898112" y="6415522"/>
              <a:ext cx="215158" cy="55504"/>
            </a:xfrm>
            <a:prstGeom prst="rect">
              <a:avLst/>
            </a:prstGeom>
            <a:solidFill>
              <a:srgbClr val="A3A3A3"/>
            </a:solidFill>
            <a:ln w="6858">
              <a:solidFill>
                <a:srgbClr val="FFFFFF"/>
              </a:solidFill>
              <a:prstDash val="solid"/>
            </a:ln>
          </p:spPr>
        </p:sp>
        <p:sp>
          <p:nvSpPr>
            <p:cNvPr id="77" name="svg1_66"/>
            <p:cNvSpPr/>
            <p:nvPr/>
          </p:nvSpPr>
          <p:spPr>
            <a:xfrm>
              <a:off x="1898112" y="6379952"/>
              <a:ext cx="215158" cy="35662"/>
            </a:xfrm>
            <a:prstGeom prst="rect">
              <a:avLst/>
            </a:prstGeom>
            <a:solidFill>
              <a:srgbClr val="404040"/>
            </a:solidFill>
            <a:ln w="6858">
              <a:solidFill>
                <a:srgbClr val="FFFFFF"/>
              </a:solidFill>
              <a:prstDash val="solid"/>
            </a:ln>
          </p:spPr>
        </p:sp>
        <p:sp>
          <p:nvSpPr>
            <p:cNvPr id="78" name="svg1_67"/>
            <p:cNvSpPr/>
            <p:nvPr/>
          </p:nvSpPr>
          <p:spPr>
            <a:xfrm>
              <a:off x="1898112" y="6350599"/>
              <a:ext cx="215158" cy="29352"/>
            </a:xfrm>
            <a:prstGeom prst="rect">
              <a:avLst/>
            </a:prstGeom>
            <a:solidFill>
              <a:srgbClr val="D0D0D0"/>
            </a:solidFill>
            <a:ln w="6858">
              <a:solidFill>
                <a:srgbClr val="FFFFFF"/>
              </a:solidFill>
              <a:prstDash val="solid"/>
            </a:ln>
          </p:spPr>
        </p:sp>
        <p:sp>
          <p:nvSpPr>
            <p:cNvPr id="79" name="svg1_68"/>
            <p:cNvSpPr txBox="1"/>
            <p:nvPr/>
          </p:nvSpPr>
          <p:spPr>
            <a:xfrm>
              <a:off x="1914845" y="6240871"/>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143</a:t>
              </a:r>
              <a:endParaRPr lang="en-US" sz="649" dirty="0"/>
            </a:p>
          </p:txBody>
        </p:sp>
        <p:sp>
          <p:nvSpPr>
            <p:cNvPr id="80" name="svg1_69"/>
            <p:cNvSpPr txBox="1"/>
            <p:nvPr/>
          </p:nvSpPr>
          <p:spPr>
            <a:xfrm>
              <a:off x="1922617" y="692484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81" name="svg1_70"/>
            <p:cNvSpPr/>
            <p:nvPr/>
          </p:nvSpPr>
          <p:spPr>
            <a:xfrm>
              <a:off x="2245035" y="6385987"/>
              <a:ext cx="215067" cy="524866"/>
            </a:xfrm>
            <a:prstGeom prst="rect">
              <a:avLst/>
            </a:prstGeom>
            <a:solidFill>
              <a:srgbClr val="7B1E2B"/>
            </a:solidFill>
            <a:ln w="6858">
              <a:solidFill>
                <a:srgbClr val="FFFFFF"/>
              </a:solidFill>
              <a:prstDash val="solid"/>
            </a:ln>
          </p:spPr>
        </p:sp>
        <p:sp>
          <p:nvSpPr>
            <p:cNvPr id="82" name="svg1_71"/>
            <p:cNvSpPr/>
            <p:nvPr/>
          </p:nvSpPr>
          <p:spPr>
            <a:xfrm>
              <a:off x="2245035" y="6320973"/>
              <a:ext cx="215067" cy="65014"/>
            </a:xfrm>
            <a:prstGeom prst="rect">
              <a:avLst/>
            </a:prstGeom>
            <a:solidFill>
              <a:srgbClr val="A3A3A3"/>
            </a:solidFill>
            <a:ln w="6858">
              <a:solidFill>
                <a:srgbClr val="FFFFFF"/>
              </a:solidFill>
              <a:prstDash val="solid"/>
            </a:ln>
          </p:spPr>
        </p:sp>
        <p:sp>
          <p:nvSpPr>
            <p:cNvPr id="83" name="svg1_72"/>
            <p:cNvSpPr/>
            <p:nvPr/>
          </p:nvSpPr>
          <p:spPr>
            <a:xfrm>
              <a:off x="2245035" y="6275619"/>
              <a:ext cx="215067" cy="45263"/>
            </a:xfrm>
            <a:prstGeom prst="rect">
              <a:avLst/>
            </a:prstGeom>
            <a:solidFill>
              <a:srgbClr val="404040"/>
            </a:solidFill>
            <a:ln w="6858">
              <a:solidFill>
                <a:srgbClr val="FFFFFF"/>
              </a:solidFill>
              <a:prstDash val="solid"/>
            </a:ln>
          </p:spPr>
        </p:sp>
        <p:sp>
          <p:nvSpPr>
            <p:cNvPr id="84" name="svg1_73"/>
            <p:cNvSpPr/>
            <p:nvPr/>
          </p:nvSpPr>
          <p:spPr>
            <a:xfrm>
              <a:off x="2245035" y="6236940"/>
              <a:ext cx="215067" cy="38679"/>
            </a:xfrm>
            <a:prstGeom prst="rect">
              <a:avLst/>
            </a:prstGeom>
            <a:solidFill>
              <a:srgbClr val="D0D0D0"/>
            </a:solidFill>
            <a:ln w="6858">
              <a:solidFill>
                <a:srgbClr val="FFFFFF"/>
              </a:solidFill>
              <a:prstDash val="solid"/>
            </a:ln>
          </p:spPr>
        </p:sp>
        <p:sp>
          <p:nvSpPr>
            <p:cNvPr id="85" name="svg1_74"/>
            <p:cNvSpPr txBox="1"/>
            <p:nvPr/>
          </p:nvSpPr>
          <p:spPr>
            <a:xfrm>
              <a:off x="2261403" y="6128034"/>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172</a:t>
              </a:r>
              <a:endParaRPr lang="en-US" sz="649" dirty="0"/>
            </a:p>
          </p:txBody>
        </p:sp>
        <p:sp>
          <p:nvSpPr>
            <p:cNvPr id="86" name="svg1_75"/>
            <p:cNvSpPr txBox="1"/>
            <p:nvPr/>
          </p:nvSpPr>
          <p:spPr>
            <a:xfrm>
              <a:off x="2269175" y="6924843"/>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87" name="svg1_76"/>
            <p:cNvSpPr/>
            <p:nvPr/>
          </p:nvSpPr>
          <p:spPr>
            <a:xfrm>
              <a:off x="444856" y="6910761"/>
              <a:ext cx="2081174" cy="0"/>
            </a:xfrm>
            <a:prstGeom prst="line">
              <a:avLst/>
            </a:prstGeom>
            <a:noFill/>
            <a:ln w="6858">
              <a:solidFill>
                <a:srgbClr val="8C8C8C"/>
              </a:solidFill>
              <a:prstDash val="solid"/>
            </a:ln>
          </p:spPr>
        </p:sp>
        <p:sp>
          <p:nvSpPr>
            <p:cNvPr id="88" name="svg1_77"/>
            <p:cNvSpPr/>
            <p:nvPr/>
          </p:nvSpPr>
          <p:spPr>
            <a:xfrm>
              <a:off x="444856" y="6011540"/>
              <a:ext cx="60899" cy="60899"/>
            </a:xfrm>
            <a:prstGeom prst="rect">
              <a:avLst/>
            </a:prstGeom>
            <a:solidFill>
              <a:srgbClr val="7B1E2B"/>
            </a:solidFill>
            <a:ln/>
          </p:spPr>
        </p:sp>
        <p:sp>
          <p:nvSpPr>
            <p:cNvPr id="89" name="svg1_78"/>
            <p:cNvSpPr txBox="1"/>
            <p:nvPr/>
          </p:nvSpPr>
          <p:spPr>
            <a:xfrm>
              <a:off x="528249" y="5990234"/>
              <a:ext cx="4247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F&amp;B/FMCG</a:t>
              </a:r>
              <a:endParaRPr lang="en-US" sz="587" dirty="0"/>
            </a:p>
          </p:txBody>
        </p:sp>
        <p:sp>
          <p:nvSpPr>
            <p:cNvPr id="90" name="svg1_79"/>
            <p:cNvSpPr/>
            <p:nvPr/>
          </p:nvSpPr>
          <p:spPr>
            <a:xfrm>
              <a:off x="897118" y="6011540"/>
              <a:ext cx="60899" cy="60899"/>
            </a:xfrm>
            <a:prstGeom prst="rect">
              <a:avLst/>
            </a:prstGeom>
            <a:solidFill>
              <a:srgbClr val="A3A3A3"/>
            </a:solidFill>
            <a:ln/>
          </p:spPr>
        </p:sp>
        <p:sp>
          <p:nvSpPr>
            <p:cNvPr id="91" name="svg1_80"/>
            <p:cNvSpPr txBox="1"/>
            <p:nvPr/>
          </p:nvSpPr>
          <p:spPr>
            <a:xfrm>
              <a:off x="980785" y="5990234"/>
              <a:ext cx="26124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Khuôn</a:t>
              </a:r>
              <a:endParaRPr lang="en-US" sz="587" dirty="0"/>
            </a:p>
          </p:txBody>
        </p:sp>
        <p:sp>
          <p:nvSpPr>
            <p:cNvPr id="92" name="svg1_81"/>
            <p:cNvSpPr/>
            <p:nvPr/>
          </p:nvSpPr>
          <p:spPr>
            <a:xfrm>
              <a:off x="1244224" y="6011540"/>
              <a:ext cx="60899" cy="60899"/>
            </a:xfrm>
            <a:prstGeom prst="rect">
              <a:avLst/>
            </a:prstGeom>
            <a:solidFill>
              <a:srgbClr val="404040"/>
            </a:solidFill>
            <a:ln/>
          </p:spPr>
        </p:sp>
        <p:sp>
          <p:nvSpPr>
            <p:cNvPr id="93" name="svg1_82"/>
            <p:cNvSpPr txBox="1"/>
            <p:nvPr/>
          </p:nvSpPr>
          <p:spPr>
            <a:xfrm>
              <a:off x="1327343" y="5990234"/>
              <a:ext cx="56052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thất/TMĐT</a:t>
              </a:r>
              <a:endParaRPr lang="en-US" sz="587" dirty="0"/>
            </a:p>
          </p:txBody>
        </p:sp>
        <p:sp>
          <p:nvSpPr>
            <p:cNvPr id="94" name="svg1_83"/>
            <p:cNvSpPr/>
            <p:nvPr/>
          </p:nvSpPr>
          <p:spPr>
            <a:xfrm>
              <a:off x="1871868" y="6011540"/>
              <a:ext cx="60899" cy="60899"/>
            </a:xfrm>
            <a:prstGeom prst="rect">
              <a:avLst/>
            </a:prstGeom>
            <a:solidFill>
              <a:srgbClr val="D0D0D0"/>
            </a:solidFill>
            <a:ln/>
          </p:spPr>
        </p:sp>
        <p:sp>
          <p:nvSpPr>
            <p:cNvPr id="95" name="svg1_84"/>
            <p:cNvSpPr txBox="1"/>
            <p:nvPr/>
          </p:nvSpPr>
          <p:spPr>
            <a:xfrm>
              <a:off x="1955536" y="5990234"/>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sp>
        <p:nvSpPr>
          <p:cNvPr id="96" name="Text 92"/>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7" name="Text 93"/>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98" name="Text 94"/>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4. LẬP DỰ PHÓNG PRO FORMA 5 NĂM (2026E–2030E)</a:t>
            </a:r>
            <a:endParaRPr lang="en-US" sz="880" dirty="0"/>
          </a:p>
        </p:txBody>
      </p:sp>
      <p:sp>
        <p:nvSpPr>
          <p:cNvPr id="99" name="Text 95"/>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en-US" sz="900" dirty="0"/>
          </a:p>
        </p:txBody>
      </p:sp>
      <p:sp>
        <p:nvSpPr>
          <p:cNvPr id="100" name="Text 96"/>
          <p:cNvSpPr txBox="1"/>
          <p:nvPr/>
        </p:nvSpPr>
        <p:spPr>
          <a:xfrm>
            <a:off x="2745303" y="101461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Mỗi kết luận ở Mục 1–3 được chuyển thành một giả định theo chuỗi điều kiện vĩ mô → bối cảnh ngành → tác động đến AgriPack → giả định trong mô hình (Fig. 29). Lý do và nguồn của mọi giả định ghi ngay cạnh ô giả định trong model, tổng hợp ở Fig. A09, A11.</a:t>
            </a:r>
            <a:endParaRPr lang="en-US" sz="850" dirty="0"/>
          </a:p>
        </p:txBody>
      </p:sp>
      <p:sp>
        <p:nvSpPr>
          <p:cNvPr id="101" name="Text 97"/>
          <p:cNvSpPr txBox="1"/>
          <p:nvPr/>
        </p:nvSpPr>
        <p:spPr>
          <a:xfrm>
            <a:off x="405354" y="1521196"/>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en-US" sz="720" dirty="0"/>
          </a:p>
        </p:txBody>
      </p:sp>
      <p:sp>
        <p:nvSpPr>
          <p:cNvPr id="102" name="Text 98"/>
          <p:cNvSpPr txBox="1"/>
          <p:nvPr/>
        </p:nvSpPr>
        <p:spPr>
          <a:xfrm>
            <a:off x="405354" y="368914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Mục 1–3; giá trị giả định: model (Drivers, VCM, Discount rate)</a:t>
            </a:r>
            <a:endParaRPr lang="en-US" sz="600" dirty="0"/>
          </a:p>
        </p:txBody>
      </p:sp>
      <p:sp>
        <p:nvSpPr>
          <p:cNvPr id="103" name="Text 99"/>
          <p:cNvSpPr txBox="1"/>
          <p:nvPr/>
        </p:nvSpPr>
        <p:spPr>
          <a:xfrm>
            <a:off x="405354" y="388354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en-US" sz="720" dirty="0"/>
          </a:p>
        </p:txBody>
      </p:sp>
      <p:sp>
        <p:nvSpPr>
          <p:cNvPr id="104" name="Text 100"/>
          <p:cNvSpPr txBox="1"/>
          <p:nvPr/>
        </p:nvSpPr>
        <p:spPr>
          <a:xfrm>
            <a:off x="405354" y="41206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Chênh lệch pre-money so với cơ sở 32,1 tỷ đồng (tỷ đồng)</a:t>
            </a:r>
            <a:endParaRPr lang="en-US" sz="630" dirty="0"/>
          </a:p>
        </p:txBody>
      </p:sp>
      <p:sp>
        <p:nvSpPr>
          <p:cNvPr id="105" name="Text 101"/>
          <p:cNvSpPr txBox="1"/>
          <p:nvPr/>
        </p:nvSpPr>
        <p:spPr>
          <a:xfrm>
            <a:off x="405354" y="533872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chạy lại toàn bộ mô hình với từng nhân tố ở mức bất lợi/thuận lợi, các giả định khác giữ nguyên</a:t>
            </a:r>
            <a:endParaRPr lang="en-US" sz="600" dirty="0"/>
          </a:p>
        </p:txBody>
      </p:sp>
      <p:sp>
        <p:nvSpPr>
          <p:cNvPr id="106" name="Text 102"/>
          <p:cNvSpPr txBox="1"/>
          <p:nvPr/>
        </p:nvSpPr>
        <p:spPr>
          <a:xfrm>
            <a:off x="405354" y="563535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2030E đạt 170 tỷ đồng; F&amp;B/FMCG vẫn chiếm gần 80%</a:t>
            </a:r>
            <a:endParaRPr lang="en-US" sz="720" dirty="0"/>
          </a:p>
        </p:txBody>
      </p:sp>
      <p:sp>
        <p:nvSpPr>
          <p:cNvPr id="107" name="Text 103"/>
          <p:cNvSpPr txBox="1"/>
          <p:nvPr/>
        </p:nvSpPr>
        <p:spPr>
          <a:xfrm>
            <a:off x="405354" y="5872460"/>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08" name="Text 104"/>
          <p:cNvSpPr txBox="1"/>
          <p:nvPr/>
        </p:nvSpPr>
        <p:spPr>
          <a:xfrm>
            <a:off x="405354" y="704636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Dự phóng của nhóm (Drivers)</a:t>
            </a:r>
            <a:endParaRPr lang="en-US" sz="600" dirty="0"/>
          </a:p>
        </p:txBody>
      </p:sp>
      <p:sp>
        <p:nvSpPr>
          <p:cNvPr id="109" name="Text 105"/>
          <p:cNvSpPr txBox="1"/>
          <p:nvPr/>
        </p:nvSpPr>
        <p:spPr>
          <a:xfrm>
            <a:off x="405354" y="725164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en-US" sz="720" dirty="0"/>
          </a:p>
        </p:txBody>
      </p:sp>
      <p:sp>
        <p:nvSpPr>
          <p:cNvPr id="110" name="Text 106"/>
          <p:cNvSpPr txBox="1"/>
          <p:nvPr/>
        </p:nvSpPr>
        <p:spPr>
          <a:xfrm>
            <a:off x="405354" y="9188074"/>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(kịch bản Base)</a:t>
            </a:r>
            <a:endParaRPr lang="en-US" sz="600" dirty="0"/>
          </a:p>
        </p:txBody>
      </p:sp>
      <p:sp>
        <p:nvSpPr>
          <p:cNvPr id="111" name="Text 107"/>
          <p:cNvSpPr txBox="1"/>
          <p:nvPr/>
        </p:nvSpPr>
        <p:spPr>
          <a:xfrm>
            <a:off x="2745303" y="3852367"/>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Cầu.</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GDP, tiêu dùng và TMĐT tăng nhanh (Mục 3.1.1, 3.2.2) nhưng SAM chỉ tăng 4,73%/năm, nên tăng trưởng vượt thị trường phải đến từ giành thị phần (4,3% → 11,0% SAM năm 2030) và bị giới hạn bởi công suất; đây cũng là nhân tố tác động mạnh nhất đến giá trị (Fig. 30).</a:t>
            </a:r>
            <a:endParaRPr lang="en-US" sz="850" dirty="0"/>
          </a:p>
        </p:txBody>
      </p:sp>
      <p:sp>
        <p:nvSpPr>
          <p:cNvPr id="112" name="Text 108"/>
          <p:cNvSpPr txBox="1"/>
          <p:nvPr/>
        </p:nvSpPr>
        <p:spPr>
          <a:xfrm>
            <a:off x="2745303" y="4284696"/>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và chi phí.</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CPI +4,45%, nhóm nhà ở – điện – nước +6,71%, khách hàng B2B có sức mạnh đàm phán rất cao, bao bì nhựa rẻ hơn nhiều lần (Mục 3.1.2, 3.2.3): giá bán chỉ tăng 2%/năm, chi phí biến đổi lên 25,0–27,0% doanh thu – biên lợi nhuận bị ép thay vì chuyển chi phí sang khách hàng.</a:t>
            </a:r>
            <a:endParaRPr lang="en-US" sz="850" dirty="0"/>
          </a:p>
        </p:txBody>
      </p:sp>
      <p:sp>
        <p:nvSpPr>
          <p:cNvPr id="113" name="Text 109"/>
          <p:cNvSpPr txBox="1"/>
          <p:nvPr/>
        </p:nvSpPr>
        <p:spPr>
          <a:xfrm>
            <a:off x="2745303" y="4717024"/>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Vốn và rủi ro.</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Lãi suất cho vay 8,1–10,5% → chi phí nợ 10%; VC chọn lọc hơn và giai đoạn đầu tăng trưởng → z = 40%, total beta với ρ = 0,7; Rf 3,92% (TPCP 10 năm, bình quân 2016–2025).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Pháp lý.</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TT 27/2026/TT-BYT → chi phí kiểm nghiệm, chứng nhận, R&amp;D 0,6% doanh thu; Luật Thuế TNDN 67/2025/QH15 → thuế suất 17% (2026), 20% (từ 2027); không đưa ưu đãi NQ 198/2025/QH15 vào vì chưa chứng minh đủ điều kiện.</a:t>
            </a:r>
            <a:endParaRPr lang="en-US" sz="850" dirty="0"/>
          </a:p>
        </p:txBody>
      </p:sp>
      <p:sp>
        <p:nvSpPr>
          <p:cNvPr id="114" name="Text 110"/>
          <p:cNvSpPr txBox="1"/>
          <p:nvPr/>
        </p:nvSpPr>
        <p:spPr>
          <a:xfrm>
            <a:off x="2745303" y="5412608"/>
            <a:ext cx="4409237" cy="118405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Tác động lên dự phóng và định giá.</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Chạy lại toàn bộ mô hình khi đưa từng nhân tố về mức bất lợi hoặc thuận lợi, các giả định khác giữ nguyên, cho thấy cầu chi phối kết quả: tốc độ tăng sản lượng thấp hơn 20% làm doanh thu 2030E còn 137,3 tỷ, LNST 2030E còn 6,6 tỷ và pre-money giảm 24,3 tỷ (Fig. 30), vì chi phí cố định và khấu hao nhà máy mới không giảm theo sản lượng trong khi giá trị cuối kỳ dựa trên lợi nhuận 2030. Chi phí nhân sự và chi phí biến đổi ±1 điểm % doanh thu làm pre-money thay đổi 7,3–9,3 tỷ, nhiều hơn giá bán ±1 điểm %/năm, lãi suất hay CRP ±1 điểm % (5,2–6,6 tỷ). Ưu đãi thuế NQ 198/2025/QH15, nếu đủ điều kiện, chỉ thêm 3,0 tỷ vì lợi nhuận 2026–2029 còn thấp. Chỉ báo cần theo dõi trước hết vì vậy là sản lượng hộp/khay F&amp;B và mức lấp đầy nhà máy mới (biên độ, lý do và kết quả chi tiết ở Fig. A15).</a:t>
            </a:r>
            <a:endParaRPr lang="en-US" sz="850" dirty="0"/>
          </a:p>
        </p:txBody>
      </p:sp>
      <p:sp>
        <p:nvSpPr>
          <p:cNvPr id="115" name="Text 111"/>
          <p:cNvSpPr txBox="1"/>
          <p:nvPr/>
        </p:nvSpPr>
        <p:spPr>
          <a:xfrm>
            <a:off x="2745303" y="663433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4.2. Doanh thu: sản lượng × giá bán theo phân khúc</a:t>
            </a:r>
            <a:endParaRPr lang="en-US" sz="900" dirty="0"/>
          </a:p>
        </p:txBody>
      </p:sp>
      <p:sp>
        <p:nvSpPr>
          <p:cNvPr id="116" name="Text 112"/>
          <p:cNvSpPr txBox="1"/>
          <p:nvPr/>
        </p:nvSpPr>
        <p:spPr>
          <a:xfrm>
            <a:off x="2745303" y="6803685"/>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Doanh thu thuần đạt 170,3 tỷ đồng năm 2030, CAGR 29,1% (Fig. 31), dự phóng bằng sản lượng × giá bán cho từng phân khúc (Fig. 32). Sản lượng hộp/khay F&amp;B quy đổi năm 2025 là 15,2 triệu cái (doanh thu chia giá 2.500 đồng – cận dưới khung giá ở Fig. 06); tăng 32% năm 2026 nhờ máy ép bổ sung, 22% năm 2027 khi nhà máy mới đang xây, 35% năm 2028 khi hai dây chuyền mới chạy, rồi giảm dần về 17% năm 2030 (48,4 triệu cái). Mảng khuôn tăng theo số SKU mới; đệm nội thất/TMĐT và đệm điện tử tăng 25–70%/năm từ nền nhỏ.</a:t>
            </a:r>
            <a:endParaRPr lang="en-US" sz="850" dirty="0"/>
          </a:p>
        </p:txBody>
      </p:sp>
      <p:sp>
        <p:nvSpPr>
          <p:cNvPr id="117" name="Text 113"/>
          <p:cNvSpPr txBox="1"/>
          <p:nvPr/>
        </p:nvSpPr>
        <p:spPr>
          <a:xfrm>
            <a:off x="2745303" y="7630759"/>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Tăng trưởng thấp hơn nhiều mức 54–59% của 2024–2025 vì nền lớn hơn và SAM chỉ tăng 4–5%/năm; giữ nhịp 40–50%/năm sẽ đòi hỏi 15–18% SAM toàn quốc, khó bảo vệ với một doanh nghiệp một nhà máy.</a:t>
            </a:r>
            <a:endParaRPr lang="en-US" sz="850" dirty="0"/>
          </a:p>
        </p:txBody>
      </p:sp>
      <p:sp>
        <p:nvSpPr>
          <p:cNvPr id="118" name="Text 114"/>
          <p:cNvSpPr txBox="1"/>
          <p:nvPr/>
        </p:nvSpPr>
        <p:spPr>
          <a:xfrm>
            <a:off x="2745303" y="806308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4.3. Chi phí và biên lợi nhuận: BCKQKD theo chức năng</a:t>
            </a:r>
            <a:endParaRPr lang="en-US" sz="900" dirty="0"/>
          </a:p>
        </p:txBody>
      </p:sp>
      <p:sp>
        <p:nvSpPr>
          <p:cNvPr id="119" name="Text 115"/>
          <p:cNvSpPr txBox="1"/>
          <p:nvPr/>
        </p:nvSpPr>
        <p:spPr>
          <a:xfrm>
            <a:off x="2745303" y="823243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BCKQKD trình bày theo chức năng (VAS, Fig. 33): 70% tiền lương (công nhân ép, sấy, QC, quản đốc) và 90% khấu hao (máy ép, hệ thống sấy, nhà xưởng) vào giá vốn; 30% tiền lương và 10% khấu hao vào chi phí bán hàng và quản lý doanh nghiệp. Số liệu 2023–2025 được trình bày lại theo cùng cách: biên gộp 2025 là 51,0% (Fig. 34), thay vì 72,8% trên BCTC gốc (Mục 2.2). Việc phân bổ không đổi EBIT, LNST và dòng tiền; EBITDA là dòng ghi nhớ.</a:t>
            </a:r>
            <a:endParaRPr lang="en-US" sz="850" dirty="0"/>
          </a:p>
        </p:txBody>
      </p:sp>
      <p:sp>
        <p:nvSpPr>
          <p:cNvPr id="120" name="Text 116"/>
          <p:cNvSpPr txBox="1"/>
          <p:nvPr/>
        </p:nvSpPr>
        <p:spPr>
          <a:xfrm>
            <a:off x="2745303" y="892783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Biên gộp giảm từ 51,8% (2026) xuống 44,8% năm 2028 (Fig. 34) vì khấu hao nhà máy mới tăng từ 5,3 lên 11,5 tỷ và chi phí biến đổi lên 27,0% khi chạy thử, rồi hồi lên 47,6% năm 2030. Biên EBITDA đi từ 16,2% lên 20,2% nhờ tiền thuê, tiền lương tăng chậm hơn doanh thu. LNST giảm còn 2,4 tỷ năm 2028 – năm khấu hao và lãi vay cùng đạt đỉnh – rồi lên 13,9 tỷ năm 2030.</a:t>
            </a:r>
            <a:endParaRPr lang="en-US" sz="850" dirty="0"/>
          </a:p>
        </p:txBody>
      </p:sp>
      <p:sp>
        <p:nvSpPr>
          <p:cNvPr id="121" name="Text 117"/>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22" name="Text 118"/>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12</a:t>
            </a:r>
            <a:endParaRPr lang="en-US"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3093415"/>
            <a:ext cx="2159996" cy="0"/>
          </a:xfrm>
          <a:prstGeom prst="line">
            <a:avLst/>
          </a:prstGeom>
          <a:noFill/>
          <a:ln w="9525">
            <a:solidFill>
              <a:srgbClr val="7B1E2B"/>
            </a:solidFill>
            <a:prstDash val="solid"/>
          </a:ln>
        </p:spPr>
      </p:sp>
      <p:sp>
        <p:nvSpPr>
          <p:cNvPr id="5" name="Shape 3"/>
          <p:cNvSpPr/>
          <p:nvPr/>
        </p:nvSpPr>
        <p:spPr>
          <a:xfrm>
            <a:off x="405354" y="4781398"/>
            <a:ext cx="2159996" cy="0"/>
          </a:xfrm>
          <a:prstGeom prst="line">
            <a:avLst/>
          </a:prstGeom>
          <a:noFill/>
          <a:ln w="9525">
            <a:solidFill>
              <a:srgbClr val="7B1E2B"/>
            </a:solidFill>
            <a:prstDash val="solid"/>
          </a:ln>
        </p:spPr>
      </p:sp>
      <p:sp>
        <p:nvSpPr>
          <p:cNvPr id="6" name="Shape 4"/>
          <p:cNvSpPr/>
          <p:nvPr/>
        </p:nvSpPr>
        <p:spPr>
          <a:xfrm>
            <a:off x="405354" y="6371356"/>
            <a:ext cx="2159996" cy="0"/>
          </a:xfrm>
          <a:prstGeom prst="line">
            <a:avLst/>
          </a:prstGeom>
          <a:noFill/>
          <a:ln w="9525">
            <a:solidFill>
              <a:srgbClr val="7B1E2B"/>
            </a:solidFill>
            <a:prstDash val="solid"/>
          </a:ln>
        </p:spPr>
      </p:sp>
      <p:sp>
        <p:nvSpPr>
          <p:cNvPr id="7" name="Shape 5"/>
          <p:cNvSpPr/>
          <p:nvPr/>
        </p:nvSpPr>
        <p:spPr>
          <a:xfrm>
            <a:off x="405354" y="8525408"/>
            <a:ext cx="2159996" cy="0"/>
          </a:xfrm>
          <a:prstGeom prst="line">
            <a:avLst/>
          </a:prstGeom>
          <a:noFill/>
          <a:ln w="9525">
            <a:solidFill>
              <a:srgbClr val="7B1E2B"/>
            </a:solidFill>
            <a:prstDash val="solid"/>
          </a:ln>
        </p:spPr>
      </p:sp>
      <p:sp>
        <p:nvSpPr>
          <p:cNvPr id="8" name="Shape 6"/>
          <p:cNvSpPr/>
          <p:nvPr/>
        </p:nvSpPr>
        <p:spPr>
          <a:xfrm>
            <a:off x="2745303" y="6397600"/>
            <a:ext cx="4409237" cy="0"/>
          </a:xfrm>
          <a:prstGeom prst="line">
            <a:avLst/>
          </a:prstGeom>
          <a:noFill/>
          <a:ln w="9525">
            <a:solidFill>
              <a:srgbClr val="7B1E2B"/>
            </a:solidFill>
            <a:prstDash val="solid"/>
          </a:ln>
        </p:spPr>
      </p:sp>
      <p:sp>
        <p:nvSpPr>
          <p:cNvPr id="9" name="Shape 7"/>
          <p:cNvSpPr/>
          <p:nvPr/>
        </p:nvSpPr>
        <p:spPr>
          <a:xfrm>
            <a:off x="405354" y="10369479"/>
            <a:ext cx="6749004" cy="0"/>
          </a:xfrm>
          <a:prstGeom prst="line">
            <a:avLst/>
          </a:prstGeom>
          <a:noFill/>
          <a:ln w="9525">
            <a:solidFill>
              <a:srgbClr val="BFBFBF"/>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6749004" cy="914400"/>
        </p:xfrm>
        <a:graphic>
          <a:graphicData uri="http://schemas.openxmlformats.org/drawingml/2006/table">
            <a:tbl>
              <a:tblPr/>
              <a:tblGrid>
                <a:gridCol w="1889790"/>
                <a:gridCol w="809793"/>
                <a:gridCol w="809793"/>
                <a:gridCol w="809793"/>
                <a:gridCol w="809793"/>
                <a:gridCol w="809793"/>
                <a:gridCol w="810341"/>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Doanh thu thuần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141,6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170,3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Tăng trưởng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25,2%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38,5%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28,3%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Giá vốn hàng bán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Lợi nhuận gộp</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24,3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66,7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gộp</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CPBH &amp; QLDN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(25,3)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(43,2)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EBIT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13,8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Chi phí lãi vay</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Lợi nhuận trước thuế</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Thuế TNDN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5,8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8,1%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Ghi nhớ: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2745303" y="6666890"/>
          <a:ext cx="4409237" cy="914400"/>
        </p:xfrm>
        <a:graphic>
          <a:graphicData uri="http://schemas.openxmlformats.org/drawingml/2006/table">
            <a:tbl>
              <a:tblPr/>
              <a:tblGrid>
                <a:gridCol w="1234531"/>
                <a:gridCol w="529072"/>
                <a:gridCol w="529072"/>
                <a:gridCol w="529072"/>
                <a:gridCol w="529072"/>
                <a:gridCol w="529072"/>
                <a:gridCol w="529255"/>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48864">
                <a:tc gridSpan="7">
                  <a:txBody>
                    <a:bodyPr/>
                    <a:lstStyle/>
                    <a:p>
                      <a:pPr algn="l" indent="0" marL="0">
                        <a:buNone/>
                      </a:pPr>
                      <a:r>
                        <a:rPr lang="en-US" sz="653" dirty="0">
                          <a:solidFill>
                            <a:srgbClr val="7B1E2B"/>
                          </a:solidFill>
                          <a:latin typeface="Calibri" pitchFamily="34" charset="0"/>
                          <a:ea typeface="Calibri" pitchFamily="34" charset="-122"/>
                          <a:cs typeface="Calibri" pitchFamily="34" charset="-120"/>
                        </a:rPr>
                        <a:t>Bảng cân đối (cuối kỳ)</a:t>
                      </a:r>
                      <a:endParaRPr lang="en-US" sz="653"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Tiền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35,5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Phải thu khách hàng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Hàng tồn kho</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Tài sản dài hạn ròng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79,8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Tổng tài sản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76,4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113,6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127,6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Nợ vay (ngắn + dài hạn)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Vốn chủ sở hữu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91,1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105,0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Nợ vay / VCSH</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619">
                <a:tc gridSpan="7">
                  <a:txBody>
                    <a:bodyPr/>
                    <a:lstStyle/>
                    <a:p>
                      <a:pPr algn="l" indent="0" marL="0">
                        <a:buNone/>
                      </a:pPr>
                      <a:r>
                        <a:rPr lang="en-US" sz="653" dirty="0">
                          <a:solidFill>
                            <a:srgbClr val="7B1E2B"/>
                          </a:solidFill>
                          <a:latin typeface="Calibri" pitchFamily="34" charset="0"/>
                          <a:ea typeface="Calibri" pitchFamily="34" charset="-122"/>
                          <a:cs typeface="Calibri" pitchFamily="34" charset="-120"/>
                        </a:rPr>
                        <a:t>Lưu chuyển tiền tệ</a:t>
                      </a:r>
                      <a:endParaRPr lang="en-US" sz="653"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CFO</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15,4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CAPEX</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Vốn góp cổ phần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Vay (trả) nợ dài hạn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pSp>
        <p:nvGrpSpPr>
          <p:cNvPr id="219" name="Fig. 34 – biểu đồ"/>
          <p:cNvGrpSpPr/>
          <p:nvPr/>
        </p:nvGrpSpPr>
        <p:grpSpPr>
          <a:xfrm>
            <a:off x="423642" y="3517880"/>
            <a:ext cx="2189164" cy="974476"/>
            <a:chOff x="423642" y="3517880"/>
            <a:chExt cx="2189164" cy="974476"/>
          </a:xfrm>
        </p:grpSpPr>
        <p:sp>
          <p:nvSpPr>
            <p:cNvPr id="12" name="svg0_0"/>
            <p:cNvSpPr/>
            <p:nvPr/>
          </p:nvSpPr>
          <p:spPr>
            <a:xfrm>
              <a:off x="1223193" y="3531230"/>
              <a:ext cx="1086764" cy="844266"/>
            </a:xfrm>
            <a:prstGeom prst="rect">
              <a:avLst/>
            </a:prstGeom>
            <a:solidFill>
              <a:srgbClr val="F3F1F1"/>
            </a:solidFill>
            <a:ln/>
          </p:spPr>
        </p:sp>
        <p:sp>
          <p:nvSpPr>
            <p:cNvPr id="13" name="svg0_1"/>
            <p:cNvSpPr/>
            <p:nvPr/>
          </p:nvSpPr>
          <p:spPr>
            <a:xfrm>
              <a:off x="621518" y="4100627"/>
              <a:ext cx="1668871" cy="0"/>
            </a:xfrm>
            <a:prstGeom prst="line">
              <a:avLst/>
            </a:prstGeom>
            <a:noFill/>
            <a:ln w="4953">
              <a:solidFill>
                <a:srgbClr val="E4E4E4"/>
              </a:solidFill>
              <a:prstDash val="solid"/>
            </a:ln>
          </p:spPr>
        </p:sp>
        <p:sp>
          <p:nvSpPr>
            <p:cNvPr id="14" name="svg0_2"/>
            <p:cNvSpPr txBox="1"/>
            <p:nvPr/>
          </p:nvSpPr>
          <p:spPr>
            <a:xfrm>
              <a:off x="464424" y="4049969"/>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5" name="svg0_3"/>
            <p:cNvSpPr/>
            <p:nvPr/>
          </p:nvSpPr>
          <p:spPr>
            <a:xfrm>
              <a:off x="621518" y="3642421"/>
              <a:ext cx="1668871" cy="0"/>
            </a:xfrm>
            <a:prstGeom prst="line">
              <a:avLst/>
            </a:prstGeom>
            <a:noFill/>
            <a:ln w="4953">
              <a:solidFill>
                <a:srgbClr val="E4E4E4"/>
              </a:solidFill>
              <a:prstDash val="solid"/>
            </a:ln>
          </p:spPr>
        </p:sp>
        <p:sp>
          <p:nvSpPr>
            <p:cNvPr id="16" name="svg0_4"/>
            <p:cNvSpPr txBox="1"/>
            <p:nvPr/>
          </p:nvSpPr>
          <p:spPr>
            <a:xfrm>
              <a:off x="423642" y="3591489"/>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7" name="svg0_5"/>
            <p:cNvSpPr/>
            <p:nvPr/>
          </p:nvSpPr>
          <p:spPr>
            <a:xfrm>
              <a:off x="621518" y="4100627"/>
              <a:ext cx="1668871" cy="0"/>
            </a:xfrm>
            <a:prstGeom prst="line">
              <a:avLst/>
            </a:prstGeom>
            <a:noFill/>
            <a:ln w="6858">
              <a:solidFill>
                <a:srgbClr val="8C8C8C"/>
              </a:solidFill>
              <a:prstDash val="solid"/>
            </a:ln>
          </p:spPr>
        </p:sp>
        <p:sp>
          <p:nvSpPr>
            <p:cNvPr id="18" name="svg0_6"/>
            <p:cNvSpPr txBox="1"/>
            <p:nvPr/>
          </p:nvSpPr>
          <p:spPr>
            <a:xfrm>
              <a:off x="554126" y="438756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23A</a:t>
              </a:r>
              <a:endParaRPr lang="en-US" sz="587" dirty="0"/>
            </a:p>
          </p:txBody>
        </p:sp>
        <p:sp>
          <p:nvSpPr>
            <p:cNvPr id="19" name="svg0_7"/>
            <p:cNvSpPr txBox="1"/>
            <p:nvPr/>
          </p:nvSpPr>
          <p:spPr>
            <a:xfrm>
              <a:off x="786750" y="438756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24A</a:t>
              </a:r>
              <a:endParaRPr lang="en-US" sz="587" dirty="0"/>
            </a:p>
          </p:txBody>
        </p:sp>
        <p:sp>
          <p:nvSpPr>
            <p:cNvPr id="20" name="svg0_8"/>
            <p:cNvSpPr txBox="1"/>
            <p:nvPr/>
          </p:nvSpPr>
          <p:spPr>
            <a:xfrm>
              <a:off x="1019373" y="438756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21" name="svg0_9"/>
            <p:cNvSpPr txBox="1"/>
            <p:nvPr/>
          </p:nvSpPr>
          <p:spPr>
            <a:xfrm>
              <a:off x="1256111" y="438756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22" name="svg0_10"/>
            <p:cNvSpPr txBox="1"/>
            <p:nvPr/>
          </p:nvSpPr>
          <p:spPr>
            <a:xfrm>
              <a:off x="1489740" y="438756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23" name="svg0_11"/>
            <p:cNvSpPr txBox="1"/>
            <p:nvPr/>
          </p:nvSpPr>
          <p:spPr>
            <a:xfrm>
              <a:off x="1722364" y="438756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24" name="svg0_12"/>
            <p:cNvSpPr txBox="1"/>
            <p:nvPr/>
          </p:nvSpPr>
          <p:spPr>
            <a:xfrm>
              <a:off x="1955079" y="438756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25" name="svg0_13"/>
            <p:cNvSpPr txBox="1"/>
            <p:nvPr/>
          </p:nvSpPr>
          <p:spPr>
            <a:xfrm>
              <a:off x="2187611" y="438756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26" name="svg0_14"/>
            <p:cNvSpPr/>
            <p:nvPr/>
          </p:nvSpPr>
          <p:spPr>
            <a:xfrm>
              <a:off x="641086" y="3626328"/>
              <a:ext cx="1629644" cy="132771"/>
            </a:xfrm>
            <a:custGeom>
              <a:avLst/>
              <a:gdLst/>
              <a:ahLst/>
              <a:cxnLst/>
              <a:rect l="l" t="t" r="r" b="b"/>
              <a:pathLst>
                <a:path w="1629644" h="132771">
                  <a:moveTo>
                    <a:pt x="0" y="132771"/>
                  </a:moveTo>
                  <a:lnTo>
                    <a:pt x="232806" y="44257"/>
                  </a:lnTo>
                  <a:lnTo>
                    <a:pt x="465612" y="6675"/>
                  </a:lnTo>
                  <a:lnTo>
                    <a:pt x="698327" y="0"/>
                  </a:lnTo>
                  <a:lnTo>
                    <a:pt x="931225" y="11339"/>
                  </a:lnTo>
                  <a:lnTo>
                    <a:pt x="1163940" y="63551"/>
                  </a:lnTo>
                  <a:lnTo>
                    <a:pt x="1396837" y="42977"/>
                  </a:lnTo>
                  <a:lnTo>
                    <a:pt x="1629644" y="38222"/>
                  </a:lnTo>
                </a:path>
              </a:pathLst>
            </a:custGeom>
            <a:noFill/>
            <a:ln w="15748">
              <a:solidFill>
                <a:srgbClr val="404040"/>
              </a:solidFill>
              <a:prstDash val="solid"/>
            </a:ln>
          </p:spPr>
        </p:sp>
        <p:sp>
          <p:nvSpPr>
            <p:cNvPr id="27" name="svg0_15"/>
            <p:cNvSpPr/>
            <p:nvPr/>
          </p:nvSpPr>
          <p:spPr>
            <a:xfrm>
              <a:off x="620512" y="3738524"/>
              <a:ext cx="41239" cy="41239"/>
            </a:xfrm>
            <a:prstGeom prst="ellipse">
              <a:avLst/>
            </a:prstGeom>
            <a:solidFill>
              <a:srgbClr val="404040"/>
            </a:solidFill>
            <a:ln w="7874">
              <a:solidFill>
                <a:srgbClr val="FFFFFF"/>
              </a:solidFill>
              <a:prstDash val="solid"/>
            </a:ln>
          </p:spPr>
        </p:sp>
        <p:sp>
          <p:nvSpPr>
            <p:cNvPr id="28" name="svg0_16"/>
            <p:cNvSpPr/>
            <p:nvPr/>
          </p:nvSpPr>
          <p:spPr>
            <a:xfrm>
              <a:off x="853318" y="3650102"/>
              <a:ext cx="41239" cy="41239"/>
            </a:xfrm>
            <a:prstGeom prst="ellipse">
              <a:avLst/>
            </a:prstGeom>
            <a:solidFill>
              <a:srgbClr val="404040"/>
            </a:solidFill>
            <a:ln w="7874">
              <a:solidFill>
                <a:srgbClr val="FFFFFF"/>
              </a:solidFill>
              <a:prstDash val="solid"/>
            </a:ln>
          </p:spPr>
        </p:sp>
        <p:sp>
          <p:nvSpPr>
            <p:cNvPr id="29" name="svg0_17"/>
            <p:cNvSpPr/>
            <p:nvPr/>
          </p:nvSpPr>
          <p:spPr>
            <a:xfrm>
              <a:off x="1086124" y="3612429"/>
              <a:ext cx="41239" cy="41239"/>
            </a:xfrm>
            <a:prstGeom prst="ellipse">
              <a:avLst/>
            </a:prstGeom>
            <a:solidFill>
              <a:srgbClr val="404040"/>
            </a:solidFill>
            <a:ln w="7874">
              <a:solidFill>
                <a:srgbClr val="FFFFFF"/>
              </a:solidFill>
              <a:prstDash val="solid"/>
            </a:ln>
          </p:spPr>
        </p:sp>
        <p:sp>
          <p:nvSpPr>
            <p:cNvPr id="30" name="svg0_18"/>
            <p:cNvSpPr/>
            <p:nvPr/>
          </p:nvSpPr>
          <p:spPr>
            <a:xfrm>
              <a:off x="1318931" y="3605754"/>
              <a:ext cx="41239" cy="41239"/>
            </a:xfrm>
            <a:prstGeom prst="ellipse">
              <a:avLst/>
            </a:prstGeom>
            <a:solidFill>
              <a:srgbClr val="404040"/>
            </a:solidFill>
            <a:ln w="7874">
              <a:solidFill>
                <a:srgbClr val="FFFFFF"/>
              </a:solidFill>
              <a:prstDash val="solid"/>
            </a:ln>
          </p:spPr>
        </p:sp>
        <p:sp>
          <p:nvSpPr>
            <p:cNvPr id="31" name="svg0_19"/>
            <p:cNvSpPr/>
            <p:nvPr/>
          </p:nvSpPr>
          <p:spPr>
            <a:xfrm>
              <a:off x="1551828" y="3617092"/>
              <a:ext cx="41239" cy="41239"/>
            </a:xfrm>
            <a:prstGeom prst="ellipse">
              <a:avLst/>
            </a:prstGeom>
            <a:solidFill>
              <a:srgbClr val="404040"/>
            </a:solidFill>
            <a:ln w="7874">
              <a:solidFill>
                <a:srgbClr val="FFFFFF"/>
              </a:solidFill>
              <a:prstDash val="solid"/>
            </a:ln>
          </p:spPr>
        </p:sp>
        <p:sp>
          <p:nvSpPr>
            <p:cNvPr id="32" name="svg0_20"/>
            <p:cNvSpPr/>
            <p:nvPr/>
          </p:nvSpPr>
          <p:spPr>
            <a:xfrm>
              <a:off x="1784543" y="3669304"/>
              <a:ext cx="41239" cy="41239"/>
            </a:xfrm>
            <a:prstGeom prst="ellipse">
              <a:avLst/>
            </a:prstGeom>
            <a:solidFill>
              <a:srgbClr val="404040"/>
            </a:solidFill>
            <a:ln w="7874">
              <a:solidFill>
                <a:srgbClr val="FFFFFF"/>
              </a:solidFill>
              <a:prstDash val="solid"/>
            </a:ln>
          </p:spPr>
        </p:sp>
        <p:sp>
          <p:nvSpPr>
            <p:cNvPr id="33" name="svg0_21"/>
            <p:cNvSpPr/>
            <p:nvPr/>
          </p:nvSpPr>
          <p:spPr>
            <a:xfrm>
              <a:off x="2017441" y="3648730"/>
              <a:ext cx="41239" cy="41239"/>
            </a:xfrm>
            <a:prstGeom prst="ellipse">
              <a:avLst/>
            </a:prstGeom>
            <a:solidFill>
              <a:srgbClr val="404040"/>
            </a:solidFill>
            <a:ln w="7874">
              <a:solidFill>
                <a:srgbClr val="FFFFFF"/>
              </a:solidFill>
              <a:prstDash val="solid"/>
            </a:ln>
          </p:spPr>
        </p:sp>
        <p:sp>
          <p:nvSpPr>
            <p:cNvPr id="34" name="svg0_22"/>
            <p:cNvSpPr/>
            <p:nvPr/>
          </p:nvSpPr>
          <p:spPr>
            <a:xfrm>
              <a:off x="2250156" y="3643975"/>
              <a:ext cx="41239" cy="41239"/>
            </a:xfrm>
            <a:prstGeom prst="ellipse">
              <a:avLst/>
            </a:prstGeom>
            <a:solidFill>
              <a:srgbClr val="404040"/>
            </a:solidFill>
            <a:ln w="7874">
              <a:solidFill>
                <a:srgbClr val="FFFFFF"/>
              </a:solidFill>
              <a:prstDash val="solid"/>
            </a:ln>
          </p:spPr>
        </p:sp>
        <p:sp>
          <p:nvSpPr>
            <p:cNvPr id="35" name="svg0_23"/>
            <p:cNvSpPr txBox="1"/>
            <p:nvPr/>
          </p:nvSpPr>
          <p:spPr>
            <a:xfrm>
              <a:off x="1013704" y="3517880"/>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51%</a:t>
              </a:r>
              <a:endParaRPr lang="en-US" sz="587" dirty="0"/>
            </a:p>
          </p:txBody>
        </p:sp>
        <p:sp>
          <p:nvSpPr>
            <p:cNvPr id="36" name="svg0_24"/>
            <p:cNvSpPr txBox="1"/>
            <p:nvPr/>
          </p:nvSpPr>
          <p:spPr>
            <a:xfrm>
              <a:off x="1712671" y="3707343"/>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45%</a:t>
              </a:r>
              <a:endParaRPr lang="en-US" sz="587" dirty="0"/>
            </a:p>
          </p:txBody>
        </p:sp>
        <p:sp>
          <p:nvSpPr>
            <p:cNvPr id="37" name="svg0_25"/>
            <p:cNvSpPr txBox="1"/>
            <p:nvPr/>
          </p:nvSpPr>
          <p:spPr>
            <a:xfrm>
              <a:off x="2099828" y="3549335"/>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48%</a:t>
              </a:r>
              <a:endParaRPr lang="en-US" sz="587" dirty="0"/>
            </a:p>
          </p:txBody>
        </p:sp>
        <p:sp>
          <p:nvSpPr>
            <p:cNvPr id="38" name="svg0_26"/>
            <p:cNvSpPr/>
            <p:nvPr/>
          </p:nvSpPr>
          <p:spPr>
            <a:xfrm>
              <a:off x="641086" y="3915369"/>
              <a:ext cx="1629644" cy="315377"/>
            </a:xfrm>
            <a:custGeom>
              <a:avLst/>
              <a:gdLst/>
              <a:ahLst/>
              <a:cxnLst/>
              <a:rect l="l" t="t" r="r" b="b"/>
              <a:pathLst>
                <a:path w="1629644" h="315377">
                  <a:moveTo>
                    <a:pt x="0" y="315377"/>
                  </a:moveTo>
                  <a:lnTo>
                    <a:pt x="232806" y="125547"/>
                  </a:lnTo>
                  <a:lnTo>
                    <a:pt x="465612" y="37033"/>
                  </a:lnTo>
                  <a:lnTo>
                    <a:pt x="698327" y="21397"/>
                  </a:lnTo>
                  <a:lnTo>
                    <a:pt x="931225" y="21306"/>
                  </a:lnTo>
                  <a:lnTo>
                    <a:pt x="1163940" y="37948"/>
                  </a:lnTo>
                  <a:lnTo>
                    <a:pt x="1396837" y="10973"/>
                  </a:lnTo>
                  <a:lnTo>
                    <a:pt x="1629644" y="0"/>
                  </a:lnTo>
                </a:path>
              </a:pathLst>
            </a:custGeom>
            <a:noFill/>
            <a:ln w="15748">
              <a:solidFill>
                <a:srgbClr val="7B1E2B"/>
              </a:solidFill>
              <a:prstDash val="solid"/>
            </a:ln>
          </p:spPr>
        </p:sp>
        <p:sp>
          <p:nvSpPr>
            <p:cNvPr id="39" name="svg0_27"/>
            <p:cNvSpPr/>
            <p:nvPr/>
          </p:nvSpPr>
          <p:spPr>
            <a:xfrm>
              <a:off x="620512" y="4210172"/>
              <a:ext cx="41239" cy="41239"/>
            </a:xfrm>
            <a:prstGeom prst="ellipse">
              <a:avLst/>
            </a:prstGeom>
            <a:solidFill>
              <a:srgbClr val="7B1E2B"/>
            </a:solidFill>
            <a:ln w="7874">
              <a:solidFill>
                <a:srgbClr val="FFFFFF"/>
              </a:solidFill>
              <a:prstDash val="solid"/>
            </a:ln>
          </p:spPr>
        </p:sp>
        <p:sp>
          <p:nvSpPr>
            <p:cNvPr id="40" name="svg0_28"/>
            <p:cNvSpPr/>
            <p:nvPr/>
          </p:nvSpPr>
          <p:spPr>
            <a:xfrm>
              <a:off x="853318" y="4020342"/>
              <a:ext cx="41239" cy="41239"/>
            </a:xfrm>
            <a:prstGeom prst="ellipse">
              <a:avLst/>
            </a:prstGeom>
            <a:solidFill>
              <a:srgbClr val="7B1E2B"/>
            </a:solidFill>
            <a:ln w="7874">
              <a:solidFill>
                <a:srgbClr val="FFFFFF"/>
              </a:solidFill>
              <a:prstDash val="solid"/>
            </a:ln>
          </p:spPr>
        </p:sp>
        <p:sp>
          <p:nvSpPr>
            <p:cNvPr id="41" name="svg0_29"/>
            <p:cNvSpPr/>
            <p:nvPr/>
          </p:nvSpPr>
          <p:spPr>
            <a:xfrm>
              <a:off x="1086124" y="3931829"/>
              <a:ext cx="41239" cy="41239"/>
            </a:xfrm>
            <a:prstGeom prst="ellipse">
              <a:avLst/>
            </a:prstGeom>
            <a:solidFill>
              <a:srgbClr val="7B1E2B"/>
            </a:solidFill>
            <a:ln w="7874">
              <a:solidFill>
                <a:srgbClr val="FFFFFF"/>
              </a:solidFill>
              <a:prstDash val="solid"/>
            </a:ln>
          </p:spPr>
        </p:sp>
        <p:sp>
          <p:nvSpPr>
            <p:cNvPr id="42" name="svg0_30"/>
            <p:cNvSpPr/>
            <p:nvPr/>
          </p:nvSpPr>
          <p:spPr>
            <a:xfrm>
              <a:off x="1318931" y="3916192"/>
              <a:ext cx="41239" cy="41239"/>
            </a:xfrm>
            <a:prstGeom prst="ellipse">
              <a:avLst/>
            </a:prstGeom>
            <a:solidFill>
              <a:srgbClr val="7B1E2B"/>
            </a:solidFill>
            <a:ln w="7874">
              <a:solidFill>
                <a:srgbClr val="FFFFFF"/>
              </a:solidFill>
              <a:prstDash val="solid"/>
            </a:ln>
          </p:spPr>
        </p:sp>
        <p:sp>
          <p:nvSpPr>
            <p:cNvPr id="43" name="svg0_31"/>
            <p:cNvSpPr/>
            <p:nvPr/>
          </p:nvSpPr>
          <p:spPr>
            <a:xfrm>
              <a:off x="1551828" y="3916101"/>
              <a:ext cx="41239" cy="41239"/>
            </a:xfrm>
            <a:prstGeom prst="ellipse">
              <a:avLst/>
            </a:prstGeom>
            <a:solidFill>
              <a:srgbClr val="7B1E2B"/>
            </a:solidFill>
            <a:ln w="7874">
              <a:solidFill>
                <a:srgbClr val="FFFFFF"/>
              </a:solidFill>
              <a:prstDash val="solid"/>
            </a:ln>
          </p:spPr>
        </p:sp>
        <p:sp>
          <p:nvSpPr>
            <p:cNvPr id="44" name="svg0_32"/>
            <p:cNvSpPr/>
            <p:nvPr/>
          </p:nvSpPr>
          <p:spPr>
            <a:xfrm>
              <a:off x="1784543" y="3932652"/>
              <a:ext cx="41239" cy="41239"/>
            </a:xfrm>
            <a:prstGeom prst="ellipse">
              <a:avLst/>
            </a:prstGeom>
            <a:solidFill>
              <a:srgbClr val="7B1E2B"/>
            </a:solidFill>
            <a:ln w="7874">
              <a:solidFill>
                <a:srgbClr val="FFFFFF"/>
              </a:solidFill>
              <a:prstDash val="solid"/>
            </a:ln>
          </p:spPr>
        </p:sp>
        <p:sp>
          <p:nvSpPr>
            <p:cNvPr id="45" name="svg0_33"/>
            <p:cNvSpPr/>
            <p:nvPr/>
          </p:nvSpPr>
          <p:spPr>
            <a:xfrm>
              <a:off x="2017441" y="3905768"/>
              <a:ext cx="41239" cy="41239"/>
            </a:xfrm>
            <a:prstGeom prst="ellipse">
              <a:avLst/>
            </a:prstGeom>
            <a:solidFill>
              <a:srgbClr val="7B1E2B"/>
            </a:solidFill>
            <a:ln w="7874">
              <a:solidFill>
                <a:srgbClr val="FFFFFF"/>
              </a:solidFill>
              <a:prstDash val="solid"/>
            </a:ln>
          </p:spPr>
        </p:sp>
        <p:sp>
          <p:nvSpPr>
            <p:cNvPr id="46" name="svg0_34"/>
            <p:cNvSpPr/>
            <p:nvPr/>
          </p:nvSpPr>
          <p:spPr>
            <a:xfrm>
              <a:off x="2250156" y="3894795"/>
              <a:ext cx="41239" cy="41239"/>
            </a:xfrm>
            <a:prstGeom prst="ellipse">
              <a:avLst/>
            </a:prstGeom>
            <a:solidFill>
              <a:srgbClr val="7B1E2B"/>
            </a:solidFill>
            <a:ln w="7874">
              <a:solidFill>
                <a:srgbClr val="FFFFFF"/>
              </a:solidFill>
              <a:prstDash val="solid"/>
            </a:ln>
          </p:spPr>
        </p:sp>
        <p:sp>
          <p:nvSpPr>
            <p:cNvPr id="47" name="svg0_35"/>
            <p:cNvSpPr txBox="1"/>
            <p:nvPr/>
          </p:nvSpPr>
          <p:spPr>
            <a:xfrm>
              <a:off x="1013704" y="3836822"/>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16%</a:t>
              </a:r>
              <a:endParaRPr lang="en-US" sz="587" dirty="0"/>
            </a:p>
          </p:txBody>
        </p:sp>
        <p:sp>
          <p:nvSpPr>
            <p:cNvPr id="48" name="svg0_36"/>
            <p:cNvSpPr txBox="1"/>
            <p:nvPr/>
          </p:nvSpPr>
          <p:spPr>
            <a:xfrm>
              <a:off x="2099828" y="3799606"/>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20%</a:t>
              </a:r>
              <a:endParaRPr lang="en-US" sz="587" dirty="0"/>
            </a:p>
          </p:txBody>
        </p:sp>
        <p:sp>
          <p:nvSpPr>
            <p:cNvPr id="49" name="svg0_37"/>
            <p:cNvSpPr/>
            <p:nvPr/>
          </p:nvSpPr>
          <p:spPr>
            <a:xfrm>
              <a:off x="641086" y="3990716"/>
              <a:ext cx="1629644" cy="307696"/>
            </a:xfrm>
            <a:custGeom>
              <a:avLst/>
              <a:gdLst/>
              <a:ahLst/>
              <a:cxnLst/>
              <a:rect l="l" t="t" r="r" b="b"/>
              <a:pathLst>
                <a:path w="1629644" h="307696">
                  <a:moveTo>
                    <a:pt x="0" y="307696"/>
                  </a:moveTo>
                  <a:lnTo>
                    <a:pt x="232806" y="120609"/>
                  </a:lnTo>
                  <a:lnTo>
                    <a:pt x="465612" y="21946"/>
                  </a:lnTo>
                  <a:lnTo>
                    <a:pt x="698327" y="0"/>
                  </a:lnTo>
                  <a:lnTo>
                    <a:pt x="931225" y="6584"/>
                  </a:lnTo>
                  <a:lnTo>
                    <a:pt x="1163940" y="57882"/>
                  </a:lnTo>
                  <a:lnTo>
                    <a:pt x="1396837" y="20300"/>
                  </a:lnTo>
                  <a:lnTo>
                    <a:pt x="1629644" y="4206"/>
                  </a:lnTo>
                </a:path>
              </a:pathLst>
            </a:custGeom>
            <a:noFill/>
            <a:ln w="15748">
              <a:solidFill>
                <a:srgbClr val="A3A3A3"/>
              </a:solidFill>
              <a:prstDash val="solid"/>
            </a:ln>
          </p:spPr>
        </p:sp>
        <p:sp>
          <p:nvSpPr>
            <p:cNvPr id="50" name="svg0_38"/>
            <p:cNvSpPr/>
            <p:nvPr/>
          </p:nvSpPr>
          <p:spPr>
            <a:xfrm>
              <a:off x="620512" y="4277746"/>
              <a:ext cx="41239" cy="41239"/>
            </a:xfrm>
            <a:prstGeom prst="ellipse">
              <a:avLst/>
            </a:prstGeom>
            <a:solidFill>
              <a:srgbClr val="A3A3A3"/>
            </a:solidFill>
            <a:ln w="7874">
              <a:solidFill>
                <a:srgbClr val="FFFFFF"/>
              </a:solidFill>
              <a:prstDash val="solid"/>
            </a:ln>
          </p:spPr>
        </p:sp>
        <p:sp>
          <p:nvSpPr>
            <p:cNvPr id="51" name="svg0_39"/>
            <p:cNvSpPr/>
            <p:nvPr/>
          </p:nvSpPr>
          <p:spPr>
            <a:xfrm>
              <a:off x="853318" y="4090660"/>
              <a:ext cx="41239" cy="41239"/>
            </a:xfrm>
            <a:prstGeom prst="ellipse">
              <a:avLst/>
            </a:prstGeom>
            <a:solidFill>
              <a:srgbClr val="A3A3A3"/>
            </a:solidFill>
            <a:ln w="7874">
              <a:solidFill>
                <a:srgbClr val="FFFFFF"/>
              </a:solidFill>
              <a:prstDash val="solid"/>
            </a:ln>
          </p:spPr>
        </p:sp>
        <p:sp>
          <p:nvSpPr>
            <p:cNvPr id="52" name="svg0_40"/>
            <p:cNvSpPr/>
            <p:nvPr/>
          </p:nvSpPr>
          <p:spPr>
            <a:xfrm>
              <a:off x="1086124" y="3991996"/>
              <a:ext cx="41239" cy="41239"/>
            </a:xfrm>
            <a:prstGeom prst="ellipse">
              <a:avLst/>
            </a:prstGeom>
            <a:solidFill>
              <a:srgbClr val="A3A3A3"/>
            </a:solidFill>
            <a:ln w="7874">
              <a:solidFill>
                <a:srgbClr val="FFFFFF"/>
              </a:solidFill>
              <a:prstDash val="solid"/>
            </a:ln>
          </p:spPr>
        </p:sp>
        <p:sp>
          <p:nvSpPr>
            <p:cNvPr id="53" name="svg0_41"/>
            <p:cNvSpPr/>
            <p:nvPr/>
          </p:nvSpPr>
          <p:spPr>
            <a:xfrm>
              <a:off x="1318931" y="3970142"/>
              <a:ext cx="41239" cy="41239"/>
            </a:xfrm>
            <a:prstGeom prst="ellipse">
              <a:avLst/>
            </a:prstGeom>
            <a:solidFill>
              <a:srgbClr val="A3A3A3"/>
            </a:solidFill>
            <a:ln w="7874">
              <a:solidFill>
                <a:srgbClr val="FFFFFF"/>
              </a:solidFill>
              <a:prstDash val="solid"/>
            </a:ln>
          </p:spPr>
        </p:sp>
        <p:sp>
          <p:nvSpPr>
            <p:cNvPr id="54" name="svg0_42"/>
            <p:cNvSpPr/>
            <p:nvPr/>
          </p:nvSpPr>
          <p:spPr>
            <a:xfrm>
              <a:off x="1551828" y="3976726"/>
              <a:ext cx="41239" cy="41239"/>
            </a:xfrm>
            <a:prstGeom prst="ellipse">
              <a:avLst/>
            </a:prstGeom>
            <a:solidFill>
              <a:srgbClr val="A3A3A3"/>
            </a:solidFill>
            <a:ln w="7874">
              <a:solidFill>
                <a:srgbClr val="FFFFFF"/>
              </a:solidFill>
              <a:prstDash val="solid"/>
            </a:ln>
          </p:spPr>
        </p:sp>
        <p:sp>
          <p:nvSpPr>
            <p:cNvPr id="55" name="svg0_43"/>
            <p:cNvSpPr/>
            <p:nvPr/>
          </p:nvSpPr>
          <p:spPr>
            <a:xfrm>
              <a:off x="1784543" y="4028023"/>
              <a:ext cx="41239" cy="41239"/>
            </a:xfrm>
            <a:prstGeom prst="ellipse">
              <a:avLst/>
            </a:prstGeom>
            <a:solidFill>
              <a:srgbClr val="A3A3A3"/>
            </a:solidFill>
            <a:ln w="7874">
              <a:solidFill>
                <a:srgbClr val="FFFFFF"/>
              </a:solidFill>
              <a:prstDash val="solid"/>
            </a:ln>
          </p:spPr>
        </p:sp>
        <p:sp>
          <p:nvSpPr>
            <p:cNvPr id="56" name="svg0_44"/>
            <p:cNvSpPr/>
            <p:nvPr/>
          </p:nvSpPr>
          <p:spPr>
            <a:xfrm>
              <a:off x="2017441" y="3990442"/>
              <a:ext cx="41239" cy="41239"/>
            </a:xfrm>
            <a:prstGeom prst="ellipse">
              <a:avLst/>
            </a:prstGeom>
            <a:solidFill>
              <a:srgbClr val="A3A3A3"/>
            </a:solidFill>
            <a:ln w="7874">
              <a:solidFill>
                <a:srgbClr val="FFFFFF"/>
              </a:solidFill>
              <a:prstDash val="solid"/>
            </a:ln>
          </p:spPr>
        </p:sp>
        <p:sp>
          <p:nvSpPr>
            <p:cNvPr id="57" name="svg0_45"/>
            <p:cNvSpPr/>
            <p:nvPr/>
          </p:nvSpPr>
          <p:spPr>
            <a:xfrm>
              <a:off x="2250156" y="3974348"/>
              <a:ext cx="41239" cy="41239"/>
            </a:xfrm>
            <a:prstGeom prst="ellipse">
              <a:avLst/>
            </a:prstGeom>
            <a:solidFill>
              <a:srgbClr val="A3A3A3"/>
            </a:solidFill>
            <a:ln w="7874">
              <a:solidFill>
                <a:srgbClr val="FFFFFF"/>
              </a:solidFill>
              <a:prstDash val="solid"/>
            </a:ln>
          </p:spPr>
        </p:sp>
        <p:sp>
          <p:nvSpPr>
            <p:cNvPr id="58" name="svg0_46"/>
            <p:cNvSpPr/>
            <p:nvPr/>
          </p:nvSpPr>
          <p:spPr>
            <a:xfrm>
              <a:off x="641086" y="4005895"/>
              <a:ext cx="1629644" cy="297729"/>
            </a:xfrm>
            <a:custGeom>
              <a:avLst/>
              <a:gdLst/>
              <a:ahLst/>
              <a:cxnLst/>
              <a:rect l="l" t="t" r="r" b="b"/>
              <a:pathLst>
                <a:path w="1629644" h="297729">
                  <a:moveTo>
                    <a:pt x="0" y="297729"/>
                  </a:moveTo>
                  <a:lnTo>
                    <a:pt x="232806" y="109637"/>
                  </a:lnTo>
                  <a:lnTo>
                    <a:pt x="465612" y="9418"/>
                  </a:lnTo>
                  <a:lnTo>
                    <a:pt x="698327" y="0"/>
                  </a:lnTo>
                  <a:lnTo>
                    <a:pt x="931225" y="27706"/>
                  </a:lnTo>
                  <a:lnTo>
                    <a:pt x="1163940" y="74798"/>
                  </a:lnTo>
                  <a:lnTo>
                    <a:pt x="1396837" y="38313"/>
                  </a:lnTo>
                  <a:lnTo>
                    <a:pt x="1629644" y="20208"/>
                  </a:lnTo>
                </a:path>
              </a:pathLst>
            </a:custGeom>
            <a:noFill/>
            <a:ln w="15748">
              <a:solidFill>
                <a:srgbClr val="D0D0D0"/>
              </a:solidFill>
              <a:prstDash val="solid"/>
            </a:ln>
          </p:spPr>
        </p:sp>
        <p:sp>
          <p:nvSpPr>
            <p:cNvPr id="59" name="svg0_47"/>
            <p:cNvSpPr/>
            <p:nvPr/>
          </p:nvSpPr>
          <p:spPr>
            <a:xfrm>
              <a:off x="620512" y="4283141"/>
              <a:ext cx="41239" cy="41239"/>
            </a:xfrm>
            <a:prstGeom prst="ellipse">
              <a:avLst/>
            </a:prstGeom>
            <a:solidFill>
              <a:srgbClr val="D0D0D0"/>
            </a:solidFill>
            <a:ln w="7874">
              <a:solidFill>
                <a:srgbClr val="FFFFFF"/>
              </a:solidFill>
              <a:prstDash val="solid"/>
            </a:ln>
          </p:spPr>
        </p:sp>
        <p:sp>
          <p:nvSpPr>
            <p:cNvPr id="60" name="svg0_48"/>
            <p:cNvSpPr/>
            <p:nvPr/>
          </p:nvSpPr>
          <p:spPr>
            <a:xfrm>
              <a:off x="853318" y="4094958"/>
              <a:ext cx="41239" cy="41239"/>
            </a:xfrm>
            <a:prstGeom prst="ellipse">
              <a:avLst/>
            </a:prstGeom>
            <a:solidFill>
              <a:srgbClr val="D0D0D0"/>
            </a:solidFill>
            <a:ln w="7874">
              <a:solidFill>
                <a:srgbClr val="FFFFFF"/>
              </a:solidFill>
              <a:prstDash val="solid"/>
            </a:ln>
          </p:spPr>
        </p:sp>
        <p:sp>
          <p:nvSpPr>
            <p:cNvPr id="61" name="svg0_49"/>
            <p:cNvSpPr/>
            <p:nvPr/>
          </p:nvSpPr>
          <p:spPr>
            <a:xfrm>
              <a:off x="1086124" y="3994739"/>
              <a:ext cx="41239" cy="41239"/>
            </a:xfrm>
            <a:prstGeom prst="ellipse">
              <a:avLst/>
            </a:prstGeom>
            <a:solidFill>
              <a:srgbClr val="D0D0D0"/>
            </a:solidFill>
            <a:ln w="7874">
              <a:solidFill>
                <a:srgbClr val="FFFFFF"/>
              </a:solidFill>
              <a:prstDash val="solid"/>
            </a:ln>
          </p:spPr>
        </p:sp>
        <p:sp>
          <p:nvSpPr>
            <p:cNvPr id="62" name="svg0_50"/>
            <p:cNvSpPr/>
            <p:nvPr/>
          </p:nvSpPr>
          <p:spPr>
            <a:xfrm>
              <a:off x="1318931" y="3985321"/>
              <a:ext cx="41239" cy="41239"/>
            </a:xfrm>
            <a:prstGeom prst="ellipse">
              <a:avLst/>
            </a:prstGeom>
            <a:solidFill>
              <a:srgbClr val="D0D0D0"/>
            </a:solidFill>
            <a:ln w="7874">
              <a:solidFill>
                <a:srgbClr val="FFFFFF"/>
              </a:solidFill>
              <a:prstDash val="solid"/>
            </a:ln>
          </p:spPr>
        </p:sp>
        <p:sp>
          <p:nvSpPr>
            <p:cNvPr id="63" name="svg0_51"/>
            <p:cNvSpPr/>
            <p:nvPr/>
          </p:nvSpPr>
          <p:spPr>
            <a:xfrm>
              <a:off x="1551828" y="4013027"/>
              <a:ext cx="41239" cy="41239"/>
            </a:xfrm>
            <a:prstGeom prst="ellipse">
              <a:avLst/>
            </a:prstGeom>
            <a:solidFill>
              <a:srgbClr val="D0D0D0"/>
            </a:solidFill>
            <a:ln w="7874">
              <a:solidFill>
                <a:srgbClr val="FFFFFF"/>
              </a:solidFill>
              <a:prstDash val="solid"/>
            </a:ln>
          </p:spPr>
        </p:sp>
        <p:sp>
          <p:nvSpPr>
            <p:cNvPr id="64" name="svg0_52"/>
            <p:cNvSpPr/>
            <p:nvPr/>
          </p:nvSpPr>
          <p:spPr>
            <a:xfrm>
              <a:off x="1784543" y="4060119"/>
              <a:ext cx="41239" cy="41239"/>
            </a:xfrm>
            <a:prstGeom prst="ellipse">
              <a:avLst/>
            </a:prstGeom>
            <a:solidFill>
              <a:srgbClr val="D0D0D0"/>
            </a:solidFill>
            <a:ln w="7874">
              <a:solidFill>
                <a:srgbClr val="FFFFFF"/>
              </a:solidFill>
              <a:prstDash val="solid"/>
            </a:ln>
          </p:spPr>
        </p:sp>
        <p:sp>
          <p:nvSpPr>
            <p:cNvPr id="65" name="svg0_53"/>
            <p:cNvSpPr/>
            <p:nvPr/>
          </p:nvSpPr>
          <p:spPr>
            <a:xfrm>
              <a:off x="2017441" y="4023634"/>
              <a:ext cx="41239" cy="41239"/>
            </a:xfrm>
            <a:prstGeom prst="ellipse">
              <a:avLst/>
            </a:prstGeom>
            <a:solidFill>
              <a:srgbClr val="D0D0D0"/>
            </a:solidFill>
            <a:ln w="7874">
              <a:solidFill>
                <a:srgbClr val="FFFFFF"/>
              </a:solidFill>
              <a:prstDash val="solid"/>
            </a:ln>
          </p:spPr>
        </p:sp>
        <p:sp>
          <p:nvSpPr>
            <p:cNvPr id="66" name="svg0_54"/>
            <p:cNvSpPr/>
            <p:nvPr/>
          </p:nvSpPr>
          <p:spPr>
            <a:xfrm>
              <a:off x="2250156" y="4005529"/>
              <a:ext cx="41239" cy="41239"/>
            </a:xfrm>
            <a:prstGeom prst="ellipse">
              <a:avLst/>
            </a:prstGeom>
            <a:solidFill>
              <a:srgbClr val="D0D0D0"/>
            </a:solidFill>
            <a:ln w="7874">
              <a:solidFill>
                <a:srgbClr val="FFFFFF"/>
              </a:solidFill>
              <a:prstDash val="solid"/>
            </a:ln>
          </p:spPr>
        </p:sp>
        <p:sp>
          <p:nvSpPr>
            <p:cNvPr id="67" name="svg0_55"/>
            <p:cNvSpPr txBox="1"/>
            <p:nvPr/>
          </p:nvSpPr>
          <p:spPr>
            <a:xfrm>
              <a:off x="2314986" y="3615995"/>
              <a:ext cx="183703"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Gộp</a:t>
              </a:r>
              <a:endParaRPr lang="en-US" sz="587" dirty="0"/>
            </a:p>
          </p:txBody>
        </p:sp>
        <p:sp>
          <p:nvSpPr>
            <p:cNvPr id="68" name="svg0_56"/>
            <p:cNvSpPr txBox="1"/>
            <p:nvPr/>
          </p:nvSpPr>
          <p:spPr>
            <a:xfrm>
              <a:off x="2314986" y="3866358"/>
              <a:ext cx="297820"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EBITDA</a:t>
              </a:r>
              <a:endParaRPr lang="en-US" sz="587" dirty="0"/>
            </a:p>
          </p:txBody>
        </p:sp>
        <p:sp>
          <p:nvSpPr>
            <p:cNvPr id="69" name="svg0_57"/>
            <p:cNvSpPr txBox="1"/>
            <p:nvPr/>
          </p:nvSpPr>
          <p:spPr>
            <a:xfrm>
              <a:off x="2314986" y="3945819"/>
              <a:ext cx="193304"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EBIT</a:t>
              </a:r>
              <a:endParaRPr lang="en-US" sz="587" dirty="0"/>
            </a:p>
          </p:txBody>
        </p:sp>
        <p:sp>
          <p:nvSpPr>
            <p:cNvPr id="70" name="svg0_58"/>
            <p:cNvSpPr txBox="1"/>
            <p:nvPr/>
          </p:nvSpPr>
          <p:spPr>
            <a:xfrm>
              <a:off x="2314986" y="4024366"/>
              <a:ext cx="212781"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LNST</a:t>
              </a:r>
              <a:endParaRPr lang="en-US" sz="587" dirty="0"/>
            </a:p>
          </p:txBody>
        </p:sp>
      </p:grpSp>
      <p:grpSp>
        <p:nvGrpSpPr>
          <p:cNvPr id="220" name="Fig. 35 – biểu đồ"/>
          <p:cNvGrpSpPr/>
          <p:nvPr/>
        </p:nvGrpSpPr>
        <p:grpSpPr>
          <a:xfrm>
            <a:off x="444764" y="5170200"/>
            <a:ext cx="2081266" cy="904250"/>
            <a:chOff x="444764" y="5170200"/>
            <a:chExt cx="2081266" cy="904250"/>
          </a:xfrm>
        </p:grpSpPr>
        <p:sp>
          <p:nvSpPr>
            <p:cNvPr id="71" name="svg1_59"/>
            <p:cNvSpPr/>
            <p:nvPr/>
          </p:nvSpPr>
          <p:spPr>
            <a:xfrm>
              <a:off x="1225205" y="5170200"/>
              <a:ext cx="1300825" cy="785470"/>
            </a:xfrm>
            <a:prstGeom prst="rect">
              <a:avLst/>
            </a:prstGeom>
            <a:solidFill>
              <a:srgbClr val="F3F1F1"/>
            </a:solidFill>
            <a:ln/>
          </p:spPr>
        </p:sp>
        <p:sp>
          <p:nvSpPr>
            <p:cNvPr id="72" name="svg1_60"/>
            <p:cNvSpPr/>
            <p:nvPr/>
          </p:nvSpPr>
          <p:spPr>
            <a:xfrm>
              <a:off x="496702" y="5713080"/>
              <a:ext cx="156088" cy="242499"/>
            </a:xfrm>
            <a:prstGeom prst="rect">
              <a:avLst/>
            </a:prstGeom>
            <a:solidFill>
              <a:srgbClr val="7B1E2B"/>
            </a:solidFill>
            <a:ln/>
          </p:spPr>
        </p:sp>
        <p:sp>
          <p:nvSpPr>
            <p:cNvPr id="73" name="svg1_61"/>
            <p:cNvSpPr txBox="1"/>
            <p:nvPr/>
          </p:nvSpPr>
          <p:spPr>
            <a:xfrm>
              <a:off x="481523" y="5613319"/>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26%</a:t>
              </a:r>
              <a:endParaRPr lang="en-US" sz="588" dirty="0"/>
            </a:p>
          </p:txBody>
        </p:sp>
        <p:sp>
          <p:nvSpPr>
            <p:cNvPr id="74" name="svg1_62"/>
            <p:cNvSpPr txBox="1"/>
            <p:nvPr/>
          </p:nvSpPr>
          <p:spPr>
            <a:xfrm>
              <a:off x="487284" y="596966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75" name="svg1_63"/>
            <p:cNvSpPr/>
            <p:nvPr/>
          </p:nvSpPr>
          <p:spPr>
            <a:xfrm>
              <a:off x="756849" y="5763738"/>
              <a:ext cx="156088" cy="191841"/>
            </a:xfrm>
            <a:prstGeom prst="rect">
              <a:avLst/>
            </a:prstGeom>
            <a:solidFill>
              <a:srgbClr val="7B1E2B"/>
            </a:solidFill>
            <a:ln/>
          </p:spPr>
        </p:sp>
        <p:sp>
          <p:nvSpPr>
            <p:cNvPr id="76" name="svg1_64"/>
            <p:cNvSpPr txBox="1"/>
            <p:nvPr/>
          </p:nvSpPr>
          <p:spPr>
            <a:xfrm>
              <a:off x="742584" y="5664342"/>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sp>
          <p:nvSpPr>
            <p:cNvPr id="77" name="svg1_65"/>
            <p:cNvSpPr txBox="1"/>
            <p:nvPr/>
          </p:nvSpPr>
          <p:spPr>
            <a:xfrm>
              <a:off x="748436" y="596966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78" name="svg1_66"/>
            <p:cNvSpPr/>
            <p:nvPr/>
          </p:nvSpPr>
          <p:spPr>
            <a:xfrm>
              <a:off x="1017087" y="5854903"/>
              <a:ext cx="156088" cy="100675"/>
            </a:xfrm>
            <a:prstGeom prst="rect">
              <a:avLst/>
            </a:prstGeom>
            <a:solidFill>
              <a:srgbClr val="7B1E2B"/>
            </a:solidFill>
            <a:ln/>
          </p:spPr>
        </p:sp>
        <p:sp>
          <p:nvSpPr>
            <p:cNvPr id="79" name="svg1_67"/>
            <p:cNvSpPr txBox="1"/>
            <p:nvPr/>
          </p:nvSpPr>
          <p:spPr>
            <a:xfrm>
              <a:off x="1001908" y="5755691"/>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11%</a:t>
              </a:r>
              <a:endParaRPr lang="en-US" sz="588" dirty="0"/>
            </a:p>
          </p:txBody>
        </p:sp>
        <p:sp>
          <p:nvSpPr>
            <p:cNvPr id="80" name="svg1_68"/>
            <p:cNvSpPr txBox="1"/>
            <p:nvPr/>
          </p:nvSpPr>
          <p:spPr>
            <a:xfrm>
              <a:off x="1007577" y="596966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81" name="svg1_69"/>
            <p:cNvSpPr/>
            <p:nvPr/>
          </p:nvSpPr>
          <p:spPr>
            <a:xfrm>
              <a:off x="1277234" y="5767395"/>
              <a:ext cx="156088" cy="188184"/>
            </a:xfrm>
            <a:prstGeom prst="rect">
              <a:avLst/>
            </a:prstGeom>
            <a:pattFill prst="wdUpDiag">
              <a:fgClr>
                <a:srgbClr val="7B1E2B"/>
              </a:fgClr>
              <a:bgClr>
                <a:srgbClr val="FFFFFF"/>
              </a:bgClr>
            </a:pattFill>
            <a:ln w="7874">
              <a:solidFill>
                <a:srgbClr val="7B1E2B"/>
              </a:solidFill>
              <a:prstDash val="solid"/>
            </a:ln>
          </p:spPr>
        </p:sp>
        <p:sp>
          <p:nvSpPr>
            <p:cNvPr id="82" name="svg1_70"/>
            <p:cNvSpPr txBox="1"/>
            <p:nvPr/>
          </p:nvSpPr>
          <p:spPr>
            <a:xfrm>
              <a:off x="1262969" y="566726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sp>
          <p:nvSpPr>
            <p:cNvPr id="83" name="svg1_71"/>
            <p:cNvSpPr txBox="1"/>
            <p:nvPr/>
          </p:nvSpPr>
          <p:spPr>
            <a:xfrm>
              <a:off x="1272753" y="596966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84" name="svg1_72"/>
            <p:cNvSpPr/>
            <p:nvPr/>
          </p:nvSpPr>
          <p:spPr>
            <a:xfrm>
              <a:off x="1537472" y="5344028"/>
              <a:ext cx="156088" cy="611642"/>
            </a:xfrm>
            <a:prstGeom prst="rect">
              <a:avLst/>
            </a:prstGeom>
            <a:pattFill prst="wdUpDiag">
              <a:fgClr>
                <a:srgbClr val="7B1E2B"/>
              </a:fgClr>
              <a:bgClr>
                <a:srgbClr val="FFFFFF"/>
              </a:bgClr>
            </a:pattFill>
            <a:ln w="7874">
              <a:solidFill>
                <a:srgbClr val="7B1E2B"/>
              </a:solidFill>
              <a:prstDash val="solid"/>
            </a:ln>
          </p:spPr>
        </p:sp>
        <p:sp>
          <p:nvSpPr>
            <p:cNvPr id="85" name="svg1_73"/>
            <p:cNvSpPr txBox="1"/>
            <p:nvPr/>
          </p:nvSpPr>
          <p:spPr>
            <a:xfrm>
              <a:off x="1522202" y="5244175"/>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65%</a:t>
              </a:r>
              <a:endParaRPr lang="en-US" sz="588" dirty="0"/>
            </a:p>
          </p:txBody>
        </p:sp>
        <p:sp>
          <p:nvSpPr>
            <p:cNvPr id="86" name="svg1_74"/>
            <p:cNvSpPr txBox="1"/>
            <p:nvPr/>
          </p:nvSpPr>
          <p:spPr>
            <a:xfrm>
              <a:off x="1531986" y="596966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87" name="svg1_75"/>
            <p:cNvSpPr/>
            <p:nvPr/>
          </p:nvSpPr>
          <p:spPr>
            <a:xfrm>
              <a:off x="1797528" y="5842650"/>
              <a:ext cx="156088" cy="112928"/>
            </a:xfrm>
            <a:prstGeom prst="rect">
              <a:avLst/>
            </a:prstGeom>
            <a:pattFill prst="wdUpDiag">
              <a:fgClr>
                <a:srgbClr val="7B1E2B"/>
              </a:fgClr>
              <a:bgClr>
                <a:srgbClr val="FFFFFF"/>
              </a:bgClr>
            </a:pattFill>
            <a:ln w="7874">
              <a:solidFill>
                <a:srgbClr val="7B1E2B"/>
              </a:solidFill>
              <a:prstDash val="solid"/>
            </a:ln>
          </p:spPr>
        </p:sp>
        <p:sp>
          <p:nvSpPr>
            <p:cNvPr id="88" name="svg1_76"/>
            <p:cNvSpPr txBox="1"/>
            <p:nvPr/>
          </p:nvSpPr>
          <p:spPr>
            <a:xfrm>
              <a:off x="1783354" y="5742889"/>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12%</a:t>
              </a:r>
              <a:endParaRPr lang="en-US" sz="588" dirty="0"/>
            </a:p>
          </p:txBody>
        </p:sp>
        <p:sp>
          <p:nvSpPr>
            <p:cNvPr id="89" name="svg1_77"/>
            <p:cNvSpPr txBox="1"/>
            <p:nvPr/>
          </p:nvSpPr>
          <p:spPr>
            <a:xfrm>
              <a:off x="1793138" y="596966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90" name="svg1_78"/>
            <p:cNvSpPr/>
            <p:nvPr/>
          </p:nvSpPr>
          <p:spPr>
            <a:xfrm>
              <a:off x="2057766" y="5861487"/>
              <a:ext cx="156088" cy="94092"/>
            </a:xfrm>
            <a:prstGeom prst="rect">
              <a:avLst/>
            </a:prstGeom>
            <a:pattFill prst="wdUpDiag">
              <a:fgClr>
                <a:srgbClr val="7B1E2B"/>
              </a:fgClr>
              <a:bgClr>
                <a:srgbClr val="FFFFFF"/>
              </a:bgClr>
            </a:pattFill>
            <a:ln w="7874">
              <a:solidFill>
                <a:srgbClr val="7B1E2B"/>
              </a:solidFill>
              <a:prstDash val="solid"/>
            </a:ln>
          </p:spPr>
        </p:sp>
        <p:sp>
          <p:nvSpPr>
            <p:cNvPr id="91" name="svg1_79"/>
            <p:cNvSpPr txBox="1"/>
            <p:nvPr/>
          </p:nvSpPr>
          <p:spPr>
            <a:xfrm>
              <a:off x="2042587" y="5761543"/>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10%</a:t>
              </a:r>
              <a:endParaRPr lang="en-US" sz="588" dirty="0"/>
            </a:p>
          </p:txBody>
        </p:sp>
        <p:sp>
          <p:nvSpPr>
            <p:cNvPr id="92" name="svg1_80"/>
            <p:cNvSpPr txBox="1"/>
            <p:nvPr/>
          </p:nvSpPr>
          <p:spPr>
            <a:xfrm>
              <a:off x="2052279" y="596966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93" name="svg1_81"/>
            <p:cNvSpPr/>
            <p:nvPr/>
          </p:nvSpPr>
          <p:spPr>
            <a:xfrm>
              <a:off x="2317913" y="5861487"/>
              <a:ext cx="156088" cy="94092"/>
            </a:xfrm>
            <a:prstGeom prst="rect">
              <a:avLst/>
            </a:prstGeom>
            <a:pattFill prst="wdUpDiag">
              <a:fgClr>
                <a:srgbClr val="7B1E2B"/>
              </a:fgClr>
              <a:bgClr>
                <a:srgbClr val="FFFFFF"/>
              </a:bgClr>
            </a:pattFill>
            <a:ln w="7874">
              <a:solidFill>
                <a:srgbClr val="7B1E2B"/>
              </a:solidFill>
              <a:prstDash val="solid"/>
            </a:ln>
          </p:spPr>
        </p:sp>
        <p:sp>
          <p:nvSpPr>
            <p:cNvPr id="94" name="svg1_82"/>
            <p:cNvSpPr txBox="1"/>
            <p:nvPr/>
          </p:nvSpPr>
          <p:spPr>
            <a:xfrm>
              <a:off x="2303648" y="5761543"/>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10%</a:t>
              </a:r>
              <a:endParaRPr lang="en-US" sz="588" dirty="0"/>
            </a:p>
          </p:txBody>
        </p:sp>
        <p:sp>
          <p:nvSpPr>
            <p:cNvPr id="95" name="svg1_83"/>
            <p:cNvSpPr txBox="1"/>
            <p:nvPr/>
          </p:nvSpPr>
          <p:spPr>
            <a:xfrm>
              <a:off x="2313432" y="596966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96" name="svg1_84"/>
            <p:cNvSpPr/>
            <p:nvPr/>
          </p:nvSpPr>
          <p:spPr>
            <a:xfrm>
              <a:off x="444764" y="5955579"/>
              <a:ext cx="2081266" cy="0"/>
            </a:xfrm>
            <a:prstGeom prst="line">
              <a:avLst/>
            </a:prstGeom>
            <a:noFill/>
            <a:ln w="6858">
              <a:solidFill>
                <a:srgbClr val="8C8C8C"/>
              </a:solidFill>
              <a:prstDash val="solid"/>
            </a:ln>
          </p:spPr>
        </p:sp>
        <p:sp>
          <p:nvSpPr>
            <p:cNvPr id="97" name="svg1_85"/>
            <p:cNvSpPr/>
            <p:nvPr/>
          </p:nvSpPr>
          <p:spPr>
            <a:xfrm>
              <a:off x="444764" y="5877855"/>
              <a:ext cx="2081266" cy="0"/>
            </a:xfrm>
            <a:prstGeom prst="line">
              <a:avLst/>
            </a:prstGeom>
            <a:noFill/>
            <a:ln w="8890">
              <a:solidFill>
                <a:srgbClr val="404040"/>
              </a:solidFill>
              <a:prstDash val="dash"/>
            </a:ln>
          </p:spPr>
        </p:sp>
        <p:sp>
          <p:nvSpPr>
            <p:cNvPr id="98" name="svg1_86"/>
            <p:cNvSpPr/>
            <p:nvPr/>
          </p:nvSpPr>
          <p:spPr>
            <a:xfrm>
              <a:off x="464332" y="5273253"/>
              <a:ext cx="98115" cy="0"/>
            </a:xfrm>
            <a:prstGeom prst="line">
              <a:avLst/>
            </a:prstGeom>
            <a:noFill/>
            <a:ln w="9779">
              <a:solidFill>
                <a:srgbClr val="404040"/>
              </a:solidFill>
              <a:prstDash val="dash"/>
            </a:ln>
          </p:spPr>
        </p:sp>
        <p:sp>
          <p:nvSpPr>
            <p:cNvPr id="99" name="svg1_87"/>
            <p:cNvSpPr txBox="1"/>
            <p:nvPr/>
          </p:nvSpPr>
          <p:spPr>
            <a:xfrm>
              <a:off x="591983" y="5221590"/>
              <a:ext cx="572140" cy="104790"/>
            </a:xfrm>
            <a:prstGeom prst="rect">
              <a:avLst/>
            </a:prstGeom>
            <a:noFill/>
            <a:ln/>
          </p:spPr>
          <p:txBody>
            <a:bodyPr wrap="none" lIns="0" tIns="0" rIns="0" bIns="0" rtlCol="0" anchor="ctr"/>
            <a:lstStyle/>
            <a:p>
              <a:pPr algn="l" indent="0" marL="0">
                <a:buNone/>
              </a:pPr>
              <a:r>
                <a:rPr lang="en-US" sz="557" b="1" dirty="0">
                  <a:solidFill>
                    <a:srgbClr val="404040"/>
                  </a:solidFill>
                  <a:latin typeface="Calibri" pitchFamily="34" charset="0"/>
                  <a:ea typeface="Calibri" pitchFamily="34" charset="-122"/>
                  <a:cs typeface="Calibri" pitchFamily="34" charset="-120"/>
                </a:rPr>
                <a:t>P75 ngành 8,3%</a:t>
              </a:r>
              <a:endParaRPr lang="en-US" sz="557" dirty="0"/>
            </a:p>
          </p:txBody>
        </p:sp>
        <p:sp>
          <p:nvSpPr>
            <p:cNvPr id="100" name="svg1_88"/>
            <p:cNvSpPr/>
            <p:nvPr/>
          </p:nvSpPr>
          <p:spPr>
            <a:xfrm>
              <a:off x="444764" y="5925952"/>
              <a:ext cx="2081266" cy="0"/>
            </a:xfrm>
            <a:prstGeom prst="line">
              <a:avLst/>
            </a:prstGeom>
            <a:noFill/>
            <a:ln w="8890">
              <a:solidFill>
                <a:srgbClr val="A3A3A3"/>
              </a:solidFill>
              <a:prstDash val="dash"/>
            </a:ln>
          </p:spPr>
        </p:sp>
        <p:sp>
          <p:nvSpPr>
            <p:cNvPr id="101" name="svg1_89"/>
            <p:cNvSpPr/>
            <p:nvPr/>
          </p:nvSpPr>
          <p:spPr>
            <a:xfrm>
              <a:off x="464332" y="5361584"/>
              <a:ext cx="98115" cy="0"/>
            </a:xfrm>
            <a:prstGeom prst="line">
              <a:avLst/>
            </a:prstGeom>
            <a:noFill/>
            <a:ln w="9779">
              <a:solidFill>
                <a:srgbClr val="A3A3A3"/>
              </a:solidFill>
              <a:prstDash val="dash"/>
            </a:ln>
          </p:spPr>
        </p:sp>
        <p:sp>
          <p:nvSpPr>
            <p:cNvPr id="102" name="svg1_90"/>
            <p:cNvSpPr txBox="1"/>
            <p:nvPr/>
          </p:nvSpPr>
          <p:spPr>
            <a:xfrm>
              <a:off x="591983" y="5309921"/>
              <a:ext cx="712500" cy="104790"/>
            </a:xfrm>
            <a:prstGeom prst="rect">
              <a:avLst/>
            </a:prstGeom>
            <a:noFill/>
            <a:ln/>
          </p:spPr>
          <p:txBody>
            <a:bodyPr wrap="none" lIns="0" tIns="0" rIns="0" bIns="0" rtlCol="0" anchor="ctr"/>
            <a:lstStyle/>
            <a:p>
              <a:pPr algn="l" indent="0" marL="0">
                <a:buNone/>
              </a:pPr>
              <a:r>
                <a:rPr lang="en-US" sz="557" b="1" dirty="0">
                  <a:solidFill>
                    <a:srgbClr val="A3A3A3"/>
                  </a:solidFill>
                  <a:latin typeface="Calibri" pitchFamily="34" charset="0"/>
                  <a:ea typeface="Calibri" pitchFamily="34" charset="-122"/>
                  <a:cs typeface="Calibri" pitchFamily="34" charset="-120"/>
                </a:rPr>
                <a:t>Trung vị ngành 3,1%</a:t>
              </a:r>
              <a:endParaRPr lang="en-US" sz="557" dirty="0"/>
            </a:p>
          </p:txBody>
        </p:sp>
      </p:grpSp>
      <p:grpSp>
        <p:nvGrpSpPr>
          <p:cNvPr id="221" name="Fig. 36 – biểu đồ"/>
          <p:cNvGrpSpPr/>
          <p:nvPr/>
        </p:nvGrpSpPr>
        <p:grpSpPr>
          <a:xfrm>
            <a:off x="444856" y="6757599"/>
            <a:ext cx="2081083" cy="742950"/>
            <a:chOff x="444856" y="6757599"/>
            <a:chExt cx="2081083" cy="742950"/>
          </a:xfrm>
        </p:grpSpPr>
        <p:sp>
          <p:nvSpPr>
            <p:cNvPr id="103" name="svg2_91"/>
            <p:cNvSpPr/>
            <p:nvPr/>
          </p:nvSpPr>
          <p:spPr>
            <a:xfrm>
              <a:off x="487832" y="7339340"/>
              <a:ext cx="125456" cy="44257"/>
            </a:xfrm>
            <a:prstGeom prst="rect">
              <a:avLst/>
            </a:prstGeom>
            <a:solidFill>
              <a:srgbClr val="7B1E2B"/>
            </a:solidFill>
            <a:ln/>
          </p:spPr>
        </p:sp>
        <p:sp>
          <p:nvSpPr>
            <p:cNvPr id="104" name="svg2_92"/>
            <p:cNvSpPr txBox="1"/>
            <p:nvPr/>
          </p:nvSpPr>
          <p:spPr>
            <a:xfrm>
              <a:off x="480792" y="724360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5,1</a:t>
              </a:r>
              <a:endParaRPr lang="en-US" sz="557" dirty="0"/>
            </a:p>
          </p:txBody>
        </p:sp>
        <p:sp>
          <p:nvSpPr>
            <p:cNvPr id="105" name="svg2_93"/>
            <p:cNvSpPr/>
            <p:nvPr/>
          </p:nvSpPr>
          <p:spPr>
            <a:xfrm>
              <a:off x="623164" y="7356348"/>
              <a:ext cx="125547" cy="27249"/>
            </a:xfrm>
            <a:prstGeom prst="rect">
              <a:avLst/>
            </a:prstGeom>
            <a:solidFill>
              <a:srgbClr val="A3A3A3"/>
            </a:solidFill>
            <a:ln/>
          </p:spPr>
        </p:sp>
        <p:sp>
          <p:nvSpPr>
            <p:cNvPr id="106" name="svg2_94"/>
            <p:cNvSpPr txBox="1"/>
            <p:nvPr/>
          </p:nvSpPr>
          <p:spPr>
            <a:xfrm>
              <a:off x="616214" y="7260245"/>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3,1</a:t>
              </a:r>
              <a:endParaRPr lang="en-US" sz="557" dirty="0"/>
            </a:p>
          </p:txBody>
        </p:sp>
        <p:sp>
          <p:nvSpPr>
            <p:cNvPr id="107" name="svg2_95"/>
            <p:cNvSpPr txBox="1"/>
            <p:nvPr/>
          </p:nvSpPr>
          <p:spPr>
            <a:xfrm>
              <a:off x="530443" y="7395759"/>
              <a:ext cx="17858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25A</a:t>
              </a:r>
              <a:endParaRPr lang="en-US" sz="587" dirty="0"/>
            </a:p>
          </p:txBody>
        </p:sp>
        <p:sp>
          <p:nvSpPr>
            <p:cNvPr id="108" name="svg2_96"/>
            <p:cNvSpPr/>
            <p:nvPr/>
          </p:nvSpPr>
          <p:spPr>
            <a:xfrm>
              <a:off x="834664" y="7272589"/>
              <a:ext cx="125547" cy="111008"/>
            </a:xfrm>
            <a:prstGeom prst="rect">
              <a:avLst/>
            </a:prstGeom>
            <a:solidFill>
              <a:srgbClr val="7B1E2B"/>
            </a:solidFill>
            <a:ln/>
          </p:spPr>
        </p:sp>
        <p:sp>
          <p:nvSpPr>
            <p:cNvPr id="109" name="svg2_97"/>
            <p:cNvSpPr txBox="1"/>
            <p:nvPr/>
          </p:nvSpPr>
          <p:spPr>
            <a:xfrm>
              <a:off x="806867" y="7176760"/>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12,7</a:t>
              </a:r>
              <a:endParaRPr lang="en-US" sz="557" dirty="0"/>
            </a:p>
          </p:txBody>
        </p:sp>
        <p:sp>
          <p:nvSpPr>
            <p:cNvPr id="110" name="svg2_98"/>
            <p:cNvSpPr/>
            <p:nvPr/>
          </p:nvSpPr>
          <p:spPr>
            <a:xfrm>
              <a:off x="969996" y="7351044"/>
              <a:ext cx="125456" cy="32553"/>
            </a:xfrm>
            <a:prstGeom prst="rect">
              <a:avLst/>
            </a:prstGeom>
            <a:solidFill>
              <a:srgbClr val="A3A3A3"/>
            </a:solidFill>
            <a:ln/>
          </p:spPr>
        </p:sp>
        <p:sp>
          <p:nvSpPr>
            <p:cNvPr id="111" name="svg2_99"/>
            <p:cNvSpPr txBox="1"/>
            <p:nvPr/>
          </p:nvSpPr>
          <p:spPr>
            <a:xfrm>
              <a:off x="962772" y="7255398"/>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3,7</a:t>
              </a:r>
              <a:endParaRPr lang="en-US" sz="557" dirty="0"/>
            </a:p>
          </p:txBody>
        </p:sp>
        <p:sp>
          <p:nvSpPr>
            <p:cNvPr id="112" name="svg2_100"/>
            <p:cNvSpPr txBox="1"/>
            <p:nvPr/>
          </p:nvSpPr>
          <p:spPr>
            <a:xfrm>
              <a:off x="882030" y="7395759"/>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26E</a:t>
              </a:r>
              <a:endParaRPr lang="en-US" sz="587" dirty="0"/>
            </a:p>
          </p:txBody>
        </p:sp>
        <p:sp>
          <p:nvSpPr>
            <p:cNvPr id="113" name="svg2_101"/>
            <p:cNvSpPr/>
            <p:nvPr/>
          </p:nvSpPr>
          <p:spPr>
            <a:xfrm>
              <a:off x="1181588" y="6931975"/>
              <a:ext cx="125456" cy="451622"/>
            </a:xfrm>
            <a:prstGeom prst="rect">
              <a:avLst/>
            </a:prstGeom>
            <a:solidFill>
              <a:srgbClr val="7B1E2B"/>
            </a:solidFill>
            <a:ln/>
          </p:spPr>
        </p:sp>
        <p:sp>
          <p:nvSpPr>
            <p:cNvPr id="114" name="svg2_102"/>
            <p:cNvSpPr txBox="1"/>
            <p:nvPr/>
          </p:nvSpPr>
          <p:spPr>
            <a:xfrm>
              <a:off x="1153516" y="6836146"/>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51,8</a:t>
              </a:r>
              <a:endParaRPr lang="en-US" sz="557" dirty="0"/>
            </a:p>
          </p:txBody>
        </p:sp>
        <p:sp>
          <p:nvSpPr>
            <p:cNvPr id="115" name="svg2_103"/>
            <p:cNvSpPr/>
            <p:nvPr/>
          </p:nvSpPr>
          <p:spPr>
            <a:xfrm>
              <a:off x="1316827" y="7337694"/>
              <a:ext cx="125456" cy="45903"/>
            </a:xfrm>
            <a:prstGeom prst="rect">
              <a:avLst/>
            </a:prstGeom>
            <a:solidFill>
              <a:srgbClr val="A3A3A3"/>
            </a:solidFill>
            <a:ln/>
          </p:spPr>
        </p:sp>
        <p:sp>
          <p:nvSpPr>
            <p:cNvPr id="116" name="svg2_104"/>
            <p:cNvSpPr txBox="1"/>
            <p:nvPr/>
          </p:nvSpPr>
          <p:spPr>
            <a:xfrm>
              <a:off x="1309329" y="724168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5,3</a:t>
              </a:r>
              <a:endParaRPr lang="en-US" sz="557" dirty="0"/>
            </a:p>
          </p:txBody>
        </p:sp>
        <p:sp>
          <p:nvSpPr>
            <p:cNvPr id="117" name="svg2_105"/>
            <p:cNvSpPr txBox="1"/>
            <p:nvPr/>
          </p:nvSpPr>
          <p:spPr>
            <a:xfrm>
              <a:off x="1228588" y="7395759"/>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27E</a:t>
              </a:r>
              <a:endParaRPr lang="en-US" sz="587" dirty="0"/>
            </a:p>
          </p:txBody>
        </p:sp>
        <p:sp>
          <p:nvSpPr>
            <p:cNvPr id="118" name="svg2_106"/>
            <p:cNvSpPr/>
            <p:nvPr/>
          </p:nvSpPr>
          <p:spPr>
            <a:xfrm>
              <a:off x="1528511" y="7268108"/>
              <a:ext cx="125456" cy="115489"/>
            </a:xfrm>
            <a:prstGeom prst="rect">
              <a:avLst/>
            </a:prstGeom>
            <a:solidFill>
              <a:srgbClr val="7B1E2B"/>
            </a:solidFill>
            <a:ln/>
          </p:spPr>
        </p:sp>
        <p:sp>
          <p:nvSpPr>
            <p:cNvPr id="119" name="svg2_107"/>
            <p:cNvSpPr txBox="1"/>
            <p:nvPr/>
          </p:nvSpPr>
          <p:spPr>
            <a:xfrm>
              <a:off x="1500988" y="7171914"/>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13,2</a:t>
              </a:r>
              <a:endParaRPr lang="en-US" sz="557" dirty="0"/>
            </a:p>
          </p:txBody>
        </p:sp>
        <p:sp>
          <p:nvSpPr>
            <p:cNvPr id="120" name="svg2_108"/>
            <p:cNvSpPr/>
            <p:nvPr/>
          </p:nvSpPr>
          <p:spPr>
            <a:xfrm>
              <a:off x="1663751" y="7283470"/>
              <a:ext cx="125456" cy="100127"/>
            </a:xfrm>
            <a:prstGeom prst="rect">
              <a:avLst/>
            </a:prstGeom>
            <a:solidFill>
              <a:srgbClr val="A3A3A3"/>
            </a:solidFill>
            <a:ln/>
          </p:spPr>
        </p:sp>
        <p:sp>
          <p:nvSpPr>
            <p:cNvPr id="121" name="svg2_109"/>
            <p:cNvSpPr txBox="1"/>
            <p:nvPr/>
          </p:nvSpPr>
          <p:spPr>
            <a:xfrm>
              <a:off x="1636410" y="7187641"/>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11,5</a:t>
              </a:r>
              <a:endParaRPr lang="en-US" sz="557" dirty="0"/>
            </a:p>
          </p:txBody>
        </p:sp>
        <p:sp>
          <p:nvSpPr>
            <p:cNvPr id="122" name="svg2_110"/>
            <p:cNvSpPr txBox="1"/>
            <p:nvPr/>
          </p:nvSpPr>
          <p:spPr>
            <a:xfrm>
              <a:off x="1576060" y="7395759"/>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28E</a:t>
              </a:r>
              <a:endParaRPr lang="en-US" sz="587" dirty="0"/>
            </a:p>
          </p:txBody>
        </p:sp>
        <p:sp>
          <p:nvSpPr>
            <p:cNvPr id="123" name="svg2_111"/>
            <p:cNvSpPr/>
            <p:nvPr/>
          </p:nvSpPr>
          <p:spPr>
            <a:xfrm>
              <a:off x="1875252" y="7260245"/>
              <a:ext cx="125456" cy="123353"/>
            </a:xfrm>
            <a:prstGeom prst="rect">
              <a:avLst/>
            </a:prstGeom>
            <a:solidFill>
              <a:srgbClr val="7B1E2B"/>
            </a:solidFill>
            <a:ln/>
          </p:spPr>
        </p:sp>
        <p:sp>
          <p:nvSpPr>
            <p:cNvPr id="124" name="svg2_112"/>
            <p:cNvSpPr txBox="1"/>
            <p:nvPr/>
          </p:nvSpPr>
          <p:spPr>
            <a:xfrm>
              <a:off x="1847545" y="7164050"/>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14,2</a:t>
              </a:r>
              <a:endParaRPr lang="en-US" sz="557" dirty="0"/>
            </a:p>
          </p:txBody>
        </p:sp>
        <p:sp>
          <p:nvSpPr>
            <p:cNvPr id="125" name="svg2_113"/>
            <p:cNvSpPr/>
            <p:nvPr/>
          </p:nvSpPr>
          <p:spPr>
            <a:xfrm>
              <a:off x="2010674" y="7269571"/>
              <a:ext cx="125456" cy="114026"/>
            </a:xfrm>
            <a:prstGeom prst="rect">
              <a:avLst/>
            </a:prstGeom>
            <a:solidFill>
              <a:srgbClr val="A3A3A3"/>
            </a:solidFill>
            <a:ln/>
          </p:spPr>
        </p:sp>
        <p:sp>
          <p:nvSpPr>
            <p:cNvPr id="126" name="svg2_114"/>
            <p:cNvSpPr txBox="1"/>
            <p:nvPr/>
          </p:nvSpPr>
          <p:spPr>
            <a:xfrm>
              <a:off x="1983059" y="7173834"/>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13,1</a:t>
              </a:r>
              <a:endParaRPr lang="en-US" sz="557" dirty="0"/>
            </a:p>
          </p:txBody>
        </p:sp>
        <p:sp>
          <p:nvSpPr>
            <p:cNvPr id="127" name="svg2_115"/>
            <p:cNvSpPr txBox="1"/>
            <p:nvPr/>
          </p:nvSpPr>
          <p:spPr>
            <a:xfrm>
              <a:off x="1922617" y="7395759"/>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29E</a:t>
              </a:r>
              <a:endParaRPr lang="en-US" sz="587" dirty="0"/>
            </a:p>
          </p:txBody>
        </p:sp>
        <p:sp>
          <p:nvSpPr>
            <p:cNvPr id="128" name="svg2_116"/>
            <p:cNvSpPr/>
            <p:nvPr/>
          </p:nvSpPr>
          <p:spPr>
            <a:xfrm>
              <a:off x="2222175" y="7235190"/>
              <a:ext cx="125456" cy="148407"/>
            </a:xfrm>
            <a:prstGeom prst="rect">
              <a:avLst/>
            </a:prstGeom>
            <a:solidFill>
              <a:srgbClr val="7B1E2B"/>
            </a:solidFill>
            <a:ln/>
          </p:spPr>
        </p:sp>
        <p:sp>
          <p:nvSpPr>
            <p:cNvPr id="129" name="svg2_117"/>
            <p:cNvSpPr txBox="1"/>
            <p:nvPr/>
          </p:nvSpPr>
          <p:spPr>
            <a:xfrm>
              <a:off x="2194103" y="7139544"/>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17,0</a:t>
              </a:r>
              <a:endParaRPr lang="en-US" sz="557" dirty="0"/>
            </a:p>
          </p:txBody>
        </p:sp>
        <p:sp>
          <p:nvSpPr>
            <p:cNvPr id="130" name="svg2_118"/>
            <p:cNvSpPr/>
            <p:nvPr/>
          </p:nvSpPr>
          <p:spPr>
            <a:xfrm>
              <a:off x="2357415" y="7254850"/>
              <a:ext cx="125456" cy="128748"/>
            </a:xfrm>
            <a:prstGeom prst="rect">
              <a:avLst/>
            </a:prstGeom>
            <a:solidFill>
              <a:srgbClr val="A3A3A3"/>
            </a:solidFill>
            <a:ln/>
          </p:spPr>
        </p:sp>
        <p:sp>
          <p:nvSpPr>
            <p:cNvPr id="131" name="svg2_119"/>
            <p:cNvSpPr txBox="1"/>
            <p:nvPr/>
          </p:nvSpPr>
          <p:spPr>
            <a:xfrm>
              <a:off x="2329617" y="7159203"/>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14,8</a:t>
              </a:r>
              <a:endParaRPr lang="en-US" sz="557" dirty="0"/>
            </a:p>
          </p:txBody>
        </p:sp>
        <p:sp>
          <p:nvSpPr>
            <p:cNvPr id="132" name="svg2_120"/>
            <p:cNvSpPr txBox="1"/>
            <p:nvPr/>
          </p:nvSpPr>
          <p:spPr>
            <a:xfrm>
              <a:off x="2269175" y="7395759"/>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30E</a:t>
              </a:r>
              <a:endParaRPr lang="en-US" sz="587" dirty="0"/>
            </a:p>
          </p:txBody>
        </p:sp>
        <p:sp>
          <p:nvSpPr>
            <p:cNvPr id="133" name="svg2_121"/>
            <p:cNvSpPr/>
            <p:nvPr/>
          </p:nvSpPr>
          <p:spPr>
            <a:xfrm>
              <a:off x="444856" y="7383597"/>
              <a:ext cx="2081083" cy="0"/>
            </a:xfrm>
            <a:prstGeom prst="line">
              <a:avLst/>
            </a:prstGeom>
            <a:noFill/>
            <a:ln w="6858">
              <a:solidFill>
                <a:srgbClr val="8C8C8C"/>
              </a:solidFill>
              <a:prstDash val="solid"/>
            </a:ln>
          </p:spPr>
        </p:sp>
        <p:sp>
          <p:nvSpPr>
            <p:cNvPr id="134" name="svg2_122"/>
            <p:cNvSpPr/>
            <p:nvPr/>
          </p:nvSpPr>
          <p:spPr>
            <a:xfrm>
              <a:off x="444856" y="6778813"/>
              <a:ext cx="60899" cy="60899"/>
            </a:xfrm>
            <a:prstGeom prst="rect">
              <a:avLst/>
            </a:prstGeom>
            <a:solidFill>
              <a:srgbClr val="7B1E2B"/>
            </a:solidFill>
            <a:ln/>
          </p:spPr>
        </p:sp>
        <p:sp>
          <p:nvSpPr>
            <p:cNvPr id="135" name="svg2_123"/>
            <p:cNvSpPr txBox="1"/>
            <p:nvPr/>
          </p:nvSpPr>
          <p:spPr>
            <a:xfrm>
              <a:off x="528249" y="6757599"/>
              <a:ext cx="27230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CAPEX</a:t>
              </a:r>
              <a:endParaRPr lang="en-US" sz="587" dirty="0"/>
            </a:p>
          </p:txBody>
        </p:sp>
        <p:sp>
          <p:nvSpPr>
            <p:cNvPr id="136" name="svg2_124"/>
            <p:cNvSpPr/>
            <p:nvPr/>
          </p:nvSpPr>
          <p:spPr>
            <a:xfrm>
              <a:off x="791870" y="6778813"/>
              <a:ext cx="60899" cy="60899"/>
            </a:xfrm>
            <a:prstGeom prst="rect">
              <a:avLst/>
            </a:prstGeom>
            <a:solidFill>
              <a:srgbClr val="A3A3A3"/>
            </a:solidFill>
            <a:ln/>
          </p:spPr>
        </p:sp>
        <p:sp>
          <p:nvSpPr>
            <p:cNvPr id="137" name="svg2_125"/>
            <p:cNvSpPr txBox="1"/>
            <p:nvPr/>
          </p:nvSpPr>
          <p:spPr>
            <a:xfrm>
              <a:off x="875721" y="6757599"/>
              <a:ext cx="36182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Khấu hao</a:t>
              </a:r>
              <a:endParaRPr lang="en-US" sz="587" dirty="0"/>
            </a:p>
          </p:txBody>
        </p:sp>
      </p:grpSp>
      <p:grpSp>
        <p:nvGrpSpPr>
          <p:cNvPr id="222" name="Fig. 36 – biểu đồ"/>
          <p:cNvGrpSpPr/>
          <p:nvPr/>
        </p:nvGrpSpPr>
        <p:grpSpPr>
          <a:xfrm>
            <a:off x="444856" y="7620701"/>
            <a:ext cx="2081083" cy="709117"/>
            <a:chOff x="444856" y="7620701"/>
            <a:chExt cx="2081083" cy="709117"/>
          </a:xfrm>
        </p:grpSpPr>
        <p:sp>
          <p:nvSpPr>
            <p:cNvPr id="138" name="svg3_126"/>
            <p:cNvSpPr/>
            <p:nvPr/>
          </p:nvSpPr>
          <p:spPr>
            <a:xfrm>
              <a:off x="791596" y="7651425"/>
              <a:ext cx="1734342" cy="559521"/>
            </a:xfrm>
            <a:prstGeom prst="rect">
              <a:avLst/>
            </a:prstGeom>
            <a:solidFill>
              <a:srgbClr val="F3F1F1"/>
            </a:solidFill>
            <a:ln/>
          </p:spPr>
        </p:sp>
        <p:sp>
          <p:nvSpPr>
            <p:cNvPr id="139" name="svg3_127"/>
            <p:cNvSpPr/>
            <p:nvPr/>
          </p:nvSpPr>
          <p:spPr>
            <a:xfrm>
              <a:off x="510692" y="7785567"/>
              <a:ext cx="215067" cy="8961"/>
            </a:xfrm>
            <a:prstGeom prst="rect">
              <a:avLst/>
            </a:prstGeom>
            <a:solidFill>
              <a:srgbClr val="7B1E2B"/>
            </a:solidFill>
            <a:ln/>
          </p:spPr>
        </p:sp>
        <p:sp>
          <p:nvSpPr>
            <p:cNvPr id="140" name="svg3_128"/>
            <p:cNvSpPr txBox="1"/>
            <p:nvPr/>
          </p:nvSpPr>
          <p:spPr>
            <a:xfrm>
              <a:off x="539770" y="7676571"/>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1,2</a:t>
              </a:r>
              <a:endParaRPr lang="en-US" sz="649" dirty="0"/>
            </a:p>
          </p:txBody>
        </p:sp>
        <p:sp>
          <p:nvSpPr>
            <p:cNvPr id="141" name="svg3_129"/>
            <p:cNvSpPr txBox="1"/>
            <p:nvPr/>
          </p:nvSpPr>
          <p:spPr>
            <a:xfrm>
              <a:off x="531541" y="8225028"/>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142" name="svg3_130"/>
            <p:cNvSpPr/>
            <p:nvPr/>
          </p:nvSpPr>
          <p:spPr>
            <a:xfrm>
              <a:off x="857616" y="7794528"/>
              <a:ext cx="215067" cy="36393"/>
            </a:xfrm>
            <a:prstGeom prst="rect">
              <a:avLst/>
            </a:prstGeom>
            <a:solidFill>
              <a:srgbClr val="404040"/>
            </a:solidFill>
            <a:ln/>
          </p:spPr>
        </p:sp>
        <p:sp>
          <p:nvSpPr>
            <p:cNvPr id="143" name="svg3_131"/>
            <p:cNvSpPr txBox="1"/>
            <p:nvPr/>
          </p:nvSpPr>
          <p:spPr>
            <a:xfrm>
              <a:off x="863102" y="7833665"/>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−4,9</a:t>
              </a:r>
              <a:endParaRPr lang="en-US" sz="649" dirty="0"/>
            </a:p>
          </p:txBody>
        </p:sp>
        <p:sp>
          <p:nvSpPr>
            <p:cNvPr id="144" name="svg3_132"/>
            <p:cNvSpPr txBox="1"/>
            <p:nvPr/>
          </p:nvSpPr>
          <p:spPr>
            <a:xfrm>
              <a:off x="882030" y="822502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145" name="svg3_133"/>
            <p:cNvSpPr/>
            <p:nvPr/>
          </p:nvSpPr>
          <p:spPr>
            <a:xfrm>
              <a:off x="1204448" y="7794528"/>
              <a:ext cx="215067" cy="318211"/>
            </a:xfrm>
            <a:prstGeom prst="rect">
              <a:avLst/>
            </a:prstGeom>
            <a:solidFill>
              <a:srgbClr val="404040"/>
            </a:solidFill>
            <a:ln/>
          </p:spPr>
        </p:sp>
        <p:sp>
          <p:nvSpPr>
            <p:cNvPr id="146" name="svg3_134"/>
            <p:cNvSpPr txBox="1"/>
            <p:nvPr/>
          </p:nvSpPr>
          <p:spPr>
            <a:xfrm>
              <a:off x="1185702" y="8115391"/>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−42,6</a:t>
              </a:r>
              <a:endParaRPr lang="en-US" sz="649" dirty="0"/>
            </a:p>
          </p:txBody>
        </p:sp>
        <p:sp>
          <p:nvSpPr>
            <p:cNvPr id="147" name="svg3_135"/>
            <p:cNvSpPr txBox="1"/>
            <p:nvPr/>
          </p:nvSpPr>
          <p:spPr>
            <a:xfrm>
              <a:off x="1228588" y="822502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148" name="svg3_136"/>
            <p:cNvSpPr/>
            <p:nvPr/>
          </p:nvSpPr>
          <p:spPr>
            <a:xfrm>
              <a:off x="1551280" y="7794528"/>
              <a:ext cx="215067" cy="27523"/>
            </a:xfrm>
            <a:prstGeom prst="rect">
              <a:avLst/>
            </a:prstGeom>
            <a:solidFill>
              <a:srgbClr val="404040"/>
            </a:solidFill>
            <a:ln/>
          </p:spPr>
        </p:sp>
        <p:sp>
          <p:nvSpPr>
            <p:cNvPr id="149" name="svg3_137"/>
            <p:cNvSpPr txBox="1"/>
            <p:nvPr/>
          </p:nvSpPr>
          <p:spPr>
            <a:xfrm>
              <a:off x="1557040" y="7824795"/>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−3,7</a:t>
              </a:r>
              <a:endParaRPr lang="en-US" sz="649" dirty="0"/>
            </a:p>
          </p:txBody>
        </p:sp>
        <p:sp>
          <p:nvSpPr>
            <p:cNvPr id="150" name="svg3_138"/>
            <p:cNvSpPr txBox="1"/>
            <p:nvPr/>
          </p:nvSpPr>
          <p:spPr>
            <a:xfrm>
              <a:off x="1576060" y="822502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151" name="svg3_139"/>
            <p:cNvSpPr/>
            <p:nvPr/>
          </p:nvSpPr>
          <p:spPr>
            <a:xfrm>
              <a:off x="1898112" y="7767554"/>
              <a:ext cx="215067" cy="26975"/>
            </a:xfrm>
            <a:prstGeom prst="rect">
              <a:avLst/>
            </a:prstGeom>
            <a:pattFill prst="wdUpDiag">
              <a:fgClr>
                <a:srgbClr val="7B1E2B"/>
              </a:fgClr>
              <a:bgClr>
                <a:srgbClr val="FFFFFF"/>
              </a:bgClr>
            </a:pattFill>
            <a:ln w="7874">
              <a:solidFill>
                <a:srgbClr val="7B1E2B"/>
              </a:solidFill>
              <a:prstDash val="solid"/>
            </a:ln>
          </p:spPr>
        </p:sp>
        <p:sp>
          <p:nvSpPr>
            <p:cNvPr id="152" name="svg3_140"/>
            <p:cNvSpPr txBox="1"/>
            <p:nvPr/>
          </p:nvSpPr>
          <p:spPr>
            <a:xfrm>
              <a:off x="1926915" y="7657917"/>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3,6</a:t>
              </a:r>
              <a:endParaRPr lang="en-US" sz="649" dirty="0"/>
            </a:p>
          </p:txBody>
        </p:sp>
        <p:sp>
          <p:nvSpPr>
            <p:cNvPr id="153" name="svg3_141"/>
            <p:cNvSpPr txBox="1"/>
            <p:nvPr/>
          </p:nvSpPr>
          <p:spPr>
            <a:xfrm>
              <a:off x="1922526" y="822502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154" name="svg3_142"/>
            <p:cNvSpPr/>
            <p:nvPr/>
          </p:nvSpPr>
          <p:spPr>
            <a:xfrm>
              <a:off x="2244943" y="7729880"/>
              <a:ext cx="215067" cy="64557"/>
            </a:xfrm>
            <a:prstGeom prst="rect">
              <a:avLst/>
            </a:prstGeom>
            <a:pattFill prst="wdUpDiag">
              <a:fgClr>
                <a:srgbClr val="7B1E2B"/>
              </a:fgClr>
              <a:bgClr>
                <a:srgbClr val="FFFFFF"/>
              </a:bgClr>
            </a:pattFill>
            <a:ln w="7874">
              <a:solidFill>
                <a:srgbClr val="7B1E2B"/>
              </a:solidFill>
              <a:prstDash val="solid"/>
            </a:ln>
          </p:spPr>
        </p:sp>
        <p:sp>
          <p:nvSpPr>
            <p:cNvPr id="155" name="svg3_143"/>
            <p:cNvSpPr txBox="1"/>
            <p:nvPr/>
          </p:nvSpPr>
          <p:spPr>
            <a:xfrm>
              <a:off x="2273381" y="7620701"/>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8,7</a:t>
              </a:r>
              <a:endParaRPr lang="en-US" sz="649" dirty="0"/>
            </a:p>
          </p:txBody>
        </p:sp>
        <p:sp>
          <p:nvSpPr>
            <p:cNvPr id="156" name="svg3_144"/>
            <p:cNvSpPr txBox="1"/>
            <p:nvPr/>
          </p:nvSpPr>
          <p:spPr>
            <a:xfrm>
              <a:off x="2269084" y="822502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157" name="svg3_145"/>
            <p:cNvSpPr/>
            <p:nvPr/>
          </p:nvSpPr>
          <p:spPr>
            <a:xfrm>
              <a:off x="444856" y="7794528"/>
              <a:ext cx="2081083" cy="0"/>
            </a:xfrm>
            <a:prstGeom prst="line">
              <a:avLst/>
            </a:prstGeom>
            <a:noFill/>
            <a:ln w="6858">
              <a:solidFill>
                <a:srgbClr val="8C8C8C"/>
              </a:solidFill>
              <a:prstDash val="solid"/>
            </a:ln>
          </p:spPr>
        </p:sp>
      </p:grpSp>
      <p:grpSp>
        <p:nvGrpSpPr>
          <p:cNvPr id="223" name="Fig. 38 – biểu đồ"/>
          <p:cNvGrpSpPr/>
          <p:nvPr/>
        </p:nvGrpSpPr>
        <p:grpSpPr>
          <a:xfrm>
            <a:off x="404073" y="8932225"/>
            <a:ext cx="2171791" cy="756757"/>
            <a:chOff x="404073" y="8932225"/>
            <a:chExt cx="2171791" cy="756757"/>
          </a:xfrm>
        </p:grpSpPr>
        <p:sp>
          <p:nvSpPr>
            <p:cNvPr id="158" name="svg4_146"/>
            <p:cNvSpPr/>
            <p:nvPr/>
          </p:nvSpPr>
          <p:spPr>
            <a:xfrm>
              <a:off x="786384" y="8963315"/>
              <a:ext cx="1523665" cy="608625"/>
            </a:xfrm>
            <a:prstGeom prst="rect">
              <a:avLst/>
            </a:prstGeom>
            <a:solidFill>
              <a:srgbClr val="F3F1F1"/>
            </a:solidFill>
            <a:ln/>
          </p:spPr>
        </p:sp>
        <p:sp>
          <p:nvSpPr>
            <p:cNvPr id="159" name="svg4_147"/>
            <p:cNvSpPr/>
            <p:nvPr/>
          </p:nvSpPr>
          <p:spPr>
            <a:xfrm>
              <a:off x="601858" y="9571939"/>
              <a:ext cx="1688531" cy="0"/>
            </a:xfrm>
            <a:prstGeom prst="line">
              <a:avLst/>
            </a:prstGeom>
            <a:noFill/>
            <a:ln w="4953">
              <a:solidFill>
                <a:srgbClr val="E4E4E4"/>
              </a:solidFill>
              <a:prstDash val="solid"/>
            </a:ln>
          </p:spPr>
        </p:sp>
        <p:sp>
          <p:nvSpPr>
            <p:cNvPr id="160" name="svg4_148"/>
            <p:cNvSpPr txBox="1"/>
            <p:nvPr/>
          </p:nvSpPr>
          <p:spPr>
            <a:xfrm>
              <a:off x="444764" y="9521281"/>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61" name="svg4_149"/>
            <p:cNvSpPr/>
            <p:nvPr/>
          </p:nvSpPr>
          <p:spPr>
            <a:xfrm>
              <a:off x="601858" y="9424721"/>
              <a:ext cx="1688531" cy="0"/>
            </a:xfrm>
            <a:prstGeom prst="line">
              <a:avLst/>
            </a:prstGeom>
            <a:noFill/>
            <a:ln w="4953">
              <a:solidFill>
                <a:srgbClr val="E4E4E4"/>
              </a:solidFill>
              <a:prstDash val="solid"/>
            </a:ln>
          </p:spPr>
        </p:sp>
        <p:sp>
          <p:nvSpPr>
            <p:cNvPr id="162" name="svg4_150"/>
            <p:cNvSpPr txBox="1"/>
            <p:nvPr/>
          </p:nvSpPr>
          <p:spPr>
            <a:xfrm>
              <a:off x="444764" y="9374063"/>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a:t>
              </a:r>
              <a:endParaRPr lang="en-US" sz="557" dirty="0"/>
            </a:p>
          </p:txBody>
        </p:sp>
        <p:sp>
          <p:nvSpPr>
            <p:cNvPr id="163" name="svg4_151"/>
            <p:cNvSpPr/>
            <p:nvPr/>
          </p:nvSpPr>
          <p:spPr>
            <a:xfrm>
              <a:off x="601858" y="9277411"/>
              <a:ext cx="1688531" cy="0"/>
            </a:xfrm>
            <a:prstGeom prst="line">
              <a:avLst/>
            </a:prstGeom>
            <a:noFill/>
            <a:ln w="4953">
              <a:solidFill>
                <a:srgbClr val="E4E4E4"/>
              </a:solidFill>
              <a:prstDash val="solid"/>
            </a:ln>
          </p:spPr>
        </p:sp>
        <p:sp>
          <p:nvSpPr>
            <p:cNvPr id="164" name="svg4_152"/>
            <p:cNvSpPr txBox="1"/>
            <p:nvPr/>
          </p:nvSpPr>
          <p:spPr>
            <a:xfrm>
              <a:off x="404073" y="9226753"/>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165" name="svg4_153"/>
            <p:cNvSpPr/>
            <p:nvPr/>
          </p:nvSpPr>
          <p:spPr>
            <a:xfrm>
              <a:off x="601858" y="9130193"/>
              <a:ext cx="1688531" cy="0"/>
            </a:xfrm>
            <a:prstGeom prst="line">
              <a:avLst/>
            </a:prstGeom>
            <a:noFill/>
            <a:ln w="4953">
              <a:solidFill>
                <a:srgbClr val="E4E4E4"/>
              </a:solidFill>
              <a:prstDash val="solid"/>
            </a:ln>
          </p:spPr>
        </p:sp>
        <p:sp>
          <p:nvSpPr>
            <p:cNvPr id="166" name="svg4_154"/>
            <p:cNvSpPr txBox="1"/>
            <p:nvPr/>
          </p:nvSpPr>
          <p:spPr>
            <a:xfrm>
              <a:off x="404073" y="9079535"/>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15%</a:t>
              </a:r>
              <a:endParaRPr lang="en-US" sz="557" dirty="0"/>
            </a:p>
          </p:txBody>
        </p:sp>
        <p:sp>
          <p:nvSpPr>
            <p:cNvPr id="167" name="svg4_155"/>
            <p:cNvSpPr/>
            <p:nvPr/>
          </p:nvSpPr>
          <p:spPr>
            <a:xfrm>
              <a:off x="601858" y="8982974"/>
              <a:ext cx="1688531" cy="0"/>
            </a:xfrm>
            <a:prstGeom prst="line">
              <a:avLst/>
            </a:prstGeom>
            <a:noFill/>
            <a:ln w="4953">
              <a:solidFill>
                <a:srgbClr val="E4E4E4"/>
              </a:solidFill>
              <a:prstDash val="solid"/>
            </a:ln>
          </p:spPr>
        </p:sp>
        <p:sp>
          <p:nvSpPr>
            <p:cNvPr id="168" name="svg4_156"/>
            <p:cNvSpPr txBox="1"/>
            <p:nvPr/>
          </p:nvSpPr>
          <p:spPr>
            <a:xfrm>
              <a:off x="404073" y="8932225"/>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169" name="svg4_157"/>
            <p:cNvSpPr txBox="1"/>
            <p:nvPr/>
          </p:nvSpPr>
          <p:spPr>
            <a:xfrm>
              <a:off x="534375" y="9584192"/>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170" name="svg4_158"/>
            <p:cNvSpPr txBox="1"/>
            <p:nvPr/>
          </p:nvSpPr>
          <p:spPr>
            <a:xfrm>
              <a:off x="868223" y="9584192"/>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171" name="svg4_159"/>
            <p:cNvSpPr txBox="1"/>
            <p:nvPr/>
          </p:nvSpPr>
          <p:spPr>
            <a:xfrm>
              <a:off x="1198138" y="9584192"/>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172" name="svg4_160"/>
            <p:cNvSpPr txBox="1"/>
            <p:nvPr/>
          </p:nvSpPr>
          <p:spPr>
            <a:xfrm>
              <a:off x="1528054" y="9584192"/>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173" name="svg4_161"/>
            <p:cNvSpPr txBox="1"/>
            <p:nvPr/>
          </p:nvSpPr>
          <p:spPr>
            <a:xfrm>
              <a:off x="1857878" y="9584192"/>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174" name="svg4_162"/>
            <p:cNvSpPr txBox="1"/>
            <p:nvPr/>
          </p:nvSpPr>
          <p:spPr>
            <a:xfrm>
              <a:off x="2187702" y="9584192"/>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175" name="svg4_163"/>
            <p:cNvSpPr/>
            <p:nvPr/>
          </p:nvSpPr>
          <p:spPr>
            <a:xfrm>
              <a:off x="621518" y="9080358"/>
              <a:ext cx="1649212" cy="342077"/>
            </a:xfrm>
            <a:custGeom>
              <a:avLst/>
              <a:gdLst/>
              <a:ahLst/>
              <a:cxnLst/>
              <a:rect l="l" t="t" r="r" b="b"/>
              <a:pathLst>
                <a:path w="1649212" h="342077">
                  <a:moveTo>
                    <a:pt x="0" y="116312"/>
                  </a:moveTo>
                  <a:lnTo>
                    <a:pt x="329824" y="0"/>
                  </a:lnTo>
                  <a:lnTo>
                    <a:pt x="659740" y="256123"/>
                  </a:lnTo>
                  <a:lnTo>
                    <a:pt x="989564" y="342077"/>
                  </a:lnTo>
                  <a:lnTo>
                    <a:pt x="1319388" y="184434"/>
                  </a:lnTo>
                  <a:lnTo>
                    <a:pt x="1649212" y="82753"/>
                  </a:lnTo>
                </a:path>
              </a:pathLst>
            </a:custGeom>
            <a:noFill/>
            <a:ln w="15748">
              <a:solidFill>
                <a:srgbClr val="7B1E2B"/>
              </a:solidFill>
              <a:prstDash val="solid"/>
            </a:ln>
          </p:spPr>
        </p:sp>
        <p:sp>
          <p:nvSpPr>
            <p:cNvPr id="176" name="svg4_164"/>
            <p:cNvSpPr/>
            <p:nvPr/>
          </p:nvSpPr>
          <p:spPr>
            <a:xfrm>
              <a:off x="600944" y="9176095"/>
              <a:ext cx="41239" cy="41239"/>
            </a:xfrm>
            <a:prstGeom prst="ellipse">
              <a:avLst/>
            </a:prstGeom>
            <a:solidFill>
              <a:srgbClr val="7B1E2B"/>
            </a:solidFill>
            <a:ln w="7874">
              <a:solidFill>
                <a:srgbClr val="FFFFFF"/>
              </a:solidFill>
              <a:prstDash val="solid"/>
            </a:ln>
          </p:spPr>
        </p:sp>
        <p:sp>
          <p:nvSpPr>
            <p:cNvPr id="177" name="svg4_165"/>
            <p:cNvSpPr/>
            <p:nvPr/>
          </p:nvSpPr>
          <p:spPr>
            <a:xfrm>
              <a:off x="930768" y="9059784"/>
              <a:ext cx="41239" cy="41239"/>
            </a:xfrm>
            <a:prstGeom prst="ellipse">
              <a:avLst/>
            </a:prstGeom>
            <a:solidFill>
              <a:srgbClr val="7B1E2B"/>
            </a:solidFill>
            <a:ln w="7874">
              <a:solidFill>
                <a:srgbClr val="FFFFFF"/>
              </a:solidFill>
              <a:prstDash val="solid"/>
            </a:ln>
          </p:spPr>
        </p:sp>
        <p:sp>
          <p:nvSpPr>
            <p:cNvPr id="178" name="svg4_166"/>
            <p:cNvSpPr/>
            <p:nvPr/>
          </p:nvSpPr>
          <p:spPr>
            <a:xfrm>
              <a:off x="1260592" y="9315907"/>
              <a:ext cx="41239" cy="41239"/>
            </a:xfrm>
            <a:prstGeom prst="ellipse">
              <a:avLst/>
            </a:prstGeom>
            <a:solidFill>
              <a:srgbClr val="7B1E2B"/>
            </a:solidFill>
            <a:ln w="7874">
              <a:solidFill>
                <a:srgbClr val="FFFFFF"/>
              </a:solidFill>
              <a:prstDash val="solid"/>
            </a:ln>
          </p:spPr>
        </p:sp>
        <p:sp>
          <p:nvSpPr>
            <p:cNvPr id="179" name="svg4_167"/>
            <p:cNvSpPr/>
            <p:nvPr/>
          </p:nvSpPr>
          <p:spPr>
            <a:xfrm>
              <a:off x="1590507" y="9401861"/>
              <a:ext cx="41239" cy="41239"/>
            </a:xfrm>
            <a:prstGeom prst="ellipse">
              <a:avLst/>
            </a:prstGeom>
            <a:solidFill>
              <a:srgbClr val="7B1E2B"/>
            </a:solidFill>
            <a:ln w="7874">
              <a:solidFill>
                <a:srgbClr val="FFFFFF"/>
              </a:solidFill>
              <a:prstDash val="solid"/>
            </a:ln>
          </p:spPr>
        </p:sp>
        <p:sp>
          <p:nvSpPr>
            <p:cNvPr id="180" name="svg4_168"/>
            <p:cNvSpPr/>
            <p:nvPr/>
          </p:nvSpPr>
          <p:spPr>
            <a:xfrm>
              <a:off x="1920331" y="9244218"/>
              <a:ext cx="41239" cy="41239"/>
            </a:xfrm>
            <a:prstGeom prst="ellipse">
              <a:avLst/>
            </a:prstGeom>
            <a:solidFill>
              <a:srgbClr val="7B1E2B"/>
            </a:solidFill>
            <a:ln w="7874">
              <a:solidFill>
                <a:srgbClr val="FFFFFF"/>
              </a:solidFill>
              <a:prstDash val="solid"/>
            </a:ln>
          </p:spPr>
        </p:sp>
        <p:sp>
          <p:nvSpPr>
            <p:cNvPr id="181" name="svg4_169"/>
            <p:cNvSpPr/>
            <p:nvPr/>
          </p:nvSpPr>
          <p:spPr>
            <a:xfrm>
              <a:off x="2250156" y="9142537"/>
              <a:ext cx="41239" cy="41239"/>
            </a:xfrm>
            <a:prstGeom prst="ellipse">
              <a:avLst/>
            </a:prstGeom>
            <a:solidFill>
              <a:srgbClr val="7B1E2B"/>
            </a:solidFill>
            <a:ln w="7874">
              <a:solidFill>
                <a:srgbClr val="FFFFFF"/>
              </a:solidFill>
              <a:prstDash val="solid"/>
            </a:ln>
          </p:spPr>
        </p:sp>
        <p:sp>
          <p:nvSpPr>
            <p:cNvPr id="182" name="svg4_170"/>
            <p:cNvSpPr txBox="1"/>
            <p:nvPr/>
          </p:nvSpPr>
          <p:spPr>
            <a:xfrm>
              <a:off x="858530" y="8964686"/>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17%</a:t>
              </a:r>
              <a:endParaRPr lang="en-US" sz="587" dirty="0"/>
            </a:p>
          </p:txBody>
        </p:sp>
        <p:sp>
          <p:nvSpPr>
            <p:cNvPr id="183" name="svg4_171"/>
            <p:cNvSpPr txBox="1"/>
            <p:nvPr/>
          </p:nvSpPr>
          <p:spPr>
            <a:xfrm>
              <a:off x="1539758" y="9439717"/>
              <a:ext cx="146395"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a:t>
              </a:r>
              <a:endParaRPr lang="en-US" sz="587" dirty="0"/>
            </a:p>
          </p:txBody>
        </p:sp>
        <p:sp>
          <p:nvSpPr>
            <p:cNvPr id="184" name="svg4_172"/>
            <p:cNvSpPr txBox="1"/>
            <p:nvPr/>
          </p:nvSpPr>
          <p:spPr>
            <a:xfrm>
              <a:off x="2099828" y="9048079"/>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14%</a:t>
              </a:r>
              <a:endParaRPr lang="en-US" sz="587" dirty="0"/>
            </a:p>
          </p:txBody>
        </p:sp>
        <p:sp>
          <p:nvSpPr>
            <p:cNvPr id="185" name="svg4_173"/>
            <p:cNvSpPr/>
            <p:nvPr/>
          </p:nvSpPr>
          <p:spPr>
            <a:xfrm>
              <a:off x="621518" y="9170335"/>
              <a:ext cx="1649212" cy="4755"/>
            </a:xfrm>
            <a:custGeom>
              <a:avLst/>
              <a:gdLst/>
              <a:ahLst/>
              <a:cxnLst/>
              <a:rect l="l" t="t" r="r" b="b"/>
              <a:pathLst>
                <a:path w="1649212" h="4755">
                  <a:moveTo>
                    <a:pt x="0" y="0"/>
                  </a:moveTo>
                  <a:lnTo>
                    <a:pt x="329824" y="0"/>
                  </a:lnTo>
                  <a:lnTo>
                    <a:pt x="659740" y="0"/>
                  </a:lnTo>
                  <a:lnTo>
                    <a:pt x="989564" y="0"/>
                  </a:lnTo>
                  <a:lnTo>
                    <a:pt x="1319388" y="0"/>
                  </a:lnTo>
                  <a:lnTo>
                    <a:pt x="1649212" y="0"/>
                  </a:lnTo>
                </a:path>
              </a:pathLst>
            </a:custGeom>
            <a:noFill/>
            <a:ln w="8890">
              <a:solidFill>
                <a:srgbClr val="404040"/>
              </a:solidFill>
              <a:prstDash val="dash"/>
            </a:ln>
          </p:spPr>
        </p:sp>
        <p:sp>
          <p:nvSpPr>
            <p:cNvPr id="186" name="svg4_174"/>
            <p:cNvSpPr txBox="1"/>
            <p:nvPr/>
          </p:nvSpPr>
          <p:spPr>
            <a:xfrm>
              <a:off x="2314986" y="9114831"/>
              <a:ext cx="219547"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ROIC</a:t>
              </a:r>
              <a:endParaRPr lang="en-US" sz="587" dirty="0"/>
            </a:p>
          </p:txBody>
        </p:sp>
        <p:sp>
          <p:nvSpPr>
            <p:cNvPr id="187" name="svg4_175"/>
            <p:cNvSpPr txBox="1"/>
            <p:nvPr/>
          </p:nvSpPr>
          <p:spPr>
            <a:xfrm>
              <a:off x="2314986" y="9193378"/>
              <a:ext cx="260878"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WACC</a:t>
              </a:r>
              <a:endParaRPr lang="en-US" sz="587" dirty="0"/>
            </a:p>
          </p:txBody>
        </p:sp>
      </p:grpSp>
      <p:sp>
        <p:nvSpPr>
          <p:cNvPr id="188" name="Text 18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89" name="Text 18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90" name="Text 186"/>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Dự phóng kết quả kinh doanh (BCKQKD theo chức năng)</a:t>
            </a:r>
            <a:endParaRPr lang="en-US" sz="720" dirty="0"/>
          </a:p>
        </p:txBody>
      </p:sp>
      <p:sp>
        <p:nvSpPr>
          <p:cNvPr id="191" name="Text 187"/>
          <p:cNvSpPr txBox="1"/>
          <p:nvPr/>
        </p:nvSpPr>
        <p:spPr>
          <a:xfrm>
            <a:off x="405354" y="716798"/>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92" name="Text 188"/>
          <p:cNvSpPr txBox="1"/>
          <p:nvPr/>
        </p:nvSpPr>
        <p:spPr>
          <a:xfrm>
            <a:off x="405354" y="2925440"/>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en-US" sz="600" dirty="0"/>
          </a:p>
        </p:txBody>
      </p:sp>
      <p:sp>
        <p:nvSpPr>
          <p:cNvPr id="193" name="Text 189"/>
          <p:cNvSpPr txBox="1"/>
          <p:nvPr/>
        </p:nvSpPr>
        <p:spPr>
          <a:xfrm>
            <a:off x="405354" y="311975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gộp giảm năm 2028 khi khấu hao nhà máy mới vào giá vốn</a:t>
            </a:r>
            <a:endParaRPr lang="en-US" sz="720" dirty="0"/>
          </a:p>
        </p:txBody>
      </p:sp>
      <p:sp>
        <p:nvSpPr>
          <p:cNvPr id="194" name="Text 190"/>
          <p:cNvSpPr txBox="1"/>
          <p:nvPr/>
        </p:nvSpPr>
        <p:spPr>
          <a:xfrm>
            <a:off x="405354" y="335676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sp>
        <p:nvSpPr>
          <p:cNvPr id="195" name="Text 191"/>
          <p:cNvSpPr txBox="1"/>
          <p:nvPr/>
        </p:nvSpPr>
        <p:spPr>
          <a:xfrm>
            <a:off x="405354" y="451110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en-US" sz="600" dirty="0"/>
          </a:p>
        </p:txBody>
      </p:sp>
      <p:sp>
        <p:nvSpPr>
          <p:cNvPr id="196" name="Text 192"/>
          <p:cNvSpPr txBox="1"/>
          <p:nvPr/>
        </p:nvSpPr>
        <p:spPr>
          <a:xfrm>
            <a:off x="405354" y="4807732"/>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en-US" sz="720" dirty="0"/>
          </a:p>
        </p:txBody>
      </p:sp>
      <p:sp>
        <p:nvSpPr>
          <p:cNvPr id="197" name="Text 193"/>
          <p:cNvSpPr txBox="1"/>
          <p:nvPr/>
        </p:nvSpPr>
        <p:spPr>
          <a:xfrm>
            <a:off x="405354" y="5044836"/>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CAPEX / doanh thu thuần</a:t>
            </a:r>
            <a:endParaRPr lang="en-US" sz="630" dirty="0"/>
          </a:p>
        </p:txBody>
      </p:sp>
      <p:sp>
        <p:nvSpPr>
          <p:cNvPr id="198" name="Text 194"/>
          <p:cNvSpPr txBox="1"/>
          <p:nvPr/>
        </p:nvSpPr>
        <p:spPr>
          <a:xfrm>
            <a:off x="405354" y="610106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en-US" sz="600" dirty="0"/>
          </a:p>
        </p:txBody>
      </p:sp>
      <p:sp>
        <p:nvSpPr>
          <p:cNvPr id="199" name="Text 195"/>
          <p:cNvSpPr txBox="1"/>
          <p:nvPr/>
        </p:nvSpPr>
        <p:spPr>
          <a:xfrm>
            <a:off x="405354" y="639769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 65% doanh thu năm 2027 kéo FCFF âm ba năm liên tiếp</a:t>
            </a:r>
            <a:endParaRPr lang="en-US" sz="720" dirty="0"/>
          </a:p>
        </p:txBody>
      </p:sp>
      <p:sp>
        <p:nvSpPr>
          <p:cNvPr id="200" name="Text 196"/>
          <p:cNvSpPr txBox="1"/>
          <p:nvPr/>
        </p:nvSpPr>
        <p:spPr>
          <a:xfrm>
            <a:off x="405354" y="6649060"/>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CAPEX và khấu hao (tỷ đồng)</a:t>
            </a:r>
            <a:endParaRPr lang="en-US" sz="640" dirty="0"/>
          </a:p>
        </p:txBody>
      </p:sp>
      <p:sp>
        <p:nvSpPr>
          <p:cNvPr id="201" name="Text 197"/>
          <p:cNvSpPr txBox="1"/>
          <p:nvPr/>
        </p:nvSpPr>
        <p:spPr>
          <a:xfrm>
            <a:off x="405354" y="7535296"/>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FCFF (tỷ đồng; 2025A = CFO − CAPEX)</a:t>
            </a:r>
            <a:endParaRPr lang="en-US" sz="640" dirty="0"/>
          </a:p>
        </p:txBody>
      </p:sp>
      <p:sp>
        <p:nvSpPr>
          <p:cNvPr id="202" name="Text 198"/>
          <p:cNvSpPr txBox="1"/>
          <p:nvPr/>
        </p:nvSpPr>
        <p:spPr>
          <a:xfrm>
            <a:off x="405354" y="834655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Drivers)</a:t>
            </a:r>
            <a:endParaRPr lang="en-US" sz="600" dirty="0"/>
          </a:p>
        </p:txBody>
      </p:sp>
      <p:sp>
        <p:nvSpPr>
          <p:cNvPr id="203" name="Text 199"/>
          <p:cNvSpPr txBox="1"/>
          <p:nvPr/>
        </p:nvSpPr>
        <p:spPr>
          <a:xfrm>
            <a:off x="405354" y="855183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ROIC giảm về 5% năm 2028, đến 2030 mới xấp xỉ WACC</a:t>
            </a:r>
            <a:endParaRPr lang="en-US" sz="720" dirty="0"/>
          </a:p>
        </p:txBody>
      </p:sp>
      <p:sp>
        <p:nvSpPr>
          <p:cNvPr id="204" name="Text 200"/>
          <p:cNvSpPr txBox="1"/>
          <p:nvPr/>
        </p:nvSpPr>
        <p:spPr>
          <a:xfrm>
            <a:off x="405354" y="878893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a:t>
            </a:r>
            <a:endParaRPr lang="en-US" sz="630" dirty="0"/>
          </a:p>
        </p:txBody>
      </p:sp>
      <p:sp>
        <p:nvSpPr>
          <p:cNvPr id="205" name="Text 201"/>
          <p:cNvSpPr txBox="1"/>
          <p:nvPr/>
        </p:nvSpPr>
        <p:spPr>
          <a:xfrm>
            <a:off x="405354" y="970763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a:t>
            </a:r>
            <a:endParaRPr lang="en-US" sz="600" dirty="0"/>
          </a:p>
        </p:txBody>
      </p:sp>
      <p:sp>
        <p:nvSpPr>
          <p:cNvPr id="206" name="Text 202"/>
          <p:cNvSpPr txBox="1"/>
          <p:nvPr/>
        </p:nvSpPr>
        <p:spPr>
          <a:xfrm>
            <a:off x="2745303" y="310292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4.4. CAPEX và tỷ lệ tái đầu tư</a:t>
            </a:r>
            <a:endParaRPr lang="en-US" sz="900" dirty="0"/>
          </a:p>
        </p:txBody>
      </p:sp>
      <p:sp>
        <p:nvSpPr>
          <p:cNvPr id="207" name="Text 203"/>
          <p:cNvSpPr txBox="1"/>
          <p:nvPr/>
        </p:nvSpPr>
        <p:spPr>
          <a:xfrm>
            <a:off x="2745303" y="3272272"/>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Startup phải tái đầu tư liên tục để duy trì tăng trưởng; tỷ lệ tái đầu tư mỗi năm được giả định bằng CAPEX/doanh thu: 20% năm 2026 (máy ép bổ sung, xe tải, kho – bằng mức 2024), 65% năm 2027 theo đề bài (hai dây chuyền ép khuôn – sấy, kho bã mía, phòng kiểm nghiệm), 12% năm 2028 (hoàn thiện, chạy thử) và 10% năm 2029–2030 (Fig. 35).</a:t>
            </a:r>
            <a:endParaRPr lang="en-US" sz="850" dirty="0"/>
          </a:p>
        </p:txBody>
      </p:sp>
      <p:sp>
        <p:nvSpPr>
          <p:cNvPr id="208" name="Text 204"/>
          <p:cNvSpPr txBox="1"/>
          <p:nvPr/>
        </p:nvSpPr>
        <p:spPr>
          <a:xfrm>
            <a:off x="2745303" y="3836182"/>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Điều chỉnh theo ngành.</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Trung vị CAPEX/doanh thu 2023–2025 của 16 doanh nghiệp bao bì niêm yết là 3,1%, tứ phân vị trên 8,3%; doanh nghiệp đang mở rộng cao hơn nhiều (AAA, APH năm 2025: 13,3%; HHP: 20–42%) (Fig. A10). Mức 10% của AgriPack cao hơn trung vị vì doanh nghiệp còn tăng 17–28%/năm và cường độ tài sản cao hơn – khấu hao 8,7–10,4% doanh thu năm 2028–2030 so với 3,0% của ngành – nên 10% chỉ vừa đủ thay thế và mở rộng (CAPEX/khấu hao ~1,1 lần). Sau 2030, tỷ lệ tái đầu tư trong giá trị cuối kỳ là g/RONIC = 27,8% NOPAT.</a:t>
            </a:r>
            <a:endParaRPr lang="en-US" sz="850" dirty="0"/>
          </a:p>
        </p:txBody>
      </p:sp>
      <p:sp>
        <p:nvSpPr>
          <p:cNvPr id="209" name="Text 205"/>
          <p:cNvSpPr txBox="1"/>
          <p:nvPr/>
        </p:nvSpPr>
        <p:spPr>
          <a:xfrm>
            <a:off x="2745303" y="4663257"/>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FCFF âm ba năm.</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FCFF âm 4,9, 42,6 và 3,7 tỷ trong 2026–2028, dương từ 2029 và đạt 8,7 tỷ năm 2030 (Fig. 36); tổng 2026–2030 âm 38,9 tỷ – đúng với lưu ý của đề bài rằng startup hiếm khi có FCF dương mạnh ở giai đoạn đầu.</a:t>
            </a:r>
            <a:endParaRPr lang="en-US" sz="850" dirty="0"/>
          </a:p>
        </p:txBody>
      </p:sp>
      <p:sp>
        <p:nvSpPr>
          <p:cNvPr id="210" name="Text 206"/>
          <p:cNvSpPr txBox="1"/>
          <p:nvPr/>
        </p:nvSpPr>
        <p:spPr>
          <a:xfrm>
            <a:off x="2745303" y="509558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4.5. Vốn lưu động, bảng cân đối, dòng tiền và ROIC</a:t>
            </a:r>
            <a:endParaRPr lang="en-US" sz="900" dirty="0"/>
          </a:p>
        </p:txBody>
      </p:sp>
      <p:sp>
        <p:nvSpPr>
          <p:cNvPr id="211" name="Text 207"/>
          <p:cNvSpPr txBox="1"/>
          <p:nvPr/>
        </p:nvSpPr>
        <p:spPr>
          <a:xfrm>
            <a:off x="2745303" y="5264932"/>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Vốn lưu động.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Tồn kho giữ 95–105 ngày (tích trữ bã mía theo vụ ép tháng 11–4); kỳ thu tiền tăng từ 14 lên 30 ngày khi khách hàng là chuỗi F&amp;B, FMCG, FDI; kỳ trả tiền lên 15 ngày. Vốn lưu động tăng từ 15% lên 18% doanh thu, hút 24 tỷ đồng trong 5 năm.</a:t>
            </a:r>
            <a:endParaRPr lang="en-US" sz="850" dirty="0"/>
          </a:p>
        </p:txBody>
      </p:sp>
      <p:sp>
        <p:nvSpPr>
          <p:cNvPr id="212" name="Text 208"/>
          <p:cNvSpPr txBox="1"/>
          <p:nvPr/>
        </p:nvSpPr>
        <p:spPr>
          <a:xfrm>
            <a:off x="2745303" y="5697261"/>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Tài trợ và dòng tiền.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Mô hình bù thiếu hụt tiền bằng 37,6 tỷ vốn cổ phần đầu năm 2026 và 31,1 tỷ vay trung hạn năm 2027 (60% CAPEX nhà máy); số vốn cổ phần là đầu vào của VC Method (Mục 5.4), còn kế hoạch huy động vốn chi tiết thuộc Mục 6. Tổng tài sản tăng từ 31,9 lên 127,6 tỷ; CFO tăng từ 7,7 lên 23,8 tỷ nhưng chỉ vượt CAPEX từ 2029 (Fig. 37; BCTC dự phóng đầy đủ ở Fig. A06–A08). Nợ vay/VCSH lên 41% năm 2027 rồi giảm khi trả gốc từ 2029.</a:t>
            </a:r>
            <a:endParaRPr lang="en-US" sz="850" dirty="0"/>
          </a:p>
        </p:txBody>
      </p:sp>
      <p:sp>
        <p:nvSpPr>
          <p:cNvPr id="213" name="Text 209"/>
          <p:cNvSpPr txBox="1"/>
          <p:nvPr/>
        </p:nvSpPr>
        <p:spPr>
          <a:xfrm>
            <a:off x="2745303" y="6423843"/>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Vốn cổ phần 2026 và vay 2027 tài trợ nhà máy; tiền mặt luôn dương</a:t>
            </a:r>
            <a:endParaRPr lang="en-US" sz="720" dirty="0"/>
          </a:p>
        </p:txBody>
      </p:sp>
      <p:sp>
        <p:nvSpPr>
          <p:cNvPr id="214" name="Text 210"/>
          <p:cNvSpPr txBox="1"/>
          <p:nvPr/>
        </p:nvSpPr>
        <p:spPr>
          <a:xfrm>
            <a:off x="2745303" y="6551402"/>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215" name="Text 211"/>
          <p:cNvSpPr txBox="1"/>
          <p:nvPr/>
        </p:nvSpPr>
        <p:spPr>
          <a:xfrm>
            <a:off x="2745303" y="8790402"/>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en-US" sz="600" dirty="0"/>
          </a:p>
        </p:txBody>
      </p:sp>
      <p:sp>
        <p:nvSpPr>
          <p:cNvPr id="216" name="Text 212"/>
          <p:cNvSpPr txBox="1"/>
          <p:nvPr/>
        </p:nvSpPr>
        <p:spPr>
          <a:xfrm>
            <a:off x="2745303" y="8964503"/>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Hiệu quả vốn.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ROIC giảm từ 16,7% (2026) về 5,1% năm 2028 khi công suất mới chưa được lấp đầy (vòng quay nguyên giá TSCĐ 1,08 lần so với 1,66 lần năm 2025) và chỉ xấp xỉ WACC 13,6% năm 2030 (Fig. 38): khoản đầu tư 2027 chỉ vừa bù chi phí vốn trong 5 năm dự phóng; giá trị của nó nằm ở tăng trưởng sau 2030.</a:t>
            </a:r>
            <a:endParaRPr lang="en-US" sz="850" dirty="0"/>
          </a:p>
        </p:txBody>
      </p:sp>
      <p:sp>
        <p:nvSpPr>
          <p:cNvPr id="217" name="Text 21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18" name="Text 21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13</a:t>
            </a:r>
            <a:endParaRPr lang="en-US"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2159996" cy="0"/>
          </a:xfrm>
          <a:prstGeom prst="line">
            <a:avLst/>
          </a:prstGeom>
          <a:noFill/>
          <a:ln w="9525">
            <a:solidFill>
              <a:srgbClr val="7B1E2B"/>
            </a:solidFill>
            <a:prstDash val="solid"/>
          </a:ln>
        </p:spPr>
      </p:sp>
      <p:sp>
        <p:nvSpPr>
          <p:cNvPr id="5" name="Shape 3"/>
          <p:cNvSpPr/>
          <p:nvPr/>
        </p:nvSpPr>
        <p:spPr>
          <a:xfrm>
            <a:off x="405354" y="3275838"/>
            <a:ext cx="2159996" cy="0"/>
          </a:xfrm>
          <a:prstGeom prst="line">
            <a:avLst/>
          </a:prstGeom>
          <a:noFill/>
          <a:ln w="9525">
            <a:solidFill>
              <a:srgbClr val="7B1E2B"/>
            </a:solidFill>
            <a:prstDash val="solid"/>
          </a:ln>
        </p:spPr>
      </p:sp>
      <p:sp>
        <p:nvSpPr>
          <p:cNvPr id="6" name="Shape 4"/>
          <p:cNvSpPr/>
          <p:nvPr/>
        </p:nvSpPr>
        <p:spPr>
          <a:xfrm>
            <a:off x="405354" y="4833153"/>
            <a:ext cx="2159996" cy="0"/>
          </a:xfrm>
          <a:prstGeom prst="line">
            <a:avLst/>
          </a:prstGeom>
          <a:noFill/>
          <a:ln w="9525">
            <a:solidFill>
              <a:srgbClr val="7B1E2B"/>
            </a:solidFill>
            <a:prstDash val="solid"/>
          </a:ln>
        </p:spPr>
      </p:sp>
      <p:sp>
        <p:nvSpPr>
          <p:cNvPr id="7" name="Shape 5"/>
          <p:cNvSpPr/>
          <p:nvPr/>
        </p:nvSpPr>
        <p:spPr>
          <a:xfrm>
            <a:off x="405354" y="6729252"/>
            <a:ext cx="2159996" cy="0"/>
          </a:xfrm>
          <a:prstGeom prst="line">
            <a:avLst/>
          </a:prstGeom>
          <a:noFill/>
          <a:ln w="9525">
            <a:solidFill>
              <a:srgbClr val="7B1E2B"/>
            </a:solidFill>
            <a:prstDash val="solid"/>
          </a:ln>
        </p:spPr>
      </p:sp>
      <p:sp>
        <p:nvSpPr>
          <p:cNvPr id="8" name="Shape 6"/>
          <p:cNvSpPr/>
          <p:nvPr/>
        </p:nvSpPr>
        <p:spPr>
          <a:xfrm>
            <a:off x="2745303" y="4102364"/>
            <a:ext cx="4409237" cy="0"/>
          </a:xfrm>
          <a:prstGeom prst="line">
            <a:avLst/>
          </a:prstGeom>
          <a:noFill/>
          <a:ln w="9525">
            <a:solidFill>
              <a:srgbClr val="7B1E2B"/>
            </a:solidFill>
            <a:prstDash val="solid"/>
          </a:ln>
        </p:spPr>
      </p:sp>
      <p:sp>
        <p:nvSpPr>
          <p:cNvPr id="9" name="Shape 7"/>
          <p:cNvSpPr/>
          <p:nvPr/>
        </p:nvSpPr>
        <p:spPr>
          <a:xfrm>
            <a:off x="2745303" y="7631948"/>
            <a:ext cx="4409237" cy="0"/>
          </a:xfrm>
          <a:prstGeom prst="line">
            <a:avLst/>
          </a:prstGeom>
          <a:noFill/>
          <a:ln w="9525">
            <a:solidFill>
              <a:srgbClr val="7B1E2B"/>
            </a:solidFill>
            <a:prstDash val="solid"/>
          </a:ln>
        </p:spPr>
      </p:sp>
      <p:sp>
        <p:nvSpPr>
          <p:cNvPr id="10" name="Shape 8"/>
          <p:cNvSpPr/>
          <p:nvPr/>
        </p:nvSpPr>
        <p:spPr>
          <a:xfrm>
            <a:off x="405354" y="10369479"/>
            <a:ext cx="6749004" cy="0"/>
          </a:xfrm>
          <a:prstGeom prst="line">
            <a:avLst/>
          </a:prstGeom>
          <a:noFill/>
          <a:ln w="9525">
            <a:solidFill>
              <a:srgbClr val="BFBFBF"/>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354" y="1113373"/>
          <a:ext cx="2159996" cy="914400"/>
        </p:xfrm>
        <a:graphic>
          <a:graphicData uri="http://schemas.openxmlformats.org/drawingml/2006/table">
            <a:tbl>
              <a:tblPr/>
              <a:tblGrid>
                <a:gridCol w="1511960"/>
                <a:gridCol w="64803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Thành phần</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Giá trị</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Rf – TPCP 10 năm, bình quân 2016–2025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ERP thị trường phát triển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4,23%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CRP Việt Nam (ước tính)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 ERP Việt Nam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8,13%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βu ngành bao bì (Damodaran)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D/E mục tiêu (2027E)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β có đòn bẩy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ρ (đa dạng hóa một phần)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 Total beta</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Ke = Rf + β × ERP</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Kd trước / sau thuế</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 / 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trọng E / D</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71% / 29%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WACC</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05354" y="5102535"/>
          <a:ext cx="2159996" cy="914400"/>
        </p:xfrm>
        <a:graphic>
          <a:graphicData uri="http://schemas.openxmlformats.org/drawingml/2006/table">
            <a:tbl>
              <a:tblPr/>
              <a:tblGrid>
                <a:gridCol w="1598280"/>
                <a:gridCol w="561716"/>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Bước</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LNST 2030E × P/E 9,4x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130,2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EBITDA 2030E × EV/EBITDA 8,0x + tiền − nợ</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267,2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Giá trị thoái vốn 2030 (bình quân)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198,7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lệ thất bại tích lũy z (5 năm)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Quy đổi theo năm p = 1 − (1 − z)^(1/5)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9,7%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suất yêu cầu khi thành công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Post-money = Exit × (1 − z)/(1 + WACC)^5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62,9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Vốn cổ phần cần huy động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Pre-money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303" y="4371655"/>
          <a:ext cx="4409237" cy="914400"/>
        </p:xfrm>
        <a:graphic>
          <a:graphicData uri="http://schemas.openxmlformats.org/drawingml/2006/table">
            <a:tbl>
              <a:tblPr/>
              <a:tblGrid>
                <a:gridCol w="1234531"/>
                <a:gridCol w="529072"/>
                <a:gridCol w="529072"/>
                <a:gridCol w="529072"/>
                <a:gridCol w="529072"/>
                <a:gridCol w="529072"/>
                <a:gridCol w="52925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28E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29E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TV</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NOPAT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Khấu hao</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Tăng vốn lưu động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CAPEX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(12,7)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(51,8)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(14,2)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FCFF</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(42,6)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8,7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138,0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Hệ số chiết khấu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0,880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0,774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0,681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0,600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0,528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0,528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Giá trị hiện tại</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72,8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57" name="Table 3"/>
          <p:cNvGraphicFramePr>
            <a:graphicFrameLocks noGrp="1"/>
          </p:cNvGraphicFramePr>
          <p:nvPr>
            <p:extLst>
              <p:ext uri="{D42A27DB-BD31-4B8C-83A1-F6EECF244321}">
                <p14:modId xmlns:p14="http://schemas.microsoft.com/office/powerpoint/2010/main" val="1579011935"/>
              </p:ext>
            </p:extLst>
          </p:nvPr>
        </p:nvGraphicFramePr>
        <p:xfrm>
          <a:off x="2745303" y="7901239"/>
          <a:ext cx="4409237" cy="914400"/>
        </p:xfrm>
        <a:graphic>
          <a:graphicData uri="http://schemas.openxmlformats.org/drawingml/2006/table">
            <a:tbl>
              <a:tblPr/>
              <a:tblGrid>
                <a:gridCol w="2028231"/>
                <a:gridCol w="705460"/>
                <a:gridCol w="837590"/>
                <a:gridCol w="83786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tính (chỉ tiêu 2025A)</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Bội số</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Trước DLOM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Sau DLOM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 trung vị mẫu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4,63x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 bình quân ngành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7,99x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P/E × trung vị mẫu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7,13x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P/E × bình quân ngành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9,43x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Bình quân 4 cách (pre-money)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27,7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122" name="Fig. 40 – biểu đồ"/>
          <p:cNvGrpSpPr/>
          <p:nvPr/>
        </p:nvGrpSpPr>
        <p:grpSpPr>
          <a:xfrm>
            <a:off x="444856" y="3643701"/>
            <a:ext cx="2111990" cy="963412"/>
            <a:chOff x="444856" y="3643701"/>
            <a:chExt cx="2111990" cy="963412"/>
          </a:xfrm>
        </p:grpSpPr>
        <p:sp>
          <p:nvSpPr>
            <p:cNvPr id="15" name="svg0_0"/>
            <p:cNvSpPr/>
            <p:nvPr/>
          </p:nvSpPr>
          <p:spPr>
            <a:xfrm>
              <a:off x="514259" y="4129065"/>
              <a:ext cx="208026" cy="291328"/>
            </a:xfrm>
            <a:prstGeom prst="rect">
              <a:avLst/>
            </a:prstGeom>
            <a:solidFill>
              <a:srgbClr val="A3A3A3"/>
            </a:solidFill>
            <a:ln/>
          </p:spPr>
        </p:sp>
        <p:sp>
          <p:nvSpPr>
            <p:cNvPr id="16" name="svg0_1"/>
            <p:cNvSpPr txBox="1"/>
            <p:nvPr/>
          </p:nvSpPr>
          <p:spPr>
            <a:xfrm>
              <a:off x="493044" y="4019611"/>
              <a:ext cx="2510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−33,1</a:t>
              </a:r>
              <a:endParaRPr lang="en-US" sz="649" dirty="0"/>
            </a:p>
          </p:txBody>
        </p:sp>
        <p:sp>
          <p:nvSpPr>
            <p:cNvPr id="17" name="svg0_2"/>
            <p:cNvSpPr txBox="1"/>
            <p:nvPr/>
          </p:nvSpPr>
          <p:spPr>
            <a:xfrm>
              <a:off x="470093" y="4427708"/>
              <a:ext cx="30257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FCFF</a:t>
              </a:r>
              <a:endParaRPr lang="en-US" sz="557" dirty="0"/>
            </a:p>
          </p:txBody>
        </p:sp>
        <p:sp>
          <p:nvSpPr>
            <p:cNvPr id="18" name="svg0_3"/>
            <p:cNvSpPr txBox="1"/>
            <p:nvPr/>
          </p:nvSpPr>
          <p:spPr>
            <a:xfrm>
              <a:off x="457017" y="4502323"/>
              <a:ext cx="32543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2026–30</a:t>
              </a:r>
              <a:endParaRPr lang="en-US" sz="557" dirty="0"/>
            </a:p>
          </p:txBody>
        </p:sp>
        <p:sp>
          <p:nvSpPr>
            <p:cNvPr id="19" name="svg0_4"/>
            <p:cNvSpPr/>
            <p:nvPr/>
          </p:nvSpPr>
          <p:spPr>
            <a:xfrm>
              <a:off x="861090" y="3778758"/>
              <a:ext cx="208117" cy="641726"/>
            </a:xfrm>
            <a:prstGeom prst="rect">
              <a:avLst/>
            </a:prstGeom>
            <a:solidFill>
              <a:srgbClr val="404040"/>
            </a:solidFill>
            <a:ln/>
          </p:spPr>
        </p:sp>
        <p:sp>
          <p:nvSpPr>
            <p:cNvPr id="20" name="svg0_5"/>
            <p:cNvSpPr/>
            <p:nvPr/>
          </p:nvSpPr>
          <p:spPr>
            <a:xfrm>
              <a:off x="722285" y="4420484"/>
              <a:ext cx="138806" cy="0"/>
            </a:xfrm>
            <a:prstGeom prst="line">
              <a:avLst/>
            </a:prstGeom>
            <a:noFill/>
            <a:ln w="4953">
              <a:solidFill>
                <a:srgbClr val="8C8C8C"/>
              </a:solidFill>
              <a:prstDash val="dash"/>
            </a:ln>
          </p:spPr>
        </p:sp>
        <p:sp>
          <p:nvSpPr>
            <p:cNvPr id="21" name="svg0_6"/>
            <p:cNvSpPr txBox="1"/>
            <p:nvPr/>
          </p:nvSpPr>
          <p:spPr>
            <a:xfrm>
              <a:off x="839236" y="3669213"/>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+72,8</a:t>
              </a:r>
              <a:endParaRPr lang="en-US" sz="649" dirty="0"/>
            </a:p>
          </p:txBody>
        </p:sp>
        <p:sp>
          <p:nvSpPr>
            <p:cNvPr id="22" name="svg0_7"/>
            <p:cNvSpPr txBox="1"/>
            <p:nvPr/>
          </p:nvSpPr>
          <p:spPr>
            <a:xfrm>
              <a:off x="800100" y="4427708"/>
              <a:ext cx="332842"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giá trị</a:t>
              </a:r>
              <a:endParaRPr lang="en-US" sz="557" dirty="0"/>
            </a:p>
          </p:txBody>
        </p:sp>
        <p:sp>
          <p:nvSpPr>
            <p:cNvPr id="23" name="svg0_8"/>
            <p:cNvSpPr txBox="1"/>
            <p:nvPr/>
          </p:nvSpPr>
          <p:spPr>
            <a:xfrm>
              <a:off x="831464" y="4502323"/>
              <a:ext cx="273406"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cuối kỳ</a:t>
              </a:r>
              <a:endParaRPr lang="en-US" sz="557" dirty="0"/>
            </a:p>
          </p:txBody>
        </p:sp>
        <p:sp>
          <p:nvSpPr>
            <p:cNvPr id="24" name="svg0_9"/>
            <p:cNvSpPr/>
            <p:nvPr/>
          </p:nvSpPr>
          <p:spPr>
            <a:xfrm>
              <a:off x="1207831" y="3778758"/>
              <a:ext cx="208117" cy="350307"/>
            </a:xfrm>
            <a:prstGeom prst="rect">
              <a:avLst/>
            </a:prstGeom>
            <a:solidFill>
              <a:srgbClr val="7B1E2B"/>
            </a:solidFill>
            <a:ln/>
          </p:spPr>
        </p:sp>
        <p:sp>
          <p:nvSpPr>
            <p:cNvPr id="25" name="svg0_10"/>
            <p:cNvSpPr/>
            <p:nvPr/>
          </p:nvSpPr>
          <p:spPr>
            <a:xfrm>
              <a:off x="1069208" y="3778758"/>
              <a:ext cx="138714" cy="0"/>
            </a:xfrm>
            <a:prstGeom prst="line">
              <a:avLst/>
            </a:prstGeom>
            <a:noFill/>
            <a:ln w="4953">
              <a:solidFill>
                <a:srgbClr val="8C8C8C"/>
              </a:solidFill>
              <a:prstDash val="dash"/>
            </a:ln>
          </p:spPr>
        </p:sp>
        <p:sp>
          <p:nvSpPr>
            <p:cNvPr id="26" name="svg0_11"/>
            <p:cNvSpPr txBox="1"/>
            <p:nvPr/>
          </p:nvSpPr>
          <p:spPr>
            <a:xfrm>
              <a:off x="1208745" y="3669213"/>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39,8</a:t>
              </a:r>
              <a:endParaRPr lang="en-US" sz="649" dirty="0"/>
            </a:p>
          </p:txBody>
        </p:sp>
        <p:sp>
          <p:nvSpPr>
            <p:cNvPr id="27" name="svg0_12"/>
            <p:cNvSpPr txBox="1"/>
            <p:nvPr/>
          </p:nvSpPr>
          <p:spPr>
            <a:xfrm>
              <a:off x="1249528" y="4427708"/>
              <a:ext cx="1316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EV</a:t>
              </a:r>
              <a:endParaRPr lang="en-US" sz="557" dirty="0"/>
            </a:p>
          </p:txBody>
        </p:sp>
        <p:sp>
          <p:nvSpPr>
            <p:cNvPr id="28" name="svg0_13"/>
            <p:cNvSpPr/>
            <p:nvPr/>
          </p:nvSpPr>
          <p:spPr>
            <a:xfrm>
              <a:off x="1554754" y="3752972"/>
              <a:ext cx="208117" cy="25786"/>
            </a:xfrm>
            <a:prstGeom prst="rect">
              <a:avLst/>
            </a:prstGeom>
            <a:solidFill>
              <a:srgbClr val="404040"/>
            </a:solidFill>
            <a:ln/>
          </p:spPr>
        </p:sp>
        <p:sp>
          <p:nvSpPr>
            <p:cNvPr id="29" name="svg0_14"/>
            <p:cNvSpPr/>
            <p:nvPr/>
          </p:nvSpPr>
          <p:spPr>
            <a:xfrm>
              <a:off x="1415948" y="3778758"/>
              <a:ext cx="138806" cy="0"/>
            </a:xfrm>
            <a:prstGeom prst="line">
              <a:avLst/>
            </a:prstGeom>
            <a:noFill/>
            <a:ln w="4953">
              <a:solidFill>
                <a:srgbClr val="8C8C8C"/>
              </a:solidFill>
              <a:prstDash val="dash"/>
            </a:ln>
          </p:spPr>
        </p:sp>
        <p:sp>
          <p:nvSpPr>
            <p:cNvPr id="30" name="svg0_15"/>
            <p:cNvSpPr txBox="1"/>
            <p:nvPr/>
          </p:nvSpPr>
          <p:spPr>
            <a:xfrm>
              <a:off x="1557040" y="3643701"/>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+2,9</a:t>
              </a:r>
              <a:endParaRPr lang="en-US" sz="649" dirty="0"/>
            </a:p>
          </p:txBody>
        </p:sp>
        <p:sp>
          <p:nvSpPr>
            <p:cNvPr id="31" name="svg0_16"/>
            <p:cNvSpPr txBox="1"/>
            <p:nvPr/>
          </p:nvSpPr>
          <p:spPr>
            <a:xfrm>
              <a:off x="1540947" y="4427708"/>
              <a:ext cx="23747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Tiền</a:t>
              </a:r>
              <a:endParaRPr lang="en-US" sz="557" dirty="0"/>
            </a:p>
          </p:txBody>
        </p:sp>
        <p:sp>
          <p:nvSpPr>
            <p:cNvPr id="32" name="svg0_17"/>
            <p:cNvSpPr txBox="1"/>
            <p:nvPr/>
          </p:nvSpPr>
          <p:spPr>
            <a:xfrm>
              <a:off x="1558412" y="4502323"/>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3" name="svg0_18"/>
            <p:cNvSpPr/>
            <p:nvPr/>
          </p:nvSpPr>
          <p:spPr>
            <a:xfrm>
              <a:off x="1901586" y="3752972"/>
              <a:ext cx="208117" cy="14082"/>
            </a:xfrm>
            <a:prstGeom prst="rect">
              <a:avLst/>
            </a:prstGeom>
            <a:solidFill>
              <a:srgbClr val="A3A3A3"/>
            </a:solidFill>
            <a:ln/>
          </p:spPr>
        </p:sp>
        <p:sp>
          <p:nvSpPr>
            <p:cNvPr id="34" name="svg0_19"/>
            <p:cNvSpPr/>
            <p:nvPr/>
          </p:nvSpPr>
          <p:spPr>
            <a:xfrm>
              <a:off x="1762872" y="3752972"/>
              <a:ext cx="138714" cy="0"/>
            </a:xfrm>
            <a:prstGeom prst="line">
              <a:avLst/>
            </a:prstGeom>
            <a:noFill/>
            <a:ln w="4953">
              <a:solidFill>
                <a:srgbClr val="8C8C8C"/>
              </a:solidFill>
              <a:prstDash val="dash"/>
            </a:ln>
          </p:spPr>
        </p:sp>
        <p:sp>
          <p:nvSpPr>
            <p:cNvPr id="35" name="svg0_20"/>
            <p:cNvSpPr txBox="1"/>
            <p:nvPr/>
          </p:nvSpPr>
          <p:spPr>
            <a:xfrm>
              <a:off x="1903598" y="3643701"/>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−1,6</a:t>
              </a:r>
              <a:endParaRPr lang="en-US" sz="649" dirty="0"/>
            </a:p>
          </p:txBody>
        </p:sp>
        <p:sp>
          <p:nvSpPr>
            <p:cNvPr id="36" name="svg0_21"/>
            <p:cNvSpPr txBox="1"/>
            <p:nvPr/>
          </p:nvSpPr>
          <p:spPr>
            <a:xfrm>
              <a:off x="1844436" y="4427708"/>
              <a:ext cx="32854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Nợ vay</a:t>
              </a:r>
              <a:endParaRPr lang="en-US" sz="557" dirty="0"/>
            </a:p>
          </p:txBody>
        </p:sp>
        <p:sp>
          <p:nvSpPr>
            <p:cNvPr id="37" name="svg0_22"/>
            <p:cNvSpPr txBox="1"/>
            <p:nvPr/>
          </p:nvSpPr>
          <p:spPr>
            <a:xfrm>
              <a:off x="1904878" y="4502323"/>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8" name="svg0_23"/>
            <p:cNvSpPr/>
            <p:nvPr/>
          </p:nvSpPr>
          <p:spPr>
            <a:xfrm>
              <a:off x="2248510" y="3767054"/>
              <a:ext cx="208117" cy="362102"/>
            </a:xfrm>
            <a:prstGeom prst="rect">
              <a:avLst/>
            </a:prstGeom>
            <a:solidFill>
              <a:srgbClr val="7B1E2B"/>
            </a:solidFill>
            <a:ln/>
          </p:spPr>
        </p:sp>
        <p:sp>
          <p:nvSpPr>
            <p:cNvPr id="39" name="svg0_24"/>
            <p:cNvSpPr/>
            <p:nvPr/>
          </p:nvSpPr>
          <p:spPr>
            <a:xfrm>
              <a:off x="2109704" y="3767054"/>
              <a:ext cx="138806" cy="0"/>
            </a:xfrm>
            <a:prstGeom prst="line">
              <a:avLst/>
            </a:prstGeom>
            <a:noFill/>
            <a:ln w="4953">
              <a:solidFill>
                <a:srgbClr val="8C8C8C"/>
              </a:solidFill>
              <a:prstDash val="dash"/>
            </a:ln>
          </p:spPr>
        </p:sp>
        <p:sp>
          <p:nvSpPr>
            <p:cNvPr id="40" name="svg0_25"/>
            <p:cNvSpPr txBox="1"/>
            <p:nvPr/>
          </p:nvSpPr>
          <p:spPr>
            <a:xfrm>
              <a:off x="2249241" y="3657417"/>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41,1</a:t>
              </a:r>
              <a:endParaRPr lang="en-US" sz="649" dirty="0"/>
            </a:p>
          </p:txBody>
        </p:sp>
        <p:sp>
          <p:nvSpPr>
            <p:cNvPr id="41" name="svg0_26"/>
            <p:cNvSpPr txBox="1"/>
            <p:nvPr/>
          </p:nvSpPr>
          <p:spPr>
            <a:xfrm>
              <a:off x="2153778" y="4427708"/>
              <a:ext cx="40306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Pre-money</a:t>
              </a:r>
              <a:endParaRPr lang="en-US" sz="557" dirty="0"/>
            </a:p>
          </p:txBody>
        </p:sp>
        <p:sp>
          <p:nvSpPr>
            <p:cNvPr id="42" name="svg0_27"/>
            <p:cNvSpPr/>
            <p:nvPr/>
          </p:nvSpPr>
          <p:spPr>
            <a:xfrm>
              <a:off x="444856" y="4129065"/>
              <a:ext cx="2081083" cy="0"/>
            </a:xfrm>
            <a:prstGeom prst="line">
              <a:avLst/>
            </a:prstGeom>
            <a:noFill/>
            <a:ln w="6858">
              <a:solidFill>
                <a:srgbClr val="8C8C8C"/>
              </a:solidFill>
              <a:prstDash val="solid"/>
            </a:ln>
          </p:spPr>
        </p:sp>
      </p:grpSp>
      <p:grpSp>
        <p:nvGrpSpPr>
          <p:cNvPr id="123" name="Fig. 43 – biểu đồ"/>
          <p:cNvGrpSpPr/>
          <p:nvPr/>
        </p:nvGrpSpPr>
        <p:grpSpPr>
          <a:xfrm>
            <a:off x="422819" y="7127839"/>
            <a:ext cx="2022378" cy="1437346"/>
            <a:chOff x="422819" y="7127839"/>
            <a:chExt cx="2022378" cy="1437346"/>
          </a:xfrm>
        </p:grpSpPr>
        <p:sp>
          <p:nvSpPr>
            <p:cNvPr id="43" name="svg1_28"/>
            <p:cNvSpPr txBox="1"/>
            <p:nvPr/>
          </p:nvSpPr>
          <p:spPr>
            <a:xfrm>
              <a:off x="433334" y="7129211"/>
              <a:ext cx="18809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HHP</a:t>
              </a:r>
              <a:endParaRPr lang="en-US" sz="587" dirty="0"/>
            </a:p>
          </p:txBody>
        </p:sp>
        <p:sp>
          <p:nvSpPr>
            <p:cNvPr id="44" name="svg1_29"/>
            <p:cNvSpPr/>
            <p:nvPr/>
          </p:nvSpPr>
          <p:spPr>
            <a:xfrm>
              <a:off x="660745" y="7147499"/>
              <a:ext cx="1570756" cy="58430"/>
            </a:xfrm>
            <a:prstGeom prst="rect">
              <a:avLst/>
            </a:prstGeom>
            <a:solidFill>
              <a:srgbClr val="A3A3A3"/>
            </a:solidFill>
            <a:ln/>
          </p:spPr>
        </p:sp>
        <p:sp>
          <p:nvSpPr>
            <p:cNvPr id="45" name="svg1_30"/>
            <p:cNvSpPr txBox="1"/>
            <p:nvPr/>
          </p:nvSpPr>
          <p:spPr>
            <a:xfrm>
              <a:off x="486461" y="7223394"/>
              <a:ext cx="13862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ILS</a:t>
              </a:r>
              <a:endParaRPr lang="en-US" sz="587" dirty="0"/>
            </a:p>
          </p:txBody>
        </p:sp>
        <p:sp>
          <p:nvSpPr>
            <p:cNvPr id="46" name="svg1_31"/>
            <p:cNvSpPr/>
            <p:nvPr/>
          </p:nvSpPr>
          <p:spPr>
            <a:xfrm>
              <a:off x="660745" y="7241682"/>
              <a:ext cx="1527231" cy="58522"/>
            </a:xfrm>
            <a:prstGeom prst="rect">
              <a:avLst/>
            </a:prstGeom>
            <a:solidFill>
              <a:srgbClr val="A3A3A3"/>
            </a:solidFill>
            <a:ln/>
          </p:spPr>
        </p:sp>
        <p:sp>
          <p:nvSpPr>
            <p:cNvPr id="47" name="svg1_32"/>
            <p:cNvSpPr txBox="1"/>
            <p:nvPr/>
          </p:nvSpPr>
          <p:spPr>
            <a:xfrm>
              <a:off x="445587" y="7317669"/>
              <a:ext cx="1759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TDP</a:t>
              </a:r>
              <a:endParaRPr lang="en-US" sz="587" dirty="0"/>
            </a:p>
          </p:txBody>
        </p:sp>
        <p:sp>
          <p:nvSpPr>
            <p:cNvPr id="48" name="svg1_33"/>
            <p:cNvSpPr/>
            <p:nvPr/>
          </p:nvSpPr>
          <p:spPr>
            <a:xfrm>
              <a:off x="660745" y="7335957"/>
              <a:ext cx="1028791" cy="58430"/>
            </a:xfrm>
            <a:prstGeom prst="rect">
              <a:avLst/>
            </a:prstGeom>
            <a:solidFill>
              <a:srgbClr val="A3A3A3"/>
            </a:solidFill>
            <a:ln/>
          </p:spPr>
        </p:sp>
        <p:sp>
          <p:nvSpPr>
            <p:cNvPr id="49" name="svg1_34"/>
            <p:cNvSpPr txBox="1"/>
            <p:nvPr/>
          </p:nvSpPr>
          <p:spPr>
            <a:xfrm>
              <a:off x="431597" y="7411852"/>
              <a:ext cx="19760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DHC</a:t>
              </a:r>
              <a:endParaRPr lang="en-US" sz="587" dirty="0"/>
            </a:p>
          </p:txBody>
        </p:sp>
        <p:sp>
          <p:nvSpPr>
            <p:cNvPr id="50" name="svg1_35"/>
            <p:cNvSpPr/>
            <p:nvPr/>
          </p:nvSpPr>
          <p:spPr>
            <a:xfrm>
              <a:off x="660745" y="7430140"/>
              <a:ext cx="727497" cy="58522"/>
            </a:xfrm>
            <a:prstGeom prst="rect">
              <a:avLst/>
            </a:prstGeom>
            <a:solidFill>
              <a:srgbClr val="A3A3A3"/>
            </a:solidFill>
            <a:ln/>
          </p:spPr>
        </p:sp>
        <p:sp>
          <p:nvSpPr>
            <p:cNvPr id="51" name="svg1_36"/>
            <p:cNvSpPr txBox="1"/>
            <p:nvPr/>
          </p:nvSpPr>
          <p:spPr>
            <a:xfrm>
              <a:off x="451165" y="7506218"/>
              <a:ext cx="17401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BBS</a:t>
              </a:r>
              <a:endParaRPr lang="en-US" sz="587" dirty="0"/>
            </a:p>
          </p:txBody>
        </p:sp>
        <p:sp>
          <p:nvSpPr>
            <p:cNvPr id="52" name="svg1_37"/>
            <p:cNvSpPr/>
            <p:nvPr/>
          </p:nvSpPr>
          <p:spPr>
            <a:xfrm>
              <a:off x="660745" y="7524506"/>
              <a:ext cx="630204" cy="58430"/>
            </a:xfrm>
            <a:prstGeom prst="rect">
              <a:avLst/>
            </a:prstGeom>
            <a:solidFill>
              <a:srgbClr val="A3A3A3"/>
            </a:solidFill>
            <a:ln/>
          </p:spPr>
        </p:sp>
        <p:sp>
          <p:nvSpPr>
            <p:cNvPr id="53" name="svg1_38"/>
            <p:cNvSpPr txBox="1"/>
            <p:nvPr/>
          </p:nvSpPr>
          <p:spPr>
            <a:xfrm>
              <a:off x="422819" y="7600401"/>
              <a:ext cx="19860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PMP</a:t>
              </a:r>
              <a:endParaRPr lang="en-US" sz="587" dirty="0"/>
            </a:p>
          </p:txBody>
        </p:sp>
        <p:sp>
          <p:nvSpPr>
            <p:cNvPr id="54" name="svg1_39"/>
            <p:cNvSpPr/>
            <p:nvPr/>
          </p:nvSpPr>
          <p:spPr>
            <a:xfrm>
              <a:off x="660745" y="7618689"/>
              <a:ext cx="618683" cy="58430"/>
            </a:xfrm>
            <a:prstGeom prst="rect">
              <a:avLst/>
            </a:prstGeom>
            <a:solidFill>
              <a:srgbClr val="A3A3A3"/>
            </a:solidFill>
            <a:ln/>
          </p:spPr>
        </p:sp>
        <p:sp>
          <p:nvSpPr>
            <p:cNvPr id="55" name="svg1_40"/>
            <p:cNvSpPr txBox="1"/>
            <p:nvPr/>
          </p:nvSpPr>
          <p:spPr>
            <a:xfrm>
              <a:off x="437083" y="7694676"/>
              <a:ext cx="18544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APH</a:t>
              </a:r>
              <a:endParaRPr lang="en-US" sz="587" dirty="0"/>
            </a:p>
          </p:txBody>
        </p:sp>
        <p:sp>
          <p:nvSpPr>
            <p:cNvPr id="56" name="svg1_41"/>
            <p:cNvSpPr/>
            <p:nvPr/>
          </p:nvSpPr>
          <p:spPr>
            <a:xfrm>
              <a:off x="660745" y="7712964"/>
              <a:ext cx="578632" cy="58430"/>
            </a:xfrm>
            <a:prstGeom prst="rect">
              <a:avLst/>
            </a:prstGeom>
            <a:solidFill>
              <a:srgbClr val="A3A3A3"/>
            </a:solidFill>
            <a:ln/>
          </p:spPr>
        </p:sp>
        <p:sp>
          <p:nvSpPr>
            <p:cNvPr id="57" name="svg1_42"/>
            <p:cNvSpPr txBox="1"/>
            <p:nvPr/>
          </p:nvSpPr>
          <p:spPr>
            <a:xfrm>
              <a:off x="451439" y="7788859"/>
              <a:ext cx="17775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TPC</a:t>
              </a:r>
              <a:endParaRPr lang="en-US" sz="587" dirty="0"/>
            </a:p>
          </p:txBody>
        </p:sp>
        <p:sp>
          <p:nvSpPr>
            <p:cNvPr id="58" name="svg1_43"/>
            <p:cNvSpPr/>
            <p:nvPr/>
          </p:nvSpPr>
          <p:spPr>
            <a:xfrm>
              <a:off x="660745" y="7807147"/>
              <a:ext cx="482255" cy="58430"/>
            </a:xfrm>
            <a:prstGeom prst="rect">
              <a:avLst/>
            </a:prstGeom>
            <a:solidFill>
              <a:srgbClr val="A3A3A3"/>
            </a:solidFill>
            <a:ln/>
          </p:spPr>
        </p:sp>
        <p:sp>
          <p:nvSpPr>
            <p:cNvPr id="59" name="svg1_44"/>
            <p:cNvSpPr txBox="1"/>
            <p:nvPr/>
          </p:nvSpPr>
          <p:spPr>
            <a:xfrm>
              <a:off x="442478" y="7883134"/>
              <a:ext cx="18690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VBC</a:t>
              </a:r>
              <a:endParaRPr lang="en-US" sz="587" dirty="0"/>
            </a:p>
          </p:txBody>
        </p:sp>
        <p:sp>
          <p:nvSpPr>
            <p:cNvPr id="60" name="svg1_45"/>
            <p:cNvSpPr/>
            <p:nvPr/>
          </p:nvSpPr>
          <p:spPr>
            <a:xfrm>
              <a:off x="660745" y="7901422"/>
              <a:ext cx="477774" cy="58430"/>
            </a:xfrm>
            <a:prstGeom prst="rect">
              <a:avLst/>
            </a:prstGeom>
            <a:solidFill>
              <a:srgbClr val="A3A3A3"/>
            </a:solidFill>
            <a:ln/>
          </p:spPr>
        </p:sp>
        <p:sp>
          <p:nvSpPr>
            <p:cNvPr id="61" name="svg1_46"/>
            <p:cNvSpPr txBox="1"/>
            <p:nvPr/>
          </p:nvSpPr>
          <p:spPr>
            <a:xfrm>
              <a:off x="435072" y="7977408"/>
              <a:ext cx="19074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AAA</a:t>
              </a:r>
              <a:endParaRPr lang="en-US" sz="587" dirty="0"/>
            </a:p>
          </p:txBody>
        </p:sp>
        <p:sp>
          <p:nvSpPr>
            <p:cNvPr id="62" name="svg1_47"/>
            <p:cNvSpPr/>
            <p:nvPr/>
          </p:nvSpPr>
          <p:spPr>
            <a:xfrm>
              <a:off x="660745" y="7995696"/>
              <a:ext cx="441107" cy="58430"/>
            </a:xfrm>
            <a:prstGeom prst="rect">
              <a:avLst/>
            </a:prstGeom>
            <a:solidFill>
              <a:srgbClr val="A3A3A3"/>
            </a:solidFill>
            <a:ln/>
          </p:spPr>
        </p:sp>
        <p:sp>
          <p:nvSpPr>
            <p:cNvPr id="63" name="svg1_48"/>
            <p:cNvSpPr txBox="1"/>
            <p:nvPr/>
          </p:nvSpPr>
          <p:spPr>
            <a:xfrm>
              <a:off x="454091" y="8071683"/>
              <a:ext cx="16742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TPP</a:t>
              </a:r>
              <a:endParaRPr lang="en-US" sz="587" dirty="0"/>
            </a:p>
          </p:txBody>
        </p:sp>
        <p:sp>
          <p:nvSpPr>
            <p:cNvPr id="64" name="svg1_49"/>
            <p:cNvSpPr/>
            <p:nvPr/>
          </p:nvSpPr>
          <p:spPr>
            <a:xfrm>
              <a:off x="660745" y="8089971"/>
              <a:ext cx="375727" cy="58430"/>
            </a:xfrm>
            <a:prstGeom prst="rect">
              <a:avLst/>
            </a:prstGeom>
            <a:solidFill>
              <a:srgbClr val="A3A3A3"/>
            </a:solidFill>
            <a:ln/>
          </p:spPr>
        </p:sp>
        <p:sp>
          <p:nvSpPr>
            <p:cNvPr id="65" name="svg1_50"/>
            <p:cNvSpPr txBox="1"/>
            <p:nvPr/>
          </p:nvSpPr>
          <p:spPr>
            <a:xfrm>
              <a:off x="459486" y="8165866"/>
              <a:ext cx="16203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STP</a:t>
              </a:r>
              <a:endParaRPr lang="en-US" sz="587" dirty="0"/>
            </a:p>
          </p:txBody>
        </p:sp>
        <p:sp>
          <p:nvSpPr>
            <p:cNvPr id="66" name="svg1_51"/>
            <p:cNvSpPr/>
            <p:nvPr/>
          </p:nvSpPr>
          <p:spPr>
            <a:xfrm>
              <a:off x="660745" y="8184154"/>
              <a:ext cx="339060" cy="58430"/>
            </a:xfrm>
            <a:prstGeom prst="rect">
              <a:avLst/>
            </a:prstGeom>
            <a:solidFill>
              <a:srgbClr val="A3A3A3"/>
            </a:solidFill>
            <a:ln/>
          </p:spPr>
        </p:sp>
        <p:sp>
          <p:nvSpPr>
            <p:cNvPr id="67" name="svg1_52"/>
            <p:cNvSpPr txBox="1"/>
            <p:nvPr/>
          </p:nvSpPr>
          <p:spPr>
            <a:xfrm>
              <a:off x="451988" y="8260141"/>
              <a:ext cx="16934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INN</a:t>
              </a:r>
              <a:endParaRPr lang="en-US" sz="587" dirty="0"/>
            </a:p>
          </p:txBody>
        </p:sp>
        <p:sp>
          <p:nvSpPr>
            <p:cNvPr id="68" name="svg1_53"/>
            <p:cNvSpPr/>
            <p:nvPr/>
          </p:nvSpPr>
          <p:spPr>
            <a:xfrm>
              <a:off x="660745" y="8278338"/>
              <a:ext cx="304678" cy="58522"/>
            </a:xfrm>
            <a:prstGeom prst="rect">
              <a:avLst/>
            </a:prstGeom>
            <a:solidFill>
              <a:srgbClr val="A3A3A3"/>
            </a:solidFill>
            <a:ln/>
          </p:spPr>
        </p:sp>
        <p:sp>
          <p:nvSpPr>
            <p:cNvPr id="69" name="svg1_54"/>
            <p:cNvSpPr txBox="1"/>
            <p:nvPr/>
          </p:nvSpPr>
          <p:spPr>
            <a:xfrm>
              <a:off x="449062" y="8354416"/>
              <a:ext cx="17227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PBP</a:t>
              </a:r>
              <a:endParaRPr lang="en-US" sz="587" dirty="0"/>
            </a:p>
          </p:txBody>
        </p:sp>
        <p:sp>
          <p:nvSpPr>
            <p:cNvPr id="70" name="svg1_55"/>
            <p:cNvSpPr/>
            <p:nvPr/>
          </p:nvSpPr>
          <p:spPr>
            <a:xfrm>
              <a:off x="660745" y="8372704"/>
              <a:ext cx="235915" cy="58430"/>
            </a:xfrm>
            <a:prstGeom prst="rect">
              <a:avLst/>
            </a:prstGeom>
            <a:solidFill>
              <a:srgbClr val="A3A3A3"/>
            </a:solidFill>
            <a:ln/>
          </p:spPr>
        </p:sp>
        <p:sp>
          <p:nvSpPr>
            <p:cNvPr id="71" name="svg1_56"/>
            <p:cNvSpPr/>
            <p:nvPr/>
          </p:nvSpPr>
          <p:spPr>
            <a:xfrm>
              <a:off x="660745" y="7127839"/>
              <a:ext cx="0" cy="1320302"/>
            </a:xfrm>
            <a:prstGeom prst="line">
              <a:avLst/>
            </a:prstGeom>
            <a:noFill/>
            <a:ln w="6858">
              <a:solidFill>
                <a:srgbClr val="8C8C8C"/>
              </a:solidFill>
              <a:prstDash val="solid"/>
            </a:ln>
          </p:spPr>
        </p:sp>
        <p:sp>
          <p:nvSpPr>
            <p:cNvPr id="72" name="svg1_57"/>
            <p:cNvSpPr/>
            <p:nvPr/>
          </p:nvSpPr>
          <p:spPr>
            <a:xfrm>
              <a:off x="1191189" y="7127839"/>
              <a:ext cx="0" cy="1339870"/>
            </a:xfrm>
            <a:prstGeom prst="line">
              <a:avLst/>
            </a:prstGeom>
            <a:noFill/>
            <a:ln w="7874">
              <a:solidFill>
                <a:srgbClr val="404040"/>
              </a:solidFill>
              <a:prstDash val="dash"/>
            </a:ln>
          </p:spPr>
        </p:sp>
        <p:sp>
          <p:nvSpPr>
            <p:cNvPr id="73" name="svg1_58"/>
            <p:cNvSpPr txBox="1"/>
            <p:nvPr/>
          </p:nvSpPr>
          <p:spPr>
            <a:xfrm>
              <a:off x="627370" y="8460395"/>
              <a:ext cx="1134496"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Trung vị 4,63x · ngành 2026 7,99x</a:t>
              </a:r>
              <a:endParaRPr lang="en-US" sz="557" dirty="0"/>
            </a:p>
          </p:txBody>
        </p:sp>
        <p:sp>
          <p:nvSpPr>
            <p:cNvPr id="74" name="svg1_59"/>
            <p:cNvSpPr txBox="1"/>
            <p:nvPr/>
          </p:nvSpPr>
          <p:spPr>
            <a:xfrm>
              <a:off x="2256008" y="7129211"/>
              <a:ext cx="18918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13,7x</a:t>
              </a:r>
              <a:endParaRPr lang="en-US" sz="587" dirty="0"/>
            </a:p>
          </p:txBody>
        </p:sp>
        <p:sp>
          <p:nvSpPr>
            <p:cNvPr id="75" name="svg1_60"/>
            <p:cNvSpPr txBox="1"/>
            <p:nvPr/>
          </p:nvSpPr>
          <p:spPr>
            <a:xfrm>
              <a:off x="2212848" y="7223394"/>
              <a:ext cx="18918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13,3x</a:t>
              </a:r>
              <a:endParaRPr lang="en-US" sz="587" dirty="0"/>
            </a:p>
          </p:txBody>
        </p:sp>
        <p:sp>
          <p:nvSpPr>
            <p:cNvPr id="76" name="svg1_61"/>
            <p:cNvSpPr txBox="1"/>
            <p:nvPr/>
          </p:nvSpPr>
          <p:spPr>
            <a:xfrm>
              <a:off x="1714134" y="7317669"/>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9,0x</a:t>
              </a:r>
              <a:endParaRPr lang="en-US" sz="587" dirty="0"/>
            </a:p>
          </p:txBody>
        </p:sp>
        <p:sp>
          <p:nvSpPr>
            <p:cNvPr id="77" name="svg1_62"/>
            <p:cNvSpPr txBox="1"/>
            <p:nvPr/>
          </p:nvSpPr>
          <p:spPr>
            <a:xfrm>
              <a:off x="1412748" y="7411852"/>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6,3x</a:t>
              </a:r>
              <a:endParaRPr lang="en-US" sz="587" dirty="0"/>
            </a:p>
          </p:txBody>
        </p:sp>
        <p:sp>
          <p:nvSpPr>
            <p:cNvPr id="78" name="svg1_63"/>
            <p:cNvSpPr txBox="1"/>
            <p:nvPr/>
          </p:nvSpPr>
          <p:spPr>
            <a:xfrm>
              <a:off x="1315456" y="7506218"/>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5,5x</a:t>
              </a:r>
              <a:endParaRPr lang="en-US" sz="587" dirty="0"/>
            </a:p>
          </p:txBody>
        </p:sp>
        <p:sp>
          <p:nvSpPr>
            <p:cNvPr id="79" name="svg1_64"/>
            <p:cNvSpPr txBox="1"/>
            <p:nvPr/>
          </p:nvSpPr>
          <p:spPr>
            <a:xfrm>
              <a:off x="1303752" y="7600401"/>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5,4x</a:t>
              </a:r>
              <a:endParaRPr lang="en-US" sz="587" dirty="0"/>
            </a:p>
          </p:txBody>
        </p:sp>
        <p:sp>
          <p:nvSpPr>
            <p:cNvPr id="80" name="svg1_65"/>
            <p:cNvSpPr txBox="1"/>
            <p:nvPr/>
          </p:nvSpPr>
          <p:spPr>
            <a:xfrm>
              <a:off x="1263518" y="769467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5,0x</a:t>
              </a:r>
              <a:endParaRPr lang="en-US" sz="587" dirty="0"/>
            </a:p>
          </p:txBody>
        </p:sp>
        <p:sp>
          <p:nvSpPr>
            <p:cNvPr id="81" name="svg1_66"/>
            <p:cNvSpPr txBox="1"/>
            <p:nvPr/>
          </p:nvSpPr>
          <p:spPr>
            <a:xfrm>
              <a:off x="1167323" y="7788859"/>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4,2x</a:t>
              </a:r>
              <a:endParaRPr lang="en-US" sz="587" dirty="0"/>
            </a:p>
          </p:txBody>
        </p:sp>
        <p:sp>
          <p:nvSpPr>
            <p:cNvPr id="82" name="svg1_67"/>
            <p:cNvSpPr txBox="1"/>
            <p:nvPr/>
          </p:nvSpPr>
          <p:spPr>
            <a:xfrm>
              <a:off x="1163391" y="7883134"/>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4,2x</a:t>
              </a:r>
              <a:endParaRPr lang="en-US" sz="587" dirty="0"/>
            </a:p>
          </p:txBody>
        </p:sp>
        <p:sp>
          <p:nvSpPr>
            <p:cNvPr id="83" name="svg1_68"/>
            <p:cNvSpPr txBox="1"/>
            <p:nvPr/>
          </p:nvSpPr>
          <p:spPr>
            <a:xfrm>
              <a:off x="1126084" y="7977408"/>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3,9x</a:t>
              </a:r>
              <a:endParaRPr lang="en-US" sz="587" dirty="0"/>
            </a:p>
          </p:txBody>
        </p:sp>
        <p:sp>
          <p:nvSpPr>
            <p:cNvPr id="84" name="svg1_69"/>
            <p:cNvSpPr txBox="1"/>
            <p:nvPr/>
          </p:nvSpPr>
          <p:spPr>
            <a:xfrm>
              <a:off x="1061253" y="8071683"/>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3,3x</a:t>
              </a:r>
              <a:endParaRPr lang="en-US" sz="587" dirty="0"/>
            </a:p>
          </p:txBody>
        </p:sp>
        <p:sp>
          <p:nvSpPr>
            <p:cNvPr id="85" name="svg1_70"/>
            <p:cNvSpPr txBox="1"/>
            <p:nvPr/>
          </p:nvSpPr>
          <p:spPr>
            <a:xfrm>
              <a:off x="1023945" y="816586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3,0x</a:t>
              </a:r>
              <a:endParaRPr lang="en-US" sz="587" dirty="0"/>
            </a:p>
          </p:txBody>
        </p:sp>
        <p:sp>
          <p:nvSpPr>
            <p:cNvPr id="86" name="svg1_71"/>
            <p:cNvSpPr txBox="1"/>
            <p:nvPr/>
          </p:nvSpPr>
          <p:spPr>
            <a:xfrm>
              <a:off x="989655" y="8260141"/>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2,7x</a:t>
              </a:r>
              <a:endParaRPr lang="en-US" sz="587" dirty="0"/>
            </a:p>
          </p:txBody>
        </p:sp>
        <p:sp>
          <p:nvSpPr>
            <p:cNvPr id="87" name="svg1_72"/>
            <p:cNvSpPr txBox="1"/>
            <p:nvPr/>
          </p:nvSpPr>
          <p:spPr>
            <a:xfrm>
              <a:off x="920892" y="835441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2,1x</a:t>
              </a:r>
              <a:endParaRPr lang="en-US" sz="587" dirty="0"/>
            </a:p>
          </p:txBody>
        </p:sp>
      </p:grpSp>
      <p:sp>
        <p:nvSpPr>
          <p:cNvPr id="88" name="Text 82"/>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9" name="Text 83"/>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90" name="Text 84"/>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5. ĐỊNH GIÁ</a:t>
            </a:r>
            <a:endParaRPr lang="en-US" sz="880" dirty="0"/>
          </a:p>
        </p:txBody>
      </p:sp>
      <p:sp>
        <p:nvSpPr>
          <p:cNvPr id="91" name="Text 85"/>
          <p:cNvSpPr txBox="1"/>
          <p:nvPr/>
        </p:nvSpPr>
        <p:spPr>
          <a:xfrm>
            <a:off x="405354" y="86200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WACC 13,6%: Rf là bình quân 10 năm, total beta 1,48</a:t>
            </a:r>
            <a:endParaRPr lang="en-US" sz="720" dirty="0"/>
          </a:p>
        </p:txBody>
      </p:sp>
      <p:sp>
        <p:nvSpPr>
          <p:cNvPr id="92" name="Text 86"/>
          <p:cNvSpPr txBox="1"/>
          <p:nvPr/>
        </p:nvSpPr>
        <p:spPr>
          <a:xfrm>
            <a:off x="405354" y="300563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nguồn ghi ở cột C cạnh từng giả định); chi tiết ở Fig. A11, A12</a:t>
            </a:r>
            <a:endParaRPr lang="en-US" sz="600" dirty="0"/>
          </a:p>
        </p:txBody>
      </p:sp>
      <p:sp>
        <p:nvSpPr>
          <p:cNvPr id="93" name="Text 87"/>
          <p:cNvSpPr txBox="1"/>
          <p:nvPr/>
        </p:nvSpPr>
        <p:spPr>
          <a:xfrm>
            <a:off x="405354" y="330226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Giá trị cuối kỳ lớn hơn toàn bộ EV do FCFF 2026–2028 âm</a:t>
            </a:r>
            <a:endParaRPr lang="en-US" sz="720" dirty="0"/>
          </a:p>
        </p:txBody>
      </p:sp>
      <p:sp>
        <p:nvSpPr>
          <p:cNvPr id="94" name="Text 88"/>
          <p:cNvSpPr txBox="1"/>
          <p:nvPr/>
        </p:nvSpPr>
        <p:spPr>
          <a:xfrm>
            <a:off x="405354" y="353927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95" name="Text 89"/>
          <p:cNvSpPr txBox="1"/>
          <p:nvPr/>
        </p:nvSpPr>
        <p:spPr>
          <a:xfrm>
            <a:off x="405354" y="465429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a:t>
            </a:r>
            <a:endParaRPr lang="en-US" sz="600" dirty="0"/>
          </a:p>
        </p:txBody>
      </p:sp>
      <p:sp>
        <p:nvSpPr>
          <p:cNvPr id="96" name="Text 90"/>
          <p:cNvSpPr txBox="1"/>
          <p:nvPr/>
        </p:nvSpPr>
        <p:spPr>
          <a:xfrm>
            <a:off x="405354" y="485957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VC Method: pre-money 25,3 tỷ đồng</a:t>
            </a:r>
            <a:endParaRPr lang="en-US" sz="720" dirty="0"/>
          </a:p>
        </p:txBody>
      </p:sp>
      <p:sp>
        <p:nvSpPr>
          <p:cNvPr id="97" name="Text 91"/>
          <p:cNvSpPr txBox="1"/>
          <p:nvPr/>
        </p:nvSpPr>
        <p:spPr>
          <a:xfrm>
            <a:off x="405354" y="498713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98" name="Text 92"/>
          <p:cNvSpPr txBox="1"/>
          <p:nvPr/>
        </p:nvSpPr>
        <p:spPr>
          <a:xfrm>
            <a:off x="405354" y="645895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en-US" sz="600" dirty="0"/>
          </a:p>
        </p:txBody>
      </p:sp>
      <p:sp>
        <p:nvSpPr>
          <p:cNvPr id="99" name="Text 93"/>
          <p:cNvSpPr txBox="1"/>
          <p:nvPr/>
        </p:nvSpPr>
        <p:spPr>
          <a:xfrm>
            <a:off x="405354" y="675558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en-US" sz="720" dirty="0"/>
          </a:p>
        </p:txBody>
      </p:sp>
      <p:sp>
        <p:nvSpPr>
          <p:cNvPr id="100" name="Text 94"/>
          <p:cNvSpPr txBox="1"/>
          <p:nvPr/>
        </p:nvSpPr>
        <p:spPr>
          <a:xfrm>
            <a:off x="405354" y="699269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Lần (4 quý gần nhất)</a:t>
            </a:r>
            <a:endParaRPr lang="en-US" sz="630" dirty="0"/>
          </a:p>
        </p:txBody>
      </p:sp>
      <p:sp>
        <p:nvSpPr>
          <p:cNvPr id="101" name="Text 95"/>
          <p:cNvSpPr txBox="1"/>
          <p:nvPr/>
        </p:nvSpPr>
        <p:spPr>
          <a:xfrm>
            <a:off x="405354" y="862224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en-US" sz="600" dirty="0"/>
          </a:p>
        </p:txBody>
      </p:sp>
      <p:sp>
        <p:nvSpPr>
          <p:cNvPr id="102" name="Text 96"/>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5.1. Lựa chọn phương pháp</a:t>
            </a:r>
            <a:endParaRPr lang="en-US" sz="900" dirty="0"/>
          </a:p>
        </p:txBody>
      </p:sp>
      <p:sp>
        <p:nvSpPr>
          <p:cNvPr id="103" name="Text 97"/>
          <p:cNvSpPr txBox="1"/>
          <p:nvPr/>
        </p:nvSpPr>
        <p:spPr>
          <a:xfrm>
            <a:off x="2745303" y="1014618"/>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Nhóm dùng cả ba phương pháp đề bài cho phép; mỗi phương pháp trả lời một câu hỏi khác nhau.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DCF (FCFF)</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phù hợp vì AgriPack đã có ba năm doanh thu, EBITDA dương và kế hoạch đầu tư cụ thể: DCF đo giá trị khi doanh nghiệp tiếp tục hoạt động như dự phóng.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VC Method</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hợp với giai đoạn đầu tăng trưởng vì dùng trực tiếp tỷ lệ thất bại 35–45% của đề bài và góc nhìn của nhà đầu tư mạo hiểm.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Multiples</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neo kết quả vào giá thị trường của 14 doanh nghiệp bao bì niêm yết. Trọng số 40/40/20: Multiples chỉ 20% vì mẫu là doanh nghiệp lớn, trưởng thành và bội số trên chỉ tiêu 2025A chỉ phản ánh bộ máy hiện tại (so sánh ưu, nhược điểm ở Mục 5.6).</a:t>
            </a:r>
            <a:endParaRPr lang="en-US" sz="850" dirty="0"/>
          </a:p>
        </p:txBody>
      </p:sp>
      <p:sp>
        <p:nvSpPr>
          <p:cNvPr id="104" name="Text 98"/>
          <p:cNvSpPr txBox="1"/>
          <p:nvPr/>
        </p:nvSpPr>
        <p:spPr>
          <a:xfrm>
            <a:off x="2745303" y="197318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5.2. Chi phí vốn</a:t>
            </a:r>
            <a:endParaRPr lang="en-US" sz="900" dirty="0"/>
          </a:p>
        </p:txBody>
      </p:sp>
      <p:sp>
        <p:nvSpPr>
          <p:cNvPr id="105" name="Text 99"/>
          <p:cNvSpPr txBox="1"/>
          <p:nvPr/>
        </p:nvSpPr>
        <p:spPr>
          <a:xfrm>
            <a:off x="2745303" y="2142531"/>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WACC 13,6% (Fig. 39). Rf là bình quân lợi suất TPCP kỳ hạn 10 năm của 10 năm 2016–2025 (3,92%) thay vì một quan sát tại thời điểm định giá (~4,47% đầu 6/2026), để chi phí vốn dài hạn không phụ thuộc đỉnh hay đáy của chu kỳ lãi suất – lợi suất dao động từ 2,1% (2021) đến 6,9% (2016) (Fig. A12). ERP Việt Nam 8,13% (4,23% thị trường phát triển + 3,9% rủi ro quốc gia); beta không đòn bẩy ngành bao bì 0,78 (Damodaran) điều chỉnh theo D/E mục tiêu 41% và chia cho ρ = 0,7 vì quỹ VC chỉ đa dạng hóa một phần, cho total beta 1,48 và Ke 15,9%. Chi phí nợ 10% trước thuế. Rủi ro thất bại không cộng vào WACC mà xử lý riêng trong VC Method để tránh tính trùng.</a:t>
            </a:r>
            <a:endParaRPr lang="en-US" sz="850" dirty="0"/>
          </a:p>
        </p:txBody>
      </p:sp>
      <p:sp>
        <p:nvSpPr>
          <p:cNvPr id="106" name="Text 100"/>
          <p:cNvSpPr txBox="1"/>
          <p:nvPr/>
        </p:nvSpPr>
        <p:spPr>
          <a:xfrm>
            <a:off x="2745303" y="310118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5.3. DCF</a:t>
            </a:r>
            <a:endParaRPr lang="en-US" sz="900" dirty="0"/>
          </a:p>
        </p:txBody>
      </p:sp>
      <p:sp>
        <p:nvSpPr>
          <p:cNvPr id="107" name="Text 101"/>
          <p:cNvSpPr txBox="1"/>
          <p:nvPr/>
        </p:nvSpPr>
        <p:spPr>
          <a:xfrm>
            <a:off x="2745303" y="3270534"/>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DCF cho pre-money 41,1 tỷ đồng (Fig. 40, Fig. 41). PV của FCFF 2026–2030 âm 33,1 tỷ vì nhà máy 2027; giá trị cuối kỳ (138,0 tỷ năm 2030, hiện giá 72,8 tỷ) bằng 183% EV. Giá trị cuối kỳ dùng FCFF chuẩn hóa NOPAT 2031 × (1 − g/RONIC), g = 5% (lạm phát mục tiêu cộng tăng trưởng thực thấp) và RONIC 18% (cao hơn ROIC 2030 vì còn công suất dư). WACC ±1 điểm % và g ±1 điểm % cho 29,1–60,2 tỷ (Fig. A14). Kết quả tương đương EV/EBITDA 2025A 5,2 lần, gần trung vị 4,6 lần của ngành: DCF không trả thêm nhiều cho tăng trưởng vì khoản đầu tư 2027 chỉ vừa bù chi phí vốn.</a:t>
            </a:r>
            <a:endParaRPr lang="en-US" sz="850" dirty="0"/>
          </a:p>
        </p:txBody>
      </p:sp>
      <p:sp>
        <p:nvSpPr>
          <p:cNvPr id="108" name="Text 102"/>
          <p:cNvSpPr txBox="1"/>
          <p:nvPr/>
        </p:nvSpPr>
        <p:spPr>
          <a:xfrm>
            <a:off x="2745303" y="4128699"/>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en-US" sz="720" dirty="0"/>
          </a:p>
        </p:txBody>
      </p:sp>
      <p:sp>
        <p:nvSpPr>
          <p:cNvPr id="109" name="Text 103"/>
          <p:cNvSpPr txBox="1"/>
          <p:nvPr/>
        </p:nvSpPr>
        <p:spPr>
          <a:xfrm>
            <a:off x="2745303" y="4256166"/>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0" name="Text 104"/>
          <p:cNvSpPr txBox="1"/>
          <p:nvPr/>
        </p:nvSpPr>
        <p:spPr>
          <a:xfrm>
            <a:off x="2745303" y="5460248"/>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en-US" sz="600" dirty="0"/>
          </a:p>
        </p:txBody>
      </p:sp>
      <p:sp>
        <p:nvSpPr>
          <p:cNvPr id="111" name="Text 105"/>
          <p:cNvSpPr txBox="1"/>
          <p:nvPr/>
        </p:nvSpPr>
        <p:spPr>
          <a:xfrm>
            <a:off x="2745303" y="563435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5.4. VC Method</a:t>
            </a:r>
            <a:endParaRPr lang="en-US" sz="900" dirty="0"/>
          </a:p>
        </p:txBody>
      </p:sp>
      <p:sp>
        <p:nvSpPr>
          <p:cNvPr id="112" name="Text 106"/>
          <p:cNvSpPr txBox="1"/>
          <p:nvPr/>
        </p:nvSpPr>
        <p:spPr>
          <a:xfrm>
            <a:off x="2745303" y="5803697"/>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VC Method cho pre-money 25,3 tỷ đồng (Fig. 42). Giá trị thoái vốn cuối 2030 là bình quân P/E 9,4 lần × LNST 2030E (130,2 tỷ) và EV/EBITDA 8,0 lần × EBITDA 2030E cộng tiền trừ nợ (267,2 tỷ), tức 198,7 tỷ (bội số bình quân ngành Containers &amp; Packaging 2026, FiinX). Tỷ lệ thất bại 40% là xác suất tích lũy trong 5 năm (trung điểm 35–45%, Mục 2): quy đổi ra 9,7%/năm, tỷ suất yêu cầu khi thành công 25,9%. Post-money = 198,7 × (1 − 40%)/(1 + 13,6%)</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⁵</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 62,9 tỷ; trừ 37,6 tỷ vốn cổ phần cần huy động, pre-money là 25,3 tỷ. Nếu dùng nhầm 40% như xác suất mỗi năm, post-money chỉ còn 8,2 tỷ.</a:t>
            </a:r>
            <a:endParaRPr lang="en-US" sz="850" dirty="0"/>
          </a:p>
        </p:txBody>
      </p:sp>
      <p:sp>
        <p:nvSpPr>
          <p:cNvPr id="113" name="Text 107"/>
          <p:cNvSpPr txBox="1"/>
          <p:nvPr/>
        </p:nvSpPr>
        <p:spPr>
          <a:xfrm>
            <a:off x="2745303" y="663077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5.5. Multiples</a:t>
            </a:r>
            <a:endParaRPr lang="en-US" sz="900" dirty="0"/>
          </a:p>
        </p:txBody>
      </p:sp>
      <p:sp>
        <p:nvSpPr>
          <p:cNvPr id="114" name="Text 108"/>
          <p:cNvSpPr txBox="1"/>
          <p:nvPr/>
        </p:nvSpPr>
        <p:spPr>
          <a:xfrm>
            <a:off x="2745303" y="6800118"/>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Multiples cho pre-money 27,7 tỷ đồng (Fig. 43, Fig. 44). Mẫu gồm 14 doanh nghiệp bao bì niêm yết (loại MCP vì P/E 84 lần do lợi nhuận quá thấp, PBT vì là doanh nghiệp thương mại); trung vị EV/EBITDA 4,63 lần, P/E 7,1 lần; bình quân ngành 2026 theo FiinX 7,99 lần và 9,43 lần. Bội số được áp lên chỉ tiêu 2025A – EBITDA 7,7 tỷ và LNST chuẩn hóa thuế 20% là 3,54 tỷ (năm 2025 không nộp thuế nhờ chuyển lỗ) – rồi chiết khấu 30% cho thiếu thanh khoản và quy mô nhỏ. Nhóm không áp bội số lên chỉ tiêu 2026E (54,0 tỷ trước chiết khấu) vì EBITDA 2026E cần chính khoản vốn mới để tạo ra.</a:t>
            </a:r>
            <a:endParaRPr lang="en-US" sz="850" dirty="0"/>
          </a:p>
        </p:txBody>
      </p:sp>
      <p:sp>
        <p:nvSpPr>
          <p:cNvPr id="115" name="Text 109"/>
          <p:cNvSpPr txBox="1"/>
          <p:nvPr/>
        </p:nvSpPr>
        <p:spPr>
          <a:xfrm>
            <a:off x="2745303" y="7658283"/>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Multiples trên chỉ tiêu 2025A: pre-money 27,7 tỷ sau DLOM 30%</a:t>
            </a:r>
            <a:endParaRPr lang="en-US" sz="720" dirty="0"/>
          </a:p>
        </p:txBody>
      </p:sp>
      <p:sp>
        <p:nvSpPr>
          <p:cNvPr id="116" name="Text 110"/>
          <p:cNvSpPr txBox="1"/>
          <p:nvPr/>
        </p:nvSpPr>
        <p:spPr>
          <a:xfrm>
            <a:off x="2745303" y="7785842"/>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7" name="Text 111"/>
          <p:cNvSpPr txBox="1"/>
          <p:nvPr/>
        </p:nvSpPr>
        <p:spPr>
          <a:xfrm>
            <a:off x="2745303" y="8721913"/>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Sheet Multiples; FiinX (28/9/2026)</a:t>
            </a:r>
            <a:endParaRPr lang="en-US" sz="600" dirty="0"/>
          </a:p>
        </p:txBody>
      </p:sp>
      <p:sp>
        <p:nvSpPr>
          <p:cNvPr id="118" name="Text 112"/>
          <p:cNvSpPr txBox="1"/>
          <p:nvPr/>
        </p:nvSpPr>
        <p:spPr>
          <a:xfrm>
            <a:off x="2745303" y="8896106"/>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en-US" sz="900" dirty="0"/>
          </a:p>
        </p:txBody>
      </p:sp>
      <p:sp>
        <p:nvSpPr>
          <p:cNvPr id="119" name="Text 113"/>
          <p:cNvSpPr txBox="1"/>
          <p:nvPr/>
        </p:nvSpPr>
        <p:spPr>
          <a:xfrm>
            <a:off x="2745303" y="9065453"/>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Ba phương pháp cho 25,3–41,1 tỷ; pre-money bình quân gia quyền 32,1 tỷ đồng, khoảng 19,7–49,2 tỷ (Fig. 45).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Vì sao DCF cao hơn VC Method 15,8 tỷ.</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VC Method tính xác suất thất bại còn DCF thì không: DCF điều chỉnh xác suất sống sót (60% × 41,1 + 40% × giá trị thanh lý 15,0 tỷ) cho 30,7 tỷ, gần VC Method và Multiples. Phần còn lại đến từ giá trị năm 2030: DCF dựa trên dòng tiền sau 2030 (138,0 tỷ), VC Method dùng bội số ngành (198,7 tỷ) – riêng EV/EBITDA 8 lần cho 267 tỷ vì biên EBITDA 2030 (20%) cao hơn nhiều biên EBIT (11,5%) khi khấu hao lớn. Multiples thấp hơn DCF vì chỉ định giá bộ máy 2025.</a:t>
            </a:r>
            <a:endParaRPr lang="en-US" sz="850" dirty="0"/>
          </a:p>
        </p:txBody>
      </p:sp>
      <p:sp>
        <p:nvSpPr>
          <p:cNvPr id="120" name="Text 114"/>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21" name="Text 115"/>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14</a:t>
            </a:r>
            <a:endParaRPr lang="en-US"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44041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562813"/>
            <a:ext cx="2159996" cy="0"/>
          </a:xfrm>
          <a:prstGeom prst="line">
            <a:avLst/>
          </a:prstGeom>
          <a:noFill/>
          <a:ln w="9525">
            <a:solidFill>
              <a:srgbClr val="7B1E2B"/>
            </a:solidFill>
            <a:prstDash val="solid"/>
          </a:ln>
        </p:spPr>
      </p:sp>
      <p:sp>
        <p:nvSpPr>
          <p:cNvPr id="5" name="Shape 3"/>
          <p:cNvSpPr/>
          <p:nvPr/>
        </p:nvSpPr>
        <p:spPr>
          <a:xfrm>
            <a:off x="2745303" y="1258306"/>
            <a:ext cx="4409237" cy="0"/>
          </a:xfrm>
          <a:prstGeom prst="line">
            <a:avLst/>
          </a:prstGeom>
          <a:noFill/>
          <a:ln w="9525">
            <a:solidFill>
              <a:srgbClr val="7B1E2B"/>
            </a:solidFill>
            <a:prstDash val="solid"/>
          </a:ln>
        </p:spPr>
      </p:sp>
      <p:sp>
        <p:nvSpPr>
          <p:cNvPr id="6" name="Shape 4"/>
          <p:cNvSpPr/>
          <p:nvPr/>
        </p:nvSpPr>
        <p:spPr>
          <a:xfrm>
            <a:off x="405354" y="2972257"/>
            <a:ext cx="6749004" cy="0"/>
          </a:xfrm>
          <a:prstGeom prst="line">
            <a:avLst/>
          </a:prstGeom>
          <a:noFill/>
          <a:ln w="9525">
            <a:solidFill>
              <a:srgbClr val="7B1E2B"/>
            </a:solidFill>
            <a:prstDash val="solid"/>
          </a:ln>
        </p:spPr>
      </p:sp>
      <p:sp>
        <p:nvSpPr>
          <p:cNvPr id="7" name="Shape 5"/>
          <p:cNvSpPr/>
          <p:nvPr/>
        </p:nvSpPr>
        <p:spPr>
          <a:xfrm>
            <a:off x="405354" y="4718030"/>
            <a:ext cx="2159996" cy="0"/>
          </a:xfrm>
          <a:prstGeom prst="line">
            <a:avLst/>
          </a:prstGeom>
          <a:noFill/>
          <a:ln w="9525">
            <a:solidFill>
              <a:srgbClr val="7B1E2B"/>
            </a:solidFill>
            <a:prstDash val="solid"/>
          </a:ln>
        </p:spPr>
      </p:sp>
      <p:sp>
        <p:nvSpPr>
          <p:cNvPr id="8" name="Shape 6"/>
          <p:cNvSpPr/>
          <p:nvPr/>
        </p:nvSpPr>
        <p:spPr>
          <a:xfrm>
            <a:off x="2745303" y="6278179"/>
            <a:ext cx="4409237" cy="0"/>
          </a:xfrm>
          <a:prstGeom prst="line">
            <a:avLst/>
          </a:prstGeom>
          <a:noFill/>
          <a:ln w="9525">
            <a:solidFill>
              <a:srgbClr val="7B1E2B"/>
            </a:solidFill>
            <a:prstDash val="solid"/>
          </a:ln>
        </p:spPr>
      </p:sp>
      <p:sp>
        <p:nvSpPr>
          <p:cNvPr id="9" name="Shape 7"/>
          <p:cNvSpPr/>
          <p:nvPr/>
        </p:nvSpPr>
        <p:spPr>
          <a:xfrm>
            <a:off x="405354" y="10369479"/>
            <a:ext cx="6749004" cy="0"/>
          </a:xfrm>
          <a:prstGeom prst="line">
            <a:avLst/>
          </a:prstGeom>
          <a:noFill/>
          <a:ln w="9525">
            <a:solidFill>
              <a:srgbClr val="BFBFBF"/>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303" y="1527688"/>
          <a:ext cx="4409237" cy="914400"/>
        </p:xfrm>
        <a:graphic>
          <a:graphicData uri="http://schemas.openxmlformats.org/drawingml/2006/table">
            <a:tbl>
              <a:tblPr/>
              <a:tblGrid>
                <a:gridCol w="1587216"/>
                <a:gridCol w="705460"/>
                <a:gridCol w="705460"/>
                <a:gridCol w="705460"/>
                <a:gridCol w="705551"/>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Base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Bear</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Bull</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Trễ 2028</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DT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170,3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174,7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CAGR DT 2025–30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19,7%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35,2%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Biên EBITDA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LNST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12,1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Tổng FCFF 2026–30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(58,6)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DCF</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101,1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35,1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VC Method</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16,8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Bình quân gia quyền*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32,1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(16,1)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73,6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26,3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354" y="3140415"/>
          <a:ext cx="6749004" cy="914400"/>
        </p:xfrm>
        <a:graphic>
          <a:graphicData uri="http://schemas.openxmlformats.org/drawingml/2006/table">
            <a:tbl>
              <a:tblPr/>
              <a:tblGrid>
                <a:gridCol w="809793"/>
                <a:gridCol w="1687251"/>
                <a:gridCol w="2227021"/>
                <a:gridCol w="1552285"/>
                <a:gridCol w="472653"/>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Phương pháp</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Vì sao phù hợp với AgriPack</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Hạn chế trong bối cảnh AgriPack</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xử lý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Trọng số</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32388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DCF (FCFF)</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Có 3 năm doanh thu, EBITDA dương, kế hoạch CAPEX cụ thể; đo giá trị khi DN tiếp tục hoạt động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trị cuối kỳ bằng 183% EV vì FCFF 2026–28 âm; nhạy với WACC, g, RONIC; kịch bản đơn không tính xác suất thất bại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FCFF cuối kỳ chuẩn hóa (g/RONIC); total beta; đối chiếu DCF × xác suất sống sót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Góc nhìn NĐT VC của giai đoạn đầu tăng trưởng; dùng trực tiếp tỷ lệ thất bại của đề bài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Phụ thuộc bội số thoái vốn của DN niêm yết trưởng thành và năm thoái vốn 2030; P/E và EV/EBITDA cho giá trị thoái vốn chênh gấp đôi (130 và 267 tỷ)</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Bình quân hai bội số; z quy đổi theo năm; độ nhạy z 35–45%, giá trị thoái vốn ±15%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Multiples</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Neo vào giá thị trường hiện tại của DN bao bì niêm yết; dễ kiểm chứng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Mẫu là DN lớn, trưởng thành (trung vị DT ~1.400 tỷ); bội số quá khứ bỏ qua tăng trưởng; LNST 2025 được hưởng chuyển lỗ; DLOM 30% là ước lượng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Dùng chỉ tiêu 2025A (không trả trước cho tăng trưởng cần vốn mới); chuẩn hóa thuế 20%; loại MCP, PBT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2745303" y="6446337"/>
          <a:ext cx="4409237" cy="914400"/>
        </p:xfrm>
        <a:graphic>
          <a:graphicData uri="http://schemas.openxmlformats.org/drawingml/2006/table">
            <a:tbl>
              <a:tblPr/>
              <a:tblGrid>
                <a:gridCol w="1322680"/>
                <a:gridCol w="2028048"/>
                <a:gridCol w="1058509"/>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Phương pháp</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 cần có</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Ghi chú</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VC Method (z của giai đoạn Ươm mầm/Thử nghiệm)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trị thoái vốn 2030; z 57,5–72,5%; WACC</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Mô hình VCM hiện có, chỉ đổi z</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Scorecard (Payne)</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Pre-money trung vị các vòng hạt giống GreenTech/bao bì; trọng số đội ngũ, thị trường, sản phẩm, cạnh tranh, kênh bán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Chưa có dữ liệu vòng gọi vốn VN công khai đủ tin cậy</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Berkus</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Phù hợp để kiểm tra chéo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Risk factor summation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Cộng/trừ theo 12 nhóm rủi ro (công nghệ, pháp lý, cạnh tranh, nguồn cung…)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Dùng rủi ro Mục 3 làm đầu vào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tái tạo (cost-to-duplicate)</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R&amp;D công thức, khuôn mẫu, dây chuyền thử, chứng nhận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Cận dưới giá trị</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70" name="Fig. 45 – biểu đồ"/>
          <p:cNvGrpSpPr/>
          <p:nvPr/>
        </p:nvGrpSpPr>
        <p:grpSpPr>
          <a:xfrm>
            <a:off x="349575" y="961492"/>
            <a:ext cx="1960565" cy="757946"/>
            <a:chOff x="349575" y="961492"/>
            <a:chExt cx="1960565" cy="757946"/>
          </a:xfrm>
        </p:grpSpPr>
        <p:sp>
          <p:nvSpPr>
            <p:cNvPr id="13" name="svg0_0"/>
            <p:cNvSpPr txBox="1"/>
            <p:nvPr/>
          </p:nvSpPr>
          <p:spPr>
            <a:xfrm>
              <a:off x="1015441" y="966704"/>
              <a:ext cx="17913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DCF</a:t>
              </a:r>
              <a:endParaRPr lang="en-US" sz="588" dirty="0"/>
            </a:p>
          </p:txBody>
        </p:sp>
        <p:sp>
          <p:nvSpPr>
            <p:cNvPr id="14" name="svg0_1"/>
            <p:cNvSpPr/>
            <p:nvPr/>
          </p:nvSpPr>
          <p:spPr>
            <a:xfrm>
              <a:off x="1230142" y="981060"/>
              <a:ext cx="903884" cy="66934"/>
            </a:xfrm>
            <a:prstGeom prst="rect">
              <a:avLst/>
            </a:prstGeom>
            <a:solidFill>
              <a:srgbClr val="404040"/>
            </a:solidFill>
            <a:ln/>
          </p:spPr>
        </p:sp>
        <p:sp>
          <p:nvSpPr>
            <p:cNvPr id="15" name="svg0_2"/>
            <p:cNvSpPr txBox="1"/>
            <p:nvPr/>
          </p:nvSpPr>
          <p:spPr>
            <a:xfrm>
              <a:off x="587411" y="1074694"/>
              <a:ext cx="607802"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Multiples 2025A</a:t>
              </a:r>
              <a:endParaRPr lang="en-US" sz="588" dirty="0"/>
            </a:p>
          </p:txBody>
        </p:sp>
        <p:sp>
          <p:nvSpPr>
            <p:cNvPr id="16" name="svg0_3"/>
            <p:cNvSpPr/>
            <p:nvPr/>
          </p:nvSpPr>
          <p:spPr>
            <a:xfrm>
              <a:off x="1230142" y="1089050"/>
              <a:ext cx="609356" cy="66934"/>
            </a:xfrm>
            <a:prstGeom prst="rect">
              <a:avLst/>
            </a:prstGeom>
            <a:solidFill>
              <a:srgbClr val="A3A3A3"/>
            </a:solidFill>
            <a:ln/>
          </p:spPr>
        </p:sp>
        <p:sp>
          <p:nvSpPr>
            <p:cNvPr id="17" name="svg0_4"/>
            <p:cNvSpPr txBox="1"/>
            <p:nvPr/>
          </p:nvSpPr>
          <p:spPr>
            <a:xfrm>
              <a:off x="763524" y="1182685"/>
              <a:ext cx="427299"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VC Method</a:t>
              </a:r>
              <a:endParaRPr lang="en-US" sz="588" dirty="0"/>
            </a:p>
          </p:txBody>
        </p:sp>
        <p:sp>
          <p:nvSpPr>
            <p:cNvPr id="18" name="svg0_5"/>
            <p:cNvSpPr/>
            <p:nvPr/>
          </p:nvSpPr>
          <p:spPr>
            <a:xfrm>
              <a:off x="1230142" y="1197041"/>
              <a:ext cx="556321" cy="66934"/>
            </a:xfrm>
            <a:prstGeom prst="rect">
              <a:avLst/>
            </a:prstGeom>
            <a:solidFill>
              <a:srgbClr val="A3A3A3"/>
            </a:solidFill>
            <a:ln/>
          </p:spPr>
        </p:sp>
        <p:sp>
          <p:nvSpPr>
            <p:cNvPr id="19" name="svg0_6"/>
            <p:cNvSpPr txBox="1"/>
            <p:nvPr/>
          </p:nvSpPr>
          <p:spPr>
            <a:xfrm>
              <a:off x="444033" y="1290676"/>
              <a:ext cx="746973"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Bình quân 40/40/20</a:t>
              </a:r>
              <a:endParaRPr lang="en-US" sz="588" dirty="0"/>
            </a:p>
          </p:txBody>
        </p:sp>
        <p:sp>
          <p:nvSpPr>
            <p:cNvPr id="20" name="svg0_7"/>
            <p:cNvSpPr/>
            <p:nvPr/>
          </p:nvSpPr>
          <p:spPr>
            <a:xfrm>
              <a:off x="1230142" y="1305032"/>
              <a:ext cx="706008" cy="66934"/>
            </a:xfrm>
            <a:prstGeom prst="rect">
              <a:avLst/>
            </a:prstGeom>
            <a:solidFill>
              <a:srgbClr val="7B1E2B"/>
            </a:solidFill>
            <a:ln/>
          </p:spPr>
        </p:sp>
        <p:sp>
          <p:nvSpPr>
            <p:cNvPr id="21" name="svg0_8"/>
            <p:cNvSpPr txBox="1"/>
            <p:nvPr/>
          </p:nvSpPr>
          <p:spPr>
            <a:xfrm>
              <a:off x="349575" y="1398666"/>
              <a:ext cx="84481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DCF × xác suất sống sót</a:t>
              </a:r>
              <a:endParaRPr lang="en-US" sz="588" dirty="0"/>
            </a:p>
          </p:txBody>
        </p:sp>
        <p:sp>
          <p:nvSpPr>
            <p:cNvPr id="22" name="svg0_9"/>
            <p:cNvSpPr/>
            <p:nvPr/>
          </p:nvSpPr>
          <p:spPr>
            <a:xfrm>
              <a:off x="1230142" y="1413022"/>
              <a:ext cx="674279" cy="66934"/>
            </a:xfrm>
            <a:prstGeom prst="rect">
              <a:avLst/>
            </a:prstGeom>
            <a:solidFill>
              <a:srgbClr val="D0D0D0"/>
            </a:solidFill>
            <a:ln/>
          </p:spPr>
        </p:sp>
        <p:sp>
          <p:nvSpPr>
            <p:cNvPr id="23" name="svg0_10"/>
            <p:cNvSpPr txBox="1"/>
            <p:nvPr/>
          </p:nvSpPr>
          <p:spPr>
            <a:xfrm>
              <a:off x="505297" y="1506657"/>
              <a:ext cx="68589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VCSH sổ sách 2025</a:t>
              </a:r>
              <a:endParaRPr lang="en-US" sz="588" dirty="0"/>
            </a:p>
          </p:txBody>
        </p:sp>
        <p:sp>
          <p:nvSpPr>
            <p:cNvPr id="24" name="svg0_11"/>
            <p:cNvSpPr/>
            <p:nvPr/>
          </p:nvSpPr>
          <p:spPr>
            <a:xfrm>
              <a:off x="1230142" y="1521013"/>
              <a:ext cx="659100" cy="66934"/>
            </a:xfrm>
            <a:prstGeom prst="rect">
              <a:avLst/>
            </a:prstGeom>
            <a:solidFill>
              <a:srgbClr val="D0D0D0"/>
            </a:solidFill>
            <a:ln/>
          </p:spPr>
        </p:sp>
        <p:sp>
          <p:nvSpPr>
            <p:cNvPr id="25" name="svg0_12"/>
            <p:cNvSpPr txBox="1"/>
            <p:nvPr/>
          </p:nvSpPr>
          <p:spPr>
            <a:xfrm>
              <a:off x="641726" y="1614648"/>
              <a:ext cx="55330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Giá trị thanh lý</a:t>
              </a:r>
              <a:endParaRPr lang="en-US" sz="588" dirty="0"/>
            </a:p>
          </p:txBody>
        </p:sp>
        <p:sp>
          <p:nvSpPr>
            <p:cNvPr id="26" name="svg0_13"/>
            <p:cNvSpPr/>
            <p:nvPr/>
          </p:nvSpPr>
          <p:spPr>
            <a:xfrm>
              <a:off x="1230142" y="1629004"/>
              <a:ext cx="329550" cy="66934"/>
            </a:xfrm>
            <a:prstGeom prst="rect">
              <a:avLst/>
            </a:prstGeom>
            <a:solidFill>
              <a:srgbClr val="D0D0D0"/>
            </a:solidFill>
            <a:ln/>
          </p:spPr>
        </p:sp>
        <p:sp>
          <p:nvSpPr>
            <p:cNvPr id="27" name="svg0_14"/>
            <p:cNvSpPr/>
            <p:nvPr/>
          </p:nvSpPr>
          <p:spPr>
            <a:xfrm>
              <a:off x="1230142" y="961492"/>
              <a:ext cx="0" cy="754014"/>
            </a:xfrm>
            <a:prstGeom prst="line">
              <a:avLst/>
            </a:prstGeom>
            <a:noFill/>
            <a:ln w="6858">
              <a:solidFill>
                <a:srgbClr val="8C8C8C"/>
              </a:solidFill>
              <a:prstDash val="solid"/>
            </a:ln>
          </p:spPr>
        </p:sp>
        <p:sp>
          <p:nvSpPr>
            <p:cNvPr id="28" name="svg0_15"/>
            <p:cNvSpPr txBox="1"/>
            <p:nvPr/>
          </p:nvSpPr>
          <p:spPr>
            <a:xfrm>
              <a:off x="2158807" y="966704"/>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41,1</a:t>
              </a:r>
              <a:endParaRPr lang="en-US" sz="588" dirty="0"/>
            </a:p>
          </p:txBody>
        </p:sp>
        <p:sp>
          <p:nvSpPr>
            <p:cNvPr id="29" name="svg0_16"/>
            <p:cNvSpPr txBox="1"/>
            <p:nvPr/>
          </p:nvSpPr>
          <p:spPr>
            <a:xfrm>
              <a:off x="1864370" y="1074694"/>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27,7</a:t>
              </a:r>
              <a:endParaRPr lang="en-US" sz="588" dirty="0"/>
            </a:p>
          </p:txBody>
        </p:sp>
        <p:sp>
          <p:nvSpPr>
            <p:cNvPr id="30" name="svg0_17"/>
            <p:cNvSpPr txBox="1"/>
            <p:nvPr/>
          </p:nvSpPr>
          <p:spPr>
            <a:xfrm>
              <a:off x="1811244" y="1182685"/>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25,3</a:t>
              </a:r>
              <a:endParaRPr lang="en-US" sz="588" dirty="0"/>
            </a:p>
          </p:txBody>
        </p:sp>
        <p:sp>
          <p:nvSpPr>
            <p:cNvPr id="31" name="svg0_18"/>
            <p:cNvSpPr txBox="1"/>
            <p:nvPr/>
          </p:nvSpPr>
          <p:spPr>
            <a:xfrm>
              <a:off x="1960565" y="1290676"/>
              <a:ext cx="151882"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32,1</a:t>
              </a:r>
              <a:endParaRPr lang="en-US" sz="588" dirty="0"/>
            </a:p>
          </p:txBody>
        </p:sp>
        <p:sp>
          <p:nvSpPr>
            <p:cNvPr id="32" name="svg0_19"/>
            <p:cNvSpPr txBox="1"/>
            <p:nvPr/>
          </p:nvSpPr>
          <p:spPr>
            <a:xfrm>
              <a:off x="1929110" y="1398666"/>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30,7</a:t>
              </a:r>
              <a:endParaRPr lang="en-US" sz="588" dirty="0"/>
            </a:p>
          </p:txBody>
        </p:sp>
        <p:sp>
          <p:nvSpPr>
            <p:cNvPr id="33" name="svg0_20"/>
            <p:cNvSpPr txBox="1"/>
            <p:nvPr/>
          </p:nvSpPr>
          <p:spPr>
            <a:xfrm>
              <a:off x="1913382" y="1506657"/>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30,0</a:t>
              </a:r>
              <a:endParaRPr lang="en-US" sz="588" dirty="0"/>
            </a:p>
          </p:txBody>
        </p:sp>
        <p:sp>
          <p:nvSpPr>
            <p:cNvPr id="34" name="svg0_21"/>
            <p:cNvSpPr txBox="1"/>
            <p:nvPr/>
          </p:nvSpPr>
          <p:spPr>
            <a:xfrm>
              <a:off x="1584564" y="1614648"/>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15,0</a:t>
              </a:r>
              <a:endParaRPr lang="en-US" sz="588" dirty="0"/>
            </a:p>
          </p:txBody>
        </p:sp>
      </p:grpSp>
      <p:grpSp>
        <p:nvGrpSpPr>
          <p:cNvPr id="71" name="Fig. 48 – biểu đồ"/>
          <p:cNvGrpSpPr/>
          <p:nvPr/>
        </p:nvGrpSpPr>
        <p:grpSpPr>
          <a:xfrm>
            <a:off x="444764" y="5095585"/>
            <a:ext cx="2081266" cy="789767"/>
            <a:chOff x="444764" y="5095585"/>
            <a:chExt cx="2081266" cy="789767"/>
          </a:xfrm>
        </p:grpSpPr>
        <p:sp>
          <p:nvSpPr>
            <p:cNvPr id="35" name="svg1_22"/>
            <p:cNvSpPr/>
            <p:nvPr/>
          </p:nvSpPr>
          <p:spPr>
            <a:xfrm>
              <a:off x="576621" y="5204948"/>
              <a:ext cx="430042" cy="490850"/>
            </a:xfrm>
            <a:prstGeom prst="rect">
              <a:avLst/>
            </a:prstGeom>
            <a:solidFill>
              <a:srgbClr val="7B1E2B"/>
            </a:solidFill>
            <a:ln/>
          </p:spPr>
        </p:sp>
        <p:sp>
          <p:nvSpPr>
            <p:cNvPr id="36" name="svg1_23"/>
            <p:cNvSpPr txBox="1"/>
            <p:nvPr/>
          </p:nvSpPr>
          <p:spPr>
            <a:xfrm>
              <a:off x="688818" y="5095585"/>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62,9</a:t>
              </a:r>
              <a:endParaRPr lang="en-US" sz="649" dirty="0"/>
            </a:p>
          </p:txBody>
        </p:sp>
        <p:sp>
          <p:nvSpPr>
            <p:cNvPr id="37" name="svg1_24"/>
            <p:cNvSpPr txBox="1"/>
            <p:nvPr/>
          </p:nvSpPr>
          <p:spPr>
            <a:xfrm>
              <a:off x="485546" y="5709879"/>
              <a:ext cx="61438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Đầu tăng trưởng</a:t>
              </a:r>
              <a:endParaRPr lang="en-US" sz="587" dirty="0"/>
            </a:p>
          </p:txBody>
        </p:sp>
        <p:sp>
          <p:nvSpPr>
            <p:cNvPr id="38" name="svg1_25"/>
            <p:cNvSpPr txBox="1"/>
            <p:nvPr/>
          </p:nvSpPr>
          <p:spPr>
            <a:xfrm>
              <a:off x="648127" y="5780562"/>
              <a:ext cx="2929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40%</a:t>
              </a:r>
              <a:endParaRPr lang="en-US" sz="557" dirty="0"/>
            </a:p>
          </p:txBody>
        </p:sp>
        <p:sp>
          <p:nvSpPr>
            <p:cNvPr id="39" name="svg1_26"/>
            <p:cNvSpPr/>
            <p:nvPr/>
          </p:nvSpPr>
          <p:spPr>
            <a:xfrm>
              <a:off x="1270284" y="5347960"/>
              <a:ext cx="430134" cy="347746"/>
            </a:xfrm>
            <a:prstGeom prst="rect">
              <a:avLst/>
            </a:prstGeom>
            <a:solidFill>
              <a:srgbClr val="A3A3A3"/>
            </a:solidFill>
            <a:ln/>
          </p:spPr>
        </p:sp>
        <p:sp>
          <p:nvSpPr>
            <p:cNvPr id="40" name="svg1_27"/>
            <p:cNvSpPr txBox="1"/>
            <p:nvPr/>
          </p:nvSpPr>
          <p:spPr>
            <a:xfrm>
              <a:off x="1382939" y="5238963"/>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44,6</a:t>
              </a:r>
              <a:endParaRPr lang="en-US" sz="649" dirty="0"/>
            </a:p>
          </p:txBody>
        </p:sp>
        <p:sp>
          <p:nvSpPr>
            <p:cNvPr id="41" name="svg1_28"/>
            <p:cNvSpPr txBox="1"/>
            <p:nvPr/>
          </p:nvSpPr>
          <p:spPr>
            <a:xfrm>
              <a:off x="1258489" y="5709879"/>
              <a:ext cx="45372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Thử nghiệm</a:t>
              </a:r>
              <a:endParaRPr lang="en-US" sz="587" dirty="0"/>
            </a:p>
          </p:txBody>
        </p:sp>
        <p:sp>
          <p:nvSpPr>
            <p:cNvPr id="42" name="svg1_29"/>
            <p:cNvSpPr txBox="1"/>
            <p:nvPr/>
          </p:nvSpPr>
          <p:spPr>
            <a:xfrm>
              <a:off x="1311798" y="5780562"/>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57,5%</a:t>
              </a:r>
              <a:endParaRPr lang="en-US" sz="557" dirty="0"/>
            </a:p>
          </p:txBody>
        </p:sp>
        <p:sp>
          <p:nvSpPr>
            <p:cNvPr id="43" name="svg1_30"/>
            <p:cNvSpPr/>
            <p:nvPr/>
          </p:nvSpPr>
          <p:spPr>
            <a:xfrm>
              <a:off x="1964040" y="5470764"/>
              <a:ext cx="430042" cy="224942"/>
            </a:xfrm>
            <a:prstGeom prst="rect">
              <a:avLst/>
            </a:prstGeom>
            <a:solidFill>
              <a:srgbClr val="D0D0D0"/>
            </a:solidFill>
            <a:ln/>
          </p:spPr>
        </p:sp>
        <p:sp>
          <p:nvSpPr>
            <p:cNvPr id="44" name="svg1_31"/>
            <p:cNvSpPr txBox="1"/>
            <p:nvPr/>
          </p:nvSpPr>
          <p:spPr>
            <a:xfrm>
              <a:off x="2076877" y="5361584"/>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28,8</a:t>
              </a:r>
              <a:endParaRPr lang="en-US" sz="649" dirty="0"/>
            </a:p>
          </p:txBody>
        </p:sp>
        <p:sp>
          <p:nvSpPr>
            <p:cNvPr id="45" name="svg1_32"/>
            <p:cNvSpPr txBox="1"/>
            <p:nvPr/>
          </p:nvSpPr>
          <p:spPr>
            <a:xfrm>
              <a:off x="1975104" y="5709879"/>
              <a:ext cx="408737"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Ươm mầm</a:t>
              </a:r>
              <a:endParaRPr lang="en-US" sz="587" dirty="0"/>
            </a:p>
          </p:txBody>
        </p:sp>
        <p:sp>
          <p:nvSpPr>
            <p:cNvPr id="46" name="svg1_33"/>
            <p:cNvSpPr txBox="1"/>
            <p:nvPr/>
          </p:nvSpPr>
          <p:spPr>
            <a:xfrm>
              <a:off x="2005919" y="5780562"/>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72,5%</a:t>
              </a:r>
              <a:endParaRPr lang="en-US" sz="557" dirty="0"/>
            </a:p>
          </p:txBody>
        </p:sp>
        <p:sp>
          <p:nvSpPr>
            <p:cNvPr id="47" name="svg1_34"/>
            <p:cNvSpPr/>
            <p:nvPr/>
          </p:nvSpPr>
          <p:spPr>
            <a:xfrm>
              <a:off x="444764" y="5695798"/>
              <a:ext cx="2081266" cy="0"/>
            </a:xfrm>
            <a:prstGeom prst="line">
              <a:avLst/>
            </a:prstGeom>
            <a:noFill/>
            <a:ln w="6858">
              <a:solidFill>
                <a:srgbClr val="8C8C8C"/>
              </a:solidFill>
              <a:prstDash val="solid"/>
            </a:ln>
          </p:spPr>
        </p:sp>
      </p:grpSp>
      <p:sp>
        <p:nvSpPr>
          <p:cNvPr id="48" name="Text 4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49" name="Text 4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50" name="Text 4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Ba phương pháp hội tụ quanh 25–31 tỷ khi cùng tính rủi ro thất bại</a:t>
            </a:r>
            <a:endParaRPr lang="en-US" sz="720" dirty="0"/>
          </a:p>
        </p:txBody>
      </p:sp>
      <p:sp>
        <p:nvSpPr>
          <p:cNvPr id="51" name="Text 46"/>
          <p:cNvSpPr txBox="1"/>
          <p:nvPr/>
        </p:nvSpPr>
        <p:spPr>
          <a:xfrm>
            <a:off x="405354" y="8262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52" name="Text 47"/>
          <p:cNvSpPr txBox="1"/>
          <p:nvPr/>
        </p:nvSpPr>
        <p:spPr>
          <a:xfrm>
            <a:off x="405354" y="181371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53" name="Text 48"/>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Diễn giải.</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32,1 tỷ chỉ bằng 1,07 lần VCSH sổ sách, tương đương P/E 2025A 9,1 lần và EV/EBITDA 4,0 lần: nhà đầu tư trả rất ít cho tăng trưởng vì tăng trưởng đó cần gần 69 tỷ vốn bên ngoài và ROIC 2027–2029 thấp hơn WACC. Kết quả nhạy nhất với sản lượng: kịch bản Bear (sản lượng 70% cơ sở) cho giá trị âm, Bull 73,6 tỷ, nhà máy trễ sang 2028 cho 26,3 tỷ (Fig. 46). Hạn chế của từng phương pháp ở Fig. 47; diễn giải chi tiết và độ nhạy ở Phụ lục (Fig. A14).</a:t>
            </a:r>
            <a:endParaRPr lang="en-US" sz="850" dirty="0"/>
          </a:p>
        </p:txBody>
      </p:sp>
      <p:sp>
        <p:nvSpPr>
          <p:cNvPr id="54" name="Text 49"/>
          <p:cNvSpPr txBox="1"/>
          <p:nvPr/>
        </p:nvSpPr>
        <p:spPr>
          <a:xfrm>
            <a:off x="2745303" y="1284732"/>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Kịch bản Bear cho giá trị vốn chủ âm</a:t>
            </a:r>
            <a:endParaRPr lang="en-US" sz="720" dirty="0"/>
          </a:p>
        </p:txBody>
      </p:sp>
      <p:sp>
        <p:nvSpPr>
          <p:cNvPr id="55" name="Text 50"/>
          <p:cNvSpPr txBox="1"/>
          <p:nvPr/>
        </p:nvSpPr>
        <p:spPr>
          <a:xfrm>
            <a:off x="2745303" y="1412291"/>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56" name="Text 51"/>
          <p:cNvSpPr txBox="1"/>
          <p:nvPr/>
        </p:nvSpPr>
        <p:spPr>
          <a:xfrm>
            <a:off x="2745303" y="2750149"/>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(Summary); *DCF 40%, VC Method 40%, Multiples 20% (Multiples không đổi giữa các kịch bản)</a:t>
            </a:r>
            <a:endParaRPr lang="en-US" sz="600" dirty="0"/>
          </a:p>
        </p:txBody>
      </p:sp>
      <p:sp>
        <p:nvSpPr>
          <p:cNvPr id="57" name="Text 52"/>
          <p:cNvSpPr txBox="1"/>
          <p:nvPr/>
        </p:nvSpPr>
        <p:spPr>
          <a:xfrm>
            <a:off x="405354" y="2998592"/>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Phù hợp và hạn chế của từng phương pháp trong bối cảnh AgriPack</a:t>
            </a:r>
            <a:endParaRPr lang="en-US" sz="720" dirty="0"/>
          </a:p>
        </p:txBody>
      </p:sp>
      <p:sp>
        <p:nvSpPr>
          <p:cNvPr id="58" name="Text 53"/>
          <p:cNvSpPr txBox="1"/>
          <p:nvPr/>
        </p:nvSpPr>
        <p:spPr>
          <a:xfrm>
            <a:off x="405354" y="427719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của nhóm; số liệu: model (DCF, VCM, Multiples)</a:t>
            </a:r>
            <a:endParaRPr lang="en-US" sz="600" dirty="0"/>
          </a:p>
        </p:txBody>
      </p:sp>
      <p:sp>
        <p:nvSpPr>
          <p:cNvPr id="59" name="Text 54"/>
          <p:cNvSpPr txBox="1"/>
          <p:nvPr/>
        </p:nvSpPr>
        <p:spPr>
          <a:xfrm>
            <a:off x="484632" y="4472879"/>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8. CÂU HỎI BONUS: ĐỊNH GIÁ KHI CHƯA CÓ DOANH THU</a:t>
            </a:r>
            <a:endParaRPr lang="en-US" sz="880" dirty="0"/>
          </a:p>
        </p:txBody>
      </p:sp>
      <p:sp>
        <p:nvSpPr>
          <p:cNvPr id="60" name="Text 55"/>
          <p:cNvSpPr txBox="1"/>
          <p:nvPr/>
        </p:nvSpPr>
        <p:spPr>
          <a:xfrm>
            <a:off x="405354" y="474436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Cùng giá trị thoái vốn, z cao làm post-money giảm hơn một nửa</a:t>
            </a:r>
            <a:endParaRPr lang="en-US" sz="720" dirty="0"/>
          </a:p>
        </p:txBody>
      </p:sp>
      <p:sp>
        <p:nvSpPr>
          <p:cNvPr id="61" name="Text 56"/>
          <p:cNvSpPr txBox="1"/>
          <p:nvPr/>
        </p:nvSpPr>
        <p:spPr>
          <a:xfrm>
            <a:off x="405354" y="498137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Post-money, tỷ đồng</a:t>
            </a:r>
            <a:endParaRPr lang="en-US" sz="630" dirty="0"/>
          </a:p>
        </p:txBody>
      </p:sp>
      <p:sp>
        <p:nvSpPr>
          <p:cNvPr id="62" name="Text 57"/>
          <p:cNvSpPr txBox="1"/>
          <p:nvPr/>
        </p:nvSpPr>
        <p:spPr>
          <a:xfrm>
            <a:off x="405354" y="590016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en-US" sz="600" dirty="0"/>
          </a:p>
        </p:txBody>
      </p:sp>
      <p:sp>
        <p:nvSpPr>
          <p:cNvPr id="63" name="Text 58"/>
          <p:cNvSpPr txBox="1"/>
          <p:nvPr/>
        </p:nvSpPr>
        <p:spPr>
          <a:xfrm>
            <a:off x="2745303" y="4713275"/>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Nếu AgriPack chưa có doanh thu, DCF mất cơ sở vì dòng tiền dự phóng gần như hoàn toàn là giả định, còn Multiples trên doanh thu, lợi nhuận không áp dụng được. Nhóm sẽ dùng VC Method làm phương pháp chính (Fig. 48), kiểm tra chéo bằng Scorecard, Berkus và chi phí tái tạo (Fig. 49).</a:t>
            </a:r>
            <a:endParaRPr lang="en-US" sz="850" dirty="0"/>
          </a:p>
        </p:txBody>
      </p:sp>
      <p:sp>
        <p:nvSpPr>
          <p:cNvPr id="64" name="Text 59"/>
          <p:cNvSpPr txBox="1"/>
          <p:nvPr/>
        </p:nvSpPr>
        <p:spPr>
          <a:xfrm>
            <a:off x="2745303" y="5145603"/>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Giữ nguyên giá trị thoái vốn 2030 và WACC, chỉ nâng z lên 57,5% (Thử nghiệm) hoặc 72,5% (Ươm mầm), post-money giảm từ 62,9 tỷ xuống 44,6 và 28,8 tỷ. Giá trị thoái vốn cũng kém chắc chắn hơn, nên cần một khoảng rộng và giải ngân theo mốc.</a:t>
            </a:r>
            <a:endParaRPr lang="en-US" sz="850" dirty="0"/>
          </a:p>
        </p:txBody>
      </p:sp>
      <p:sp>
        <p:nvSpPr>
          <p:cNvPr id="65" name="Text 60"/>
          <p:cNvSpPr txBox="1"/>
          <p:nvPr/>
        </p:nvSpPr>
        <p:spPr>
          <a:xfrm>
            <a:off x="2745303" y="5577931"/>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Giả định cần có.</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(i) TAM/SAM theo IMARC và thị phần mục tiêu kiểm chứng được; (ii) mẫu sản phẩm đạt kiểm nghiệm vật liệu tiếp xúc thực phẩm (TT 27/2026/TT-BYT); (iii) thư ý định mua (LOI) của chuỗi F&amp;B; (iv) chi phí dây chuyền thử, hợp đồng thu mua bã mía; (v) đội ngũ có kinh nghiệm sản xuất bột giấy đúc; (vi) bội số và năm thoái vốn. Mỗi mốc đạt được là căn cứ để giảm z và tăng giá trị ở vòng sau.</a:t>
            </a:r>
            <a:endParaRPr lang="en-US" sz="850" dirty="0"/>
          </a:p>
        </p:txBody>
      </p:sp>
      <p:sp>
        <p:nvSpPr>
          <p:cNvPr id="66" name="Text 61"/>
          <p:cNvSpPr txBox="1"/>
          <p:nvPr/>
        </p:nvSpPr>
        <p:spPr>
          <a:xfrm>
            <a:off x="2745303" y="6304514"/>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en-US" sz="720" dirty="0"/>
          </a:p>
        </p:txBody>
      </p:sp>
      <p:sp>
        <p:nvSpPr>
          <p:cNvPr id="67" name="Text 62"/>
          <p:cNvSpPr txBox="1"/>
          <p:nvPr/>
        </p:nvSpPr>
        <p:spPr>
          <a:xfrm>
            <a:off x="2745303" y="7850947"/>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en-US" sz="600" dirty="0"/>
          </a:p>
        </p:txBody>
      </p:sp>
      <p:sp>
        <p:nvSpPr>
          <p:cNvPr id="68" name="Text 6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69" name="Text 6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15</a:t>
            </a:r>
            <a:endParaRPr lang="en-US"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6749004" cy="0"/>
          </a:xfrm>
          <a:prstGeom prst="line">
            <a:avLst/>
          </a:prstGeom>
          <a:noFill/>
          <a:ln w="9525">
            <a:solidFill>
              <a:srgbClr val="7B1E2B"/>
            </a:solidFill>
            <a:prstDash val="solid"/>
          </a:ln>
        </p:spPr>
      </p:sp>
      <p:sp>
        <p:nvSpPr>
          <p:cNvPr id="5" name="Shape 3"/>
          <p:cNvSpPr/>
          <p:nvPr/>
        </p:nvSpPr>
        <p:spPr>
          <a:xfrm>
            <a:off x="405354" y="3078693"/>
            <a:ext cx="6749004" cy="0"/>
          </a:xfrm>
          <a:prstGeom prst="line">
            <a:avLst/>
          </a:prstGeom>
          <a:noFill/>
          <a:ln w="9525">
            <a:solidFill>
              <a:srgbClr val="7B1E2B"/>
            </a:solidFill>
            <a:prstDash val="solid"/>
          </a:ln>
        </p:spPr>
      </p:sp>
      <p:sp>
        <p:nvSpPr>
          <p:cNvPr id="6" name="Shape 4"/>
          <p:cNvSpPr/>
          <p:nvPr/>
        </p:nvSpPr>
        <p:spPr>
          <a:xfrm>
            <a:off x="405354" y="3251606"/>
            <a:ext cx="6749004" cy="0"/>
          </a:xfrm>
          <a:prstGeom prst="line">
            <a:avLst/>
          </a:prstGeom>
          <a:noFill/>
          <a:ln w="9525">
            <a:solidFill>
              <a:srgbClr val="E3E3E3"/>
            </a:solidFill>
            <a:prstDash val="solid"/>
          </a:ln>
        </p:spPr>
      </p:sp>
      <p:sp>
        <p:nvSpPr>
          <p:cNvPr id="7" name="Shape 5"/>
          <p:cNvSpPr/>
          <p:nvPr/>
        </p:nvSpPr>
        <p:spPr>
          <a:xfrm>
            <a:off x="7149694" y="3246852"/>
            <a:ext cx="0" cy="3613709"/>
          </a:xfrm>
          <a:prstGeom prst="line">
            <a:avLst/>
          </a:prstGeom>
          <a:noFill/>
          <a:ln w="9525">
            <a:solidFill>
              <a:srgbClr val="E3E3E3"/>
            </a:solidFill>
            <a:prstDash val="solid"/>
          </a:ln>
        </p:spPr>
      </p:sp>
      <p:sp>
        <p:nvSpPr>
          <p:cNvPr id="8" name="Shape 6"/>
          <p:cNvSpPr/>
          <p:nvPr/>
        </p:nvSpPr>
        <p:spPr>
          <a:xfrm>
            <a:off x="405354" y="6855805"/>
            <a:ext cx="6749004" cy="0"/>
          </a:xfrm>
          <a:prstGeom prst="line">
            <a:avLst/>
          </a:prstGeom>
          <a:noFill/>
          <a:ln w="9525">
            <a:solidFill>
              <a:srgbClr val="E3E3E3"/>
            </a:solidFill>
            <a:prstDash val="solid"/>
          </a:ln>
        </p:spPr>
      </p:sp>
      <p:sp>
        <p:nvSpPr>
          <p:cNvPr id="9" name="Shape 7"/>
          <p:cNvSpPr/>
          <p:nvPr/>
        </p:nvSpPr>
        <p:spPr>
          <a:xfrm>
            <a:off x="410108" y="3246852"/>
            <a:ext cx="0" cy="3613709"/>
          </a:xfrm>
          <a:prstGeom prst="line">
            <a:avLst/>
          </a:prstGeom>
          <a:noFill/>
          <a:ln w="9525">
            <a:solidFill>
              <a:srgbClr val="E3E3E3"/>
            </a:solidFill>
            <a:prstDash val="solid"/>
          </a:ln>
        </p:spPr>
      </p:sp>
      <p:sp>
        <p:nvSpPr>
          <p:cNvPr id="10" name="Shape 8"/>
          <p:cNvSpPr/>
          <p:nvPr/>
        </p:nvSpPr>
        <p:spPr>
          <a:xfrm>
            <a:off x="405354" y="7046366"/>
            <a:ext cx="6749004" cy="0"/>
          </a:xfrm>
          <a:prstGeom prst="line">
            <a:avLst/>
          </a:prstGeom>
          <a:noFill/>
          <a:ln w="9525">
            <a:solidFill>
              <a:srgbClr val="7B1E2B"/>
            </a:solidFill>
            <a:prstDash val="solid"/>
          </a:ln>
        </p:spPr>
      </p:sp>
      <p:sp>
        <p:nvSpPr>
          <p:cNvPr id="11" name="Shape 9"/>
          <p:cNvSpPr/>
          <p:nvPr/>
        </p:nvSpPr>
        <p:spPr>
          <a:xfrm>
            <a:off x="405354" y="10369479"/>
            <a:ext cx="6749004" cy="0"/>
          </a:xfrm>
          <a:prstGeom prst="line">
            <a:avLst/>
          </a:prstGeom>
          <a:noFill/>
          <a:ln w="9525">
            <a:solidFill>
              <a:srgbClr val="BFBFBF"/>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354" y="1003828"/>
          <a:ext cx="6749004" cy="914400"/>
        </p:xfrm>
        <a:graphic>
          <a:graphicData uri="http://schemas.openxmlformats.org/drawingml/2006/table">
            <a:tbl>
              <a:tblPr/>
              <a:tblGrid>
                <a:gridCol w="944758"/>
                <a:gridCol w="5804245"/>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Khách hàng mục tiêu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236007">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Quy mô</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doanh nghiệp lớn, vừa và nhỏ</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Đệm bảo vệ, chống sốc cho sản phẩm e-commerce</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Đóng gói theo khuôn mẫu của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lượng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Tần suất sử dụng thường xuyên, số lượng lớn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Khu vực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Nỗi đau và 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354" y="7214616"/>
          <a:ext cx="6749004" cy="914400"/>
        </p:xfrm>
        <a:graphic>
          <a:graphicData uri="http://schemas.openxmlformats.org/drawingml/2006/table">
            <a:tbl>
              <a:tblPr/>
              <a:tblGrid>
                <a:gridCol w="877367"/>
                <a:gridCol w="539770"/>
                <a:gridCol w="1012332"/>
                <a:gridCol w="877367"/>
                <a:gridCol w="1619677"/>
                <a:gridCol w="182258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trọng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Công nghệ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Nguyên liệu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chủ yếu</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Đầu ra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95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bao bì</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đùn thổi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PE, PP, PET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màng mỏng, túi ni lông, chai nhựa PET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chế biến thực phẩm, đồ uống và các hệ thống bán lẻ, siêu thị</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gia dụng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ép đúc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PP, PS, ABS</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sản phẩm đồ gia dụng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Người tiêu dùng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xây dựng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ép đùn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PE, PVC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Ống nhựa xây dựng, nhựa vật liệu xây dựng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bất động sản, xây dựng Người tiêu dùng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kỹ thuật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phun ép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PVC, PP, PU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loại linh phụ kiện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doanh nghiệp điện tử, điện lực, ô tô xe máy</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pic>
        <p:nvPicPr>
          <p:cNvPr id="14" name="Image 0" descr="image0">    </p:cNvPr>
          <p:cNvPicPr>
            <a:picLocks noChangeAspect="1"/>
          </p:cNvPicPr>
          <p:nvPr/>
        </p:nvPicPr>
        <p:blipFill>
          <a:blip r:embed="rId1"/>
          <a:stretch>
            <a:fillRect/>
          </a:stretch>
        </p:blipFill>
        <p:spPr>
          <a:xfrm>
            <a:off x="405354" y="3246852"/>
            <a:ext cx="6749004" cy="3613709"/>
          </a:xfrm>
          <a:prstGeom prst="rect">
            <a:avLst/>
          </a:prstGeom>
        </p:spPr>
      </p:pic>
      <p:sp>
        <p:nvSpPr>
          <p:cNvPr id="15" name="Text 1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6" name="Text 1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7" name="Text 12"/>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PHỤ LỤC</a:t>
            </a:r>
            <a:endParaRPr lang="en-US" sz="880" dirty="0"/>
          </a:p>
        </p:txBody>
      </p:sp>
      <p:sp>
        <p:nvSpPr>
          <p:cNvPr id="18" name="Text 13"/>
          <p:cNvSpPr txBox="1"/>
          <p:nvPr/>
        </p:nvSpPr>
        <p:spPr>
          <a:xfrm>
            <a:off x="405354" y="862005"/>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en-US" sz="720" dirty="0"/>
          </a:p>
        </p:txBody>
      </p:sp>
      <p:sp>
        <p:nvSpPr>
          <p:cNvPr id="19" name="Text 14"/>
          <p:cNvSpPr txBox="1"/>
          <p:nvPr/>
        </p:nvSpPr>
        <p:spPr>
          <a:xfrm>
            <a:off x="405354" y="291062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20" name="Text 15"/>
          <p:cNvSpPr txBox="1"/>
          <p:nvPr/>
        </p:nvSpPr>
        <p:spPr>
          <a:xfrm>
            <a:off x="405354" y="3105028"/>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en-US" sz="720" dirty="0"/>
          </a:p>
        </p:txBody>
      </p:sp>
      <p:sp>
        <p:nvSpPr>
          <p:cNvPr id="21" name="Text 16"/>
          <p:cNvSpPr txBox="1"/>
          <p:nvPr/>
        </p:nvSpPr>
        <p:spPr>
          <a:xfrm>
            <a:off x="405354" y="687839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2027 và tên khách hàng là </a:t>
            </a:r>
            <a:pPr algn="l" indent="0" marL="0">
              <a:lnSpc>
                <a:spcPts val="720"/>
              </a:lnSpc>
              <a:buNone/>
            </a:pPr>
            <a:r>
              <a:rPr lang="en-US"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 không phải số liệu thực tế</a:t>
            </a:r>
            <a:endParaRPr lang="en-US" sz="600" dirty="0"/>
          </a:p>
        </p:txBody>
      </p:sp>
      <p:sp>
        <p:nvSpPr>
          <p:cNvPr id="22" name="Text 17"/>
          <p:cNvSpPr txBox="1"/>
          <p:nvPr/>
        </p:nvSpPr>
        <p:spPr>
          <a:xfrm>
            <a:off x="405354" y="707279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Các nhóm sản phẩm nhựa chính do Việt Nam sản xuất (bảng của nhóm, Mục 3.2.1)</a:t>
            </a:r>
            <a:endParaRPr lang="en-US" sz="720" dirty="0"/>
          </a:p>
        </p:txBody>
      </p:sp>
      <p:sp>
        <p:nvSpPr>
          <p:cNvPr id="23" name="Text 18"/>
          <p:cNvSpPr txBox="1"/>
          <p:nvPr/>
        </p:nvSpPr>
        <p:spPr>
          <a:xfrm>
            <a:off x="405354" y="810633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báo cáo VPAS (bảng của nhóm)</a:t>
            </a:r>
            <a:endParaRPr lang="en-US" sz="600" dirty="0"/>
          </a:p>
        </p:txBody>
      </p:sp>
      <p:sp>
        <p:nvSpPr>
          <p:cNvPr id="24" name="Text 1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5" name="Text 20"/>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16</a:t>
            </a:r>
            <a:endParaRPr lang="en-US"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5256154"/>
            <a:ext cx="6749004"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742310"/>
                <a:gridCol w="1147298"/>
                <a:gridCol w="1147298"/>
                <a:gridCol w="1012332"/>
                <a:gridCol w="1619677"/>
                <a:gridCol w="1080089"/>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Đối thủ</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tham khảo</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Khách hàng</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Điểm mạnh</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Điểm yếu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95070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An Phát Holdings</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An Phát Eco)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sinh học tự phân huỷ</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Cốc/ly, bát đĩa, khay, dao thìa nĩa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Màng bọc thực phẩm, hạt 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Tất cả sản phẩm trên sử dụng nguyên liệu PLA/ PBAT/ PBS ( tinh bột ngô với nguyên liệu sinh học) và bã mía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đựng thực phẩm sinh học: 60.000 - 115.000 VNĐ/ hộp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Túi rác sinh học : 105.000 - 190.000 VNĐ/ hộp.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Dao, thìa, nĩa, ống hút sinh học: 38.000 VNĐ/ 30 chiếc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Găng tay sinh học : 170.000 - 190.000 VNĐ/ hộp.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nghiệp có quy mô TTS: 11,953 tỷ vào 2025.</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thu 2025 là: 10.741,29 tỷ đồng.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Công suất: 9.000 tấn/ tháng.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Các sản phẩm sinh học từ doanh nghiệp này có giá cao hơn nhựa thông thường.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57">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HAPBIO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dòng bao bì sinh học cao 2,5 lần bao bì nhựa thông thường.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Đáp ứng 30% nhu cầu của thị trường Việt Nam.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Hệ thống nhà máy cung ứng 54.000 tấn sản phẩm mỗi năm.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2025, xuất khẩu 600 tấn sản phẩm, doanh thu 2 triệu USD</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BioWraps Việt Nam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Chưa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Ra mắt thị trường từ 2025.</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thu và công suất chưa công khai.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Gía cao hơn nhựa tái chế.</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AIRX Coffee</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thương hiệu con của Veritas Việt Nam)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Cốc thìa dĩa bằng bã cà phê</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Ly cốc trung bình: 109.000 - 139.000 VND</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Ly vỏ lụa: 139.000 VND</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Ly giữ nhiệt: 319.000 - 349.000 VNĐ</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Các sản phẩm dành cho doanh nghiệp không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Thành lập 2019</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1 triệu ly bán ra</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50% sản phẩm xuất khẩu.</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Thành Long Bioplastic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Không công khai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22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Hapobe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Cung cấp giải pháp thiết kế bao bì.</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Không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quy mô nhỏ.</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354" y="5424312"/>
          <a:ext cx="6749004" cy="914400"/>
        </p:xfrm>
        <a:graphic>
          <a:graphicData uri="http://schemas.openxmlformats.org/drawingml/2006/table">
            <a:tbl>
              <a:tblPr/>
              <a:tblGrid>
                <a:gridCol w="1147298"/>
                <a:gridCol w="742310"/>
                <a:gridCol w="2429652"/>
                <a:gridCol w="2429744"/>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thay thế</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Áp lực thay thế</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Ưu điểm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Nhược điểm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338145">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truyền thống, hộp xốp dùng một lần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Rất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Khó phân huỷ</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carton, kraf (giấy từ gỗ mềm)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nước/ dầu phụ thuộc vào cấu trúc và lớp phủ bề mặt, tuỳ thuộc vào lớp phù mà thời gian phân huỷ có thể kéo dài, độ bền nhiệt/cơ học thấp, không phù hợp với sản phẩm cần độ cứng và khả năng chịu nhiệt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(PLA, PHA)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Phân huỷ sinh học, hình thức đẹp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tái chế</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rPET, PCR)</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Bioplastic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(PLA/ PBAT, nhựa phối trộn với nguyên liệu sinh học)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yêu cầu cơ sở xử lý và công nghệ phù hợp.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Về tính chất nhiệt/ cơ học sẽ tuỳ thuộc vào từng loại chất liệu, cách phối trộn.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vật liệu sinh học ( bã cà phê,trấu, rơm rạ, vỏ dừa,...)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thấm/ ẩm/ mốc/ nhiệt còn hạn chế nếu không xử lý bằng lớp phủ, giá cao hơn và yêu cầu công nghệ hạ tầng kỹ thuật xử lý, phân loại.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xốp bảo vệ (EPE/ PE Foam)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xốp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(từ sợi nấm, tinh bột)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độ bền/ khả năng chịu ẩm thường thấp hơn đệm xốp bao vệ EPE/ PE Foarm, hạn chế về công nghệ sản xuất.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giấy tổ ong/ giấy nhún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8" name="Text 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0" name="Text 6"/>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Một số đối thủ cạnh tranh trực tiếp trong ngành bao bì xanh (bảng của nhóm, Mục 3.2.4)</a:t>
            </a:r>
            <a:endParaRPr lang="en-US" sz="720" dirty="0"/>
          </a:p>
        </p:txBody>
      </p:sp>
      <p:sp>
        <p:nvSpPr>
          <p:cNvPr id="11" name="Text 7"/>
          <p:cNvSpPr txBox="1"/>
          <p:nvPr/>
        </p:nvSpPr>
        <p:spPr>
          <a:xfrm>
            <a:off x="405354" y="508817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12" name="Text 8"/>
          <p:cNvSpPr txBox="1"/>
          <p:nvPr/>
        </p:nvSpPr>
        <p:spPr>
          <a:xfrm>
            <a:off x="405354" y="528258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3.2.6)</a:t>
            </a:r>
            <a:endParaRPr lang="en-US" sz="720" dirty="0"/>
          </a:p>
        </p:txBody>
      </p:sp>
      <p:sp>
        <p:nvSpPr>
          <p:cNvPr id="13" name="Text 9"/>
          <p:cNvSpPr txBox="1"/>
          <p:nvPr/>
        </p:nvSpPr>
        <p:spPr>
          <a:xfrm>
            <a:off x="405354" y="825767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14" name="Text 10"/>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5" name="Text 11"/>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17</a:t>
            </a:r>
            <a:endParaRPr lang="en-US"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4809378"/>
            <a:ext cx="6749004" cy="0"/>
          </a:xfrm>
          <a:prstGeom prst="line">
            <a:avLst/>
          </a:prstGeom>
          <a:noFill/>
          <a:ln w="9525">
            <a:solidFill>
              <a:srgbClr val="7B1E2B"/>
            </a:solidFill>
            <a:prstDash val="solid"/>
          </a:ln>
        </p:spPr>
      </p:sp>
      <p:sp>
        <p:nvSpPr>
          <p:cNvPr id="5" name="Shape 3"/>
          <p:cNvSpPr/>
          <p:nvPr/>
        </p:nvSpPr>
        <p:spPr>
          <a:xfrm>
            <a:off x="405354" y="7836957"/>
            <a:ext cx="6749004"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bán hàng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khoản giảm trừ</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Doanh thu thuần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nguyên liệu, nhân công theo sản lượng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sản xuất cố định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 lương bộ phận sản xuất (70%)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TSCĐ sản xuất (90%)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Giá vốn hàng bán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Lợi nhuận gộp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Biên lợi nhuận gộp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 lương bán hàng &amp; quản lý (30%)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Thuê mặt bằng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TSCĐ bán hàng &amp; quản lý (10%)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Sửa chữa, bảo dưỡng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Điện, nước, dịch vụ chung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Hỗ trợ tiền ăn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Kiểm nghiệm, chứng nhận &amp; R&amp;D</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Marketing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Chi phí bán hàng &amp; QLDN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EBIT (lợi nhuận thuần từ HĐKD trước lãi vay)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lãi vay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trước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Thuế TNDN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Lợi nhuận sau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Ghi nhớ: 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Ghi nhớ: EBITDA = EBIT + 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Biên EBITDA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354" y="5078760"/>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Phải thu khách hàng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Hàng tồn kho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ngắn hạn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tài sản ngắn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Nguyên giá TSCĐ (hữu hình + vô hình)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lũy kế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Tài sản dài hạn ròng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tài sản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Phải trả người bán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ngắn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Nợ ngắn hạn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dài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nợ phải trả</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Vốn góp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giữ lại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Vốn chủ sở hữu</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nguồn vốn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55" name="Table 2"/>
          <p:cNvGraphicFramePr>
            <a:graphicFrameLocks noGrp="1"/>
          </p:cNvGraphicFramePr>
          <p:nvPr>
            <p:extLst>
              <p:ext uri="{D42A27DB-BD31-4B8C-83A1-F6EECF244321}">
                <p14:modId xmlns:p14="http://schemas.microsoft.com/office/powerpoint/2010/main" val="1579011935"/>
              </p:ext>
            </p:extLst>
          </p:nvPr>
        </p:nvGraphicFramePr>
        <p:xfrm>
          <a:off x="405354" y="8106339"/>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sau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Thay đổi vốn lưu động và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Lưu chuyển tiền thuần từ HĐKD (CFO)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CAPEX (CFI)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Vốn góp cổ phần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(trả) nợ dài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Lưu chuyển tiền thuần từ HĐTC (CFF)</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Tiền cuối kỳ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FCFF (2023–25A: CFO − CAPEX)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0"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2"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en-US" sz="720" dirty="0"/>
          </a:p>
        </p:txBody>
      </p:sp>
      <p:sp>
        <p:nvSpPr>
          <p:cNvPr id="13" name="Text 8"/>
          <p:cNvSpPr txBox="1"/>
          <p:nvPr/>
        </p:nvSpPr>
        <p:spPr>
          <a:xfrm>
            <a:off x="405354" y="716798"/>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4" name="Text 9"/>
          <p:cNvSpPr txBox="1"/>
          <p:nvPr/>
        </p:nvSpPr>
        <p:spPr>
          <a:xfrm>
            <a:off x="405354" y="464131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en-US" sz="600" dirty="0"/>
          </a:p>
        </p:txBody>
      </p:sp>
      <p:sp>
        <p:nvSpPr>
          <p:cNvPr id="15" name="Text 10"/>
          <p:cNvSpPr txBox="1"/>
          <p:nvPr/>
        </p:nvSpPr>
        <p:spPr>
          <a:xfrm>
            <a:off x="405354" y="483571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cân đối kế toán 2023A–2030E</a:t>
            </a:r>
            <a:endParaRPr lang="en-US" sz="720" dirty="0"/>
          </a:p>
        </p:txBody>
      </p:sp>
      <p:sp>
        <p:nvSpPr>
          <p:cNvPr id="16" name="Text 11"/>
          <p:cNvSpPr txBox="1"/>
          <p:nvPr/>
        </p:nvSpPr>
        <p:spPr>
          <a:xfrm>
            <a:off x="405354" y="4963272"/>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7" name="Text 12"/>
          <p:cNvSpPr txBox="1"/>
          <p:nvPr/>
        </p:nvSpPr>
        <p:spPr>
          <a:xfrm>
            <a:off x="405354" y="766898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en-US" sz="600" dirty="0"/>
          </a:p>
        </p:txBody>
      </p:sp>
      <p:sp>
        <p:nvSpPr>
          <p:cNvPr id="18" name="Text 13"/>
          <p:cNvSpPr txBox="1"/>
          <p:nvPr/>
        </p:nvSpPr>
        <p:spPr>
          <a:xfrm>
            <a:off x="405354" y="786338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Báo cáo lưu chuyển tiền tệ 2023A–2030E</a:t>
            </a:r>
            <a:endParaRPr lang="en-US" sz="720" dirty="0"/>
          </a:p>
        </p:txBody>
      </p:sp>
      <p:sp>
        <p:nvSpPr>
          <p:cNvPr id="19" name="Text 14"/>
          <p:cNvSpPr txBox="1"/>
          <p:nvPr/>
        </p:nvSpPr>
        <p:spPr>
          <a:xfrm>
            <a:off x="405354" y="7990942"/>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20" name="Text 15"/>
          <p:cNvSpPr txBox="1"/>
          <p:nvPr/>
        </p:nvSpPr>
        <p:spPr>
          <a:xfrm>
            <a:off x="405354" y="961308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en-US" sz="600" dirty="0"/>
          </a:p>
        </p:txBody>
      </p:sp>
      <p:sp>
        <p:nvSpPr>
          <p:cNvPr id="21" name="Text 16"/>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2" name="Text 17"/>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18</a:t>
            </a:r>
            <a:endParaRPr lang="en-US"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147298"/>
                <a:gridCol w="364297"/>
                <a:gridCol w="364297"/>
                <a:gridCol w="364297"/>
                <a:gridCol w="364297"/>
                <a:gridCol w="364297"/>
                <a:gridCol w="3780221"/>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26E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27E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28E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29E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30E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415869">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sản lượng hộp/khay F&amp;B</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+22% do nhà máy mới đang xây; 2028 +35% khi 2 nhà máy mới chạy; giảm dần về +17% năm 2030. Lịch sử +60% (2024), +58% (2025). Đối chiếu: thị phần SAM tăng từ 4,3% lên ~11% năm 2030. Nguồn: BCTC 2023–2025 (đề bài); IMARC Group (2025);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bán bình quân hộp/khay F&amp;B (nghìn đ/cái)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giá bán F&amp;B và khuôn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3.2.3); Bear +1%, Bull +2,5%. Nguồn: Cục Thống kê (2026); phân tích ngành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số bộ khuôn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số bộ khuôn gắn với số SKU/khách hàng mới; tăng nhanh năm 2028 khi mở thị trường miền Bắc, sau đó chậm dần. Lịch sử +40% (2024), +39,5% (2025). Nguồn: BCTC 2023–2025;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bình quân bộ khuôn (nghìn đ)</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20.400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20.808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21.224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21.649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22.082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diện tích đệm nội thất/TMĐT</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bám theo tăng trưởng TMĐT 18–25%/năm và khách hàng nội thất xuất khẩu; năm 2028 +40% nhờ công suất mới. Nguồn: Mục 3.2.2 (VECOM; Bộ Công Thương);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đệm nội thất/TMĐT (nghìn đ/m²)</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24,2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diện tích đệm điện tử</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Mục 3.2.2 (xuất khẩu 475 tỷ USD năm 2025, FDI chiếm 80%); BCTC 2024–2025.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đệm điện tử (nghìn đ/m²)</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43,1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giá đệm bảo vệ</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3.2.6) nên chỉ tăng 1,5%/năm (Base); Bear 0,5%, Bull 2%. Nguồn: phân tích ngành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Khoản giảm trừ / doanh thu gộp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624">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biến đổi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chi phí cố định sản xuất</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cố định tăng thêm của nhà máy mới (tỷ)</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lương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36,0% → 24,9% → 22,6% (2023–25). Giảm chậm lại (22,5–23,5%) vì lương tối thiểu vùng tăng 7,2% từ 01/01/2026 và nhà máy mới phải tuyển trước khi đạt công suất. Nguồn: BCTC 2023–2025; Nghị định 293/2025/NĐ-CP.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lương phân bổ vào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Khấu hao phân bổ vào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Hỗ trợ tiền ăn / tiền lương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(28,8% quỹ lương).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tiền thuê mặt bằng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Sửa chữa, bảo dưỡng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(4,4% DT; 2023–24: 4,9%, 5,2%).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Điện, nước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Marketing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Kiểm nghiệm, chứng nhận &amp; R&amp;D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624">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CAPEX / doanh thu (tỷ lệ tái đầu tư)</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tỷ lệ tái đầu tư = CAPEX/DT từng năm: 2026 20%, 2027 65% (đầu tư lớn theo đề bài), 2028 12% (hoàn thiện, chạy thử), 2029–30 10%. Ngành: trung vị CAPEX/DT của 16 DN bao bì niêm yết 2023–25 là 3,1%, tứ phân vị trên 8,3%, DN đang mở rộng 13–30% (Fig. A10); AgriPack cao hơn vì còn tăng trưởng 17–35%/năm và khấu hao chiếm 9–10% DT. Nguồn: đề bài (Mục III.2); FiinX (2026);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khấu hao (% nguyên giá đầu kỳ)</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tồn kho (DIO)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2028 tăng lên 105 ngày để tích trữ cho 2 nhà máy mới. Nguồn: BCTC 2023–2025; lịch vụ ép mía.</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phải thu (DSO)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3.2.7 (khách hàng B2B có sức mạnh cao).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phải trả (DPO)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TSNH khác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6,3% → 5,5% → 4,4% (2023–25); giữ 4,0%.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Nợ ngắn hạn khác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2023–2025 (0,17–0,24% DT).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mặt tối thiểu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8" name="Text 5"/>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en-US" sz="720" dirty="0"/>
          </a:p>
        </p:txBody>
      </p:sp>
      <p:sp>
        <p:nvSpPr>
          <p:cNvPr id="9" name="Text 6"/>
          <p:cNvSpPr txBox="1"/>
          <p:nvPr/>
        </p:nvSpPr>
        <p:spPr>
          <a:xfrm>
            <a:off x="405354" y="8831184"/>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0" name="Text 7"/>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1" name="Text 8"/>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19</a:t>
            </a:r>
            <a:endParaRPr lang="en-US"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2155058"/>
            <a:ext cx="6749004" cy="0"/>
          </a:xfrm>
          <a:prstGeom prst="line">
            <a:avLst/>
          </a:prstGeom>
          <a:noFill/>
          <a:ln w="9525">
            <a:solidFill>
              <a:srgbClr val="7B1E2B"/>
            </a:solidFill>
            <a:prstDash val="solid"/>
          </a:ln>
        </p:spPr>
      </p:sp>
      <p:sp>
        <p:nvSpPr>
          <p:cNvPr id="5" name="Shape 3"/>
          <p:cNvSpPr/>
          <p:nvPr/>
        </p:nvSpPr>
        <p:spPr>
          <a:xfrm>
            <a:off x="405354" y="5281392"/>
            <a:ext cx="6749004"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147298"/>
                <a:gridCol w="364297"/>
                <a:gridCol w="364297"/>
                <a:gridCol w="364297"/>
                <a:gridCol w="364297"/>
                <a:gridCol w="364297"/>
                <a:gridCol w="3780221"/>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26E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27E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28E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29E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30E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3845">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CAPEX 2027 tài trợ bằng vay trung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60% CAPEX nhà máy mới vay trung hạn có tài sản bảo đảm (nhà xưởng, máy); lãi suất cho vay 8,1–10,5% (Mục 3.1.3), có thể xin hỗ trợ lãi suất NATIF (Mục 3.1.5). Nguồn: NHNN (2026); NATIF (2026);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Lãi suất vay</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Thuế suất TNDN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giá USD/VND bình quân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26.300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26.826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27.363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27.910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28.468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05354" y="2424440"/>
          <a:ext cx="6749004" cy="914400"/>
        </p:xfrm>
        <a:graphic>
          <a:graphicData uri="http://schemas.openxmlformats.org/drawingml/2006/table">
            <a:tbl>
              <a:tblPr/>
              <a:tblGrid>
                <a:gridCol w="578632"/>
                <a:gridCol w="600395"/>
                <a:gridCol w="600395"/>
                <a:gridCol w="600395"/>
                <a:gridCol w="600395"/>
                <a:gridCol w="600395"/>
                <a:gridCol w="600395"/>
                <a:gridCol w="600395"/>
                <a:gridCol w="723290"/>
                <a:gridCol w="621975"/>
                <a:gridCol w="622524"/>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23</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24</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23</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24</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KH 23–25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CAPEX/DT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KH/DT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CAPEX/KH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HHP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1.109,3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1.870,5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SVI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1.505,5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1.506,0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1.522,1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AAA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1.038,1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12.621,5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12.782,2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10.728,1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1.236,1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APH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14.521,9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14.192,6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10.741,3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1.529,1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ILS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INN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1.532,2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1.767,1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1.804,1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567,0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DHC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3.258,9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3.596,5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3.631,0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2.506,9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3.174,4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3.153,3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PMP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538,0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PBP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STP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BBS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874,5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822,0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844,4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TDP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4.379,1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4.763,8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MCP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418,1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Trung vị</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Tứ phân vị trên (P75)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61" name="Table 2"/>
          <p:cNvGraphicFramePr>
            <a:graphicFrameLocks noGrp="1"/>
          </p:cNvGraphicFramePr>
          <p:nvPr>
            <p:extLst>
              <p:ext uri="{D42A27DB-BD31-4B8C-83A1-F6EECF244321}">
                <p14:modId xmlns:p14="http://schemas.microsoft.com/office/powerpoint/2010/main" val="1579011935"/>
              </p:ext>
            </p:extLst>
          </p:nvPr>
        </p:nvGraphicFramePr>
        <p:xfrm>
          <a:off x="405354" y="5449641"/>
          <a:ext cx="6749004" cy="914400"/>
        </p:xfrm>
        <a:graphic>
          <a:graphicData uri="http://schemas.openxmlformats.org/drawingml/2006/table">
            <a:tbl>
              <a:tblPr/>
              <a:tblGrid>
                <a:gridCol w="1282263"/>
                <a:gridCol w="742310"/>
                <a:gridCol w="4724430"/>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 định giá</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Giá trị</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319857">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Lãi suất phi rủi ro Rf</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3,92%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bình quân lợi suất TPCP kỳ hạn 10 năm của 10 năm 2016–2025 (bảng A28:D40) để không đưa đỉnh/đáy chu kỳ lãi suất vào chi phí vốn dài hạn; lợi suất hiện hành đầu 06/2026 ~4,47%. Nguồn: VBMA, HNX (CEIC), ADB AsianBondsOnline, Vietnam News, VNDirect (xem cột D bảng dưới).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ERP thị trường phát triển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Phần bù rủi ro quốc gia (CRP)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 Cần đối chiếu bảng CRP 01/2026.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Beta không đòn bẩy βu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Hệ số tương quan ρ</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quỹ VC nắm 20–30 khoản đầu tư nên đa dạng hóa một phần → ρ = 0,7; total beta = β/ρ. Nguồn: Damodaran (2009), Valuing Young, Start-up and Growth Companies.</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nợ trước thuế Kd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D/E mục tiêu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Công thức: D/E theo BCĐKT dự phóng cuối 2027 (sau huy động vốn cổ phần và khoản vay trung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Thuế suất dài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dài hạn 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RONIC sau 2030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RONIC 18% &gt; ROIC 2030E (~14%) vì năm 2030 còn công suất trống (vòng quay NG TSCĐ ~1,3x so với 1,66x năm 2025), tăng trưởng sau 2030 cần ít CAPEX mới; cao hơn WACC ~4 điểm % (lợi thế nguyên liệu phụ phẩm). Tỷ lệ tái đầu tư cuối kỳ = g/RONIC = 27,8% NOPAT. Nguồn: tính toán của nhóm; Damodaran (2026).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thất bại z (VC Method)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đề bài (Mục III.1 – tỷ lệ thất bại tại mỗi giai đoạn đầu tư của VC).</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Giai đoạn phát triển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Đầu tăng trưởng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P/E thoái vốn 2030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EV/EBITDA thoái vốn 2030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8,00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Chiết khấu thanh khoản &amp; quy mô (DLOM)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DCF</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VC Method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Multiples</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2"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A09 (tiếp):</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en-US" sz="720" dirty="0"/>
          </a:p>
        </p:txBody>
      </p:sp>
      <p:sp>
        <p:nvSpPr>
          <p:cNvPr id="13" name="Text 8"/>
          <p:cNvSpPr txBox="1"/>
          <p:nvPr/>
        </p:nvSpPr>
        <p:spPr>
          <a:xfrm>
            <a:off x="405354" y="198699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4" name="Text 9"/>
          <p:cNvSpPr txBox="1"/>
          <p:nvPr/>
        </p:nvSpPr>
        <p:spPr>
          <a:xfrm>
            <a:off x="405354" y="218139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en-US" sz="720" dirty="0"/>
          </a:p>
        </p:txBody>
      </p:sp>
      <p:sp>
        <p:nvSpPr>
          <p:cNvPr id="15" name="Text 10"/>
          <p:cNvSpPr txBox="1"/>
          <p:nvPr/>
        </p:nvSpPr>
        <p:spPr>
          <a:xfrm>
            <a:off x="405354" y="2308951"/>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 tỷ lệ bình quân gia quyền 3 năm</a:t>
            </a:r>
            <a:endParaRPr lang="en-US" sz="630" dirty="0"/>
          </a:p>
        </p:txBody>
      </p:sp>
      <p:sp>
        <p:nvSpPr>
          <p:cNvPr id="16" name="Text 11"/>
          <p:cNvSpPr txBox="1"/>
          <p:nvPr/>
        </p:nvSpPr>
        <p:spPr>
          <a:xfrm>
            <a:off x="405354" y="5113416"/>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en-US" sz="600" dirty="0"/>
          </a:p>
        </p:txBody>
      </p:sp>
      <p:sp>
        <p:nvSpPr>
          <p:cNvPr id="17" name="Text 12"/>
          <p:cNvSpPr txBox="1"/>
          <p:nvPr/>
        </p:nvSpPr>
        <p:spPr>
          <a:xfrm>
            <a:off x="405354" y="5307818"/>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en-US" sz="720" dirty="0"/>
          </a:p>
        </p:txBody>
      </p:sp>
      <p:sp>
        <p:nvSpPr>
          <p:cNvPr id="18" name="Text 13"/>
          <p:cNvSpPr txBox="1"/>
          <p:nvPr/>
        </p:nvSpPr>
        <p:spPr>
          <a:xfrm>
            <a:off x="405354" y="9042044"/>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en-US" sz="600" dirty="0"/>
          </a:p>
        </p:txBody>
      </p:sp>
      <p:sp>
        <p:nvSpPr>
          <p:cNvPr id="19" name="Text 14"/>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0" name="Text 15"/>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20</a:t>
            </a:r>
            <a:endParaRPr lang="en-US"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2640056"/>
            <a:ext cx="6749004" cy="0"/>
          </a:xfrm>
          <a:prstGeom prst="line">
            <a:avLst/>
          </a:prstGeom>
          <a:noFill/>
          <a:ln w="9525">
            <a:solidFill>
              <a:srgbClr val="7B1E2B"/>
            </a:solidFill>
            <a:prstDash val="solid"/>
          </a:ln>
        </p:spPr>
      </p:sp>
      <p:sp>
        <p:nvSpPr>
          <p:cNvPr id="5" name="Shape 3"/>
          <p:cNvSpPr/>
          <p:nvPr/>
        </p:nvSpPr>
        <p:spPr>
          <a:xfrm>
            <a:off x="405354" y="5764103"/>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079724"/>
                <a:gridCol w="539770"/>
                <a:gridCol w="2092056"/>
                <a:gridCol w="3037454"/>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Năm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Lợi suất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Thời điểm quan sát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Nguồn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6,95%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Q1/2016 – lãi suất phát hành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10/2017 – lãi suất trúng thầu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5,00%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03/12/2018 – lợi suất spot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CEIC Data (dữ liệu HNX), Vietnam Government Bond Yield: Spot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12/2019 – thị trường thứ cấp (mức thấp kỷ lục)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Vietnam News (2020). Gov't bond yields hit record low</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12/2020 – thị trường thứ cấp (−34 bps so với 11/2020)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(2021). Bond Market Report 12/2020; MBS Fixed Income 01/2021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12/2021 – thị trường thứ cấp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(2022). Bond Market Monthly Highlights 12/2021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4,80%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31/12/2022 – thị trường thứ cấp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ADB AsianBondsOnline (2023); VBMA Monthly Bond Market Report 12/2022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29/11/2023 – lãi suất trúng thầu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(2023). Kết quả đấu thầu TPCP ngày 29/11/2023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2,97%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Cuối năm 2024 – lợi suất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4,04%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Cuối năm 2025 – lợi suất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Bình quân 2016–2025 (Rf)</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3,92%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354" y="2808214"/>
          <a:ext cx="6749004" cy="914400"/>
        </p:xfrm>
        <a:graphic>
          <a:graphicData uri="http://schemas.openxmlformats.org/drawingml/2006/table">
            <a:tbl>
              <a:tblPr/>
              <a:tblGrid>
                <a:gridCol w="539770"/>
                <a:gridCol w="607344"/>
                <a:gridCol w="1822216"/>
                <a:gridCol w="742310"/>
                <a:gridCol w="809793"/>
                <a:gridCol w="809793"/>
                <a:gridCol w="674827"/>
                <a:gridCol w="742950"/>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Mã</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Sàn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Phân khúc</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TTM (tỷ)</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Biên EBITDA (%)</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EV/EBITDA (x)</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P/E (x)</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Trong mẫu</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DHC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bao bì carton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3.938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TDP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AAA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nhựa sinh học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9.243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APH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 (holding)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9.252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HHP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bao bì</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INN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 in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ILS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UPCoM</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MCP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Bao bì kim loại, in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36,45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84,23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Loại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PBT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UPCoM</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Thương mại vật tư bao bì</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0,04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9,97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Loại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Màng, túi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BBS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 bao xi măng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STP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PBP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PMP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Trung vị mẫu</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Bình quân ngành 2026 (FiinX)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354" y="6033486"/>
          <a:ext cx="2159996" cy="914400"/>
        </p:xfrm>
        <a:graphic>
          <a:graphicData uri="http://schemas.openxmlformats.org/drawingml/2006/table">
            <a:tbl>
              <a:tblPr/>
              <a:tblGrid>
                <a:gridCol w="604876"/>
                <a:gridCol w="310896"/>
                <a:gridCol w="310896"/>
                <a:gridCol w="310896"/>
                <a:gridCol w="310896"/>
                <a:gridCol w="311536"/>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WACC \ 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41,1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85" name="Table 3"/>
          <p:cNvGraphicFramePr>
            <a:graphicFrameLocks noGrp="1"/>
          </p:cNvGraphicFramePr>
          <p:nvPr>
            <p:extLst>
              <p:ext uri="{D42A27DB-BD31-4B8C-83A1-F6EECF244321}">
                <p14:modId xmlns:p14="http://schemas.microsoft.com/office/powerpoint/2010/main" val="1579011935"/>
              </p:ext>
            </p:extLst>
          </p:nvPr>
        </p:nvGraphicFramePr>
        <p:xfrm>
          <a:off x="405354" y="6994611"/>
          <a:ext cx="2159996" cy="914400"/>
        </p:xfrm>
        <a:graphic>
          <a:graphicData uri="http://schemas.openxmlformats.org/drawingml/2006/table">
            <a:tbl>
              <a:tblPr/>
              <a:tblGrid>
                <a:gridCol w="431871"/>
                <a:gridCol w="345552"/>
                <a:gridCol w="345552"/>
                <a:gridCol w="345552"/>
                <a:gridCol w="345552"/>
                <a:gridCol w="345735"/>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z \ Exit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06" name="Table 4"/>
          <p:cNvGraphicFramePr>
            <a:graphicFrameLocks noGrp="1"/>
          </p:cNvGraphicFramePr>
          <p:nvPr>
            <p:extLst>
              <p:ext uri="{D42A27DB-BD31-4B8C-83A1-F6EECF244321}">
                <p14:modId xmlns:p14="http://schemas.microsoft.com/office/powerpoint/2010/main" val="1579011935"/>
              </p:ext>
            </p:extLst>
          </p:nvPr>
        </p:nvGraphicFramePr>
        <p:xfrm>
          <a:off x="405354" y="7955737"/>
          <a:ext cx="2159996" cy="914400"/>
        </p:xfrm>
        <a:graphic>
          <a:graphicData uri="http://schemas.openxmlformats.org/drawingml/2006/table">
            <a:tbl>
              <a:tblPr/>
              <a:tblGrid>
                <a:gridCol w="604876"/>
                <a:gridCol w="310896"/>
                <a:gridCol w="310896"/>
                <a:gridCol w="310896"/>
                <a:gridCol w="310896"/>
                <a:gridCol w="311536"/>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WACC\RONIC</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16%</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41,1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2"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3"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4"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Lợi suất TPCP kỳ hạn 10 năm 2016–2025: bình quân 3,92% là Rf trong CAPM</a:t>
            </a:r>
            <a:endParaRPr lang="en-US" sz="720" dirty="0"/>
          </a:p>
        </p:txBody>
      </p:sp>
      <p:sp>
        <p:nvSpPr>
          <p:cNvPr id="15" name="Text 8"/>
          <p:cNvSpPr txBox="1"/>
          <p:nvPr/>
        </p:nvSpPr>
        <p:spPr>
          <a:xfrm>
            <a:off x="405354" y="247198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A28:D40). 2016–2017, 2023 dùng quan sát phát hành/đấu thầu gần cuối năm nhất có nguồn</a:t>
            </a:r>
            <a:endParaRPr lang="en-US" sz="600" dirty="0"/>
          </a:p>
        </p:txBody>
      </p:sp>
      <p:sp>
        <p:nvSpPr>
          <p:cNvPr id="16" name="Text 9"/>
          <p:cNvSpPr txBox="1"/>
          <p:nvPr/>
        </p:nvSpPr>
        <p:spPr>
          <a:xfrm>
            <a:off x="405354" y="266639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en-US" sz="720" dirty="0"/>
          </a:p>
        </p:txBody>
      </p:sp>
      <p:sp>
        <p:nvSpPr>
          <p:cNvPr id="17" name="Text 10"/>
          <p:cNvSpPr txBox="1"/>
          <p:nvPr/>
        </p:nvSpPr>
        <p:spPr>
          <a:xfrm>
            <a:off x="405354" y="559612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en-US" sz="600" dirty="0"/>
          </a:p>
        </p:txBody>
      </p:sp>
      <p:sp>
        <p:nvSpPr>
          <p:cNvPr id="18" name="Text 11"/>
          <p:cNvSpPr txBox="1"/>
          <p:nvPr/>
        </p:nvSpPr>
        <p:spPr>
          <a:xfrm>
            <a:off x="405354" y="5790438"/>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Độ nhạy DCF: WACC × g</a:t>
            </a:r>
            <a:endParaRPr lang="en-US" sz="720" dirty="0"/>
          </a:p>
        </p:txBody>
      </p:sp>
      <p:sp>
        <p:nvSpPr>
          <p:cNvPr id="19" name="Text 12"/>
          <p:cNvSpPr txBox="1"/>
          <p:nvPr/>
        </p:nvSpPr>
        <p:spPr>
          <a:xfrm>
            <a:off x="405354" y="591799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20" name="Text 13"/>
          <p:cNvSpPr txBox="1"/>
          <p:nvPr/>
        </p:nvSpPr>
        <p:spPr>
          <a:xfrm>
            <a:off x="405354" y="6888358"/>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VC Method: z × thay đổi giá trị thoái vốn</a:t>
            </a:r>
            <a:endParaRPr lang="en-US" sz="640" dirty="0"/>
          </a:p>
        </p:txBody>
      </p:sp>
      <p:sp>
        <p:nvSpPr>
          <p:cNvPr id="21" name="Text 14"/>
          <p:cNvSpPr txBox="1"/>
          <p:nvPr/>
        </p:nvSpPr>
        <p:spPr>
          <a:xfrm>
            <a:off x="405354" y="7849484"/>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DCF: WACC × RONIC</a:t>
            </a:r>
            <a:endParaRPr lang="en-US" sz="640" dirty="0"/>
          </a:p>
        </p:txBody>
      </p:sp>
      <p:sp>
        <p:nvSpPr>
          <p:cNvPr id="22" name="Text 15"/>
          <p:cNvSpPr txBox="1"/>
          <p:nvPr/>
        </p:nvSpPr>
        <p:spPr>
          <a:xfrm>
            <a:off x="405354" y="878528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en-US" sz="600" dirty="0"/>
          </a:p>
        </p:txBody>
      </p:sp>
      <p:sp>
        <p:nvSpPr>
          <p:cNvPr id="23" name="Text 16"/>
          <p:cNvSpPr txBox="1"/>
          <p:nvPr/>
        </p:nvSpPr>
        <p:spPr>
          <a:xfrm>
            <a:off x="2745303" y="577370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Diễn giải kết quả định giá</a:t>
            </a:r>
            <a:endParaRPr lang="en-US" sz="900" dirty="0"/>
          </a:p>
        </p:txBody>
      </p:sp>
      <p:sp>
        <p:nvSpPr>
          <p:cNvPr id="24" name="Text 17"/>
          <p:cNvSpPr txBox="1"/>
          <p:nvPr/>
        </p:nvSpPr>
        <p:spPr>
          <a:xfrm>
            <a:off x="2745303" y="5943051"/>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DCF (41,1 tỷ; độ nhạy ở Fig. A14) là giá trị nếu kế hoạch được thực hiện: nhà máy 2027 đúng tiến độ và sản lượng đạt dự phóng. Nhà đầu tư VC không trả mức này vì 40% khả năng doanh nghiệp thất bại: nhân với xác suất sống sót và cộng giá trị thanh lý, DCF còn 30,7 tỷ – gần VC Method (25,3 tỷ) và Multiples (27,7 tỷ). Khoảng 25,3–30,7 tỷ vì vậy là vùng giá trị có tính rủi ro; DCF là cận trên khi rủi ro đã giảm.</a:t>
            </a:r>
            <a:endParaRPr lang="en-US" sz="850" dirty="0"/>
          </a:p>
        </p:txBody>
      </p:sp>
      <p:sp>
        <p:nvSpPr>
          <p:cNvPr id="25" name="Text 18"/>
          <p:cNvSpPr txBox="1"/>
          <p:nvPr/>
        </p:nvSpPr>
        <p:spPr>
          <a:xfrm>
            <a:off x="2745303" y="6638453"/>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Tăng trưởng chưa tạo giá trị trong 5 năm.</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PV của FCFF 2026–2030 âm 33,1 tỷ, ROIC 2027–2029 thấp hơn WACC; toàn bộ giá trị đến từ sau 2030 (giá trị cuối kỳ bằng 183% EV). Pre-money 32,1 tỷ chỉ bằng 1,07 lần VCSH sổ sách và 4,0 lần EBITDA 2025A: thị trường sẽ không trả thêm cho tăng trưởng cho đến khi nhà máy mới chứng minh được công suất.</a:t>
            </a:r>
            <a:endParaRPr lang="en-US" sz="850" dirty="0"/>
          </a:p>
        </p:txBody>
      </p:sp>
      <p:sp>
        <p:nvSpPr>
          <p:cNvPr id="26" name="Text 19"/>
          <p:cNvSpPr txBox="1"/>
          <p:nvPr/>
        </p:nvSpPr>
        <p:spPr>
          <a:xfrm>
            <a:off x="2745303" y="7202454"/>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P/E 9,4 lần cho 130 tỷ, EV/EBITDA 8 lần cho 267 tỷ; giá trị thoái vốn ±15% làm pre-money theo VC Method dao động khoảng ±9 tỷ. Với z = 45% (cận trên của giai đoạn đầu tăng trưởng), pre-money còn khoảng 20,1 tỷ.</a:t>
            </a:r>
            <a:endParaRPr lang="en-US" sz="850" dirty="0"/>
          </a:p>
        </p:txBody>
      </p:sp>
      <p:sp>
        <p:nvSpPr>
          <p:cNvPr id="27" name="Text 20"/>
          <p:cNvSpPr txBox="1"/>
          <p:nvPr/>
        </p:nvSpPr>
        <p:spPr>
          <a:xfrm>
            <a:off x="2745303" y="7634783"/>
            <a:ext cx="4409237" cy="26316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Dòng tiền dương đến muộn nên WACC ±1 điểm % làm pre-money thay đổi mạnh hơn g ±1 điểm %; RONIC 14% thay vì 18% làm giá trị giảm 8,0 tỷ.</a:t>
            </a:r>
            <a:endParaRPr lang="en-US" sz="850" dirty="0"/>
          </a:p>
        </p:txBody>
      </p:sp>
      <p:sp>
        <p:nvSpPr>
          <p:cNvPr id="28" name="Text 21"/>
          <p:cNvSpPr txBox="1"/>
          <p:nvPr/>
        </p:nvSpPr>
        <p:spPr>
          <a:xfrm>
            <a:off x="2745303" y="7935529"/>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Khoảng 19,7–49,2 tỷ phản ánh ba nguồn bất định: chi phí vốn, giá trị thoái vốn và xác suất thất bại. Cận dưới gần giá trị sổ sách và giá trị theo P/E trung vị ngành (17,7 tỷ); cận trên đòi hỏi nhà máy đúng tiến độ và bội số thoái vốn ngang bình quân ngành. Giá trị tăng chủ yếu khi sản lượng F&amp;B đạt kế hoạch (kịch bản Bull cho 73,6 tỷ) và giảm mạnh nếu cầu yếu (kịch bản Bear âm).</a:t>
            </a:r>
            <a:endParaRPr lang="en-US" sz="850" dirty="0"/>
          </a:p>
        </p:txBody>
      </p:sp>
      <p:sp>
        <p:nvSpPr>
          <p:cNvPr id="29" name="Text 22"/>
          <p:cNvSpPr txBox="1"/>
          <p:nvPr/>
        </p:nvSpPr>
        <p:spPr>
          <a:xfrm>
            <a:off x="2745303" y="8631022"/>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chạy lại toàn bộ mô hình (Fig. A15), sản lượng ×0,8/×1,2 làm pre-money đi từ 7,8 đến 60,4 tỷ, còn lãi suất hay CRP ±1 điểm % chỉ làm pre-money thay đổi 5–7 tỷ. Theo dõi đơn hàng F&amp;B và tiến độ nhà máy 2027 vì vậy quan trọng hơn dự báo lãi suất.</a:t>
            </a:r>
            <a:endParaRPr lang="en-US" sz="850" dirty="0"/>
          </a:p>
        </p:txBody>
      </p:sp>
      <p:sp>
        <p:nvSpPr>
          <p:cNvPr id="30" name="Text 2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1" name="Text 2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21</a:t>
            </a:r>
            <a:endParaRPr lang="en-US"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6749004" cy="914400"/>
        </p:xfrm>
        <a:graphic>
          <a:graphicData uri="http://schemas.openxmlformats.org/drawingml/2006/table">
            <a:tbl>
              <a:tblPr/>
              <a:tblGrid>
                <a:gridCol w="1417320"/>
                <a:gridCol w="512887"/>
                <a:gridCol w="512887"/>
                <a:gridCol w="512887"/>
                <a:gridCol w="512887"/>
                <a:gridCol w="512887"/>
                <a:gridCol w="2767340"/>
              </a:tblGrid>
              <a:tr h="233355">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Pre-money</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DCF</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VCM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DT 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LNST 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Kịch bản cơ sở (Base)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32,1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41,1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7,8 / 60,4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6,3 / 82,9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−0,5 / 54,2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137,3 / 209,6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6,6 / 22,6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bán: +1% / +3% mỗi năm, Base +2% (CPI, sức mạnh khách hàng B2B – Mục 3.1.2,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26,1 / 38,3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32,5 / 50,1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19,0 / 31,9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162,1 / 178,8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12,0 / 15,8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24,6 / 39,4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31,8 / 50,4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15,8 / 34,3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12,5 / 15,2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22,8 / 41,0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29,5 / 52,7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 / 36,1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12,1 / 15,6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26,9 / 38,4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31,7 / 53,0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21,6 / 29,2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 / 14,0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cho cả lợi suất phi rủi ro (bình quân TPCP 10 năm 3,92%) và lãi vay (10%, khung cho vay 8,1–10,5%/năm); nhỏ hơn độ lệch chuẩn ~1,6 điểm % của lợi suất TPCP 10 năm 2016–2025 (Discount rate A28:C40) vì Rf là bình quân dài hạn.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26,8 / 38,7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30,7 / 54,7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22,5 / 28,3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32,1 / 35,1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41,1 / 44,5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25,3 / 29,3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4094958"/>
            <a:ext cx="6749004" cy="1615745"/>
          </a:xfrm>
          <a:prstGeom prst="rect">
            <a:avLst/>
          </a:prstGeom>
          <a:noFill/>
          <a:ln/>
        </p:spPr>
        <p:txBody>
          <a:bodyPr wrap="square" lIns="0" tIns="0" rIns="0" bIns="0" rtlCol="0" anchor="t"/>
          <a:lstStyle/>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Nội dung.</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Mục 1–3 giữ nguyên văn bài của nhóm (TTKN_2); chỉ đánh số tiêu đề, thêm số Fig. và chuyển đường dẫn nguồn xuống Tài liệu tham khảo. Mục 4, 5, 8 và các phụ lục tính toán do Lộc viết từ mô hình. Các bảng số của Mục 2 được đối chiếu lại với BCTC trong mô hình và khớp.</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Mô hình.</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Mỗi Fig. có số liệu có block cùng số trong sheet Chart_Data; nguồn và lý do của từng giả định ghi ngay ô bên cạnh giả định; sheet Checks xác nhận BCĐKT cân và các liên kết khớp.</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BCKQKD theo chức năng.</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Rf.</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Bình quân 10 quan sát lợi suất TPCP 10 năm (2016–2025) = 3,92%; mỗi năm một quan sát cuối năm hoặc gần cuối năm nhất có nguồn (Fig. A12). Phần bù rủi ro quốc gia 3,9% là ước tính theo phương pháp Damodaran cho hạng Ba2 – cần đối chiếu bảng CRP 01/2026.</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Độ nhạy theo nhân tố.</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30, Fig. A15); kết quả lưu dạng giá trị chụp ở Summary, lý do biên độ ghi ở ô bên cạnh.</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Năm đầu tư lớn.</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Đề bài ghi 2027; file Excel mẫu khóa 65% ở năm 2028. Báo cáo theo đề bài; phương án 2028 chạy bằng ô chọn Drivers!C4 (pre-money bình quân 26,3 tỷ).</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Quy ước.</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en-US" sz="700" dirty="0"/>
          </a:p>
        </p:txBody>
      </p:sp>
      <p:sp>
        <p:nvSpPr>
          <p:cNvPr id="7" name="Text 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9" name="Text 6"/>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en-US" sz="720" dirty="0"/>
          </a:p>
        </p:txBody>
      </p:sp>
      <p:sp>
        <p:nvSpPr>
          <p:cNvPr id="10" name="Text 7"/>
          <p:cNvSpPr txBox="1"/>
          <p:nvPr/>
        </p:nvSpPr>
        <p:spPr>
          <a:xfrm>
            <a:off x="405354" y="716798"/>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 name="Text 8"/>
          <p:cNvSpPr txBox="1"/>
          <p:nvPr/>
        </p:nvSpPr>
        <p:spPr>
          <a:xfrm>
            <a:off x="405354" y="3748126"/>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en-US" sz="600" dirty="0"/>
          </a:p>
        </p:txBody>
      </p:sp>
      <p:sp>
        <p:nvSpPr>
          <p:cNvPr id="12" name="Text 9"/>
          <p:cNvSpPr txBox="1"/>
          <p:nvPr/>
        </p:nvSpPr>
        <p:spPr>
          <a:xfrm>
            <a:off x="405354" y="3925611"/>
            <a:ext cx="7153991"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Ghi chú phương pháp</a:t>
            </a:r>
            <a:endParaRPr lang="en-US" sz="900" dirty="0"/>
          </a:p>
        </p:txBody>
      </p:sp>
      <p:sp>
        <p:nvSpPr>
          <p:cNvPr id="13" name="Text 10"/>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4" name="Text 11"/>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22</a:t>
            </a:r>
            <a:endParaRPr lang="en-US"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10369479"/>
            <a:ext cx="6749004" cy="0"/>
          </a:xfrm>
          <a:prstGeom prst="line">
            <a:avLst/>
          </a:prstGeom>
          <a:noFill/>
          <a:ln w="9525">
            <a:solidFill>
              <a:srgbClr val="BFBFBF"/>
            </a:solidFill>
            <a:prstDash val="solid"/>
          </a:ln>
        </p:spPr>
      </p:sp>
      <p:sp>
        <p:nvSpPr>
          <p:cNvPr id="4" name="Text 2"/>
          <p:cNvSpPr txBox="1"/>
          <p:nvPr/>
        </p:nvSpPr>
        <p:spPr>
          <a:xfrm>
            <a:off x="405354" y="741761"/>
            <a:ext cx="6749004" cy="6112673"/>
          </a:xfrm>
          <a:prstGeom prst="rect">
            <a:avLst/>
          </a:prstGeom>
          <a:noFill/>
          <a:ln/>
        </p:spPr>
        <p:txBody>
          <a:bodyPr wrap="square" lIns="0" tIns="0" rIns="0" bIns="0" rtlCol="0" anchor="t"/>
          <a:lstStyle/>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Asian Development Bank. (2023).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[Cơ sở dữ liệu].</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innovation and private capital report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Berkus, D. (2016).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After 20 years: Updating the Berkus method of valuation</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Berkonomics.</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SGGP</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Bộ Công Thương.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(hiệu lực 10/5/2025).</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Bộ Y tế.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https://chinhphu.vn/?pageid=27160&amp;docid=216867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CEIC Data. (2018).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government bond yield: Spot: 10 years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[Dữ liệu HNX].</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(2022).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Cục Thống kê.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(2009).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Stern School of Business, New York University.</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(2026a).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The fundamental determinants of growth</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ecoeshop.com.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bán hàng].</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FiinGroup.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[Cơ sở dữ liệu, truy xuất 28–30/9/2026].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Glotrans. (2025). Ngành giấy Việt Nam phục hồi mạnh mẽ nhờ bao bì xanh và kinh tế tuần hoàn. https://glotransvn.com.vn/tin-thi-truong/nganh-giay-viet-nam-phuc-hoi-manh-me-nho-bao-bi-xanh-va-kinh-te-tuan-hoan</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HTAECO.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Sản phẩm ép khuôn theo mẫu từ bã mía và tre</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giới thiệu sản phẩm]. HTAECO.com.</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IMARC Group.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https://www.imarcgroup.com/vietnam-green-packaging-market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Innovative Hub.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Báo cáo tổng hợp xuất khẩu ngành bao bì và in ấn Việt Nam 2025</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IHUB.</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Journal of Applied Corporate Finance, 12</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(4), 94–101.</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Moody's Ratings. (2026, 4 tháng 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Mordor Intelligence.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Global packaging market</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Oxford Business Group. (2017).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The report: Vietnam 2017 – Attractive yields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Payne, B. (2011).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Angel Capital Association.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Profectus. (2025). Current ratio.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Financial Ratios Advisor</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ProPak Vietnam.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Họp báo giới thiệu Triển lãm quốc tế lần thứ 17 về công nghệ chế biến và đóng gói bao bì tại Việt Nam</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PwC.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Voice of the Consumer Survey 2024 – Vietnam</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PwC Việt Nam.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(2025a).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Luật Thuế thu nhập doanh nghiệp số 67/2025/QH15</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(2025b).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QueenPack. (2026); Bao Bì Xanh.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Bảng giá hộp đựng thực phẩm 500 ml</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bán hàng]. QueenPack.com; baobixanh.com.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Quỹ Đổi mới công nghệ quốc gia.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Hỗ trợ lãi suất vay</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https://natif.mst.gov.vn/ho-tro-lai-suat-vay/</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The PAN Group.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Sustainability report 2023</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CTCP Tập đoàn PAN.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United Nations Environment Programme. (2021).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Công nghiệp Giấy và Xenluylô (RIPPI).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 tin tháng số 6-2025</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https://rippi.com.vn/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Bond market report</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Vietcombank.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Tỷ giá ngoại tệ</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[Số liệu tỷ giá bán ra].</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Vietnam Report. (2024,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Top 10 Công ty uy tín ngành Bao bì</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VNDirect.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La bàn thị trường</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[Báo cáo vĩ mô, lợi suất TPCP kỳ hạn 10 năm].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International Journal of Logistics Research and Applications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https://doi.org/10.1080/13675567.2023.2175802</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en-US" sz="630" dirty="0"/>
          </a:p>
        </p:txBody>
      </p:sp>
      <p:sp>
        <p:nvSpPr>
          <p:cNvPr id="5"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6"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 name="Text 5"/>
          <p:cNvSpPr txBox="1"/>
          <p:nvPr/>
        </p:nvSpPr>
        <p:spPr>
          <a:xfrm>
            <a:off x="405354" y="572323"/>
            <a:ext cx="7153991"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Tài liệu tham khảo (APA 7)</a:t>
            </a:r>
            <a:endParaRPr lang="en-US" sz="900" dirty="0"/>
          </a:p>
        </p:txBody>
      </p:sp>
      <p:sp>
        <p:nvSpPr>
          <p:cNvPr id="8" name="Text 6"/>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 name="Text 7"/>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23</a:t>
            </a:r>
            <a:endParaRPr lang="en-US"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AgriPack – Báo cáo phân tích, dự phóng và định giá</dc:title>
  <dc:subject>PptxGenJS Presentation</dc:subject>
  <dc:creator>Nhóm AgriPack – học phần TTKN</dc:creator>
  <cp:lastModifiedBy>Nhóm AgriPack – học phần TTKN</cp:lastModifiedBy>
  <cp:revision>1</cp:revision>
  <dcterms:created xsi:type="dcterms:W3CDTF">2026-09-30T15:59:27Z</dcterms:created>
  <dcterms:modified xsi:type="dcterms:W3CDTF">2026-09-30T15:59:27Z</dcterms:modified>
</cp:coreProperties>
</file>