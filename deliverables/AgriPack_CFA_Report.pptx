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7559985" cy="10691988"/>
  <p:notesSz cx="10691988" cy="755998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10" y="9510"/>
            <a:ext cx="7540874" cy="661843"/>
          </a:xfrm>
          <a:prstGeom prst="rect">
            <a:avLst/>
          </a:prstGeom>
          <a:solidFill>
            <a:srgbClr val="7B1E2B"/>
          </a:solidFill>
          <a:ln/>
        </p:spPr>
      </p:sp>
      <p:sp>
        <p:nvSpPr>
          <p:cNvPr id="3" name="Shape 1"/>
          <p:cNvSpPr/>
          <p:nvPr/>
        </p:nvSpPr>
        <p:spPr>
          <a:xfrm>
            <a:off x="405354" y="779252"/>
            <a:ext cx="2159996" cy="163129"/>
          </a:xfrm>
          <a:prstGeom prst="rect">
            <a:avLst/>
          </a:prstGeom>
          <a:solidFill>
            <a:srgbClr val="404040"/>
          </a:solidFill>
          <a:ln/>
        </p:spPr>
      </p:sp>
      <p:sp>
        <p:nvSpPr>
          <p:cNvPr id="4" name="Shape 2"/>
          <p:cNvSpPr/>
          <p:nvPr/>
        </p:nvSpPr>
        <p:spPr>
          <a:xfrm>
            <a:off x="2745303" y="1210391"/>
            <a:ext cx="4409237" cy="885505"/>
          </a:xfrm>
          <a:prstGeom prst="rect">
            <a:avLst/>
          </a:prstGeom>
          <a:solidFill>
            <a:srgbClr val="F7F4F4"/>
          </a:solidFill>
          <a:ln/>
        </p:spPr>
      </p:sp>
      <p:sp>
        <p:nvSpPr>
          <p:cNvPr id="5" name="Shape 3"/>
          <p:cNvSpPr/>
          <p:nvPr/>
        </p:nvSpPr>
        <p:spPr>
          <a:xfrm>
            <a:off x="405354" y="3838011"/>
            <a:ext cx="2159996" cy="0"/>
          </a:xfrm>
          <a:prstGeom prst="line">
            <a:avLst/>
          </a:prstGeom>
          <a:noFill/>
          <a:ln w="9525">
            <a:solidFill>
              <a:srgbClr val="7B1E2B"/>
            </a:solidFill>
            <a:prstDash val="solid"/>
          </a:ln>
        </p:spPr>
      </p:sp>
      <p:sp>
        <p:nvSpPr>
          <p:cNvPr id="6" name="Shape 4"/>
          <p:cNvSpPr/>
          <p:nvPr/>
        </p:nvSpPr>
        <p:spPr>
          <a:xfrm>
            <a:off x="405354" y="6052414"/>
            <a:ext cx="2159996" cy="0"/>
          </a:xfrm>
          <a:prstGeom prst="line">
            <a:avLst/>
          </a:prstGeom>
          <a:noFill/>
          <a:ln w="9525">
            <a:solidFill>
              <a:srgbClr val="7B1E2B"/>
            </a:solidFill>
            <a:prstDash val="solid"/>
          </a:ln>
        </p:spPr>
      </p:sp>
      <p:sp>
        <p:nvSpPr>
          <p:cNvPr id="7" name="Shape 5"/>
          <p:cNvSpPr/>
          <p:nvPr/>
        </p:nvSpPr>
        <p:spPr>
          <a:xfrm>
            <a:off x="405354" y="7567392"/>
            <a:ext cx="2159996" cy="0"/>
          </a:xfrm>
          <a:prstGeom prst="line">
            <a:avLst/>
          </a:prstGeom>
          <a:noFill/>
          <a:ln w="9525">
            <a:solidFill>
              <a:srgbClr val="7B1E2B"/>
            </a:solidFill>
            <a:prstDash val="solid"/>
          </a:ln>
        </p:spPr>
      </p:sp>
      <p:sp>
        <p:nvSpPr>
          <p:cNvPr id="8" name="Shape 6"/>
          <p:cNvSpPr/>
          <p:nvPr/>
        </p:nvSpPr>
        <p:spPr>
          <a:xfrm>
            <a:off x="2745303" y="1215238"/>
            <a:ext cx="4409237" cy="0"/>
          </a:xfrm>
          <a:prstGeom prst="line">
            <a:avLst/>
          </a:prstGeom>
          <a:noFill/>
          <a:ln w="9525">
            <a:solidFill>
              <a:srgbClr val="7B1E2B"/>
            </a:solidFill>
            <a:prstDash val="solid"/>
          </a:ln>
        </p:spPr>
      </p:sp>
      <p:sp>
        <p:nvSpPr>
          <p:cNvPr id="9" name="Shape 7"/>
          <p:cNvSpPr/>
          <p:nvPr/>
        </p:nvSpPr>
        <p:spPr>
          <a:xfrm>
            <a:off x="7149785" y="1210391"/>
            <a:ext cx="0" cy="885505"/>
          </a:xfrm>
          <a:prstGeom prst="line">
            <a:avLst/>
          </a:prstGeom>
          <a:noFill/>
          <a:ln w="9525">
            <a:solidFill>
              <a:srgbClr val="7B1E2B"/>
            </a:solidFill>
            <a:prstDash val="solid"/>
          </a:ln>
        </p:spPr>
      </p:sp>
      <p:sp>
        <p:nvSpPr>
          <p:cNvPr id="10" name="Shape 8"/>
          <p:cNvSpPr/>
          <p:nvPr/>
        </p:nvSpPr>
        <p:spPr>
          <a:xfrm>
            <a:off x="2745303" y="2091233"/>
            <a:ext cx="4409237" cy="0"/>
          </a:xfrm>
          <a:prstGeom prst="line">
            <a:avLst/>
          </a:prstGeom>
          <a:noFill/>
          <a:ln w="9525">
            <a:solidFill>
              <a:srgbClr val="7B1E2B"/>
            </a:solidFill>
            <a:prstDash val="solid"/>
          </a:ln>
        </p:spPr>
      </p:sp>
      <p:sp>
        <p:nvSpPr>
          <p:cNvPr id="11" name="Shape 9"/>
          <p:cNvSpPr/>
          <p:nvPr/>
        </p:nvSpPr>
        <p:spPr>
          <a:xfrm>
            <a:off x="2764323" y="1210391"/>
            <a:ext cx="0" cy="885505"/>
          </a:xfrm>
          <a:prstGeom prst="line">
            <a:avLst/>
          </a:prstGeom>
          <a:noFill/>
          <a:ln w="38100">
            <a:solidFill>
              <a:srgbClr val="7B1E2B"/>
            </a:solidFill>
            <a:prstDash val="solid"/>
          </a:ln>
        </p:spPr>
      </p:sp>
      <p:sp>
        <p:nvSpPr>
          <p:cNvPr id="12" name="Shape 10"/>
          <p:cNvSpPr/>
          <p:nvPr/>
        </p:nvSpPr>
        <p:spPr>
          <a:xfrm>
            <a:off x="2745303" y="7965521"/>
            <a:ext cx="4409237" cy="0"/>
          </a:xfrm>
          <a:prstGeom prst="line">
            <a:avLst/>
          </a:prstGeom>
          <a:noFill/>
          <a:ln w="9525">
            <a:solidFill>
              <a:srgbClr val="7B1E2B"/>
            </a:solidFill>
            <a:prstDash val="solid"/>
          </a:ln>
        </p:spPr>
      </p:sp>
      <p:sp>
        <p:nvSpPr>
          <p:cNvPr id="13" name="Shape 11"/>
          <p:cNvSpPr/>
          <p:nvPr/>
        </p:nvSpPr>
        <p:spPr>
          <a:xfrm>
            <a:off x="405354" y="10365547"/>
            <a:ext cx="6749004" cy="0"/>
          </a:xfrm>
          <a:prstGeom prst="line">
            <a:avLst/>
          </a:prstGeom>
          <a:noFill/>
          <a:ln w="9525">
            <a:solidFill>
              <a:srgbClr val="BFBFBF"/>
            </a:solidFill>
            <a:prstDash val="solid"/>
          </a:ln>
        </p:spPr>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05354" y="942381"/>
          <a:ext cx="2159996" cy="914400"/>
        </p:xfrm>
        <a:graphic>
          <a:graphicData uri="http://schemas.openxmlformats.org/drawingml/2006/table">
            <a:tbl>
              <a:tblPr/>
              <a:tblGrid>
                <a:gridCol w="1049274"/>
                <a:gridCol w="1110722"/>
              </a:tblGrid>
              <a:tr h="139903">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Ngành</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Bao bì bền vững</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Công nghệ</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Ép bột bã mía + vỏ trứng</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Mô hình</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B2B, bán trực tiếp</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Nhà máy</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Gia Lai (1 nhà máy)</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Thành lập (giả định)</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2021</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Giai đoạn</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Đầu tăng trưởng</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Doanh thu 2025A</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47,5 tỷ (+53,7%)</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Biên EBITDA 2025A</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16,2%</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LNST 2025A</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4,4 tỷ</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VCSH 31/12/2025</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30,0 tỷ</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Nợ vay/VCSH</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5,3%</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ROE 2025A / Ke</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15,9% / 16,2%</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Thị phần SAM 2025</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4,3%</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WACC / g</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13,8% / 5,0%</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Tỷ lệ thất bại z</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40%</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DCF / VC Method</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38,9 / 24,8 tỷ</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Pre-money khuyến nghị</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31,8 tỷ</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90" dirty="0">
                          <a:solidFill>
                            <a:srgbClr val="1F1F1F"/>
                          </a:solidFill>
                          <a:latin typeface="Calibri" pitchFamily="34" charset="0"/>
                          <a:ea typeface="Calibri" pitchFamily="34" charset="-122"/>
                          <a:cs typeface="Calibri" pitchFamily="34" charset="-120"/>
                        </a:rPr>
                        <a:t>Khoảng giá trị</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90" b="1" dirty="0">
                          <a:solidFill>
                            <a:srgbClr val="1F1F1F"/>
                          </a:solidFill>
                          <a:latin typeface="Calibri" pitchFamily="34" charset="0"/>
                          <a:ea typeface="Calibri" pitchFamily="34" charset="-122"/>
                          <a:cs typeface="Calibri" pitchFamily="34" charset="-120"/>
                        </a:rPr>
                        <a:t>19,3–48,4 tỷ</a:t>
                      </a:r>
                      <a:endParaRPr lang="en-US" sz="690"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405354" y="7735641"/>
          <a:ext cx="2159996" cy="914400"/>
        </p:xfrm>
        <a:graphic>
          <a:graphicData uri="http://schemas.openxmlformats.org/drawingml/2006/table">
            <a:tbl>
              <a:tblPr/>
              <a:tblGrid>
                <a:gridCol w="453451"/>
                <a:gridCol w="1706545"/>
              </a:tblGrid>
              <a:tr h="133045">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Thời điểm</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Sự kiện và điều kiện theo dõi</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Q1/2026</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Giải ngân đợt 1 (20,7 tỷ); lắp máy ép bổ sung</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2026</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Doanh thu 63,7 tỷ; kiểm nghiệm vật liệu tiếp xúc thực phẩm; hợp đồng khung với chuỗi F&amp;B</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2027</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Xây nhà máy: CAPEX 51,8 tỷ; giải ngân vay 31,1 tỷ</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Q4/2027</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Mốc đợt 2:</a:t>
                      </a:r>
                      <a:pPr algn="l" indent="0" marL="0">
                        <a:buNone/>
                      </a:pPr>
                      <a:r>
                        <a:rPr lang="en-US" sz="650" dirty="0">
                          <a:solidFill>
                            <a:srgbClr val="1F1F1F"/>
                          </a:solidFill>
                          <a:latin typeface="Calibri" pitchFamily="34" charset="0"/>
                          <a:ea typeface="Calibri" pitchFamily="34" charset="-122"/>
                          <a:cs typeface="Calibri" pitchFamily="34" charset="-120"/>
                        </a:rPr>
                        <a:t> vận hành thương mại, doanh thu ≥ 75 tỷ, biên EBITDA ≥ 16%, hợp đồng bã mía dài hạn, chứng nhận vật liệu → giải ngân 16,9 tỷ</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2028</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Hai dây chuyền mới chạy; ROIC thấp nhất (5,1%); EBIT/lãi vay 1,9 lần</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2029</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FCFF dương; bắt đầu trả gốc 6,2 tỷ/năm; DSCR thấp nhất 2,7 lần</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2030</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ROIC 13,9% ≈ WACC; thoái vốn: bán cho nhà đầu tư chiến lược</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4" name="Table 2"/>
          <p:cNvGraphicFramePr>
            <a:graphicFrameLocks noGrp="1"/>
          </p:cNvGraphicFramePr>
          <p:nvPr>
            <p:extLst>
              <p:ext uri="{D42A27DB-BD31-4B8C-83A1-F6EECF244321}">
                <p14:modId xmlns:p14="http://schemas.microsoft.com/office/powerpoint/2010/main" val="1579011935"/>
              </p:ext>
            </p:extLst>
          </p:nvPr>
        </p:nvGraphicFramePr>
        <p:xfrm>
          <a:off x="2855305" y="1396014"/>
          <a:ext cx="4217761" cy="914400"/>
        </p:xfrm>
        <a:graphic>
          <a:graphicData uri="http://schemas.openxmlformats.org/drawingml/2006/table">
            <a:tbl>
              <a:tblPr/>
              <a:tblGrid>
                <a:gridCol w="1307501"/>
                <a:gridCol w="2910261"/>
              </a:tblGrid>
              <a:tr h="132314">
                <a:tc>
                  <a:txBody>
                    <a:bodyPr/>
                    <a:lstStyle/>
                    <a:p>
                      <a:pPr algn="l" indent="0" marL="0">
                        <a:buNone/>
                      </a:pPr>
                      <a:r>
                        <a:rPr lang="en-US" sz="740" dirty="0">
                          <a:solidFill>
                            <a:srgbClr val="666666"/>
                          </a:solidFill>
                          <a:latin typeface="Calibri" pitchFamily="34" charset="0"/>
                          <a:ea typeface="Calibri" pitchFamily="34" charset="-122"/>
                          <a:cs typeface="Calibri" pitchFamily="34" charset="-120"/>
                        </a:rPr>
                        <a:t>Vốn cổ phần Series A</a:t>
                      </a:r>
                      <a:endParaRPr lang="en-US" sz="74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40" b="1" dirty="0">
                          <a:solidFill>
                            <a:srgbClr val="1F1F1F"/>
                          </a:solidFill>
                          <a:latin typeface="Calibri" pitchFamily="34" charset="0"/>
                          <a:ea typeface="Calibri" pitchFamily="34" charset="-122"/>
                          <a:cs typeface="Calibri" pitchFamily="34" charset="-120"/>
                        </a:rPr>
                        <a:t>37,6 tỷ đồng</a:t>
                      </a:r>
                      <a:pPr algn="l" indent="0" marL="0">
                        <a:buNone/>
                      </a:pPr>
                      <a:r>
                        <a:rPr lang="en-US" sz="740" dirty="0">
                          <a:solidFill>
                            <a:srgbClr val="1F1F1F"/>
                          </a:solidFill>
                          <a:latin typeface="Calibri" pitchFamily="34" charset="0"/>
                          <a:ea typeface="Calibri" pitchFamily="34" charset="-122"/>
                          <a:cs typeface="Calibri" pitchFamily="34" charset="-120"/>
                        </a:rPr>
                        <a:t>, chia 2 đợt: 20,7 tỷ tại t0 và 16,9 tỷ cuối 2027 khi đạt mốc</a:t>
                      </a:r>
                      <a:endParaRPr lang="en-US" sz="74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r h="132314">
                <a:tc>
                  <a:txBody>
                    <a:bodyPr/>
                    <a:lstStyle/>
                    <a:p>
                      <a:pPr algn="l" indent="0" marL="0">
                        <a:buNone/>
                      </a:pPr>
                      <a:r>
                        <a:rPr lang="en-US" sz="740" dirty="0">
                          <a:solidFill>
                            <a:srgbClr val="666666"/>
                          </a:solidFill>
                          <a:latin typeface="Calibri" pitchFamily="34" charset="0"/>
                          <a:ea typeface="Calibri" pitchFamily="34" charset="-122"/>
                          <a:cs typeface="Calibri" pitchFamily="34" charset="-120"/>
                        </a:rPr>
                        <a:t>Vay trung hạn/thuê tài chính</a:t>
                      </a:r>
                      <a:endParaRPr lang="en-US" sz="74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40" b="1" dirty="0">
                          <a:solidFill>
                            <a:srgbClr val="1F1F1F"/>
                          </a:solidFill>
                          <a:latin typeface="Calibri" pitchFamily="34" charset="0"/>
                          <a:ea typeface="Calibri" pitchFamily="34" charset="-122"/>
                          <a:cs typeface="Calibri" pitchFamily="34" charset="-120"/>
                        </a:rPr>
                        <a:t>31,1 tỷ đồng</a:t>
                      </a:r>
                      <a:pPr algn="l" indent="0" marL="0">
                        <a:buNone/>
                      </a:pPr>
                      <a:r>
                        <a:rPr lang="en-US" sz="740" dirty="0">
                          <a:solidFill>
                            <a:srgbClr val="1F1F1F"/>
                          </a:solidFill>
                          <a:latin typeface="Calibri" pitchFamily="34" charset="0"/>
                          <a:ea typeface="Calibri" pitchFamily="34" charset="-122"/>
                          <a:cs typeface="Calibri" pitchFamily="34" charset="-120"/>
                        </a:rPr>
                        <a:t> (60% CAPEX nhà máy 2027), 7 năm, ân hạn gốc 2 năm</a:t>
                      </a:r>
                      <a:endParaRPr lang="en-US" sz="74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r h="246797">
                <a:tc>
                  <a:txBody>
                    <a:bodyPr/>
                    <a:lstStyle/>
                    <a:p>
                      <a:pPr algn="l" indent="0" marL="0">
                        <a:buNone/>
                      </a:pPr>
                      <a:r>
                        <a:rPr lang="en-US" sz="740" dirty="0">
                          <a:solidFill>
                            <a:srgbClr val="666666"/>
                          </a:solidFill>
                          <a:latin typeface="Calibri" pitchFamily="34" charset="0"/>
                          <a:ea typeface="Calibri" pitchFamily="34" charset="-122"/>
                          <a:cs typeface="Calibri" pitchFamily="34" charset="-120"/>
                        </a:rPr>
                        <a:t>Pre-money khuyến nghị</a:t>
                      </a:r>
                      <a:endParaRPr lang="en-US" sz="74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40" b="1" dirty="0">
                          <a:solidFill>
                            <a:srgbClr val="1F1F1F"/>
                          </a:solidFill>
                          <a:latin typeface="Calibri" pitchFamily="34" charset="0"/>
                          <a:ea typeface="Calibri" pitchFamily="34" charset="-122"/>
                          <a:cs typeface="Calibri" pitchFamily="34" charset="-120"/>
                        </a:rPr>
                        <a:t>31,8 tỷ đồng</a:t>
                      </a:r>
                      <a:pPr algn="l" indent="0" marL="0">
                        <a:buNone/>
                      </a:pPr>
                      <a:r>
                        <a:rPr lang="en-US" sz="740" dirty="0">
                          <a:solidFill>
                            <a:srgbClr val="1F1F1F"/>
                          </a:solidFill>
                          <a:latin typeface="Calibri" pitchFamily="34" charset="0"/>
                          <a:ea typeface="Calibri" pitchFamily="34" charset="-122"/>
                          <a:cs typeface="Calibri" pitchFamily="34" charset="-120"/>
                        </a:rPr>
                        <a:t> (khoảng 19,3–48,4 tỷ), bình quân DCF 38,9 tỷ và VC Method 24,8 tỷ</a:t>
                      </a:r>
                      <a:endParaRPr lang="en-US" sz="74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r h="132314">
                <a:tc>
                  <a:txBody>
                    <a:bodyPr/>
                    <a:lstStyle/>
                    <a:p>
                      <a:pPr algn="l" indent="0" marL="0">
                        <a:buNone/>
                      </a:pPr>
                      <a:r>
                        <a:rPr lang="en-US" sz="740" dirty="0">
                          <a:solidFill>
                            <a:srgbClr val="666666"/>
                          </a:solidFill>
                          <a:latin typeface="Calibri" pitchFamily="34" charset="0"/>
                          <a:ea typeface="Calibri" pitchFamily="34" charset="-122"/>
                          <a:cs typeface="Calibri" pitchFamily="34" charset="-120"/>
                        </a:rPr>
                        <a:t>Founder sau hai đợt</a:t>
                      </a:r>
                      <a:endParaRPr lang="en-US" sz="74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40" b="1" dirty="0">
                          <a:solidFill>
                            <a:srgbClr val="1F1F1F"/>
                          </a:solidFill>
                          <a:latin typeface="Calibri" pitchFamily="34" charset="0"/>
                          <a:ea typeface="Calibri" pitchFamily="34" charset="-122"/>
                          <a:cs typeface="Calibri" pitchFamily="34" charset="-120"/>
                        </a:rPr>
                        <a:t>50,5%</a:t>
                      </a:r>
                      <a:pPr algn="l" indent="0" marL="0">
                        <a:buNone/>
                      </a:pPr>
                      <a:r>
                        <a:rPr lang="en-US" sz="740" dirty="0">
                          <a:solidFill>
                            <a:srgbClr val="1F1F1F"/>
                          </a:solidFill>
                          <a:latin typeface="Calibri" pitchFamily="34" charset="0"/>
                          <a:ea typeface="Calibri" pitchFamily="34" charset="-122"/>
                          <a:cs typeface="Calibri" pitchFamily="34" charset="-120"/>
                        </a:rPr>
                        <a:t> (nếu gọi một lần: 45,8%)</a:t>
                      </a:r>
                      <a:endParaRPr lang="en-US" sz="74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5" name="Table 3"/>
          <p:cNvGraphicFramePr>
            <a:graphicFrameLocks noGrp="1"/>
          </p:cNvGraphicFramePr>
          <p:nvPr>
            <p:extLst>
              <p:ext uri="{D42A27DB-BD31-4B8C-83A1-F6EECF244321}">
                <p14:modId xmlns:p14="http://schemas.microsoft.com/office/powerpoint/2010/main" val="1579011935"/>
              </p:ext>
            </p:extLst>
          </p:nvPr>
        </p:nvGraphicFramePr>
        <p:xfrm>
          <a:off x="2745303" y="8133771"/>
          <a:ext cx="4409237" cy="914400"/>
        </p:xfrm>
        <a:graphic>
          <a:graphicData uri="http://schemas.openxmlformats.org/drawingml/2006/table">
            <a:tbl>
              <a:tblPr/>
              <a:tblGrid>
                <a:gridCol w="839236"/>
                <a:gridCol w="446227"/>
                <a:gridCol w="446227"/>
                <a:gridCol w="446227"/>
                <a:gridCol w="446227"/>
                <a:gridCol w="446227"/>
                <a:gridCol w="446227"/>
                <a:gridCol w="446227"/>
                <a:gridCol w="446593"/>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Tỷ đồng</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2023A</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2024A</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2025A</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2026E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2027E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2028E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2029E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2030E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3685">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Doanh thu thuần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19,4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30,9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47,5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63,7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79,7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110,4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141,6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170,3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i="1" dirty="0">
                          <a:solidFill>
                            <a:srgbClr val="555555"/>
                          </a:solidFill>
                          <a:latin typeface="Calibri" pitchFamily="34" charset="0"/>
                          <a:ea typeface="Calibri" pitchFamily="34" charset="-122"/>
                          <a:cs typeface="Calibri" pitchFamily="34" charset="-120"/>
                        </a:rPr>
                        <a:t>Tăng trưởng</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59,1%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53,7%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33,9%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25,2%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38,5%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28,3%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20,3%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EBITDA</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11,4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14,3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26,9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34,4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i="1" dirty="0">
                          <a:solidFill>
                            <a:srgbClr val="555555"/>
                          </a:solidFill>
                          <a:latin typeface="Calibri" pitchFamily="34" charset="0"/>
                          <a:ea typeface="Calibri" pitchFamily="34" charset="-122"/>
                          <a:cs typeface="Calibri" pitchFamily="34" charset="-120"/>
                        </a:rPr>
                        <a:t>Biên EBITDA</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(14,2%)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6,5%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16,2%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17,9%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17,9%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16,1%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19,0%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20,2%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LNST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8,7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13,9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FCF/FCFF*</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(9,0)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(42,6)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8,7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i="1" dirty="0">
                          <a:solidFill>
                            <a:srgbClr val="555555"/>
                          </a:solidFill>
                          <a:latin typeface="Calibri" pitchFamily="34" charset="0"/>
                          <a:ea typeface="Calibri" pitchFamily="34" charset="-122"/>
                          <a:cs typeface="Calibri" pitchFamily="34" charset="-120"/>
                        </a:rPr>
                        <a:t>CAPEX/doanh thu</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65%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i="1" dirty="0">
                          <a:solidFill>
                            <a:srgbClr val="555555"/>
                          </a:solidFill>
                          <a:latin typeface="Calibri" pitchFamily="34" charset="0"/>
                          <a:ea typeface="Calibri" pitchFamily="34" charset="-122"/>
                          <a:cs typeface="Calibri" pitchFamily="34" charset="-120"/>
                        </a:rPr>
                        <a:t>ROIC</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12,7%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16,7%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8,0%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5,1%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10,4%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13,9%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Vốn chủ sở hữu</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19,1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25,6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30,0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74,2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80,0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82,4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91,1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105,0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Nợ vay</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32,7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32,7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26,5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20,3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pSp>
        <p:nvGrpSpPr>
          <p:cNvPr id="137" name="Fig. 01 – biểu đồ"/>
          <p:cNvGrpSpPr/>
          <p:nvPr/>
        </p:nvGrpSpPr>
        <p:grpSpPr>
          <a:xfrm>
            <a:off x="444764" y="4224711"/>
            <a:ext cx="2081266" cy="846734"/>
            <a:chOff x="444764" y="4224711"/>
            <a:chExt cx="2081266" cy="846734"/>
          </a:xfrm>
        </p:grpSpPr>
        <p:sp>
          <p:nvSpPr>
            <p:cNvPr id="18" name="svg0_0"/>
            <p:cNvSpPr/>
            <p:nvPr/>
          </p:nvSpPr>
          <p:spPr>
            <a:xfrm>
              <a:off x="1225205" y="4235775"/>
              <a:ext cx="1300825" cy="716615"/>
            </a:xfrm>
            <a:prstGeom prst="rect">
              <a:avLst/>
            </a:prstGeom>
            <a:solidFill>
              <a:srgbClr val="F3F1F1"/>
            </a:solidFill>
            <a:ln/>
          </p:spPr>
        </p:sp>
        <p:sp>
          <p:nvSpPr>
            <p:cNvPr id="19" name="svg0_1"/>
            <p:cNvSpPr/>
            <p:nvPr/>
          </p:nvSpPr>
          <p:spPr>
            <a:xfrm>
              <a:off x="494233" y="4881890"/>
              <a:ext cx="161300" cy="70592"/>
            </a:xfrm>
            <a:prstGeom prst="rect">
              <a:avLst/>
            </a:prstGeom>
            <a:solidFill>
              <a:srgbClr val="7B1E2B"/>
            </a:solidFill>
            <a:ln/>
          </p:spPr>
        </p:sp>
        <p:sp>
          <p:nvSpPr>
            <p:cNvPr id="20" name="svg0_2"/>
            <p:cNvSpPr txBox="1"/>
            <p:nvPr/>
          </p:nvSpPr>
          <p:spPr>
            <a:xfrm>
              <a:off x="507218" y="4772528"/>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19</a:t>
              </a:r>
              <a:endParaRPr lang="en-US" sz="649" dirty="0"/>
            </a:p>
          </p:txBody>
        </p:sp>
        <p:sp>
          <p:nvSpPr>
            <p:cNvPr id="21" name="svg0_3"/>
            <p:cNvSpPr txBox="1"/>
            <p:nvPr/>
          </p:nvSpPr>
          <p:spPr>
            <a:xfrm>
              <a:off x="487284" y="4966655"/>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23A</a:t>
              </a:r>
              <a:endParaRPr lang="en-US" sz="588" dirty="0"/>
            </a:p>
          </p:txBody>
        </p:sp>
        <p:sp>
          <p:nvSpPr>
            <p:cNvPr id="22" name="svg0_4"/>
            <p:cNvSpPr/>
            <p:nvPr/>
          </p:nvSpPr>
          <p:spPr>
            <a:xfrm>
              <a:off x="754289" y="4840102"/>
              <a:ext cx="161300" cy="112288"/>
            </a:xfrm>
            <a:prstGeom prst="rect">
              <a:avLst/>
            </a:prstGeom>
            <a:solidFill>
              <a:srgbClr val="7B1E2B"/>
            </a:solidFill>
            <a:ln/>
          </p:spPr>
        </p:sp>
        <p:sp>
          <p:nvSpPr>
            <p:cNvPr id="23" name="svg0_5"/>
            <p:cNvSpPr txBox="1"/>
            <p:nvPr/>
          </p:nvSpPr>
          <p:spPr>
            <a:xfrm>
              <a:off x="768828" y="4731288"/>
              <a:ext cx="133320"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31</a:t>
              </a:r>
              <a:endParaRPr lang="en-US" sz="649" dirty="0"/>
            </a:p>
          </p:txBody>
        </p:sp>
        <p:sp>
          <p:nvSpPr>
            <p:cNvPr id="24" name="svg0_6"/>
            <p:cNvSpPr txBox="1"/>
            <p:nvPr/>
          </p:nvSpPr>
          <p:spPr>
            <a:xfrm>
              <a:off x="748436" y="4966655"/>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24A</a:t>
              </a:r>
              <a:endParaRPr lang="en-US" sz="588" dirty="0"/>
            </a:p>
          </p:txBody>
        </p:sp>
        <p:sp>
          <p:nvSpPr>
            <p:cNvPr id="25" name="svg0_7"/>
            <p:cNvSpPr/>
            <p:nvPr/>
          </p:nvSpPr>
          <p:spPr>
            <a:xfrm>
              <a:off x="1014435" y="4779752"/>
              <a:ext cx="161392" cy="172730"/>
            </a:xfrm>
            <a:prstGeom prst="rect">
              <a:avLst/>
            </a:prstGeom>
            <a:solidFill>
              <a:srgbClr val="7B1E2B"/>
            </a:solidFill>
            <a:ln/>
          </p:spPr>
        </p:sp>
        <p:sp>
          <p:nvSpPr>
            <p:cNvPr id="26" name="svg0_8"/>
            <p:cNvSpPr txBox="1"/>
            <p:nvPr/>
          </p:nvSpPr>
          <p:spPr>
            <a:xfrm>
              <a:off x="1027603" y="4670389"/>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48</a:t>
              </a:r>
              <a:endParaRPr lang="en-US" sz="649" dirty="0"/>
            </a:p>
          </p:txBody>
        </p:sp>
        <p:sp>
          <p:nvSpPr>
            <p:cNvPr id="27" name="svg0_9"/>
            <p:cNvSpPr txBox="1"/>
            <p:nvPr/>
          </p:nvSpPr>
          <p:spPr>
            <a:xfrm>
              <a:off x="1007577" y="4966655"/>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25A</a:t>
              </a:r>
              <a:endParaRPr lang="en-US" sz="588" dirty="0"/>
            </a:p>
          </p:txBody>
        </p:sp>
        <p:sp>
          <p:nvSpPr>
            <p:cNvPr id="28" name="svg0_10"/>
            <p:cNvSpPr/>
            <p:nvPr/>
          </p:nvSpPr>
          <p:spPr>
            <a:xfrm>
              <a:off x="1274674" y="4721230"/>
              <a:ext cx="161300" cy="231160"/>
            </a:xfrm>
            <a:prstGeom prst="rect">
              <a:avLst/>
            </a:prstGeom>
            <a:pattFill prst="wdUpDiag">
              <a:fgClr>
                <a:srgbClr val="7B1E2B"/>
              </a:fgClr>
              <a:bgClr>
                <a:srgbClr val="FFFFFF"/>
              </a:bgClr>
            </a:pattFill>
            <a:ln w="7874">
              <a:solidFill>
                <a:srgbClr val="7B1E2B"/>
              </a:solidFill>
              <a:prstDash val="solid"/>
            </a:ln>
          </p:spPr>
        </p:sp>
        <p:sp>
          <p:nvSpPr>
            <p:cNvPr id="29" name="svg0_11"/>
            <p:cNvSpPr txBox="1"/>
            <p:nvPr/>
          </p:nvSpPr>
          <p:spPr>
            <a:xfrm>
              <a:off x="1288755" y="4611502"/>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64</a:t>
              </a:r>
              <a:endParaRPr lang="en-US" sz="649" dirty="0"/>
            </a:p>
          </p:txBody>
        </p:sp>
        <p:sp>
          <p:nvSpPr>
            <p:cNvPr id="30" name="svg0_12"/>
            <p:cNvSpPr txBox="1"/>
            <p:nvPr/>
          </p:nvSpPr>
          <p:spPr>
            <a:xfrm>
              <a:off x="1272753" y="496665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26E</a:t>
              </a:r>
              <a:endParaRPr lang="en-US" sz="588" dirty="0"/>
            </a:p>
          </p:txBody>
        </p:sp>
        <p:sp>
          <p:nvSpPr>
            <p:cNvPr id="31" name="svg0_13"/>
            <p:cNvSpPr/>
            <p:nvPr/>
          </p:nvSpPr>
          <p:spPr>
            <a:xfrm>
              <a:off x="1534729" y="4662891"/>
              <a:ext cx="161300" cy="289590"/>
            </a:xfrm>
            <a:prstGeom prst="rect">
              <a:avLst/>
            </a:prstGeom>
            <a:pattFill prst="wdUpDiag">
              <a:fgClr>
                <a:srgbClr val="7B1E2B"/>
              </a:fgClr>
              <a:bgClr>
                <a:srgbClr val="FFFFFF"/>
              </a:bgClr>
            </a:pattFill>
            <a:ln w="7874">
              <a:solidFill>
                <a:srgbClr val="7B1E2B"/>
              </a:solidFill>
              <a:prstDash val="solid"/>
            </a:ln>
          </p:spPr>
        </p:sp>
        <p:sp>
          <p:nvSpPr>
            <p:cNvPr id="32" name="svg0_14"/>
            <p:cNvSpPr txBox="1"/>
            <p:nvPr/>
          </p:nvSpPr>
          <p:spPr>
            <a:xfrm>
              <a:off x="1547896" y="4553529"/>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80</a:t>
              </a:r>
              <a:endParaRPr lang="en-US" sz="649" dirty="0"/>
            </a:p>
          </p:txBody>
        </p:sp>
        <p:sp>
          <p:nvSpPr>
            <p:cNvPr id="33" name="svg0_15"/>
            <p:cNvSpPr txBox="1"/>
            <p:nvPr/>
          </p:nvSpPr>
          <p:spPr>
            <a:xfrm>
              <a:off x="1531986" y="496665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27E</a:t>
              </a:r>
              <a:endParaRPr lang="en-US" sz="588" dirty="0"/>
            </a:p>
          </p:txBody>
        </p:sp>
        <p:sp>
          <p:nvSpPr>
            <p:cNvPr id="34" name="svg0_16"/>
            <p:cNvSpPr/>
            <p:nvPr/>
          </p:nvSpPr>
          <p:spPr>
            <a:xfrm>
              <a:off x="1794876" y="4551517"/>
              <a:ext cx="161392" cy="400873"/>
            </a:xfrm>
            <a:prstGeom prst="rect">
              <a:avLst/>
            </a:prstGeom>
            <a:pattFill prst="wdUpDiag">
              <a:fgClr>
                <a:srgbClr val="7B1E2B"/>
              </a:fgClr>
              <a:bgClr>
                <a:srgbClr val="FFFFFF"/>
              </a:bgClr>
            </a:pattFill>
            <a:ln w="7874">
              <a:solidFill>
                <a:srgbClr val="7B1E2B"/>
              </a:solidFill>
              <a:prstDash val="solid"/>
            </a:ln>
          </p:spPr>
        </p:sp>
        <p:sp>
          <p:nvSpPr>
            <p:cNvPr id="35" name="svg0_17"/>
            <p:cNvSpPr txBox="1"/>
            <p:nvPr/>
          </p:nvSpPr>
          <p:spPr>
            <a:xfrm>
              <a:off x="1785366" y="4442612"/>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110</a:t>
              </a:r>
              <a:endParaRPr lang="en-US" sz="649" dirty="0"/>
            </a:p>
          </p:txBody>
        </p:sp>
        <p:sp>
          <p:nvSpPr>
            <p:cNvPr id="36" name="svg0_18"/>
            <p:cNvSpPr txBox="1"/>
            <p:nvPr/>
          </p:nvSpPr>
          <p:spPr>
            <a:xfrm>
              <a:off x="1793047" y="496665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28E</a:t>
              </a:r>
              <a:endParaRPr lang="en-US" sz="588" dirty="0"/>
            </a:p>
          </p:txBody>
        </p:sp>
        <p:sp>
          <p:nvSpPr>
            <p:cNvPr id="37" name="svg0_19"/>
            <p:cNvSpPr/>
            <p:nvPr/>
          </p:nvSpPr>
          <p:spPr>
            <a:xfrm>
              <a:off x="2055114" y="4438223"/>
              <a:ext cx="161300" cy="514167"/>
            </a:xfrm>
            <a:prstGeom prst="rect">
              <a:avLst/>
            </a:prstGeom>
            <a:pattFill prst="wdUpDiag">
              <a:fgClr>
                <a:srgbClr val="7B1E2B"/>
              </a:fgClr>
              <a:bgClr>
                <a:srgbClr val="FFFFFF"/>
              </a:bgClr>
            </a:pattFill>
            <a:ln w="7874">
              <a:solidFill>
                <a:srgbClr val="7B1E2B"/>
              </a:solidFill>
              <a:prstDash val="solid"/>
            </a:ln>
          </p:spPr>
        </p:sp>
        <p:sp>
          <p:nvSpPr>
            <p:cNvPr id="38" name="svg0_20"/>
            <p:cNvSpPr txBox="1"/>
            <p:nvPr/>
          </p:nvSpPr>
          <p:spPr>
            <a:xfrm>
              <a:off x="2044507" y="4328770"/>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142</a:t>
              </a:r>
              <a:endParaRPr lang="en-US" sz="649" dirty="0"/>
            </a:p>
          </p:txBody>
        </p:sp>
        <p:sp>
          <p:nvSpPr>
            <p:cNvPr id="39" name="svg0_21"/>
            <p:cNvSpPr txBox="1"/>
            <p:nvPr/>
          </p:nvSpPr>
          <p:spPr>
            <a:xfrm>
              <a:off x="2052279" y="496665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29E</a:t>
              </a:r>
              <a:endParaRPr lang="en-US" sz="588" dirty="0"/>
            </a:p>
          </p:txBody>
        </p:sp>
        <p:sp>
          <p:nvSpPr>
            <p:cNvPr id="40" name="svg0_22"/>
            <p:cNvSpPr/>
            <p:nvPr/>
          </p:nvSpPr>
          <p:spPr>
            <a:xfrm>
              <a:off x="2315261" y="4333982"/>
              <a:ext cx="161392" cy="618500"/>
            </a:xfrm>
            <a:prstGeom prst="rect">
              <a:avLst/>
            </a:prstGeom>
            <a:pattFill prst="wdUpDiag">
              <a:fgClr>
                <a:srgbClr val="7B1E2B"/>
              </a:fgClr>
              <a:bgClr>
                <a:srgbClr val="FFFFFF"/>
              </a:bgClr>
            </a:pattFill>
            <a:ln w="7874">
              <a:solidFill>
                <a:srgbClr val="7B1E2B"/>
              </a:solidFill>
              <a:prstDash val="solid"/>
            </a:ln>
          </p:spPr>
        </p:sp>
        <p:sp>
          <p:nvSpPr>
            <p:cNvPr id="41" name="svg0_23"/>
            <p:cNvSpPr txBox="1"/>
            <p:nvPr/>
          </p:nvSpPr>
          <p:spPr>
            <a:xfrm>
              <a:off x="2305568" y="4224711"/>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170</a:t>
              </a:r>
              <a:endParaRPr lang="en-US" sz="649" dirty="0"/>
            </a:p>
          </p:txBody>
        </p:sp>
        <p:sp>
          <p:nvSpPr>
            <p:cNvPr id="42" name="svg0_24"/>
            <p:cNvSpPr txBox="1"/>
            <p:nvPr/>
          </p:nvSpPr>
          <p:spPr>
            <a:xfrm>
              <a:off x="2313341" y="496665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30E</a:t>
              </a:r>
              <a:endParaRPr lang="en-US" sz="588" dirty="0"/>
            </a:p>
          </p:txBody>
        </p:sp>
        <p:sp>
          <p:nvSpPr>
            <p:cNvPr id="43" name="svg0_25"/>
            <p:cNvSpPr/>
            <p:nvPr/>
          </p:nvSpPr>
          <p:spPr>
            <a:xfrm>
              <a:off x="444764" y="4952390"/>
              <a:ext cx="2081266" cy="0"/>
            </a:xfrm>
            <a:prstGeom prst="line">
              <a:avLst/>
            </a:prstGeom>
            <a:noFill/>
            <a:ln w="6858">
              <a:solidFill>
                <a:srgbClr val="8C8C8C"/>
              </a:solidFill>
              <a:prstDash val="solid"/>
            </a:ln>
          </p:spPr>
        </p:sp>
      </p:grpSp>
      <p:grpSp>
        <p:nvGrpSpPr>
          <p:cNvPr id="138" name="Fig. 01 – biểu đồ"/>
          <p:cNvGrpSpPr/>
          <p:nvPr/>
        </p:nvGrpSpPr>
        <p:grpSpPr>
          <a:xfrm>
            <a:off x="383591" y="5216835"/>
            <a:ext cx="2199864" cy="556412"/>
            <a:chOff x="383591" y="5216835"/>
            <a:chExt cx="2199864" cy="556412"/>
          </a:xfrm>
        </p:grpSpPr>
        <p:sp>
          <p:nvSpPr>
            <p:cNvPr id="44" name="svg1_26"/>
            <p:cNvSpPr/>
            <p:nvPr/>
          </p:nvSpPr>
          <p:spPr>
            <a:xfrm>
              <a:off x="1300277" y="5234117"/>
              <a:ext cx="1225753" cy="422178"/>
            </a:xfrm>
            <a:prstGeom prst="rect">
              <a:avLst/>
            </a:prstGeom>
            <a:solidFill>
              <a:srgbClr val="F3F1F1"/>
            </a:solidFill>
            <a:ln/>
          </p:spPr>
        </p:sp>
        <p:sp>
          <p:nvSpPr>
            <p:cNvPr id="45" name="svg1_27"/>
            <p:cNvSpPr/>
            <p:nvPr/>
          </p:nvSpPr>
          <p:spPr>
            <a:xfrm>
              <a:off x="621426" y="5656204"/>
              <a:ext cx="1885036" cy="0"/>
            </a:xfrm>
            <a:prstGeom prst="line">
              <a:avLst/>
            </a:prstGeom>
            <a:noFill/>
            <a:ln w="4953">
              <a:solidFill>
                <a:srgbClr val="E4E4E4"/>
              </a:solidFill>
              <a:prstDash val="solid"/>
            </a:ln>
          </p:spPr>
        </p:sp>
        <p:sp>
          <p:nvSpPr>
            <p:cNvPr id="46" name="svg1_28"/>
            <p:cNvSpPr txBox="1"/>
            <p:nvPr/>
          </p:nvSpPr>
          <p:spPr>
            <a:xfrm>
              <a:off x="383591" y="5605546"/>
              <a:ext cx="224851"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47" name="svg1_29"/>
            <p:cNvSpPr/>
            <p:nvPr/>
          </p:nvSpPr>
          <p:spPr>
            <a:xfrm>
              <a:off x="621426" y="5495270"/>
              <a:ext cx="1885036" cy="0"/>
            </a:xfrm>
            <a:prstGeom prst="line">
              <a:avLst/>
            </a:prstGeom>
            <a:noFill/>
            <a:ln w="4953">
              <a:solidFill>
                <a:srgbClr val="E4E4E4"/>
              </a:solidFill>
              <a:prstDash val="solid"/>
            </a:ln>
          </p:spPr>
        </p:sp>
        <p:sp>
          <p:nvSpPr>
            <p:cNvPr id="48" name="svg1_30"/>
            <p:cNvSpPr txBox="1"/>
            <p:nvPr/>
          </p:nvSpPr>
          <p:spPr>
            <a:xfrm>
              <a:off x="464424" y="5444612"/>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49" name="svg1_31"/>
            <p:cNvSpPr/>
            <p:nvPr/>
          </p:nvSpPr>
          <p:spPr>
            <a:xfrm>
              <a:off x="621426" y="5334244"/>
              <a:ext cx="1885036" cy="0"/>
            </a:xfrm>
            <a:prstGeom prst="line">
              <a:avLst/>
            </a:prstGeom>
            <a:noFill/>
            <a:ln w="4953">
              <a:solidFill>
                <a:srgbClr val="E4E4E4"/>
              </a:solidFill>
              <a:prstDash val="solid"/>
            </a:ln>
          </p:spPr>
        </p:sp>
        <p:sp>
          <p:nvSpPr>
            <p:cNvPr id="50" name="svg1_32"/>
            <p:cNvSpPr txBox="1"/>
            <p:nvPr/>
          </p:nvSpPr>
          <p:spPr>
            <a:xfrm>
              <a:off x="423642" y="5283586"/>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51" name="svg1_33"/>
            <p:cNvSpPr/>
            <p:nvPr/>
          </p:nvSpPr>
          <p:spPr>
            <a:xfrm>
              <a:off x="621426" y="5495270"/>
              <a:ext cx="1885036" cy="0"/>
            </a:xfrm>
            <a:prstGeom prst="line">
              <a:avLst/>
            </a:prstGeom>
            <a:noFill/>
            <a:ln w="6858">
              <a:solidFill>
                <a:srgbClr val="8C8C8C"/>
              </a:solidFill>
              <a:prstDash val="solid"/>
            </a:ln>
          </p:spPr>
        </p:sp>
        <p:sp>
          <p:nvSpPr>
            <p:cNvPr id="52" name="svg1_34"/>
            <p:cNvSpPr txBox="1"/>
            <p:nvPr/>
          </p:nvSpPr>
          <p:spPr>
            <a:xfrm>
              <a:off x="554035" y="5668457"/>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23A</a:t>
              </a:r>
              <a:endParaRPr lang="en-US" sz="588" dirty="0"/>
            </a:p>
          </p:txBody>
        </p:sp>
        <p:sp>
          <p:nvSpPr>
            <p:cNvPr id="53" name="svg1_35"/>
            <p:cNvSpPr txBox="1"/>
            <p:nvPr/>
          </p:nvSpPr>
          <p:spPr>
            <a:xfrm>
              <a:off x="818114" y="5668457"/>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24A</a:t>
              </a:r>
              <a:endParaRPr lang="en-US" sz="588" dirty="0"/>
            </a:p>
          </p:txBody>
        </p:sp>
        <p:sp>
          <p:nvSpPr>
            <p:cNvPr id="54" name="svg1_36"/>
            <p:cNvSpPr txBox="1"/>
            <p:nvPr/>
          </p:nvSpPr>
          <p:spPr>
            <a:xfrm>
              <a:off x="1081187" y="5668457"/>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25A</a:t>
              </a:r>
              <a:endParaRPr lang="en-US" sz="588" dirty="0"/>
            </a:p>
          </p:txBody>
        </p:sp>
        <p:sp>
          <p:nvSpPr>
            <p:cNvPr id="55" name="svg1_37"/>
            <p:cNvSpPr txBox="1"/>
            <p:nvPr/>
          </p:nvSpPr>
          <p:spPr>
            <a:xfrm>
              <a:off x="1349380" y="5668457"/>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26E</a:t>
              </a:r>
              <a:endParaRPr lang="en-US" sz="588" dirty="0"/>
            </a:p>
          </p:txBody>
        </p:sp>
        <p:sp>
          <p:nvSpPr>
            <p:cNvPr id="56" name="svg1_38"/>
            <p:cNvSpPr txBox="1"/>
            <p:nvPr/>
          </p:nvSpPr>
          <p:spPr>
            <a:xfrm>
              <a:off x="1612453" y="5668457"/>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27E</a:t>
              </a:r>
              <a:endParaRPr lang="en-US" sz="588" dirty="0"/>
            </a:p>
          </p:txBody>
        </p:sp>
        <p:sp>
          <p:nvSpPr>
            <p:cNvPr id="57" name="svg1_39"/>
            <p:cNvSpPr txBox="1"/>
            <p:nvPr/>
          </p:nvSpPr>
          <p:spPr>
            <a:xfrm>
              <a:off x="1876532" y="5668457"/>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28E</a:t>
              </a:r>
              <a:endParaRPr lang="en-US" sz="588" dirty="0"/>
            </a:p>
          </p:txBody>
        </p:sp>
        <p:sp>
          <p:nvSpPr>
            <p:cNvPr id="58" name="svg1_40"/>
            <p:cNvSpPr txBox="1"/>
            <p:nvPr/>
          </p:nvSpPr>
          <p:spPr>
            <a:xfrm>
              <a:off x="2139605" y="5668457"/>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29E</a:t>
              </a:r>
              <a:endParaRPr lang="en-US" sz="588" dirty="0"/>
            </a:p>
          </p:txBody>
        </p:sp>
        <p:sp>
          <p:nvSpPr>
            <p:cNvPr id="59" name="svg1_41"/>
            <p:cNvSpPr txBox="1"/>
            <p:nvPr/>
          </p:nvSpPr>
          <p:spPr>
            <a:xfrm>
              <a:off x="2403775" y="5668457"/>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30E</a:t>
              </a:r>
              <a:endParaRPr lang="en-US" sz="588" dirty="0"/>
            </a:p>
          </p:txBody>
        </p:sp>
        <p:sp>
          <p:nvSpPr>
            <p:cNvPr id="60" name="svg1_42"/>
            <p:cNvSpPr/>
            <p:nvPr/>
          </p:nvSpPr>
          <p:spPr>
            <a:xfrm>
              <a:off x="640994" y="5332506"/>
              <a:ext cx="1845716" cy="277155"/>
            </a:xfrm>
            <a:custGeom>
              <a:avLst/>
              <a:gdLst/>
              <a:ahLst/>
              <a:cxnLst/>
              <a:rect l="l" t="t" r="r" b="b"/>
              <a:pathLst>
                <a:path w="1845716" h="277155">
                  <a:moveTo>
                    <a:pt x="0" y="277155"/>
                  </a:moveTo>
                  <a:lnTo>
                    <a:pt x="263713" y="110368"/>
                  </a:lnTo>
                  <a:lnTo>
                    <a:pt x="527334" y="32461"/>
                  </a:lnTo>
                  <a:lnTo>
                    <a:pt x="791047" y="18837"/>
                  </a:lnTo>
                  <a:lnTo>
                    <a:pt x="1054669" y="18745"/>
                  </a:lnTo>
                  <a:lnTo>
                    <a:pt x="1318473" y="33376"/>
                  </a:lnTo>
                  <a:lnTo>
                    <a:pt x="1582003" y="9693"/>
                  </a:lnTo>
                  <a:lnTo>
                    <a:pt x="1845716" y="0"/>
                  </a:lnTo>
                </a:path>
              </a:pathLst>
            </a:custGeom>
            <a:noFill/>
            <a:ln w="15748">
              <a:solidFill>
                <a:srgbClr val="7B1E2B"/>
              </a:solidFill>
              <a:prstDash val="solid"/>
            </a:ln>
          </p:spPr>
        </p:sp>
        <p:sp>
          <p:nvSpPr>
            <p:cNvPr id="61" name="svg1_43"/>
            <p:cNvSpPr/>
            <p:nvPr/>
          </p:nvSpPr>
          <p:spPr>
            <a:xfrm>
              <a:off x="620420" y="5589087"/>
              <a:ext cx="41239" cy="41239"/>
            </a:xfrm>
            <a:prstGeom prst="ellipse">
              <a:avLst/>
            </a:prstGeom>
            <a:solidFill>
              <a:srgbClr val="7B1E2B"/>
            </a:solidFill>
            <a:ln w="7874">
              <a:solidFill>
                <a:srgbClr val="FFFFFF"/>
              </a:solidFill>
              <a:prstDash val="solid"/>
            </a:ln>
          </p:spPr>
        </p:sp>
        <p:sp>
          <p:nvSpPr>
            <p:cNvPr id="62" name="svg1_44"/>
            <p:cNvSpPr/>
            <p:nvPr/>
          </p:nvSpPr>
          <p:spPr>
            <a:xfrm>
              <a:off x="884225" y="5422301"/>
              <a:ext cx="41239" cy="41239"/>
            </a:xfrm>
            <a:prstGeom prst="ellipse">
              <a:avLst/>
            </a:prstGeom>
            <a:solidFill>
              <a:srgbClr val="7B1E2B"/>
            </a:solidFill>
            <a:ln w="7874">
              <a:solidFill>
                <a:srgbClr val="FFFFFF"/>
              </a:solidFill>
              <a:prstDash val="solid"/>
            </a:ln>
          </p:spPr>
        </p:sp>
        <p:sp>
          <p:nvSpPr>
            <p:cNvPr id="63" name="svg1_45"/>
            <p:cNvSpPr/>
            <p:nvPr/>
          </p:nvSpPr>
          <p:spPr>
            <a:xfrm>
              <a:off x="1147755" y="5344394"/>
              <a:ext cx="41239" cy="41239"/>
            </a:xfrm>
            <a:prstGeom prst="ellipse">
              <a:avLst/>
            </a:prstGeom>
            <a:solidFill>
              <a:srgbClr val="7B1E2B"/>
            </a:solidFill>
            <a:ln w="7874">
              <a:solidFill>
                <a:srgbClr val="FFFFFF"/>
              </a:solidFill>
              <a:prstDash val="solid"/>
            </a:ln>
          </p:spPr>
        </p:sp>
        <p:sp>
          <p:nvSpPr>
            <p:cNvPr id="64" name="svg1_46"/>
            <p:cNvSpPr/>
            <p:nvPr/>
          </p:nvSpPr>
          <p:spPr>
            <a:xfrm>
              <a:off x="1411468" y="5330769"/>
              <a:ext cx="41239" cy="41239"/>
            </a:xfrm>
            <a:prstGeom prst="ellipse">
              <a:avLst/>
            </a:prstGeom>
            <a:solidFill>
              <a:srgbClr val="7B1E2B"/>
            </a:solidFill>
            <a:ln w="7874">
              <a:solidFill>
                <a:srgbClr val="FFFFFF"/>
              </a:solidFill>
              <a:prstDash val="solid"/>
            </a:ln>
          </p:spPr>
        </p:sp>
        <p:sp>
          <p:nvSpPr>
            <p:cNvPr id="65" name="svg1_47"/>
            <p:cNvSpPr/>
            <p:nvPr/>
          </p:nvSpPr>
          <p:spPr>
            <a:xfrm>
              <a:off x="1675181" y="5330678"/>
              <a:ext cx="41239" cy="41239"/>
            </a:xfrm>
            <a:prstGeom prst="ellipse">
              <a:avLst/>
            </a:prstGeom>
            <a:solidFill>
              <a:srgbClr val="7B1E2B"/>
            </a:solidFill>
            <a:ln w="7874">
              <a:solidFill>
                <a:srgbClr val="FFFFFF"/>
              </a:solidFill>
              <a:prstDash val="solid"/>
            </a:ln>
          </p:spPr>
        </p:sp>
        <p:sp>
          <p:nvSpPr>
            <p:cNvPr id="66" name="svg1_48"/>
            <p:cNvSpPr/>
            <p:nvPr/>
          </p:nvSpPr>
          <p:spPr>
            <a:xfrm>
              <a:off x="1938894" y="5345217"/>
              <a:ext cx="41239" cy="41239"/>
            </a:xfrm>
            <a:prstGeom prst="ellipse">
              <a:avLst/>
            </a:prstGeom>
            <a:solidFill>
              <a:srgbClr val="7B1E2B"/>
            </a:solidFill>
            <a:ln w="7874">
              <a:solidFill>
                <a:srgbClr val="FFFFFF"/>
              </a:solidFill>
              <a:prstDash val="solid"/>
            </a:ln>
          </p:spPr>
        </p:sp>
        <p:sp>
          <p:nvSpPr>
            <p:cNvPr id="67" name="svg1_49"/>
            <p:cNvSpPr/>
            <p:nvPr/>
          </p:nvSpPr>
          <p:spPr>
            <a:xfrm>
              <a:off x="2202424" y="5321625"/>
              <a:ext cx="41239" cy="41239"/>
            </a:xfrm>
            <a:prstGeom prst="ellipse">
              <a:avLst/>
            </a:prstGeom>
            <a:solidFill>
              <a:srgbClr val="7B1E2B"/>
            </a:solidFill>
            <a:ln w="7874">
              <a:solidFill>
                <a:srgbClr val="FFFFFF"/>
              </a:solidFill>
              <a:prstDash val="solid"/>
            </a:ln>
          </p:spPr>
        </p:sp>
        <p:sp>
          <p:nvSpPr>
            <p:cNvPr id="68" name="svg1_50"/>
            <p:cNvSpPr/>
            <p:nvPr/>
          </p:nvSpPr>
          <p:spPr>
            <a:xfrm>
              <a:off x="2466228" y="5311932"/>
              <a:ext cx="41239" cy="41239"/>
            </a:xfrm>
            <a:prstGeom prst="ellipse">
              <a:avLst/>
            </a:prstGeom>
            <a:solidFill>
              <a:srgbClr val="7B1E2B"/>
            </a:solidFill>
            <a:ln w="7874">
              <a:solidFill>
                <a:srgbClr val="FFFFFF"/>
              </a:solidFill>
              <a:prstDash val="solid"/>
            </a:ln>
          </p:spPr>
        </p:sp>
        <p:sp>
          <p:nvSpPr>
            <p:cNvPr id="69" name="svg1_51"/>
            <p:cNvSpPr txBox="1"/>
            <p:nvPr/>
          </p:nvSpPr>
          <p:spPr>
            <a:xfrm>
              <a:off x="680405" y="5568330"/>
              <a:ext cx="231709" cy="104790"/>
            </a:xfrm>
            <a:prstGeom prst="rect">
              <a:avLst/>
            </a:prstGeom>
            <a:no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−14%</a:t>
              </a:r>
              <a:endParaRPr lang="en-US" sz="588" dirty="0"/>
            </a:p>
          </p:txBody>
        </p:sp>
        <p:sp>
          <p:nvSpPr>
            <p:cNvPr id="70" name="svg1_52"/>
            <p:cNvSpPr txBox="1"/>
            <p:nvPr/>
          </p:nvSpPr>
          <p:spPr>
            <a:xfrm>
              <a:off x="1075517" y="5249205"/>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16%</a:t>
              </a:r>
              <a:endParaRPr lang="en-US" sz="588" dirty="0"/>
            </a:p>
          </p:txBody>
        </p:sp>
        <p:sp>
          <p:nvSpPr>
            <p:cNvPr id="71" name="svg1_53"/>
            <p:cNvSpPr txBox="1"/>
            <p:nvPr/>
          </p:nvSpPr>
          <p:spPr>
            <a:xfrm>
              <a:off x="1339505" y="5235489"/>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18%</a:t>
              </a:r>
              <a:endParaRPr lang="en-US" sz="588" dirty="0"/>
            </a:p>
          </p:txBody>
        </p:sp>
        <p:sp>
          <p:nvSpPr>
            <p:cNvPr id="72" name="svg1_54"/>
            <p:cNvSpPr txBox="1"/>
            <p:nvPr/>
          </p:nvSpPr>
          <p:spPr>
            <a:xfrm>
              <a:off x="1866748" y="5382798"/>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16%</a:t>
              </a:r>
              <a:endParaRPr lang="en-US" sz="588" dirty="0"/>
            </a:p>
          </p:txBody>
        </p:sp>
        <p:sp>
          <p:nvSpPr>
            <p:cNvPr id="73" name="svg1_55"/>
            <p:cNvSpPr txBox="1"/>
            <p:nvPr/>
          </p:nvSpPr>
          <p:spPr>
            <a:xfrm>
              <a:off x="2393991" y="5216835"/>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20%</a:t>
              </a:r>
              <a:endParaRPr lang="en-US" sz="588" dirty="0"/>
            </a:p>
          </p:txBody>
        </p:sp>
      </p:grpSp>
      <p:grpSp>
        <p:nvGrpSpPr>
          <p:cNvPr id="139" name="Fig. 02 – biểu đồ"/>
          <p:cNvGrpSpPr/>
          <p:nvPr/>
        </p:nvGrpSpPr>
        <p:grpSpPr>
          <a:xfrm>
            <a:off x="291785" y="6357000"/>
            <a:ext cx="2275027" cy="949056"/>
            <a:chOff x="291785" y="6357000"/>
            <a:chExt cx="2275027" cy="949056"/>
          </a:xfrm>
        </p:grpSpPr>
        <p:sp>
          <p:nvSpPr>
            <p:cNvPr id="74" name="svg2_56"/>
            <p:cNvSpPr/>
            <p:nvPr/>
          </p:nvSpPr>
          <p:spPr>
            <a:xfrm>
              <a:off x="1112368" y="6457767"/>
              <a:ext cx="0" cy="736275"/>
            </a:xfrm>
            <a:prstGeom prst="line">
              <a:avLst/>
            </a:prstGeom>
            <a:noFill/>
            <a:ln w="4953">
              <a:solidFill>
                <a:srgbClr val="E4E4E4"/>
              </a:solidFill>
              <a:prstDash val="solid"/>
            </a:ln>
          </p:spPr>
        </p:sp>
        <p:sp>
          <p:nvSpPr>
            <p:cNvPr id="75" name="svg2_57"/>
            <p:cNvSpPr txBox="1"/>
            <p:nvPr/>
          </p:nvSpPr>
          <p:spPr>
            <a:xfrm>
              <a:off x="1072683" y="7201266"/>
              <a:ext cx="8156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76" name="svg2_58"/>
            <p:cNvSpPr/>
            <p:nvPr/>
          </p:nvSpPr>
          <p:spPr>
            <a:xfrm>
              <a:off x="1383304" y="6457767"/>
              <a:ext cx="0" cy="736275"/>
            </a:xfrm>
            <a:prstGeom prst="line">
              <a:avLst/>
            </a:prstGeom>
            <a:noFill/>
            <a:ln w="4953">
              <a:solidFill>
                <a:srgbClr val="E4E4E4"/>
              </a:solidFill>
              <a:prstDash val="solid"/>
            </a:ln>
          </p:spPr>
        </p:sp>
        <p:sp>
          <p:nvSpPr>
            <p:cNvPr id="77" name="svg2_59"/>
            <p:cNvSpPr txBox="1"/>
            <p:nvPr/>
          </p:nvSpPr>
          <p:spPr>
            <a:xfrm>
              <a:off x="1323320" y="7201266"/>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78" name="svg2_60"/>
            <p:cNvSpPr/>
            <p:nvPr/>
          </p:nvSpPr>
          <p:spPr>
            <a:xfrm>
              <a:off x="1654241" y="6457767"/>
              <a:ext cx="0" cy="736275"/>
            </a:xfrm>
            <a:prstGeom prst="line">
              <a:avLst/>
            </a:prstGeom>
            <a:noFill/>
            <a:ln w="4953">
              <a:solidFill>
                <a:srgbClr val="E4E4E4"/>
              </a:solidFill>
              <a:prstDash val="solid"/>
            </a:ln>
          </p:spPr>
        </p:sp>
        <p:sp>
          <p:nvSpPr>
            <p:cNvPr id="79" name="svg2_61"/>
            <p:cNvSpPr txBox="1"/>
            <p:nvPr/>
          </p:nvSpPr>
          <p:spPr>
            <a:xfrm>
              <a:off x="1594165" y="7201266"/>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40</a:t>
              </a:r>
              <a:endParaRPr lang="en-US" sz="557" dirty="0"/>
            </a:p>
          </p:txBody>
        </p:sp>
        <p:sp>
          <p:nvSpPr>
            <p:cNvPr id="80" name="svg2_62"/>
            <p:cNvSpPr/>
            <p:nvPr/>
          </p:nvSpPr>
          <p:spPr>
            <a:xfrm>
              <a:off x="1925178" y="6457767"/>
              <a:ext cx="0" cy="736275"/>
            </a:xfrm>
            <a:prstGeom prst="line">
              <a:avLst/>
            </a:prstGeom>
            <a:noFill/>
            <a:ln w="4953">
              <a:solidFill>
                <a:srgbClr val="E4E4E4"/>
              </a:solidFill>
              <a:prstDash val="solid"/>
            </a:ln>
          </p:spPr>
        </p:sp>
        <p:sp>
          <p:nvSpPr>
            <p:cNvPr id="81" name="svg2_63"/>
            <p:cNvSpPr txBox="1"/>
            <p:nvPr/>
          </p:nvSpPr>
          <p:spPr>
            <a:xfrm>
              <a:off x="1865193" y="7201266"/>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60</a:t>
              </a:r>
              <a:endParaRPr lang="en-US" sz="557" dirty="0"/>
            </a:p>
          </p:txBody>
        </p:sp>
        <p:sp>
          <p:nvSpPr>
            <p:cNvPr id="82" name="svg2_64"/>
            <p:cNvSpPr/>
            <p:nvPr/>
          </p:nvSpPr>
          <p:spPr>
            <a:xfrm>
              <a:off x="2196206" y="6457767"/>
              <a:ext cx="0" cy="736275"/>
            </a:xfrm>
            <a:prstGeom prst="line">
              <a:avLst/>
            </a:prstGeom>
            <a:noFill/>
            <a:ln w="4953">
              <a:solidFill>
                <a:srgbClr val="E4E4E4"/>
              </a:solidFill>
              <a:prstDash val="solid"/>
            </a:ln>
          </p:spPr>
        </p:sp>
        <p:sp>
          <p:nvSpPr>
            <p:cNvPr id="83" name="svg2_65"/>
            <p:cNvSpPr txBox="1"/>
            <p:nvPr/>
          </p:nvSpPr>
          <p:spPr>
            <a:xfrm>
              <a:off x="2136130" y="7201266"/>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80</a:t>
              </a:r>
              <a:endParaRPr lang="en-US" sz="557" dirty="0"/>
            </a:p>
          </p:txBody>
        </p:sp>
        <p:sp>
          <p:nvSpPr>
            <p:cNvPr id="84" name="svg2_66"/>
            <p:cNvSpPr/>
            <p:nvPr/>
          </p:nvSpPr>
          <p:spPr>
            <a:xfrm>
              <a:off x="2467051" y="6457767"/>
              <a:ext cx="0" cy="736275"/>
            </a:xfrm>
            <a:prstGeom prst="line">
              <a:avLst/>
            </a:prstGeom>
            <a:noFill/>
            <a:ln w="4953">
              <a:solidFill>
                <a:srgbClr val="E4E4E4"/>
              </a:solidFill>
              <a:prstDash val="solid"/>
            </a:ln>
          </p:spPr>
        </p:sp>
        <p:sp>
          <p:nvSpPr>
            <p:cNvPr id="85" name="svg2_67"/>
            <p:cNvSpPr txBox="1"/>
            <p:nvPr/>
          </p:nvSpPr>
          <p:spPr>
            <a:xfrm>
              <a:off x="2386675" y="7201266"/>
              <a:ext cx="163038"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100</a:t>
              </a:r>
              <a:endParaRPr lang="en-US" sz="557" dirty="0"/>
            </a:p>
          </p:txBody>
        </p:sp>
        <p:sp>
          <p:nvSpPr>
            <p:cNvPr id="86" name="svg2_68"/>
            <p:cNvSpPr txBox="1"/>
            <p:nvPr/>
          </p:nvSpPr>
          <p:spPr>
            <a:xfrm>
              <a:off x="897666" y="6483645"/>
              <a:ext cx="17913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DCF</a:t>
              </a:r>
              <a:endParaRPr lang="en-US" sz="587" dirty="0"/>
            </a:p>
          </p:txBody>
        </p:sp>
        <p:sp>
          <p:nvSpPr>
            <p:cNvPr id="87" name="svg2_69"/>
            <p:cNvSpPr/>
            <p:nvPr/>
          </p:nvSpPr>
          <p:spPr>
            <a:xfrm>
              <a:off x="1485168" y="6487211"/>
              <a:ext cx="396667" cy="88331"/>
            </a:xfrm>
            <a:prstGeom prst="rect">
              <a:avLst/>
            </a:prstGeom>
            <a:solidFill>
              <a:srgbClr val="404040"/>
            </a:solidFill>
            <a:ln/>
          </p:spPr>
        </p:sp>
        <p:sp>
          <p:nvSpPr>
            <p:cNvPr id="88" name="svg2_70"/>
            <p:cNvSpPr txBox="1"/>
            <p:nvPr/>
          </p:nvSpPr>
          <p:spPr>
            <a:xfrm>
              <a:off x="1284915" y="6483645"/>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27,5</a:t>
              </a:r>
              <a:endParaRPr lang="en-US" sz="557" dirty="0"/>
            </a:p>
          </p:txBody>
        </p:sp>
        <p:sp>
          <p:nvSpPr>
            <p:cNvPr id="89" name="svg2_71"/>
            <p:cNvSpPr txBox="1"/>
            <p:nvPr/>
          </p:nvSpPr>
          <p:spPr>
            <a:xfrm>
              <a:off x="1901678" y="6483645"/>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56,8</a:t>
              </a:r>
              <a:endParaRPr lang="en-US" sz="557" dirty="0"/>
            </a:p>
          </p:txBody>
        </p:sp>
        <p:sp>
          <p:nvSpPr>
            <p:cNvPr id="90" name="svg2_72"/>
            <p:cNvSpPr/>
            <p:nvPr/>
          </p:nvSpPr>
          <p:spPr>
            <a:xfrm>
              <a:off x="1639794" y="6475415"/>
              <a:ext cx="0" cy="111923"/>
            </a:xfrm>
            <a:prstGeom prst="line">
              <a:avLst/>
            </a:prstGeom>
            <a:noFill/>
            <a:ln w="13716">
              <a:solidFill>
                <a:srgbClr val="FFFFFF"/>
              </a:solidFill>
              <a:prstDash val="solid"/>
            </a:ln>
          </p:spPr>
        </p:sp>
        <p:sp>
          <p:nvSpPr>
            <p:cNvPr id="91" name="svg2_73"/>
            <p:cNvSpPr txBox="1"/>
            <p:nvPr/>
          </p:nvSpPr>
          <p:spPr>
            <a:xfrm>
              <a:off x="645749" y="6660398"/>
              <a:ext cx="42729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VC Method</a:t>
              </a:r>
              <a:endParaRPr lang="en-US" sz="587" dirty="0"/>
            </a:p>
          </p:txBody>
        </p:sp>
        <p:sp>
          <p:nvSpPr>
            <p:cNvPr id="92" name="svg2_74"/>
            <p:cNvSpPr/>
            <p:nvPr/>
          </p:nvSpPr>
          <p:spPr>
            <a:xfrm>
              <a:off x="1261049" y="6663873"/>
              <a:ext cx="394289" cy="88422"/>
            </a:xfrm>
            <a:prstGeom prst="rect">
              <a:avLst/>
            </a:prstGeom>
            <a:solidFill>
              <a:srgbClr val="A3A3A3"/>
            </a:solidFill>
            <a:ln/>
          </p:spPr>
        </p:sp>
        <p:sp>
          <p:nvSpPr>
            <p:cNvPr id="93" name="svg2_75"/>
            <p:cNvSpPr txBox="1"/>
            <p:nvPr/>
          </p:nvSpPr>
          <p:spPr>
            <a:xfrm>
              <a:off x="1061161" y="6660398"/>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11,0</a:t>
              </a:r>
              <a:endParaRPr lang="en-US" sz="557" dirty="0"/>
            </a:p>
          </p:txBody>
        </p:sp>
        <p:sp>
          <p:nvSpPr>
            <p:cNvPr id="94" name="svg2_76"/>
            <p:cNvSpPr txBox="1"/>
            <p:nvPr/>
          </p:nvSpPr>
          <p:spPr>
            <a:xfrm>
              <a:off x="1674906" y="6660398"/>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40,1</a:t>
              </a:r>
              <a:endParaRPr lang="en-US" sz="557" dirty="0"/>
            </a:p>
          </p:txBody>
        </p:sp>
        <p:sp>
          <p:nvSpPr>
            <p:cNvPr id="95" name="svg2_77"/>
            <p:cNvSpPr/>
            <p:nvPr/>
          </p:nvSpPr>
          <p:spPr>
            <a:xfrm>
              <a:off x="1447678" y="6652077"/>
              <a:ext cx="0" cy="111923"/>
            </a:xfrm>
            <a:prstGeom prst="line">
              <a:avLst/>
            </a:prstGeom>
            <a:noFill/>
            <a:ln w="13716">
              <a:solidFill>
                <a:srgbClr val="404040"/>
              </a:solidFill>
              <a:prstDash val="solid"/>
            </a:ln>
          </p:spPr>
        </p:sp>
        <p:sp>
          <p:nvSpPr>
            <p:cNvPr id="96" name="svg2_78"/>
            <p:cNvSpPr txBox="1"/>
            <p:nvPr/>
          </p:nvSpPr>
          <p:spPr>
            <a:xfrm>
              <a:off x="291785" y="6837060"/>
              <a:ext cx="78300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Bội số EV/EBITDA 26E</a:t>
              </a:r>
              <a:endParaRPr lang="en-US" sz="587" dirty="0"/>
            </a:p>
          </p:txBody>
        </p:sp>
        <p:sp>
          <p:nvSpPr>
            <p:cNvPr id="97" name="svg2_79"/>
            <p:cNvSpPr/>
            <p:nvPr/>
          </p:nvSpPr>
          <p:spPr>
            <a:xfrm>
              <a:off x="2009394" y="6840535"/>
              <a:ext cx="354696" cy="88422"/>
            </a:xfrm>
            <a:prstGeom prst="rect">
              <a:avLst/>
            </a:prstGeom>
            <a:solidFill>
              <a:srgbClr val="D0D0D0"/>
            </a:solidFill>
            <a:ln/>
          </p:spPr>
        </p:sp>
        <p:sp>
          <p:nvSpPr>
            <p:cNvPr id="98" name="svg2_80"/>
            <p:cNvSpPr txBox="1"/>
            <p:nvPr/>
          </p:nvSpPr>
          <p:spPr>
            <a:xfrm>
              <a:off x="1809140" y="6837060"/>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66,2</a:t>
              </a:r>
              <a:endParaRPr lang="en-US" sz="557" dirty="0"/>
            </a:p>
          </p:txBody>
        </p:sp>
        <p:sp>
          <p:nvSpPr>
            <p:cNvPr id="99" name="svg2_81"/>
            <p:cNvSpPr txBox="1"/>
            <p:nvPr/>
          </p:nvSpPr>
          <p:spPr>
            <a:xfrm>
              <a:off x="2383658" y="6837060"/>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92,4</a:t>
              </a:r>
              <a:endParaRPr lang="en-US" sz="557" dirty="0"/>
            </a:p>
          </p:txBody>
        </p:sp>
        <p:sp>
          <p:nvSpPr>
            <p:cNvPr id="100" name="svg2_82"/>
            <p:cNvSpPr txBox="1"/>
            <p:nvPr/>
          </p:nvSpPr>
          <p:spPr>
            <a:xfrm>
              <a:off x="608625" y="7013722"/>
              <a:ext cx="46625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Khuyến nghị</a:t>
              </a:r>
              <a:endParaRPr lang="en-US" sz="587" dirty="0"/>
            </a:p>
          </p:txBody>
        </p:sp>
        <p:sp>
          <p:nvSpPr>
            <p:cNvPr id="101" name="svg2_83"/>
            <p:cNvSpPr/>
            <p:nvPr/>
          </p:nvSpPr>
          <p:spPr>
            <a:xfrm>
              <a:off x="1373154" y="7017288"/>
              <a:ext cx="395478" cy="88422"/>
            </a:xfrm>
            <a:prstGeom prst="rect">
              <a:avLst/>
            </a:prstGeom>
            <a:solidFill>
              <a:srgbClr val="7B1E2B"/>
            </a:solidFill>
            <a:ln/>
          </p:spPr>
        </p:sp>
        <p:sp>
          <p:nvSpPr>
            <p:cNvPr id="102" name="svg2_84"/>
            <p:cNvSpPr txBox="1"/>
            <p:nvPr/>
          </p:nvSpPr>
          <p:spPr>
            <a:xfrm>
              <a:off x="1173084" y="7013722"/>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19,3</a:t>
              </a:r>
              <a:endParaRPr lang="en-US" sz="557" dirty="0"/>
            </a:p>
          </p:txBody>
        </p:sp>
        <p:sp>
          <p:nvSpPr>
            <p:cNvPr id="103" name="svg2_85"/>
            <p:cNvSpPr txBox="1"/>
            <p:nvPr/>
          </p:nvSpPr>
          <p:spPr>
            <a:xfrm>
              <a:off x="1787743" y="7013722"/>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48,4</a:t>
              </a:r>
              <a:endParaRPr lang="en-US" sz="557" dirty="0"/>
            </a:p>
          </p:txBody>
        </p:sp>
        <p:sp>
          <p:nvSpPr>
            <p:cNvPr id="104" name="svg2_86"/>
            <p:cNvSpPr/>
            <p:nvPr/>
          </p:nvSpPr>
          <p:spPr>
            <a:xfrm>
              <a:off x="1543782" y="7005584"/>
              <a:ext cx="0" cy="111923"/>
            </a:xfrm>
            <a:prstGeom prst="line">
              <a:avLst/>
            </a:prstGeom>
            <a:noFill/>
            <a:ln w="13716">
              <a:solidFill>
                <a:srgbClr val="FFFFFF"/>
              </a:solidFill>
              <a:prstDash val="solid"/>
            </a:ln>
          </p:spPr>
        </p:sp>
        <p:sp>
          <p:nvSpPr>
            <p:cNvPr id="105" name="svg2_87"/>
            <p:cNvSpPr/>
            <p:nvPr/>
          </p:nvSpPr>
          <p:spPr>
            <a:xfrm>
              <a:off x="1621780" y="6438108"/>
              <a:ext cx="0" cy="755934"/>
            </a:xfrm>
            <a:prstGeom prst="line">
              <a:avLst/>
            </a:prstGeom>
            <a:noFill/>
            <a:ln w="8890">
              <a:solidFill>
                <a:srgbClr val="5C1520"/>
              </a:solidFill>
              <a:prstDash val="dash"/>
            </a:ln>
          </p:spPr>
        </p:sp>
        <p:sp>
          <p:nvSpPr>
            <p:cNvPr id="106" name="svg2_88"/>
            <p:cNvSpPr txBox="1"/>
            <p:nvPr/>
          </p:nvSpPr>
          <p:spPr>
            <a:xfrm>
              <a:off x="1641439" y="6357000"/>
              <a:ext cx="889071" cy="104790"/>
            </a:xfrm>
            <a:prstGeom prst="rect">
              <a:avLst/>
            </a:prstGeom>
            <a:noFill/>
            <a:ln/>
          </p:spPr>
          <p:txBody>
            <a:bodyPr wrap="none" lIns="0" tIns="0" rIns="0" bIns="0" rtlCol="0" anchor="ctr"/>
            <a:lstStyle/>
            <a:p>
              <a:pPr algn="l" indent="0" marL="0">
                <a:buNone/>
              </a:pPr>
              <a:r>
                <a:rPr lang="en-US" sz="557" b="1" dirty="0">
                  <a:solidFill>
                    <a:srgbClr val="5C1520"/>
                  </a:solidFill>
                  <a:latin typeface="Calibri" pitchFamily="34" charset="0"/>
                  <a:ea typeface="Calibri" pitchFamily="34" charset="-122"/>
                  <a:cs typeface="Calibri" pitchFamily="34" charset="-120"/>
                </a:rPr>
                <a:t>Vốn cổ phần cần gọi: 37,6</a:t>
              </a:r>
              <a:endParaRPr lang="en-US" sz="557" dirty="0"/>
            </a:p>
          </p:txBody>
        </p:sp>
        <p:sp>
          <p:nvSpPr>
            <p:cNvPr id="107" name="svg2_89"/>
            <p:cNvSpPr txBox="1"/>
            <p:nvPr/>
          </p:nvSpPr>
          <p:spPr>
            <a:xfrm>
              <a:off x="1567282" y="6564112"/>
              <a:ext cx="146853" cy="104790"/>
            </a:xfrm>
            <a:prstGeom prst="rect">
              <a:avLst/>
            </a:prstGeom>
            <a:solidFill>
              <a:srgbClr val="FFFFFF"/>
            </a:solidFill>
            <a:ln/>
          </p:spPr>
          <p:txBody>
            <a:bodyPr wrap="none" lIns="0" tIns="0" rIns="0" bIns="0" rtlCol="0" anchor="ctr"/>
            <a:lstStyle/>
            <a:p>
              <a:pPr algn="ctr" indent="0" marL="0">
                <a:buNone/>
              </a:pPr>
              <a:r>
                <a:rPr lang="en-US" sz="557" b="1" dirty="0">
                  <a:solidFill>
                    <a:srgbClr val="262626"/>
                  </a:solidFill>
                  <a:latin typeface="Calibri" pitchFamily="34" charset="0"/>
                  <a:ea typeface="Calibri" pitchFamily="34" charset="-122"/>
                  <a:cs typeface="Calibri" pitchFamily="34" charset="-120"/>
                </a:rPr>
                <a:t>38,9</a:t>
              </a:r>
              <a:endParaRPr lang="en-US" sz="557" dirty="0"/>
            </a:p>
          </p:txBody>
        </p:sp>
        <p:sp>
          <p:nvSpPr>
            <p:cNvPr id="108" name="svg2_90"/>
            <p:cNvSpPr txBox="1"/>
            <p:nvPr/>
          </p:nvSpPr>
          <p:spPr>
            <a:xfrm>
              <a:off x="1375806" y="6740865"/>
              <a:ext cx="146853" cy="104790"/>
            </a:xfrm>
            <a:prstGeom prst="rect">
              <a:avLst/>
            </a:prstGeom>
            <a:solidFill>
              <a:srgbClr val="FFFFFF"/>
            </a:solidFill>
            <a:ln/>
          </p:spPr>
          <p:txBody>
            <a:bodyPr wrap="none" lIns="0" tIns="0" rIns="0" bIns="0" rtlCol="0" anchor="ctr"/>
            <a:lstStyle/>
            <a:p>
              <a:pPr algn="ctr" indent="0" marL="0">
                <a:buNone/>
              </a:pPr>
              <a:r>
                <a:rPr lang="en-US" sz="557" b="1" dirty="0">
                  <a:solidFill>
                    <a:srgbClr val="262626"/>
                  </a:solidFill>
                  <a:latin typeface="Calibri" pitchFamily="34" charset="0"/>
                  <a:ea typeface="Calibri" pitchFamily="34" charset="-122"/>
                  <a:cs typeface="Calibri" pitchFamily="34" charset="-120"/>
                </a:rPr>
                <a:t>24,8</a:t>
              </a:r>
              <a:endParaRPr lang="en-US" sz="557" dirty="0"/>
            </a:p>
          </p:txBody>
        </p:sp>
        <p:sp>
          <p:nvSpPr>
            <p:cNvPr id="109" name="svg2_91"/>
            <p:cNvSpPr txBox="1"/>
            <p:nvPr/>
          </p:nvSpPr>
          <p:spPr>
            <a:xfrm>
              <a:off x="1470995" y="7094190"/>
              <a:ext cx="146853" cy="104790"/>
            </a:xfrm>
            <a:prstGeom prst="rect">
              <a:avLst/>
            </a:prstGeom>
            <a:solidFill>
              <a:srgbClr val="FFFFFF"/>
            </a:solidFill>
            <a:ln/>
          </p:spPr>
          <p:txBody>
            <a:bodyPr wrap="none" lIns="0" tIns="0" rIns="0" bIns="0" rtlCol="0" anchor="ctr"/>
            <a:lstStyle/>
            <a:p>
              <a:pPr algn="ctr" indent="0" marL="0">
                <a:buNone/>
              </a:pPr>
              <a:r>
                <a:rPr lang="en-US" sz="557" b="1" dirty="0">
                  <a:solidFill>
                    <a:srgbClr val="262626"/>
                  </a:solidFill>
                  <a:latin typeface="Calibri" pitchFamily="34" charset="0"/>
                  <a:ea typeface="Calibri" pitchFamily="34" charset="-122"/>
                  <a:cs typeface="Calibri" pitchFamily="34" charset="-120"/>
                </a:rPr>
                <a:t>31,8</a:t>
              </a:r>
              <a:endParaRPr lang="en-US" sz="557" dirty="0"/>
            </a:p>
          </p:txBody>
        </p:sp>
      </p:grpSp>
      <p:sp>
        <p:nvSpPr>
          <p:cNvPr id="110" name="Text 104"/>
          <p:cNvSpPr txBox="1"/>
          <p:nvPr/>
        </p:nvSpPr>
        <p:spPr>
          <a:xfrm>
            <a:off x="405354" y="138989"/>
            <a:ext cx="2434407" cy="266730"/>
          </a:xfrm>
          <a:prstGeom prst="rect">
            <a:avLst/>
          </a:prstGeom>
          <a:noFill/>
          <a:ln/>
        </p:spPr>
        <p:txBody>
          <a:bodyPr wrap="none" lIns="0" tIns="0" rIns="0" bIns="0" rtlCol="0" anchor="t"/>
          <a:lstStyle/>
          <a:p>
            <a:pPr algn="l" indent="0" marL="0">
              <a:lnSpc>
                <a:spcPts val="2100"/>
              </a:lnSpc>
              <a:buNone/>
            </a:pPr>
            <a:r>
              <a:rPr lang="en-US" sz="2000" b="1" spc="80" kern="0" dirty="0">
                <a:solidFill>
                  <a:srgbClr val="FFFFFF"/>
                </a:solidFill>
                <a:latin typeface="Calibri" pitchFamily="34" charset="0"/>
                <a:ea typeface="Calibri" pitchFamily="34" charset="-122"/>
                <a:cs typeface="Calibri" pitchFamily="34" charset="-120"/>
              </a:rPr>
              <a:t>CTCP AGRIPACK</a:t>
            </a:r>
            <a:endParaRPr lang="en-US" sz="2000" dirty="0"/>
          </a:p>
        </p:txBody>
      </p:sp>
      <p:sp>
        <p:nvSpPr>
          <p:cNvPr id="111" name="Text 105"/>
          <p:cNvSpPr txBox="1"/>
          <p:nvPr/>
        </p:nvSpPr>
        <p:spPr>
          <a:xfrm>
            <a:off x="405354" y="434431"/>
            <a:ext cx="2434407" cy="129022"/>
          </a:xfrm>
          <a:prstGeom prst="rect">
            <a:avLst/>
          </a:prstGeom>
          <a:noFill/>
          <a:ln/>
        </p:spPr>
        <p:txBody>
          <a:bodyPr wrap="none" lIns="0" tIns="0" rIns="0" bIns="0" rtlCol="0" anchor="t"/>
          <a:lstStyle/>
          <a:p>
            <a:pPr algn="l" indent="0" marL="0">
              <a:lnSpc>
                <a:spcPts val="1016"/>
              </a:lnSpc>
              <a:buNone/>
            </a:pPr>
            <a:r>
              <a:rPr lang="en-US" sz="800" dirty="0">
                <a:solidFill>
                  <a:srgbClr val="FFFFFF"/>
                </a:solidFill>
                <a:latin typeface="Calibri" pitchFamily="34" charset="0"/>
                <a:ea typeface="Calibri" pitchFamily="34" charset="-122"/>
                <a:cs typeface="Calibri" pitchFamily="34" charset="-120"/>
              </a:rPr>
              <a:t>Bao bì ép bột bã mía – vỏ trứng · B2B · Gia Lai</a:t>
            </a:r>
            <a:endParaRPr lang="en-US" sz="800" dirty="0"/>
          </a:p>
        </p:txBody>
      </p:sp>
      <p:sp>
        <p:nvSpPr>
          <p:cNvPr id="112" name="Text 106"/>
          <p:cNvSpPr txBox="1"/>
          <p:nvPr/>
        </p:nvSpPr>
        <p:spPr>
          <a:xfrm>
            <a:off x="2811963" y="181508"/>
            <a:ext cx="4342486" cy="381853"/>
          </a:xfrm>
          <a:prstGeom prst="rect">
            <a:avLst/>
          </a:prstGeom>
          <a:noFill/>
          <a:ln/>
        </p:spPr>
        <p:txBody>
          <a:bodyPr wrap="square" lIns="0" tIns="0" rIns="0" bIns="0" rtlCol="0" anchor="t"/>
          <a:lstStyle/>
          <a:p>
            <a:pPr algn="r" indent="0" marL="0">
              <a:lnSpc>
                <a:spcPts val="938"/>
              </a:lnSpc>
              <a:buNone/>
            </a:pPr>
            <a:r>
              <a:rPr lang="en-US" sz="820" b="1" spc="30" kern="0" dirty="0">
                <a:solidFill>
                  <a:srgbClr val="FFFFFF"/>
                </a:solidFill>
                <a:latin typeface="Calibri" pitchFamily="34" charset="0"/>
                <a:ea typeface="Calibri" pitchFamily="34" charset="-122"/>
                <a:cs typeface="Calibri" pitchFamily="34" charset="-120"/>
              </a:rPr>
              <a:t>BÁO CÁO ĐỊNH GIÁ &amp; ĐỀ XUẤT GỌI VỐN SERIES A</a:t>
            </a:r>
            <a:endParaRPr lang="en-US" sz="680" dirty="0"/>
          </a:p>
          <a:p>
            <a:pPr algn="r" indent="0" marL="0">
              <a:lnSpc>
                <a:spcPts val="938"/>
              </a:lnSpc>
              <a:buNone/>
            </a:pPr>
            <a:r>
              <a:rPr lang="en-US" sz="680" dirty="0">
                <a:solidFill>
                  <a:srgbClr val="FFFFFF"/>
                </a:solidFill>
                <a:latin typeface="Calibri" pitchFamily="34" charset="0"/>
                <a:ea typeface="Calibri" pitchFamily="34" charset="-122"/>
                <a:cs typeface="Calibri" pitchFamily="34" charset="-120"/>
              </a:rPr>
              <a:t>Ngày báo cáo: 29/09/2026 · Thời điểm định giá: 01/01/2026</a:t>
            </a:r>
            <a:endParaRPr lang="en-US" sz="680" dirty="0"/>
          </a:p>
          <a:p>
            <a:pPr algn="r" indent="0" marL="0">
              <a:lnSpc>
                <a:spcPts val="938"/>
              </a:lnSpc>
              <a:buNone/>
            </a:pPr>
            <a:r>
              <a:rPr lang="en-US" sz="680" dirty="0">
                <a:solidFill>
                  <a:srgbClr val="FFFFFF"/>
                </a:solidFill>
                <a:latin typeface="Calibri" pitchFamily="34" charset="0"/>
                <a:ea typeface="Calibri" pitchFamily="34" charset="-122"/>
                <a:cs typeface="Calibri" pitchFamily="34" charset="-120"/>
              </a:rPr>
              <a:t>Nhóm: Nguyễn Thu Thủy · Tạ Hồng Anh · Nguyễn Đức Lộc · Lý Đặng Thu Hằng · Đào Khánh Linh · Nguyễn Thị Phương Thảo</a:t>
            </a:r>
            <a:endParaRPr lang="en-US" sz="680" dirty="0"/>
          </a:p>
        </p:txBody>
      </p:sp>
      <p:sp>
        <p:nvSpPr>
          <p:cNvPr id="113" name="Text 107"/>
          <p:cNvSpPr txBox="1"/>
          <p:nvPr/>
        </p:nvSpPr>
        <p:spPr>
          <a:xfrm>
            <a:off x="463052" y="804489"/>
            <a:ext cx="2167402" cy="112654"/>
          </a:xfrm>
          <a:prstGeom prst="rect">
            <a:avLst/>
          </a:prstGeom>
          <a:noFill/>
          <a:ln/>
        </p:spPr>
        <p:txBody>
          <a:bodyPr wrap="none" lIns="0" tIns="0" rIns="0" bIns="0" rtlCol="0" anchor="t"/>
          <a:lstStyle/>
          <a:p>
            <a:pPr algn="l" indent="0" marL="0">
              <a:lnSpc>
                <a:spcPts val="889"/>
              </a:lnSpc>
              <a:buNone/>
            </a:pPr>
            <a:r>
              <a:rPr lang="en-US" sz="700" b="1" spc="40" kern="0" dirty="0">
                <a:solidFill>
                  <a:srgbClr val="FFFFFF"/>
                </a:solidFill>
                <a:latin typeface="Calibri" pitchFamily="34" charset="0"/>
                <a:ea typeface="Calibri" pitchFamily="34" charset="-122"/>
                <a:cs typeface="Calibri" pitchFamily="34" charset="-120"/>
              </a:rPr>
              <a:t>THÔNG TIN CHÍNH</a:t>
            </a:r>
            <a:endParaRPr lang="en-US" sz="700" dirty="0"/>
          </a:p>
        </p:txBody>
      </p:sp>
      <p:sp>
        <p:nvSpPr>
          <p:cNvPr id="114" name="Text 108"/>
          <p:cNvSpPr txBox="1"/>
          <p:nvPr/>
        </p:nvSpPr>
        <p:spPr>
          <a:xfrm>
            <a:off x="405354" y="3564148"/>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do đề bài cung cấp; mô hình của nhóm (AgriPack_Model_final.xlsx)</a:t>
            </a:r>
            <a:endParaRPr lang="en-US" sz="600" dirty="0"/>
          </a:p>
        </p:txBody>
      </p:sp>
      <p:sp>
        <p:nvSpPr>
          <p:cNvPr id="115" name="Text 109"/>
          <p:cNvSpPr txBox="1"/>
          <p:nvPr/>
        </p:nvSpPr>
        <p:spPr>
          <a:xfrm>
            <a:off x="405354" y="3864346"/>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Doanh thu tăng 3,6 lần đến 2030E; biên EBITDA chững lại khi xây nhà máy</a:t>
            </a:r>
            <a:endParaRPr lang="en-US" sz="720" dirty="0"/>
          </a:p>
        </p:txBody>
      </p:sp>
      <p:sp>
        <p:nvSpPr>
          <p:cNvPr id="116" name="Text 110"/>
          <p:cNvSpPr txBox="1"/>
          <p:nvPr/>
        </p:nvSpPr>
        <p:spPr>
          <a:xfrm>
            <a:off x="405354" y="4115623"/>
            <a:ext cx="2289566" cy="103144"/>
          </a:xfrm>
          <a:prstGeom prst="rect">
            <a:avLst/>
          </a:prstGeom>
          <a:noFill/>
          <a:ln/>
        </p:spPr>
        <p:txBody>
          <a:bodyPr wrap="none" lIns="0" tIns="0" rIns="0" bIns="0" rtlCol="0" anchor="t"/>
          <a:lstStyle/>
          <a:p>
            <a:pPr algn="l" indent="0" marL="0">
              <a:lnSpc>
                <a:spcPts val="813"/>
              </a:lnSpc>
              <a:buNone/>
            </a:pPr>
            <a:r>
              <a:rPr lang="en-US" sz="640" b="1" dirty="0">
                <a:solidFill>
                  <a:srgbClr val="666666"/>
                </a:solidFill>
                <a:latin typeface="Calibri" pitchFamily="34" charset="0"/>
                <a:ea typeface="Calibri" pitchFamily="34" charset="-122"/>
                <a:cs typeface="Calibri" pitchFamily="34" charset="-120"/>
              </a:rPr>
              <a:t>Doanh thu thuần (tỷ đồng)</a:t>
            </a:r>
            <a:endParaRPr lang="en-US" sz="640" dirty="0"/>
          </a:p>
        </p:txBody>
      </p:sp>
      <p:sp>
        <p:nvSpPr>
          <p:cNvPr id="117" name="Text 111"/>
          <p:cNvSpPr txBox="1"/>
          <p:nvPr/>
        </p:nvSpPr>
        <p:spPr>
          <a:xfrm>
            <a:off x="405354" y="5084521"/>
            <a:ext cx="2289566" cy="103144"/>
          </a:xfrm>
          <a:prstGeom prst="rect">
            <a:avLst/>
          </a:prstGeom>
          <a:noFill/>
          <a:ln/>
        </p:spPr>
        <p:txBody>
          <a:bodyPr wrap="none" lIns="0" tIns="0" rIns="0" bIns="0" rtlCol="0" anchor="t"/>
          <a:lstStyle/>
          <a:p>
            <a:pPr algn="l" indent="0" marL="0">
              <a:lnSpc>
                <a:spcPts val="813"/>
              </a:lnSpc>
              <a:buNone/>
            </a:pPr>
            <a:r>
              <a:rPr lang="en-US" sz="640" b="1" dirty="0">
                <a:solidFill>
                  <a:srgbClr val="666666"/>
                </a:solidFill>
                <a:latin typeface="Calibri" pitchFamily="34" charset="0"/>
                <a:ea typeface="Calibri" pitchFamily="34" charset="-122"/>
                <a:cs typeface="Calibri" pitchFamily="34" charset="-120"/>
              </a:rPr>
              <a:t>Biên EBITDA (%)</a:t>
            </a:r>
            <a:endParaRPr lang="en-US" sz="640" dirty="0"/>
          </a:p>
        </p:txBody>
      </p:sp>
      <p:sp>
        <p:nvSpPr>
          <p:cNvPr id="118" name="Text 112"/>
          <p:cNvSpPr txBox="1"/>
          <p:nvPr/>
        </p:nvSpPr>
        <p:spPr>
          <a:xfrm>
            <a:off x="405354" y="5782117"/>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do đề bài cung cấp; dự phóng của nhóm (sheet Drivers)</a:t>
            </a:r>
            <a:endParaRPr lang="en-US" sz="600" dirty="0"/>
          </a:p>
        </p:txBody>
      </p:sp>
      <p:sp>
        <p:nvSpPr>
          <p:cNvPr id="119" name="Text 113"/>
          <p:cNvSpPr txBox="1"/>
          <p:nvPr/>
        </p:nvSpPr>
        <p:spPr>
          <a:xfrm>
            <a:off x="405354" y="6078748"/>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Pre-money khuyến nghị thấp hơn số vốn cần gọi (tỷ đồng)</a:t>
            </a:r>
            <a:endParaRPr lang="en-US" sz="720" dirty="0"/>
          </a:p>
        </p:txBody>
      </p:sp>
      <p:sp>
        <p:nvSpPr>
          <p:cNvPr id="120" name="Text 114"/>
          <p:cNvSpPr txBox="1"/>
          <p:nvPr/>
        </p:nvSpPr>
        <p:spPr>
          <a:xfrm>
            <a:off x="405354" y="7388535"/>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Sensitivity)</a:t>
            </a:r>
            <a:endParaRPr lang="en-US" sz="600" dirty="0"/>
          </a:p>
        </p:txBody>
      </p:sp>
      <p:sp>
        <p:nvSpPr>
          <p:cNvPr id="121" name="Text 115"/>
          <p:cNvSpPr txBox="1"/>
          <p:nvPr/>
        </p:nvSpPr>
        <p:spPr>
          <a:xfrm>
            <a:off x="405354" y="7593818"/>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Các mốc cần theo dõi 2026–2030</a:t>
            </a:r>
            <a:endParaRPr lang="en-US" sz="720" dirty="0"/>
          </a:p>
        </p:txBody>
      </p:sp>
      <p:sp>
        <p:nvSpPr>
          <p:cNvPr id="122" name="Text 116"/>
          <p:cNvSpPr txBox="1"/>
          <p:nvPr/>
        </p:nvSpPr>
        <p:spPr>
          <a:xfrm>
            <a:off x="405354" y="9408170"/>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và đề xuất của nhóm</a:t>
            </a:r>
            <a:endParaRPr lang="en-US" sz="600" dirty="0"/>
          </a:p>
        </p:txBody>
      </p:sp>
      <p:sp>
        <p:nvSpPr>
          <p:cNvPr id="123" name="Text 117"/>
          <p:cNvSpPr txBox="1"/>
          <p:nvPr/>
        </p:nvSpPr>
        <p:spPr>
          <a:xfrm>
            <a:off x="2745303" y="779252"/>
            <a:ext cx="4519422" cy="359268"/>
          </a:xfrm>
          <a:prstGeom prst="rect">
            <a:avLst/>
          </a:prstGeom>
          <a:noFill/>
          <a:ln/>
        </p:spPr>
        <p:txBody>
          <a:bodyPr wrap="square" lIns="0" tIns="0" rIns="0" bIns="0" rtlCol="0" anchor="t"/>
          <a:lstStyle/>
          <a:p>
            <a:pPr algn="l" indent="0" marL="0">
              <a:lnSpc>
                <a:spcPts val="1415"/>
              </a:lnSpc>
              <a:buNone/>
            </a:pPr>
            <a:r>
              <a:rPr lang="en-US" sz="1220" b="1" dirty="0">
                <a:solidFill>
                  <a:srgbClr val="7B1E2B"/>
                </a:solidFill>
                <a:latin typeface="Calibri" pitchFamily="34" charset="0"/>
                <a:ea typeface="Calibri" pitchFamily="34" charset="-122"/>
                <a:cs typeface="Calibri" pitchFamily="34" charset="-120"/>
              </a:rPr>
              <a:t>Nhà máy 2027 cần gần 69 tỷ vốn bên ngoài: gọi Series A hai đợt để founder giữ quyền kiểm soát</a:t>
            </a:r>
            <a:endParaRPr lang="en-US" sz="1220" dirty="0"/>
          </a:p>
        </p:txBody>
      </p:sp>
      <p:sp>
        <p:nvSpPr>
          <p:cNvPr id="124" name="Text 118"/>
          <p:cNvSpPr txBox="1"/>
          <p:nvPr/>
        </p:nvSpPr>
        <p:spPr>
          <a:xfrm>
            <a:off x="2855305" y="1263152"/>
            <a:ext cx="4470867" cy="111374"/>
          </a:xfrm>
          <a:prstGeom prst="rect">
            <a:avLst/>
          </a:prstGeom>
          <a:noFill/>
          <a:ln/>
        </p:spPr>
        <p:txBody>
          <a:bodyPr wrap="none" lIns="0" tIns="0" rIns="0" bIns="0" rtlCol="0" anchor="t"/>
          <a:lstStyle/>
          <a:p>
            <a:pPr algn="l" indent="0" marL="0">
              <a:lnSpc>
                <a:spcPts val="876"/>
              </a:lnSpc>
              <a:buNone/>
            </a:pPr>
            <a:r>
              <a:rPr lang="en-US" sz="690" b="1" spc="40" kern="0" dirty="0">
                <a:solidFill>
                  <a:srgbClr val="7B1E2B"/>
                </a:solidFill>
                <a:latin typeface="Calibri" pitchFamily="34" charset="0"/>
                <a:ea typeface="Calibri" pitchFamily="34" charset="-122"/>
                <a:cs typeface="Calibri" pitchFamily="34" charset="-120"/>
              </a:rPr>
              <a:t>ĐỀ XUẤT GỌI VỐN</a:t>
            </a:r>
            <a:endParaRPr lang="en-US" sz="690" dirty="0"/>
          </a:p>
        </p:txBody>
      </p:sp>
      <p:sp>
        <p:nvSpPr>
          <p:cNvPr id="125" name="Text 119"/>
          <p:cNvSpPr txBox="1"/>
          <p:nvPr/>
        </p:nvSpPr>
        <p:spPr>
          <a:xfrm>
            <a:off x="2745303" y="2175175"/>
            <a:ext cx="4409237" cy="725485"/>
          </a:xfrm>
          <a:prstGeom prst="rect">
            <a:avLst/>
          </a:prstGeom>
          <a:noFill/>
          <a:ln/>
        </p:spPr>
        <p:txBody>
          <a:bodyPr wrap="square" lIns="0" tIns="0" rIns="0" bIns="0" rtlCol="0" anchor="t"/>
          <a:lstStyle/>
          <a:p>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AgriPack sản xuất hộp, khay và đệm bảo vệ ép từ bột bã mía có phối trộn vỏ trứng, bán cho doanh nghiệp ở miền Trung và miền Nam. Sau hai năm lỗ, công ty có lãi lần đầu năm 2025 (LNST 4,4 tỷ đồng) và tự tài trợ được CAPEX. Kế hoạch 2027 thay đổi quy mô doanh nghiệp: CAPEX 51,8 tỷ đồng, bằng 65% doanh thu năm đó, nâng nguyên giá TSCĐ lên gấp ba. Chúng tôi đề xuất tài trợ bằng 31,1 tỷ vay trung hạn và 37,6 tỷ vốn cổ phần Series A giải ngân hai đợt.</a:t>
            </a:r>
            <a:endParaRPr lang="en-US" sz="900" dirty="0"/>
          </a:p>
        </p:txBody>
      </p:sp>
      <p:sp>
        <p:nvSpPr>
          <p:cNvPr id="126" name="Text 120"/>
          <p:cNvSpPr txBox="1"/>
          <p:nvPr/>
        </p:nvSpPr>
        <p:spPr>
          <a:xfrm>
            <a:off x="2745303" y="2952780"/>
            <a:ext cx="4409237" cy="101571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Ngách được pháp luật mở ra, nhưng hẹp.</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Điều 64 Nghị định 08/2022/NĐ-CP loại dần nhựa dùng một lần khỏi siêu thị, trung tâm thương mại, khách sạn và dừng sản xuất, nhập khẩu bao bì nhựa khó phân hủy sau 2030; Nghị định 110/2026/NĐ-CP đặt nghĩa vụ tái chế lên nhà sản xuất hàng hóa có bao bì – chính là khách hàng của AgriPack. Nhưng thị trường đồ dùng một lần phân hủy sinh học cho ngành ăn uống chỉ khoảng 34 triệu USD (IMARC, 2025) và AgriPack đã chiếm 4,3%. Tăng trưởng vì vậy phải đến từ giành thị phần: dự phóng CAGR 29% (Fig. 01) hàm ý 11,0% SAM năm 2030; giữ nhịp 40–50%/năm như lịch sử sẽ đòi hỏi 15–18%, khó bảo vệ.</a:t>
            </a:r>
            <a:endParaRPr lang="en-US" sz="900" dirty="0"/>
          </a:p>
        </p:txBody>
      </p:sp>
      <p:sp>
        <p:nvSpPr>
          <p:cNvPr id="127" name="Text 121"/>
          <p:cNvSpPr txBox="1"/>
          <p:nvPr/>
        </p:nvSpPr>
        <p:spPr>
          <a:xfrm>
            <a:off x="2745303" y="4020617"/>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Biên lợi nhuận tốt, nhưng không phải 73%.</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Biên gộp trên BCTC (72,8%) cao vì lương công nhân, điện, sửa chữa và khấu hao nằm ngoài giá vốn; phân loại lại, biên gộp còn khoảng 41%. Chỉ tiêu so sánh được là biên EBITDA: 16,2% năm 2025, gần gấp đôi trung vị 8,8% của 15 doanh nghiệp bao bì niêm yết. Biên EBITDA dự phóng lên 20,2% năm 2030 nhờ tiền thuê và tiền lương tăng chậm hơn doanh thu, bù cho giá bã mía và lương tối thiểu tăng.</a:t>
            </a:r>
            <a:endParaRPr lang="en-US" sz="900" dirty="0"/>
          </a:p>
        </p:txBody>
      </p:sp>
      <p:sp>
        <p:nvSpPr>
          <p:cNvPr id="128" name="Text 122"/>
          <p:cNvSpPr txBox="1"/>
          <p:nvPr/>
        </p:nvSpPr>
        <p:spPr>
          <a:xfrm>
            <a:off x="2745303" y="4798223"/>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Nhà máy 2027 quyết định giá trị.</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FCFF âm 42,6 tỷ năm 2027 và ROIC giảm còn 5,1% năm 2028 khi công suất mới chưa được lấp đầy; đến 2030 ROIC (13,9%) mới xấp xỉ WACC (13,8%). Trong 5 năm dự phóng, khoản đầu tư chỉ vừa bù chi phí vốn; giá trị nằm ở tăng trưởng sau 2030 (giá trị cuối kỳ bằng 188% EV). Nếu sản lượng chỉ bằng 70% kịch bản cơ sở, giá trị vốn chủ âm.</a:t>
            </a:r>
            <a:endParaRPr lang="en-US" sz="900" dirty="0"/>
          </a:p>
        </p:txBody>
      </p:sp>
      <p:sp>
        <p:nvSpPr>
          <p:cNvPr id="129" name="Text 123"/>
          <p:cNvSpPr txBox="1"/>
          <p:nvPr/>
        </p:nvSpPr>
        <p:spPr>
          <a:xfrm>
            <a:off x="2745303" y="5430804"/>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Pre-money 31,8 tỷ đồng.</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DCF cho 38,9 tỷ (giá trị khi doanh nghiệp tiếp tục hoạt động), VC Method cho 24,8 tỷ (đã tính xác suất thất bại 40%); DCF điều chỉnh xác suất sống sót cho 29,4 tỷ, sát mức bình quân (Fig. 02). Bội số EV/EBITDA ngành (66–92 tỷ) chỉ để đối chiếu vì bỏ qua gần 69 tỷ vốn cần cho nhà máy.</a:t>
            </a:r>
            <a:endParaRPr lang="en-US" sz="900" dirty="0"/>
          </a:p>
        </p:txBody>
      </p:sp>
      <p:sp>
        <p:nvSpPr>
          <p:cNvPr id="130" name="Text 124"/>
          <p:cNvSpPr txBox="1"/>
          <p:nvPr/>
        </p:nvSpPr>
        <p:spPr>
          <a:xfrm>
            <a:off x="2745303" y="6063204"/>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Cấu trúc vốn quyết định quyền kiểm soát.</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Vốn cổ phần cần gọi lớn hơn pre-money, nên gọi một lần sẽ trao 54,2% cổ phần cho nhà đầu tư. Chia hai đợt – đợt 2 định giá lại khi nhà máy vận hành và có hợp đồng khung – giúp founder giữ 50,5% và nâng IRR kỳ vọng của nhà đầu tư (đã tính 40% thất bại) từ 11,4% lên 14,0%, ngang WACC, vì đợt 2 chỉ giải ngân khi rủi ro đã giảm (Fig. 03).</a:t>
            </a:r>
            <a:endParaRPr lang="en-US" sz="900" dirty="0"/>
          </a:p>
        </p:txBody>
      </p:sp>
      <p:sp>
        <p:nvSpPr>
          <p:cNvPr id="131" name="Text 125"/>
          <p:cNvSpPr txBox="1"/>
          <p:nvPr/>
        </p:nvSpPr>
        <p:spPr>
          <a:xfrm>
            <a:off x="2745303" y="6840901"/>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Điều gì làm chúng tôi đổi quan điểm.</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Sản lượng F&amp;B 2026 tăng dưới 25% (mô hình: 32%), chưa có chứng nhận vật liệu tiếp xúc thực phẩm trước Q2/2027, hoặc nhà máy chưa vận hành thương mại trước 31/12/2027. Đây là các chỉ báo sớm của kịch bản Bear: khi đó đợt 2 không nên giải ngân và pre-money cần được định giá lại.</a:t>
            </a:r>
            <a:endParaRPr lang="en-US" sz="900" dirty="0"/>
          </a:p>
        </p:txBody>
      </p:sp>
      <p:sp>
        <p:nvSpPr>
          <p:cNvPr id="132" name="Text 126"/>
          <p:cNvSpPr txBox="1"/>
          <p:nvPr/>
        </p:nvSpPr>
        <p:spPr>
          <a:xfrm>
            <a:off x="2745303" y="7473391"/>
            <a:ext cx="4409237" cy="435254"/>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Rủi ro chính:</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nguồn cung bã mía theo mùa vụ, hàng bã mía nhập khẩu giá rẻ, chậm tiến độ nhà máy (trễ sang 2028 làm pre-money giảm 7,9 tỷ) và lãi suất (EBIT chỉ bằng 1,9 lần chi phí lãi năm 2028).</a:t>
            </a:r>
            <a:endParaRPr lang="en-US" sz="900" dirty="0"/>
          </a:p>
        </p:txBody>
      </p:sp>
      <p:sp>
        <p:nvSpPr>
          <p:cNvPr id="133" name="Text 127"/>
          <p:cNvSpPr txBox="1"/>
          <p:nvPr/>
        </p:nvSpPr>
        <p:spPr>
          <a:xfrm>
            <a:off x="2745303" y="7991947"/>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Tóm tắt tài chính (tỷ đồng)</a:t>
            </a:r>
            <a:endParaRPr lang="en-US" sz="720" dirty="0"/>
          </a:p>
        </p:txBody>
      </p:sp>
      <p:sp>
        <p:nvSpPr>
          <p:cNvPr id="134" name="Text 128"/>
          <p:cNvSpPr txBox="1"/>
          <p:nvPr/>
        </p:nvSpPr>
        <p:spPr>
          <a:xfrm>
            <a:off x="2745303" y="9673163"/>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dự phóng của nhóm. *2023–25A: FCF = CFO − CAPEX; 2026–30E: FCFF</a:t>
            </a:r>
            <a:endParaRPr lang="en-US" sz="600" dirty="0"/>
          </a:p>
        </p:txBody>
      </p:sp>
      <p:sp>
        <p:nvSpPr>
          <p:cNvPr id="135" name="Text 129"/>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36" name="Text 130"/>
          <p:cNvSpPr txBox="1"/>
          <p:nvPr/>
        </p:nvSpPr>
        <p:spPr>
          <a:xfrm>
            <a:off x="7114581" y="10402672"/>
            <a:ext cx="97018"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1</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62813"/>
            <a:ext cx="6749004" cy="206380"/>
          </a:xfrm>
          <a:prstGeom prst="rect">
            <a:avLst/>
          </a:prstGeom>
          <a:solidFill>
            <a:srgbClr val="7B1E2B"/>
          </a:solidFill>
          <a:ln/>
        </p:spPr>
      </p:sp>
      <p:sp>
        <p:nvSpPr>
          <p:cNvPr id="3" name="Shape 1"/>
          <p:cNvSpPr/>
          <p:nvPr/>
        </p:nvSpPr>
        <p:spPr>
          <a:xfrm>
            <a:off x="405354" y="2697663"/>
            <a:ext cx="118781" cy="118781"/>
          </a:xfrm>
          <a:prstGeom prst="rect">
            <a:avLst/>
          </a:prstGeom>
          <a:solidFill>
            <a:srgbClr val="7B1E2B"/>
          </a:solidFill>
          <a:ln/>
        </p:spPr>
      </p:sp>
      <p:sp>
        <p:nvSpPr>
          <p:cNvPr id="4" name="Shape 2"/>
          <p:cNvSpPr/>
          <p:nvPr/>
        </p:nvSpPr>
        <p:spPr>
          <a:xfrm>
            <a:off x="405354" y="2836286"/>
            <a:ext cx="118781" cy="118781"/>
          </a:xfrm>
          <a:prstGeom prst="rect">
            <a:avLst/>
          </a:prstGeom>
          <a:solidFill>
            <a:srgbClr val="7B1E2B"/>
          </a:solidFill>
          <a:ln/>
        </p:spPr>
      </p:sp>
      <p:sp>
        <p:nvSpPr>
          <p:cNvPr id="5" name="Shape 3"/>
          <p:cNvSpPr/>
          <p:nvPr/>
        </p:nvSpPr>
        <p:spPr>
          <a:xfrm>
            <a:off x="405354" y="2974726"/>
            <a:ext cx="118781" cy="118781"/>
          </a:xfrm>
          <a:prstGeom prst="rect">
            <a:avLst/>
          </a:prstGeom>
          <a:solidFill>
            <a:srgbClr val="7B1E2B"/>
          </a:solidFill>
          <a:ln/>
        </p:spPr>
      </p:sp>
      <p:sp>
        <p:nvSpPr>
          <p:cNvPr id="6" name="Shape 4"/>
          <p:cNvSpPr/>
          <p:nvPr/>
        </p:nvSpPr>
        <p:spPr>
          <a:xfrm>
            <a:off x="405354" y="3113349"/>
            <a:ext cx="118781" cy="118781"/>
          </a:xfrm>
          <a:prstGeom prst="rect">
            <a:avLst/>
          </a:prstGeom>
          <a:solidFill>
            <a:srgbClr val="7B1E2B"/>
          </a:solidFill>
          <a:ln/>
        </p:spPr>
      </p:sp>
      <p:sp>
        <p:nvSpPr>
          <p:cNvPr id="7" name="Shape 5"/>
          <p:cNvSpPr/>
          <p:nvPr/>
        </p:nvSpPr>
        <p:spPr>
          <a:xfrm>
            <a:off x="405354" y="3251972"/>
            <a:ext cx="118781" cy="118781"/>
          </a:xfrm>
          <a:prstGeom prst="rect">
            <a:avLst/>
          </a:prstGeom>
          <a:solidFill>
            <a:srgbClr val="7B1E2B"/>
          </a:solidFill>
          <a:ln/>
        </p:spPr>
      </p:sp>
      <p:sp>
        <p:nvSpPr>
          <p:cNvPr id="8" name="Shape 6"/>
          <p:cNvSpPr/>
          <p:nvPr/>
        </p:nvSpPr>
        <p:spPr>
          <a:xfrm>
            <a:off x="405354" y="3390412"/>
            <a:ext cx="118781" cy="118781"/>
          </a:xfrm>
          <a:prstGeom prst="rect">
            <a:avLst/>
          </a:prstGeom>
          <a:solidFill>
            <a:srgbClr val="7B1E2B"/>
          </a:solidFill>
          <a:ln/>
        </p:spPr>
      </p:sp>
      <p:sp>
        <p:nvSpPr>
          <p:cNvPr id="9" name="Shape 7"/>
          <p:cNvSpPr/>
          <p:nvPr/>
        </p:nvSpPr>
        <p:spPr>
          <a:xfrm>
            <a:off x="405354" y="3529035"/>
            <a:ext cx="118781" cy="118781"/>
          </a:xfrm>
          <a:prstGeom prst="rect">
            <a:avLst/>
          </a:prstGeom>
          <a:solidFill>
            <a:srgbClr val="7B1E2B"/>
          </a:solidFill>
          <a:ln/>
        </p:spPr>
      </p:sp>
      <p:sp>
        <p:nvSpPr>
          <p:cNvPr id="10" name="Shape 8"/>
          <p:cNvSpPr/>
          <p:nvPr/>
        </p:nvSpPr>
        <p:spPr>
          <a:xfrm>
            <a:off x="405354" y="471830"/>
            <a:ext cx="6749004" cy="0"/>
          </a:xfrm>
          <a:prstGeom prst="line">
            <a:avLst/>
          </a:prstGeom>
          <a:noFill/>
          <a:ln w="9525">
            <a:solidFill>
              <a:srgbClr val="7B1E2B"/>
            </a:solidFill>
            <a:prstDash val="solid"/>
          </a:ln>
        </p:spPr>
      </p:sp>
      <p:sp>
        <p:nvSpPr>
          <p:cNvPr id="11" name="Shape 9"/>
          <p:cNvSpPr/>
          <p:nvPr/>
        </p:nvSpPr>
        <p:spPr>
          <a:xfrm>
            <a:off x="405354" y="845911"/>
            <a:ext cx="2159996" cy="0"/>
          </a:xfrm>
          <a:prstGeom prst="line">
            <a:avLst/>
          </a:prstGeom>
          <a:noFill/>
          <a:ln w="9525">
            <a:solidFill>
              <a:srgbClr val="7B1E2B"/>
            </a:solidFill>
            <a:prstDash val="solid"/>
          </a:ln>
        </p:spPr>
      </p:sp>
      <p:sp>
        <p:nvSpPr>
          <p:cNvPr id="12" name="Shape 10"/>
          <p:cNvSpPr/>
          <p:nvPr/>
        </p:nvSpPr>
        <p:spPr>
          <a:xfrm>
            <a:off x="405354" y="2419960"/>
            <a:ext cx="2159996" cy="0"/>
          </a:xfrm>
          <a:prstGeom prst="line">
            <a:avLst/>
          </a:prstGeom>
          <a:noFill/>
          <a:ln w="9525">
            <a:solidFill>
              <a:srgbClr val="7B1E2B"/>
            </a:solidFill>
            <a:prstDash val="solid"/>
          </a:ln>
        </p:spPr>
      </p:sp>
      <p:sp>
        <p:nvSpPr>
          <p:cNvPr id="13" name="Shape 11"/>
          <p:cNvSpPr/>
          <p:nvPr/>
        </p:nvSpPr>
        <p:spPr>
          <a:xfrm>
            <a:off x="405354" y="4266316"/>
            <a:ext cx="2159996" cy="0"/>
          </a:xfrm>
          <a:prstGeom prst="line">
            <a:avLst/>
          </a:prstGeom>
          <a:noFill/>
          <a:ln w="9525">
            <a:solidFill>
              <a:srgbClr val="7B1E2B"/>
            </a:solidFill>
            <a:prstDash val="solid"/>
          </a:ln>
        </p:spPr>
      </p:sp>
      <p:sp>
        <p:nvSpPr>
          <p:cNvPr id="14" name="Shape 12"/>
          <p:cNvSpPr/>
          <p:nvPr/>
        </p:nvSpPr>
        <p:spPr>
          <a:xfrm>
            <a:off x="405354" y="5890382"/>
            <a:ext cx="2159996" cy="0"/>
          </a:xfrm>
          <a:prstGeom prst="line">
            <a:avLst/>
          </a:prstGeom>
          <a:noFill/>
          <a:ln w="9525">
            <a:solidFill>
              <a:srgbClr val="7B1E2B"/>
            </a:solidFill>
            <a:prstDash val="solid"/>
          </a:ln>
        </p:spPr>
      </p:sp>
      <p:sp>
        <p:nvSpPr>
          <p:cNvPr id="15" name="Shape 13"/>
          <p:cNvSpPr/>
          <p:nvPr/>
        </p:nvSpPr>
        <p:spPr>
          <a:xfrm>
            <a:off x="405354" y="8706368"/>
            <a:ext cx="6749004" cy="0"/>
          </a:xfrm>
          <a:prstGeom prst="line">
            <a:avLst/>
          </a:prstGeom>
          <a:noFill/>
          <a:ln w="9525">
            <a:solidFill>
              <a:srgbClr val="7B1E2B"/>
            </a:solidFill>
            <a:prstDash val="solid"/>
          </a:ln>
        </p:spPr>
      </p:sp>
      <p:sp>
        <p:nvSpPr>
          <p:cNvPr id="16" name="Shape 14"/>
          <p:cNvSpPr/>
          <p:nvPr/>
        </p:nvSpPr>
        <p:spPr>
          <a:xfrm>
            <a:off x="405354" y="10365547"/>
            <a:ext cx="6749004" cy="0"/>
          </a:xfrm>
          <a:prstGeom prst="line">
            <a:avLst/>
          </a:prstGeom>
          <a:noFill/>
          <a:ln w="9525">
            <a:solidFill>
              <a:srgbClr val="BFBFBF"/>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05354" y="4544019"/>
          <a:ext cx="2159996" cy="914400"/>
        </p:xfrm>
        <a:graphic>
          <a:graphicData uri="http://schemas.openxmlformats.org/drawingml/2006/table">
            <a:tbl>
              <a:tblPr/>
              <a:tblGrid>
                <a:gridCol w="583113"/>
                <a:gridCol w="1101669"/>
                <a:gridCol w="475214"/>
              </a:tblGrid>
              <a:tr h="230429">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Nghìn đồng/cái</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Sản phẩm thay thế</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AgriPack</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Hộp/khay F&amp;B</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Hộp kraft, hộp bã mía: 1,7–3,7</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~2,5</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Đệm điện tử</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Khay EPE, EPE chống tĩnh điện: 25–55/m²</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~40/m²</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Đệm nội thất/TMĐT</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PE foam định hình: 15–30/m²</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~22,5/m²</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Khuôn theo mẫu</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Báo giá theo dự án</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~20 triệu/bộ</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405354" y="8874435"/>
          <a:ext cx="6749004" cy="914400"/>
        </p:xfrm>
        <a:graphic>
          <a:graphicData uri="http://schemas.openxmlformats.org/drawingml/2006/table">
            <a:tbl>
              <a:tblPr/>
              <a:tblGrid>
                <a:gridCol w="1619677"/>
                <a:gridCol w="2834549"/>
                <a:gridCol w="1282263"/>
                <a:gridCol w="1012515"/>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Nhóm khách hàng</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Nhu cầu, nỗi đau</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Sản phẩm</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Tỷ trọng DT 2025</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35458">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Chuỗi F&amp;B, quán ăn, tiệm bánh, suất ăn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Hộp mang đi thay hộp xốp; nhựa khó phân hủy bị loại khỏi TTTM, siêu thị, khách sạn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Hộp, khay ép theo món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79,5% (F&amp;B/FMCG)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Nhà máy thực phẩm, FMCG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Bao bì tiếp xúc thực phẩm ổn định, có kiểm nghiệm; nghĩa vụ tái chế theo NĐ 110/2026</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Khay, hộp theo SKU</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DN điện tử, linh kiện (nhiều DN FDI)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Đệm chống sốc thay EPE/EPS theo yêu cầu của khách hàng xuất khẩu</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Khay, đệm định hình</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2,5%</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Nội thất, bán hàng TMĐT</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Góc bảo vệ, đệm vận chuyển giảm hư hỏng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Đệm, nẹp góc</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5,7%</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Khách hàng có SKU mới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Bao bì đúng hình dạng sản phẩm, làm mẫu nhanh</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Thiết kế, làm khuôn (~20 triệu/bộ)</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12,3%</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110" name="Fig. 05 – biểu đồ"/>
          <p:cNvGrpSpPr/>
          <p:nvPr/>
        </p:nvGrpSpPr>
        <p:grpSpPr>
          <a:xfrm>
            <a:off x="444764" y="1125992"/>
            <a:ext cx="2081266" cy="1098286"/>
            <a:chOff x="444764" y="1125992"/>
            <a:chExt cx="2081266" cy="1098286"/>
          </a:xfrm>
        </p:grpSpPr>
        <p:sp>
          <p:nvSpPr>
            <p:cNvPr id="19" name="svg0_0"/>
            <p:cNvSpPr/>
            <p:nvPr/>
          </p:nvSpPr>
          <p:spPr>
            <a:xfrm>
              <a:off x="2005645" y="1270925"/>
              <a:ext cx="520385" cy="834481"/>
            </a:xfrm>
            <a:prstGeom prst="rect">
              <a:avLst/>
            </a:prstGeom>
            <a:solidFill>
              <a:srgbClr val="F3F1F1"/>
            </a:solidFill>
            <a:ln/>
          </p:spPr>
        </p:sp>
        <p:sp>
          <p:nvSpPr>
            <p:cNvPr id="20" name="svg0_1"/>
            <p:cNvSpPr/>
            <p:nvPr/>
          </p:nvSpPr>
          <p:spPr>
            <a:xfrm>
              <a:off x="543611" y="2041215"/>
              <a:ext cx="322600" cy="64191"/>
            </a:xfrm>
            <a:prstGeom prst="rect">
              <a:avLst/>
            </a:prstGeom>
            <a:solidFill>
              <a:srgbClr val="7B1E2B"/>
            </a:solidFill>
            <a:ln w="6858">
              <a:solidFill>
                <a:srgbClr val="FFFFFF"/>
              </a:solidFill>
              <a:prstDash val="solid"/>
            </a:ln>
          </p:spPr>
        </p:sp>
        <p:sp>
          <p:nvSpPr>
            <p:cNvPr id="21" name="svg0_2"/>
            <p:cNvSpPr/>
            <p:nvPr/>
          </p:nvSpPr>
          <p:spPr>
            <a:xfrm>
              <a:off x="543611" y="2028322"/>
              <a:ext cx="322600" cy="12893"/>
            </a:xfrm>
            <a:prstGeom prst="rect">
              <a:avLst/>
            </a:prstGeom>
            <a:solidFill>
              <a:srgbClr val="A3A3A3"/>
            </a:solidFill>
            <a:ln w="6858">
              <a:solidFill>
                <a:srgbClr val="FFFFFF"/>
              </a:solidFill>
              <a:prstDash val="solid"/>
            </a:ln>
          </p:spPr>
        </p:sp>
        <p:sp>
          <p:nvSpPr>
            <p:cNvPr id="22" name="svg0_3"/>
            <p:cNvSpPr/>
            <p:nvPr/>
          </p:nvSpPr>
          <p:spPr>
            <a:xfrm>
              <a:off x="543611" y="2021830"/>
              <a:ext cx="322600" cy="6492"/>
            </a:xfrm>
            <a:prstGeom prst="rect">
              <a:avLst/>
            </a:prstGeom>
            <a:solidFill>
              <a:srgbClr val="404040"/>
            </a:solidFill>
            <a:ln w="6858">
              <a:solidFill>
                <a:srgbClr val="FFFFFF"/>
              </a:solidFill>
              <a:prstDash val="solid"/>
            </a:ln>
          </p:spPr>
        </p:sp>
        <p:sp>
          <p:nvSpPr>
            <p:cNvPr id="23" name="svg0_4"/>
            <p:cNvSpPr txBox="1"/>
            <p:nvPr/>
          </p:nvSpPr>
          <p:spPr>
            <a:xfrm>
              <a:off x="601950" y="1912650"/>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19,6</a:t>
              </a:r>
              <a:endParaRPr lang="en-US" sz="649" dirty="0"/>
            </a:p>
          </p:txBody>
        </p:sp>
        <p:sp>
          <p:nvSpPr>
            <p:cNvPr id="24" name="svg0_5"/>
            <p:cNvSpPr txBox="1"/>
            <p:nvPr/>
          </p:nvSpPr>
          <p:spPr>
            <a:xfrm>
              <a:off x="574700" y="2119488"/>
              <a:ext cx="26471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2023A</a:t>
              </a:r>
              <a:endParaRPr lang="en-US" sz="587" dirty="0"/>
            </a:p>
          </p:txBody>
        </p:sp>
        <p:sp>
          <p:nvSpPr>
            <p:cNvPr id="25" name="svg0_6"/>
            <p:cNvSpPr/>
            <p:nvPr/>
          </p:nvSpPr>
          <p:spPr>
            <a:xfrm>
              <a:off x="1063904" y="2002719"/>
              <a:ext cx="322600" cy="102687"/>
            </a:xfrm>
            <a:prstGeom prst="rect">
              <a:avLst/>
            </a:prstGeom>
            <a:solidFill>
              <a:srgbClr val="7B1E2B"/>
            </a:solidFill>
            <a:ln w="6858">
              <a:solidFill>
                <a:srgbClr val="FFFFFF"/>
              </a:solidFill>
              <a:prstDash val="solid"/>
            </a:ln>
          </p:spPr>
        </p:sp>
        <p:sp>
          <p:nvSpPr>
            <p:cNvPr id="26" name="svg0_7"/>
            <p:cNvSpPr txBox="1"/>
            <p:nvPr/>
          </p:nvSpPr>
          <p:spPr>
            <a:xfrm>
              <a:off x="1136142" y="2004639"/>
              <a:ext cx="184800"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77%</a:t>
              </a:r>
              <a:endParaRPr lang="en-US" sz="557" dirty="0"/>
            </a:p>
          </p:txBody>
        </p:sp>
        <p:sp>
          <p:nvSpPr>
            <p:cNvPr id="27" name="svg0_8"/>
            <p:cNvSpPr/>
            <p:nvPr/>
          </p:nvSpPr>
          <p:spPr>
            <a:xfrm>
              <a:off x="1063904" y="1984614"/>
              <a:ext cx="322600" cy="18105"/>
            </a:xfrm>
            <a:prstGeom prst="rect">
              <a:avLst/>
            </a:prstGeom>
            <a:solidFill>
              <a:srgbClr val="A3A3A3"/>
            </a:solidFill>
            <a:ln w="6858">
              <a:solidFill>
                <a:srgbClr val="FFFFFF"/>
              </a:solidFill>
              <a:prstDash val="solid"/>
            </a:ln>
          </p:spPr>
        </p:sp>
        <p:sp>
          <p:nvSpPr>
            <p:cNvPr id="28" name="svg0_9"/>
            <p:cNvSpPr/>
            <p:nvPr/>
          </p:nvSpPr>
          <p:spPr>
            <a:xfrm>
              <a:off x="1063904" y="1974921"/>
              <a:ext cx="322600" cy="9693"/>
            </a:xfrm>
            <a:prstGeom prst="rect">
              <a:avLst/>
            </a:prstGeom>
            <a:solidFill>
              <a:srgbClr val="404040"/>
            </a:solidFill>
            <a:ln w="6858">
              <a:solidFill>
                <a:srgbClr val="FFFFFF"/>
              </a:solidFill>
              <a:prstDash val="solid"/>
            </a:ln>
          </p:spPr>
        </p:sp>
        <p:sp>
          <p:nvSpPr>
            <p:cNvPr id="29" name="svg0_10"/>
            <p:cNvSpPr/>
            <p:nvPr/>
          </p:nvSpPr>
          <p:spPr>
            <a:xfrm>
              <a:off x="1063904" y="1972452"/>
              <a:ext cx="322600" cy="2469"/>
            </a:xfrm>
            <a:prstGeom prst="rect">
              <a:avLst/>
            </a:prstGeom>
            <a:solidFill>
              <a:srgbClr val="D0D0D0"/>
            </a:solidFill>
            <a:ln w="6858">
              <a:solidFill>
                <a:srgbClr val="FFFFFF"/>
              </a:solidFill>
              <a:prstDash val="solid"/>
            </a:ln>
          </p:spPr>
        </p:sp>
        <p:sp>
          <p:nvSpPr>
            <p:cNvPr id="30" name="svg0_11"/>
            <p:cNvSpPr txBox="1"/>
            <p:nvPr/>
          </p:nvSpPr>
          <p:spPr>
            <a:xfrm>
              <a:off x="1122243" y="1863547"/>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31,2</a:t>
              </a:r>
              <a:endParaRPr lang="en-US" sz="649" dirty="0"/>
            </a:p>
          </p:txBody>
        </p:sp>
        <p:sp>
          <p:nvSpPr>
            <p:cNvPr id="31" name="svg0_12"/>
            <p:cNvSpPr txBox="1"/>
            <p:nvPr/>
          </p:nvSpPr>
          <p:spPr>
            <a:xfrm>
              <a:off x="1095085" y="2119488"/>
              <a:ext cx="26471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2024A</a:t>
              </a:r>
              <a:endParaRPr lang="en-US" sz="587" dirty="0"/>
            </a:p>
          </p:txBody>
        </p:sp>
        <p:sp>
          <p:nvSpPr>
            <p:cNvPr id="32" name="svg0_13"/>
            <p:cNvSpPr/>
            <p:nvPr/>
          </p:nvSpPr>
          <p:spPr>
            <a:xfrm>
              <a:off x="1584198" y="1943100"/>
              <a:ext cx="322600" cy="162306"/>
            </a:xfrm>
            <a:prstGeom prst="rect">
              <a:avLst/>
            </a:prstGeom>
            <a:solidFill>
              <a:srgbClr val="7B1E2B"/>
            </a:solidFill>
            <a:ln w="6858">
              <a:solidFill>
                <a:srgbClr val="FFFFFF"/>
              </a:solidFill>
              <a:prstDash val="solid"/>
            </a:ln>
          </p:spPr>
        </p:sp>
        <p:sp>
          <p:nvSpPr>
            <p:cNvPr id="33" name="svg0_14"/>
            <p:cNvSpPr txBox="1"/>
            <p:nvPr/>
          </p:nvSpPr>
          <p:spPr>
            <a:xfrm>
              <a:off x="1656436" y="1974281"/>
              <a:ext cx="184800"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79%</a:t>
              </a:r>
              <a:endParaRPr lang="en-US" sz="557" dirty="0"/>
            </a:p>
          </p:txBody>
        </p:sp>
        <p:sp>
          <p:nvSpPr>
            <p:cNvPr id="34" name="svg0_15"/>
            <p:cNvSpPr/>
            <p:nvPr/>
          </p:nvSpPr>
          <p:spPr>
            <a:xfrm>
              <a:off x="1584198" y="1917863"/>
              <a:ext cx="322600" cy="25146"/>
            </a:xfrm>
            <a:prstGeom prst="rect">
              <a:avLst/>
            </a:prstGeom>
            <a:solidFill>
              <a:srgbClr val="A3A3A3"/>
            </a:solidFill>
            <a:ln w="6858">
              <a:solidFill>
                <a:srgbClr val="FFFFFF"/>
              </a:solidFill>
              <a:prstDash val="solid"/>
            </a:ln>
          </p:spPr>
        </p:sp>
        <p:sp>
          <p:nvSpPr>
            <p:cNvPr id="35" name="svg0_16"/>
            <p:cNvSpPr/>
            <p:nvPr/>
          </p:nvSpPr>
          <p:spPr>
            <a:xfrm>
              <a:off x="1584198" y="1906341"/>
              <a:ext cx="322600" cy="11613"/>
            </a:xfrm>
            <a:prstGeom prst="rect">
              <a:avLst/>
            </a:prstGeom>
            <a:solidFill>
              <a:srgbClr val="404040"/>
            </a:solidFill>
            <a:ln w="6858">
              <a:solidFill>
                <a:srgbClr val="FFFFFF"/>
              </a:solidFill>
              <a:prstDash val="solid"/>
            </a:ln>
          </p:spPr>
        </p:sp>
        <p:sp>
          <p:nvSpPr>
            <p:cNvPr id="36" name="svg0_17"/>
            <p:cNvSpPr/>
            <p:nvPr/>
          </p:nvSpPr>
          <p:spPr>
            <a:xfrm>
              <a:off x="1584198" y="1901220"/>
              <a:ext cx="322600" cy="5121"/>
            </a:xfrm>
            <a:prstGeom prst="rect">
              <a:avLst/>
            </a:prstGeom>
            <a:solidFill>
              <a:srgbClr val="D0D0D0"/>
            </a:solidFill>
            <a:ln w="6858">
              <a:solidFill>
                <a:srgbClr val="FFFFFF"/>
              </a:solidFill>
              <a:prstDash val="solid"/>
            </a:ln>
          </p:spPr>
        </p:sp>
        <p:sp>
          <p:nvSpPr>
            <p:cNvPr id="37" name="svg0_18"/>
            <p:cNvSpPr txBox="1"/>
            <p:nvPr/>
          </p:nvSpPr>
          <p:spPr>
            <a:xfrm>
              <a:off x="1642628" y="1791950"/>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47,9</a:t>
              </a:r>
              <a:endParaRPr lang="en-US" sz="649" dirty="0"/>
            </a:p>
          </p:txBody>
        </p:sp>
        <p:sp>
          <p:nvSpPr>
            <p:cNvPr id="38" name="svg0_19"/>
            <p:cNvSpPr txBox="1"/>
            <p:nvPr/>
          </p:nvSpPr>
          <p:spPr>
            <a:xfrm>
              <a:off x="1615470" y="2119488"/>
              <a:ext cx="26471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a:t>
              </a:r>
              <a:endParaRPr lang="en-US" sz="587" dirty="0"/>
            </a:p>
          </p:txBody>
        </p:sp>
        <p:sp>
          <p:nvSpPr>
            <p:cNvPr id="39" name="svg0_20"/>
            <p:cNvSpPr/>
            <p:nvPr/>
          </p:nvSpPr>
          <p:spPr>
            <a:xfrm>
              <a:off x="2104583" y="1535643"/>
              <a:ext cx="322600" cy="569763"/>
            </a:xfrm>
            <a:prstGeom prst="rect">
              <a:avLst/>
            </a:prstGeom>
            <a:solidFill>
              <a:srgbClr val="7B1E2B"/>
            </a:solidFill>
            <a:ln w="6858">
              <a:solidFill>
                <a:srgbClr val="FFFFFF"/>
              </a:solidFill>
              <a:prstDash val="solid"/>
            </a:ln>
          </p:spPr>
        </p:sp>
        <p:sp>
          <p:nvSpPr>
            <p:cNvPr id="40" name="svg0_21"/>
            <p:cNvSpPr txBox="1"/>
            <p:nvPr/>
          </p:nvSpPr>
          <p:spPr>
            <a:xfrm>
              <a:off x="2176821" y="1771010"/>
              <a:ext cx="184800"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78%</a:t>
              </a:r>
              <a:endParaRPr lang="en-US" sz="557" dirty="0"/>
            </a:p>
          </p:txBody>
        </p:sp>
        <p:sp>
          <p:nvSpPr>
            <p:cNvPr id="41" name="svg0_22"/>
            <p:cNvSpPr/>
            <p:nvPr/>
          </p:nvSpPr>
          <p:spPr>
            <a:xfrm>
              <a:off x="2104583" y="1465052"/>
              <a:ext cx="322600" cy="70592"/>
            </a:xfrm>
            <a:prstGeom prst="rect">
              <a:avLst/>
            </a:prstGeom>
            <a:solidFill>
              <a:srgbClr val="A3A3A3"/>
            </a:solidFill>
            <a:ln w="6858">
              <a:solidFill>
                <a:srgbClr val="FFFFFF"/>
              </a:solidFill>
              <a:prstDash val="solid"/>
            </a:ln>
          </p:spPr>
        </p:sp>
        <p:sp>
          <p:nvSpPr>
            <p:cNvPr id="42" name="svg0_23"/>
            <p:cNvSpPr/>
            <p:nvPr/>
          </p:nvSpPr>
          <p:spPr>
            <a:xfrm>
              <a:off x="2104583" y="1415857"/>
              <a:ext cx="322600" cy="49103"/>
            </a:xfrm>
            <a:prstGeom prst="rect">
              <a:avLst/>
            </a:prstGeom>
            <a:solidFill>
              <a:srgbClr val="404040"/>
            </a:solidFill>
            <a:ln w="6858">
              <a:solidFill>
                <a:srgbClr val="FFFFFF"/>
              </a:solidFill>
              <a:prstDash val="solid"/>
            </a:ln>
          </p:spPr>
        </p:sp>
        <p:sp>
          <p:nvSpPr>
            <p:cNvPr id="43" name="svg0_24"/>
            <p:cNvSpPr/>
            <p:nvPr/>
          </p:nvSpPr>
          <p:spPr>
            <a:xfrm>
              <a:off x="2104583" y="1373886"/>
              <a:ext cx="322600" cy="41971"/>
            </a:xfrm>
            <a:prstGeom prst="rect">
              <a:avLst/>
            </a:prstGeom>
            <a:solidFill>
              <a:srgbClr val="D0D0D0"/>
            </a:solidFill>
            <a:ln w="6858">
              <a:solidFill>
                <a:srgbClr val="FFFFFF"/>
              </a:solidFill>
              <a:prstDash val="solid"/>
            </a:ln>
          </p:spPr>
        </p:sp>
        <p:sp>
          <p:nvSpPr>
            <p:cNvPr id="44" name="svg0_25"/>
            <p:cNvSpPr txBox="1"/>
            <p:nvPr/>
          </p:nvSpPr>
          <p:spPr>
            <a:xfrm>
              <a:off x="2139605" y="1264707"/>
              <a:ext cx="252557"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171,5</a:t>
              </a:r>
              <a:endParaRPr lang="en-US" sz="649" dirty="0"/>
            </a:p>
          </p:txBody>
        </p:sp>
        <p:sp>
          <p:nvSpPr>
            <p:cNvPr id="45" name="svg0_26"/>
            <p:cNvSpPr txBox="1"/>
            <p:nvPr/>
          </p:nvSpPr>
          <p:spPr>
            <a:xfrm>
              <a:off x="2139696" y="2119488"/>
              <a:ext cx="253837"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2030E</a:t>
              </a:r>
              <a:endParaRPr lang="en-US" sz="587" dirty="0"/>
            </a:p>
          </p:txBody>
        </p:sp>
        <p:sp>
          <p:nvSpPr>
            <p:cNvPr id="46" name="svg0_27"/>
            <p:cNvSpPr/>
            <p:nvPr/>
          </p:nvSpPr>
          <p:spPr>
            <a:xfrm>
              <a:off x="444764" y="2105406"/>
              <a:ext cx="2081266" cy="0"/>
            </a:xfrm>
            <a:prstGeom prst="line">
              <a:avLst/>
            </a:prstGeom>
            <a:noFill/>
            <a:ln w="6858">
              <a:solidFill>
                <a:srgbClr val="8C8C8C"/>
              </a:solidFill>
              <a:prstDash val="solid"/>
            </a:ln>
          </p:spPr>
        </p:sp>
        <p:sp>
          <p:nvSpPr>
            <p:cNvPr id="47" name="svg0_28"/>
            <p:cNvSpPr/>
            <p:nvPr/>
          </p:nvSpPr>
          <p:spPr>
            <a:xfrm>
              <a:off x="444764" y="1147206"/>
              <a:ext cx="60899" cy="60899"/>
            </a:xfrm>
            <a:prstGeom prst="rect">
              <a:avLst/>
            </a:prstGeom>
            <a:solidFill>
              <a:srgbClr val="7B1E2B"/>
            </a:solidFill>
            <a:ln/>
          </p:spPr>
        </p:sp>
        <p:sp>
          <p:nvSpPr>
            <p:cNvPr id="48" name="svg0_29"/>
            <p:cNvSpPr txBox="1"/>
            <p:nvPr/>
          </p:nvSpPr>
          <p:spPr>
            <a:xfrm>
              <a:off x="528157" y="1125992"/>
              <a:ext cx="424739"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F&amp;B/FMCG</a:t>
              </a:r>
              <a:endParaRPr lang="en-US" sz="587" dirty="0"/>
            </a:p>
          </p:txBody>
        </p:sp>
        <p:sp>
          <p:nvSpPr>
            <p:cNvPr id="49" name="svg0_30"/>
            <p:cNvSpPr/>
            <p:nvPr/>
          </p:nvSpPr>
          <p:spPr>
            <a:xfrm>
              <a:off x="897118" y="1147206"/>
              <a:ext cx="60899" cy="60899"/>
            </a:xfrm>
            <a:prstGeom prst="rect">
              <a:avLst/>
            </a:prstGeom>
            <a:solidFill>
              <a:srgbClr val="A3A3A3"/>
            </a:solidFill>
            <a:ln/>
          </p:spPr>
        </p:sp>
        <p:sp>
          <p:nvSpPr>
            <p:cNvPr id="50" name="svg0_31"/>
            <p:cNvSpPr txBox="1"/>
            <p:nvPr/>
          </p:nvSpPr>
          <p:spPr>
            <a:xfrm>
              <a:off x="980785" y="1125992"/>
              <a:ext cx="261244"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Khuôn</a:t>
              </a:r>
              <a:endParaRPr lang="en-US" sz="587" dirty="0"/>
            </a:p>
          </p:txBody>
        </p:sp>
        <p:sp>
          <p:nvSpPr>
            <p:cNvPr id="51" name="svg0_32"/>
            <p:cNvSpPr/>
            <p:nvPr/>
          </p:nvSpPr>
          <p:spPr>
            <a:xfrm>
              <a:off x="1244224" y="1147206"/>
              <a:ext cx="60899" cy="60899"/>
            </a:xfrm>
            <a:prstGeom prst="rect">
              <a:avLst/>
            </a:prstGeom>
            <a:solidFill>
              <a:srgbClr val="404040"/>
            </a:solidFill>
            <a:ln/>
          </p:spPr>
        </p:sp>
        <p:sp>
          <p:nvSpPr>
            <p:cNvPr id="52" name="svg0_33"/>
            <p:cNvSpPr txBox="1"/>
            <p:nvPr/>
          </p:nvSpPr>
          <p:spPr>
            <a:xfrm>
              <a:off x="1327343" y="1125992"/>
              <a:ext cx="56052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Nội thất/TMĐT</a:t>
              </a:r>
              <a:endParaRPr lang="en-US" sz="587" dirty="0"/>
            </a:p>
          </p:txBody>
        </p:sp>
        <p:sp>
          <p:nvSpPr>
            <p:cNvPr id="53" name="svg0_34"/>
            <p:cNvSpPr/>
            <p:nvPr/>
          </p:nvSpPr>
          <p:spPr>
            <a:xfrm>
              <a:off x="1871868" y="1147206"/>
              <a:ext cx="60899" cy="60899"/>
            </a:xfrm>
            <a:prstGeom prst="rect">
              <a:avLst/>
            </a:prstGeom>
            <a:solidFill>
              <a:srgbClr val="D0D0D0"/>
            </a:solidFill>
            <a:ln/>
          </p:spPr>
        </p:sp>
        <p:sp>
          <p:nvSpPr>
            <p:cNvPr id="54" name="svg0_35"/>
            <p:cNvSpPr txBox="1"/>
            <p:nvPr/>
          </p:nvSpPr>
          <p:spPr>
            <a:xfrm>
              <a:off x="1955627" y="1125992"/>
              <a:ext cx="29955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Điện tử</a:t>
              </a:r>
              <a:endParaRPr lang="en-US" sz="587" dirty="0"/>
            </a:p>
          </p:txBody>
        </p:sp>
      </p:grpSp>
      <p:grpSp>
        <p:nvGrpSpPr>
          <p:cNvPr id="111" name="Fig. 06 – biểu đồ"/>
          <p:cNvGrpSpPr/>
          <p:nvPr/>
        </p:nvGrpSpPr>
        <p:grpSpPr>
          <a:xfrm>
            <a:off x="425105" y="3681009"/>
            <a:ext cx="2120493" cy="218633"/>
            <a:chOff x="425105" y="3681009"/>
            <a:chExt cx="2120493" cy="218633"/>
          </a:xfrm>
        </p:grpSpPr>
        <p:sp>
          <p:nvSpPr>
            <p:cNvPr id="55" name="svg1_36"/>
            <p:cNvSpPr/>
            <p:nvPr/>
          </p:nvSpPr>
          <p:spPr>
            <a:xfrm>
              <a:off x="425105" y="3791651"/>
              <a:ext cx="519471" cy="107991"/>
            </a:xfrm>
            <a:prstGeom prst="rect">
              <a:avLst/>
            </a:prstGeom>
            <a:solidFill>
              <a:srgbClr val="404040"/>
            </a:solidFill>
            <a:ln/>
          </p:spPr>
        </p:sp>
        <p:sp>
          <p:nvSpPr>
            <p:cNvPr id="56" name="svg1_37"/>
            <p:cNvSpPr/>
            <p:nvPr/>
          </p:nvSpPr>
          <p:spPr>
            <a:xfrm>
              <a:off x="944575" y="3791651"/>
              <a:ext cx="1601023" cy="107991"/>
            </a:xfrm>
            <a:prstGeom prst="rect">
              <a:avLst/>
            </a:prstGeom>
            <a:solidFill>
              <a:srgbClr val="7B1E2B"/>
            </a:solidFill>
            <a:ln/>
          </p:spPr>
        </p:sp>
        <p:sp>
          <p:nvSpPr>
            <p:cNvPr id="57" name="svg1_38"/>
            <p:cNvSpPr txBox="1"/>
            <p:nvPr/>
          </p:nvSpPr>
          <p:spPr>
            <a:xfrm>
              <a:off x="444764" y="3794028"/>
              <a:ext cx="692475" cy="104790"/>
            </a:xfrm>
            <a:prstGeom prst="rect">
              <a:avLst/>
            </a:prstGeom>
            <a:noFill/>
            <a:ln/>
          </p:spPr>
          <p:txBody>
            <a:bodyPr wrap="none" lIns="0" tIns="0" rIns="0" bIns="0" rtlCol="0" anchor="ctr"/>
            <a:lstStyle/>
            <a:p>
              <a:pPr algn="l" indent="0" marL="0">
                <a:buNone/>
              </a:pPr>
              <a:r>
                <a:rPr lang="en-US" sz="588" dirty="0">
                  <a:solidFill>
                    <a:srgbClr val="FFFFFF"/>
                  </a:solidFill>
                  <a:latin typeface="Calibri" pitchFamily="34" charset="0"/>
                  <a:ea typeface="Calibri" pitchFamily="34" charset="-122"/>
                  <a:cs typeface="Calibri" pitchFamily="34" charset="-120"/>
                </a:rPr>
                <a:t>CP biến đổi ~610 đ</a:t>
              </a:r>
              <a:endParaRPr lang="en-US" sz="588" dirty="0"/>
            </a:p>
          </p:txBody>
        </p:sp>
        <p:sp>
          <p:nvSpPr>
            <p:cNvPr id="58" name="svg1_39"/>
            <p:cNvSpPr txBox="1"/>
            <p:nvPr/>
          </p:nvSpPr>
          <p:spPr>
            <a:xfrm>
              <a:off x="1391260" y="3794028"/>
              <a:ext cx="1134770" cy="104790"/>
            </a:xfrm>
            <a:prstGeom prst="rect">
              <a:avLst/>
            </a:prstGeom>
            <a:noFill/>
            <a:ln/>
          </p:spPr>
          <p:txBody>
            <a:bodyPr wrap="none" lIns="0" tIns="0" rIns="0" bIns="0" rtlCol="0" anchor="ctr"/>
            <a:lstStyle/>
            <a:p>
              <a:pPr algn="r" indent="0" marL="0">
                <a:buNone/>
              </a:pPr>
              <a:r>
                <a:rPr lang="en-US" sz="588" dirty="0">
                  <a:solidFill>
                    <a:srgbClr val="FFFFFF"/>
                  </a:solidFill>
                  <a:latin typeface="Calibri" pitchFamily="34" charset="0"/>
                  <a:ea typeface="Calibri" pitchFamily="34" charset="-122"/>
                  <a:cs typeface="Calibri" pitchFamily="34" charset="-120"/>
                </a:rPr>
                <a:t>Lãi trên biến phí ~1.870 đ (76%)</a:t>
              </a:r>
              <a:endParaRPr lang="en-US" sz="588" dirty="0"/>
            </a:p>
          </p:txBody>
        </p:sp>
        <p:sp>
          <p:nvSpPr>
            <p:cNvPr id="59" name="svg1_40"/>
            <p:cNvSpPr txBox="1"/>
            <p:nvPr/>
          </p:nvSpPr>
          <p:spPr>
            <a:xfrm>
              <a:off x="425105" y="3681009"/>
              <a:ext cx="2075505" cy="104790"/>
            </a:xfrm>
            <a:prstGeom prst="rect">
              <a:avLst/>
            </a:prstGeom>
            <a:noFill/>
            <a:ln/>
          </p:spPr>
          <p:txBody>
            <a:bodyPr wrap="none" lIns="0" tIns="0" rIns="0" bIns="0" rtlCol="0" anchor="ctr"/>
            <a:lstStyle/>
            <a:p>
              <a:pPr algn="l" indent="0" marL="0">
                <a:buNone/>
              </a:pPr>
              <a:r>
                <a:rPr lang="en-US" sz="588" dirty="0">
                  <a:solidFill>
                    <a:srgbClr val="666666"/>
                  </a:solidFill>
                  <a:latin typeface="Calibri" pitchFamily="34" charset="0"/>
                  <a:ea typeface="Calibri" pitchFamily="34" charset="-122"/>
                  <a:cs typeface="Calibri" pitchFamily="34" charset="-120"/>
                </a:rPr>
                <a:t>Hộp F&amp;B: doanh thu thuần ~2.480 đ/cái (giá 2.500 đ, 2025)</a:t>
              </a:r>
              <a:endParaRPr lang="en-US" sz="588" dirty="0"/>
            </a:p>
          </p:txBody>
        </p:sp>
      </p:grpSp>
      <p:grpSp>
        <p:nvGrpSpPr>
          <p:cNvPr id="112" name="Fig. 08 – biểu đồ"/>
          <p:cNvGrpSpPr/>
          <p:nvPr/>
        </p:nvGrpSpPr>
        <p:grpSpPr>
          <a:xfrm>
            <a:off x="425196" y="6187653"/>
            <a:ext cx="2120402" cy="941558"/>
            <a:chOff x="425196" y="6187653"/>
            <a:chExt cx="2120402" cy="941558"/>
          </a:xfrm>
        </p:grpSpPr>
        <p:sp>
          <p:nvSpPr>
            <p:cNvPr id="60" name="svg2_41"/>
            <p:cNvSpPr/>
            <p:nvPr/>
          </p:nvSpPr>
          <p:spPr>
            <a:xfrm>
              <a:off x="425196" y="6187653"/>
              <a:ext cx="2120402" cy="186629"/>
            </a:xfrm>
            <a:prstGeom prst="rect">
              <a:avLst/>
            </a:prstGeom>
            <a:solidFill>
              <a:srgbClr val="D0D0D0"/>
            </a:solidFill>
            <a:ln/>
          </p:spPr>
        </p:sp>
        <p:sp>
          <p:nvSpPr>
            <p:cNvPr id="61" name="svg2_42"/>
            <p:cNvSpPr txBox="1"/>
            <p:nvPr/>
          </p:nvSpPr>
          <p:spPr>
            <a:xfrm>
              <a:off x="1108893" y="6190031"/>
              <a:ext cx="755386" cy="104790"/>
            </a:xfrm>
            <a:prstGeom prst="rect">
              <a:avLst/>
            </a:prstGeom>
            <a:noFill/>
            <a:ln/>
          </p:spPr>
          <p:txBody>
            <a:bodyPr wrap="none" lIns="0" tIns="0" rIns="0" bIns="0" rtlCol="0" anchor="ctr"/>
            <a:lstStyle/>
            <a:p>
              <a:pPr algn="ctr" indent="0" marL="0">
                <a:buNone/>
              </a:pPr>
              <a:r>
                <a:rPr lang="en-US" sz="541" b="1" dirty="0">
                  <a:solidFill>
                    <a:srgbClr val="262626"/>
                  </a:solidFill>
                  <a:latin typeface="Calibri" pitchFamily="34" charset="0"/>
                  <a:ea typeface="Calibri" pitchFamily="34" charset="-122"/>
                  <a:cs typeface="Calibri" pitchFamily="34" charset="-120"/>
                </a:rPr>
                <a:t>TAM – bao bì xanh VN</a:t>
              </a:r>
              <a:endParaRPr lang="en-US" sz="541" dirty="0"/>
            </a:p>
          </p:txBody>
        </p:sp>
        <p:sp>
          <p:nvSpPr>
            <p:cNvPr id="62" name="svg2_43"/>
            <p:cNvSpPr txBox="1"/>
            <p:nvPr/>
          </p:nvSpPr>
          <p:spPr>
            <a:xfrm>
              <a:off x="1094628" y="6264554"/>
              <a:ext cx="781538"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1.130 triệu USD (2025)</a:t>
              </a:r>
              <a:endParaRPr lang="en-US" sz="557" dirty="0"/>
            </a:p>
          </p:txBody>
        </p:sp>
        <p:sp>
          <p:nvSpPr>
            <p:cNvPr id="63" name="svg2_44"/>
            <p:cNvSpPr/>
            <p:nvPr/>
          </p:nvSpPr>
          <p:spPr>
            <a:xfrm>
              <a:off x="552480" y="6403635"/>
              <a:ext cx="1865833" cy="186538"/>
            </a:xfrm>
            <a:prstGeom prst="rect">
              <a:avLst/>
            </a:prstGeom>
            <a:solidFill>
              <a:srgbClr val="A3A3A3"/>
            </a:solidFill>
            <a:ln/>
          </p:spPr>
        </p:sp>
        <p:sp>
          <p:nvSpPr>
            <p:cNvPr id="64" name="svg2_45"/>
            <p:cNvSpPr txBox="1"/>
            <p:nvPr/>
          </p:nvSpPr>
          <p:spPr>
            <a:xfrm>
              <a:off x="569580" y="6405921"/>
              <a:ext cx="1837030" cy="104790"/>
            </a:xfrm>
            <a:prstGeom prst="rect">
              <a:avLst/>
            </a:prstGeom>
            <a:noFill/>
            <a:ln/>
          </p:spPr>
          <p:txBody>
            <a:bodyPr wrap="none" lIns="0" tIns="0" rIns="0" bIns="0" rtlCol="0" anchor="ctr"/>
            <a:lstStyle/>
            <a:p>
              <a:pPr algn="ctr" indent="0" marL="0">
                <a:buNone/>
              </a:pPr>
              <a:r>
                <a:rPr lang="en-US" sz="541" b="1" dirty="0">
                  <a:solidFill>
                    <a:srgbClr val="262626"/>
                  </a:solidFill>
                  <a:latin typeface="Calibri" pitchFamily="34" charset="0"/>
                  <a:ea typeface="Calibri" pitchFamily="34" charset="-122"/>
                  <a:cs typeface="Calibri" pitchFamily="34" charset="-120"/>
                </a:rPr>
                <a:t>SAM – đồ dùng 1 lần phân hủy sinh học, ngành ăn uống</a:t>
              </a:r>
              <a:endParaRPr lang="en-US" sz="541" dirty="0"/>
            </a:p>
          </p:txBody>
        </p:sp>
        <p:sp>
          <p:nvSpPr>
            <p:cNvPr id="65" name="svg2_46"/>
            <p:cNvSpPr txBox="1"/>
            <p:nvPr/>
          </p:nvSpPr>
          <p:spPr>
            <a:xfrm>
              <a:off x="1115019" y="6480536"/>
              <a:ext cx="74066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33,9 triệu USD (2025)</a:t>
              </a:r>
              <a:endParaRPr lang="en-US" sz="557" dirty="0"/>
            </a:p>
          </p:txBody>
        </p:sp>
        <p:sp>
          <p:nvSpPr>
            <p:cNvPr id="66" name="svg2_47"/>
            <p:cNvSpPr/>
            <p:nvPr/>
          </p:nvSpPr>
          <p:spPr>
            <a:xfrm>
              <a:off x="679582" y="6619616"/>
              <a:ext cx="1611539" cy="186538"/>
            </a:xfrm>
            <a:prstGeom prst="rect">
              <a:avLst/>
            </a:prstGeom>
            <a:solidFill>
              <a:srgbClr val="404040"/>
            </a:solidFill>
            <a:ln/>
          </p:spPr>
        </p:sp>
        <p:sp>
          <p:nvSpPr>
            <p:cNvPr id="67" name="svg2_48"/>
            <p:cNvSpPr txBox="1"/>
            <p:nvPr/>
          </p:nvSpPr>
          <p:spPr>
            <a:xfrm>
              <a:off x="849386" y="6621902"/>
              <a:ext cx="1276960" cy="104790"/>
            </a:xfrm>
            <a:prstGeom prst="rect">
              <a:avLst/>
            </a:prstGeom>
            <a:noFill/>
            <a:ln/>
          </p:spPr>
          <p:txBody>
            <a:bodyPr wrap="none" lIns="0" tIns="0" rIns="0" bIns="0" rtlCol="0" anchor="ctr"/>
            <a:lstStyle/>
            <a:p>
              <a:pPr algn="ctr" indent="0" marL="0">
                <a:buNone/>
              </a:pPr>
              <a:r>
                <a:rPr lang="en-US" sz="541" b="1" dirty="0">
                  <a:solidFill>
                    <a:srgbClr val="FFFFFF"/>
                  </a:solidFill>
                  <a:latin typeface="Calibri" pitchFamily="34" charset="0"/>
                  <a:ea typeface="Calibri" pitchFamily="34" charset="-122"/>
                  <a:cs typeface="Calibri" pitchFamily="34" charset="-120"/>
                </a:rPr>
                <a:t>SOM 2030E – doanh thu F&amp;B AgriPack</a:t>
              </a:r>
              <a:endParaRPr lang="en-US" sz="541" dirty="0"/>
            </a:p>
          </p:txBody>
        </p:sp>
        <p:sp>
          <p:nvSpPr>
            <p:cNvPr id="68" name="svg2_49"/>
            <p:cNvSpPr txBox="1"/>
            <p:nvPr/>
          </p:nvSpPr>
          <p:spPr>
            <a:xfrm>
              <a:off x="1007029" y="6696517"/>
              <a:ext cx="956645"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4,69 triệu USD = 11,0% SAM</a:t>
              </a:r>
              <a:endParaRPr lang="en-US" sz="557" dirty="0"/>
            </a:p>
          </p:txBody>
        </p:sp>
        <p:sp>
          <p:nvSpPr>
            <p:cNvPr id="69" name="svg2_50"/>
            <p:cNvSpPr/>
            <p:nvPr/>
          </p:nvSpPr>
          <p:spPr>
            <a:xfrm>
              <a:off x="806867" y="6835506"/>
              <a:ext cx="1357061" cy="186538"/>
            </a:xfrm>
            <a:prstGeom prst="rect">
              <a:avLst/>
            </a:prstGeom>
            <a:solidFill>
              <a:srgbClr val="7B1E2B"/>
            </a:solidFill>
            <a:ln/>
          </p:spPr>
        </p:sp>
        <p:sp>
          <p:nvSpPr>
            <p:cNvPr id="70" name="svg2_51"/>
            <p:cNvSpPr txBox="1"/>
            <p:nvPr/>
          </p:nvSpPr>
          <p:spPr>
            <a:xfrm>
              <a:off x="868497" y="6837883"/>
              <a:ext cx="1238829" cy="104790"/>
            </a:xfrm>
            <a:prstGeom prst="rect">
              <a:avLst/>
            </a:prstGeom>
            <a:noFill/>
            <a:ln/>
          </p:spPr>
          <p:txBody>
            <a:bodyPr wrap="none" lIns="0" tIns="0" rIns="0" bIns="0" rtlCol="0" anchor="ctr"/>
            <a:lstStyle/>
            <a:p>
              <a:pPr algn="ctr" indent="0" marL="0">
                <a:buNone/>
              </a:pPr>
              <a:r>
                <a:rPr lang="en-US" sz="541" b="1" dirty="0">
                  <a:solidFill>
                    <a:srgbClr val="FFFFFF"/>
                  </a:solidFill>
                  <a:latin typeface="Calibri" pitchFamily="34" charset="0"/>
                  <a:ea typeface="Calibri" pitchFamily="34" charset="-122"/>
                  <a:cs typeface="Calibri" pitchFamily="34" charset="-120"/>
                </a:rPr>
                <a:t>SOM 2025 – doanh thu F&amp;B AgriPack</a:t>
              </a:r>
              <a:endParaRPr lang="en-US" sz="541" dirty="0"/>
            </a:p>
          </p:txBody>
        </p:sp>
        <p:sp>
          <p:nvSpPr>
            <p:cNvPr id="71" name="svg2_52"/>
            <p:cNvSpPr txBox="1"/>
            <p:nvPr/>
          </p:nvSpPr>
          <p:spPr>
            <a:xfrm>
              <a:off x="1027420" y="6912498"/>
              <a:ext cx="915863"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1,46 triệu USD = 4,3% SAM</a:t>
              </a:r>
              <a:endParaRPr lang="en-US" sz="557" dirty="0"/>
            </a:p>
          </p:txBody>
        </p:sp>
        <p:sp>
          <p:nvSpPr>
            <p:cNvPr id="72" name="svg2_53"/>
            <p:cNvSpPr txBox="1"/>
            <p:nvPr/>
          </p:nvSpPr>
          <p:spPr>
            <a:xfrm>
              <a:off x="1793687" y="7033931"/>
              <a:ext cx="751820" cy="95280"/>
            </a:xfrm>
            <a:prstGeom prst="rect">
              <a:avLst/>
            </a:prstGeom>
            <a:noFill/>
            <a:ln/>
          </p:spPr>
          <p:txBody>
            <a:bodyPr wrap="none" lIns="0" tIns="0" rIns="0" bIns="0" rtlCol="0" anchor="ctr"/>
            <a:lstStyle/>
            <a:p>
              <a:pPr algn="r" indent="0" marL="0">
                <a:buNone/>
              </a:pPr>
              <a:r>
                <a:rPr lang="en-US" sz="495" i="1" dirty="0">
                  <a:solidFill>
                    <a:srgbClr val="666666"/>
                  </a:solidFill>
                  <a:latin typeface="Calibri" pitchFamily="34" charset="0"/>
                  <a:ea typeface="Calibri" pitchFamily="34" charset="-122"/>
                  <a:cs typeface="Calibri" pitchFamily="34" charset="-120"/>
                </a:rPr>
                <a:t>Độ rộng không theo tỷ lệ</a:t>
              </a:r>
              <a:endParaRPr lang="en-US" sz="495" dirty="0"/>
            </a:p>
          </p:txBody>
        </p:sp>
      </p:grpSp>
      <p:sp>
        <p:nvSpPr>
          <p:cNvPr id="73" name="Text 69"/>
          <p:cNvSpPr txBox="1"/>
          <p:nvPr/>
        </p:nvSpPr>
        <p:spPr>
          <a:xfrm>
            <a:off x="405354" y="315559"/>
            <a:ext cx="1873148" cy="119238"/>
          </a:xfrm>
          <a:prstGeom prst="rect">
            <a:avLst/>
          </a:prstGeom>
          <a:noFill/>
          <a:ln/>
        </p:spPr>
        <p:txBody>
          <a:bodyPr wrap="none" lIns="0" tIns="0" rIns="0" bIns="0" rtlCol="0" anchor="t"/>
          <a:lstStyle/>
          <a:p>
            <a:pPr algn="l" indent="0" marL="0">
              <a:lnSpc>
                <a:spcPts val="864"/>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 | Định giá &amp; đề xuất gọi vốn Series A</a:t>
            </a:r>
            <a:endParaRPr lang="en-US" sz="680" dirty="0"/>
          </a:p>
        </p:txBody>
      </p:sp>
      <p:sp>
        <p:nvSpPr>
          <p:cNvPr id="74" name="Text 70"/>
          <p:cNvSpPr txBox="1"/>
          <p:nvPr/>
        </p:nvSpPr>
        <p:spPr>
          <a:xfrm>
            <a:off x="6056346" y="325161"/>
            <a:ext cx="1163940" cy="109545"/>
          </a:xfrm>
          <a:prstGeom prst="rect">
            <a:avLst/>
          </a:prstGeom>
          <a:noFill/>
          <a:ln/>
        </p:spPr>
        <p:txBody>
          <a:bodyPr wrap="none" lIns="0" tIns="0" rIns="0" bIns="0" rtlCol="0" anchor="t"/>
          <a:lstStyle/>
          <a:p>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Báo cáo phân tích · 29/09/2026</a:t>
            </a:r>
            <a:endParaRPr lang="en-US" sz="680" dirty="0"/>
          </a:p>
        </p:txBody>
      </p:sp>
      <p:sp>
        <p:nvSpPr>
          <p:cNvPr id="75" name="Text 71"/>
          <p:cNvSpPr txBox="1"/>
          <p:nvPr/>
        </p:nvSpPr>
        <p:spPr>
          <a:xfrm>
            <a:off x="484632" y="595274"/>
            <a:ext cx="6986107" cy="141641"/>
          </a:xfrm>
          <a:prstGeom prst="rect">
            <a:avLst/>
          </a:prstGeom>
          <a:noFill/>
          <a:ln/>
        </p:spPr>
        <p:txBody>
          <a:bodyPr wrap="none" lIns="0" tIns="0" rIns="0" bIns="0" rtlCol="0" anchor="t"/>
          <a:lstStyle/>
          <a:p>
            <a:pPr algn="l" indent="0" marL="0">
              <a:lnSpc>
                <a:spcPts val="1118"/>
              </a:lnSpc>
              <a:buNone/>
            </a:pPr>
            <a:r>
              <a:rPr lang="en-US" sz="880" b="1" spc="35" kern="0" dirty="0">
                <a:solidFill>
                  <a:srgbClr val="FFFFFF"/>
                </a:solidFill>
                <a:latin typeface="Calibri" pitchFamily="34" charset="0"/>
                <a:ea typeface="Calibri" pitchFamily="34" charset="-122"/>
                <a:cs typeface="Calibri" pitchFamily="34" charset="-120"/>
              </a:rPr>
              <a:t>1. Ý TƯỞNG KINH DOANH</a:t>
            </a:r>
            <a:endParaRPr lang="en-US" sz="880" dirty="0"/>
          </a:p>
        </p:txBody>
      </p:sp>
      <p:sp>
        <p:nvSpPr>
          <p:cNvPr id="76" name="Text 72"/>
          <p:cNvSpPr txBox="1"/>
          <p:nvPr/>
        </p:nvSpPr>
        <p:spPr>
          <a:xfrm>
            <a:off x="405354" y="872338"/>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F&amp;B/FMCG tạo 80% doanh thu; đệm điện tử tăng nhanh nhất từ nền nhỏ</a:t>
            </a:r>
            <a:endParaRPr lang="en-US" sz="720" dirty="0"/>
          </a:p>
        </p:txBody>
      </p:sp>
      <p:sp>
        <p:nvSpPr>
          <p:cNvPr id="77" name="Text 73"/>
          <p:cNvSpPr txBox="1"/>
          <p:nvPr/>
        </p:nvSpPr>
        <p:spPr>
          <a:xfrm>
            <a:off x="405354" y="2241012"/>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doanh thu 1–4); dự phóng (Drivers)</a:t>
            </a:r>
            <a:endParaRPr lang="en-US" sz="600" dirty="0"/>
          </a:p>
        </p:txBody>
      </p:sp>
      <p:sp>
        <p:nvSpPr>
          <p:cNvPr id="78" name="Text 74"/>
          <p:cNvSpPr txBox="1"/>
          <p:nvPr/>
        </p:nvSpPr>
        <p:spPr>
          <a:xfrm>
            <a:off x="405354" y="2446294"/>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Chuỗi giá trị 7 bước; mỗi hộp F&amp;B để lại ~75% doanh thu sau biến phí</a:t>
            </a:r>
            <a:endParaRPr lang="en-US" sz="720" dirty="0"/>
          </a:p>
        </p:txBody>
      </p:sp>
      <p:sp>
        <p:nvSpPr>
          <p:cNvPr id="79" name="Text 75"/>
          <p:cNvSpPr txBox="1"/>
          <p:nvPr/>
        </p:nvSpPr>
        <p:spPr>
          <a:xfrm>
            <a:off x="376824" y="2697663"/>
            <a:ext cx="175931" cy="118781"/>
          </a:xfrm>
          <a:prstGeom prst="rect">
            <a:avLst/>
          </a:prstGeom>
          <a:noFill/>
          <a:ln/>
        </p:spPr>
        <p:txBody>
          <a:bodyPr wrap="none" lIns="0" tIns="0" rIns="0" bIns="0" rtlCol="0" anchor="t"/>
          <a:lstStyle/>
          <a:p>
            <a:pPr algn="ctr" indent="0" marL="0">
              <a:lnSpc>
                <a:spcPts val="935"/>
              </a:lnSpc>
              <a:buNone/>
            </a:pPr>
            <a:r>
              <a:rPr lang="en-US" sz="620" b="1" dirty="0">
                <a:solidFill>
                  <a:srgbClr val="FFFFFF"/>
                </a:solidFill>
                <a:latin typeface="Calibri" pitchFamily="34" charset="0"/>
                <a:ea typeface="Calibri" pitchFamily="34" charset="-122"/>
                <a:cs typeface="Calibri" pitchFamily="34" charset="-120"/>
              </a:rPr>
              <a:t>1</a:t>
            </a:r>
            <a:endParaRPr lang="en-US" sz="620" dirty="0"/>
          </a:p>
        </p:txBody>
      </p:sp>
      <p:sp>
        <p:nvSpPr>
          <p:cNvPr id="80" name="Text 76"/>
          <p:cNvSpPr txBox="1"/>
          <p:nvPr/>
        </p:nvSpPr>
        <p:spPr>
          <a:xfrm>
            <a:off x="574426" y="2688153"/>
            <a:ext cx="2074591" cy="104790"/>
          </a:xfrm>
          <a:prstGeom prst="rect">
            <a:avLst/>
          </a:prstGeom>
          <a:noFill/>
          <a:ln/>
        </p:spPr>
        <p:txBody>
          <a:bodyPr wrap="none" lIns="0" tIns="0" rIns="0" bIns="0" rtlCol="0" anchor="t"/>
          <a:lstStyle/>
          <a:p>
            <a:pPr algn="l" indent="0" marL="0">
              <a:lnSpc>
                <a:spcPts val="817"/>
              </a:lnSpc>
              <a:buNone/>
            </a:pPr>
            <a:r>
              <a:rPr lang="en-US" sz="670" dirty="0">
                <a:solidFill>
                  <a:srgbClr val="1F1F1F"/>
                </a:solidFill>
                <a:latin typeface="Calibri" pitchFamily="34" charset="0"/>
                <a:ea typeface="Calibri" pitchFamily="34" charset="-122"/>
                <a:cs typeface="Calibri" pitchFamily="34" charset="-120"/>
              </a:rPr>
              <a:t>Thu mua bã mía, vỏ trứng theo hợp đồng vụ ép (T11–T4)</a:t>
            </a:r>
            <a:endParaRPr lang="en-US" sz="670" dirty="0"/>
          </a:p>
        </p:txBody>
      </p:sp>
      <p:sp>
        <p:nvSpPr>
          <p:cNvPr id="81" name="Text 77"/>
          <p:cNvSpPr txBox="1"/>
          <p:nvPr/>
        </p:nvSpPr>
        <p:spPr>
          <a:xfrm>
            <a:off x="376824" y="2836286"/>
            <a:ext cx="175931" cy="118781"/>
          </a:xfrm>
          <a:prstGeom prst="rect">
            <a:avLst/>
          </a:prstGeom>
          <a:noFill/>
          <a:ln/>
        </p:spPr>
        <p:txBody>
          <a:bodyPr wrap="none" lIns="0" tIns="0" rIns="0" bIns="0" rtlCol="0" anchor="t"/>
          <a:lstStyle/>
          <a:p>
            <a:pPr algn="ctr" indent="0" marL="0">
              <a:lnSpc>
                <a:spcPts val="935"/>
              </a:lnSpc>
              <a:buNone/>
            </a:pPr>
            <a:r>
              <a:rPr lang="en-US" sz="620" b="1" dirty="0">
                <a:solidFill>
                  <a:srgbClr val="FFFFFF"/>
                </a:solidFill>
                <a:latin typeface="Calibri" pitchFamily="34" charset="0"/>
                <a:ea typeface="Calibri" pitchFamily="34" charset="-122"/>
                <a:cs typeface="Calibri" pitchFamily="34" charset="-120"/>
              </a:rPr>
              <a:t>2</a:t>
            </a:r>
            <a:endParaRPr lang="en-US" sz="620" dirty="0"/>
          </a:p>
        </p:txBody>
      </p:sp>
      <p:sp>
        <p:nvSpPr>
          <p:cNvPr id="82" name="Text 78"/>
          <p:cNvSpPr txBox="1"/>
          <p:nvPr/>
        </p:nvSpPr>
        <p:spPr>
          <a:xfrm>
            <a:off x="574426" y="2826776"/>
            <a:ext cx="1415400" cy="104790"/>
          </a:xfrm>
          <a:prstGeom prst="rect">
            <a:avLst/>
          </a:prstGeom>
          <a:noFill/>
          <a:ln/>
        </p:spPr>
        <p:txBody>
          <a:bodyPr wrap="none" lIns="0" tIns="0" rIns="0" bIns="0" rtlCol="0" anchor="t"/>
          <a:lstStyle/>
          <a:p>
            <a:pPr algn="l" indent="0" marL="0">
              <a:lnSpc>
                <a:spcPts val="817"/>
              </a:lnSpc>
              <a:buNone/>
            </a:pPr>
            <a:r>
              <a:rPr lang="en-US" sz="670" dirty="0">
                <a:solidFill>
                  <a:srgbClr val="1F1F1F"/>
                </a:solidFill>
                <a:latin typeface="Calibri" pitchFamily="34" charset="0"/>
                <a:ea typeface="Calibri" pitchFamily="34" charset="-122"/>
                <a:cs typeface="Calibri" pitchFamily="34" charset="-120"/>
              </a:rPr>
              <a:t>Làm sạch, xử lý, chuẩn hóa nguyên liệu</a:t>
            </a:r>
            <a:endParaRPr lang="en-US" sz="670" dirty="0"/>
          </a:p>
        </p:txBody>
      </p:sp>
      <p:sp>
        <p:nvSpPr>
          <p:cNvPr id="83" name="Text 79"/>
          <p:cNvSpPr txBox="1"/>
          <p:nvPr/>
        </p:nvSpPr>
        <p:spPr>
          <a:xfrm>
            <a:off x="376824" y="2974726"/>
            <a:ext cx="175931" cy="118781"/>
          </a:xfrm>
          <a:prstGeom prst="rect">
            <a:avLst/>
          </a:prstGeom>
          <a:noFill/>
          <a:ln/>
        </p:spPr>
        <p:txBody>
          <a:bodyPr wrap="none" lIns="0" tIns="0" rIns="0" bIns="0" rtlCol="0" anchor="t"/>
          <a:lstStyle/>
          <a:p>
            <a:pPr algn="ctr" indent="0" marL="0">
              <a:lnSpc>
                <a:spcPts val="935"/>
              </a:lnSpc>
              <a:buNone/>
            </a:pPr>
            <a:r>
              <a:rPr lang="en-US" sz="620" b="1" dirty="0">
                <a:solidFill>
                  <a:srgbClr val="FFFFFF"/>
                </a:solidFill>
                <a:latin typeface="Calibri" pitchFamily="34" charset="0"/>
                <a:ea typeface="Calibri" pitchFamily="34" charset="-122"/>
                <a:cs typeface="Calibri" pitchFamily="34" charset="-120"/>
              </a:rPr>
              <a:t>3</a:t>
            </a:r>
            <a:endParaRPr lang="en-US" sz="620" dirty="0"/>
          </a:p>
        </p:txBody>
      </p:sp>
      <p:sp>
        <p:nvSpPr>
          <p:cNvPr id="84" name="Text 80"/>
          <p:cNvSpPr txBox="1"/>
          <p:nvPr/>
        </p:nvSpPr>
        <p:spPr>
          <a:xfrm>
            <a:off x="574426" y="2965216"/>
            <a:ext cx="787024" cy="104790"/>
          </a:xfrm>
          <a:prstGeom prst="rect">
            <a:avLst/>
          </a:prstGeom>
          <a:noFill/>
          <a:ln/>
        </p:spPr>
        <p:txBody>
          <a:bodyPr wrap="none" lIns="0" tIns="0" rIns="0" bIns="0" rtlCol="0" anchor="t"/>
          <a:lstStyle/>
          <a:p>
            <a:pPr algn="l" indent="0" marL="0">
              <a:lnSpc>
                <a:spcPts val="817"/>
              </a:lnSpc>
              <a:buNone/>
            </a:pPr>
            <a:r>
              <a:rPr lang="en-US" sz="670" dirty="0">
                <a:solidFill>
                  <a:srgbClr val="1F1F1F"/>
                </a:solidFill>
                <a:latin typeface="Calibri" pitchFamily="34" charset="0"/>
                <a:ea typeface="Calibri" pitchFamily="34" charset="-122"/>
                <a:cs typeface="Calibri" pitchFamily="34" charset="-120"/>
              </a:rPr>
              <a:t>Phối trộn, tạo bột sợi</a:t>
            </a:r>
            <a:endParaRPr lang="en-US" sz="670" dirty="0"/>
          </a:p>
        </p:txBody>
      </p:sp>
      <p:sp>
        <p:nvSpPr>
          <p:cNvPr id="85" name="Text 81"/>
          <p:cNvSpPr txBox="1"/>
          <p:nvPr/>
        </p:nvSpPr>
        <p:spPr>
          <a:xfrm>
            <a:off x="376824" y="3113349"/>
            <a:ext cx="175931" cy="118781"/>
          </a:xfrm>
          <a:prstGeom prst="rect">
            <a:avLst/>
          </a:prstGeom>
          <a:noFill/>
          <a:ln/>
        </p:spPr>
        <p:txBody>
          <a:bodyPr wrap="none" lIns="0" tIns="0" rIns="0" bIns="0" rtlCol="0" anchor="t"/>
          <a:lstStyle/>
          <a:p>
            <a:pPr algn="ctr" indent="0" marL="0">
              <a:lnSpc>
                <a:spcPts val="935"/>
              </a:lnSpc>
              <a:buNone/>
            </a:pPr>
            <a:r>
              <a:rPr lang="en-US" sz="620" b="1" dirty="0">
                <a:solidFill>
                  <a:srgbClr val="FFFFFF"/>
                </a:solidFill>
                <a:latin typeface="Calibri" pitchFamily="34" charset="0"/>
                <a:ea typeface="Calibri" pitchFamily="34" charset="-122"/>
                <a:cs typeface="Calibri" pitchFamily="34" charset="-120"/>
              </a:rPr>
              <a:t>4</a:t>
            </a:r>
            <a:endParaRPr lang="en-US" sz="620" dirty="0"/>
          </a:p>
        </p:txBody>
      </p:sp>
      <p:sp>
        <p:nvSpPr>
          <p:cNvPr id="86" name="Text 82"/>
          <p:cNvSpPr txBox="1"/>
          <p:nvPr/>
        </p:nvSpPr>
        <p:spPr>
          <a:xfrm>
            <a:off x="574426" y="3103839"/>
            <a:ext cx="1500256" cy="104790"/>
          </a:xfrm>
          <a:prstGeom prst="rect">
            <a:avLst/>
          </a:prstGeom>
          <a:noFill/>
          <a:ln/>
        </p:spPr>
        <p:txBody>
          <a:bodyPr wrap="none" lIns="0" tIns="0" rIns="0" bIns="0" rtlCol="0" anchor="t"/>
          <a:lstStyle/>
          <a:p>
            <a:pPr algn="l" indent="0" marL="0">
              <a:lnSpc>
                <a:spcPts val="817"/>
              </a:lnSpc>
              <a:buNone/>
            </a:pPr>
            <a:r>
              <a:rPr lang="en-US" sz="670" dirty="0">
                <a:solidFill>
                  <a:srgbClr val="1F1F1F"/>
                </a:solidFill>
                <a:latin typeface="Calibri" pitchFamily="34" charset="0"/>
                <a:ea typeface="Calibri" pitchFamily="34" charset="-122"/>
                <a:cs typeface="Calibri" pitchFamily="34" charset="-120"/>
              </a:rPr>
              <a:t>Thiết kế khuôn theo mẫu của khách hàng</a:t>
            </a:r>
            <a:endParaRPr lang="en-US" sz="670" dirty="0"/>
          </a:p>
        </p:txBody>
      </p:sp>
      <p:sp>
        <p:nvSpPr>
          <p:cNvPr id="87" name="Text 83"/>
          <p:cNvSpPr txBox="1"/>
          <p:nvPr/>
        </p:nvSpPr>
        <p:spPr>
          <a:xfrm>
            <a:off x="376824" y="3251972"/>
            <a:ext cx="175931" cy="118781"/>
          </a:xfrm>
          <a:prstGeom prst="rect">
            <a:avLst/>
          </a:prstGeom>
          <a:noFill/>
          <a:ln/>
        </p:spPr>
        <p:txBody>
          <a:bodyPr wrap="none" lIns="0" tIns="0" rIns="0" bIns="0" rtlCol="0" anchor="t"/>
          <a:lstStyle/>
          <a:p>
            <a:pPr algn="ctr" indent="0" marL="0">
              <a:lnSpc>
                <a:spcPts val="935"/>
              </a:lnSpc>
              <a:buNone/>
            </a:pPr>
            <a:r>
              <a:rPr lang="en-US" sz="620" b="1" dirty="0">
                <a:solidFill>
                  <a:srgbClr val="FFFFFF"/>
                </a:solidFill>
                <a:latin typeface="Calibri" pitchFamily="34" charset="0"/>
                <a:ea typeface="Calibri" pitchFamily="34" charset="-122"/>
                <a:cs typeface="Calibri" pitchFamily="34" charset="-120"/>
              </a:rPr>
              <a:t>5</a:t>
            </a:r>
            <a:endParaRPr lang="en-US" sz="620" dirty="0"/>
          </a:p>
        </p:txBody>
      </p:sp>
      <p:sp>
        <p:nvSpPr>
          <p:cNvPr id="88" name="Text 84"/>
          <p:cNvSpPr txBox="1"/>
          <p:nvPr/>
        </p:nvSpPr>
        <p:spPr>
          <a:xfrm>
            <a:off x="574426" y="3242371"/>
            <a:ext cx="857250" cy="104790"/>
          </a:xfrm>
          <a:prstGeom prst="rect">
            <a:avLst/>
          </a:prstGeom>
          <a:noFill/>
          <a:ln/>
        </p:spPr>
        <p:txBody>
          <a:bodyPr wrap="none" lIns="0" tIns="0" rIns="0" bIns="0" rtlCol="0" anchor="t"/>
          <a:lstStyle/>
          <a:p>
            <a:pPr algn="l" indent="0" marL="0">
              <a:lnSpc>
                <a:spcPts val="817"/>
              </a:lnSpc>
              <a:buNone/>
            </a:pPr>
            <a:r>
              <a:rPr lang="en-US" sz="670" dirty="0">
                <a:solidFill>
                  <a:srgbClr val="1F1F1F"/>
                </a:solidFill>
                <a:latin typeface="Calibri" pitchFamily="34" charset="0"/>
                <a:ea typeface="Calibri" pitchFamily="34" charset="-122"/>
                <a:cs typeface="Calibri" pitchFamily="34" charset="-120"/>
              </a:rPr>
              <a:t>Ép khuôn, tạo hình, sấy</a:t>
            </a:r>
            <a:endParaRPr lang="en-US" sz="670" dirty="0"/>
          </a:p>
        </p:txBody>
      </p:sp>
      <p:sp>
        <p:nvSpPr>
          <p:cNvPr id="89" name="Text 85"/>
          <p:cNvSpPr txBox="1"/>
          <p:nvPr/>
        </p:nvSpPr>
        <p:spPr>
          <a:xfrm>
            <a:off x="376824" y="3390412"/>
            <a:ext cx="175931" cy="118781"/>
          </a:xfrm>
          <a:prstGeom prst="rect">
            <a:avLst/>
          </a:prstGeom>
          <a:noFill/>
          <a:ln/>
        </p:spPr>
        <p:txBody>
          <a:bodyPr wrap="none" lIns="0" tIns="0" rIns="0" bIns="0" rtlCol="0" anchor="t"/>
          <a:lstStyle/>
          <a:p>
            <a:pPr algn="ctr" indent="0" marL="0">
              <a:lnSpc>
                <a:spcPts val="935"/>
              </a:lnSpc>
              <a:buNone/>
            </a:pPr>
            <a:r>
              <a:rPr lang="en-US" sz="620" b="1" dirty="0">
                <a:solidFill>
                  <a:srgbClr val="FFFFFF"/>
                </a:solidFill>
                <a:latin typeface="Calibri" pitchFamily="34" charset="0"/>
                <a:ea typeface="Calibri" pitchFamily="34" charset="-122"/>
                <a:cs typeface="Calibri" pitchFamily="34" charset="-120"/>
              </a:rPr>
              <a:t>6</a:t>
            </a:r>
            <a:endParaRPr lang="en-US" sz="620" dirty="0"/>
          </a:p>
        </p:txBody>
      </p:sp>
      <p:sp>
        <p:nvSpPr>
          <p:cNvPr id="90" name="Text 86"/>
          <p:cNvSpPr txBox="1"/>
          <p:nvPr/>
        </p:nvSpPr>
        <p:spPr>
          <a:xfrm>
            <a:off x="574426" y="3380903"/>
            <a:ext cx="1526225" cy="104790"/>
          </a:xfrm>
          <a:prstGeom prst="rect">
            <a:avLst/>
          </a:prstGeom>
          <a:noFill/>
          <a:ln/>
        </p:spPr>
        <p:txBody>
          <a:bodyPr wrap="none" lIns="0" tIns="0" rIns="0" bIns="0" rtlCol="0" anchor="t"/>
          <a:lstStyle/>
          <a:p>
            <a:pPr algn="l" indent="0" marL="0">
              <a:lnSpc>
                <a:spcPts val="817"/>
              </a:lnSpc>
              <a:buNone/>
            </a:pPr>
            <a:r>
              <a:rPr lang="en-US" sz="670" dirty="0">
                <a:solidFill>
                  <a:srgbClr val="1F1F1F"/>
                </a:solidFill>
                <a:latin typeface="Calibri" pitchFamily="34" charset="0"/>
                <a:ea typeface="Calibri" pitchFamily="34" charset="-122"/>
                <a:cs typeface="Calibri" pitchFamily="34" charset="-120"/>
              </a:rPr>
              <a:t>Kiểm tra chất lượng, kiểm nghiệm vật liệu</a:t>
            </a:r>
            <a:endParaRPr lang="en-US" sz="670" dirty="0"/>
          </a:p>
        </p:txBody>
      </p:sp>
      <p:sp>
        <p:nvSpPr>
          <p:cNvPr id="91" name="Text 87"/>
          <p:cNvSpPr txBox="1"/>
          <p:nvPr/>
        </p:nvSpPr>
        <p:spPr>
          <a:xfrm>
            <a:off x="376824" y="3529035"/>
            <a:ext cx="175931" cy="118781"/>
          </a:xfrm>
          <a:prstGeom prst="rect">
            <a:avLst/>
          </a:prstGeom>
          <a:noFill/>
          <a:ln/>
        </p:spPr>
        <p:txBody>
          <a:bodyPr wrap="none" lIns="0" tIns="0" rIns="0" bIns="0" rtlCol="0" anchor="t"/>
          <a:lstStyle/>
          <a:p>
            <a:pPr algn="ctr" indent="0" marL="0">
              <a:lnSpc>
                <a:spcPts val="935"/>
              </a:lnSpc>
              <a:buNone/>
            </a:pPr>
            <a:r>
              <a:rPr lang="en-US" sz="620" b="1" dirty="0">
                <a:solidFill>
                  <a:srgbClr val="FFFFFF"/>
                </a:solidFill>
                <a:latin typeface="Calibri" pitchFamily="34" charset="0"/>
                <a:ea typeface="Calibri" pitchFamily="34" charset="-122"/>
                <a:cs typeface="Calibri" pitchFamily="34" charset="-120"/>
              </a:rPr>
              <a:t>7</a:t>
            </a:r>
            <a:endParaRPr lang="en-US" sz="620" dirty="0"/>
          </a:p>
        </p:txBody>
      </p:sp>
      <p:sp>
        <p:nvSpPr>
          <p:cNvPr id="92" name="Text 88"/>
          <p:cNvSpPr txBox="1"/>
          <p:nvPr/>
        </p:nvSpPr>
        <p:spPr>
          <a:xfrm>
            <a:off x="574426" y="3519526"/>
            <a:ext cx="1260318" cy="104790"/>
          </a:xfrm>
          <a:prstGeom prst="rect">
            <a:avLst/>
          </a:prstGeom>
          <a:noFill/>
          <a:ln/>
        </p:spPr>
        <p:txBody>
          <a:bodyPr wrap="none" lIns="0" tIns="0" rIns="0" bIns="0" rtlCol="0" anchor="t"/>
          <a:lstStyle/>
          <a:p>
            <a:pPr algn="l" indent="0" marL="0">
              <a:lnSpc>
                <a:spcPts val="817"/>
              </a:lnSpc>
              <a:buNone/>
            </a:pPr>
            <a:r>
              <a:rPr lang="en-US" sz="670" dirty="0">
                <a:solidFill>
                  <a:srgbClr val="1F1F1F"/>
                </a:solidFill>
                <a:latin typeface="Calibri" pitchFamily="34" charset="0"/>
                <a:ea typeface="Calibri" pitchFamily="34" charset="-122"/>
                <a:cs typeface="Calibri" pitchFamily="34" charset="-120"/>
              </a:rPr>
              <a:t>Giao trực tiếp cho khách hàng B2B</a:t>
            </a:r>
            <a:endParaRPr lang="en-US" sz="670" dirty="0"/>
          </a:p>
        </p:txBody>
      </p:sp>
      <p:sp>
        <p:nvSpPr>
          <p:cNvPr id="93" name="Text 89"/>
          <p:cNvSpPr txBox="1"/>
          <p:nvPr/>
        </p:nvSpPr>
        <p:spPr>
          <a:xfrm>
            <a:off x="405354" y="3996019"/>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Drivers (ASP, chi phí biến đổi, DIO 2025); quy trình theo mục 1.3.2 của nhóm</a:t>
            </a:r>
            <a:endParaRPr lang="en-US" sz="600" dirty="0"/>
          </a:p>
        </p:txBody>
      </p:sp>
      <p:sp>
        <p:nvSpPr>
          <p:cNvPr id="94" name="Text 90"/>
          <p:cNvSpPr txBox="1"/>
          <p:nvPr/>
        </p:nvSpPr>
        <p:spPr>
          <a:xfrm>
            <a:off x="405354" y="4292651"/>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AgriPack định giá ngang sản phẩm thay thế, không định giá cao cấp</a:t>
            </a:r>
            <a:endParaRPr lang="en-US" sz="720" dirty="0"/>
          </a:p>
        </p:txBody>
      </p:sp>
      <p:sp>
        <p:nvSpPr>
          <p:cNvPr id="95" name="Text 91"/>
          <p:cNvSpPr txBox="1"/>
          <p:nvPr/>
        </p:nvSpPr>
        <p:spPr>
          <a:xfrm>
            <a:off x="405354" y="5619994"/>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Bảng chiến lược giá của nhóm (mục 1.2.2: KPK Packaging, Mutxophabac); giá AgriPack = ASP 2025 trong Drivers</a:t>
            </a:r>
            <a:endParaRPr lang="en-US" sz="600" dirty="0"/>
          </a:p>
        </p:txBody>
      </p:sp>
      <p:sp>
        <p:nvSpPr>
          <p:cNvPr id="96" name="Text 92"/>
          <p:cNvSpPr txBox="1"/>
          <p:nvPr/>
        </p:nvSpPr>
        <p:spPr>
          <a:xfrm>
            <a:off x="405354" y="5916625"/>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AgriPack đã chiếm 4,3% SAM; dự phóng 2030 hàm ý 11,0%</a:t>
            </a:r>
            <a:endParaRPr lang="en-US" sz="720" dirty="0"/>
          </a:p>
        </p:txBody>
      </p:sp>
      <p:sp>
        <p:nvSpPr>
          <p:cNvPr id="97" name="Text 93"/>
          <p:cNvSpPr txBox="1"/>
          <p:nvPr/>
        </p:nvSpPr>
        <p:spPr>
          <a:xfrm>
            <a:off x="405354" y="7128297"/>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IMARC Group (2025); doanh thu F&amp;B quy đổi USD theo tỷ giá bình quân (Drivers)</a:t>
            </a:r>
            <a:endParaRPr lang="en-US" sz="600" dirty="0"/>
          </a:p>
        </p:txBody>
      </p:sp>
      <p:sp>
        <p:nvSpPr>
          <p:cNvPr id="98" name="Text 94"/>
          <p:cNvSpPr txBox="1"/>
          <p:nvPr/>
        </p:nvSpPr>
        <p:spPr>
          <a:xfrm>
            <a:off x="2745303" y="841157"/>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Doanh nghiệp.</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CTCP AgriPack (năm thành lập giả định: 2021) sản xuất bao bì và vật liệu đệm từ phụ phẩm nông nghiệp tại một nhà máy ở Gia Lai. Sứ mệnh của công ty là thay bao bì nhựa dùng một lần bằng sản phẩm từ bã mía và vỏ trứng. Doanh thu đến từ bốn dòng sản phẩm, trong đó bao bì F&amp;B/FMCG chiếm gần 80% (Fig. 05). Khách hàng hiện tập trung ở miền Trung (Gia Lai, Đà Nẵng) và miền Nam (TP.HCM, Đồng Nai); miền Bắc là thị trường mở rộng sau khi nhà máy mới vận hành.</a:t>
            </a:r>
            <a:endParaRPr lang="en-US" sz="900" dirty="0"/>
          </a:p>
        </p:txBody>
      </p:sp>
      <p:sp>
        <p:nvSpPr>
          <p:cNvPr id="99" name="Text 95"/>
          <p:cNvSpPr txBox="1"/>
          <p:nvPr/>
        </p:nvSpPr>
        <p:spPr>
          <a:xfrm>
            <a:off x="2745303" y="1763969"/>
            <a:ext cx="4409237" cy="116092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Vấn đề thị trường.</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Bao bì chiếm khoảng một nửa sản lượng nhựa tiêu thụ tại Việt Nam (50,35% năm 2025, Mordor Intelligence), phần lớn là đồ dùng một lần giá rẻ. Các lựa chọn thay thế đều có điểm yếu: giấy và bột giấy hút ẩm nên cần phụ gia hoặc lớp phủ chống thấm, còn nhựa sinh học PLA/PBAT đắt và phụ thuộc hạt nhựa nhập khẩu. Áp lực chuyển đổi đến từ quy định chứ chưa đến từ giá: Điều 64 Nghị định 08/2022/NĐ-CP không cho lưu hành sản phẩm nhựa dùng một lần và bao bì khó phân hủy (kể cả hộp xốp) tại trung tâm thương mại, siêu thị, khách sạn, khu du lịch sau năm 2025 và dừng sản xuất, nhập khẩu các sản phẩm này sau 31/12/2030.</a:t>
            </a:r>
            <a:endParaRPr lang="en-US" sz="900" dirty="0"/>
          </a:p>
        </p:txBody>
      </p:sp>
      <p:sp>
        <p:nvSpPr>
          <p:cNvPr id="100" name="Text 96"/>
          <p:cNvSpPr txBox="1"/>
          <p:nvPr/>
        </p:nvSpPr>
        <p:spPr>
          <a:xfrm>
            <a:off x="2745303" y="2976829"/>
            <a:ext cx="4409237" cy="116092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Giải pháp.</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AgriPack ép bột bã mía thành hộp, khay, đệm theo khuôn và phối trộn bột vỏ trứng (CaCO</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₃</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làm chất độn khoáng để giảm lượng sợi. Khả năng chống thấm, chống dầu vẫn cần phụ gia; lợi ích về độ bền của vỏ trứng cần kết quả thử nghiệm trước khi dùng trong tài liệu bán hàng. Nguyên liệu dồi dào nhưng không miễn phí: vụ ép 2025/26 cho khoảng 13,3 triệu tấn mía, tương đương 3,3–4,0 triệu tấn bã (25–30% khối lượng mía, tính toán của nhóm), song phần lớn bã được nhà máy đường dùng làm nhiên liệu lò hơi. AgriPack phải mua theo hợp đồng và tích trữ theo vụ ép (tháng 11–4), lý do tồn kho năm 2025 lên tới 106 ngày giá vốn (Fig. 06).</a:t>
            </a:r>
            <a:endParaRPr lang="en-US" sz="900" dirty="0"/>
          </a:p>
        </p:txBody>
      </p:sp>
      <p:sp>
        <p:nvSpPr>
          <p:cNvPr id="101" name="Text 97"/>
          <p:cNvSpPr txBox="1"/>
          <p:nvPr/>
        </p:nvSpPr>
        <p:spPr>
          <a:xfrm>
            <a:off x="2745303" y="4189872"/>
            <a:ext cx="4409237" cy="101571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Mô hình kinh doanh.</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AgriPack bán B2B trực tiếp, với hai nguồn thu: bán sản phẩm theo đơn vị (hộp/khay F&amp;B, đệm bảo vệ cho điện tử, nội thất và TMĐT) và thu phí thiết kế, làm khuôn theo mẫu. Bao bì F&amp;B/FMCG tạo 79,5% doanh thu gộp 2025 và tăng 58%; mảng khuôn (12,3%) là cửa vào khách hàng mới vì mỗi SKU mới cần một bộ khuôn riêng. Đối tác chính là nhà máy đường (bã mía), cơ sở sản xuất bánh và thực phẩm (vỏ trứng), nhà cung cấp máy ép khuôn và đơn vị logistics. Kênh marketing gồm bán hàng trực tiếp, gửi mẫu thử theo SKU, hội chợ ngành bao bì và website; chi phí marketing bằng 2,4% doanh thu năm 2025.</a:t>
            </a:r>
            <a:endParaRPr lang="en-US" sz="900" dirty="0"/>
          </a:p>
        </p:txBody>
      </p:sp>
      <p:sp>
        <p:nvSpPr>
          <p:cNvPr id="102" name="Text 98"/>
          <p:cNvSpPr txBox="1"/>
          <p:nvPr/>
        </p:nvSpPr>
        <p:spPr>
          <a:xfrm>
            <a:off x="2745303" y="5257617"/>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Chiến lược giá.</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Hộp F&amp;B giá khoảng 2.500 đồng/cái, nằm giữa khoảng giá hộp kraft và hộp bã mía trên thị trường (1.700–3.700 đồng); đệm bảo vệ định giá ngang khay EPE và PE foam (Fig. 07). Đây là chiến lược giá ngang thị trường: khách hàng B2B nhạy giá, còn lợi thế của AgriPack nằm ở chi phí biến đổi thấp (khoảng 610 đồng/hộp). Rủi ro là hàng bã mía nhập khẩu giá rẻ, nên mô hình chỉ cho giá bán tăng 2%/năm, thấp hơn lạm phát.</a:t>
            </a:r>
            <a:endParaRPr lang="en-US" sz="900" dirty="0"/>
          </a:p>
        </p:txBody>
      </p:sp>
      <p:sp>
        <p:nvSpPr>
          <p:cNvPr id="103" name="Text 99"/>
          <p:cNvSpPr txBox="1"/>
          <p:nvPr/>
        </p:nvSpPr>
        <p:spPr>
          <a:xfrm>
            <a:off x="2745303" y="6035314"/>
            <a:ext cx="4409237" cy="101571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Thị trường mục tiêu.</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TAM là thị trường bao bì xanh Việt Nam (1.130 triệu USD năm 2025, IMARC); SAM là đồ dùng một lần phân hủy sinh học cho ngành ăn uống (33,9 triệu USD). SOM không phải một tỷ lệ theo vùng địa lý của SAM mà là phần AgriPack giành được bằng năng lực sản xuất và bán hàng: doanh thu F&amp;B 1,46 triệu USD năm 2025 (4,3% SAM) và 4,7 triệu USD năm 2030 theo dự phóng (11,0%) (Fig. 08). Con số 4,3% cho thấy AgriPack không còn "rất nhỏ" trong ngách của mình – tăng trưởng tiếp theo phải đến từ giành thị phần và mở rộng sang thực phẩm chế biến, điện tử.</a:t>
            </a:r>
            <a:endParaRPr lang="en-US" sz="900" dirty="0"/>
          </a:p>
        </p:txBody>
      </p:sp>
      <p:sp>
        <p:nvSpPr>
          <p:cNvPr id="104" name="Text 100"/>
          <p:cNvSpPr txBox="1"/>
          <p:nvPr/>
        </p:nvSpPr>
        <p:spPr>
          <a:xfrm>
            <a:off x="2745303" y="7103059"/>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Khách hàng mục tiêu.</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Năm nhóm khách hàng có chung một nhu cầu: thay nhựa và xốp bằng vật liệu phân hủy được mà không phải đổi quy trình đóng gói (Fig. 09). Nhóm F&amp;B chịu áp lực trực tiếp từ Điều 64; nhóm sản xuất thực phẩm và hàng tiêu dùng chịu nghĩa vụ tái chế theo NĐ 110/2026; nhóm điện tử chịu yêu cầu của khách hàng xuất khẩu. Điểm chung là mua với tần suất cao, số lượng lớn và cần nguồn cung ổn định – đúng điểm AgriPack phải chứng minh khi mở rộng.</a:t>
            </a:r>
            <a:endParaRPr lang="en-US" sz="900" dirty="0"/>
          </a:p>
        </p:txBody>
      </p:sp>
      <p:sp>
        <p:nvSpPr>
          <p:cNvPr id="105" name="Text 101"/>
          <p:cNvSpPr txBox="1"/>
          <p:nvPr/>
        </p:nvSpPr>
        <p:spPr>
          <a:xfrm>
            <a:off x="2745303" y="8025872"/>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SWOT.</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Chúng tôi dùng SWOT của riêng AgriPack thay cho SWOT cấp ngành (Fig. 10): điểm mạnh nằm ở chi phí nguyên liệu và dịch vụ khuôn, điểm yếu là quy mô một nhà máy và nguồn bã mía theo mùa vụ. Cơ hội và thách thức đều đến từ bên ngoài: quy định tạo cầu, còn hàng nhập khẩu và lãi suất tạo áp lực lên giá bán và chi phí vốn.</a:t>
            </a:r>
            <a:endParaRPr lang="en-US" sz="900" dirty="0"/>
          </a:p>
        </p:txBody>
      </p:sp>
      <p:sp>
        <p:nvSpPr>
          <p:cNvPr id="106" name="Text 102"/>
          <p:cNvSpPr txBox="1"/>
          <p:nvPr/>
        </p:nvSpPr>
        <p:spPr>
          <a:xfrm>
            <a:off x="405354" y="8732611"/>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Năm nhóm khách hàng, một nhu cầu chung: thay nhựa mà không đổi quy trình đóng gói</a:t>
            </a:r>
            <a:endParaRPr lang="en-US" sz="720" dirty="0"/>
          </a:p>
        </p:txBody>
      </p:sp>
      <p:sp>
        <p:nvSpPr>
          <p:cNvPr id="107" name="Text 103"/>
          <p:cNvSpPr txBox="1"/>
          <p:nvPr/>
        </p:nvSpPr>
        <p:spPr>
          <a:xfrm>
            <a:off x="405354" y="9925538"/>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Tổng hợp của nhóm (mục 1.2.1); tỷ trọng doanh thu từ BCTC 2025</a:t>
            </a:r>
            <a:endParaRPr lang="en-US" sz="600" dirty="0"/>
          </a:p>
        </p:txBody>
      </p:sp>
      <p:sp>
        <p:nvSpPr>
          <p:cNvPr id="108" name="Text 104"/>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09" name="Text 105"/>
          <p:cNvSpPr txBox="1"/>
          <p:nvPr/>
        </p:nvSpPr>
        <p:spPr>
          <a:xfrm>
            <a:off x="7114581" y="10402672"/>
            <a:ext cx="97018"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2</a:t>
            </a:r>
            <a:endParaRPr lang="en-US"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2311969"/>
            <a:ext cx="6749004" cy="206380"/>
          </a:xfrm>
          <a:prstGeom prst="rect">
            <a:avLst/>
          </a:prstGeom>
          <a:solidFill>
            <a:srgbClr val="7B1E2B"/>
          </a:solidFill>
          <a:ln/>
        </p:spPr>
      </p:sp>
      <p:sp>
        <p:nvSpPr>
          <p:cNvPr id="3" name="Shape 1"/>
          <p:cNvSpPr/>
          <p:nvPr/>
        </p:nvSpPr>
        <p:spPr>
          <a:xfrm>
            <a:off x="405354" y="471830"/>
            <a:ext cx="6749004" cy="0"/>
          </a:xfrm>
          <a:prstGeom prst="line">
            <a:avLst/>
          </a:prstGeom>
          <a:noFill/>
          <a:ln w="9525">
            <a:solidFill>
              <a:srgbClr val="7B1E2B"/>
            </a:solidFill>
            <a:prstDash val="solid"/>
          </a:ln>
        </p:spPr>
      </p:sp>
      <p:sp>
        <p:nvSpPr>
          <p:cNvPr id="4" name="Shape 2"/>
          <p:cNvSpPr/>
          <p:nvPr/>
        </p:nvSpPr>
        <p:spPr>
          <a:xfrm>
            <a:off x="405354" y="567568"/>
            <a:ext cx="6749004" cy="0"/>
          </a:xfrm>
          <a:prstGeom prst="line">
            <a:avLst/>
          </a:prstGeom>
          <a:noFill/>
          <a:ln w="9525">
            <a:solidFill>
              <a:srgbClr val="7B1E2B"/>
            </a:solidFill>
            <a:prstDash val="solid"/>
          </a:ln>
        </p:spPr>
      </p:sp>
      <p:sp>
        <p:nvSpPr>
          <p:cNvPr id="5" name="Shape 3"/>
          <p:cNvSpPr/>
          <p:nvPr/>
        </p:nvSpPr>
        <p:spPr>
          <a:xfrm>
            <a:off x="405354" y="2595067"/>
            <a:ext cx="2159996" cy="0"/>
          </a:xfrm>
          <a:prstGeom prst="line">
            <a:avLst/>
          </a:prstGeom>
          <a:noFill/>
          <a:ln w="9525">
            <a:solidFill>
              <a:srgbClr val="7B1E2B"/>
            </a:solidFill>
            <a:prstDash val="solid"/>
          </a:ln>
        </p:spPr>
      </p:sp>
      <p:sp>
        <p:nvSpPr>
          <p:cNvPr id="6" name="Shape 4"/>
          <p:cNvSpPr/>
          <p:nvPr/>
        </p:nvSpPr>
        <p:spPr>
          <a:xfrm>
            <a:off x="405354" y="3859774"/>
            <a:ext cx="2159996" cy="0"/>
          </a:xfrm>
          <a:prstGeom prst="line">
            <a:avLst/>
          </a:prstGeom>
          <a:noFill/>
          <a:ln w="9525">
            <a:solidFill>
              <a:srgbClr val="7B1E2B"/>
            </a:solidFill>
            <a:prstDash val="solid"/>
          </a:ln>
        </p:spPr>
      </p:sp>
      <p:sp>
        <p:nvSpPr>
          <p:cNvPr id="7" name="Shape 5"/>
          <p:cNvSpPr/>
          <p:nvPr/>
        </p:nvSpPr>
        <p:spPr>
          <a:xfrm>
            <a:off x="405354" y="5387736"/>
            <a:ext cx="2159996" cy="0"/>
          </a:xfrm>
          <a:prstGeom prst="line">
            <a:avLst/>
          </a:prstGeom>
          <a:noFill/>
          <a:ln w="9525">
            <a:solidFill>
              <a:srgbClr val="7B1E2B"/>
            </a:solidFill>
            <a:prstDash val="solid"/>
          </a:ln>
        </p:spPr>
      </p:sp>
      <p:sp>
        <p:nvSpPr>
          <p:cNvPr id="8" name="Shape 6"/>
          <p:cNvSpPr/>
          <p:nvPr/>
        </p:nvSpPr>
        <p:spPr>
          <a:xfrm>
            <a:off x="405354" y="7304044"/>
            <a:ext cx="6749004" cy="0"/>
          </a:xfrm>
          <a:prstGeom prst="line">
            <a:avLst/>
          </a:prstGeom>
          <a:noFill/>
          <a:ln w="9525">
            <a:solidFill>
              <a:srgbClr val="7B1E2B"/>
            </a:solidFill>
            <a:prstDash val="solid"/>
          </a:ln>
        </p:spPr>
      </p:sp>
      <p:sp>
        <p:nvSpPr>
          <p:cNvPr id="9" name="Shape 7"/>
          <p:cNvSpPr/>
          <p:nvPr/>
        </p:nvSpPr>
        <p:spPr>
          <a:xfrm>
            <a:off x="405354" y="8376453"/>
            <a:ext cx="2159996" cy="0"/>
          </a:xfrm>
          <a:prstGeom prst="line">
            <a:avLst/>
          </a:prstGeom>
          <a:noFill/>
          <a:ln w="9525">
            <a:solidFill>
              <a:srgbClr val="7B1E2B"/>
            </a:solidFill>
            <a:prstDash val="solid"/>
          </a:ln>
        </p:spPr>
      </p:sp>
      <p:sp>
        <p:nvSpPr>
          <p:cNvPr id="10" name="Shape 8"/>
          <p:cNvSpPr/>
          <p:nvPr/>
        </p:nvSpPr>
        <p:spPr>
          <a:xfrm>
            <a:off x="405354" y="10365547"/>
            <a:ext cx="6749004" cy="0"/>
          </a:xfrm>
          <a:prstGeom prst="line">
            <a:avLst/>
          </a:prstGeom>
          <a:noFill/>
          <a:ln w="9525">
            <a:solidFill>
              <a:srgbClr val="BFBFBF"/>
            </a:solidFill>
            <a:prstDash val="solid"/>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05354" y="735818"/>
          <a:ext cx="6749004" cy="914400"/>
        </p:xfrm>
        <a:graphic>
          <a:graphicData uri="http://schemas.openxmlformats.org/drawingml/2006/table">
            <a:tbl>
              <a:tblPr/>
              <a:tblGrid>
                <a:gridCol w="3374502"/>
                <a:gridCol w="3374502"/>
              </a:tblGrid>
              <a:tr h="148956">
                <a:tc>
                  <a:txBody>
                    <a:bodyPr/>
                    <a:lstStyle/>
                    <a:p>
                      <a:pPr algn="l" indent="0" marL="0">
                        <a:buNone/>
                      </a:pPr>
                      <a:r>
                        <a:rPr lang="en-US" sz="720" b="1" dirty="0">
                          <a:solidFill>
                            <a:srgbClr val="FFFFFF"/>
                          </a:solidFill>
                          <a:latin typeface="Calibri" pitchFamily="34" charset="0"/>
                          <a:ea typeface="Calibri" pitchFamily="34" charset="-122"/>
                          <a:cs typeface="Calibri" pitchFamily="34" charset="-120"/>
                        </a:rPr>
                        <a:t>Điểm mạnh</a:t>
                      </a:r>
                      <a:endParaRPr lang="en-US" sz="720" dirty="0">
                        <a:latin typeface="Calibri" charset="0"/>
                        <a:ea typeface="Calibri" charset="0"/>
                        <a:cs typeface="Calibri" charset="0"/>
                      </a:endParaRPr>
                    </a:p>
                  </a:txBody>
                  <a:tcPr marL="57607" marR="57607"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720" b="1" dirty="0">
                          <a:solidFill>
                            <a:srgbClr val="FFFFFF"/>
                          </a:solidFill>
                          <a:latin typeface="Calibri" pitchFamily="34" charset="0"/>
                          <a:ea typeface="Calibri" pitchFamily="34" charset="-122"/>
                          <a:cs typeface="Calibri" pitchFamily="34" charset="-120"/>
                        </a:rPr>
                        <a:t>Điểm yếu</a:t>
                      </a:r>
                      <a:endParaRPr lang="en-US" sz="720" dirty="0">
                        <a:latin typeface="Calibri" charset="0"/>
                        <a:ea typeface="Calibri" charset="0"/>
                        <a:cs typeface="Calibri" charset="0"/>
                      </a:endParaRPr>
                    </a:p>
                  </a:txBody>
                  <a:tcPr marL="57607" marR="57607" marT="18014" marB="18014" anchor="ctr">
                    <a:lnL w="0" cap="flat" cmpd="sng" algn="ctr">
                      <a:noFill/>
                    </a:lnL>
                    <a:lnR w="0" cap="flat" cmpd="sng" algn="ctr">
                      <a:noFill/>
                    </a:lnR>
                    <a:lnT w="0" cap="flat" cmpd="sng" algn="ctr">
                      <a:noFill/>
                    </a:lnT>
                    <a:lnB w="0" cap="flat" cmpd="sng" algn="ctr">
                      <a:noFill/>
                    </a:lnB>
                    <a:solidFill>
                      <a:srgbClr val="7B1E2B"/>
                    </a:solidFill>
                  </a:tcPr>
                </a:tc>
              </a:tr>
              <a:tr h="543794">
                <a:tc>
                  <a:txBody>
                    <a:bodyPr/>
                    <a:lstStyle/>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Nguyên liệu phụ phẩm nội địa; chi phí biến đổi chỉ 24,5% doanh thu</a:t>
                      </a:r>
                      <a:endParaRPr lang="en-US" sz="720" dirty="0">
                        <a:latin typeface="Calibri" charset="0"/>
                        <a:ea typeface="Calibri" charset="0"/>
                        <a:cs typeface="Calibri" charset="0"/>
                      </a:endParaRPr>
                    </a:p>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Biên EBITDA 16,2%, thuộc nhóm cao nhất so với DN bao bì niêm yết</a:t>
                      </a:r>
                      <a:endParaRPr lang="en-US" sz="720" dirty="0">
                        <a:latin typeface="Calibri" charset="0"/>
                        <a:ea typeface="Calibri" charset="0"/>
                        <a:cs typeface="Calibri" charset="0"/>
                      </a:endParaRPr>
                    </a:p>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Dịch vụ thiết kế khuôn theo mẫu giữ chân khách hàng</a:t>
                      </a:r>
                      <a:endParaRPr lang="en-US" sz="720" dirty="0">
                        <a:latin typeface="Calibri" charset="0"/>
                        <a:ea typeface="Calibri" charset="0"/>
                        <a:cs typeface="Calibri" charset="0"/>
                      </a:endParaRPr>
                    </a:p>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Đã có lãi và FCF dương năm 2025</a:t>
                      </a:r>
                      <a:endParaRPr lang="en-US" sz="720" dirty="0">
                        <a:latin typeface="Calibri" charset="0"/>
                        <a:ea typeface="Calibri" charset="0"/>
                        <a:cs typeface="Calibri" charset="0"/>
                      </a:endParaRPr>
                    </a:p>
                  </a:txBody>
                  <a:tcPr marL="57607" marR="57607" marT="21580" marB="28804"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Quy mô nhỏ (47,5 tỷ), một nhà máy, phụ thuộc F&amp;B (~80% doanh thu)</a:t>
                      </a:r>
                      <a:endParaRPr lang="en-US" sz="720" dirty="0">
                        <a:latin typeface="Calibri" charset="0"/>
                        <a:ea typeface="Calibri" charset="0"/>
                        <a:cs typeface="Calibri" charset="0"/>
                      </a:endParaRPr>
                    </a:p>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Bã mía theo mùa vụ: tồn kho 106 ngày, cạnh tranh với lò hơi nhà máy đường</a:t>
                      </a:r>
                      <a:endParaRPr lang="en-US" sz="720" dirty="0">
                        <a:latin typeface="Calibri" charset="0"/>
                        <a:ea typeface="Calibri" charset="0"/>
                        <a:cs typeface="Calibri" charset="0"/>
                      </a:endParaRPr>
                    </a:p>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Giá vốn chưa phản ánh đủ chi phí sản xuất; hồ sơ kiểm nghiệm cần hoàn thiện</a:t>
                      </a:r>
                      <a:endParaRPr lang="en-US" sz="720" dirty="0">
                        <a:latin typeface="Calibri" charset="0"/>
                        <a:ea typeface="Calibri" charset="0"/>
                        <a:cs typeface="Calibri" charset="0"/>
                      </a:endParaRPr>
                    </a:p>
                  </a:txBody>
                  <a:tcPr marL="57607" marR="57607" marT="21580" marB="28804"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53711">
                <a:tc>
                  <a:txBody>
                    <a:bodyPr/>
                    <a:lstStyle/>
                    <a:p>
                      <a:pPr algn="l" indent="0" marL="0">
                        <a:buNone/>
                      </a:pPr>
                      <a:r>
                        <a:rPr lang="en-US" sz="720" b="1" dirty="0">
                          <a:solidFill>
                            <a:srgbClr val="FFFFFF"/>
                          </a:solidFill>
                          <a:latin typeface="Calibri" pitchFamily="34" charset="0"/>
                          <a:ea typeface="Calibri" pitchFamily="34" charset="-122"/>
                          <a:cs typeface="Calibri" pitchFamily="34" charset="-120"/>
                        </a:rPr>
                        <a:t>Cơ hội</a:t>
                      </a:r>
                      <a:endParaRPr lang="en-US" sz="720" dirty="0">
                        <a:latin typeface="Calibri" charset="0"/>
                        <a:ea typeface="Calibri" charset="0"/>
                        <a:cs typeface="Calibri" charset="0"/>
                      </a:endParaRPr>
                    </a:p>
                  </a:txBody>
                  <a:tcPr marL="57607" marR="57607" marT="18014" marB="18014" anchor="ctr">
                    <a:lnL w="0" cap="flat" cmpd="sng" algn="ctr">
                      <a:noFill/>
                    </a:lnL>
                    <a:lnR w="0" cap="flat" cmpd="sng" algn="ctr">
                      <a:noFill/>
                    </a:lnR>
                    <a:lnT w="0" cap="flat" cmpd="sng" algn="ctr">
                      <a:noFill/>
                    </a:lnT>
                    <a:lnB w="0" cap="flat" cmpd="sng" algn="ctr">
                      <a:noFill/>
                    </a:lnB>
                    <a:solidFill>
                      <a:srgbClr val="404040"/>
                    </a:solidFill>
                  </a:tcPr>
                </a:tc>
                <a:tc>
                  <a:txBody>
                    <a:bodyPr/>
                    <a:lstStyle/>
                    <a:p>
                      <a:pPr algn="l" indent="0" marL="0">
                        <a:buNone/>
                      </a:pPr>
                      <a:r>
                        <a:rPr lang="en-US" sz="720" b="1" dirty="0">
                          <a:solidFill>
                            <a:srgbClr val="FFFFFF"/>
                          </a:solidFill>
                          <a:latin typeface="Calibri" pitchFamily="34" charset="0"/>
                          <a:ea typeface="Calibri" pitchFamily="34" charset="-122"/>
                          <a:cs typeface="Calibri" pitchFamily="34" charset="-120"/>
                        </a:rPr>
                        <a:t>Thách thức</a:t>
                      </a:r>
                      <a:endParaRPr lang="en-US" sz="720" dirty="0">
                        <a:latin typeface="Calibri" charset="0"/>
                        <a:ea typeface="Calibri" charset="0"/>
                        <a:cs typeface="Calibri" charset="0"/>
                      </a:endParaRPr>
                    </a:p>
                  </a:txBody>
                  <a:tcPr marL="57607" marR="57607" marT="18014" marB="18014" anchor="ctr">
                    <a:lnL w="0" cap="flat" cmpd="sng" algn="ctr">
                      <a:noFill/>
                    </a:lnL>
                    <a:lnR w="0" cap="flat" cmpd="sng" algn="ctr">
                      <a:noFill/>
                    </a:lnR>
                    <a:lnT w="0" cap="flat" cmpd="sng" algn="ctr">
                      <a:noFill/>
                    </a:lnT>
                    <a:lnB w="0" cap="flat" cmpd="sng" algn="ctr">
                      <a:noFill/>
                    </a:lnB>
                    <a:solidFill>
                      <a:srgbClr val="404040"/>
                    </a:solidFill>
                  </a:tcPr>
                </a:tc>
              </a:tr>
              <a:tr h="543794">
                <a:tc>
                  <a:txBody>
                    <a:bodyPr/>
                    <a:lstStyle/>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Điều 64 NĐ 08/2022 (sau 2025 và sau 2030) mở rộng cầu</a:t>
                      </a:r>
                      <a:endParaRPr lang="en-US" sz="720" dirty="0">
                        <a:latin typeface="Calibri" charset="0"/>
                        <a:ea typeface="Calibri" charset="0"/>
                        <a:cs typeface="Calibri" charset="0"/>
                      </a:endParaRPr>
                    </a:p>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EPR (NĐ 110/2026) đặt nghĩa vụ lên khách hàng</a:t>
                      </a:r>
                      <a:endParaRPr lang="en-US" sz="720" dirty="0">
                        <a:latin typeface="Calibri" charset="0"/>
                        <a:ea typeface="Calibri" charset="0"/>
                        <a:cs typeface="Calibri" charset="0"/>
                      </a:endParaRPr>
                    </a:p>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Dịch vụ ăn uống +16,4% (8T-2026); khách FDI cần đệm thay EPS</a:t>
                      </a:r>
                      <a:endParaRPr lang="en-US" sz="720" dirty="0">
                        <a:latin typeface="Calibri" charset="0"/>
                        <a:ea typeface="Calibri" charset="0"/>
                        <a:cs typeface="Calibri" charset="0"/>
                      </a:endParaRPr>
                    </a:p>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Hỗ trợ lãi suất NATIF, ưu đãi thuế NQ 198/2025</a:t>
                      </a:r>
                      <a:endParaRPr lang="en-US" sz="720" dirty="0">
                        <a:latin typeface="Calibri" charset="0"/>
                        <a:ea typeface="Calibri" charset="0"/>
                        <a:cs typeface="Calibri" charset="0"/>
                      </a:endParaRPr>
                    </a:p>
                  </a:txBody>
                  <a:tcPr marL="57607" marR="57607" marT="21580" marB="28804"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Hàng bã mía nhập khẩu và xưởng nhỏ cạnh tranh bằng giá</a:t>
                      </a:r>
                      <a:endParaRPr lang="en-US" sz="720" dirty="0">
                        <a:latin typeface="Calibri" charset="0"/>
                        <a:ea typeface="Calibri" charset="0"/>
                        <a:cs typeface="Calibri" charset="0"/>
                      </a:endParaRPr>
                    </a:p>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Lãi suất cho vay tăng; CNY làm đắt máy nhập</a:t>
                      </a:r>
                      <a:endParaRPr lang="en-US" sz="720" dirty="0">
                        <a:latin typeface="Calibri" charset="0"/>
                        <a:ea typeface="Calibri" charset="0"/>
                        <a:cs typeface="Calibri" charset="0"/>
                      </a:endParaRPr>
                    </a:p>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Thực thi quy định chậm làm khách hàng hoãn chuyển đổi</a:t>
                      </a:r>
                      <a:endParaRPr lang="en-US" sz="720" dirty="0">
                        <a:latin typeface="Calibri" charset="0"/>
                        <a:ea typeface="Calibri" charset="0"/>
                        <a:cs typeface="Calibri" charset="0"/>
                      </a:endParaRPr>
                    </a:p>
                    <a:p>
                      <a:pPr algn="l" marL="115189" indent="-115189">
                        <a:buSzPct val="100000"/>
                        <a:buChar char="•"/>
                      </a:pPr>
                      <a:r>
                        <a:rPr lang="en-US" sz="720" dirty="0">
                          <a:solidFill>
                            <a:srgbClr val="1F1F1F"/>
                          </a:solidFill>
                          <a:latin typeface="Calibri" pitchFamily="34" charset="0"/>
                          <a:ea typeface="Calibri" pitchFamily="34" charset="-122"/>
                          <a:cs typeface="Calibri" pitchFamily="34" charset="-120"/>
                        </a:rPr>
                        <a:t>Nhựa "tự hủy" pha phụ gia làm giảm niềm tin vào bao bì xanh</a:t>
                      </a:r>
                      <a:endParaRPr lang="en-US" sz="720" dirty="0">
                        <a:latin typeface="Calibri" charset="0"/>
                        <a:ea typeface="Calibri" charset="0"/>
                        <a:cs typeface="Calibri" charset="0"/>
                      </a:endParaRPr>
                    </a:p>
                  </a:txBody>
                  <a:tcPr marL="57607" marR="57607" marT="21580" marB="28804"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05354" y="7472202"/>
          <a:ext cx="6749004" cy="914400"/>
        </p:xfrm>
        <a:graphic>
          <a:graphicData uri="http://schemas.openxmlformats.org/drawingml/2006/table">
            <a:tbl>
              <a:tblPr/>
              <a:tblGrid>
                <a:gridCol w="371155"/>
                <a:gridCol w="425013"/>
                <a:gridCol w="425013"/>
                <a:gridCol w="425013"/>
                <a:gridCol w="425013"/>
                <a:gridCol w="425013"/>
                <a:gridCol w="425013"/>
                <a:gridCol w="425013"/>
                <a:gridCol w="425013"/>
                <a:gridCol w="425013"/>
                <a:gridCol w="425013"/>
                <a:gridCol w="425013"/>
                <a:gridCol w="425013"/>
                <a:gridCol w="425013"/>
                <a:gridCol w="425013"/>
                <a:gridCol w="427116"/>
              </a:tblGrid>
              <a:tr h="312085">
                <a:tc>
                  <a:txBody>
                    <a:bodyPr/>
                    <a:lstStyle/>
                    <a:p>
                      <a:pPr algn="l" indent="0" marL="0">
                        <a:buNone/>
                      </a:pPr>
                      <a:r>
                        <a:rPr lang="en-US" sz="660" b="1" dirty="0">
                          <a:solidFill>
                            <a:srgbClr val="FFFFFF"/>
                          </a:solidFill>
                          <a:latin typeface="Calibri" pitchFamily="34" charset="0"/>
                          <a:ea typeface="Calibri" pitchFamily="34" charset="-122"/>
                          <a:cs typeface="Calibri" pitchFamily="34" charset="-120"/>
                        </a:rPr>
                        <a:t>Năm</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Biên gộp (BCTC)</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Biên EBITDA</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Biên LNST</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ROE bình quân</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ROA bình quân</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Vòng quay TS (lần)</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TS/VCSH (lần)</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TT hiện hành (lần)</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TT nhanh (lần)</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Tiền/TSNH</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Nợ vay/ VCSH</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DIO (ngày)</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DSO (ngày)</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DPO (ngày)</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Chu kỳ tiền (ngày)</a:t>
                      </a:r>
                      <a:endParaRPr lang="en-US" sz="660"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2023A</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69,1%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(14,2%)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(22,2%)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(25,1%)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(23,1%)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1,04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1,09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17,2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8,7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0,9%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6,8%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152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166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2024A</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71,2%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6,5%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(2,3%)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(2,1%)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1,29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1,08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21,5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13,4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21,7%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6,3%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123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dirty="0">
                          <a:solidFill>
                            <a:srgbClr val="1F1F1F"/>
                          </a:solidFill>
                          <a:latin typeface="Calibri" pitchFamily="34" charset="0"/>
                          <a:ea typeface="Calibri" pitchFamily="34" charset="-122"/>
                          <a:cs typeface="Calibri" pitchFamily="34" charset="-120"/>
                        </a:rPr>
                        <a:t>133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2025A</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72,8%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16,2%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9,3%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15,9%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14,9%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1,60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1,07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23,6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15,2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27,9%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5,3%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106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14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ctr" indent="0" marL="0">
                        <a:buNone/>
                      </a:pPr>
                      <a:r>
                        <a:rPr lang="en-US" sz="660" b="1" dirty="0">
                          <a:solidFill>
                            <a:srgbClr val="1F1F1F"/>
                          </a:solidFill>
                          <a:latin typeface="Calibri" pitchFamily="34" charset="0"/>
                          <a:ea typeface="Calibri" pitchFamily="34" charset="-122"/>
                          <a:cs typeface="Calibri" pitchFamily="34" charset="-120"/>
                        </a:rPr>
                        <a:t>112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152" name="Fig. 11 – biểu đồ"/>
          <p:cNvGrpSpPr/>
          <p:nvPr/>
        </p:nvGrpSpPr>
        <p:grpSpPr>
          <a:xfrm>
            <a:off x="393832" y="2875148"/>
            <a:ext cx="2334098" cy="721278"/>
            <a:chOff x="393832" y="2875148"/>
            <a:chExt cx="2334098" cy="721278"/>
          </a:xfrm>
        </p:grpSpPr>
        <p:sp>
          <p:nvSpPr>
            <p:cNvPr id="13" name="svg0_0"/>
            <p:cNvSpPr/>
            <p:nvPr/>
          </p:nvSpPr>
          <p:spPr>
            <a:xfrm>
              <a:off x="1018093" y="2900294"/>
              <a:ext cx="51024" cy="51024"/>
            </a:xfrm>
            <a:prstGeom prst="ellipse">
              <a:avLst/>
            </a:prstGeom>
            <a:solidFill>
              <a:srgbClr val="A3A3A3"/>
            </a:solidFill>
            <a:ln w="7874">
              <a:solidFill>
                <a:srgbClr val="FFFFFF"/>
              </a:solidFill>
              <a:prstDash val="solid"/>
            </a:ln>
          </p:spPr>
        </p:sp>
        <p:sp>
          <p:nvSpPr>
            <p:cNvPr id="14" name="svg0_1"/>
            <p:cNvSpPr txBox="1"/>
            <p:nvPr/>
          </p:nvSpPr>
          <p:spPr>
            <a:xfrm>
              <a:off x="1097554" y="2875148"/>
              <a:ext cx="264719"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2023A</a:t>
              </a:r>
              <a:endParaRPr lang="en-US" sz="587" dirty="0"/>
            </a:p>
          </p:txBody>
        </p:sp>
        <p:sp>
          <p:nvSpPr>
            <p:cNvPr id="15" name="svg0_2"/>
            <p:cNvSpPr/>
            <p:nvPr/>
          </p:nvSpPr>
          <p:spPr>
            <a:xfrm>
              <a:off x="1365199" y="2900294"/>
              <a:ext cx="51024" cy="51024"/>
            </a:xfrm>
            <a:prstGeom prst="ellipse">
              <a:avLst/>
            </a:prstGeom>
            <a:solidFill>
              <a:srgbClr val="7B1E2B"/>
            </a:solidFill>
            <a:ln w="7874">
              <a:solidFill>
                <a:srgbClr val="FFFFFF"/>
              </a:solidFill>
              <a:prstDash val="solid"/>
            </a:ln>
          </p:spPr>
        </p:sp>
        <p:sp>
          <p:nvSpPr>
            <p:cNvPr id="16" name="svg0_3"/>
            <p:cNvSpPr txBox="1"/>
            <p:nvPr/>
          </p:nvSpPr>
          <p:spPr>
            <a:xfrm>
              <a:off x="1445118" y="2875148"/>
              <a:ext cx="264719"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2025A</a:t>
              </a:r>
              <a:endParaRPr lang="en-US" sz="587" dirty="0"/>
            </a:p>
          </p:txBody>
        </p:sp>
        <p:sp>
          <p:nvSpPr>
            <p:cNvPr id="17" name="svg0_4"/>
            <p:cNvSpPr txBox="1"/>
            <p:nvPr/>
          </p:nvSpPr>
          <p:spPr>
            <a:xfrm>
              <a:off x="564642" y="3000878"/>
              <a:ext cx="41312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Tiền lương</a:t>
              </a:r>
              <a:endParaRPr lang="en-US" sz="587" dirty="0"/>
            </a:p>
          </p:txBody>
        </p:sp>
        <p:sp>
          <p:nvSpPr>
            <p:cNvPr id="18" name="svg0_5"/>
            <p:cNvSpPr/>
            <p:nvPr/>
          </p:nvSpPr>
          <p:spPr>
            <a:xfrm>
              <a:off x="1014161" y="3049524"/>
              <a:ext cx="1119226" cy="0"/>
            </a:xfrm>
            <a:prstGeom prst="line">
              <a:avLst/>
            </a:prstGeom>
            <a:noFill/>
            <a:ln w="5842">
              <a:solidFill>
                <a:srgbClr val="F0F0F0"/>
              </a:solidFill>
              <a:prstDash val="solid"/>
            </a:ln>
          </p:spPr>
        </p:sp>
        <p:sp>
          <p:nvSpPr>
            <p:cNvPr id="19" name="svg0_6"/>
            <p:cNvSpPr/>
            <p:nvPr/>
          </p:nvSpPr>
          <p:spPr>
            <a:xfrm>
              <a:off x="1647749" y="3049524"/>
              <a:ext cx="372892" cy="0"/>
            </a:xfrm>
            <a:prstGeom prst="line">
              <a:avLst/>
            </a:prstGeom>
            <a:noFill/>
            <a:ln w="21590">
              <a:solidFill>
                <a:srgbClr val="D0D0D0"/>
              </a:solidFill>
              <a:prstDash val="solid"/>
            </a:ln>
          </p:spPr>
        </p:sp>
        <p:sp>
          <p:nvSpPr>
            <p:cNvPr id="20" name="svg0_7"/>
            <p:cNvSpPr/>
            <p:nvPr/>
          </p:nvSpPr>
          <p:spPr>
            <a:xfrm>
              <a:off x="1991197" y="3020080"/>
              <a:ext cx="58887" cy="58887"/>
            </a:xfrm>
            <a:prstGeom prst="ellipse">
              <a:avLst/>
            </a:prstGeom>
            <a:solidFill>
              <a:srgbClr val="A3A3A3"/>
            </a:solidFill>
            <a:ln w="7874">
              <a:solidFill>
                <a:srgbClr val="FFFFFF"/>
              </a:solidFill>
              <a:prstDash val="solid"/>
            </a:ln>
          </p:spPr>
        </p:sp>
        <p:sp>
          <p:nvSpPr>
            <p:cNvPr id="21" name="svg0_8"/>
            <p:cNvSpPr/>
            <p:nvPr/>
          </p:nvSpPr>
          <p:spPr>
            <a:xfrm>
              <a:off x="1618305" y="3020080"/>
              <a:ext cx="58887" cy="58887"/>
            </a:xfrm>
            <a:prstGeom prst="ellipse">
              <a:avLst/>
            </a:prstGeom>
            <a:solidFill>
              <a:srgbClr val="7B1E2B"/>
            </a:solidFill>
            <a:ln w="7874">
              <a:solidFill>
                <a:srgbClr val="FFFFFF"/>
              </a:solidFill>
              <a:prstDash val="solid"/>
            </a:ln>
          </p:spPr>
        </p:sp>
        <p:sp>
          <p:nvSpPr>
            <p:cNvPr id="22" name="svg0_9"/>
            <p:cNvSpPr txBox="1"/>
            <p:nvPr/>
          </p:nvSpPr>
          <p:spPr>
            <a:xfrm>
              <a:off x="2172523" y="3000878"/>
              <a:ext cx="555407"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36,0% → </a:t>
              </a:r>
              <a:pPr algn="l" indent="0" marL="0">
                <a:buNone/>
              </a:pPr>
              <a:r>
                <a:rPr lang="en-US" sz="557" b="1" dirty="0">
                  <a:solidFill>
                    <a:srgbClr val="7B1E2B"/>
                  </a:solidFill>
                  <a:latin typeface="Calibri" pitchFamily="34" charset="0"/>
                  <a:ea typeface="Calibri" pitchFamily="34" charset="-122"/>
                  <a:cs typeface="Calibri" pitchFamily="34" charset="-120"/>
                </a:rPr>
                <a:t>22,6%</a:t>
              </a:r>
              <a:endParaRPr lang="en-US" sz="557" dirty="0"/>
            </a:p>
          </p:txBody>
        </p:sp>
        <p:sp>
          <p:nvSpPr>
            <p:cNvPr id="23" name="svg0_10"/>
            <p:cNvSpPr txBox="1"/>
            <p:nvPr/>
          </p:nvSpPr>
          <p:spPr>
            <a:xfrm>
              <a:off x="393832" y="3123499"/>
              <a:ext cx="58750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Chi phí HĐ khác</a:t>
              </a:r>
              <a:endParaRPr lang="en-US" sz="587" dirty="0"/>
            </a:p>
          </p:txBody>
        </p:sp>
        <p:sp>
          <p:nvSpPr>
            <p:cNvPr id="24" name="svg0_11"/>
            <p:cNvSpPr/>
            <p:nvPr/>
          </p:nvSpPr>
          <p:spPr>
            <a:xfrm>
              <a:off x="1014161" y="3172236"/>
              <a:ext cx="1119226" cy="0"/>
            </a:xfrm>
            <a:prstGeom prst="line">
              <a:avLst/>
            </a:prstGeom>
            <a:noFill/>
            <a:ln w="5842">
              <a:solidFill>
                <a:srgbClr val="F0F0F0"/>
              </a:solidFill>
              <a:prstDash val="solid"/>
            </a:ln>
          </p:spPr>
        </p:sp>
        <p:sp>
          <p:nvSpPr>
            <p:cNvPr id="25" name="svg0_12"/>
            <p:cNvSpPr/>
            <p:nvPr/>
          </p:nvSpPr>
          <p:spPr>
            <a:xfrm>
              <a:off x="1519550" y="3172236"/>
              <a:ext cx="245974" cy="0"/>
            </a:xfrm>
            <a:prstGeom prst="line">
              <a:avLst/>
            </a:prstGeom>
            <a:noFill/>
            <a:ln w="21590">
              <a:solidFill>
                <a:srgbClr val="D0D0D0"/>
              </a:solidFill>
              <a:prstDash val="solid"/>
            </a:ln>
          </p:spPr>
        </p:sp>
        <p:sp>
          <p:nvSpPr>
            <p:cNvPr id="26" name="svg0_13"/>
            <p:cNvSpPr/>
            <p:nvPr/>
          </p:nvSpPr>
          <p:spPr>
            <a:xfrm>
              <a:off x="1735988" y="3142793"/>
              <a:ext cx="58887" cy="58887"/>
            </a:xfrm>
            <a:prstGeom prst="ellipse">
              <a:avLst/>
            </a:prstGeom>
            <a:solidFill>
              <a:srgbClr val="A3A3A3"/>
            </a:solidFill>
            <a:ln w="7874">
              <a:solidFill>
                <a:srgbClr val="FFFFFF"/>
              </a:solidFill>
              <a:prstDash val="solid"/>
            </a:ln>
          </p:spPr>
        </p:sp>
        <p:sp>
          <p:nvSpPr>
            <p:cNvPr id="27" name="svg0_14"/>
            <p:cNvSpPr/>
            <p:nvPr/>
          </p:nvSpPr>
          <p:spPr>
            <a:xfrm>
              <a:off x="1490106" y="3142793"/>
              <a:ext cx="58887" cy="58887"/>
            </a:xfrm>
            <a:prstGeom prst="ellipse">
              <a:avLst/>
            </a:prstGeom>
            <a:solidFill>
              <a:srgbClr val="7B1E2B"/>
            </a:solidFill>
            <a:ln w="7874">
              <a:solidFill>
                <a:srgbClr val="FFFFFF"/>
              </a:solidFill>
              <a:prstDash val="solid"/>
            </a:ln>
          </p:spPr>
        </p:sp>
        <p:sp>
          <p:nvSpPr>
            <p:cNvPr id="28" name="svg0_15"/>
            <p:cNvSpPr txBox="1"/>
            <p:nvPr/>
          </p:nvSpPr>
          <p:spPr>
            <a:xfrm>
              <a:off x="2172523" y="3123499"/>
              <a:ext cx="555407"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26,9% → </a:t>
              </a:r>
              <a:pPr algn="l" indent="0" marL="0">
                <a:buNone/>
              </a:pPr>
              <a:r>
                <a:rPr lang="en-US" sz="557" b="1" dirty="0">
                  <a:solidFill>
                    <a:srgbClr val="7B1E2B"/>
                  </a:solidFill>
                  <a:latin typeface="Calibri" pitchFamily="34" charset="0"/>
                  <a:ea typeface="Calibri" pitchFamily="34" charset="-122"/>
                  <a:cs typeface="Calibri" pitchFamily="34" charset="-120"/>
                </a:rPr>
                <a:t>18,1%</a:t>
              </a:r>
              <a:endParaRPr lang="en-US" sz="557" dirty="0"/>
            </a:p>
          </p:txBody>
        </p:sp>
        <p:sp>
          <p:nvSpPr>
            <p:cNvPr id="29" name="svg0_16"/>
            <p:cNvSpPr txBox="1"/>
            <p:nvPr/>
          </p:nvSpPr>
          <p:spPr>
            <a:xfrm>
              <a:off x="428854" y="3246211"/>
              <a:ext cx="54608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Giá vốn (BCTC)</a:t>
              </a:r>
              <a:endParaRPr lang="en-US" sz="587" dirty="0"/>
            </a:p>
          </p:txBody>
        </p:sp>
        <p:sp>
          <p:nvSpPr>
            <p:cNvPr id="30" name="svg0_17"/>
            <p:cNvSpPr/>
            <p:nvPr/>
          </p:nvSpPr>
          <p:spPr>
            <a:xfrm>
              <a:off x="1014161" y="3294949"/>
              <a:ext cx="1119226" cy="0"/>
            </a:xfrm>
            <a:prstGeom prst="line">
              <a:avLst/>
            </a:prstGeom>
            <a:noFill/>
            <a:ln w="5842">
              <a:solidFill>
                <a:srgbClr val="F0F0F0"/>
              </a:solidFill>
              <a:prstDash val="solid"/>
            </a:ln>
          </p:spPr>
        </p:sp>
        <p:sp>
          <p:nvSpPr>
            <p:cNvPr id="31" name="svg0_18"/>
            <p:cNvSpPr/>
            <p:nvPr/>
          </p:nvSpPr>
          <p:spPr>
            <a:xfrm>
              <a:off x="1774759" y="3294949"/>
              <a:ext cx="104699" cy="0"/>
            </a:xfrm>
            <a:prstGeom prst="line">
              <a:avLst/>
            </a:prstGeom>
            <a:noFill/>
            <a:ln w="21590">
              <a:solidFill>
                <a:srgbClr val="D0D0D0"/>
              </a:solidFill>
              <a:prstDash val="solid"/>
            </a:ln>
          </p:spPr>
        </p:sp>
        <p:sp>
          <p:nvSpPr>
            <p:cNvPr id="32" name="svg0_19"/>
            <p:cNvSpPr/>
            <p:nvPr/>
          </p:nvSpPr>
          <p:spPr>
            <a:xfrm>
              <a:off x="1850014" y="3265505"/>
              <a:ext cx="58887" cy="58887"/>
            </a:xfrm>
            <a:prstGeom prst="ellipse">
              <a:avLst/>
            </a:prstGeom>
            <a:solidFill>
              <a:srgbClr val="A3A3A3"/>
            </a:solidFill>
            <a:ln w="7874">
              <a:solidFill>
                <a:srgbClr val="FFFFFF"/>
              </a:solidFill>
              <a:prstDash val="solid"/>
            </a:ln>
          </p:spPr>
        </p:sp>
        <p:sp>
          <p:nvSpPr>
            <p:cNvPr id="33" name="svg0_20"/>
            <p:cNvSpPr/>
            <p:nvPr/>
          </p:nvSpPr>
          <p:spPr>
            <a:xfrm>
              <a:off x="1745407" y="3265505"/>
              <a:ext cx="58887" cy="58887"/>
            </a:xfrm>
            <a:prstGeom prst="ellipse">
              <a:avLst/>
            </a:prstGeom>
            <a:solidFill>
              <a:srgbClr val="7B1E2B"/>
            </a:solidFill>
            <a:ln w="7874">
              <a:solidFill>
                <a:srgbClr val="FFFFFF"/>
              </a:solidFill>
              <a:prstDash val="solid"/>
            </a:ln>
          </p:spPr>
        </p:sp>
        <p:sp>
          <p:nvSpPr>
            <p:cNvPr id="34" name="svg0_21"/>
            <p:cNvSpPr txBox="1"/>
            <p:nvPr/>
          </p:nvSpPr>
          <p:spPr>
            <a:xfrm>
              <a:off x="2172523" y="3246211"/>
              <a:ext cx="555407"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30,9% → </a:t>
              </a:r>
              <a:pPr algn="l" indent="0" marL="0">
                <a:buNone/>
              </a:pPr>
              <a:r>
                <a:rPr lang="en-US" sz="557" b="1" dirty="0">
                  <a:solidFill>
                    <a:srgbClr val="7B1E2B"/>
                  </a:solidFill>
                  <a:latin typeface="Calibri" pitchFamily="34" charset="0"/>
                  <a:ea typeface="Calibri" pitchFamily="34" charset="-122"/>
                  <a:cs typeface="Calibri" pitchFamily="34" charset="-120"/>
                </a:rPr>
                <a:t>27,2%</a:t>
              </a:r>
              <a:endParaRPr lang="en-US" sz="557" dirty="0"/>
            </a:p>
          </p:txBody>
        </p:sp>
        <p:sp>
          <p:nvSpPr>
            <p:cNvPr id="35" name="svg0_22"/>
            <p:cNvSpPr txBox="1"/>
            <p:nvPr/>
          </p:nvSpPr>
          <p:spPr>
            <a:xfrm>
              <a:off x="418521" y="3359506"/>
              <a:ext cx="559338" cy="11430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Thuê mặt bằng</a:t>
              </a:r>
              <a:endParaRPr lang="en-US" sz="587" dirty="0"/>
            </a:p>
          </p:txBody>
        </p:sp>
        <p:sp>
          <p:nvSpPr>
            <p:cNvPr id="36" name="svg0_23"/>
            <p:cNvSpPr/>
            <p:nvPr/>
          </p:nvSpPr>
          <p:spPr>
            <a:xfrm>
              <a:off x="1014161" y="3417661"/>
              <a:ext cx="1119226" cy="0"/>
            </a:xfrm>
            <a:prstGeom prst="line">
              <a:avLst/>
            </a:prstGeom>
            <a:noFill/>
            <a:ln w="5842">
              <a:solidFill>
                <a:srgbClr val="F0F0F0"/>
              </a:solidFill>
              <a:prstDash val="solid"/>
            </a:ln>
          </p:spPr>
        </p:sp>
        <p:sp>
          <p:nvSpPr>
            <p:cNvPr id="37" name="svg0_24"/>
            <p:cNvSpPr/>
            <p:nvPr/>
          </p:nvSpPr>
          <p:spPr>
            <a:xfrm>
              <a:off x="1459657" y="3417661"/>
              <a:ext cx="127010" cy="0"/>
            </a:xfrm>
            <a:prstGeom prst="line">
              <a:avLst/>
            </a:prstGeom>
            <a:noFill/>
            <a:ln w="21590">
              <a:solidFill>
                <a:srgbClr val="D0D0D0"/>
              </a:solidFill>
              <a:prstDash val="solid"/>
            </a:ln>
          </p:spPr>
        </p:sp>
        <p:sp>
          <p:nvSpPr>
            <p:cNvPr id="38" name="svg0_25"/>
            <p:cNvSpPr/>
            <p:nvPr/>
          </p:nvSpPr>
          <p:spPr>
            <a:xfrm>
              <a:off x="1557132" y="3388218"/>
              <a:ext cx="58887" cy="58887"/>
            </a:xfrm>
            <a:prstGeom prst="ellipse">
              <a:avLst/>
            </a:prstGeom>
            <a:solidFill>
              <a:srgbClr val="A3A3A3"/>
            </a:solidFill>
            <a:ln w="7874">
              <a:solidFill>
                <a:srgbClr val="FFFFFF"/>
              </a:solidFill>
              <a:prstDash val="solid"/>
            </a:ln>
          </p:spPr>
        </p:sp>
        <p:sp>
          <p:nvSpPr>
            <p:cNvPr id="39" name="svg0_26"/>
            <p:cNvSpPr/>
            <p:nvPr/>
          </p:nvSpPr>
          <p:spPr>
            <a:xfrm>
              <a:off x="1430213" y="3388218"/>
              <a:ext cx="58887" cy="58887"/>
            </a:xfrm>
            <a:prstGeom prst="ellipse">
              <a:avLst/>
            </a:prstGeom>
            <a:solidFill>
              <a:srgbClr val="7B1E2B"/>
            </a:solidFill>
            <a:ln w="7874">
              <a:solidFill>
                <a:srgbClr val="FFFFFF"/>
              </a:solidFill>
              <a:prstDash val="solid"/>
            </a:ln>
          </p:spPr>
        </p:sp>
        <p:sp>
          <p:nvSpPr>
            <p:cNvPr id="40" name="svg0_27"/>
            <p:cNvSpPr txBox="1"/>
            <p:nvPr/>
          </p:nvSpPr>
          <p:spPr>
            <a:xfrm>
              <a:off x="2172523" y="3369015"/>
              <a:ext cx="555407"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20,5% → </a:t>
              </a:r>
              <a:pPr algn="l" indent="0" marL="0">
                <a:buNone/>
              </a:pPr>
              <a:r>
                <a:rPr lang="en-US" sz="557" b="1" dirty="0">
                  <a:solidFill>
                    <a:srgbClr val="7B1E2B"/>
                  </a:solidFill>
                  <a:latin typeface="Calibri" pitchFamily="34" charset="0"/>
                  <a:ea typeface="Calibri" pitchFamily="34" charset="-122"/>
                  <a:cs typeface="Calibri" pitchFamily="34" charset="-120"/>
                </a:rPr>
                <a:t>15,9%</a:t>
              </a:r>
              <a:endParaRPr lang="en-US" sz="557" dirty="0"/>
            </a:p>
          </p:txBody>
        </p:sp>
        <p:sp>
          <p:nvSpPr>
            <p:cNvPr id="41" name="svg0_28"/>
            <p:cNvSpPr txBox="1"/>
            <p:nvPr/>
          </p:nvSpPr>
          <p:spPr>
            <a:xfrm>
              <a:off x="613105" y="3491636"/>
              <a:ext cx="36182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Khấu hao</a:t>
              </a:r>
              <a:endParaRPr lang="en-US" sz="587" dirty="0"/>
            </a:p>
          </p:txBody>
        </p:sp>
        <p:sp>
          <p:nvSpPr>
            <p:cNvPr id="42" name="svg0_29"/>
            <p:cNvSpPr/>
            <p:nvPr/>
          </p:nvSpPr>
          <p:spPr>
            <a:xfrm>
              <a:off x="1014161" y="3540374"/>
              <a:ext cx="1119226" cy="0"/>
            </a:xfrm>
            <a:prstGeom prst="line">
              <a:avLst/>
            </a:prstGeom>
            <a:noFill/>
            <a:ln w="5842">
              <a:solidFill>
                <a:srgbClr val="F0F0F0"/>
              </a:solidFill>
              <a:prstDash val="solid"/>
            </a:ln>
          </p:spPr>
        </p:sp>
        <p:sp>
          <p:nvSpPr>
            <p:cNvPr id="43" name="svg0_30"/>
            <p:cNvSpPr/>
            <p:nvPr/>
          </p:nvSpPr>
          <p:spPr>
            <a:xfrm>
              <a:off x="1198413" y="3540374"/>
              <a:ext cx="21946" cy="0"/>
            </a:xfrm>
            <a:prstGeom prst="line">
              <a:avLst/>
            </a:prstGeom>
            <a:noFill/>
            <a:ln w="21590">
              <a:solidFill>
                <a:srgbClr val="D0D0D0"/>
              </a:solidFill>
              <a:prstDash val="solid"/>
            </a:ln>
          </p:spPr>
        </p:sp>
        <p:sp>
          <p:nvSpPr>
            <p:cNvPr id="44" name="svg0_31"/>
            <p:cNvSpPr/>
            <p:nvPr/>
          </p:nvSpPr>
          <p:spPr>
            <a:xfrm>
              <a:off x="1190915" y="3510930"/>
              <a:ext cx="58887" cy="58887"/>
            </a:xfrm>
            <a:prstGeom prst="ellipse">
              <a:avLst/>
            </a:prstGeom>
            <a:solidFill>
              <a:srgbClr val="A3A3A3"/>
            </a:solidFill>
            <a:ln w="7874">
              <a:solidFill>
                <a:srgbClr val="FFFFFF"/>
              </a:solidFill>
              <a:prstDash val="solid"/>
            </a:ln>
          </p:spPr>
        </p:sp>
        <p:sp>
          <p:nvSpPr>
            <p:cNvPr id="45" name="svg0_32"/>
            <p:cNvSpPr/>
            <p:nvPr/>
          </p:nvSpPr>
          <p:spPr>
            <a:xfrm>
              <a:off x="1168969" y="3510930"/>
              <a:ext cx="58887" cy="58887"/>
            </a:xfrm>
            <a:prstGeom prst="ellipse">
              <a:avLst/>
            </a:prstGeom>
            <a:solidFill>
              <a:srgbClr val="7B1E2B"/>
            </a:solidFill>
            <a:ln w="7874">
              <a:solidFill>
                <a:srgbClr val="FFFFFF"/>
              </a:solidFill>
              <a:prstDash val="solid"/>
            </a:ln>
          </p:spPr>
        </p:sp>
        <p:sp>
          <p:nvSpPr>
            <p:cNvPr id="46" name="svg0_33"/>
            <p:cNvSpPr txBox="1"/>
            <p:nvPr/>
          </p:nvSpPr>
          <p:spPr>
            <a:xfrm>
              <a:off x="2172523" y="3491636"/>
              <a:ext cx="47393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7,4% → </a:t>
              </a:r>
              <a:pPr algn="l" indent="0" marL="0">
                <a:buNone/>
              </a:pPr>
              <a:r>
                <a:rPr lang="en-US" sz="557" b="1" dirty="0">
                  <a:solidFill>
                    <a:srgbClr val="7B1E2B"/>
                  </a:solidFill>
                  <a:latin typeface="Calibri" pitchFamily="34" charset="0"/>
                  <a:ea typeface="Calibri" pitchFamily="34" charset="-122"/>
                  <a:cs typeface="Calibri" pitchFamily="34" charset="-120"/>
                </a:rPr>
                <a:t>6,6%</a:t>
              </a:r>
              <a:endParaRPr lang="en-US" sz="557" dirty="0"/>
            </a:p>
          </p:txBody>
        </p:sp>
      </p:grpSp>
      <p:grpSp>
        <p:nvGrpSpPr>
          <p:cNvPr id="153" name="Fig. 12 – biểu đồ"/>
          <p:cNvGrpSpPr/>
          <p:nvPr/>
        </p:nvGrpSpPr>
        <p:grpSpPr>
          <a:xfrm>
            <a:off x="444856" y="4126413"/>
            <a:ext cx="2081083" cy="943843"/>
            <a:chOff x="444856" y="4126413"/>
            <a:chExt cx="2081083" cy="943843"/>
          </a:xfrm>
        </p:grpSpPr>
        <p:sp>
          <p:nvSpPr>
            <p:cNvPr id="47" name="svg1_34"/>
            <p:cNvSpPr/>
            <p:nvPr/>
          </p:nvSpPr>
          <p:spPr>
            <a:xfrm>
              <a:off x="528066" y="4235775"/>
              <a:ext cx="249723" cy="647852"/>
            </a:xfrm>
            <a:prstGeom prst="rect">
              <a:avLst/>
            </a:prstGeom>
            <a:solidFill>
              <a:srgbClr val="7B1E2B"/>
            </a:solidFill>
            <a:ln/>
          </p:spPr>
        </p:sp>
        <p:sp>
          <p:nvSpPr>
            <p:cNvPr id="48" name="svg1_35"/>
            <p:cNvSpPr txBox="1"/>
            <p:nvPr/>
          </p:nvSpPr>
          <p:spPr>
            <a:xfrm>
              <a:off x="515722" y="4126413"/>
              <a:ext cx="280995"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72,8%</a:t>
              </a:r>
              <a:endParaRPr lang="en-US" sz="649" dirty="0"/>
            </a:p>
          </p:txBody>
        </p:sp>
        <p:sp>
          <p:nvSpPr>
            <p:cNvPr id="49" name="svg1_36"/>
            <p:cNvSpPr txBox="1"/>
            <p:nvPr/>
          </p:nvSpPr>
          <p:spPr>
            <a:xfrm>
              <a:off x="459120" y="4890851"/>
              <a:ext cx="388163"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Theo BCTC</a:t>
              </a:r>
              <a:endParaRPr lang="en-US" sz="557" dirty="0"/>
            </a:p>
          </p:txBody>
        </p:sp>
        <p:sp>
          <p:nvSpPr>
            <p:cNvPr id="50" name="svg1_37"/>
            <p:cNvSpPr/>
            <p:nvPr/>
          </p:nvSpPr>
          <p:spPr>
            <a:xfrm>
              <a:off x="944301" y="4235775"/>
              <a:ext cx="249723" cy="141092"/>
            </a:xfrm>
            <a:prstGeom prst="rect">
              <a:avLst/>
            </a:prstGeom>
            <a:solidFill>
              <a:srgbClr val="A3A3A3"/>
            </a:solidFill>
            <a:ln/>
          </p:spPr>
        </p:sp>
        <p:sp>
          <p:nvSpPr>
            <p:cNvPr id="51" name="svg1_38"/>
            <p:cNvSpPr/>
            <p:nvPr/>
          </p:nvSpPr>
          <p:spPr>
            <a:xfrm>
              <a:off x="777789" y="4235775"/>
              <a:ext cx="166512" cy="0"/>
            </a:xfrm>
            <a:prstGeom prst="line">
              <a:avLst/>
            </a:prstGeom>
            <a:noFill/>
            <a:ln w="4953">
              <a:solidFill>
                <a:srgbClr val="8C8C8C"/>
              </a:solidFill>
              <a:prstDash val="dash"/>
            </a:ln>
          </p:spPr>
        </p:sp>
        <p:sp>
          <p:nvSpPr>
            <p:cNvPr id="52" name="svg1_39"/>
            <p:cNvSpPr txBox="1"/>
            <p:nvPr/>
          </p:nvSpPr>
          <p:spPr>
            <a:xfrm>
              <a:off x="910194" y="4126413"/>
              <a:ext cx="318028"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−15,9%</a:t>
              </a:r>
              <a:endParaRPr lang="en-US" sz="649" dirty="0"/>
            </a:p>
          </p:txBody>
        </p:sp>
        <p:sp>
          <p:nvSpPr>
            <p:cNvPr id="53" name="svg1_40"/>
            <p:cNvSpPr txBox="1"/>
            <p:nvPr/>
          </p:nvSpPr>
          <p:spPr>
            <a:xfrm>
              <a:off x="950976" y="4890851"/>
              <a:ext cx="242956"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− 70%</a:t>
              </a:r>
              <a:endParaRPr lang="en-US" sz="557" dirty="0"/>
            </a:p>
          </p:txBody>
        </p:sp>
        <p:sp>
          <p:nvSpPr>
            <p:cNvPr id="54" name="svg1_41"/>
            <p:cNvSpPr txBox="1"/>
            <p:nvPr/>
          </p:nvSpPr>
          <p:spPr>
            <a:xfrm>
              <a:off x="880384" y="4965466"/>
              <a:ext cx="382402"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tiền lương</a:t>
              </a:r>
              <a:endParaRPr lang="en-US" sz="557" dirty="0"/>
            </a:p>
          </p:txBody>
        </p:sp>
        <p:sp>
          <p:nvSpPr>
            <p:cNvPr id="55" name="svg1_42"/>
            <p:cNvSpPr/>
            <p:nvPr/>
          </p:nvSpPr>
          <p:spPr>
            <a:xfrm>
              <a:off x="1360536" y="4376867"/>
              <a:ext cx="249631" cy="81016"/>
            </a:xfrm>
            <a:prstGeom prst="rect">
              <a:avLst/>
            </a:prstGeom>
            <a:solidFill>
              <a:srgbClr val="A3A3A3"/>
            </a:solidFill>
            <a:ln/>
          </p:spPr>
        </p:sp>
        <p:sp>
          <p:nvSpPr>
            <p:cNvPr id="56" name="svg1_43"/>
            <p:cNvSpPr/>
            <p:nvPr/>
          </p:nvSpPr>
          <p:spPr>
            <a:xfrm>
              <a:off x="1194024" y="4376867"/>
              <a:ext cx="166512" cy="0"/>
            </a:xfrm>
            <a:prstGeom prst="line">
              <a:avLst/>
            </a:prstGeom>
            <a:noFill/>
            <a:ln w="4953">
              <a:solidFill>
                <a:srgbClr val="8C8C8C"/>
              </a:solidFill>
              <a:prstDash val="dash"/>
            </a:ln>
          </p:spPr>
        </p:sp>
        <p:sp>
          <p:nvSpPr>
            <p:cNvPr id="57" name="svg1_44"/>
            <p:cNvSpPr txBox="1"/>
            <p:nvPr/>
          </p:nvSpPr>
          <p:spPr>
            <a:xfrm>
              <a:off x="1350112" y="4267779"/>
              <a:ext cx="27057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−9,1%</a:t>
              </a:r>
              <a:endParaRPr lang="en-US" sz="649" dirty="0"/>
            </a:p>
          </p:txBody>
        </p:sp>
        <p:sp>
          <p:nvSpPr>
            <p:cNvPr id="58" name="svg1_45"/>
            <p:cNvSpPr txBox="1"/>
            <p:nvPr/>
          </p:nvSpPr>
          <p:spPr>
            <a:xfrm>
              <a:off x="1256843" y="4890851"/>
              <a:ext cx="458389"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 Điện nước,</a:t>
              </a:r>
              <a:endParaRPr lang="en-US" sz="557" dirty="0"/>
            </a:p>
          </p:txBody>
        </p:sp>
        <p:sp>
          <p:nvSpPr>
            <p:cNvPr id="59" name="svg1_46"/>
            <p:cNvSpPr txBox="1"/>
            <p:nvPr/>
          </p:nvSpPr>
          <p:spPr>
            <a:xfrm>
              <a:off x="1316004" y="4965466"/>
              <a:ext cx="34290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sửa chữa</a:t>
              </a:r>
              <a:endParaRPr lang="en-US" sz="557" dirty="0"/>
            </a:p>
          </p:txBody>
        </p:sp>
        <p:sp>
          <p:nvSpPr>
            <p:cNvPr id="60" name="svg1_47"/>
            <p:cNvSpPr/>
            <p:nvPr/>
          </p:nvSpPr>
          <p:spPr>
            <a:xfrm>
              <a:off x="1776679" y="4457883"/>
              <a:ext cx="249723" cy="58613"/>
            </a:xfrm>
            <a:prstGeom prst="rect">
              <a:avLst/>
            </a:prstGeom>
            <a:solidFill>
              <a:srgbClr val="A3A3A3"/>
            </a:solidFill>
            <a:ln/>
          </p:spPr>
        </p:sp>
        <p:sp>
          <p:nvSpPr>
            <p:cNvPr id="61" name="svg1_48"/>
            <p:cNvSpPr/>
            <p:nvPr/>
          </p:nvSpPr>
          <p:spPr>
            <a:xfrm>
              <a:off x="1610167" y="4457883"/>
              <a:ext cx="166512" cy="0"/>
            </a:xfrm>
            <a:prstGeom prst="line">
              <a:avLst/>
            </a:prstGeom>
            <a:noFill/>
            <a:ln w="4953">
              <a:solidFill>
                <a:srgbClr val="8C8C8C"/>
              </a:solidFill>
              <a:prstDash val="dash"/>
            </a:ln>
          </p:spPr>
        </p:sp>
        <p:sp>
          <p:nvSpPr>
            <p:cNvPr id="62" name="svg1_49"/>
            <p:cNvSpPr txBox="1"/>
            <p:nvPr/>
          </p:nvSpPr>
          <p:spPr>
            <a:xfrm>
              <a:off x="1766346" y="4348338"/>
              <a:ext cx="27057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−6,6%</a:t>
              </a:r>
              <a:endParaRPr lang="en-US" sz="649" dirty="0"/>
            </a:p>
          </p:txBody>
        </p:sp>
        <p:sp>
          <p:nvSpPr>
            <p:cNvPr id="63" name="svg1_50"/>
            <p:cNvSpPr txBox="1"/>
            <p:nvPr/>
          </p:nvSpPr>
          <p:spPr>
            <a:xfrm>
              <a:off x="1700235" y="4890851"/>
              <a:ext cx="40352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 Khấu hao</a:t>
              </a:r>
              <a:endParaRPr lang="en-US" sz="557" dirty="0"/>
            </a:p>
          </p:txBody>
        </p:sp>
        <p:sp>
          <p:nvSpPr>
            <p:cNvPr id="64" name="svg1_51"/>
            <p:cNvSpPr/>
            <p:nvPr/>
          </p:nvSpPr>
          <p:spPr>
            <a:xfrm>
              <a:off x="2192914" y="4516496"/>
              <a:ext cx="249723" cy="367223"/>
            </a:xfrm>
            <a:prstGeom prst="rect">
              <a:avLst/>
            </a:prstGeom>
            <a:solidFill>
              <a:srgbClr val="7B1E2B"/>
            </a:solidFill>
            <a:ln/>
          </p:spPr>
        </p:sp>
        <p:sp>
          <p:nvSpPr>
            <p:cNvPr id="65" name="svg1_52"/>
            <p:cNvSpPr/>
            <p:nvPr/>
          </p:nvSpPr>
          <p:spPr>
            <a:xfrm>
              <a:off x="2026402" y="4516496"/>
              <a:ext cx="166512" cy="0"/>
            </a:xfrm>
            <a:prstGeom prst="line">
              <a:avLst/>
            </a:prstGeom>
            <a:noFill/>
            <a:ln w="4953">
              <a:solidFill>
                <a:srgbClr val="8C8C8C"/>
              </a:solidFill>
              <a:prstDash val="dash"/>
            </a:ln>
          </p:spPr>
        </p:sp>
        <p:sp>
          <p:nvSpPr>
            <p:cNvPr id="66" name="svg1_53"/>
            <p:cNvSpPr txBox="1"/>
            <p:nvPr/>
          </p:nvSpPr>
          <p:spPr>
            <a:xfrm>
              <a:off x="2180661" y="4407225"/>
              <a:ext cx="280995"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41,3%</a:t>
              </a:r>
              <a:endParaRPr lang="en-US" sz="649" dirty="0"/>
            </a:p>
          </p:txBody>
        </p:sp>
        <p:sp>
          <p:nvSpPr>
            <p:cNvPr id="67" name="svg1_54"/>
            <p:cNvSpPr txBox="1"/>
            <p:nvPr/>
          </p:nvSpPr>
          <p:spPr>
            <a:xfrm>
              <a:off x="2152223" y="4890851"/>
              <a:ext cx="331379"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"Đầy đủ"</a:t>
              </a:r>
              <a:endParaRPr lang="en-US" sz="557" dirty="0"/>
            </a:p>
          </p:txBody>
        </p:sp>
        <p:sp>
          <p:nvSpPr>
            <p:cNvPr id="68" name="svg1_55"/>
            <p:cNvSpPr/>
            <p:nvPr/>
          </p:nvSpPr>
          <p:spPr>
            <a:xfrm>
              <a:off x="444856" y="4883628"/>
              <a:ext cx="2081083" cy="0"/>
            </a:xfrm>
            <a:prstGeom prst="line">
              <a:avLst/>
            </a:prstGeom>
            <a:noFill/>
            <a:ln w="6858">
              <a:solidFill>
                <a:srgbClr val="8C8C8C"/>
              </a:solidFill>
              <a:prstDash val="solid"/>
            </a:ln>
          </p:spPr>
        </p:sp>
      </p:grpSp>
      <p:grpSp>
        <p:nvGrpSpPr>
          <p:cNvPr id="154" name="Fig. 13 – biểu đồ"/>
          <p:cNvGrpSpPr/>
          <p:nvPr/>
        </p:nvGrpSpPr>
        <p:grpSpPr>
          <a:xfrm>
            <a:off x="426476" y="5667726"/>
            <a:ext cx="2122048" cy="993312"/>
            <a:chOff x="426476" y="5667726"/>
            <a:chExt cx="2122048" cy="993312"/>
          </a:xfrm>
        </p:grpSpPr>
        <p:sp>
          <p:nvSpPr>
            <p:cNvPr id="69" name="svg2_56"/>
            <p:cNvSpPr/>
            <p:nvPr/>
          </p:nvSpPr>
          <p:spPr>
            <a:xfrm>
              <a:off x="525963" y="6064575"/>
              <a:ext cx="170536" cy="140086"/>
            </a:xfrm>
            <a:prstGeom prst="rect">
              <a:avLst/>
            </a:prstGeom>
            <a:solidFill>
              <a:srgbClr val="7B1E2B"/>
            </a:solidFill>
            <a:ln/>
          </p:spPr>
        </p:sp>
        <p:sp>
          <p:nvSpPr>
            <p:cNvPr id="70" name="svg2_57"/>
            <p:cNvSpPr txBox="1"/>
            <p:nvPr/>
          </p:nvSpPr>
          <p:spPr>
            <a:xfrm>
              <a:off x="521574" y="6194969"/>
              <a:ext cx="182423"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−4,0</a:t>
              </a:r>
              <a:endParaRPr lang="en-US" sz="557" dirty="0"/>
            </a:p>
          </p:txBody>
        </p:sp>
        <p:sp>
          <p:nvSpPr>
            <p:cNvPr id="71" name="svg2_58"/>
            <p:cNvSpPr/>
            <p:nvPr/>
          </p:nvSpPr>
          <p:spPr>
            <a:xfrm>
              <a:off x="706374" y="6064575"/>
              <a:ext cx="170627" cy="177485"/>
            </a:xfrm>
            <a:prstGeom prst="rect">
              <a:avLst/>
            </a:prstGeom>
            <a:solidFill>
              <a:srgbClr val="A3A3A3"/>
            </a:solidFill>
            <a:ln/>
          </p:spPr>
        </p:sp>
        <p:sp>
          <p:nvSpPr>
            <p:cNvPr id="72" name="svg2_59"/>
            <p:cNvSpPr txBox="1"/>
            <p:nvPr/>
          </p:nvSpPr>
          <p:spPr>
            <a:xfrm>
              <a:off x="701253" y="6232185"/>
              <a:ext cx="182423"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−5,0</a:t>
              </a:r>
              <a:endParaRPr lang="en-US" sz="557" dirty="0"/>
            </a:p>
          </p:txBody>
        </p:sp>
        <p:sp>
          <p:nvSpPr>
            <p:cNvPr id="73" name="svg2_60"/>
            <p:cNvSpPr/>
            <p:nvPr/>
          </p:nvSpPr>
          <p:spPr>
            <a:xfrm>
              <a:off x="886785" y="6064575"/>
              <a:ext cx="170536" cy="317480"/>
            </a:xfrm>
            <a:prstGeom prst="rect">
              <a:avLst/>
            </a:prstGeom>
            <a:solidFill>
              <a:srgbClr val="404040"/>
            </a:solidFill>
            <a:ln/>
          </p:spPr>
        </p:sp>
        <p:sp>
          <p:nvSpPr>
            <p:cNvPr id="74" name="svg2_61"/>
            <p:cNvSpPr txBox="1"/>
            <p:nvPr/>
          </p:nvSpPr>
          <p:spPr>
            <a:xfrm>
              <a:off x="881939" y="6372636"/>
              <a:ext cx="182423"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−9,0</a:t>
              </a:r>
              <a:endParaRPr lang="en-US" sz="557" dirty="0"/>
            </a:p>
          </p:txBody>
        </p:sp>
        <p:sp>
          <p:nvSpPr>
            <p:cNvPr id="75" name="svg2_62"/>
            <p:cNvSpPr txBox="1"/>
            <p:nvPr/>
          </p:nvSpPr>
          <p:spPr>
            <a:xfrm>
              <a:off x="660197" y="6482639"/>
              <a:ext cx="264719"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2023A</a:t>
              </a:r>
              <a:endParaRPr lang="en-US" sz="587" dirty="0"/>
            </a:p>
          </p:txBody>
        </p:sp>
        <p:sp>
          <p:nvSpPr>
            <p:cNvPr id="76" name="svg2_63"/>
            <p:cNvSpPr txBox="1"/>
            <p:nvPr/>
          </p:nvSpPr>
          <p:spPr>
            <a:xfrm>
              <a:off x="426476" y="6556248"/>
              <a:ext cx="733989" cy="104790"/>
            </a:xfrm>
            <a:prstGeom prst="rect">
              <a:avLst/>
            </a:prstGeom>
            <a:noFill/>
            <a:ln/>
          </p:spPr>
          <p:txBody>
            <a:bodyPr wrap="none" lIns="0" tIns="0" rIns="0" bIns="0" rtlCol="0" anchor="ctr"/>
            <a:lstStyle/>
            <a:p>
              <a:pPr algn="ctr" indent="0" marL="0">
                <a:buNone/>
              </a:pPr>
              <a:r>
                <a:rPr lang="en-US" sz="526" dirty="0">
                  <a:solidFill>
                    <a:srgbClr val="666666"/>
                  </a:solidFill>
                  <a:latin typeface="Calibri" pitchFamily="34" charset="0"/>
                  <a:ea typeface="Calibri" pitchFamily="34" charset="-122"/>
                  <a:cs typeface="Calibri" pitchFamily="34" charset="-120"/>
                </a:rPr>
                <a:t>Vốn góp 8,1 · tiền 0,04</a:t>
              </a:r>
              <a:endParaRPr lang="en-US" sz="526" dirty="0"/>
            </a:p>
          </p:txBody>
        </p:sp>
        <p:sp>
          <p:nvSpPr>
            <p:cNvPr id="77" name="svg2_64"/>
            <p:cNvSpPr/>
            <p:nvPr/>
          </p:nvSpPr>
          <p:spPr>
            <a:xfrm>
              <a:off x="1219810" y="6039978"/>
              <a:ext cx="170536" cy="24597"/>
            </a:xfrm>
            <a:prstGeom prst="rect">
              <a:avLst/>
            </a:prstGeom>
            <a:solidFill>
              <a:srgbClr val="7B1E2B"/>
            </a:solidFill>
            <a:ln/>
          </p:spPr>
        </p:sp>
        <p:sp>
          <p:nvSpPr>
            <p:cNvPr id="78" name="svg2_65"/>
            <p:cNvSpPr txBox="1"/>
            <p:nvPr/>
          </p:nvSpPr>
          <p:spPr>
            <a:xfrm>
              <a:off x="1234714" y="5943600"/>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0,7</a:t>
              </a:r>
              <a:endParaRPr lang="en-US" sz="557" dirty="0"/>
            </a:p>
          </p:txBody>
        </p:sp>
        <p:sp>
          <p:nvSpPr>
            <p:cNvPr id="79" name="svg2_66"/>
            <p:cNvSpPr/>
            <p:nvPr/>
          </p:nvSpPr>
          <p:spPr>
            <a:xfrm>
              <a:off x="1400038" y="6064575"/>
              <a:ext cx="170536" cy="223296"/>
            </a:xfrm>
            <a:prstGeom prst="rect">
              <a:avLst/>
            </a:prstGeom>
            <a:solidFill>
              <a:srgbClr val="A3A3A3"/>
            </a:solidFill>
            <a:ln/>
          </p:spPr>
        </p:sp>
        <p:sp>
          <p:nvSpPr>
            <p:cNvPr id="80" name="svg2_67"/>
            <p:cNvSpPr txBox="1"/>
            <p:nvPr/>
          </p:nvSpPr>
          <p:spPr>
            <a:xfrm>
              <a:off x="1395283" y="6278362"/>
              <a:ext cx="182423"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−6,3</a:t>
              </a:r>
              <a:endParaRPr lang="en-US" sz="557" dirty="0"/>
            </a:p>
          </p:txBody>
        </p:sp>
        <p:sp>
          <p:nvSpPr>
            <p:cNvPr id="81" name="svg2_68"/>
            <p:cNvSpPr/>
            <p:nvPr/>
          </p:nvSpPr>
          <p:spPr>
            <a:xfrm>
              <a:off x="1580449" y="6064575"/>
              <a:ext cx="170536" cy="198608"/>
            </a:xfrm>
            <a:prstGeom prst="rect">
              <a:avLst/>
            </a:prstGeom>
            <a:solidFill>
              <a:srgbClr val="404040"/>
            </a:solidFill>
            <a:ln/>
          </p:spPr>
        </p:sp>
        <p:sp>
          <p:nvSpPr>
            <p:cNvPr id="82" name="svg2_69"/>
            <p:cNvSpPr txBox="1"/>
            <p:nvPr/>
          </p:nvSpPr>
          <p:spPr>
            <a:xfrm>
              <a:off x="1575968" y="6253856"/>
              <a:ext cx="182423"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−5,6</a:t>
              </a:r>
              <a:endParaRPr lang="en-US" sz="557" dirty="0"/>
            </a:p>
          </p:txBody>
        </p:sp>
        <p:sp>
          <p:nvSpPr>
            <p:cNvPr id="83" name="svg2_70"/>
            <p:cNvSpPr txBox="1"/>
            <p:nvPr/>
          </p:nvSpPr>
          <p:spPr>
            <a:xfrm>
              <a:off x="1354135" y="6482639"/>
              <a:ext cx="264719"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2024A</a:t>
              </a:r>
              <a:endParaRPr lang="en-US" sz="587" dirty="0"/>
            </a:p>
          </p:txBody>
        </p:sp>
        <p:sp>
          <p:nvSpPr>
            <p:cNvPr id="84" name="svg2_71"/>
            <p:cNvSpPr txBox="1"/>
            <p:nvPr/>
          </p:nvSpPr>
          <p:spPr>
            <a:xfrm>
              <a:off x="1120597" y="6556248"/>
              <a:ext cx="733989" cy="104790"/>
            </a:xfrm>
            <a:prstGeom prst="rect">
              <a:avLst/>
            </a:prstGeom>
            <a:noFill/>
            <a:ln/>
          </p:spPr>
          <p:txBody>
            <a:bodyPr wrap="none" lIns="0" tIns="0" rIns="0" bIns="0" rtlCol="0" anchor="ctr"/>
            <a:lstStyle/>
            <a:p>
              <a:pPr algn="ctr" indent="0" marL="0">
                <a:buNone/>
              </a:pPr>
              <a:r>
                <a:rPr lang="en-US" sz="526" dirty="0">
                  <a:solidFill>
                    <a:srgbClr val="666666"/>
                  </a:solidFill>
                  <a:latin typeface="Calibri" pitchFamily="34" charset="0"/>
                  <a:ea typeface="Calibri" pitchFamily="34" charset="-122"/>
                  <a:cs typeface="Calibri" pitchFamily="34" charset="-120"/>
                </a:rPr>
                <a:t>Vốn góp 7,0 · tiền 1,74</a:t>
              </a:r>
              <a:endParaRPr lang="en-US" sz="526" dirty="0"/>
            </a:p>
          </p:txBody>
        </p:sp>
        <p:sp>
          <p:nvSpPr>
            <p:cNvPr id="85" name="svg2_72"/>
            <p:cNvSpPr/>
            <p:nvPr/>
          </p:nvSpPr>
          <p:spPr>
            <a:xfrm>
              <a:off x="1913473" y="5842193"/>
              <a:ext cx="170536" cy="222382"/>
            </a:xfrm>
            <a:prstGeom prst="rect">
              <a:avLst/>
            </a:prstGeom>
            <a:solidFill>
              <a:srgbClr val="7B1E2B"/>
            </a:solidFill>
            <a:ln/>
          </p:spPr>
        </p:sp>
        <p:sp>
          <p:nvSpPr>
            <p:cNvPr id="86" name="svg2_73"/>
            <p:cNvSpPr txBox="1"/>
            <p:nvPr/>
          </p:nvSpPr>
          <p:spPr>
            <a:xfrm>
              <a:off x="1928835" y="5746364"/>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6,3</a:t>
              </a:r>
              <a:endParaRPr lang="en-US" sz="557" dirty="0"/>
            </a:p>
          </p:txBody>
        </p:sp>
        <p:sp>
          <p:nvSpPr>
            <p:cNvPr id="87" name="svg2_74"/>
            <p:cNvSpPr/>
            <p:nvPr/>
          </p:nvSpPr>
          <p:spPr>
            <a:xfrm>
              <a:off x="2093793" y="6064575"/>
              <a:ext cx="170627" cy="180137"/>
            </a:xfrm>
            <a:prstGeom prst="rect">
              <a:avLst/>
            </a:prstGeom>
            <a:solidFill>
              <a:srgbClr val="A3A3A3"/>
            </a:solidFill>
            <a:ln/>
          </p:spPr>
        </p:sp>
        <p:sp>
          <p:nvSpPr>
            <p:cNvPr id="88" name="svg2_75"/>
            <p:cNvSpPr txBox="1"/>
            <p:nvPr/>
          </p:nvSpPr>
          <p:spPr>
            <a:xfrm>
              <a:off x="2089404" y="6235202"/>
              <a:ext cx="182423"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−5,1</a:t>
              </a:r>
              <a:endParaRPr lang="en-US" sz="557" dirty="0"/>
            </a:p>
          </p:txBody>
        </p:sp>
        <p:sp>
          <p:nvSpPr>
            <p:cNvPr id="89" name="svg2_76"/>
            <p:cNvSpPr/>
            <p:nvPr/>
          </p:nvSpPr>
          <p:spPr>
            <a:xfrm>
              <a:off x="2274204" y="6022147"/>
              <a:ext cx="170536" cy="42428"/>
            </a:xfrm>
            <a:prstGeom prst="rect">
              <a:avLst/>
            </a:prstGeom>
            <a:solidFill>
              <a:srgbClr val="404040"/>
            </a:solidFill>
            <a:ln/>
          </p:spPr>
        </p:sp>
        <p:sp>
          <p:nvSpPr>
            <p:cNvPr id="90" name="svg2_77"/>
            <p:cNvSpPr txBox="1"/>
            <p:nvPr/>
          </p:nvSpPr>
          <p:spPr>
            <a:xfrm>
              <a:off x="2289018" y="5925952"/>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1,2</a:t>
              </a:r>
              <a:endParaRPr lang="en-US" sz="557" dirty="0"/>
            </a:p>
          </p:txBody>
        </p:sp>
        <p:sp>
          <p:nvSpPr>
            <p:cNvPr id="91" name="svg2_78"/>
            <p:cNvSpPr txBox="1"/>
            <p:nvPr/>
          </p:nvSpPr>
          <p:spPr>
            <a:xfrm>
              <a:off x="2048256" y="6482639"/>
              <a:ext cx="264719"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2025A</a:t>
              </a:r>
              <a:endParaRPr lang="en-US" sz="587" dirty="0"/>
            </a:p>
          </p:txBody>
        </p:sp>
        <p:sp>
          <p:nvSpPr>
            <p:cNvPr id="92" name="svg2_79"/>
            <p:cNvSpPr txBox="1"/>
            <p:nvPr/>
          </p:nvSpPr>
          <p:spPr>
            <a:xfrm>
              <a:off x="1814535" y="6556248"/>
              <a:ext cx="733989" cy="104790"/>
            </a:xfrm>
            <a:prstGeom prst="rect">
              <a:avLst/>
            </a:prstGeom>
            <a:noFill/>
            <a:ln/>
          </p:spPr>
          <p:txBody>
            <a:bodyPr wrap="none" lIns="0" tIns="0" rIns="0" bIns="0" rtlCol="0" anchor="ctr"/>
            <a:lstStyle/>
            <a:p>
              <a:pPr algn="ctr" indent="0" marL="0">
                <a:buNone/>
              </a:pPr>
              <a:r>
                <a:rPr lang="en-US" sz="526" dirty="0">
                  <a:solidFill>
                    <a:srgbClr val="666666"/>
                  </a:solidFill>
                  <a:latin typeface="Calibri" pitchFamily="34" charset="0"/>
                  <a:ea typeface="Calibri" pitchFamily="34" charset="-122"/>
                  <a:cs typeface="Calibri" pitchFamily="34" charset="-120"/>
                </a:rPr>
                <a:t>Vốn góp 0,0 · tiền 2,93</a:t>
              </a:r>
              <a:endParaRPr lang="en-US" sz="526" dirty="0"/>
            </a:p>
          </p:txBody>
        </p:sp>
        <p:sp>
          <p:nvSpPr>
            <p:cNvPr id="93" name="svg2_80"/>
            <p:cNvSpPr/>
            <p:nvPr/>
          </p:nvSpPr>
          <p:spPr>
            <a:xfrm>
              <a:off x="444856" y="6064575"/>
              <a:ext cx="2081083" cy="0"/>
            </a:xfrm>
            <a:prstGeom prst="line">
              <a:avLst/>
            </a:prstGeom>
            <a:noFill/>
            <a:ln w="6858">
              <a:solidFill>
                <a:srgbClr val="8C8C8C"/>
              </a:solidFill>
              <a:prstDash val="solid"/>
            </a:ln>
          </p:spPr>
        </p:sp>
        <p:sp>
          <p:nvSpPr>
            <p:cNvPr id="94" name="svg2_81"/>
            <p:cNvSpPr/>
            <p:nvPr/>
          </p:nvSpPr>
          <p:spPr>
            <a:xfrm>
              <a:off x="444856" y="5689031"/>
              <a:ext cx="60899" cy="60899"/>
            </a:xfrm>
            <a:prstGeom prst="rect">
              <a:avLst/>
            </a:prstGeom>
            <a:solidFill>
              <a:srgbClr val="7B1E2B"/>
            </a:solidFill>
            <a:ln/>
          </p:spPr>
        </p:sp>
        <p:sp>
          <p:nvSpPr>
            <p:cNvPr id="95" name="svg2_82"/>
            <p:cNvSpPr txBox="1"/>
            <p:nvPr/>
          </p:nvSpPr>
          <p:spPr>
            <a:xfrm>
              <a:off x="528249" y="5667726"/>
              <a:ext cx="178034"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CFO</a:t>
              </a:r>
              <a:endParaRPr lang="en-US" sz="587" dirty="0"/>
            </a:p>
          </p:txBody>
        </p:sp>
        <p:sp>
          <p:nvSpPr>
            <p:cNvPr id="96" name="svg2_83"/>
            <p:cNvSpPr/>
            <p:nvPr/>
          </p:nvSpPr>
          <p:spPr>
            <a:xfrm>
              <a:off x="721827" y="5689031"/>
              <a:ext cx="60899" cy="60899"/>
            </a:xfrm>
            <a:prstGeom prst="rect">
              <a:avLst/>
            </a:prstGeom>
            <a:solidFill>
              <a:srgbClr val="A3A3A3"/>
            </a:solidFill>
            <a:ln/>
          </p:spPr>
        </p:sp>
        <p:sp>
          <p:nvSpPr>
            <p:cNvPr id="97" name="svg2_84"/>
            <p:cNvSpPr txBox="1"/>
            <p:nvPr/>
          </p:nvSpPr>
          <p:spPr>
            <a:xfrm>
              <a:off x="805038" y="5667726"/>
              <a:ext cx="272308"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CAPEX</a:t>
              </a:r>
              <a:endParaRPr lang="en-US" sz="587" dirty="0"/>
            </a:p>
          </p:txBody>
        </p:sp>
        <p:sp>
          <p:nvSpPr>
            <p:cNvPr id="98" name="svg2_85"/>
            <p:cNvSpPr/>
            <p:nvPr/>
          </p:nvSpPr>
          <p:spPr>
            <a:xfrm>
              <a:off x="1069025" y="5689031"/>
              <a:ext cx="60899" cy="60899"/>
            </a:xfrm>
            <a:prstGeom prst="rect">
              <a:avLst/>
            </a:prstGeom>
            <a:solidFill>
              <a:srgbClr val="404040"/>
            </a:solidFill>
            <a:ln/>
          </p:spPr>
        </p:sp>
        <p:sp>
          <p:nvSpPr>
            <p:cNvPr id="99" name="svg2_86"/>
            <p:cNvSpPr txBox="1"/>
            <p:nvPr/>
          </p:nvSpPr>
          <p:spPr>
            <a:xfrm>
              <a:off x="1152601" y="5667726"/>
              <a:ext cx="69640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FCF = CFO − CAPEX</a:t>
              </a:r>
              <a:endParaRPr lang="en-US" sz="587" dirty="0"/>
            </a:p>
          </p:txBody>
        </p:sp>
      </p:grpSp>
      <p:grpSp>
        <p:nvGrpSpPr>
          <p:cNvPr id="155" name="Fig. 15 – biểu đồ"/>
          <p:cNvGrpSpPr/>
          <p:nvPr/>
        </p:nvGrpSpPr>
        <p:grpSpPr>
          <a:xfrm>
            <a:off x="327995" y="8671255"/>
            <a:ext cx="2255276" cy="792053"/>
            <a:chOff x="327995" y="8671255"/>
            <a:chExt cx="2255276" cy="792053"/>
          </a:xfrm>
        </p:grpSpPr>
        <p:sp>
          <p:nvSpPr>
            <p:cNvPr id="100" name="svg3_87"/>
            <p:cNvSpPr/>
            <p:nvPr/>
          </p:nvSpPr>
          <p:spPr>
            <a:xfrm>
              <a:off x="994501" y="8772022"/>
              <a:ext cx="0" cy="579181"/>
            </a:xfrm>
            <a:prstGeom prst="line">
              <a:avLst/>
            </a:prstGeom>
            <a:noFill/>
            <a:ln w="4953">
              <a:solidFill>
                <a:srgbClr val="E4E4E4"/>
              </a:solidFill>
              <a:prstDash val="solid"/>
            </a:ln>
          </p:spPr>
        </p:sp>
        <p:sp>
          <p:nvSpPr>
            <p:cNvPr id="101" name="svg3_88"/>
            <p:cNvSpPr txBox="1"/>
            <p:nvPr/>
          </p:nvSpPr>
          <p:spPr>
            <a:xfrm>
              <a:off x="925830" y="9358518"/>
              <a:ext cx="143927"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102" name="svg3_89"/>
            <p:cNvSpPr/>
            <p:nvPr/>
          </p:nvSpPr>
          <p:spPr>
            <a:xfrm>
              <a:off x="1362639" y="8772022"/>
              <a:ext cx="0" cy="579181"/>
            </a:xfrm>
            <a:prstGeom prst="line">
              <a:avLst/>
            </a:prstGeom>
            <a:noFill/>
            <a:ln w="4953">
              <a:solidFill>
                <a:srgbClr val="E4E4E4"/>
              </a:solidFill>
              <a:prstDash val="solid"/>
            </a:ln>
          </p:spPr>
        </p:sp>
        <p:sp>
          <p:nvSpPr>
            <p:cNvPr id="103" name="svg3_90"/>
            <p:cNvSpPr txBox="1"/>
            <p:nvPr/>
          </p:nvSpPr>
          <p:spPr>
            <a:xfrm>
              <a:off x="1273668" y="9358518"/>
              <a:ext cx="18480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25%</a:t>
              </a:r>
              <a:endParaRPr lang="en-US" sz="557" dirty="0"/>
            </a:p>
          </p:txBody>
        </p:sp>
        <p:sp>
          <p:nvSpPr>
            <p:cNvPr id="104" name="svg3_91"/>
            <p:cNvSpPr/>
            <p:nvPr/>
          </p:nvSpPr>
          <p:spPr>
            <a:xfrm>
              <a:off x="1730776" y="8772022"/>
              <a:ext cx="0" cy="579181"/>
            </a:xfrm>
            <a:prstGeom prst="line">
              <a:avLst/>
            </a:prstGeom>
            <a:noFill/>
            <a:ln w="4953">
              <a:solidFill>
                <a:srgbClr val="E4E4E4"/>
              </a:solidFill>
              <a:prstDash val="solid"/>
            </a:ln>
          </p:spPr>
        </p:sp>
        <p:sp>
          <p:nvSpPr>
            <p:cNvPr id="105" name="svg3_92"/>
            <p:cNvSpPr txBox="1"/>
            <p:nvPr/>
          </p:nvSpPr>
          <p:spPr>
            <a:xfrm>
              <a:off x="1641805" y="9358518"/>
              <a:ext cx="18480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50%</a:t>
              </a:r>
              <a:endParaRPr lang="en-US" sz="557" dirty="0"/>
            </a:p>
          </p:txBody>
        </p:sp>
        <p:sp>
          <p:nvSpPr>
            <p:cNvPr id="106" name="svg3_93"/>
            <p:cNvSpPr/>
            <p:nvPr/>
          </p:nvSpPr>
          <p:spPr>
            <a:xfrm>
              <a:off x="2099005" y="8772022"/>
              <a:ext cx="0" cy="579181"/>
            </a:xfrm>
            <a:prstGeom prst="line">
              <a:avLst/>
            </a:prstGeom>
            <a:noFill/>
            <a:ln w="4953">
              <a:solidFill>
                <a:srgbClr val="E4E4E4"/>
              </a:solidFill>
              <a:prstDash val="solid"/>
            </a:ln>
          </p:spPr>
        </p:sp>
        <p:sp>
          <p:nvSpPr>
            <p:cNvPr id="107" name="svg3_94"/>
            <p:cNvSpPr txBox="1"/>
            <p:nvPr/>
          </p:nvSpPr>
          <p:spPr>
            <a:xfrm>
              <a:off x="2009943" y="9358518"/>
              <a:ext cx="18480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75%</a:t>
              </a:r>
              <a:endParaRPr lang="en-US" sz="557" dirty="0"/>
            </a:p>
          </p:txBody>
        </p:sp>
        <p:sp>
          <p:nvSpPr>
            <p:cNvPr id="108" name="svg3_95"/>
            <p:cNvSpPr/>
            <p:nvPr/>
          </p:nvSpPr>
          <p:spPr>
            <a:xfrm>
              <a:off x="2467143" y="8772022"/>
              <a:ext cx="0" cy="579181"/>
            </a:xfrm>
            <a:prstGeom prst="line">
              <a:avLst/>
            </a:prstGeom>
            <a:noFill/>
            <a:ln w="4953">
              <a:solidFill>
                <a:srgbClr val="E4E4E4"/>
              </a:solidFill>
              <a:prstDash val="solid"/>
            </a:ln>
          </p:spPr>
        </p:sp>
        <p:sp>
          <p:nvSpPr>
            <p:cNvPr id="109" name="svg3_96"/>
            <p:cNvSpPr txBox="1"/>
            <p:nvPr/>
          </p:nvSpPr>
          <p:spPr>
            <a:xfrm>
              <a:off x="2357780" y="9358518"/>
              <a:ext cx="225491"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100%</a:t>
              </a:r>
              <a:endParaRPr lang="en-US" sz="557" dirty="0"/>
            </a:p>
          </p:txBody>
        </p:sp>
        <p:sp>
          <p:nvSpPr>
            <p:cNvPr id="110" name="svg3_97"/>
            <p:cNvSpPr txBox="1"/>
            <p:nvPr/>
          </p:nvSpPr>
          <p:spPr>
            <a:xfrm>
              <a:off x="546537" y="8788116"/>
              <a:ext cx="408737"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Ươm mầm</a:t>
              </a:r>
              <a:endParaRPr lang="en-US" sz="588" dirty="0"/>
            </a:p>
          </p:txBody>
        </p:sp>
        <p:sp>
          <p:nvSpPr>
            <p:cNvPr id="111" name="svg3_98"/>
            <p:cNvSpPr/>
            <p:nvPr/>
          </p:nvSpPr>
          <p:spPr>
            <a:xfrm>
              <a:off x="1951695" y="8801466"/>
              <a:ext cx="221010" cy="68671"/>
            </a:xfrm>
            <a:prstGeom prst="rect">
              <a:avLst/>
            </a:prstGeom>
            <a:solidFill>
              <a:srgbClr val="D0D0D0"/>
            </a:solidFill>
            <a:ln/>
          </p:spPr>
        </p:sp>
        <p:sp>
          <p:nvSpPr>
            <p:cNvPr id="112" name="svg3_99"/>
            <p:cNvSpPr txBox="1"/>
            <p:nvPr/>
          </p:nvSpPr>
          <p:spPr>
            <a:xfrm>
              <a:off x="1753911" y="8788116"/>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65%</a:t>
              </a:r>
              <a:endParaRPr lang="en-US" sz="557" dirty="0"/>
            </a:p>
          </p:txBody>
        </p:sp>
        <p:sp>
          <p:nvSpPr>
            <p:cNvPr id="113" name="svg3_100"/>
            <p:cNvSpPr txBox="1"/>
            <p:nvPr/>
          </p:nvSpPr>
          <p:spPr>
            <a:xfrm>
              <a:off x="2192274" y="8788116"/>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80%</a:t>
              </a:r>
              <a:endParaRPr lang="en-US" sz="557" dirty="0"/>
            </a:p>
          </p:txBody>
        </p:sp>
        <p:sp>
          <p:nvSpPr>
            <p:cNvPr id="114" name="svg3_101"/>
            <p:cNvSpPr txBox="1"/>
            <p:nvPr/>
          </p:nvSpPr>
          <p:spPr>
            <a:xfrm>
              <a:off x="501457" y="8925550"/>
              <a:ext cx="453725"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Thử nghiệm</a:t>
              </a:r>
              <a:endParaRPr lang="en-US" sz="588" dirty="0"/>
            </a:p>
          </p:txBody>
        </p:sp>
        <p:sp>
          <p:nvSpPr>
            <p:cNvPr id="115" name="svg3_102"/>
            <p:cNvSpPr/>
            <p:nvPr/>
          </p:nvSpPr>
          <p:spPr>
            <a:xfrm>
              <a:off x="1730776" y="8938900"/>
              <a:ext cx="220919" cy="68671"/>
            </a:xfrm>
            <a:prstGeom prst="rect">
              <a:avLst/>
            </a:prstGeom>
            <a:solidFill>
              <a:srgbClr val="D0D0D0"/>
            </a:solidFill>
            <a:ln/>
          </p:spPr>
        </p:sp>
        <p:sp>
          <p:nvSpPr>
            <p:cNvPr id="116" name="svg3_103"/>
            <p:cNvSpPr txBox="1"/>
            <p:nvPr/>
          </p:nvSpPr>
          <p:spPr>
            <a:xfrm>
              <a:off x="1532992" y="8925550"/>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50%</a:t>
              </a:r>
              <a:endParaRPr lang="en-US" sz="557" dirty="0"/>
            </a:p>
          </p:txBody>
        </p:sp>
        <p:sp>
          <p:nvSpPr>
            <p:cNvPr id="117" name="svg3_104"/>
            <p:cNvSpPr txBox="1"/>
            <p:nvPr/>
          </p:nvSpPr>
          <p:spPr>
            <a:xfrm>
              <a:off x="1971355" y="8925550"/>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65%</a:t>
              </a:r>
              <a:endParaRPr lang="en-US" sz="557" dirty="0"/>
            </a:p>
          </p:txBody>
        </p:sp>
        <p:sp>
          <p:nvSpPr>
            <p:cNvPr id="118" name="svg3_105"/>
            <p:cNvSpPr txBox="1"/>
            <p:nvPr/>
          </p:nvSpPr>
          <p:spPr>
            <a:xfrm>
              <a:off x="343723" y="9063076"/>
              <a:ext cx="614385"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Đầu tăng trưởng</a:t>
              </a:r>
              <a:endParaRPr lang="en-US" sz="588" dirty="0"/>
            </a:p>
          </p:txBody>
        </p:sp>
        <p:sp>
          <p:nvSpPr>
            <p:cNvPr id="119" name="svg3_106"/>
            <p:cNvSpPr/>
            <p:nvPr/>
          </p:nvSpPr>
          <p:spPr>
            <a:xfrm>
              <a:off x="1509949" y="9076334"/>
              <a:ext cx="147218" cy="68671"/>
            </a:xfrm>
            <a:prstGeom prst="rect">
              <a:avLst/>
            </a:prstGeom>
            <a:solidFill>
              <a:srgbClr val="7B1E2B"/>
            </a:solidFill>
            <a:ln/>
          </p:spPr>
        </p:sp>
        <p:sp>
          <p:nvSpPr>
            <p:cNvPr id="120" name="svg3_107"/>
            <p:cNvSpPr txBox="1"/>
            <p:nvPr/>
          </p:nvSpPr>
          <p:spPr>
            <a:xfrm>
              <a:off x="1312164" y="9063076"/>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35%</a:t>
              </a:r>
              <a:endParaRPr lang="en-US" sz="557" dirty="0"/>
            </a:p>
          </p:txBody>
        </p:sp>
        <p:sp>
          <p:nvSpPr>
            <p:cNvPr id="121" name="svg3_108"/>
            <p:cNvSpPr txBox="1"/>
            <p:nvPr/>
          </p:nvSpPr>
          <p:spPr>
            <a:xfrm>
              <a:off x="1676735" y="9063076"/>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45%</a:t>
              </a:r>
              <a:endParaRPr lang="en-US" sz="557" dirty="0"/>
            </a:p>
          </p:txBody>
        </p:sp>
        <p:sp>
          <p:nvSpPr>
            <p:cNvPr id="122" name="svg3_109"/>
            <p:cNvSpPr txBox="1"/>
            <p:nvPr/>
          </p:nvSpPr>
          <p:spPr>
            <a:xfrm>
              <a:off x="327995" y="9200510"/>
              <a:ext cx="630204"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Cuối tăng trưởng</a:t>
              </a:r>
              <a:endParaRPr lang="en-US" sz="588" dirty="0"/>
            </a:p>
          </p:txBody>
        </p:sp>
        <p:sp>
          <p:nvSpPr>
            <p:cNvPr id="123" name="svg3_110"/>
            <p:cNvSpPr/>
            <p:nvPr/>
          </p:nvSpPr>
          <p:spPr>
            <a:xfrm>
              <a:off x="1289030" y="9213860"/>
              <a:ext cx="147218" cy="68671"/>
            </a:xfrm>
            <a:prstGeom prst="rect">
              <a:avLst/>
            </a:prstGeom>
            <a:solidFill>
              <a:srgbClr val="D0D0D0"/>
            </a:solidFill>
            <a:ln/>
          </p:spPr>
        </p:sp>
        <p:sp>
          <p:nvSpPr>
            <p:cNvPr id="124" name="svg3_111"/>
            <p:cNvSpPr txBox="1"/>
            <p:nvPr/>
          </p:nvSpPr>
          <p:spPr>
            <a:xfrm>
              <a:off x="1091245" y="9200510"/>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125" name="svg3_112"/>
            <p:cNvSpPr txBox="1"/>
            <p:nvPr/>
          </p:nvSpPr>
          <p:spPr>
            <a:xfrm>
              <a:off x="1455908" y="9200510"/>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30%</a:t>
              </a:r>
              <a:endParaRPr lang="en-US" sz="557" dirty="0"/>
            </a:p>
          </p:txBody>
        </p:sp>
        <p:sp>
          <p:nvSpPr>
            <p:cNvPr id="126" name="svg3_113"/>
            <p:cNvSpPr/>
            <p:nvPr/>
          </p:nvSpPr>
          <p:spPr>
            <a:xfrm>
              <a:off x="1583558" y="8752454"/>
              <a:ext cx="0" cy="598841"/>
            </a:xfrm>
            <a:prstGeom prst="line">
              <a:avLst/>
            </a:prstGeom>
            <a:noFill/>
            <a:ln w="8890">
              <a:solidFill>
                <a:srgbClr val="5C1520"/>
              </a:solidFill>
              <a:prstDash val="dash"/>
            </a:ln>
          </p:spPr>
        </p:sp>
        <p:sp>
          <p:nvSpPr>
            <p:cNvPr id="127" name="svg3_114"/>
            <p:cNvSpPr txBox="1"/>
            <p:nvPr/>
          </p:nvSpPr>
          <p:spPr>
            <a:xfrm>
              <a:off x="1603126" y="8671255"/>
              <a:ext cx="599664" cy="104790"/>
            </a:xfrm>
            <a:prstGeom prst="rect">
              <a:avLst/>
            </a:prstGeom>
            <a:noFill/>
            <a:ln/>
          </p:spPr>
          <p:txBody>
            <a:bodyPr wrap="none" lIns="0" tIns="0" rIns="0" bIns="0" rtlCol="0" anchor="ctr"/>
            <a:lstStyle/>
            <a:p>
              <a:pPr algn="l" indent="0" marL="0">
                <a:buNone/>
              </a:pPr>
              <a:r>
                <a:rPr lang="en-US" sz="557" b="1" dirty="0">
                  <a:solidFill>
                    <a:srgbClr val="5C1520"/>
                  </a:solidFill>
                  <a:latin typeface="Calibri" pitchFamily="34" charset="0"/>
                  <a:ea typeface="Calibri" pitchFamily="34" charset="-122"/>
                  <a:cs typeface="Calibri" pitchFamily="34" charset="-120"/>
                </a:rPr>
                <a:t>AgriPack z = 40%</a:t>
              </a:r>
              <a:endParaRPr lang="en-US" sz="557" dirty="0"/>
            </a:p>
          </p:txBody>
        </p:sp>
      </p:grpSp>
      <p:sp>
        <p:nvSpPr>
          <p:cNvPr id="128" name="Text 124"/>
          <p:cNvSpPr txBox="1"/>
          <p:nvPr/>
        </p:nvSpPr>
        <p:spPr>
          <a:xfrm>
            <a:off x="405354" y="315559"/>
            <a:ext cx="1873148" cy="119238"/>
          </a:xfrm>
          <a:prstGeom prst="rect">
            <a:avLst/>
          </a:prstGeom>
          <a:noFill/>
          <a:ln/>
        </p:spPr>
        <p:txBody>
          <a:bodyPr wrap="none" lIns="0" tIns="0" rIns="0" bIns="0" rtlCol="0" anchor="t"/>
          <a:lstStyle/>
          <a:p>
            <a:pPr algn="l" indent="0" marL="0">
              <a:lnSpc>
                <a:spcPts val="864"/>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 | Định giá &amp; đề xuất gọi vốn Series A</a:t>
            </a:r>
            <a:endParaRPr lang="en-US" sz="680" dirty="0"/>
          </a:p>
        </p:txBody>
      </p:sp>
      <p:sp>
        <p:nvSpPr>
          <p:cNvPr id="129" name="Text 125"/>
          <p:cNvSpPr txBox="1"/>
          <p:nvPr/>
        </p:nvSpPr>
        <p:spPr>
          <a:xfrm>
            <a:off x="6056346" y="325161"/>
            <a:ext cx="1163940" cy="109545"/>
          </a:xfrm>
          <a:prstGeom prst="rect">
            <a:avLst/>
          </a:prstGeom>
          <a:noFill/>
          <a:ln/>
        </p:spPr>
        <p:txBody>
          <a:bodyPr wrap="none" lIns="0" tIns="0" rIns="0" bIns="0" rtlCol="0" anchor="t"/>
          <a:lstStyle/>
          <a:p>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Báo cáo phân tích · 29/09/2026</a:t>
            </a:r>
            <a:endParaRPr lang="en-US" sz="680" dirty="0"/>
          </a:p>
        </p:txBody>
      </p:sp>
      <p:sp>
        <p:nvSpPr>
          <p:cNvPr id="130" name="Text 126"/>
          <p:cNvSpPr txBox="1"/>
          <p:nvPr/>
        </p:nvSpPr>
        <p:spPr>
          <a:xfrm>
            <a:off x="405354" y="593994"/>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SWOT của AgriPack: lợi thế ở chi phí, rủi ro ở quy mô và nguồn nguyên liệu</a:t>
            </a:r>
            <a:endParaRPr lang="en-US" sz="720" dirty="0"/>
          </a:p>
        </p:txBody>
      </p:sp>
      <p:sp>
        <p:nvSpPr>
          <p:cNvPr id="131" name="Text 127"/>
          <p:cNvSpPr txBox="1"/>
          <p:nvPr/>
        </p:nvSpPr>
        <p:spPr>
          <a:xfrm>
            <a:off x="405354" y="2148749"/>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Phân tích của nhóm; BCTC 2025, IMARC (2025), Cục Thống kê</a:t>
            </a:r>
            <a:endParaRPr lang="en-US" sz="600" dirty="0"/>
          </a:p>
        </p:txBody>
      </p:sp>
      <p:sp>
        <p:nvSpPr>
          <p:cNvPr id="132" name="Text 128"/>
          <p:cNvSpPr txBox="1"/>
          <p:nvPr/>
        </p:nvSpPr>
        <p:spPr>
          <a:xfrm>
            <a:off x="484632" y="2344522"/>
            <a:ext cx="6986107" cy="141641"/>
          </a:xfrm>
          <a:prstGeom prst="rect">
            <a:avLst/>
          </a:prstGeom>
          <a:noFill/>
          <a:ln/>
        </p:spPr>
        <p:txBody>
          <a:bodyPr wrap="none" lIns="0" tIns="0" rIns="0" bIns="0" rtlCol="0" anchor="t"/>
          <a:lstStyle/>
          <a:p>
            <a:pPr algn="l" indent="0" marL="0">
              <a:lnSpc>
                <a:spcPts val="1118"/>
              </a:lnSpc>
              <a:buNone/>
            </a:pPr>
            <a:r>
              <a:rPr lang="en-US" sz="880" b="1" spc="35" kern="0" dirty="0">
                <a:solidFill>
                  <a:srgbClr val="FFFFFF"/>
                </a:solidFill>
                <a:latin typeface="Calibri" pitchFamily="34" charset="0"/>
                <a:ea typeface="Calibri" pitchFamily="34" charset="-122"/>
                <a:cs typeface="Calibri" pitchFamily="34" charset="-120"/>
              </a:rPr>
              <a:t>2. PHÂN TÍCH BÁO CÁO TÀI CHÍNH VÀ XÁC ĐỊNH GIAI ĐOẠN</a:t>
            </a:r>
            <a:endParaRPr lang="en-US" sz="880" dirty="0"/>
          </a:p>
        </p:txBody>
      </p:sp>
      <p:sp>
        <p:nvSpPr>
          <p:cNvPr id="133" name="Text 129"/>
          <p:cNvSpPr txBox="1"/>
          <p:nvPr/>
        </p:nvSpPr>
        <p:spPr>
          <a:xfrm>
            <a:off x="405354" y="2621493"/>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Tiền lương và tiền thuê là nguồn chính của đòn bẩy hoạt động</a:t>
            </a:r>
            <a:endParaRPr lang="en-US" sz="720" dirty="0"/>
          </a:p>
        </p:txBody>
      </p:sp>
      <p:sp>
        <p:nvSpPr>
          <p:cNvPr id="134" name="Text 130"/>
          <p:cNvSpPr txBox="1"/>
          <p:nvPr/>
        </p:nvSpPr>
        <p:spPr>
          <a:xfrm>
            <a:off x="405354" y="3680917"/>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135" name="Text 131"/>
          <p:cNvSpPr txBox="1"/>
          <p:nvPr/>
        </p:nvSpPr>
        <p:spPr>
          <a:xfrm>
            <a:off x="405354" y="3886200"/>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Đưa chi phí sản xuất về giá vốn, biên gộp 2025 còn ~41%</a:t>
            </a:r>
            <a:endParaRPr lang="en-US" sz="720" dirty="0"/>
          </a:p>
        </p:txBody>
      </p:sp>
      <p:sp>
        <p:nvSpPr>
          <p:cNvPr id="136" name="Text 132"/>
          <p:cNvSpPr txBox="1"/>
          <p:nvPr/>
        </p:nvSpPr>
        <p:spPr>
          <a:xfrm>
            <a:off x="405354" y="5117531"/>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giả định phân bổ 70% lương cho sản xuất (nhóm); FiinX (TTM đến Q2/2026)</a:t>
            </a:r>
            <a:endParaRPr lang="en-US" sz="600" dirty="0"/>
          </a:p>
        </p:txBody>
      </p:sp>
      <p:sp>
        <p:nvSpPr>
          <p:cNvPr id="137" name="Text 133"/>
          <p:cNvSpPr txBox="1"/>
          <p:nvPr/>
        </p:nvSpPr>
        <p:spPr>
          <a:xfrm>
            <a:off x="405354" y="5414071"/>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FCF dương lần đầu năm 2025 sau hai năm cần 15,1 tỷ vốn góp</a:t>
            </a:r>
            <a:endParaRPr lang="en-US" sz="720" dirty="0"/>
          </a:p>
        </p:txBody>
      </p:sp>
      <p:sp>
        <p:nvSpPr>
          <p:cNvPr id="138" name="Text 134"/>
          <p:cNvSpPr txBox="1"/>
          <p:nvPr/>
        </p:nvSpPr>
        <p:spPr>
          <a:xfrm>
            <a:off x="405354" y="6704289"/>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a:t>
            </a:r>
            <a:endParaRPr lang="en-US" sz="600" dirty="0"/>
          </a:p>
        </p:txBody>
      </p:sp>
      <p:sp>
        <p:nvSpPr>
          <p:cNvPr id="139" name="Text 135"/>
          <p:cNvSpPr txBox="1"/>
          <p:nvPr/>
        </p:nvSpPr>
        <p:spPr>
          <a:xfrm>
            <a:off x="2745303" y="2590312"/>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Tăng trưởng.</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Doanh thu thuần tăng từ 19,4 tỷ (2023) lên 47,5 tỷ đồng (2025), CAGR 56,4%. Tốc độ chậm dần (59,1% → 53,7%) khi nền doanh thu lớn lên, nhưng vẫn cao hơn nhiều mức tăng của thị trường (SAM +4,7%/năm), tức phần lớn tăng trưởng đến từ khách hàng mới. Mảng đệm điện tử tăng nhanh nhất (+110% năm 2025) nhưng mới chiếm 2,5% doanh thu.</a:t>
            </a:r>
            <a:endParaRPr lang="en-US" sz="900" dirty="0"/>
          </a:p>
        </p:txBody>
      </p:sp>
      <p:sp>
        <p:nvSpPr>
          <p:cNvPr id="140" name="Text 136"/>
          <p:cNvSpPr txBox="1"/>
          <p:nvPr/>
        </p:nvSpPr>
        <p:spPr>
          <a:xfrm>
            <a:off x="2745303" y="3222894"/>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Đòn bẩy hoạt động.</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Biên EBITDA chuyển từ −14,2% lên 16,2% trong hai năm (Fig. 01). Nguồn cải thiện rõ nhất là chi phí cố định: tiền lương giảm từ 36,0% xuống 22,6% doanh thu, tiền thuê mặt bằng từ 20,5% xuống 15,9% (Fig. 11). Chi phí biến đổi chỉ giảm 1 điểm % (25,5% → 24,5%), chưa đủ để kết luận có lợi thế quy mô trong sản xuất; phần lớn lợi ích đến từ việc lấp đầy công suất sẵn có. LNST 2025 bằng LNTT vì được bù lỗ các năm trước, nên biên ròng 9,3% sẽ giảm khi AgriPack bắt đầu nộp thuế 17–20%.</a:t>
            </a:r>
            <a:endParaRPr lang="en-US" sz="900" dirty="0"/>
          </a:p>
        </p:txBody>
      </p:sp>
      <p:sp>
        <p:nvSpPr>
          <p:cNvPr id="141" name="Text 137"/>
          <p:cNvSpPr txBox="1"/>
          <p:nvPr/>
        </p:nvSpPr>
        <p:spPr>
          <a:xfrm>
            <a:off x="2745303" y="4145524"/>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Biên gộp cần đọc lại.</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Biên gộp 69–73% không có nghĩa AgriPack là nhà sản xuất cao cấp. Giá vốn trên BCTC gần như chỉ gồm nguyên vật liệu, nhân công trực tiếp và một phần chi phí cố định; lương công nhân, điện nước, sửa chữa và khấu hao – bản chất là chi phí sản xuất – đang nằm ở chi phí hoạt động. Khi đưa các khoản này về giá vốn (giả định 70% quỹ lương là lao động sản xuất), biên gộp 2025 còn khoảng 41% (Fig. 12), và thấp hơn nữa nếu tính tiền thuê xưởng. Vì vậy chúng tôi so sánh với doanh nghiệp niêm yết bằng biên EBITDA thay cho biên gộp.</a:t>
            </a:r>
            <a:endParaRPr lang="en-US" sz="900" dirty="0"/>
          </a:p>
        </p:txBody>
      </p:sp>
      <p:sp>
        <p:nvSpPr>
          <p:cNvPr id="142" name="Text 138"/>
          <p:cNvSpPr txBox="1"/>
          <p:nvPr/>
        </p:nvSpPr>
        <p:spPr>
          <a:xfrm>
            <a:off x="2745303" y="5068336"/>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Dòng tiền.</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Năm 2023 CFO âm 4,0 tỷ và tiền cuối kỳ chỉ còn 44 triệu đồng – doanh nghiệp sống nhờ 8,1 tỷ vốn góp mới. Năm 2025 CFO đạt 6,3 tỷ, đủ trang trải CAPEX 5,1 tỷ; FCF dương 1,2 tỷ lần đầu và công ty không cần vốn góp (Fig. 13). Bài học năm 2023 là lý do mô hình giữ tiền mặt tối thiểu bằng 5% doanh thu.</a:t>
            </a:r>
            <a:endParaRPr lang="en-US" sz="900" dirty="0"/>
          </a:p>
        </p:txBody>
      </p:sp>
      <p:sp>
        <p:nvSpPr>
          <p:cNvPr id="143" name="Text 139"/>
          <p:cNvSpPr txBox="1"/>
          <p:nvPr/>
        </p:nvSpPr>
        <p:spPr>
          <a:xfrm>
            <a:off x="2745303" y="5700918"/>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Khả năng sinh lời trên vốn.</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ROE bình quân đạt 15,9% năm 2025 sau hai năm âm (Fig. 14). Theo DuPont, ROE đến từ biên LNST (9,3%) và vòng quay tài sản (1,60 lần); đòn bẩy chỉ 1,07 lần vì công ty gần như không vay. ROE vẫn thấp hơn chi phí vốn chủ sở hữu ước tính (16,2%): AgriPack có lãi kế toán nhưng chưa tạo ra lợi nhuận kinh tế, nên định giá phải dựa vào tăng trưởng có lãi sau đầu tư chứ không dựa vào kết quả 2025.</a:t>
            </a:r>
            <a:endParaRPr lang="en-US" sz="900" dirty="0"/>
          </a:p>
        </p:txBody>
      </p:sp>
      <p:sp>
        <p:nvSpPr>
          <p:cNvPr id="144" name="Text 140"/>
          <p:cNvSpPr txBox="1"/>
          <p:nvPr/>
        </p:nvSpPr>
        <p:spPr>
          <a:xfrm>
            <a:off x="2745303" y="6478524"/>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Thanh khoản và đòn bẩy.</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Hệ số thanh toán hiện hành 23,6 lần là do nợ ngắn hạn quá nhỏ chứ không phải do thừa tiền: tiền chỉ chiếm 28% tài sản ngắn hạn, hàng tồn kho chiếm 36% (106 ngày giá vốn). Kỳ thu tiền 14 ngày và kỳ trả tiền 7 ngày là rất ngắn với mô hình B2B; khi phục vụ chuỗi F&amp;B và khách hàng FDI, kỳ thu tiền sẽ kéo dài, nên mô hình tăng số ngày phải thu lên 30 ngày từ 2029. Nợ vay chỉ bằng 5,3% vốn chủ sở hữu.</a:t>
            </a:r>
            <a:endParaRPr lang="en-US" sz="900" dirty="0"/>
          </a:p>
        </p:txBody>
      </p:sp>
      <p:sp>
        <p:nvSpPr>
          <p:cNvPr id="145" name="Text 141"/>
          <p:cNvSpPr txBox="1"/>
          <p:nvPr/>
        </p:nvSpPr>
        <p:spPr>
          <a:xfrm>
            <a:off x="405354" y="7330470"/>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Chỉ số tài chính 2023A–2025A: sinh lời cải thiện, thanh khoản cao do nợ ngắn hạn nhỏ</a:t>
            </a:r>
            <a:endParaRPr lang="en-US" sz="720" dirty="0"/>
          </a:p>
        </p:txBody>
      </p:sp>
      <p:sp>
        <p:nvSpPr>
          <p:cNvPr id="146" name="Text 142"/>
          <p:cNvSpPr txBox="1"/>
          <p:nvPr/>
        </p:nvSpPr>
        <p:spPr>
          <a:xfrm>
            <a:off x="405354" y="8208477"/>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ROE, ROA, vòng quay tính trên số dư bình quân (đầu kỳ 2023 = 01/01/2023)</a:t>
            </a:r>
            <a:endParaRPr lang="en-US" sz="600" dirty="0"/>
          </a:p>
        </p:txBody>
      </p:sp>
      <p:sp>
        <p:nvSpPr>
          <p:cNvPr id="147" name="Text 143"/>
          <p:cNvSpPr txBox="1"/>
          <p:nvPr/>
        </p:nvSpPr>
        <p:spPr>
          <a:xfrm>
            <a:off x="405354" y="840287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AgriPack ở giai đoạn Đầu tăng trưởng: tỷ lệ thất bại 35–45%</a:t>
            </a:r>
            <a:endParaRPr lang="en-US" sz="720" dirty="0"/>
          </a:p>
        </p:txBody>
      </p:sp>
      <p:sp>
        <p:nvSpPr>
          <p:cNvPr id="148" name="Text 144"/>
          <p:cNvSpPr txBox="1"/>
          <p:nvPr/>
        </p:nvSpPr>
        <p:spPr>
          <a:xfrm>
            <a:off x="405354" y="9545879"/>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Đề bài (mục III.1); lựa chọn của nhóm</a:t>
            </a:r>
            <a:endParaRPr lang="en-US" sz="600" dirty="0"/>
          </a:p>
        </p:txBody>
      </p:sp>
      <p:sp>
        <p:nvSpPr>
          <p:cNvPr id="149" name="Text 145"/>
          <p:cNvSpPr txBox="1"/>
          <p:nvPr/>
        </p:nvSpPr>
        <p:spPr>
          <a:xfrm>
            <a:off x="2745303" y="8371698"/>
            <a:ext cx="4409237" cy="116092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Giai đoạn: Đầu tăng trưởng.</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Doanh thu đã có quy mô và tăng trên 50%/năm, EBITDA và FCF đã dương, nhưng công ty mới có một năm lãi, chưa dùng nợ vay đáng kể và ROE 2025 (15,9%) vẫn thấp hơn chi phí vốn chủ sở hữu (16,2%). Đề bài cho tỷ lệ thất bại 35–45% ở giai đoạn này; chúng tôi dùng trung điểm 40% (Fig. 15; bảng chấm điểm ở Fig. 16). Hai lực kéo ngược chiều: kết quả 2025 kéo rủi ro về 35%, còn nhà máy 2027 (nguyên giá TSCĐ tăng gấp ba) kéo lên 45%. Khoảng 35–45% được dùng trong phân tích độ nhạy. Hàm ý cho mô hình: tăng trưởng giảm dần theo pha công suất; CAPEX theo chu kỳ đầu tư; DCF đo giá trị khi doanh nghiệp tiếp tục hoạt động, còn rủi ro thất bại xử lý riêng trong VC Method để không tính trùng vào WACC.</a:t>
            </a:r>
            <a:endParaRPr lang="en-US" sz="900" dirty="0"/>
          </a:p>
        </p:txBody>
      </p:sp>
      <p:sp>
        <p:nvSpPr>
          <p:cNvPr id="150" name="Text 146"/>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51" name="Text 147"/>
          <p:cNvSpPr txBox="1"/>
          <p:nvPr/>
        </p:nvSpPr>
        <p:spPr>
          <a:xfrm>
            <a:off x="7114581" y="10402672"/>
            <a:ext cx="97018"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3</a:t>
            </a:r>
            <a:endParaRPr lang="en-US" sz="6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2161733"/>
            <a:ext cx="6749004" cy="206380"/>
          </a:xfrm>
          <a:prstGeom prst="rect">
            <a:avLst/>
          </a:prstGeom>
          <a:solidFill>
            <a:srgbClr val="7B1E2B"/>
          </a:solidFill>
          <a:ln/>
        </p:spPr>
      </p:sp>
      <p:sp>
        <p:nvSpPr>
          <p:cNvPr id="3" name="Shape 1"/>
          <p:cNvSpPr/>
          <p:nvPr/>
        </p:nvSpPr>
        <p:spPr>
          <a:xfrm>
            <a:off x="405354" y="471830"/>
            <a:ext cx="6749004" cy="0"/>
          </a:xfrm>
          <a:prstGeom prst="line">
            <a:avLst/>
          </a:prstGeom>
          <a:noFill/>
          <a:ln w="9525">
            <a:solidFill>
              <a:srgbClr val="7B1E2B"/>
            </a:solidFill>
            <a:prstDash val="solid"/>
          </a:ln>
        </p:spPr>
      </p:sp>
      <p:sp>
        <p:nvSpPr>
          <p:cNvPr id="4" name="Shape 2"/>
          <p:cNvSpPr/>
          <p:nvPr/>
        </p:nvSpPr>
        <p:spPr>
          <a:xfrm>
            <a:off x="405354" y="567568"/>
            <a:ext cx="6749004" cy="0"/>
          </a:xfrm>
          <a:prstGeom prst="line">
            <a:avLst/>
          </a:prstGeom>
          <a:noFill/>
          <a:ln w="9525">
            <a:solidFill>
              <a:srgbClr val="7B1E2B"/>
            </a:solidFill>
            <a:prstDash val="solid"/>
          </a:ln>
        </p:spPr>
      </p:sp>
      <p:sp>
        <p:nvSpPr>
          <p:cNvPr id="5" name="Shape 3"/>
          <p:cNvSpPr/>
          <p:nvPr/>
        </p:nvSpPr>
        <p:spPr>
          <a:xfrm>
            <a:off x="405354" y="2444740"/>
            <a:ext cx="2159996" cy="0"/>
          </a:xfrm>
          <a:prstGeom prst="line">
            <a:avLst/>
          </a:prstGeom>
          <a:noFill/>
          <a:ln w="9525">
            <a:solidFill>
              <a:srgbClr val="7B1E2B"/>
            </a:solidFill>
            <a:prstDash val="solid"/>
          </a:ln>
        </p:spPr>
      </p:sp>
      <p:sp>
        <p:nvSpPr>
          <p:cNvPr id="6" name="Shape 4"/>
          <p:cNvSpPr/>
          <p:nvPr/>
        </p:nvSpPr>
        <p:spPr>
          <a:xfrm>
            <a:off x="405354" y="3913906"/>
            <a:ext cx="2159996" cy="0"/>
          </a:xfrm>
          <a:prstGeom prst="line">
            <a:avLst/>
          </a:prstGeom>
          <a:noFill/>
          <a:ln w="9525">
            <a:solidFill>
              <a:srgbClr val="7B1E2B"/>
            </a:solidFill>
            <a:prstDash val="solid"/>
          </a:ln>
        </p:spPr>
      </p:sp>
      <p:sp>
        <p:nvSpPr>
          <p:cNvPr id="7" name="Shape 5"/>
          <p:cNvSpPr/>
          <p:nvPr/>
        </p:nvSpPr>
        <p:spPr>
          <a:xfrm>
            <a:off x="405354" y="5049134"/>
            <a:ext cx="2159996" cy="0"/>
          </a:xfrm>
          <a:prstGeom prst="line">
            <a:avLst/>
          </a:prstGeom>
          <a:noFill/>
          <a:ln w="9525">
            <a:solidFill>
              <a:srgbClr val="7B1E2B"/>
            </a:solidFill>
            <a:prstDash val="solid"/>
          </a:ln>
        </p:spPr>
      </p:sp>
      <p:sp>
        <p:nvSpPr>
          <p:cNvPr id="8" name="Shape 6"/>
          <p:cNvSpPr/>
          <p:nvPr/>
        </p:nvSpPr>
        <p:spPr>
          <a:xfrm>
            <a:off x="405354" y="6635984"/>
            <a:ext cx="2159996" cy="0"/>
          </a:xfrm>
          <a:prstGeom prst="line">
            <a:avLst/>
          </a:prstGeom>
          <a:noFill/>
          <a:ln w="9525">
            <a:solidFill>
              <a:srgbClr val="7B1E2B"/>
            </a:solidFill>
            <a:prstDash val="solid"/>
          </a:ln>
        </p:spPr>
      </p:sp>
      <p:sp>
        <p:nvSpPr>
          <p:cNvPr id="9" name="Shape 7"/>
          <p:cNvSpPr/>
          <p:nvPr/>
        </p:nvSpPr>
        <p:spPr>
          <a:xfrm>
            <a:off x="405354" y="7895753"/>
            <a:ext cx="2159996" cy="0"/>
          </a:xfrm>
          <a:prstGeom prst="line">
            <a:avLst/>
          </a:prstGeom>
          <a:noFill/>
          <a:ln w="9525">
            <a:solidFill>
              <a:srgbClr val="7B1E2B"/>
            </a:solidFill>
            <a:prstDash val="solid"/>
          </a:ln>
        </p:spPr>
      </p:sp>
      <p:sp>
        <p:nvSpPr>
          <p:cNvPr id="10" name="Shape 8"/>
          <p:cNvSpPr/>
          <p:nvPr/>
        </p:nvSpPr>
        <p:spPr>
          <a:xfrm>
            <a:off x="405354" y="10365547"/>
            <a:ext cx="6749004" cy="0"/>
          </a:xfrm>
          <a:prstGeom prst="line">
            <a:avLst/>
          </a:prstGeom>
          <a:noFill/>
          <a:ln w="9525">
            <a:solidFill>
              <a:srgbClr val="BFBFBF"/>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05354" y="735818"/>
          <a:ext cx="6749004" cy="914400"/>
        </p:xfrm>
        <a:graphic>
          <a:graphicData uri="http://schemas.openxmlformats.org/drawingml/2006/table">
            <a:tbl>
              <a:tblPr/>
              <a:tblGrid>
                <a:gridCol w="1079724"/>
                <a:gridCol w="3374502"/>
                <a:gridCol w="2294778"/>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Tiêu chí</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Quan sát 2023–2025</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Hàm ý</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3685">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Quy mô, tăng trưởng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DT 2025: 47,5 tỷ; CAGR 2023–25: 56,4%</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Đã qua thử nghiệm</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Sinh lời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Biên EBITDA 16,2%; LNST 4,4 tỷ – năm đầu có lãi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Đầu tăng trưởng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Dòng tiền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FCF 1,2 tỷ, không cần vốn góp năm 2025</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Đầu tăng trưởng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Đầu tư</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CAPEX/DT 25,8% → 10,7%; nhà máy mới 2027</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Chuẩn bị mở rộng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Cấu trúc vốn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Nợ vay/VCSH 5,3%</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Chưa dùng đòn bẩy</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Vị thế</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~4,3% SAM ngành F&amp;B (IMARC)</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Nhỏ, đã có chỗ đứng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Hiệu quả vốn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ROE 15,9% &lt; Ke 16,2%</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Chưa tạo giá trị kinh tế</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Kết luận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Đầu tăng trưởng – tỷ lệ thất bại z = 40% (khoảng 35–45%)</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pSp>
        <p:nvGrpSpPr>
          <p:cNvPr id="171" name="Fig. 17 – biểu đồ"/>
          <p:cNvGrpSpPr/>
          <p:nvPr/>
        </p:nvGrpSpPr>
        <p:grpSpPr>
          <a:xfrm>
            <a:off x="444764" y="2724821"/>
            <a:ext cx="2081266" cy="880384"/>
            <a:chOff x="444764" y="2724821"/>
            <a:chExt cx="2081266" cy="880384"/>
          </a:xfrm>
        </p:grpSpPr>
        <p:sp>
          <p:nvSpPr>
            <p:cNvPr id="12" name="svg0_0"/>
            <p:cNvSpPr/>
            <p:nvPr/>
          </p:nvSpPr>
          <p:spPr>
            <a:xfrm>
              <a:off x="487741" y="3302538"/>
              <a:ext cx="125456" cy="185806"/>
            </a:xfrm>
            <a:prstGeom prst="rect">
              <a:avLst/>
            </a:prstGeom>
            <a:solidFill>
              <a:srgbClr val="7B1E2B"/>
            </a:solidFill>
            <a:ln/>
          </p:spPr>
        </p:sp>
        <p:sp>
          <p:nvSpPr>
            <p:cNvPr id="13" name="svg0_1"/>
            <p:cNvSpPr txBox="1"/>
            <p:nvPr/>
          </p:nvSpPr>
          <p:spPr>
            <a:xfrm>
              <a:off x="486095" y="3216402"/>
              <a:ext cx="135606"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2,6</a:t>
              </a:r>
              <a:endParaRPr lang="en-US" sz="495" dirty="0"/>
            </a:p>
          </p:txBody>
        </p:sp>
        <p:sp>
          <p:nvSpPr>
            <p:cNvPr id="14" name="svg0_2"/>
            <p:cNvSpPr/>
            <p:nvPr/>
          </p:nvSpPr>
          <p:spPr>
            <a:xfrm>
              <a:off x="623164" y="3355757"/>
              <a:ext cx="125456" cy="132588"/>
            </a:xfrm>
            <a:prstGeom prst="rect">
              <a:avLst/>
            </a:prstGeom>
            <a:solidFill>
              <a:srgbClr val="A3A3A3"/>
            </a:solidFill>
            <a:ln/>
          </p:spPr>
        </p:sp>
        <p:sp>
          <p:nvSpPr>
            <p:cNvPr id="15" name="svg0_3"/>
            <p:cNvSpPr txBox="1"/>
            <p:nvPr/>
          </p:nvSpPr>
          <p:spPr>
            <a:xfrm>
              <a:off x="621609" y="3269437"/>
              <a:ext cx="135606"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1,8</a:t>
              </a:r>
              <a:endParaRPr lang="en-US" sz="495" dirty="0"/>
            </a:p>
          </p:txBody>
        </p:sp>
        <p:sp>
          <p:nvSpPr>
            <p:cNvPr id="16" name="svg0_4"/>
            <p:cNvSpPr txBox="1"/>
            <p:nvPr/>
          </p:nvSpPr>
          <p:spPr>
            <a:xfrm>
              <a:off x="513161" y="3500415"/>
              <a:ext cx="210769"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2021</a:t>
              </a:r>
              <a:endParaRPr lang="en-US" sz="588" dirty="0"/>
            </a:p>
          </p:txBody>
        </p:sp>
        <p:sp>
          <p:nvSpPr>
            <p:cNvPr id="17" name="svg0_5"/>
            <p:cNvSpPr/>
            <p:nvPr/>
          </p:nvSpPr>
          <p:spPr>
            <a:xfrm>
              <a:off x="834664" y="2910718"/>
              <a:ext cx="125456" cy="577626"/>
            </a:xfrm>
            <a:prstGeom prst="rect">
              <a:avLst/>
            </a:prstGeom>
            <a:solidFill>
              <a:srgbClr val="7B1E2B"/>
            </a:solidFill>
            <a:ln/>
          </p:spPr>
        </p:sp>
        <p:sp>
          <p:nvSpPr>
            <p:cNvPr id="18" name="svg0_6"/>
            <p:cNvSpPr txBox="1"/>
            <p:nvPr/>
          </p:nvSpPr>
          <p:spPr>
            <a:xfrm>
              <a:off x="832653" y="2824764"/>
              <a:ext cx="135606"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8,0</a:t>
              </a:r>
              <a:endParaRPr lang="en-US" sz="495" dirty="0"/>
            </a:p>
          </p:txBody>
        </p:sp>
        <p:sp>
          <p:nvSpPr>
            <p:cNvPr id="19" name="svg0_7"/>
            <p:cNvSpPr/>
            <p:nvPr/>
          </p:nvSpPr>
          <p:spPr>
            <a:xfrm>
              <a:off x="969904" y="3261482"/>
              <a:ext cx="125456" cy="226863"/>
            </a:xfrm>
            <a:prstGeom prst="rect">
              <a:avLst/>
            </a:prstGeom>
            <a:solidFill>
              <a:srgbClr val="A3A3A3"/>
            </a:solidFill>
            <a:ln/>
          </p:spPr>
        </p:sp>
        <p:sp>
          <p:nvSpPr>
            <p:cNvPr id="20" name="svg0_8"/>
            <p:cNvSpPr txBox="1"/>
            <p:nvPr/>
          </p:nvSpPr>
          <p:spPr>
            <a:xfrm>
              <a:off x="968167" y="3175163"/>
              <a:ext cx="135606"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3,1</a:t>
              </a:r>
              <a:endParaRPr lang="en-US" sz="495" dirty="0"/>
            </a:p>
          </p:txBody>
        </p:sp>
        <p:sp>
          <p:nvSpPr>
            <p:cNvPr id="21" name="svg0_9"/>
            <p:cNvSpPr txBox="1"/>
            <p:nvPr/>
          </p:nvSpPr>
          <p:spPr>
            <a:xfrm>
              <a:off x="859810" y="3500415"/>
              <a:ext cx="210769"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2022</a:t>
              </a:r>
              <a:endParaRPr lang="en-US" sz="588" dirty="0"/>
            </a:p>
          </p:txBody>
        </p:sp>
        <p:sp>
          <p:nvSpPr>
            <p:cNvPr id="22" name="svg0_10"/>
            <p:cNvSpPr/>
            <p:nvPr/>
          </p:nvSpPr>
          <p:spPr>
            <a:xfrm>
              <a:off x="1181496" y="3124688"/>
              <a:ext cx="125547" cy="363657"/>
            </a:xfrm>
            <a:prstGeom prst="rect">
              <a:avLst/>
            </a:prstGeom>
            <a:solidFill>
              <a:srgbClr val="7B1E2B"/>
            </a:solidFill>
            <a:ln/>
          </p:spPr>
        </p:sp>
        <p:sp>
          <p:nvSpPr>
            <p:cNvPr id="23" name="svg0_11"/>
            <p:cNvSpPr txBox="1"/>
            <p:nvPr/>
          </p:nvSpPr>
          <p:spPr>
            <a:xfrm>
              <a:off x="1179210" y="3038734"/>
              <a:ext cx="135606"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5,0</a:t>
              </a:r>
              <a:endParaRPr lang="en-US" sz="495" dirty="0"/>
            </a:p>
          </p:txBody>
        </p:sp>
        <p:sp>
          <p:nvSpPr>
            <p:cNvPr id="24" name="svg0_12"/>
            <p:cNvSpPr/>
            <p:nvPr/>
          </p:nvSpPr>
          <p:spPr>
            <a:xfrm>
              <a:off x="1316827" y="3254258"/>
              <a:ext cx="125456" cy="234086"/>
            </a:xfrm>
            <a:prstGeom prst="rect">
              <a:avLst/>
            </a:prstGeom>
            <a:solidFill>
              <a:srgbClr val="A3A3A3"/>
            </a:solidFill>
            <a:ln/>
          </p:spPr>
        </p:sp>
        <p:sp>
          <p:nvSpPr>
            <p:cNvPr id="25" name="svg0_13"/>
            <p:cNvSpPr txBox="1"/>
            <p:nvPr/>
          </p:nvSpPr>
          <p:spPr>
            <a:xfrm>
              <a:off x="1314724" y="3168305"/>
              <a:ext cx="135606"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3,2</a:t>
              </a:r>
              <a:endParaRPr lang="en-US" sz="495" dirty="0"/>
            </a:p>
          </p:txBody>
        </p:sp>
        <p:sp>
          <p:nvSpPr>
            <p:cNvPr id="26" name="svg0_14"/>
            <p:cNvSpPr txBox="1"/>
            <p:nvPr/>
          </p:nvSpPr>
          <p:spPr>
            <a:xfrm>
              <a:off x="1206276" y="3500415"/>
              <a:ext cx="210769"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2023</a:t>
              </a:r>
              <a:endParaRPr lang="en-US" sz="588" dirty="0"/>
            </a:p>
          </p:txBody>
        </p:sp>
        <p:sp>
          <p:nvSpPr>
            <p:cNvPr id="27" name="svg0_15"/>
            <p:cNvSpPr/>
            <p:nvPr/>
          </p:nvSpPr>
          <p:spPr>
            <a:xfrm>
              <a:off x="1528511" y="2977835"/>
              <a:ext cx="125456" cy="510510"/>
            </a:xfrm>
            <a:prstGeom prst="rect">
              <a:avLst/>
            </a:prstGeom>
            <a:solidFill>
              <a:srgbClr val="7B1E2B"/>
            </a:solidFill>
            <a:ln/>
          </p:spPr>
        </p:sp>
        <p:sp>
          <p:nvSpPr>
            <p:cNvPr id="28" name="svg0_16"/>
            <p:cNvSpPr txBox="1"/>
            <p:nvPr/>
          </p:nvSpPr>
          <p:spPr>
            <a:xfrm>
              <a:off x="1526774" y="2891516"/>
              <a:ext cx="135606"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7,1</a:t>
              </a:r>
              <a:endParaRPr lang="en-US" sz="495" dirty="0"/>
            </a:p>
          </p:txBody>
        </p:sp>
        <p:sp>
          <p:nvSpPr>
            <p:cNvPr id="29" name="svg0_17"/>
            <p:cNvSpPr/>
            <p:nvPr/>
          </p:nvSpPr>
          <p:spPr>
            <a:xfrm>
              <a:off x="1663751" y="3226918"/>
              <a:ext cx="125547" cy="261427"/>
            </a:xfrm>
            <a:prstGeom prst="rect">
              <a:avLst/>
            </a:prstGeom>
            <a:solidFill>
              <a:srgbClr val="A3A3A3"/>
            </a:solidFill>
            <a:ln/>
          </p:spPr>
        </p:sp>
        <p:sp>
          <p:nvSpPr>
            <p:cNvPr id="30" name="svg0_18"/>
            <p:cNvSpPr txBox="1"/>
            <p:nvPr/>
          </p:nvSpPr>
          <p:spPr>
            <a:xfrm>
              <a:off x="1662288" y="3140873"/>
              <a:ext cx="135606"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3,6</a:t>
              </a:r>
              <a:endParaRPr lang="en-US" sz="495" dirty="0"/>
            </a:p>
          </p:txBody>
        </p:sp>
        <p:sp>
          <p:nvSpPr>
            <p:cNvPr id="31" name="svg0_19"/>
            <p:cNvSpPr txBox="1"/>
            <p:nvPr/>
          </p:nvSpPr>
          <p:spPr>
            <a:xfrm>
              <a:off x="1553840" y="3500415"/>
              <a:ext cx="210769"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2024</a:t>
              </a:r>
              <a:endParaRPr lang="en-US" sz="588" dirty="0"/>
            </a:p>
          </p:txBody>
        </p:sp>
        <p:sp>
          <p:nvSpPr>
            <p:cNvPr id="32" name="svg0_20"/>
            <p:cNvSpPr/>
            <p:nvPr/>
          </p:nvSpPr>
          <p:spPr>
            <a:xfrm>
              <a:off x="1875343" y="2910718"/>
              <a:ext cx="125456" cy="577626"/>
            </a:xfrm>
            <a:prstGeom prst="rect">
              <a:avLst/>
            </a:prstGeom>
            <a:solidFill>
              <a:srgbClr val="7B1E2B"/>
            </a:solidFill>
            <a:ln/>
          </p:spPr>
        </p:sp>
        <p:sp>
          <p:nvSpPr>
            <p:cNvPr id="33" name="svg0_21"/>
            <p:cNvSpPr txBox="1"/>
            <p:nvPr/>
          </p:nvSpPr>
          <p:spPr>
            <a:xfrm>
              <a:off x="1873423" y="2824764"/>
              <a:ext cx="135606"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8,0</a:t>
              </a:r>
              <a:endParaRPr lang="en-US" sz="495" dirty="0"/>
            </a:p>
          </p:txBody>
        </p:sp>
        <p:sp>
          <p:nvSpPr>
            <p:cNvPr id="34" name="svg0_22"/>
            <p:cNvSpPr/>
            <p:nvPr/>
          </p:nvSpPr>
          <p:spPr>
            <a:xfrm>
              <a:off x="2010674" y="3249960"/>
              <a:ext cx="125456" cy="238384"/>
            </a:xfrm>
            <a:prstGeom prst="rect">
              <a:avLst/>
            </a:prstGeom>
            <a:solidFill>
              <a:srgbClr val="A3A3A3"/>
            </a:solidFill>
            <a:ln/>
          </p:spPr>
        </p:sp>
        <p:sp>
          <p:nvSpPr>
            <p:cNvPr id="35" name="svg0_23"/>
            <p:cNvSpPr txBox="1"/>
            <p:nvPr/>
          </p:nvSpPr>
          <p:spPr>
            <a:xfrm>
              <a:off x="2008845" y="3163458"/>
              <a:ext cx="135606"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3,3</a:t>
              </a:r>
              <a:endParaRPr lang="en-US" sz="495" dirty="0"/>
            </a:p>
          </p:txBody>
        </p:sp>
        <p:sp>
          <p:nvSpPr>
            <p:cNvPr id="36" name="svg0_24"/>
            <p:cNvSpPr txBox="1"/>
            <p:nvPr/>
          </p:nvSpPr>
          <p:spPr>
            <a:xfrm>
              <a:off x="1900489" y="3500415"/>
              <a:ext cx="210769"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2025</a:t>
              </a:r>
              <a:endParaRPr lang="en-US" sz="588" dirty="0"/>
            </a:p>
          </p:txBody>
        </p:sp>
        <p:sp>
          <p:nvSpPr>
            <p:cNvPr id="37" name="svg0_25"/>
            <p:cNvSpPr/>
            <p:nvPr/>
          </p:nvSpPr>
          <p:spPr>
            <a:xfrm>
              <a:off x="2222175" y="2899197"/>
              <a:ext cx="125547" cy="589148"/>
            </a:xfrm>
            <a:prstGeom prst="rect">
              <a:avLst/>
            </a:prstGeom>
            <a:solidFill>
              <a:srgbClr val="7B1E2B"/>
            </a:solidFill>
            <a:ln/>
          </p:spPr>
        </p:sp>
        <p:sp>
          <p:nvSpPr>
            <p:cNvPr id="38" name="svg0_26"/>
            <p:cNvSpPr txBox="1"/>
            <p:nvPr/>
          </p:nvSpPr>
          <p:spPr>
            <a:xfrm>
              <a:off x="2219889" y="2812877"/>
              <a:ext cx="135606"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8,2</a:t>
              </a:r>
              <a:endParaRPr lang="en-US" sz="495" dirty="0"/>
            </a:p>
          </p:txBody>
        </p:sp>
        <p:sp>
          <p:nvSpPr>
            <p:cNvPr id="39" name="svg0_27"/>
            <p:cNvSpPr/>
            <p:nvPr/>
          </p:nvSpPr>
          <p:spPr>
            <a:xfrm>
              <a:off x="2357506" y="3167847"/>
              <a:ext cx="125456" cy="320497"/>
            </a:xfrm>
            <a:prstGeom prst="rect">
              <a:avLst/>
            </a:prstGeom>
            <a:solidFill>
              <a:srgbClr val="A3A3A3"/>
            </a:solidFill>
            <a:ln/>
          </p:spPr>
        </p:sp>
        <p:sp>
          <p:nvSpPr>
            <p:cNvPr id="40" name="svg0_28"/>
            <p:cNvSpPr txBox="1"/>
            <p:nvPr/>
          </p:nvSpPr>
          <p:spPr>
            <a:xfrm>
              <a:off x="2355860" y="3081894"/>
              <a:ext cx="128290" cy="95280"/>
            </a:xfrm>
            <a:prstGeom prst="rect">
              <a:avLst/>
            </a:prstGeom>
            <a:noFill/>
            <a:ln/>
          </p:spPr>
          <p:txBody>
            <a:bodyPr wrap="none" lIns="0" tIns="0" rIns="0" bIns="0" rtlCol="0" anchor="ctr"/>
            <a:lstStyle/>
            <a:p>
              <a:pPr algn="ctr" indent="0" marL="0">
                <a:buNone/>
              </a:pPr>
              <a:r>
                <a:rPr lang="en-US" sz="495" dirty="0">
                  <a:solidFill>
                    <a:srgbClr val="262626"/>
                  </a:solidFill>
                  <a:latin typeface="Calibri" pitchFamily="34" charset="0"/>
                  <a:ea typeface="Calibri" pitchFamily="34" charset="-122"/>
                  <a:cs typeface="Calibri" pitchFamily="34" charset="-120"/>
                </a:rPr>
                <a:t>4,5</a:t>
              </a:r>
              <a:endParaRPr lang="en-US" sz="495" dirty="0"/>
            </a:p>
          </p:txBody>
        </p:sp>
        <p:sp>
          <p:nvSpPr>
            <p:cNvPr id="41" name="svg0_29"/>
            <p:cNvSpPr txBox="1"/>
            <p:nvPr/>
          </p:nvSpPr>
          <p:spPr>
            <a:xfrm>
              <a:off x="2179015" y="3500415"/>
              <a:ext cx="346740"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6T/8T-26</a:t>
              </a:r>
              <a:endParaRPr lang="en-US" sz="588" dirty="0"/>
            </a:p>
          </p:txBody>
        </p:sp>
        <p:sp>
          <p:nvSpPr>
            <p:cNvPr id="42" name="svg0_30"/>
            <p:cNvSpPr/>
            <p:nvPr/>
          </p:nvSpPr>
          <p:spPr>
            <a:xfrm>
              <a:off x="444764" y="3488345"/>
              <a:ext cx="2081266" cy="0"/>
            </a:xfrm>
            <a:prstGeom prst="line">
              <a:avLst/>
            </a:prstGeom>
            <a:noFill/>
            <a:ln w="6858">
              <a:solidFill>
                <a:srgbClr val="8C8C8C"/>
              </a:solidFill>
              <a:prstDash val="solid"/>
            </a:ln>
          </p:spPr>
        </p:sp>
        <p:sp>
          <p:nvSpPr>
            <p:cNvPr id="43" name="svg0_31"/>
            <p:cNvSpPr/>
            <p:nvPr/>
          </p:nvSpPr>
          <p:spPr>
            <a:xfrm>
              <a:off x="444764" y="2746035"/>
              <a:ext cx="60899" cy="60899"/>
            </a:xfrm>
            <a:prstGeom prst="rect">
              <a:avLst/>
            </a:prstGeom>
            <a:solidFill>
              <a:srgbClr val="7B1E2B"/>
            </a:solidFill>
            <a:ln/>
          </p:spPr>
        </p:sp>
        <p:sp>
          <p:nvSpPr>
            <p:cNvPr id="44" name="svg0_32"/>
            <p:cNvSpPr txBox="1"/>
            <p:nvPr/>
          </p:nvSpPr>
          <p:spPr>
            <a:xfrm>
              <a:off x="528157" y="2724821"/>
              <a:ext cx="499080" cy="104790"/>
            </a:xfrm>
            <a:prstGeom prst="rect">
              <a:avLst/>
            </a:prstGeom>
            <a:noFill/>
            <a:ln/>
          </p:spPr>
          <p:txBody>
            <a:bodyPr wrap="none" lIns="0" tIns="0" rIns="0" bIns="0" rtlCol="0" anchor="ctr"/>
            <a:lstStyle/>
            <a:p>
              <a:pPr algn="l" indent="0" marL="0">
                <a:buNone/>
              </a:pPr>
              <a:r>
                <a:rPr lang="en-US" sz="588" dirty="0">
                  <a:solidFill>
                    <a:srgbClr val="666666"/>
                  </a:solidFill>
                  <a:latin typeface="Calibri" pitchFamily="34" charset="0"/>
                  <a:ea typeface="Calibri" pitchFamily="34" charset="-122"/>
                  <a:cs typeface="Calibri" pitchFamily="34" charset="-120"/>
                </a:rPr>
                <a:t>GDP thực (%)</a:t>
              </a:r>
              <a:endParaRPr lang="en-US" sz="588" dirty="0"/>
            </a:p>
          </p:txBody>
        </p:sp>
        <p:sp>
          <p:nvSpPr>
            <p:cNvPr id="45" name="svg0_33"/>
            <p:cNvSpPr/>
            <p:nvPr/>
          </p:nvSpPr>
          <p:spPr>
            <a:xfrm>
              <a:off x="1037295" y="2746035"/>
              <a:ext cx="60899" cy="60899"/>
            </a:xfrm>
            <a:prstGeom prst="rect">
              <a:avLst/>
            </a:prstGeom>
            <a:solidFill>
              <a:srgbClr val="A3A3A3"/>
            </a:solidFill>
            <a:ln/>
          </p:spPr>
        </p:sp>
        <p:sp>
          <p:nvSpPr>
            <p:cNvPr id="46" name="svg0_34"/>
            <p:cNvSpPr txBox="1"/>
            <p:nvPr/>
          </p:nvSpPr>
          <p:spPr>
            <a:xfrm>
              <a:off x="1121054" y="2724821"/>
              <a:ext cx="647029" cy="104790"/>
            </a:xfrm>
            <a:prstGeom prst="rect">
              <a:avLst/>
            </a:prstGeom>
            <a:noFill/>
            <a:ln/>
          </p:spPr>
          <p:txBody>
            <a:bodyPr wrap="none" lIns="0" tIns="0" rIns="0" bIns="0" rtlCol="0" anchor="ctr"/>
            <a:lstStyle/>
            <a:p>
              <a:pPr algn="l" indent="0" marL="0">
                <a:buNone/>
              </a:pPr>
              <a:r>
                <a:rPr lang="en-US" sz="588" dirty="0">
                  <a:solidFill>
                    <a:srgbClr val="666666"/>
                  </a:solidFill>
                  <a:latin typeface="Calibri" pitchFamily="34" charset="0"/>
                  <a:ea typeface="Calibri" pitchFamily="34" charset="-122"/>
                  <a:cs typeface="Calibri" pitchFamily="34" charset="-120"/>
                </a:rPr>
                <a:t>CPI bình quân (%)</a:t>
              </a:r>
              <a:endParaRPr lang="en-US" sz="588" dirty="0"/>
            </a:p>
          </p:txBody>
        </p:sp>
      </p:grpSp>
      <p:grpSp>
        <p:nvGrpSpPr>
          <p:cNvPr id="172" name="Fig. 18 – biểu đồ"/>
          <p:cNvGrpSpPr/>
          <p:nvPr/>
        </p:nvGrpSpPr>
        <p:grpSpPr>
          <a:xfrm>
            <a:off x="229423" y="4211178"/>
            <a:ext cx="2389601" cy="467350"/>
            <a:chOff x="229423" y="4211178"/>
            <a:chExt cx="2389601" cy="467350"/>
          </a:xfrm>
        </p:grpSpPr>
        <p:sp>
          <p:nvSpPr>
            <p:cNvPr id="47" name="svg1_35"/>
            <p:cNvSpPr txBox="1"/>
            <p:nvPr/>
          </p:nvSpPr>
          <p:spPr>
            <a:xfrm>
              <a:off x="354513" y="4219499"/>
              <a:ext cx="1268364"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Lương tối thiểu vùng I (1/22→1/26)</a:t>
              </a:r>
              <a:endParaRPr lang="en-US" sz="588" dirty="0"/>
            </a:p>
          </p:txBody>
        </p:sp>
        <p:sp>
          <p:nvSpPr>
            <p:cNvPr id="48" name="svg1_36"/>
            <p:cNvSpPr/>
            <p:nvPr/>
          </p:nvSpPr>
          <p:spPr>
            <a:xfrm>
              <a:off x="1662105" y="4230929"/>
              <a:ext cx="687263" cy="72969"/>
            </a:xfrm>
            <a:prstGeom prst="rect">
              <a:avLst/>
            </a:prstGeom>
            <a:solidFill>
              <a:srgbClr val="404040"/>
            </a:solidFill>
            <a:ln/>
          </p:spPr>
        </p:sp>
        <p:sp>
          <p:nvSpPr>
            <p:cNvPr id="49" name="svg1_37"/>
            <p:cNvSpPr txBox="1"/>
            <p:nvPr/>
          </p:nvSpPr>
          <p:spPr>
            <a:xfrm>
              <a:off x="229423" y="4337274"/>
              <a:ext cx="1393363"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Giá điện bán lẻ bình quân (4/23→5/25)</a:t>
              </a:r>
              <a:endParaRPr lang="en-US" sz="588" dirty="0"/>
            </a:p>
          </p:txBody>
        </p:sp>
        <p:sp>
          <p:nvSpPr>
            <p:cNvPr id="50" name="svg1_38"/>
            <p:cNvSpPr/>
            <p:nvPr/>
          </p:nvSpPr>
          <p:spPr>
            <a:xfrm>
              <a:off x="1662105" y="4348612"/>
              <a:ext cx="621701" cy="73061"/>
            </a:xfrm>
            <a:prstGeom prst="rect">
              <a:avLst/>
            </a:prstGeom>
            <a:solidFill>
              <a:srgbClr val="404040"/>
            </a:solidFill>
            <a:ln/>
          </p:spPr>
        </p:sp>
        <p:sp>
          <p:nvSpPr>
            <p:cNvPr id="51" name="svg1_39"/>
            <p:cNvSpPr txBox="1"/>
            <p:nvPr/>
          </p:nvSpPr>
          <p:spPr>
            <a:xfrm>
              <a:off x="644286" y="4455140"/>
              <a:ext cx="978591"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CPI cộng dồn (2022→2025)</a:t>
              </a:r>
              <a:endParaRPr lang="en-US" sz="588" dirty="0"/>
            </a:p>
          </p:txBody>
        </p:sp>
        <p:sp>
          <p:nvSpPr>
            <p:cNvPr id="52" name="svg1_40"/>
            <p:cNvSpPr/>
            <p:nvPr/>
          </p:nvSpPr>
          <p:spPr>
            <a:xfrm>
              <a:off x="1662105" y="4466478"/>
              <a:ext cx="478414" cy="73061"/>
            </a:xfrm>
            <a:prstGeom prst="rect">
              <a:avLst/>
            </a:prstGeom>
            <a:solidFill>
              <a:srgbClr val="A3A3A3"/>
            </a:solidFill>
            <a:ln/>
          </p:spPr>
        </p:sp>
        <p:sp>
          <p:nvSpPr>
            <p:cNvPr id="53" name="svg1_41"/>
            <p:cNvSpPr txBox="1"/>
            <p:nvPr/>
          </p:nvSpPr>
          <p:spPr>
            <a:xfrm>
              <a:off x="455920" y="4572823"/>
              <a:ext cx="1166866" cy="104790"/>
            </a:xfrm>
            <a:prstGeom prst="rect">
              <a:avLst/>
            </a:prstGeom>
            <a:noFill/>
            <a:ln/>
          </p:spPr>
          <p:txBody>
            <a:bodyPr wrap="none" lIns="0" tIns="0" rIns="0" bIns="0" rtlCol="0" anchor="ctr"/>
            <a:lstStyle/>
            <a:p>
              <a:pPr algn="r" indent="0" marL="0">
                <a:buNone/>
              </a:pPr>
              <a:r>
                <a:rPr lang="en-US" sz="588" b="1" dirty="0">
                  <a:solidFill>
                    <a:srgbClr val="262626"/>
                  </a:solidFill>
                  <a:latin typeface="Calibri" pitchFamily="34" charset="0"/>
                  <a:ea typeface="Calibri" pitchFamily="34" charset="-122"/>
                  <a:cs typeface="Calibri" pitchFamily="34" charset="-120"/>
                </a:rPr>
                <a:t>Giá bán AgriPack (2025→2030E)</a:t>
              </a:r>
              <a:endParaRPr lang="en-US" sz="588" dirty="0"/>
            </a:p>
          </p:txBody>
        </p:sp>
        <p:sp>
          <p:nvSpPr>
            <p:cNvPr id="54" name="svg1_42"/>
            <p:cNvSpPr/>
            <p:nvPr/>
          </p:nvSpPr>
          <p:spPr>
            <a:xfrm>
              <a:off x="1662105" y="4584253"/>
              <a:ext cx="355153" cy="73061"/>
            </a:xfrm>
            <a:prstGeom prst="rect">
              <a:avLst/>
            </a:prstGeom>
            <a:solidFill>
              <a:srgbClr val="7B1E2B"/>
            </a:solidFill>
            <a:ln/>
          </p:spPr>
        </p:sp>
        <p:sp>
          <p:nvSpPr>
            <p:cNvPr id="55" name="svg1_43"/>
            <p:cNvSpPr/>
            <p:nvPr/>
          </p:nvSpPr>
          <p:spPr>
            <a:xfrm>
              <a:off x="1662105" y="4211178"/>
              <a:ext cx="0" cy="467350"/>
            </a:xfrm>
            <a:prstGeom prst="line">
              <a:avLst/>
            </a:prstGeom>
            <a:noFill/>
            <a:ln w="6858">
              <a:solidFill>
                <a:srgbClr val="8C8C8C"/>
              </a:solidFill>
              <a:prstDash val="solid"/>
            </a:ln>
          </p:spPr>
        </p:sp>
        <p:sp>
          <p:nvSpPr>
            <p:cNvPr id="56" name="svg1_44"/>
            <p:cNvSpPr txBox="1"/>
            <p:nvPr/>
          </p:nvSpPr>
          <p:spPr>
            <a:xfrm>
              <a:off x="2373782" y="4219499"/>
              <a:ext cx="245242"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+20,1%</a:t>
              </a:r>
              <a:endParaRPr lang="en-US" sz="588" dirty="0"/>
            </a:p>
          </p:txBody>
        </p:sp>
        <p:sp>
          <p:nvSpPr>
            <p:cNvPr id="57" name="svg1_45"/>
            <p:cNvSpPr txBox="1"/>
            <p:nvPr/>
          </p:nvSpPr>
          <p:spPr>
            <a:xfrm>
              <a:off x="2308128" y="4337274"/>
              <a:ext cx="245242"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+18,2%</a:t>
              </a:r>
              <a:endParaRPr lang="en-US" sz="588" dirty="0"/>
            </a:p>
          </p:txBody>
        </p:sp>
        <p:sp>
          <p:nvSpPr>
            <p:cNvPr id="58" name="svg1_46"/>
            <p:cNvSpPr txBox="1"/>
            <p:nvPr/>
          </p:nvSpPr>
          <p:spPr>
            <a:xfrm>
              <a:off x="2164751" y="4455140"/>
              <a:ext cx="245242"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+14,0%</a:t>
              </a:r>
              <a:endParaRPr lang="en-US" sz="588" dirty="0"/>
            </a:p>
          </p:txBody>
        </p:sp>
        <p:sp>
          <p:nvSpPr>
            <p:cNvPr id="59" name="svg1_47"/>
            <p:cNvSpPr txBox="1"/>
            <p:nvPr/>
          </p:nvSpPr>
          <p:spPr>
            <a:xfrm>
              <a:off x="2042038" y="4572823"/>
              <a:ext cx="245974" cy="104790"/>
            </a:xfrm>
            <a:prstGeom prst="rect">
              <a:avLst/>
            </a:prstGeom>
            <a:solidFill>
              <a:srgbClr val="FFFFFF"/>
            </a:solidFill>
            <a:ln/>
          </p:spPr>
          <p:txBody>
            <a:bodyPr wrap="none" lIns="0" tIns="0" rIns="0" bIns="0" rtlCol="0" anchor="ctr"/>
            <a:lstStyle/>
            <a:p>
              <a:pPr algn="l" indent="0" marL="0">
                <a:buNone/>
              </a:pPr>
              <a:r>
                <a:rPr lang="en-US" sz="588" b="1" dirty="0">
                  <a:solidFill>
                    <a:srgbClr val="262626"/>
                  </a:solidFill>
                  <a:latin typeface="Calibri" pitchFamily="34" charset="0"/>
                  <a:ea typeface="Calibri" pitchFamily="34" charset="-122"/>
                  <a:cs typeface="Calibri" pitchFamily="34" charset="-120"/>
                </a:rPr>
                <a:t>+10,4%</a:t>
              </a:r>
              <a:endParaRPr lang="en-US" sz="588" dirty="0"/>
            </a:p>
          </p:txBody>
        </p:sp>
      </p:grpSp>
      <p:grpSp>
        <p:nvGrpSpPr>
          <p:cNvPr id="173" name="Fig. 19 – biểu đồ"/>
          <p:cNvGrpSpPr/>
          <p:nvPr/>
        </p:nvGrpSpPr>
        <p:grpSpPr>
          <a:xfrm>
            <a:off x="404073" y="5329215"/>
            <a:ext cx="2113270" cy="1017818"/>
            <a:chOff x="404073" y="5329215"/>
            <a:chExt cx="2113270" cy="1017818"/>
          </a:xfrm>
        </p:grpSpPr>
        <p:sp>
          <p:nvSpPr>
            <p:cNvPr id="60" name="svg2_48"/>
            <p:cNvSpPr/>
            <p:nvPr/>
          </p:nvSpPr>
          <p:spPr>
            <a:xfrm>
              <a:off x="601858" y="6229990"/>
              <a:ext cx="1904421" cy="0"/>
            </a:xfrm>
            <a:prstGeom prst="line">
              <a:avLst/>
            </a:prstGeom>
            <a:noFill/>
            <a:ln w="4953">
              <a:solidFill>
                <a:srgbClr val="E4E4E4"/>
              </a:solidFill>
              <a:prstDash val="solid"/>
            </a:ln>
          </p:spPr>
        </p:sp>
        <p:sp>
          <p:nvSpPr>
            <p:cNvPr id="61" name="svg2_49"/>
            <p:cNvSpPr txBox="1"/>
            <p:nvPr/>
          </p:nvSpPr>
          <p:spPr>
            <a:xfrm>
              <a:off x="444764" y="6179332"/>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4%</a:t>
              </a:r>
              <a:endParaRPr lang="en-US" sz="557" dirty="0"/>
            </a:p>
          </p:txBody>
        </p:sp>
        <p:sp>
          <p:nvSpPr>
            <p:cNvPr id="62" name="svg2_50"/>
            <p:cNvSpPr/>
            <p:nvPr/>
          </p:nvSpPr>
          <p:spPr>
            <a:xfrm>
              <a:off x="601858" y="6048390"/>
              <a:ext cx="1904421" cy="0"/>
            </a:xfrm>
            <a:prstGeom prst="line">
              <a:avLst/>
            </a:prstGeom>
            <a:noFill/>
            <a:ln w="4953">
              <a:solidFill>
                <a:srgbClr val="E4E4E4"/>
              </a:solidFill>
              <a:prstDash val="solid"/>
            </a:ln>
          </p:spPr>
        </p:sp>
        <p:sp>
          <p:nvSpPr>
            <p:cNvPr id="63" name="svg2_51"/>
            <p:cNvSpPr txBox="1"/>
            <p:nvPr/>
          </p:nvSpPr>
          <p:spPr>
            <a:xfrm>
              <a:off x="444764" y="5997732"/>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6%</a:t>
              </a:r>
              <a:endParaRPr lang="en-US" sz="557" dirty="0"/>
            </a:p>
          </p:txBody>
        </p:sp>
        <p:sp>
          <p:nvSpPr>
            <p:cNvPr id="64" name="svg2_52"/>
            <p:cNvSpPr/>
            <p:nvPr/>
          </p:nvSpPr>
          <p:spPr>
            <a:xfrm>
              <a:off x="601858" y="5866790"/>
              <a:ext cx="1904421" cy="0"/>
            </a:xfrm>
            <a:prstGeom prst="line">
              <a:avLst/>
            </a:prstGeom>
            <a:noFill/>
            <a:ln w="4953">
              <a:solidFill>
                <a:srgbClr val="E4E4E4"/>
              </a:solidFill>
              <a:prstDash val="solid"/>
            </a:ln>
          </p:spPr>
        </p:sp>
        <p:sp>
          <p:nvSpPr>
            <p:cNvPr id="65" name="svg2_53"/>
            <p:cNvSpPr txBox="1"/>
            <p:nvPr/>
          </p:nvSpPr>
          <p:spPr>
            <a:xfrm>
              <a:off x="444764" y="5816133"/>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8%</a:t>
              </a:r>
              <a:endParaRPr lang="en-US" sz="557" dirty="0"/>
            </a:p>
          </p:txBody>
        </p:sp>
        <p:sp>
          <p:nvSpPr>
            <p:cNvPr id="66" name="svg2_54"/>
            <p:cNvSpPr/>
            <p:nvPr/>
          </p:nvSpPr>
          <p:spPr>
            <a:xfrm>
              <a:off x="601858" y="5685191"/>
              <a:ext cx="1904421" cy="0"/>
            </a:xfrm>
            <a:prstGeom prst="line">
              <a:avLst/>
            </a:prstGeom>
            <a:noFill/>
            <a:ln w="4953">
              <a:solidFill>
                <a:srgbClr val="E4E4E4"/>
              </a:solidFill>
              <a:prstDash val="solid"/>
            </a:ln>
          </p:spPr>
        </p:sp>
        <p:sp>
          <p:nvSpPr>
            <p:cNvPr id="67" name="svg2_55"/>
            <p:cNvSpPr txBox="1"/>
            <p:nvPr/>
          </p:nvSpPr>
          <p:spPr>
            <a:xfrm>
              <a:off x="404073" y="5634533"/>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10%</a:t>
              </a:r>
              <a:endParaRPr lang="en-US" sz="557" dirty="0"/>
            </a:p>
          </p:txBody>
        </p:sp>
        <p:sp>
          <p:nvSpPr>
            <p:cNvPr id="68" name="svg2_56"/>
            <p:cNvSpPr/>
            <p:nvPr/>
          </p:nvSpPr>
          <p:spPr>
            <a:xfrm>
              <a:off x="601858" y="5503499"/>
              <a:ext cx="1904421" cy="0"/>
            </a:xfrm>
            <a:prstGeom prst="line">
              <a:avLst/>
            </a:prstGeom>
            <a:noFill/>
            <a:ln w="4953">
              <a:solidFill>
                <a:srgbClr val="E4E4E4"/>
              </a:solidFill>
              <a:prstDash val="solid"/>
            </a:ln>
          </p:spPr>
        </p:sp>
        <p:sp>
          <p:nvSpPr>
            <p:cNvPr id="69" name="svg2_57"/>
            <p:cNvSpPr txBox="1"/>
            <p:nvPr/>
          </p:nvSpPr>
          <p:spPr>
            <a:xfrm>
              <a:off x="404073" y="5452842"/>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12%</a:t>
              </a:r>
              <a:endParaRPr lang="en-US" sz="557" dirty="0"/>
            </a:p>
          </p:txBody>
        </p:sp>
        <p:sp>
          <p:nvSpPr>
            <p:cNvPr id="70" name="svg2_58"/>
            <p:cNvSpPr txBox="1"/>
            <p:nvPr/>
          </p:nvSpPr>
          <p:spPr>
            <a:xfrm>
              <a:off x="666689" y="6242243"/>
              <a:ext cx="286664"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8/2025</a:t>
              </a:r>
              <a:endParaRPr lang="en-US" sz="587" dirty="0"/>
            </a:p>
          </p:txBody>
        </p:sp>
        <p:sp>
          <p:nvSpPr>
            <p:cNvPr id="71" name="svg2_59"/>
            <p:cNvSpPr/>
            <p:nvPr/>
          </p:nvSpPr>
          <p:spPr>
            <a:xfrm>
              <a:off x="700888" y="5794187"/>
              <a:ext cx="105156" cy="208849"/>
            </a:xfrm>
            <a:prstGeom prst="rect">
              <a:avLst/>
            </a:prstGeom>
            <a:solidFill>
              <a:srgbClr val="7B1E2B"/>
            </a:solidFill>
            <a:ln/>
          </p:spPr>
        </p:sp>
        <p:sp>
          <p:nvSpPr>
            <p:cNvPr id="72" name="svg2_60"/>
            <p:cNvSpPr/>
            <p:nvPr/>
          </p:nvSpPr>
          <p:spPr>
            <a:xfrm>
              <a:off x="813907" y="6039338"/>
              <a:ext cx="105247" cy="108996"/>
            </a:xfrm>
            <a:prstGeom prst="rect">
              <a:avLst/>
            </a:prstGeom>
            <a:solidFill>
              <a:srgbClr val="A3A3A3"/>
            </a:solidFill>
            <a:ln/>
          </p:spPr>
        </p:sp>
        <p:sp>
          <p:nvSpPr>
            <p:cNvPr id="73" name="svg2_61"/>
            <p:cNvSpPr txBox="1"/>
            <p:nvPr/>
          </p:nvSpPr>
          <p:spPr>
            <a:xfrm>
              <a:off x="1022116" y="6242243"/>
              <a:ext cx="329733"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12/2025</a:t>
              </a:r>
              <a:endParaRPr lang="en-US" sz="587" dirty="0"/>
            </a:p>
          </p:txBody>
        </p:sp>
        <p:sp>
          <p:nvSpPr>
            <p:cNvPr id="74" name="svg2_62"/>
            <p:cNvSpPr/>
            <p:nvPr/>
          </p:nvSpPr>
          <p:spPr>
            <a:xfrm>
              <a:off x="1077712" y="5775990"/>
              <a:ext cx="105247" cy="208849"/>
            </a:xfrm>
            <a:prstGeom prst="rect">
              <a:avLst/>
            </a:prstGeom>
            <a:solidFill>
              <a:srgbClr val="7B1E2B"/>
            </a:solidFill>
            <a:ln/>
          </p:spPr>
        </p:sp>
        <p:sp>
          <p:nvSpPr>
            <p:cNvPr id="75" name="svg2_63"/>
            <p:cNvSpPr/>
            <p:nvPr/>
          </p:nvSpPr>
          <p:spPr>
            <a:xfrm>
              <a:off x="1190915" y="6012089"/>
              <a:ext cx="105156" cy="127193"/>
            </a:xfrm>
            <a:prstGeom prst="rect">
              <a:avLst/>
            </a:prstGeom>
            <a:solidFill>
              <a:srgbClr val="A3A3A3"/>
            </a:solidFill>
            <a:ln/>
          </p:spPr>
        </p:sp>
        <p:sp>
          <p:nvSpPr>
            <p:cNvPr id="76" name="svg2_64"/>
            <p:cNvSpPr txBox="1"/>
            <p:nvPr/>
          </p:nvSpPr>
          <p:spPr>
            <a:xfrm>
              <a:off x="1420612" y="6242243"/>
              <a:ext cx="286664"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3/2026</a:t>
              </a:r>
              <a:endParaRPr lang="en-US" sz="587" dirty="0"/>
            </a:p>
          </p:txBody>
        </p:sp>
        <p:sp>
          <p:nvSpPr>
            <p:cNvPr id="77" name="svg2_65"/>
            <p:cNvSpPr/>
            <p:nvPr/>
          </p:nvSpPr>
          <p:spPr>
            <a:xfrm>
              <a:off x="1454719" y="5712440"/>
              <a:ext cx="105247" cy="208849"/>
            </a:xfrm>
            <a:prstGeom prst="rect">
              <a:avLst/>
            </a:prstGeom>
            <a:solidFill>
              <a:srgbClr val="7B1E2B"/>
            </a:solidFill>
            <a:ln/>
          </p:spPr>
        </p:sp>
        <p:sp>
          <p:nvSpPr>
            <p:cNvPr id="78" name="svg2_66"/>
            <p:cNvSpPr/>
            <p:nvPr/>
          </p:nvSpPr>
          <p:spPr>
            <a:xfrm>
              <a:off x="1567830" y="5975787"/>
              <a:ext cx="105247" cy="118049"/>
            </a:xfrm>
            <a:prstGeom prst="rect">
              <a:avLst/>
            </a:prstGeom>
            <a:solidFill>
              <a:srgbClr val="A3A3A3"/>
            </a:solidFill>
            <a:ln/>
          </p:spPr>
        </p:sp>
        <p:sp>
          <p:nvSpPr>
            <p:cNvPr id="79" name="svg2_67"/>
            <p:cNvSpPr txBox="1"/>
            <p:nvPr/>
          </p:nvSpPr>
          <p:spPr>
            <a:xfrm>
              <a:off x="1797619" y="6242243"/>
              <a:ext cx="286664"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6/2026</a:t>
              </a:r>
              <a:endParaRPr lang="en-US" sz="587" dirty="0"/>
            </a:p>
          </p:txBody>
        </p:sp>
        <p:sp>
          <p:nvSpPr>
            <p:cNvPr id="80" name="svg2_68"/>
            <p:cNvSpPr/>
            <p:nvPr/>
          </p:nvSpPr>
          <p:spPr>
            <a:xfrm>
              <a:off x="1831726" y="5639836"/>
              <a:ext cx="105247" cy="217902"/>
            </a:xfrm>
            <a:prstGeom prst="rect">
              <a:avLst/>
            </a:prstGeom>
            <a:solidFill>
              <a:srgbClr val="7B1E2B"/>
            </a:solidFill>
            <a:ln/>
          </p:spPr>
        </p:sp>
        <p:sp>
          <p:nvSpPr>
            <p:cNvPr id="81" name="svg2_69"/>
            <p:cNvSpPr/>
            <p:nvPr/>
          </p:nvSpPr>
          <p:spPr>
            <a:xfrm>
              <a:off x="1944837" y="5930341"/>
              <a:ext cx="105247" cy="127193"/>
            </a:xfrm>
            <a:prstGeom prst="rect">
              <a:avLst/>
            </a:prstGeom>
            <a:solidFill>
              <a:srgbClr val="A3A3A3"/>
            </a:solidFill>
            <a:ln/>
          </p:spPr>
        </p:sp>
        <p:sp>
          <p:nvSpPr>
            <p:cNvPr id="82" name="svg2_70"/>
            <p:cNvSpPr txBox="1"/>
            <p:nvPr/>
          </p:nvSpPr>
          <p:spPr>
            <a:xfrm>
              <a:off x="2174626" y="6242243"/>
              <a:ext cx="286664"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8/2026</a:t>
              </a:r>
              <a:endParaRPr lang="en-US" sz="587" dirty="0"/>
            </a:p>
          </p:txBody>
        </p:sp>
        <p:sp>
          <p:nvSpPr>
            <p:cNvPr id="83" name="svg2_71"/>
            <p:cNvSpPr/>
            <p:nvPr/>
          </p:nvSpPr>
          <p:spPr>
            <a:xfrm>
              <a:off x="2208642" y="5621640"/>
              <a:ext cx="105247" cy="208758"/>
            </a:xfrm>
            <a:prstGeom prst="rect">
              <a:avLst/>
            </a:prstGeom>
            <a:solidFill>
              <a:srgbClr val="7B1E2B"/>
            </a:solidFill>
            <a:ln/>
          </p:spPr>
        </p:sp>
        <p:sp>
          <p:nvSpPr>
            <p:cNvPr id="84" name="svg2_72"/>
            <p:cNvSpPr txBox="1"/>
            <p:nvPr/>
          </p:nvSpPr>
          <p:spPr>
            <a:xfrm>
              <a:off x="2174260" y="5525536"/>
              <a:ext cx="177485" cy="104790"/>
            </a:xfrm>
            <a:prstGeom prst="rect">
              <a:avLst/>
            </a:prstGeom>
            <a:noFill/>
            <a:ln/>
          </p:spPr>
          <p:txBody>
            <a:bodyPr wrap="none" lIns="0" tIns="0" rIns="0" bIns="0" rtlCol="0" anchor="ctr"/>
            <a:lstStyle/>
            <a:p>
              <a:pPr algn="ctr" indent="0" marL="0">
                <a:buNone/>
              </a:pPr>
              <a:r>
                <a:rPr lang="en-US" sz="526" dirty="0">
                  <a:solidFill>
                    <a:srgbClr val="262626"/>
                  </a:solidFill>
                  <a:latin typeface="Calibri" pitchFamily="34" charset="0"/>
                  <a:ea typeface="Calibri" pitchFamily="34" charset="-122"/>
                  <a:cs typeface="Calibri" pitchFamily="34" charset="-120"/>
                </a:rPr>
                <a:t>10,7</a:t>
              </a:r>
              <a:endParaRPr lang="en-US" sz="526" dirty="0"/>
            </a:p>
          </p:txBody>
        </p:sp>
        <p:sp>
          <p:nvSpPr>
            <p:cNvPr id="85" name="svg2_73"/>
            <p:cNvSpPr txBox="1"/>
            <p:nvPr/>
          </p:nvSpPr>
          <p:spPr>
            <a:xfrm>
              <a:off x="2193554" y="5822991"/>
              <a:ext cx="138989" cy="104790"/>
            </a:xfrm>
            <a:prstGeom prst="rect">
              <a:avLst/>
            </a:prstGeom>
            <a:noFill/>
            <a:ln/>
          </p:spPr>
          <p:txBody>
            <a:bodyPr wrap="none" lIns="0" tIns="0" rIns="0" bIns="0" rtlCol="0" anchor="ctr"/>
            <a:lstStyle/>
            <a:p>
              <a:pPr algn="ctr" indent="0" marL="0">
                <a:buNone/>
              </a:pPr>
              <a:r>
                <a:rPr lang="en-US" sz="526" dirty="0">
                  <a:solidFill>
                    <a:srgbClr val="262626"/>
                  </a:solidFill>
                  <a:latin typeface="Calibri" pitchFamily="34" charset="0"/>
                  <a:ea typeface="Calibri" pitchFamily="34" charset="-122"/>
                  <a:cs typeface="Calibri" pitchFamily="34" charset="-120"/>
                </a:rPr>
                <a:t>8,4</a:t>
              </a:r>
              <a:endParaRPr lang="en-US" sz="526" dirty="0"/>
            </a:p>
          </p:txBody>
        </p:sp>
        <p:sp>
          <p:nvSpPr>
            <p:cNvPr id="86" name="svg2_74"/>
            <p:cNvSpPr/>
            <p:nvPr/>
          </p:nvSpPr>
          <p:spPr>
            <a:xfrm>
              <a:off x="2321844" y="5903092"/>
              <a:ext cx="105247" cy="136246"/>
            </a:xfrm>
            <a:prstGeom prst="rect">
              <a:avLst/>
            </a:prstGeom>
            <a:solidFill>
              <a:srgbClr val="A3A3A3"/>
            </a:solidFill>
            <a:ln/>
          </p:spPr>
        </p:sp>
        <p:sp>
          <p:nvSpPr>
            <p:cNvPr id="87" name="svg2_75"/>
            <p:cNvSpPr txBox="1"/>
            <p:nvPr/>
          </p:nvSpPr>
          <p:spPr>
            <a:xfrm>
              <a:off x="2307397" y="5807263"/>
              <a:ext cx="138989" cy="104790"/>
            </a:xfrm>
            <a:prstGeom prst="rect">
              <a:avLst/>
            </a:prstGeom>
            <a:noFill/>
            <a:ln/>
          </p:spPr>
          <p:txBody>
            <a:bodyPr wrap="none" lIns="0" tIns="0" rIns="0" bIns="0" rtlCol="0" anchor="ctr"/>
            <a:lstStyle/>
            <a:p>
              <a:pPr algn="ctr" indent="0" marL="0">
                <a:buNone/>
              </a:pPr>
              <a:r>
                <a:rPr lang="en-US" sz="526" dirty="0">
                  <a:solidFill>
                    <a:srgbClr val="262626"/>
                  </a:solidFill>
                  <a:latin typeface="Calibri" pitchFamily="34" charset="0"/>
                  <a:ea typeface="Calibri" pitchFamily="34" charset="-122"/>
                  <a:cs typeface="Calibri" pitchFamily="34" charset="-120"/>
                </a:rPr>
                <a:t>7,6</a:t>
              </a:r>
              <a:endParaRPr lang="en-US" sz="526" dirty="0"/>
            </a:p>
          </p:txBody>
        </p:sp>
        <p:sp>
          <p:nvSpPr>
            <p:cNvPr id="88" name="svg2_76"/>
            <p:cNvSpPr txBox="1"/>
            <p:nvPr/>
          </p:nvSpPr>
          <p:spPr>
            <a:xfrm>
              <a:off x="2307397" y="6032114"/>
              <a:ext cx="138989" cy="104790"/>
            </a:xfrm>
            <a:prstGeom prst="rect">
              <a:avLst/>
            </a:prstGeom>
            <a:noFill/>
            <a:ln/>
          </p:spPr>
          <p:txBody>
            <a:bodyPr wrap="none" lIns="0" tIns="0" rIns="0" bIns="0" rtlCol="0" anchor="ctr"/>
            <a:lstStyle/>
            <a:p>
              <a:pPr algn="ctr" indent="0" marL="0">
                <a:buNone/>
              </a:pPr>
              <a:r>
                <a:rPr lang="en-US" sz="526" dirty="0">
                  <a:solidFill>
                    <a:srgbClr val="262626"/>
                  </a:solidFill>
                  <a:latin typeface="Calibri" pitchFamily="34" charset="0"/>
                  <a:ea typeface="Calibri" pitchFamily="34" charset="-122"/>
                  <a:cs typeface="Calibri" pitchFamily="34" charset="-120"/>
                </a:rPr>
                <a:t>6,1</a:t>
              </a:r>
              <a:endParaRPr lang="en-US" sz="526" dirty="0"/>
            </a:p>
          </p:txBody>
        </p:sp>
        <p:sp>
          <p:nvSpPr>
            <p:cNvPr id="89" name="svg2_77"/>
            <p:cNvSpPr/>
            <p:nvPr/>
          </p:nvSpPr>
          <p:spPr>
            <a:xfrm>
              <a:off x="641086" y="6184636"/>
              <a:ext cx="1845534" cy="4755"/>
            </a:xfrm>
            <a:custGeom>
              <a:avLst/>
              <a:gdLst/>
              <a:ahLst/>
              <a:cxnLst/>
              <a:rect l="l" t="t" r="r" b="b"/>
              <a:pathLst>
                <a:path w="1845534" h="4755">
                  <a:moveTo>
                    <a:pt x="0" y="0"/>
                  </a:moveTo>
                  <a:lnTo>
                    <a:pt x="337688" y="0"/>
                  </a:lnTo>
                  <a:lnTo>
                    <a:pt x="377007" y="0"/>
                  </a:lnTo>
                  <a:lnTo>
                    <a:pt x="714695" y="0"/>
                  </a:lnTo>
                  <a:lnTo>
                    <a:pt x="753923" y="0"/>
                  </a:lnTo>
                  <a:lnTo>
                    <a:pt x="1091702" y="0"/>
                  </a:lnTo>
                  <a:lnTo>
                    <a:pt x="1130930" y="0"/>
                  </a:lnTo>
                  <a:lnTo>
                    <a:pt x="1468526" y="0"/>
                  </a:lnTo>
                  <a:lnTo>
                    <a:pt x="1507937" y="0"/>
                  </a:lnTo>
                  <a:lnTo>
                    <a:pt x="1845534" y="0"/>
                  </a:lnTo>
                </a:path>
              </a:pathLst>
            </a:custGeom>
            <a:noFill/>
            <a:ln w="10795">
              <a:solidFill>
                <a:srgbClr val="404040"/>
              </a:solidFill>
              <a:prstDash val="dash"/>
            </a:ln>
          </p:spPr>
        </p:sp>
        <p:sp>
          <p:nvSpPr>
            <p:cNvPr id="90" name="svg2_78"/>
            <p:cNvSpPr/>
            <p:nvPr/>
          </p:nvSpPr>
          <p:spPr>
            <a:xfrm>
              <a:off x="444856" y="5350429"/>
              <a:ext cx="60899" cy="60899"/>
            </a:xfrm>
            <a:prstGeom prst="rect">
              <a:avLst/>
            </a:prstGeom>
            <a:solidFill>
              <a:srgbClr val="7B1E2B"/>
            </a:solidFill>
            <a:ln/>
          </p:spPr>
        </p:sp>
        <p:sp>
          <p:nvSpPr>
            <p:cNvPr id="91" name="svg2_79"/>
            <p:cNvSpPr txBox="1"/>
            <p:nvPr/>
          </p:nvSpPr>
          <p:spPr>
            <a:xfrm>
              <a:off x="528249" y="5329215"/>
              <a:ext cx="81006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Cho vay trung–dài hạn</a:t>
              </a:r>
              <a:endParaRPr lang="en-US" sz="587" dirty="0"/>
            </a:p>
          </p:txBody>
        </p:sp>
        <p:sp>
          <p:nvSpPr>
            <p:cNvPr id="92" name="svg2_80"/>
            <p:cNvSpPr/>
            <p:nvPr/>
          </p:nvSpPr>
          <p:spPr>
            <a:xfrm>
              <a:off x="1352946" y="5350429"/>
              <a:ext cx="60899" cy="60899"/>
            </a:xfrm>
            <a:prstGeom prst="rect">
              <a:avLst/>
            </a:prstGeom>
            <a:solidFill>
              <a:srgbClr val="A3A3A3"/>
            </a:solidFill>
            <a:ln/>
          </p:spPr>
        </p:sp>
        <p:sp>
          <p:nvSpPr>
            <p:cNvPr id="93" name="svg2_81"/>
            <p:cNvSpPr txBox="1"/>
            <p:nvPr/>
          </p:nvSpPr>
          <p:spPr>
            <a:xfrm>
              <a:off x="1436248" y="5329215"/>
              <a:ext cx="560893"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Huy động &gt;12T</a:t>
              </a:r>
              <a:endParaRPr lang="en-US" sz="587" dirty="0"/>
            </a:p>
          </p:txBody>
        </p:sp>
        <p:sp>
          <p:nvSpPr>
            <p:cNvPr id="94" name="svg2_82"/>
            <p:cNvSpPr/>
            <p:nvPr/>
          </p:nvSpPr>
          <p:spPr>
            <a:xfrm>
              <a:off x="1980590" y="5380878"/>
              <a:ext cx="88422" cy="0"/>
            </a:xfrm>
            <a:prstGeom prst="line">
              <a:avLst/>
            </a:prstGeom>
            <a:noFill/>
            <a:ln w="10795">
              <a:solidFill>
                <a:srgbClr val="404040"/>
              </a:solidFill>
              <a:prstDash val="dash"/>
            </a:ln>
          </p:spPr>
        </p:sp>
        <p:sp>
          <p:nvSpPr>
            <p:cNvPr id="95" name="svg2_83"/>
            <p:cNvSpPr txBox="1"/>
            <p:nvPr/>
          </p:nvSpPr>
          <p:spPr>
            <a:xfrm>
              <a:off x="2097999" y="5329215"/>
              <a:ext cx="419344"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Tái cấp vốn</a:t>
              </a:r>
              <a:endParaRPr lang="en-US" sz="587" dirty="0"/>
            </a:p>
          </p:txBody>
        </p:sp>
      </p:grpSp>
      <p:grpSp>
        <p:nvGrpSpPr>
          <p:cNvPr id="174" name="Fig. 20 – biểu đồ"/>
          <p:cNvGrpSpPr/>
          <p:nvPr/>
        </p:nvGrpSpPr>
        <p:grpSpPr>
          <a:xfrm>
            <a:off x="421447" y="6943496"/>
            <a:ext cx="2106504" cy="754746"/>
            <a:chOff x="421447" y="6943496"/>
            <a:chExt cx="2106504" cy="754746"/>
          </a:xfrm>
        </p:grpSpPr>
        <p:sp>
          <p:nvSpPr>
            <p:cNvPr id="96" name="svg3_84"/>
            <p:cNvSpPr/>
            <p:nvPr/>
          </p:nvSpPr>
          <p:spPr>
            <a:xfrm>
              <a:off x="601858" y="7463424"/>
              <a:ext cx="1708099" cy="0"/>
            </a:xfrm>
            <a:prstGeom prst="line">
              <a:avLst/>
            </a:prstGeom>
            <a:noFill/>
            <a:ln w="4953">
              <a:solidFill>
                <a:srgbClr val="E4E4E4"/>
              </a:solidFill>
              <a:prstDash val="solid"/>
            </a:ln>
          </p:spPr>
        </p:sp>
        <p:sp>
          <p:nvSpPr>
            <p:cNvPr id="97" name="svg3_85"/>
            <p:cNvSpPr txBox="1"/>
            <p:nvPr/>
          </p:nvSpPr>
          <p:spPr>
            <a:xfrm>
              <a:off x="421447" y="7412766"/>
              <a:ext cx="163038"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100</a:t>
              </a:r>
              <a:endParaRPr lang="en-US" sz="557" dirty="0"/>
            </a:p>
          </p:txBody>
        </p:sp>
        <p:sp>
          <p:nvSpPr>
            <p:cNvPr id="98" name="svg3_86"/>
            <p:cNvSpPr/>
            <p:nvPr/>
          </p:nvSpPr>
          <p:spPr>
            <a:xfrm>
              <a:off x="601858" y="7316114"/>
              <a:ext cx="1708099" cy="0"/>
            </a:xfrm>
            <a:prstGeom prst="line">
              <a:avLst/>
            </a:prstGeom>
            <a:noFill/>
            <a:ln w="4953">
              <a:solidFill>
                <a:srgbClr val="E4E4E4"/>
              </a:solidFill>
              <a:prstDash val="solid"/>
            </a:ln>
          </p:spPr>
        </p:sp>
        <p:sp>
          <p:nvSpPr>
            <p:cNvPr id="99" name="svg3_87"/>
            <p:cNvSpPr txBox="1"/>
            <p:nvPr/>
          </p:nvSpPr>
          <p:spPr>
            <a:xfrm>
              <a:off x="421447" y="7265457"/>
              <a:ext cx="163038"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105</a:t>
              </a:r>
              <a:endParaRPr lang="en-US" sz="557" dirty="0"/>
            </a:p>
          </p:txBody>
        </p:sp>
        <p:sp>
          <p:nvSpPr>
            <p:cNvPr id="100" name="svg3_88"/>
            <p:cNvSpPr/>
            <p:nvPr/>
          </p:nvSpPr>
          <p:spPr>
            <a:xfrm>
              <a:off x="601858" y="7168896"/>
              <a:ext cx="1708099" cy="0"/>
            </a:xfrm>
            <a:prstGeom prst="line">
              <a:avLst/>
            </a:prstGeom>
            <a:noFill/>
            <a:ln w="4953">
              <a:solidFill>
                <a:srgbClr val="E4E4E4"/>
              </a:solidFill>
              <a:prstDash val="solid"/>
            </a:ln>
          </p:spPr>
        </p:sp>
        <p:sp>
          <p:nvSpPr>
            <p:cNvPr id="101" name="svg3_89"/>
            <p:cNvSpPr txBox="1"/>
            <p:nvPr/>
          </p:nvSpPr>
          <p:spPr>
            <a:xfrm>
              <a:off x="421447" y="7118238"/>
              <a:ext cx="163038"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110</a:t>
              </a:r>
              <a:endParaRPr lang="en-US" sz="557" dirty="0"/>
            </a:p>
          </p:txBody>
        </p:sp>
        <p:sp>
          <p:nvSpPr>
            <p:cNvPr id="102" name="svg3_90"/>
            <p:cNvSpPr/>
            <p:nvPr/>
          </p:nvSpPr>
          <p:spPr>
            <a:xfrm>
              <a:off x="601858" y="7021678"/>
              <a:ext cx="1708099" cy="0"/>
            </a:xfrm>
            <a:prstGeom prst="line">
              <a:avLst/>
            </a:prstGeom>
            <a:noFill/>
            <a:ln w="4953">
              <a:solidFill>
                <a:srgbClr val="E4E4E4"/>
              </a:solidFill>
              <a:prstDash val="solid"/>
            </a:ln>
          </p:spPr>
        </p:sp>
        <p:sp>
          <p:nvSpPr>
            <p:cNvPr id="103" name="svg3_91"/>
            <p:cNvSpPr txBox="1"/>
            <p:nvPr/>
          </p:nvSpPr>
          <p:spPr>
            <a:xfrm>
              <a:off x="421447" y="6970928"/>
              <a:ext cx="163038"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115</a:t>
              </a:r>
              <a:endParaRPr lang="en-US" sz="557" dirty="0"/>
            </a:p>
          </p:txBody>
        </p:sp>
        <p:sp>
          <p:nvSpPr>
            <p:cNvPr id="104" name="svg3_92"/>
            <p:cNvSpPr txBox="1"/>
            <p:nvPr/>
          </p:nvSpPr>
          <p:spPr>
            <a:xfrm>
              <a:off x="499720" y="7593452"/>
              <a:ext cx="243688"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12/22</a:t>
              </a:r>
              <a:endParaRPr lang="en-US" sz="587" dirty="0"/>
            </a:p>
          </p:txBody>
        </p:sp>
        <p:sp>
          <p:nvSpPr>
            <p:cNvPr id="105" name="svg3_93"/>
            <p:cNvSpPr txBox="1"/>
            <p:nvPr/>
          </p:nvSpPr>
          <p:spPr>
            <a:xfrm>
              <a:off x="917052" y="7593452"/>
              <a:ext cx="243688"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12/23</a:t>
              </a:r>
              <a:endParaRPr lang="en-US" sz="587" dirty="0"/>
            </a:p>
          </p:txBody>
        </p:sp>
        <p:sp>
          <p:nvSpPr>
            <p:cNvPr id="106" name="svg3_94"/>
            <p:cNvSpPr txBox="1"/>
            <p:nvPr/>
          </p:nvSpPr>
          <p:spPr>
            <a:xfrm>
              <a:off x="1334201" y="7593452"/>
              <a:ext cx="243688"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12/24</a:t>
              </a:r>
              <a:endParaRPr lang="en-US" sz="587" dirty="0"/>
            </a:p>
          </p:txBody>
        </p:sp>
        <p:sp>
          <p:nvSpPr>
            <p:cNvPr id="107" name="svg3_95"/>
            <p:cNvSpPr txBox="1"/>
            <p:nvPr/>
          </p:nvSpPr>
          <p:spPr>
            <a:xfrm>
              <a:off x="1751442" y="7593452"/>
              <a:ext cx="243688"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12/25</a:t>
              </a:r>
              <a:endParaRPr lang="en-US" sz="587" dirty="0"/>
            </a:p>
          </p:txBody>
        </p:sp>
        <p:sp>
          <p:nvSpPr>
            <p:cNvPr id="108" name="svg3_96"/>
            <p:cNvSpPr txBox="1"/>
            <p:nvPr/>
          </p:nvSpPr>
          <p:spPr>
            <a:xfrm>
              <a:off x="2130735" y="7593452"/>
              <a:ext cx="319583"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29/9/26</a:t>
              </a:r>
              <a:endParaRPr lang="en-US" sz="587" dirty="0"/>
            </a:p>
          </p:txBody>
        </p:sp>
        <p:sp>
          <p:nvSpPr>
            <p:cNvPr id="109" name="svg3_97"/>
            <p:cNvSpPr/>
            <p:nvPr/>
          </p:nvSpPr>
          <p:spPr>
            <a:xfrm>
              <a:off x="621518" y="7058619"/>
              <a:ext cx="1668871" cy="404805"/>
            </a:xfrm>
            <a:custGeom>
              <a:avLst/>
              <a:gdLst/>
              <a:ahLst/>
              <a:cxnLst/>
              <a:rect l="l" t="t" r="r" b="b"/>
              <a:pathLst>
                <a:path w="1668871" h="404805">
                  <a:moveTo>
                    <a:pt x="0" y="404805"/>
                  </a:moveTo>
                  <a:lnTo>
                    <a:pt x="417149" y="383316"/>
                  </a:lnTo>
                  <a:lnTo>
                    <a:pt x="834390" y="329550"/>
                  </a:lnTo>
                  <a:lnTo>
                    <a:pt x="1251722" y="95463"/>
                  </a:lnTo>
                  <a:lnTo>
                    <a:pt x="1668871" y="0"/>
                  </a:lnTo>
                </a:path>
              </a:pathLst>
            </a:custGeom>
            <a:noFill/>
            <a:ln w="15748">
              <a:solidFill>
                <a:srgbClr val="7B1E2B"/>
              </a:solidFill>
              <a:prstDash val="solid"/>
            </a:ln>
          </p:spPr>
        </p:sp>
        <p:sp>
          <p:nvSpPr>
            <p:cNvPr id="110" name="svg3_98"/>
            <p:cNvSpPr/>
            <p:nvPr/>
          </p:nvSpPr>
          <p:spPr>
            <a:xfrm>
              <a:off x="600944" y="7442850"/>
              <a:ext cx="41239" cy="41239"/>
            </a:xfrm>
            <a:prstGeom prst="ellipse">
              <a:avLst/>
            </a:prstGeom>
            <a:solidFill>
              <a:srgbClr val="7B1E2B"/>
            </a:solidFill>
            <a:ln w="7874">
              <a:solidFill>
                <a:srgbClr val="FFFFFF"/>
              </a:solidFill>
              <a:prstDash val="solid"/>
            </a:ln>
          </p:spPr>
        </p:sp>
        <p:sp>
          <p:nvSpPr>
            <p:cNvPr id="111" name="svg3_99"/>
            <p:cNvSpPr/>
            <p:nvPr/>
          </p:nvSpPr>
          <p:spPr>
            <a:xfrm>
              <a:off x="1018093" y="7421270"/>
              <a:ext cx="41239" cy="41239"/>
            </a:xfrm>
            <a:prstGeom prst="ellipse">
              <a:avLst/>
            </a:prstGeom>
            <a:solidFill>
              <a:srgbClr val="7B1E2B"/>
            </a:solidFill>
            <a:ln w="7874">
              <a:solidFill>
                <a:srgbClr val="FFFFFF"/>
              </a:solidFill>
              <a:prstDash val="solid"/>
            </a:ln>
          </p:spPr>
        </p:sp>
        <p:sp>
          <p:nvSpPr>
            <p:cNvPr id="112" name="svg3_100"/>
            <p:cNvSpPr/>
            <p:nvPr/>
          </p:nvSpPr>
          <p:spPr>
            <a:xfrm>
              <a:off x="1435334" y="7367595"/>
              <a:ext cx="41239" cy="41239"/>
            </a:xfrm>
            <a:prstGeom prst="ellipse">
              <a:avLst/>
            </a:prstGeom>
            <a:solidFill>
              <a:srgbClr val="7B1E2B"/>
            </a:solidFill>
            <a:ln w="7874">
              <a:solidFill>
                <a:srgbClr val="FFFFFF"/>
              </a:solidFill>
              <a:prstDash val="solid"/>
            </a:ln>
          </p:spPr>
        </p:sp>
        <p:sp>
          <p:nvSpPr>
            <p:cNvPr id="113" name="svg3_101"/>
            <p:cNvSpPr/>
            <p:nvPr/>
          </p:nvSpPr>
          <p:spPr>
            <a:xfrm>
              <a:off x="1852574" y="7133417"/>
              <a:ext cx="41239" cy="41239"/>
            </a:xfrm>
            <a:prstGeom prst="ellipse">
              <a:avLst/>
            </a:prstGeom>
            <a:solidFill>
              <a:srgbClr val="7B1E2B"/>
            </a:solidFill>
            <a:ln w="7874">
              <a:solidFill>
                <a:srgbClr val="FFFFFF"/>
              </a:solidFill>
              <a:prstDash val="solid"/>
            </a:ln>
          </p:spPr>
        </p:sp>
        <p:sp>
          <p:nvSpPr>
            <p:cNvPr id="114" name="svg3_102"/>
            <p:cNvSpPr/>
            <p:nvPr/>
          </p:nvSpPr>
          <p:spPr>
            <a:xfrm>
              <a:off x="2269815" y="7038045"/>
              <a:ext cx="41239" cy="41239"/>
            </a:xfrm>
            <a:prstGeom prst="ellipse">
              <a:avLst/>
            </a:prstGeom>
            <a:solidFill>
              <a:srgbClr val="7B1E2B"/>
            </a:solidFill>
            <a:ln w="7874">
              <a:solidFill>
                <a:srgbClr val="FFFFFF"/>
              </a:solidFill>
              <a:prstDash val="solid"/>
            </a:ln>
          </p:spPr>
        </p:sp>
        <p:sp>
          <p:nvSpPr>
            <p:cNvPr id="115" name="svg3_103"/>
            <p:cNvSpPr txBox="1"/>
            <p:nvPr/>
          </p:nvSpPr>
          <p:spPr>
            <a:xfrm>
              <a:off x="2144359" y="6943496"/>
              <a:ext cx="163038" cy="104790"/>
            </a:xfrm>
            <a:prstGeom prst="rect">
              <a:avLst/>
            </a:prstGeom>
            <a:noFill/>
            <a:ln/>
          </p:spPr>
          <p:txBody>
            <a:bodyPr wrap="none" lIns="0" tIns="0" rIns="0" bIns="0" rtlCol="0" anchor="ctr"/>
            <a:lstStyle/>
            <a:p>
              <a:pPr algn="r" indent="0" marL="0">
                <a:buNone/>
              </a:pPr>
              <a:r>
                <a:rPr lang="en-US" sz="557" dirty="0">
                  <a:solidFill>
                    <a:srgbClr val="262626"/>
                  </a:solidFill>
                  <a:latin typeface="Calibri" pitchFamily="34" charset="0"/>
                  <a:ea typeface="Calibri" pitchFamily="34" charset="-122"/>
                  <a:cs typeface="Calibri" pitchFamily="34" charset="-120"/>
                </a:rPr>
                <a:t>114</a:t>
              </a:r>
              <a:endParaRPr lang="en-US" sz="557" dirty="0"/>
            </a:p>
          </p:txBody>
        </p:sp>
        <p:sp>
          <p:nvSpPr>
            <p:cNvPr id="116" name="svg3_104"/>
            <p:cNvSpPr/>
            <p:nvPr/>
          </p:nvSpPr>
          <p:spPr>
            <a:xfrm>
              <a:off x="621518" y="7134880"/>
              <a:ext cx="1668871" cy="328544"/>
            </a:xfrm>
            <a:custGeom>
              <a:avLst/>
              <a:gdLst/>
              <a:ahLst/>
              <a:cxnLst/>
              <a:rect l="l" t="t" r="r" b="b"/>
              <a:pathLst>
                <a:path w="1668871" h="328544">
                  <a:moveTo>
                    <a:pt x="0" y="328544"/>
                  </a:moveTo>
                  <a:lnTo>
                    <a:pt x="417149" y="242865"/>
                  </a:lnTo>
                  <a:lnTo>
                    <a:pt x="834390" y="102596"/>
                  </a:lnTo>
                  <a:lnTo>
                    <a:pt x="1251722" y="0"/>
                  </a:lnTo>
                  <a:lnTo>
                    <a:pt x="1668871" y="25603"/>
                  </a:lnTo>
                </a:path>
              </a:pathLst>
            </a:custGeom>
            <a:noFill/>
            <a:ln w="15748">
              <a:solidFill>
                <a:srgbClr val="A3A3A3"/>
              </a:solidFill>
              <a:prstDash val="solid"/>
            </a:ln>
          </p:spPr>
        </p:sp>
        <p:sp>
          <p:nvSpPr>
            <p:cNvPr id="117" name="svg3_105"/>
            <p:cNvSpPr/>
            <p:nvPr/>
          </p:nvSpPr>
          <p:spPr>
            <a:xfrm>
              <a:off x="600944" y="7442850"/>
              <a:ext cx="41239" cy="41239"/>
            </a:xfrm>
            <a:prstGeom prst="ellipse">
              <a:avLst/>
            </a:prstGeom>
            <a:solidFill>
              <a:srgbClr val="A3A3A3"/>
            </a:solidFill>
            <a:ln w="7874">
              <a:solidFill>
                <a:srgbClr val="FFFFFF"/>
              </a:solidFill>
              <a:prstDash val="solid"/>
            </a:ln>
          </p:spPr>
        </p:sp>
        <p:sp>
          <p:nvSpPr>
            <p:cNvPr id="118" name="svg3_106"/>
            <p:cNvSpPr/>
            <p:nvPr/>
          </p:nvSpPr>
          <p:spPr>
            <a:xfrm>
              <a:off x="1018093" y="7357171"/>
              <a:ext cx="41239" cy="41239"/>
            </a:xfrm>
            <a:prstGeom prst="ellipse">
              <a:avLst/>
            </a:prstGeom>
            <a:solidFill>
              <a:srgbClr val="A3A3A3"/>
            </a:solidFill>
            <a:ln w="7874">
              <a:solidFill>
                <a:srgbClr val="FFFFFF"/>
              </a:solidFill>
              <a:prstDash val="solid"/>
            </a:ln>
          </p:spPr>
        </p:sp>
        <p:sp>
          <p:nvSpPr>
            <p:cNvPr id="119" name="svg3_107"/>
            <p:cNvSpPr/>
            <p:nvPr/>
          </p:nvSpPr>
          <p:spPr>
            <a:xfrm>
              <a:off x="1435334" y="7216902"/>
              <a:ext cx="41239" cy="41239"/>
            </a:xfrm>
            <a:prstGeom prst="ellipse">
              <a:avLst/>
            </a:prstGeom>
            <a:solidFill>
              <a:srgbClr val="A3A3A3"/>
            </a:solidFill>
            <a:ln w="7874">
              <a:solidFill>
                <a:srgbClr val="FFFFFF"/>
              </a:solidFill>
              <a:prstDash val="solid"/>
            </a:ln>
          </p:spPr>
        </p:sp>
        <p:sp>
          <p:nvSpPr>
            <p:cNvPr id="120" name="svg3_108"/>
            <p:cNvSpPr/>
            <p:nvPr/>
          </p:nvSpPr>
          <p:spPr>
            <a:xfrm>
              <a:off x="1852574" y="7114306"/>
              <a:ext cx="41239" cy="41239"/>
            </a:xfrm>
            <a:prstGeom prst="ellipse">
              <a:avLst/>
            </a:prstGeom>
            <a:solidFill>
              <a:srgbClr val="A3A3A3"/>
            </a:solidFill>
            <a:ln w="7874">
              <a:solidFill>
                <a:srgbClr val="FFFFFF"/>
              </a:solidFill>
              <a:prstDash val="solid"/>
            </a:ln>
          </p:spPr>
        </p:sp>
        <p:sp>
          <p:nvSpPr>
            <p:cNvPr id="121" name="svg3_109"/>
            <p:cNvSpPr/>
            <p:nvPr/>
          </p:nvSpPr>
          <p:spPr>
            <a:xfrm>
              <a:off x="2269815" y="7139910"/>
              <a:ext cx="41239" cy="41239"/>
            </a:xfrm>
            <a:prstGeom prst="ellipse">
              <a:avLst/>
            </a:prstGeom>
            <a:solidFill>
              <a:srgbClr val="A3A3A3"/>
            </a:solidFill>
            <a:ln w="7874">
              <a:solidFill>
                <a:srgbClr val="FFFFFF"/>
              </a:solidFill>
              <a:prstDash val="solid"/>
            </a:ln>
          </p:spPr>
        </p:sp>
        <p:sp>
          <p:nvSpPr>
            <p:cNvPr id="122" name="svg3_110"/>
            <p:cNvSpPr txBox="1"/>
            <p:nvPr/>
          </p:nvSpPr>
          <p:spPr>
            <a:xfrm>
              <a:off x="1792773" y="7019026"/>
              <a:ext cx="163038"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111</a:t>
              </a:r>
              <a:endParaRPr lang="en-US" sz="557" dirty="0"/>
            </a:p>
          </p:txBody>
        </p:sp>
        <p:sp>
          <p:nvSpPr>
            <p:cNvPr id="123" name="svg3_111"/>
            <p:cNvSpPr txBox="1"/>
            <p:nvPr/>
          </p:nvSpPr>
          <p:spPr>
            <a:xfrm>
              <a:off x="2144359" y="7178131"/>
              <a:ext cx="163038" cy="104790"/>
            </a:xfrm>
            <a:prstGeom prst="rect">
              <a:avLst/>
            </a:prstGeom>
            <a:noFill/>
            <a:ln/>
          </p:spPr>
          <p:txBody>
            <a:bodyPr wrap="none" lIns="0" tIns="0" rIns="0" bIns="0" rtlCol="0" anchor="ctr"/>
            <a:lstStyle/>
            <a:p>
              <a:pPr algn="r" indent="0" marL="0">
                <a:buNone/>
              </a:pPr>
              <a:r>
                <a:rPr lang="en-US" sz="557" dirty="0">
                  <a:solidFill>
                    <a:srgbClr val="262626"/>
                  </a:solidFill>
                  <a:latin typeface="Calibri" pitchFamily="34" charset="0"/>
                  <a:ea typeface="Calibri" pitchFamily="34" charset="-122"/>
                  <a:cs typeface="Calibri" pitchFamily="34" charset="-120"/>
                </a:rPr>
                <a:t>110</a:t>
              </a:r>
              <a:endParaRPr lang="en-US" sz="557" dirty="0"/>
            </a:p>
          </p:txBody>
        </p:sp>
        <p:sp>
          <p:nvSpPr>
            <p:cNvPr id="124" name="svg3_112"/>
            <p:cNvSpPr txBox="1"/>
            <p:nvPr/>
          </p:nvSpPr>
          <p:spPr>
            <a:xfrm>
              <a:off x="2334555" y="7010248"/>
              <a:ext cx="193396" cy="104790"/>
            </a:xfrm>
            <a:prstGeom prst="rect">
              <a:avLst/>
            </a:prstGeom>
            <a:noFill/>
            <a:ln/>
          </p:spPr>
          <p:txBody>
            <a:bodyPr wrap="none" lIns="0" tIns="0" rIns="0" bIns="0" rtlCol="0" anchor="ctr"/>
            <a:lstStyle/>
            <a:p>
              <a:pPr algn="l" indent="0" marL="0">
                <a:buNone/>
              </a:pPr>
              <a:r>
                <a:rPr lang="en-US" sz="587" b="1" dirty="0">
                  <a:solidFill>
                    <a:srgbClr val="7B1E2B"/>
                  </a:solidFill>
                  <a:latin typeface="Calibri" pitchFamily="34" charset="0"/>
                  <a:ea typeface="Calibri" pitchFamily="34" charset="-122"/>
                  <a:cs typeface="Calibri" pitchFamily="34" charset="-120"/>
                </a:rPr>
                <a:t>CNY</a:t>
              </a:r>
              <a:endParaRPr lang="en-US" sz="587" dirty="0"/>
            </a:p>
          </p:txBody>
        </p:sp>
        <p:sp>
          <p:nvSpPr>
            <p:cNvPr id="125" name="svg3_113"/>
            <p:cNvSpPr txBox="1"/>
            <p:nvPr/>
          </p:nvSpPr>
          <p:spPr>
            <a:xfrm>
              <a:off x="2334555" y="7112295"/>
              <a:ext cx="188092" cy="104790"/>
            </a:xfrm>
            <a:prstGeom prst="rect">
              <a:avLst/>
            </a:prstGeom>
            <a:noFill/>
            <a:ln/>
          </p:spPr>
          <p:txBody>
            <a:bodyPr wrap="none" lIns="0" tIns="0" rIns="0" bIns="0" rtlCol="0" anchor="ctr"/>
            <a:lstStyle/>
            <a:p>
              <a:pPr algn="l" indent="0" marL="0">
                <a:buNone/>
              </a:pPr>
              <a:r>
                <a:rPr lang="en-US" sz="587" b="1" dirty="0">
                  <a:solidFill>
                    <a:srgbClr val="666666"/>
                  </a:solidFill>
                  <a:latin typeface="Calibri" pitchFamily="34" charset="0"/>
                  <a:ea typeface="Calibri" pitchFamily="34" charset="-122"/>
                  <a:cs typeface="Calibri" pitchFamily="34" charset="-120"/>
                </a:rPr>
                <a:t>USD</a:t>
              </a:r>
              <a:endParaRPr lang="en-US" sz="587" dirty="0"/>
            </a:p>
          </p:txBody>
        </p:sp>
      </p:grpSp>
      <p:grpSp>
        <p:nvGrpSpPr>
          <p:cNvPr id="175" name="Fig. 21 – biểu đồ"/>
          <p:cNvGrpSpPr/>
          <p:nvPr/>
        </p:nvGrpSpPr>
        <p:grpSpPr>
          <a:xfrm>
            <a:off x="393009" y="8172176"/>
            <a:ext cx="2185782" cy="829086"/>
            <a:chOff x="393009" y="8172176"/>
            <a:chExt cx="2185782" cy="829086"/>
          </a:xfrm>
        </p:grpSpPr>
        <p:sp>
          <p:nvSpPr>
            <p:cNvPr id="126" name="svg4_114"/>
            <p:cNvSpPr/>
            <p:nvPr/>
          </p:nvSpPr>
          <p:spPr>
            <a:xfrm>
              <a:off x="523860" y="8281538"/>
              <a:ext cx="258135" cy="530078"/>
            </a:xfrm>
            <a:prstGeom prst="rect">
              <a:avLst/>
            </a:prstGeom>
            <a:solidFill>
              <a:srgbClr val="A3A3A3"/>
            </a:solidFill>
            <a:ln/>
          </p:spPr>
        </p:sp>
        <p:sp>
          <p:nvSpPr>
            <p:cNvPr id="127" name="svg4_115"/>
            <p:cNvSpPr txBox="1"/>
            <p:nvPr/>
          </p:nvSpPr>
          <p:spPr>
            <a:xfrm>
              <a:off x="526420" y="8172176"/>
              <a:ext cx="25877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1.400</a:t>
              </a:r>
              <a:endParaRPr lang="en-US" sz="649" dirty="0"/>
            </a:p>
          </p:txBody>
        </p:sp>
        <p:sp>
          <p:nvSpPr>
            <p:cNvPr id="128" name="svg4_116"/>
            <p:cNvSpPr txBox="1"/>
            <p:nvPr/>
          </p:nvSpPr>
          <p:spPr>
            <a:xfrm>
              <a:off x="547634" y="8825789"/>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2021</a:t>
              </a:r>
              <a:endParaRPr lang="en-US" sz="587" dirty="0"/>
            </a:p>
          </p:txBody>
        </p:sp>
        <p:sp>
          <p:nvSpPr>
            <p:cNvPr id="129" name="svg4_117"/>
            <p:cNvSpPr txBox="1"/>
            <p:nvPr/>
          </p:nvSpPr>
          <p:spPr>
            <a:xfrm>
              <a:off x="393009" y="8896472"/>
              <a:ext cx="520751"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165 thương vụ</a:t>
              </a:r>
              <a:endParaRPr lang="en-US" sz="557" dirty="0"/>
            </a:p>
          </p:txBody>
        </p:sp>
        <p:sp>
          <p:nvSpPr>
            <p:cNvPr id="130" name="svg4_118"/>
            <p:cNvSpPr/>
            <p:nvPr/>
          </p:nvSpPr>
          <p:spPr>
            <a:xfrm>
              <a:off x="940095" y="8571586"/>
              <a:ext cx="258135" cy="240030"/>
            </a:xfrm>
            <a:prstGeom prst="rect">
              <a:avLst/>
            </a:prstGeom>
            <a:solidFill>
              <a:srgbClr val="A3A3A3"/>
            </a:solidFill>
            <a:ln/>
          </p:spPr>
        </p:sp>
        <p:sp>
          <p:nvSpPr>
            <p:cNvPr id="131" name="svg4_119"/>
            <p:cNvSpPr txBox="1"/>
            <p:nvPr/>
          </p:nvSpPr>
          <p:spPr>
            <a:xfrm>
              <a:off x="978317" y="8461858"/>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634</a:t>
              </a:r>
              <a:endParaRPr lang="en-US" sz="649" dirty="0"/>
            </a:p>
          </p:txBody>
        </p:sp>
        <p:sp>
          <p:nvSpPr>
            <p:cNvPr id="132" name="svg4_120"/>
            <p:cNvSpPr txBox="1"/>
            <p:nvPr/>
          </p:nvSpPr>
          <p:spPr>
            <a:xfrm>
              <a:off x="963869" y="8825789"/>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2022</a:t>
              </a:r>
              <a:endParaRPr lang="en-US" sz="587" dirty="0"/>
            </a:p>
          </p:txBody>
        </p:sp>
        <p:sp>
          <p:nvSpPr>
            <p:cNvPr id="133" name="svg4_121"/>
            <p:cNvSpPr txBox="1"/>
            <p:nvPr/>
          </p:nvSpPr>
          <p:spPr>
            <a:xfrm>
              <a:off x="988741" y="8896472"/>
              <a:ext cx="163038"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134</a:t>
              </a:r>
              <a:endParaRPr lang="en-US" sz="557" dirty="0"/>
            </a:p>
          </p:txBody>
        </p:sp>
        <p:sp>
          <p:nvSpPr>
            <p:cNvPr id="134" name="svg4_122"/>
            <p:cNvSpPr/>
            <p:nvPr/>
          </p:nvSpPr>
          <p:spPr>
            <a:xfrm>
              <a:off x="1356330" y="8611362"/>
              <a:ext cx="258135" cy="200254"/>
            </a:xfrm>
            <a:prstGeom prst="rect">
              <a:avLst/>
            </a:prstGeom>
            <a:solidFill>
              <a:srgbClr val="A3A3A3"/>
            </a:solidFill>
            <a:ln/>
          </p:spPr>
        </p:sp>
        <p:sp>
          <p:nvSpPr>
            <p:cNvPr id="135" name="svg4_123"/>
            <p:cNvSpPr txBox="1"/>
            <p:nvPr/>
          </p:nvSpPr>
          <p:spPr>
            <a:xfrm>
              <a:off x="1394643" y="8502000"/>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529</a:t>
              </a:r>
              <a:endParaRPr lang="en-US" sz="649" dirty="0"/>
            </a:p>
          </p:txBody>
        </p:sp>
        <p:sp>
          <p:nvSpPr>
            <p:cNvPr id="136" name="svg4_124"/>
            <p:cNvSpPr txBox="1"/>
            <p:nvPr/>
          </p:nvSpPr>
          <p:spPr>
            <a:xfrm>
              <a:off x="1380104" y="8825789"/>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2023</a:t>
              </a:r>
              <a:endParaRPr lang="en-US" sz="587" dirty="0"/>
            </a:p>
          </p:txBody>
        </p:sp>
        <p:sp>
          <p:nvSpPr>
            <p:cNvPr id="137" name="svg4_125"/>
            <p:cNvSpPr txBox="1"/>
            <p:nvPr/>
          </p:nvSpPr>
          <p:spPr>
            <a:xfrm>
              <a:off x="1404976" y="8896472"/>
              <a:ext cx="163038"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122</a:t>
              </a:r>
              <a:endParaRPr lang="en-US" sz="557" dirty="0"/>
            </a:p>
          </p:txBody>
        </p:sp>
        <p:sp>
          <p:nvSpPr>
            <p:cNvPr id="138" name="svg4_126"/>
            <p:cNvSpPr/>
            <p:nvPr/>
          </p:nvSpPr>
          <p:spPr>
            <a:xfrm>
              <a:off x="1772564" y="8660922"/>
              <a:ext cx="258135" cy="150693"/>
            </a:xfrm>
            <a:prstGeom prst="rect">
              <a:avLst/>
            </a:prstGeom>
            <a:solidFill>
              <a:srgbClr val="A3A3A3"/>
            </a:solidFill>
            <a:ln/>
          </p:spPr>
        </p:sp>
        <p:sp>
          <p:nvSpPr>
            <p:cNvPr id="139" name="svg4_127"/>
            <p:cNvSpPr txBox="1"/>
            <p:nvPr/>
          </p:nvSpPr>
          <p:spPr>
            <a:xfrm>
              <a:off x="1810878" y="8551194"/>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398</a:t>
              </a:r>
              <a:endParaRPr lang="en-US" sz="649" dirty="0"/>
            </a:p>
          </p:txBody>
        </p:sp>
        <p:sp>
          <p:nvSpPr>
            <p:cNvPr id="140" name="svg4_128"/>
            <p:cNvSpPr txBox="1"/>
            <p:nvPr/>
          </p:nvSpPr>
          <p:spPr>
            <a:xfrm>
              <a:off x="1796430" y="8825789"/>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2024</a:t>
              </a:r>
              <a:endParaRPr lang="en-US" sz="587" dirty="0"/>
            </a:p>
          </p:txBody>
        </p:sp>
        <p:sp>
          <p:nvSpPr>
            <p:cNvPr id="141" name="svg4_129"/>
            <p:cNvSpPr txBox="1"/>
            <p:nvPr/>
          </p:nvSpPr>
          <p:spPr>
            <a:xfrm>
              <a:off x="1821210" y="8896472"/>
              <a:ext cx="163038"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118</a:t>
              </a:r>
              <a:endParaRPr lang="en-US" sz="557" dirty="0"/>
            </a:p>
          </p:txBody>
        </p:sp>
        <p:sp>
          <p:nvSpPr>
            <p:cNvPr id="142" name="svg4_130"/>
            <p:cNvSpPr/>
            <p:nvPr/>
          </p:nvSpPr>
          <p:spPr>
            <a:xfrm>
              <a:off x="2188891" y="8618860"/>
              <a:ext cx="258135" cy="192664"/>
            </a:xfrm>
            <a:prstGeom prst="rect">
              <a:avLst/>
            </a:prstGeom>
            <a:solidFill>
              <a:srgbClr val="7B1E2B"/>
            </a:solidFill>
            <a:ln/>
          </p:spPr>
        </p:sp>
        <p:sp>
          <p:nvSpPr>
            <p:cNvPr id="143" name="svg4_131"/>
            <p:cNvSpPr txBox="1"/>
            <p:nvPr/>
          </p:nvSpPr>
          <p:spPr>
            <a:xfrm>
              <a:off x="2227113" y="8509955"/>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509</a:t>
              </a:r>
              <a:endParaRPr lang="en-US" sz="649" dirty="0"/>
            </a:p>
          </p:txBody>
        </p:sp>
        <p:sp>
          <p:nvSpPr>
            <p:cNvPr id="144" name="svg4_132"/>
            <p:cNvSpPr txBox="1"/>
            <p:nvPr/>
          </p:nvSpPr>
          <p:spPr>
            <a:xfrm>
              <a:off x="2212665" y="8825789"/>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t>
              </a:r>
              <a:endParaRPr lang="en-US" sz="587" dirty="0"/>
            </a:p>
          </p:txBody>
        </p:sp>
        <p:sp>
          <p:nvSpPr>
            <p:cNvPr id="145" name="svg4_133"/>
            <p:cNvSpPr txBox="1"/>
            <p:nvPr/>
          </p:nvSpPr>
          <p:spPr>
            <a:xfrm>
              <a:off x="2058040" y="8896472"/>
              <a:ext cx="520751"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103 thương vụ</a:t>
              </a:r>
              <a:endParaRPr lang="en-US" sz="557" dirty="0"/>
            </a:p>
          </p:txBody>
        </p:sp>
        <p:sp>
          <p:nvSpPr>
            <p:cNvPr id="146" name="svg4_134"/>
            <p:cNvSpPr/>
            <p:nvPr/>
          </p:nvSpPr>
          <p:spPr>
            <a:xfrm>
              <a:off x="444764" y="8811616"/>
              <a:ext cx="2081266" cy="0"/>
            </a:xfrm>
            <a:prstGeom prst="line">
              <a:avLst/>
            </a:prstGeom>
            <a:noFill/>
            <a:ln w="6858">
              <a:solidFill>
                <a:srgbClr val="8C8C8C"/>
              </a:solidFill>
              <a:prstDash val="solid"/>
            </a:ln>
          </p:spPr>
        </p:sp>
      </p:grpSp>
      <p:sp>
        <p:nvSpPr>
          <p:cNvPr id="147" name="Text 144"/>
          <p:cNvSpPr txBox="1"/>
          <p:nvPr/>
        </p:nvSpPr>
        <p:spPr>
          <a:xfrm>
            <a:off x="405354" y="315559"/>
            <a:ext cx="1873148" cy="119238"/>
          </a:xfrm>
          <a:prstGeom prst="rect">
            <a:avLst/>
          </a:prstGeom>
          <a:noFill/>
          <a:ln/>
        </p:spPr>
        <p:txBody>
          <a:bodyPr wrap="none" lIns="0" tIns="0" rIns="0" bIns="0" rtlCol="0" anchor="t"/>
          <a:lstStyle/>
          <a:p>
            <a:pPr algn="l" indent="0" marL="0">
              <a:lnSpc>
                <a:spcPts val="864"/>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 | Định giá &amp; đề xuất gọi vốn Series A</a:t>
            </a:r>
            <a:endParaRPr lang="en-US" sz="680" dirty="0"/>
          </a:p>
        </p:txBody>
      </p:sp>
      <p:sp>
        <p:nvSpPr>
          <p:cNvPr id="148" name="Text 145"/>
          <p:cNvSpPr txBox="1"/>
          <p:nvPr/>
        </p:nvSpPr>
        <p:spPr>
          <a:xfrm>
            <a:off x="6056346" y="325161"/>
            <a:ext cx="1163940" cy="109545"/>
          </a:xfrm>
          <a:prstGeom prst="rect">
            <a:avLst/>
          </a:prstGeom>
          <a:noFill/>
          <a:ln/>
        </p:spPr>
        <p:txBody>
          <a:bodyPr wrap="none" lIns="0" tIns="0" rIns="0" bIns="0" rtlCol="0" anchor="t"/>
          <a:lstStyle/>
          <a:p>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Báo cáo phân tích · 29/09/2026</a:t>
            </a:r>
            <a:endParaRPr lang="en-US" sz="680" dirty="0"/>
          </a:p>
        </p:txBody>
      </p:sp>
      <p:sp>
        <p:nvSpPr>
          <p:cNvPr id="149" name="Text 146"/>
          <p:cNvSpPr txBox="1"/>
          <p:nvPr/>
        </p:nvSpPr>
        <p:spPr>
          <a:xfrm>
            <a:off x="405354" y="593994"/>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Bảng xác định giai đoạn phát triển: tiêu chí, quan sát 2023–2025 và hàm ý</a:t>
            </a:r>
            <a:endParaRPr lang="en-US" sz="720" dirty="0"/>
          </a:p>
        </p:txBody>
      </p:sp>
      <p:sp>
        <p:nvSpPr>
          <p:cNvPr id="150" name="Text 147"/>
          <p:cNvSpPr txBox="1"/>
          <p:nvPr/>
        </p:nvSpPr>
        <p:spPr>
          <a:xfrm>
            <a:off x="405354" y="1998421"/>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IMARC (2025); tính toán của nhóm</a:t>
            </a:r>
            <a:endParaRPr lang="en-US" sz="600" dirty="0"/>
          </a:p>
        </p:txBody>
      </p:sp>
      <p:sp>
        <p:nvSpPr>
          <p:cNvPr id="151" name="Text 148"/>
          <p:cNvSpPr txBox="1"/>
          <p:nvPr/>
        </p:nvSpPr>
        <p:spPr>
          <a:xfrm>
            <a:off x="484632" y="2194103"/>
            <a:ext cx="6986107" cy="141641"/>
          </a:xfrm>
          <a:prstGeom prst="rect">
            <a:avLst/>
          </a:prstGeom>
          <a:noFill/>
          <a:ln/>
        </p:spPr>
        <p:txBody>
          <a:bodyPr wrap="none" lIns="0" tIns="0" rIns="0" bIns="0" rtlCol="0" anchor="t"/>
          <a:lstStyle/>
          <a:p>
            <a:pPr algn="l" indent="0" marL="0">
              <a:lnSpc>
                <a:spcPts val="1118"/>
              </a:lnSpc>
              <a:buNone/>
            </a:pPr>
            <a:r>
              <a:rPr lang="en-US" sz="880" b="1" spc="35" kern="0" dirty="0">
                <a:solidFill>
                  <a:srgbClr val="FFFFFF"/>
                </a:solidFill>
                <a:latin typeface="Calibri" pitchFamily="34" charset="0"/>
                <a:ea typeface="Calibri" pitchFamily="34" charset="-122"/>
                <a:cs typeface="Calibri" pitchFamily="34" charset="-120"/>
              </a:rPr>
              <a:t>3. PHÂN TÍCH VĨ MÔ VÀ NGÀNH</a:t>
            </a:r>
            <a:endParaRPr lang="en-US" sz="880" dirty="0"/>
          </a:p>
        </p:txBody>
      </p:sp>
      <p:sp>
        <p:nvSpPr>
          <p:cNvPr id="152" name="Text 149"/>
          <p:cNvSpPr txBox="1"/>
          <p:nvPr/>
        </p:nvSpPr>
        <p:spPr>
          <a:xfrm>
            <a:off x="405354" y="2471166"/>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Tăng trưởng 8% nhưng lạm phát đã sát mục tiêu 4,5%</a:t>
            </a:r>
            <a:endParaRPr lang="en-US" sz="720" dirty="0"/>
          </a:p>
        </p:txBody>
      </p:sp>
      <p:sp>
        <p:nvSpPr>
          <p:cNvPr id="153" name="Text 150"/>
          <p:cNvSpPr txBox="1"/>
          <p:nvPr/>
        </p:nvSpPr>
        <p:spPr>
          <a:xfrm>
            <a:off x="405354" y="3643610"/>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Cục Thống kê (NSO) qua FiinX; GDP 6T-2026, CPI 8T-2026; World Bank (4/2026), ADB (4/2026); CPI 2025 tính từ số liệu tháng</a:t>
            </a:r>
            <a:endParaRPr lang="en-US" sz="600" dirty="0"/>
          </a:p>
        </p:txBody>
      </p:sp>
      <p:sp>
        <p:nvSpPr>
          <p:cNvPr id="154" name="Text 151"/>
          <p:cNvSpPr txBox="1"/>
          <p:nvPr/>
        </p:nvSpPr>
        <p:spPr>
          <a:xfrm>
            <a:off x="405354" y="3940241"/>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Lương và giá điện tăng nhanh hơn CPI; mô hình cho giá bán tăng chậm hơn cả hai</a:t>
            </a:r>
            <a:endParaRPr lang="en-US" sz="720" dirty="0"/>
          </a:p>
        </p:txBody>
      </p:sp>
      <p:sp>
        <p:nvSpPr>
          <p:cNvPr id="155" name="Text 152"/>
          <p:cNvSpPr txBox="1"/>
          <p:nvPr/>
        </p:nvSpPr>
        <p:spPr>
          <a:xfrm>
            <a:off x="405354" y="4778929"/>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NĐ 38/2022, 74/2024, 293/2025/NĐ-CP; Bộ Công Thương (quyết định giá điện 2023–2025); Cục Thống kê; Drivers</a:t>
            </a:r>
            <a:endParaRPr lang="en-US" sz="600" dirty="0"/>
          </a:p>
        </p:txBody>
      </p:sp>
      <p:sp>
        <p:nvSpPr>
          <p:cNvPr id="156" name="Text 153"/>
          <p:cNvSpPr txBox="1"/>
          <p:nvPr/>
        </p:nvSpPr>
        <p:spPr>
          <a:xfrm>
            <a:off x="405354" y="507546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Lãi suất cho vay trung–dài hạn tăng ~1,7 điểm % từ cuối 2025</a:t>
            </a:r>
            <a:endParaRPr lang="en-US" sz="720" dirty="0"/>
          </a:p>
        </p:txBody>
      </p:sp>
      <p:sp>
        <p:nvSpPr>
          <p:cNvPr id="157" name="Text 154"/>
          <p:cNvSpPr txBox="1"/>
          <p:nvPr/>
        </p:nvSpPr>
        <p:spPr>
          <a:xfrm>
            <a:off x="405354" y="6365687"/>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NHNN qua FiinX (truy xuất 29/9/2026); VnExpress (22/7/2026)</a:t>
            </a:r>
            <a:endParaRPr lang="en-US" sz="600" dirty="0"/>
          </a:p>
        </p:txBody>
      </p:sp>
      <p:sp>
        <p:nvSpPr>
          <p:cNvPr id="158" name="Text 155"/>
          <p:cNvSpPr txBox="1"/>
          <p:nvPr/>
        </p:nvSpPr>
        <p:spPr>
          <a:xfrm>
            <a:off x="405354" y="6662318"/>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CNY tăng giá nhanh hơn USD – rủi ro cho máy ép nhập từ Trung Quốc</a:t>
            </a:r>
            <a:endParaRPr lang="en-US" sz="720" dirty="0"/>
          </a:p>
        </p:txBody>
      </p:sp>
      <p:sp>
        <p:nvSpPr>
          <p:cNvPr id="159" name="Text 156"/>
          <p:cNvSpPr txBox="1"/>
          <p:nvPr/>
        </p:nvSpPr>
        <p:spPr>
          <a:xfrm>
            <a:off x="405354" y="771689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Vietcombank qua FiinX</a:t>
            </a:r>
            <a:endParaRPr lang="en-US" sz="600" dirty="0"/>
          </a:p>
        </p:txBody>
      </p:sp>
      <p:sp>
        <p:nvSpPr>
          <p:cNvPr id="160" name="Text 157"/>
          <p:cNvSpPr txBox="1"/>
          <p:nvPr/>
        </p:nvSpPr>
        <p:spPr>
          <a:xfrm>
            <a:off x="405354" y="792217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Vốn VC phục hồi năm 2025 nhưng số thương vụ tiếp tục giảm</a:t>
            </a:r>
            <a:endParaRPr lang="en-US" sz="720" dirty="0"/>
          </a:p>
        </p:txBody>
      </p:sp>
      <p:sp>
        <p:nvSpPr>
          <p:cNvPr id="161" name="Text 158"/>
          <p:cNvSpPr txBox="1"/>
          <p:nvPr/>
        </p:nvSpPr>
        <p:spPr>
          <a:xfrm>
            <a:off x="405354" y="9015984"/>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NIC &amp; DO Ventures (2022–2025); BCG, NIC &amp; VPCA (2026) cho năm 2025; số 2021 ước tính từ nguồn thứ cấp</a:t>
            </a:r>
            <a:endParaRPr lang="en-US" sz="600" dirty="0"/>
          </a:p>
        </p:txBody>
      </p:sp>
      <p:sp>
        <p:nvSpPr>
          <p:cNvPr id="162" name="Text 159"/>
          <p:cNvSpPr txBox="1"/>
          <p:nvPr/>
        </p:nvSpPr>
        <p:spPr>
          <a:xfrm>
            <a:off x="2745303" y="2439985"/>
            <a:ext cx="4673773" cy="140178"/>
          </a:xfrm>
          <a:prstGeom prst="rect">
            <a:avLst/>
          </a:prstGeom>
          <a:noFill/>
          <a:ln/>
        </p:spPr>
        <p:txBody>
          <a:bodyPr wrap="none" lIns="0" tIns="0" rIns="0" bIns="0" rtlCol="0" anchor="t"/>
          <a:lstStyle/>
          <a:p>
            <a:pPr algn="l" indent="0" marL="0">
              <a:lnSpc>
                <a:spcPts val="1104"/>
              </a:lnSpc>
              <a:buNone/>
            </a:pPr>
            <a:r>
              <a:rPr lang="en-US" sz="920" b="1" dirty="0">
                <a:solidFill>
                  <a:srgbClr val="7B1E2B"/>
                </a:solidFill>
                <a:latin typeface="Calibri" pitchFamily="34" charset="0"/>
                <a:ea typeface="Calibri" pitchFamily="34" charset="-122"/>
                <a:cs typeface="Calibri" pitchFamily="34" charset="-120"/>
              </a:rPr>
              <a:t>3.1 Vĩ mô: cầu tốt, chi phí và lãi suất đi lên</a:t>
            </a:r>
            <a:endParaRPr lang="en-US" sz="920" dirty="0"/>
          </a:p>
        </p:txBody>
      </p:sp>
      <p:sp>
        <p:nvSpPr>
          <p:cNvPr id="163" name="Text 160"/>
          <p:cNvSpPr txBox="1"/>
          <p:nvPr/>
        </p:nvSpPr>
        <p:spPr>
          <a:xfrm>
            <a:off x="2745303" y="2626980"/>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Tăng trưởng và tiêu dùng.</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GDP 6 tháng đầu 2026 tăng 8,18%, sau 8,02% năm 2025 (Fig. 17); World Bank và ADB dự báo cả năm 6,3–7,2%, thấp hơn mục tiêu 10% của Chính phủ. Với AgriPack, chỉ báo sát hơn GDP là cầu của khách hàng: doanh thu dịch vụ lưu trú, ăn uống 8 tháng tăng 16,4%, tổng mức bán lẻ tăng 13,3%. Mô hình cho sản lượng F&amp;B tăng 32% năm 2026 – khoảng gấp đôi tốc độ của ngành ăn uống; phần chênh lệch đến từ khách hàng mới nhờ máy ép bổ sung năm 2026, không phải từ tăng trưởng chung của thị trường.</a:t>
            </a:r>
            <a:endParaRPr lang="en-US" sz="900" dirty="0"/>
          </a:p>
        </p:txBody>
      </p:sp>
      <p:sp>
        <p:nvSpPr>
          <p:cNvPr id="164" name="Text 161"/>
          <p:cNvSpPr txBox="1"/>
          <p:nvPr/>
        </p:nvSpPr>
        <p:spPr>
          <a:xfrm>
            <a:off x="2745303" y="3549701"/>
            <a:ext cx="4409237" cy="130594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Lạm phát và chi phí.</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CPI bình quân 8 tháng tăng 4,45%, lạm phát cơ bản 4,24%, sát mục tiêu 4,5%; nhóm nhà ở, điện, nước, chất đốt tăng 6,71%. Ba khoản chi phí của AgriPack chịu tác động trực tiếp: (i) tiền lương – khoản lớn nhất (22,6% doanh thu) – khi lương tối thiểu vùng I tăng 7,2% từ 1/1/2026 lên 5,31 triệu đồng/tháng; (ii) điện cho khâu sấy, ép nhiệt, sau hai lần giá bán lẻ điện bình quân tăng 4,8% (10/2024 và 5/2025); (iii) bã mía, vì giá bã gắn với giá nhiên liệu mà nhà máy đường thay thế. Từ đầu 2022, lương tối thiểu tăng 20% và giá điện tăng 18%, nhanh hơn CPI cộng dồn 14% (Fig. 18). Giá bán chỉ tăng 2%/năm trong mô hình, nên tiền lương được giữ ở 22,5–23,5% doanh thu nhờ năng suất và chi phí biến đổi tăng từ 24,5% lên 27,0% doanh thu năm 2030.</a:t>
            </a:r>
            <a:endParaRPr lang="en-US" sz="900" dirty="0"/>
          </a:p>
        </p:txBody>
      </p:sp>
      <p:sp>
        <p:nvSpPr>
          <p:cNvPr id="165" name="Text 162"/>
          <p:cNvSpPr txBox="1"/>
          <p:nvPr/>
        </p:nvSpPr>
        <p:spPr>
          <a:xfrm>
            <a:off x="2745303" y="4907768"/>
            <a:ext cx="4409237" cy="116092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Lãi suất.</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Mặt bằng lãi suất đã đảo chiều: lãi suất cho vay trung–dài hạn tăng từ 6,7–9,0% (12/2025) lên 8,4–10,7% (8/2026), huy động trên 12 tháng lên 6,1–7,6%, trong khi lãi suất điều hành giữ nguyên (Fig. 19). Dư nợ cho doanh nghiệp nhỏ và vừa đạt hơn 4,1 triệu tỷ đồng (+12,4% so với cuối 2025), nhưng một doanh nghiệp chưa có lịch sử tín dụng như AgriPack sẽ vay ở nửa trên của khung. Mô hình dùng chi phí nợ 10%: khoản vay 31,1 tỷ cho nhà máy tạo chi phí lãi 3,3 tỷ năm 2028 (3% doanh thu), khiến EBIT chỉ bằng 1,9 lần chi phí lãi. Lợi suất trái phiếu Chính phủ 10 năm – lãi suất phi rủi ro trong WACC – tạm lấy 4,2% và cần cập nhật trước khi nộp.</a:t>
            </a:r>
            <a:endParaRPr lang="en-US" sz="900" dirty="0"/>
          </a:p>
        </p:txBody>
      </p:sp>
      <p:sp>
        <p:nvSpPr>
          <p:cNvPr id="166" name="Text 163"/>
          <p:cNvSpPr txBox="1"/>
          <p:nvPr/>
        </p:nvSpPr>
        <p:spPr>
          <a:xfrm>
            <a:off x="2745303" y="6120628"/>
            <a:ext cx="4409237" cy="101571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Tỷ giá.</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Hoạt động thường xuyên gần như không có rủi ro tỷ giá vì nguyên liệu mua trong nước và sản phẩm bán nội địa. Rủi ro nằm ở CAPEX: máy ép khuôn bột giấy chủ yếu nhập từ Trung Quốc, và CNY/VND đã tăng 10,9% từ cuối 2024, trong khi USD/VND giảm 0,8% từ đầu năm (Fig. 20). Nếu một nửa CAPEX 2027 là máy nhập khẩu, CNY tăng thêm 5% làm khoản đầu tư tăng khoảng 1,3 tỷ đồng. MBS dự báo USD/VND 26.800–27.000 cuối 2026 khi cán cân thương mại chuyển sang nhập siêu. AgriPack nên chốt giá máy bằng VND hoặc mua kỳ hạn CNY ngay khi ký hợp đồng thiết bị.</a:t>
            </a:r>
            <a:endParaRPr lang="en-US" sz="900" dirty="0"/>
          </a:p>
        </p:txBody>
      </p:sp>
      <p:sp>
        <p:nvSpPr>
          <p:cNvPr id="167" name="Text 164"/>
          <p:cNvSpPr txBox="1"/>
          <p:nvPr/>
        </p:nvSpPr>
        <p:spPr>
          <a:xfrm>
            <a:off x="2745303" y="7188556"/>
            <a:ext cx="4409237" cy="130594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Môi trường đầu tư.</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Vốn VC vào Việt Nam năm 2025 đạt 509 triệu USD (+28%) nhưng số thương vụ giảm còn 103 (Fig. 21): nhà đầu tư rót nhiều hơn vào ít doanh nghiệp hơn. AI thu hút nhiều vốn nhất; số thương vụ GreenTech tăng gấp đôi nhưng quy mô còn nhỏ. Câu chuyện "xanh" giúp AgriPack được chú ý, còn quyết định đầu tư sẽ dựa vào biên EBITDA, hợp đồng khách hàng và tiến độ nhà máy. Dòng vốn ngoại vào VC cũng chịu ảnh hưởng của lãi suất USD nhiều hơn lãi suất trong nước. Nguồn vốn ưu đãi bổ sung là chương trình hỗ trợ lãi suất của Quỹ Đổi mới công nghệ quốc gia (NATIF): 50% lãi vay, tối đa 6%/năm trong tối đa 5 năm. Đợt 1/2026 đã đóng hồ sơ ngày 20/9/2026, nên khoản tiết kiệm khoảng 1,6 tỷ đồng lãi/năm chỉ được xem là khả năng tăng giá trị, không đưa vào kịch bản cơ sở.</a:t>
            </a:r>
            <a:endParaRPr lang="en-US" sz="900" dirty="0"/>
          </a:p>
        </p:txBody>
      </p:sp>
      <p:sp>
        <p:nvSpPr>
          <p:cNvPr id="168" name="Text 165"/>
          <p:cNvSpPr txBox="1"/>
          <p:nvPr/>
        </p:nvSpPr>
        <p:spPr>
          <a:xfrm>
            <a:off x="2745303" y="8546622"/>
            <a:ext cx="4409237" cy="14510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Chính sách: tạo cầu nhiều hơn tạo chi phí.</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Các mốc quy định dồn về 2026 và 2030 (Fig. 22). Nghị định 110/2026/NĐ-CP (hiệu lực 25/5/2026) đặt trách nhiệm tái chế lên doanh nghiệp sản xuất, nhập khẩu hàng hóa có bao bì – tức khách hàng của AgriPack – và miễn cho doanh nghiệp có doanh thu dưới 30 tỷ đồng/năm. Cơ chế này là động lực cầu: khách hàng chuyển sang bao bì dễ phân hủy để giảm nghĩa vụ. Chi phí tuân thủ trực tiếp của AgriPack nằm ở kiểm nghiệm vật liệu tiếp xúc thực phẩm theo Thông tư 27/2026/TT-BYT (mô hình thêm 0,6% doanh thu cho kiểm nghiệm, chứng nhận và R&amp;D) và thủ tục môi trường cho nhà máy mới theo Nghị định 48/2026/NĐ-CP. Mốc sau 31/12/2030 là lý do chúng tôi giữ tăng trưởng dài hạn 5%/năm và RONIC 18% trong giá trị cuối kỳ: khi bao bì nhựa khó phân hủy không còn được sản xuất và nhập khẩu, nhu cầu thay thế vẫn tiếp tục lúc AgriPack đã có công suất dư.</a:t>
            </a:r>
            <a:endParaRPr lang="en-US" sz="900" dirty="0"/>
          </a:p>
        </p:txBody>
      </p:sp>
      <p:sp>
        <p:nvSpPr>
          <p:cNvPr id="169" name="Text 166"/>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70" name="Text 167"/>
          <p:cNvSpPr txBox="1"/>
          <p:nvPr/>
        </p:nvSpPr>
        <p:spPr>
          <a:xfrm>
            <a:off x="7114581" y="10402672"/>
            <a:ext cx="97018"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4</a:t>
            </a:r>
            <a:endParaRPr lang="en-US" sz="6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71830"/>
            <a:ext cx="6749004" cy="0"/>
          </a:xfrm>
          <a:prstGeom prst="line">
            <a:avLst/>
          </a:prstGeom>
          <a:noFill/>
          <a:ln w="9525">
            <a:solidFill>
              <a:srgbClr val="7B1E2B"/>
            </a:solidFill>
            <a:prstDash val="solid"/>
          </a:ln>
        </p:spPr>
      </p:sp>
      <p:sp>
        <p:nvSpPr>
          <p:cNvPr id="3" name="Shape 1"/>
          <p:cNvSpPr/>
          <p:nvPr/>
        </p:nvSpPr>
        <p:spPr>
          <a:xfrm>
            <a:off x="405354" y="567568"/>
            <a:ext cx="2159996" cy="0"/>
          </a:xfrm>
          <a:prstGeom prst="line">
            <a:avLst/>
          </a:prstGeom>
          <a:noFill/>
          <a:ln w="9525">
            <a:solidFill>
              <a:srgbClr val="7B1E2B"/>
            </a:solidFill>
            <a:prstDash val="solid"/>
          </a:ln>
        </p:spPr>
      </p:sp>
      <p:sp>
        <p:nvSpPr>
          <p:cNvPr id="4" name="Shape 2"/>
          <p:cNvSpPr/>
          <p:nvPr/>
        </p:nvSpPr>
        <p:spPr>
          <a:xfrm>
            <a:off x="405354" y="3396539"/>
            <a:ext cx="2159996" cy="0"/>
          </a:xfrm>
          <a:prstGeom prst="line">
            <a:avLst/>
          </a:prstGeom>
          <a:noFill/>
          <a:ln w="9525">
            <a:solidFill>
              <a:srgbClr val="7B1E2B"/>
            </a:solidFill>
            <a:prstDash val="solid"/>
          </a:ln>
        </p:spPr>
      </p:sp>
      <p:sp>
        <p:nvSpPr>
          <p:cNvPr id="5" name="Shape 3"/>
          <p:cNvSpPr/>
          <p:nvPr/>
        </p:nvSpPr>
        <p:spPr>
          <a:xfrm>
            <a:off x="405354" y="5500939"/>
            <a:ext cx="2159996" cy="0"/>
          </a:xfrm>
          <a:prstGeom prst="line">
            <a:avLst/>
          </a:prstGeom>
          <a:noFill/>
          <a:ln w="9525">
            <a:solidFill>
              <a:srgbClr val="7B1E2B"/>
            </a:solidFill>
            <a:prstDash val="solid"/>
          </a:ln>
        </p:spPr>
      </p:sp>
      <p:sp>
        <p:nvSpPr>
          <p:cNvPr id="6" name="Shape 4"/>
          <p:cNvSpPr/>
          <p:nvPr/>
        </p:nvSpPr>
        <p:spPr>
          <a:xfrm>
            <a:off x="405354" y="6864035"/>
            <a:ext cx="2159996" cy="0"/>
          </a:xfrm>
          <a:prstGeom prst="line">
            <a:avLst/>
          </a:prstGeom>
          <a:noFill/>
          <a:ln w="9525">
            <a:solidFill>
              <a:srgbClr val="7B1E2B"/>
            </a:solidFill>
            <a:prstDash val="solid"/>
          </a:ln>
        </p:spPr>
      </p:sp>
      <p:sp>
        <p:nvSpPr>
          <p:cNvPr id="7" name="Shape 5"/>
          <p:cNvSpPr/>
          <p:nvPr/>
        </p:nvSpPr>
        <p:spPr>
          <a:xfrm>
            <a:off x="2745303" y="6383975"/>
            <a:ext cx="4409237" cy="0"/>
          </a:xfrm>
          <a:prstGeom prst="line">
            <a:avLst/>
          </a:prstGeom>
          <a:noFill/>
          <a:ln w="9525">
            <a:solidFill>
              <a:srgbClr val="7B1E2B"/>
            </a:solidFill>
            <a:prstDash val="solid"/>
          </a:ln>
        </p:spPr>
      </p:sp>
      <p:sp>
        <p:nvSpPr>
          <p:cNvPr id="8" name="Shape 6"/>
          <p:cNvSpPr/>
          <p:nvPr/>
        </p:nvSpPr>
        <p:spPr>
          <a:xfrm>
            <a:off x="405354" y="10365547"/>
            <a:ext cx="6749004" cy="0"/>
          </a:xfrm>
          <a:prstGeom prst="line">
            <a:avLst/>
          </a:prstGeom>
          <a:noFill/>
          <a:ln w="9525">
            <a:solidFill>
              <a:srgbClr val="BFBFB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5354" y="735818"/>
          <a:ext cx="2159996" cy="914400"/>
        </p:xfrm>
        <a:graphic>
          <a:graphicData uri="http://schemas.openxmlformats.org/drawingml/2006/table">
            <a:tbl>
              <a:tblPr/>
              <a:tblGrid>
                <a:gridCol w="496611"/>
                <a:gridCol w="1663385"/>
              </a:tblGrid>
              <a:tr h="133045">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Mốc</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Quy định và hàm ý</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26497">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2022</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NĐ 08/2022/NĐ-CP, Điều 64: lộ trình giảm nhựa dùng một lần, bao bì khó phân hủy</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1/1/2026</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Dừng sản xuất, nhập khẩu túi ni-lông khó phân hủy cỡ nhỏ</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Sau 2025</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Không lưu hành nhựa dùng một lần, bao bì khó phân hủy (kể cả hộp xốp) tại TTTM, siêu thị, khách sạn, khu du lịch</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29/1/2026</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NĐ 48/2026/NĐ-CP: sửa quy định ĐTM, giấy phép môi trường – thủ tục cho nhà máy mới</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25/5/2026</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NĐ 110/2026/NĐ-CP: trách nhiệm tái chế (EPR) của nhà sản xuất, nhập khẩu hàng hóa có bao bì; miễn DN doanh thu &lt; 30 tỷ</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2026</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TT 27/2026/TT-BYT: vật liệu bao gói tiếp xúc thực phẩm, rủi ro trung bình (Bộ Y tế)</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Kỳ tính thuế 2026</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Luật Thuế TNDN 67/2025/QH15: 17% nếu DT năm trước ≤ 50 tỷ; NQ 198/2025/QH15: ưu đãi DN khởi nghiệp sáng tạo</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Sau 31/12/2030</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Dừng sản xuất, nhập khẩu sản phẩm nhựa dùng một lần, bao bì nhựa khó phân hủy (trừ hàng xuất khẩu)</a:t>
                      </a:r>
                      <a:endParaRPr lang="en-US" sz="65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05354" y="3674242"/>
          <a:ext cx="2159996" cy="914400"/>
        </p:xfrm>
        <a:graphic>
          <a:graphicData uri="http://schemas.openxmlformats.org/drawingml/2006/table">
            <a:tbl>
              <a:tblPr/>
              <a:tblGrid>
                <a:gridCol w="993404"/>
                <a:gridCol w="388711"/>
                <a:gridCol w="388711"/>
                <a:gridCol w="389077"/>
              </a:tblGrid>
              <a:tr h="133045">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Triệu USD</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2025</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2030E</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CAGR</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Bao bì giấy (Mordor)</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2.850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4.540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9,8%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Bao bì xanh – TAM (IMARC)</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1.130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1.385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F&amp;B phân hủy sinh học – SAM</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33,9</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42,8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4,7%</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AgriPack – DT F&amp;B</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1,46</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4,69</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26,2%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2745303" y="6552133"/>
          <a:ext cx="4409237" cy="914400"/>
        </p:xfrm>
        <a:graphic>
          <a:graphicData uri="http://schemas.openxmlformats.org/drawingml/2006/table">
            <a:tbl>
              <a:tblPr/>
              <a:tblGrid>
                <a:gridCol w="2028048"/>
                <a:gridCol w="705460"/>
                <a:gridCol w="1675638"/>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Lực lượng cạnh tranh</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Mức độ</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Bằng chứng</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35458">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Đối thủ trực tiếp: xưởng ép bột giấy/bã mía trong nước, hàng bã mía nhập khẩu</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Cao</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Cùng công nghệ, cạnh tranh bằng giá</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Sản phẩm thay thế: hộp xốp EPS, hộp PP, hộp kraft, EPE/PE foam</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Cao, giảm dần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Rẻ hơn; bị thu hẹp bởi Điều 64 NĐ 08/2022</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Đối thủ gián tiếp: nhựa sinh học PLA/PBAT (AnEco – APH, Hapbio)</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Trung bình</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Chi phí cao, phụ thuộc hạt nhựa nhập khẩu</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Người mua: chuỗi F&amp;B, nhà máy thực phẩm, DN FDI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Cao</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B2B, nhiều lựa chọn, nhạy giá</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Nhà cung cấp: nhà máy đường, cơ sở dùng trứng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Trung bình – cao</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Bã mía là nhiên liệu lò hơi; vụ ép T11–T4</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Gia nhập mới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Trung bình</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Thấp ở gia công; cao ở quy mô công nghiệp (dây chuyền, kiểm nghiệm, khách hàng)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110" name="Fig. 23 – biểu đồ"/>
          <p:cNvGrpSpPr/>
          <p:nvPr/>
        </p:nvGrpSpPr>
        <p:grpSpPr>
          <a:xfrm>
            <a:off x="444947" y="4563405"/>
            <a:ext cx="2080901" cy="660379"/>
            <a:chOff x="444947" y="4563405"/>
            <a:chExt cx="2080901" cy="660379"/>
          </a:xfrm>
        </p:grpSpPr>
        <p:sp>
          <p:nvSpPr>
            <p:cNvPr id="12" name="svg0_0"/>
            <p:cNvSpPr/>
            <p:nvPr/>
          </p:nvSpPr>
          <p:spPr>
            <a:xfrm>
              <a:off x="791688" y="4574835"/>
              <a:ext cx="1734160" cy="530078"/>
            </a:xfrm>
            <a:prstGeom prst="rect">
              <a:avLst/>
            </a:prstGeom>
            <a:solidFill>
              <a:srgbClr val="F3F1F1"/>
            </a:solidFill>
            <a:ln/>
          </p:spPr>
        </p:sp>
        <p:sp>
          <p:nvSpPr>
            <p:cNvPr id="13" name="svg0_1"/>
            <p:cNvSpPr/>
            <p:nvPr/>
          </p:nvSpPr>
          <p:spPr>
            <a:xfrm>
              <a:off x="510692" y="4931359"/>
              <a:ext cx="215067" cy="173553"/>
            </a:xfrm>
            <a:prstGeom prst="rect">
              <a:avLst/>
            </a:prstGeom>
            <a:solidFill>
              <a:srgbClr val="7B1E2B"/>
            </a:solidFill>
            <a:ln/>
          </p:spPr>
        </p:sp>
        <p:sp>
          <p:nvSpPr>
            <p:cNvPr id="14" name="svg0_2"/>
            <p:cNvSpPr txBox="1"/>
            <p:nvPr/>
          </p:nvSpPr>
          <p:spPr>
            <a:xfrm>
              <a:off x="515264" y="4831324"/>
              <a:ext cx="210678"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4,3%</a:t>
              </a:r>
              <a:endParaRPr lang="en-US" sz="587" dirty="0"/>
            </a:p>
          </p:txBody>
        </p:sp>
        <p:sp>
          <p:nvSpPr>
            <p:cNvPr id="15" name="svg0_3"/>
            <p:cNvSpPr txBox="1"/>
            <p:nvPr/>
          </p:nvSpPr>
          <p:spPr>
            <a:xfrm>
              <a:off x="531541" y="5118994"/>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25A</a:t>
              </a:r>
              <a:endParaRPr lang="en-US" sz="587" dirty="0"/>
            </a:p>
          </p:txBody>
        </p:sp>
        <p:sp>
          <p:nvSpPr>
            <p:cNvPr id="16" name="svg0_4"/>
            <p:cNvSpPr/>
            <p:nvPr/>
          </p:nvSpPr>
          <p:spPr>
            <a:xfrm>
              <a:off x="857616" y="4884268"/>
              <a:ext cx="215067" cy="220736"/>
            </a:xfrm>
            <a:prstGeom prst="rect">
              <a:avLst/>
            </a:prstGeom>
            <a:pattFill prst="wdUpDiag">
              <a:fgClr>
                <a:srgbClr val="7B1E2B"/>
              </a:fgClr>
              <a:bgClr>
                <a:srgbClr val="FFFFFF"/>
              </a:bgClr>
            </a:pattFill>
            <a:ln w="7874">
              <a:solidFill>
                <a:srgbClr val="7B1E2B"/>
              </a:solidFill>
              <a:prstDash val="solid"/>
            </a:ln>
          </p:spPr>
        </p:sp>
        <p:sp>
          <p:nvSpPr>
            <p:cNvPr id="17" name="svg0_5"/>
            <p:cNvSpPr txBox="1"/>
            <p:nvPr/>
          </p:nvSpPr>
          <p:spPr>
            <a:xfrm>
              <a:off x="861731" y="4784232"/>
              <a:ext cx="210678"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5,5%</a:t>
              </a:r>
              <a:endParaRPr lang="en-US" sz="587" dirty="0"/>
            </a:p>
          </p:txBody>
        </p:sp>
        <p:sp>
          <p:nvSpPr>
            <p:cNvPr id="18" name="svg0_6"/>
            <p:cNvSpPr txBox="1"/>
            <p:nvPr/>
          </p:nvSpPr>
          <p:spPr>
            <a:xfrm>
              <a:off x="882030" y="5118994"/>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19" name="svg0_7"/>
            <p:cNvSpPr/>
            <p:nvPr/>
          </p:nvSpPr>
          <p:spPr>
            <a:xfrm>
              <a:off x="1204448" y="4847966"/>
              <a:ext cx="215067" cy="256946"/>
            </a:xfrm>
            <a:prstGeom prst="rect">
              <a:avLst/>
            </a:prstGeom>
            <a:pattFill prst="wdUpDiag">
              <a:fgClr>
                <a:srgbClr val="7B1E2B"/>
              </a:fgClr>
              <a:bgClr>
                <a:srgbClr val="FFFFFF"/>
              </a:bgClr>
            </a:pattFill>
            <a:ln w="7874">
              <a:solidFill>
                <a:srgbClr val="7B1E2B"/>
              </a:solidFill>
              <a:prstDash val="solid"/>
            </a:ln>
          </p:spPr>
        </p:sp>
        <p:sp>
          <p:nvSpPr>
            <p:cNvPr id="20" name="svg0_8"/>
            <p:cNvSpPr txBox="1"/>
            <p:nvPr/>
          </p:nvSpPr>
          <p:spPr>
            <a:xfrm>
              <a:off x="1208197" y="4747931"/>
              <a:ext cx="210678"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6,4%</a:t>
              </a:r>
              <a:endParaRPr lang="en-US" sz="587" dirty="0"/>
            </a:p>
          </p:txBody>
        </p:sp>
        <p:sp>
          <p:nvSpPr>
            <p:cNvPr id="21" name="svg0_9"/>
            <p:cNvSpPr txBox="1"/>
            <p:nvPr/>
          </p:nvSpPr>
          <p:spPr>
            <a:xfrm>
              <a:off x="1228588" y="5118994"/>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22" name="svg0_10"/>
            <p:cNvSpPr/>
            <p:nvPr/>
          </p:nvSpPr>
          <p:spPr>
            <a:xfrm>
              <a:off x="1551280" y="4773534"/>
              <a:ext cx="215067" cy="331379"/>
            </a:xfrm>
            <a:prstGeom prst="rect">
              <a:avLst/>
            </a:prstGeom>
            <a:pattFill prst="wdUpDiag">
              <a:fgClr>
                <a:srgbClr val="7B1E2B"/>
              </a:fgClr>
              <a:bgClr>
                <a:srgbClr val="FFFFFF"/>
              </a:bgClr>
            </a:pattFill>
            <a:ln w="7874">
              <a:solidFill>
                <a:srgbClr val="7B1E2B"/>
              </a:solidFill>
              <a:prstDash val="solid"/>
            </a:ln>
          </p:spPr>
        </p:sp>
        <p:sp>
          <p:nvSpPr>
            <p:cNvPr id="23" name="svg0_11"/>
            <p:cNvSpPr txBox="1"/>
            <p:nvPr/>
          </p:nvSpPr>
          <p:spPr>
            <a:xfrm>
              <a:off x="1555669" y="4674321"/>
              <a:ext cx="210678"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8,2%</a:t>
              </a:r>
              <a:endParaRPr lang="en-US" sz="587" dirty="0"/>
            </a:p>
          </p:txBody>
        </p:sp>
        <p:sp>
          <p:nvSpPr>
            <p:cNvPr id="24" name="svg0_12"/>
            <p:cNvSpPr txBox="1"/>
            <p:nvPr/>
          </p:nvSpPr>
          <p:spPr>
            <a:xfrm>
              <a:off x="1576060" y="5118994"/>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25" name="svg0_13"/>
            <p:cNvSpPr/>
            <p:nvPr/>
          </p:nvSpPr>
          <p:spPr>
            <a:xfrm>
              <a:off x="1898112" y="4709526"/>
              <a:ext cx="215067" cy="395387"/>
            </a:xfrm>
            <a:prstGeom prst="rect">
              <a:avLst/>
            </a:prstGeom>
            <a:pattFill prst="wdUpDiag">
              <a:fgClr>
                <a:srgbClr val="7B1E2B"/>
              </a:fgClr>
              <a:bgClr>
                <a:srgbClr val="FFFFFF"/>
              </a:bgClr>
            </a:pattFill>
            <a:ln w="7874">
              <a:solidFill>
                <a:srgbClr val="7B1E2B"/>
              </a:solidFill>
              <a:prstDash val="solid"/>
            </a:ln>
          </p:spPr>
        </p:sp>
        <p:sp>
          <p:nvSpPr>
            <p:cNvPr id="26" name="svg0_14"/>
            <p:cNvSpPr txBox="1"/>
            <p:nvPr/>
          </p:nvSpPr>
          <p:spPr>
            <a:xfrm>
              <a:off x="1902226" y="4609490"/>
              <a:ext cx="210678"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9,8%</a:t>
              </a:r>
              <a:endParaRPr lang="en-US" sz="587" dirty="0"/>
            </a:p>
          </p:txBody>
        </p:sp>
        <p:sp>
          <p:nvSpPr>
            <p:cNvPr id="27" name="svg0_15"/>
            <p:cNvSpPr txBox="1"/>
            <p:nvPr/>
          </p:nvSpPr>
          <p:spPr>
            <a:xfrm>
              <a:off x="1922526" y="5118994"/>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28" name="svg0_16"/>
            <p:cNvSpPr/>
            <p:nvPr/>
          </p:nvSpPr>
          <p:spPr>
            <a:xfrm>
              <a:off x="2244943" y="4663166"/>
              <a:ext cx="215067" cy="441747"/>
            </a:xfrm>
            <a:prstGeom prst="rect">
              <a:avLst/>
            </a:prstGeom>
            <a:pattFill prst="wdUpDiag">
              <a:fgClr>
                <a:srgbClr val="7B1E2B"/>
              </a:fgClr>
              <a:bgClr>
                <a:srgbClr val="FFFFFF"/>
              </a:bgClr>
            </a:pattFill>
            <a:ln w="7874">
              <a:solidFill>
                <a:srgbClr val="7B1E2B"/>
              </a:solidFill>
              <a:prstDash val="solid"/>
            </a:ln>
          </p:spPr>
        </p:sp>
        <p:sp>
          <p:nvSpPr>
            <p:cNvPr id="29" name="svg0_17"/>
            <p:cNvSpPr txBox="1"/>
            <p:nvPr/>
          </p:nvSpPr>
          <p:spPr>
            <a:xfrm>
              <a:off x="2227204" y="4563405"/>
              <a:ext cx="253746"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11,0%</a:t>
              </a:r>
              <a:endParaRPr lang="en-US" sz="587" dirty="0"/>
            </a:p>
          </p:txBody>
        </p:sp>
        <p:sp>
          <p:nvSpPr>
            <p:cNvPr id="30" name="svg0_18"/>
            <p:cNvSpPr txBox="1"/>
            <p:nvPr/>
          </p:nvSpPr>
          <p:spPr>
            <a:xfrm>
              <a:off x="2269084" y="5118994"/>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31" name="svg0_19"/>
            <p:cNvSpPr/>
            <p:nvPr/>
          </p:nvSpPr>
          <p:spPr>
            <a:xfrm>
              <a:off x="444947" y="5104912"/>
              <a:ext cx="2080900" cy="0"/>
            </a:xfrm>
            <a:prstGeom prst="line">
              <a:avLst/>
            </a:prstGeom>
            <a:noFill/>
            <a:ln w="6858">
              <a:solidFill>
                <a:srgbClr val="8C8C8C"/>
              </a:solidFill>
              <a:prstDash val="solid"/>
            </a:ln>
          </p:spPr>
        </p:sp>
      </p:grpSp>
      <p:grpSp>
        <p:nvGrpSpPr>
          <p:cNvPr id="111" name="Fig. 24 – biểu đồ"/>
          <p:cNvGrpSpPr/>
          <p:nvPr/>
        </p:nvGrpSpPr>
        <p:grpSpPr>
          <a:xfrm>
            <a:off x="332384" y="5798302"/>
            <a:ext cx="2250248" cy="789493"/>
            <a:chOff x="332384" y="5798302"/>
            <a:chExt cx="2250248" cy="789493"/>
          </a:xfrm>
        </p:grpSpPr>
        <p:sp>
          <p:nvSpPr>
            <p:cNvPr id="32" name="svg1_20"/>
            <p:cNvSpPr txBox="1"/>
            <p:nvPr/>
          </p:nvSpPr>
          <p:spPr>
            <a:xfrm>
              <a:off x="744779" y="5805617"/>
              <a:ext cx="642457"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Xuất khẩu (8T-26)</a:t>
              </a:r>
              <a:endParaRPr lang="en-US" sz="588" dirty="0"/>
            </a:p>
          </p:txBody>
        </p:sp>
        <p:sp>
          <p:nvSpPr>
            <p:cNvPr id="33" name="svg1_21"/>
            <p:cNvSpPr/>
            <p:nvPr/>
          </p:nvSpPr>
          <p:spPr>
            <a:xfrm>
              <a:off x="1426464" y="5817961"/>
              <a:ext cx="646024" cy="70043"/>
            </a:xfrm>
            <a:prstGeom prst="rect">
              <a:avLst/>
            </a:prstGeom>
            <a:solidFill>
              <a:srgbClr val="A3A3A3"/>
            </a:solidFill>
            <a:ln/>
          </p:spPr>
        </p:sp>
        <p:sp>
          <p:nvSpPr>
            <p:cNvPr id="34" name="svg1_22"/>
            <p:cNvSpPr txBox="1"/>
            <p:nvPr/>
          </p:nvSpPr>
          <p:spPr>
            <a:xfrm>
              <a:off x="555224" y="5918454"/>
              <a:ext cx="831921"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TMĐT – VECOM (2025)</a:t>
              </a:r>
              <a:endParaRPr lang="en-US" sz="588" dirty="0"/>
            </a:p>
          </p:txBody>
        </p:sp>
        <p:sp>
          <p:nvSpPr>
            <p:cNvPr id="35" name="svg1_23"/>
            <p:cNvSpPr/>
            <p:nvPr/>
          </p:nvSpPr>
          <p:spPr>
            <a:xfrm>
              <a:off x="1426464" y="5930798"/>
              <a:ext cx="605699" cy="70043"/>
            </a:xfrm>
            <a:prstGeom prst="rect">
              <a:avLst/>
            </a:prstGeom>
            <a:solidFill>
              <a:srgbClr val="A3A3A3"/>
            </a:solidFill>
            <a:ln/>
          </p:spPr>
        </p:sp>
        <p:sp>
          <p:nvSpPr>
            <p:cNvPr id="36" name="svg1_24"/>
            <p:cNvSpPr txBox="1"/>
            <p:nvPr/>
          </p:nvSpPr>
          <p:spPr>
            <a:xfrm>
              <a:off x="412943" y="6031382"/>
              <a:ext cx="974293"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DV lưu trú, ăn uống (8T-26)</a:t>
              </a:r>
              <a:endParaRPr lang="en-US" sz="588" dirty="0"/>
            </a:p>
          </p:txBody>
        </p:sp>
        <p:sp>
          <p:nvSpPr>
            <p:cNvPr id="37" name="svg1_25"/>
            <p:cNvSpPr/>
            <p:nvPr/>
          </p:nvSpPr>
          <p:spPr>
            <a:xfrm>
              <a:off x="1426464" y="6043818"/>
              <a:ext cx="474025" cy="70043"/>
            </a:xfrm>
            <a:prstGeom prst="rect">
              <a:avLst/>
            </a:prstGeom>
            <a:solidFill>
              <a:srgbClr val="A3A3A3"/>
            </a:solidFill>
            <a:ln/>
          </p:spPr>
        </p:sp>
        <p:sp>
          <p:nvSpPr>
            <p:cNvPr id="38" name="svg1_26"/>
            <p:cNvSpPr txBox="1"/>
            <p:nvPr/>
          </p:nvSpPr>
          <p:spPr>
            <a:xfrm>
              <a:off x="554584" y="6144311"/>
              <a:ext cx="832653"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Bán lẻ HH &amp; DV (8T-26)</a:t>
              </a:r>
              <a:endParaRPr lang="en-US" sz="588" dirty="0"/>
            </a:p>
          </p:txBody>
        </p:sp>
        <p:sp>
          <p:nvSpPr>
            <p:cNvPr id="39" name="svg1_27"/>
            <p:cNvSpPr/>
            <p:nvPr/>
          </p:nvSpPr>
          <p:spPr>
            <a:xfrm>
              <a:off x="1426464" y="6156655"/>
              <a:ext cx="384414" cy="70043"/>
            </a:xfrm>
            <a:prstGeom prst="rect">
              <a:avLst/>
            </a:prstGeom>
            <a:solidFill>
              <a:srgbClr val="A3A3A3"/>
            </a:solidFill>
            <a:ln/>
          </p:spPr>
        </p:sp>
        <p:sp>
          <p:nvSpPr>
            <p:cNvPr id="40" name="svg1_28"/>
            <p:cNvSpPr txBox="1"/>
            <p:nvPr/>
          </p:nvSpPr>
          <p:spPr>
            <a:xfrm>
              <a:off x="648767" y="6257148"/>
              <a:ext cx="738469"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FDI giải ngân (7T-26)</a:t>
              </a:r>
              <a:endParaRPr lang="en-US" sz="588" dirty="0"/>
            </a:p>
          </p:txBody>
        </p:sp>
        <p:sp>
          <p:nvSpPr>
            <p:cNvPr id="41" name="svg1_29"/>
            <p:cNvSpPr/>
            <p:nvPr/>
          </p:nvSpPr>
          <p:spPr>
            <a:xfrm>
              <a:off x="1426464" y="6269584"/>
              <a:ext cx="340340" cy="70043"/>
            </a:xfrm>
            <a:prstGeom prst="rect">
              <a:avLst/>
            </a:prstGeom>
            <a:solidFill>
              <a:srgbClr val="A3A3A3"/>
            </a:solidFill>
            <a:ln/>
          </p:spPr>
        </p:sp>
        <p:sp>
          <p:nvSpPr>
            <p:cNvPr id="42" name="svg1_30"/>
            <p:cNvSpPr txBox="1"/>
            <p:nvPr/>
          </p:nvSpPr>
          <p:spPr>
            <a:xfrm>
              <a:off x="567660" y="6370168"/>
              <a:ext cx="819577"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Tiêu dùng thực (6T-26)</a:t>
              </a:r>
              <a:endParaRPr lang="en-US" sz="588" dirty="0"/>
            </a:p>
          </p:txBody>
        </p:sp>
        <p:sp>
          <p:nvSpPr>
            <p:cNvPr id="43" name="svg1_31"/>
            <p:cNvSpPr/>
            <p:nvPr/>
          </p:nvSpPr>
          <p:spPr>
            <a:xfrm>
              <a:off x="1426464" y="6382512"/>
              <a:ext cx="235092" cy="70043"/>
            </a:xfrm>
            <a:prstGeom prst="rect">
              <a:avLst/>
            </a:prstGeom>
            <a:solidFill>
              <a:srgbClr val="A3A3A3"/>
            </a:solidFill>
            <a:ln/>
          </p:spPr>
        </p:sp>
        <p:sp>
          <p:nvSpPr>
            <p:cNvPr id="44" name="svg1_32"/>
            <p:cNvSpPr txBox="1"/>
            <p:nvPr/>
          </p:nvSpPr>
          <p:spPr>
            <a:xfrm>
              <a:off x="332384" y="6483005"/>
              <a:ext cx="1056498" cy="104790"/>
            </a:xfrm>
            <a:prstGeom prst="rect">
              <a:avLst/>
            </a:prstGeom>
            <a:noFill/>
            <a:ln/>
          </p:spPr>
          <p:txBody>
            <a:bodyPr wrap="none" lIns="0" tIns="0" rIns="0" bIns="0" rtlCol="0" anchor="ctr"/>
            <a:lstStyle/>
            <a:p>
              <a:pPr algn="r" indent="0" marL="0">
                <a:buNone/>
              </a:pPr>
              <a:r>
                <a:rPr lang="en-US" sz="588" b="1" dirty="0">
                  <a:solidFill>
                    <a:srgbClr val="262626"/>
                  </a:solidFill>
                  <a:latin typeface="Calibri" pitchFamily="34" charset="0"/>
                  <a:ea typeface="Calibri" pitchFamily="34" charset="-122"/>
                  <a:cs typeface="Calibri" pitchFamily="34" charset="-120"/>
                </a:rPr>
                <a:t>AgriPack: sản lượng F&amp;B 26E</a:t>
              </a:r>
              <a:endParaRPr lang="en-US" sz="588" dirty="0"/>
            </a:p>
          </p:txBody>
        </p:sp>
        <p:sp>
          <p:nvSpPr>
            <p:cNvPr id="45" name="svg1_33"/>
            <p:cNvSpPr/>
            <p:nvPr/>
          </p:nvSpPr>
          <p:spPr>
            <a:xfrm>
              <a:off x="1426464" y="6495349"/>
              <a:ext cx="922904" cy="70043"/>
            </a:xfrm>
            <a:prstGeom prst="rect">
              <a:avLst/>
            </a:prstGeom>
            <a:solidFill>
              <a:srgbClr val="7B1E2B"/>
            </a:solidFill>
            <a:ln/>
          </p:spPr>
        </p:sp>
        <p:sp>
          <p:nvSpPr>
            <p:cNvPr id="46" name="svg1_34"/>
            <p:cNvSpPr/>
            <p:nvPr/>
          </p:nvSpPr>
          <p:spPr>
            <a:xfrm>
              <a:off x="1426464" y="5798302"/>
              <a:ext cx="0" cy="787298"/>
            </a:xfrm>
            <a:prstGeom prst="line">
              <a:avLst/>
            </a:prstGeom>
            <a:noFill/>
            <a:ln w="6858">
              <a:solidFill>
                <a:srgbClr val="8C8C8C"/>
              </a:solidFill>
              <a:prstDash val="solid"/>
            </a:ln>
          </p:spPr>
        </p:sp>
        <p:sp>
          <p:nvSpPr>
            <p:cNvPr id="47" name="svg1_35"/>
            <p:cNvSpPr txBox="1"/>
            <p:nvPr/>
          </p:nvSpPr>
          <p:spPr>
            <a:xfrm>
              <a:off x="2096994" y="5805617"/>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22,4%</a:t>
              </a:r>
              <a:endParaRPr lang="en-US" sz="588" dirty="0"/>
            </a:p>
          </p:txBody>
        </p:sp>
        <p:sp>
          <p:nvSpPr>
            <p:cNvPr id="48" name="svg1_36"/>
            <p:cNvSpPr txBox="1"/>
            <p:nvPr/>
          </p:nvSpPr>
          <p:spPr>
            <a:xfrm>
              <a:off x="2056760" y="5918454"/>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21,0%</a:t>
              </a:r>
              <a:endParaRPr lang="en-US" sz="588" dirty="0"/>
            </a:p>
          </p:txBody>
        </p:sp>
        <p:sp>
          <p:nvSpPr>
            <p:cNvPr id="49" name="svg1_37"/>
            <p:cNvSpPr txBox="1"/>
            <p:nvPr/>
          </p:nvSpPr>
          <p:spPr>
            <a:xfrm>
              <a:off x="1925178" y="6031382"/>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16,4%</a:t>
              </a:r>
              <a:endParaRPr lang="en-US" sz="588" dirty="0"/>
            </a:p>
          </p:txBody>
        </p:sp>
        <p:sp>
          <p:nvSpPr>
            <p:cNvPr id="50" name="svg1_38"/>
            <p:cNvSpPr txBox="1"/>
            <p:nvPr/>
          </p:nvSpPr>
          <p:spPr>
            <a:xfrm>
              <a:off x="1835841" y="6144311"/>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13,3%</a:t>
              </a:r>
              <a:endParaRPr lang="en-US" sz="588" dirty="0"/>
            </a:p>
          </p:txBody>
        </p:sp>
        <p:sp>
          <p:nvSpPr>
            <p:cNvPr id="51" name="svg1_39"/>
            <p:cNvSpPr txBox="1"/>
            <p:nvPr/>
          </p:nvSpPr>
          <p:spPr>
            <a:xfrm>
              <a:off x="1791675" y="6257148"/>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11,8%</a:t>
              </a:r>
              <a:endParaRPr lang="en-US" sz="588" dirty="0"/>
            </a:p>
          </p:txBody>
        </p:sp>
        <p:sp>
          <p:nvSpPr>
            <p:cNvPr id="52" name="svg1_40"/>
            <p:cNvSpPr txBox="1"/>
            <p:nvPr/>
          </p:nvSpPr>
          <p:spPr>
            <a:xfrm>
              <a:off x="1685605" y="6370168"/>
              <a:ext cx="170444"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8,2%</a:t>
              </a:r>
              <a:endParaRPr lang="en-US" sz="588" dirty="0"/>
            </a:p>
          </p:txBody>
        </p:sp>
        <p:sp>
          <p:nvSpPr>
            <p:cNvPr id="53" name="svg1_41"/>
            <p:cNvSpPr txBox="1"/>
            <p:nvPr/>
          </p:nvSpPr>
          <p:spPr>
            <a:xfrm>
              <a:off x="2373874" y="6483005"/>
              <a:ext cx="208758" cy="104790"/>
            </a:xfrm>
            <a:prstGeom prst="rect">
              <a:avLst/>
            </a:prstGeom>
            <a:solidFill>
              <a:srgbClr val="FFFFFF"/>
            </a:solidFill>
            <a:ln/>
          </p:spPr>
          <p:txBody>
            <a:bodyPr wrap="none" lIns="0" tIns="0" rIns="0" bIns="0" rtlCol="0" anchor="ctr"/>
            <a:lstStyle/>
            <a:p>
              <a:pPr algn="l" indent="0" marL="0">
                <a:buNone/>
              </a:pPr>
              <a:r>
                <a:rPr lang="en-US" sz="588" b="1" dirty="0">
                  <a:solidFill>
                    <a:srgbClr val="262626"/>
                  </a:solidFill>
                  <a:latin typeface="Calibri" pitchFamily="34" charset="0"/>
                  <a:ea typeface="Calibri" pitchFamily="34" charset="-122"/>
                  <a:cs typeface="Calibri" pitchFamily="34" charset="-120"/>
                </a:rPr>
                <a:t>32,0%</a:t>
              </a:r>
              <a:endParaRPr lang="en-US" sz="588" dirty="0"/>
            </a:p>
          </p:txBody>
        </p:sp>
      </p:grpSp>
      <p:grpSp>
        <p:nvGrpSpPr>
          <p:cNvPr id="112" name="Fig. 25 – biểu đồ"/>
          <p:cNvGrpSpPr/>
          <p:nvPr/>
        </p:nvGrpSpPr>
        <p:grpSpPr>
          <a:xfrm>
            <a:off x="349118" y="7161306"/>
            <a:ext cx="2213397" cy="1156716"/>
            <a:chOff x="349118" y="7161306"/>
            <a:chExt cx="2213397" cy="1156716"/>
          </a:xfrm>
        </p:grpSpPr>
        <p:sp>
          <p:nvSpPr>
            <p:cNvPr id="54" name="svg2_42"/>
            <p:cNvSpPr txBox="1"/>
            <p:nvPr/>
          </p:nvSpPr>
          <p:spPr>
            <a:xfrm>
              <a:off x="349118" y="7165604"/>
              <a:ext cx="588691" cy="104790"/>
            </a:xfrm>
            <a:prstGeom prst="rect">
              <a:avLst/>
            </a:prstGeom>
            <a:noFill/>
            <a:ln/>
          </p:spPr>
          <p:txBody>
            <a:bodyPr wrap="none" lIns="0" tIns="0" rIns="0" bIns="0" rtlCol="0" anchor="ctr"/>
            <a:lstStyle/>
            <a:p>
              <a:pPr algn="r" indent="0" marL="0">
                <a:buNone/>
              </a:pPr>
              <a:r>
                <a:rPr lang="en-US" sz="588" b="1" dirty="0">
                  <a:solidFill>
                    <a:srgbClr val="262626"/>
                  </a:solidFill>
                  <a:latin typeface="Calibri" pitchFamily="34" charset="0"/>
                  <a:ea typeface="Calibri" pitchFamily="34" charset="-122"/>
                  <a:cs typeface="Calibri" pitchFamily="34" charset="-120"/>
                </a:rPr>
                <a:t>AgriPack 2025A</a:t>
              </a:r>
              <a:endParaRPr lang="en-US" sz="588" dirty="0"/>
            </a:p>
          </p:txBody>
        </p:sp>
        <p:sp>
          <p:nvSpPr>
            <p:cNvPr id="55" name="svg2_43"/>
            <p:cNvSpPr/>
            <p:nvPr/>
          </p:nvSpPr>
          <p:spPr>
            <a:xfrm>
              <a:off x="974842" y="7180875"/>
              <a:ext cx="1160008" cy="64557"/>
            </a:xfrm>
            <a:prstGeom prst="rect">
              <a:avLst/>
            </a:prstGeom>
            <a:solidFill>
              <a:srgbClr val="7B1E2B"/>
            </a:solidFill>
            <a:ln/>
          </p:spPr>
        </p:sp>
        <p:sp>
          <p:nvSpPr>
            <p:cNvPr id="56" name="svg2_44"/>
            <p:cNvSpPr txBox="1"/>
            <p:nvPr/>
          </p:nvSpPr>
          <p:spPr>
            <a:xfrm>
              <a:off x="745785" y="7269663"/>
              <a:ext cx="197602"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DHC</a:t>
              </a:r>
              <a:endParaRPr lang="en-US" sz="588" dirty="0"/>
            </a:p>
          </p:txBody>
        </p:sp>
        <p:sp>
          <p:nvSpPr>
            <p:cNvPr id="57" name="svg2_45"/>
            <p:cNvSpPr/>
            <p:nvPr/>
          </p:nvSpPr>
          <p:spPr>
            <a:xfrm>
              <a:off x="974842" y="7285025"/>
              <a:ext cx="1354866" cy="64465"/>
            </a:xfrm>
            <a:prstGeom prst="rect">
              <a:avLst/>
            </a:prstGeom>
            <a:solidFill>
              <a:srgbClr val="A3A3A3"/>
            </a:solidFill>
            <a:ln/>
          </p:spPr>
        </p:sp>
        <p:sp>
          <p:nvSpPr>
            <p:cNvPr id="58" name="svg2_46"/>
            <p:cNvSpPr txBox="1"/>
            <p:nvPr/>
          </p:nvSpPr>
          <p:spPr>
            <a:xfrm>
              <a:off x="800649" y="7373813"/>
              <a:ext cx="138623"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ILS</a:t>
              </a:r>
              <a:endParaRPr lang="en-US" sz="588" dirty="0"/>
            </a:p>
          </p:txBody>
        </p:sp>
        <p:sp>
          <p:nvSpPr>
            <p:cNvPr id="59" name="svg2_47"/>
            <p:cNvSpPr/>
            <p:nvPr/>
          </p:nvSpPr>
          <p:spPr>
            <a:xfrm>
              <a:off x="974842" y="7389084"/>
              <a:ext cx="1175644" cy="64465"/>
            </a:xfrm>
            <a:prstGeom prst="rect">
              <a:avLst/>
            </a:prstGeom>
            <a:solidFill>
              <a:srgbClr val="A3A3A3"/>
            </a:solidFill>
            <a:ln/>
          </p:spPr>
        </p:sp>
        <p:sp>
          <p:nvSpPr>
            <p:cNvPr id="60" name="svg2_48"/>
            <p:cNvSpPr txBox="1"/>
            <p:nvPr/>
          </p:nvSpPr>
          <p:spPr>
            <a:xfrm>
              <a:off x="768187" y="7477780"/>
              <a:ext cx="167427"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TPP</a:t>
              </a:r>
              <a:endParaRPr lang="en-US" sz="588" dirty="0"/>
            </a:p>
          </p:txBody>
        </p:sp>
        <p:sp>
          <p:nvSpPr>
            <p:cNvPr id="61" name="svg2_49"/>
            <p:cNvSpPr/>
            <p:nvPr/>
          </p:nvSpPr>
          <p:spPr>
            <a:xfrm>
              <a:off x="974842" y="7493142"/>
              <a:ext cx="1139891" cy="64465"/>
            </a:xfrm>
            <a:prstGeom prst="rect">
              <a:avLst/>
            </a:prstGeom>
            <a:solidFill>
              <a:srgbClr val="A3A3A3"/>
            </a:solidFill>
            <a:ln/>
          </p:spPr>
        </p:sp>
        <p:sp>
          <p:nvSpPr>
            <p:cNvPr id="62" name="svg2_50"/>
            <p:cNvSpPr txBox="1"/>
            <p:nvPr/>
          </p:nvSpPr>
          <p:spPr>
            <a:xfrm>
              <a:off x="766176" y="7581930"/>
              <a:ext cx="169347"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INN</a:t>
              </a:r>
              <a:endParaRPr lang="en-US" sz="588" dirty="0"/>
            </a:p>
          </p:txBody>
        </p:sp>
        <p:sp>
          <p:nvSpPr>
            <p:cNvPr id="63" name="svg2_51"/>
            <p:cNvSpPr/>
            <p:nvPr/>
          </p:nvSpPr>
          <p:spPr>
            <a:xfrm>
              <a:off x="974842" y="7597201"/>
              <a:ext cx="1068019" cy="64465"/>
            </a:xfrm>
            <a:prstGeom prst="rect">
              <a:avLst/>
            </a:prstGeom>
            <a:solidFill>
              <a:srgbClr val="A3A3A3"/>
            </a:solidFill>
            <a:ln/>
          </p:spPr>
        </p:sp>
        <p:sp>
          <p:nvSpPr>
            <p:cNvPr id="64" name="svg2_52"/>
            <p:cNvSpPr txBox="1"/>
            <p:nvPr/>
          </p:nvSpPr>
          <p:spPr>
            <a:xfrm>
              <a:off x="749259" y="7685898"/>
              <a:ext cx="190744"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AAA</a:t>
              </a:r>
              <a:endParaRPr lang="en-US" sz="588" dirty="0"/>
            </a:p>
          </p:txBody>
        </p:sp>
        <p:sp>
          <p:nvSpPr>
            <p:cNvPr id="65" name="svg2_53"/>
            <p:cNvSpPr/>
            <p:nvPr/>
          </p:nvSpPr>
          <p:spPr>
            <a:xfrm>
              <a:off x="974842" y="7701260"/>
              <a:ext cx="1017819" cy="64557"/>
            </a:xfrm>
            <a:prstGeom prst="rect">
              <a:avLst/>
            </a:prstGeom>
            <a:solidFill>
              <a:srgbClr val="A3A3A3"/>
            </a:solidFill>
            <a:ln/>
          </p:spPr>
        </p:sp>
        <p:sp>
          <p:nvSpPr>
            <p:cNvPr id="66" name="svg2_54"/>
            <p:cNvSpPr txBox="1"/>
            <p:nvPr/>
          </p:nvSpPr>
          <p:spPr>
            <a:xfrm>
              <a:off x="751271" y="7790048"/>
              <a:ext cx="185440"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APH</a:t>
              </a:r>
              <a:endParaRPr lang="en-US" sz="588" dirty="0"/>
            </a:p>
          </p:txBody>
        </p:sp>
        <p:sp>
          <p:nvSpPr>
            <p:cNvPr id="67" name="svg2_55"/>
            <p:cNvSpPr/>
            <p:nvPr/>
          </p:nvSpPr>
          <p:spPr>
            <a:xfrm>
              <a:off x="974842" y="7805318"/>
              <a:ext cx="1003554" cy="64465"/>
            </a:xfrm>
            <a:prstGeom prst="rect">
              <a:avLst/>
            </a:prstGeom>
            <a:solidFill>
              <a:srgbClr val="A3A3A3"/>
            </a:solidFill>
            <a:ln/>
          </p:spPr>
        </p:sp>
        <p:sp>
          <p:nvSpPr>
            <p:cNvPr id="68" name="svg2_56"/>
            <p:cNvSpPr txBox="1"/>
            <p:nvPr/>
          </p:nvSpPr>
          <p:spPr>
            <a:xfrm>
              <a:off x="747522" y="7894107"/>
              <a:ext cx="188092"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HHP</a:t>
              </a:r>
              <a:endParaRPr lang="en-US" sz="588" dirty="0"/>
            </a:p>
          </p:txBody>
        </p:sp>
        <p:sp>
          <p:nvSpPr>
            <p:cNvPr id="69" name="svg2_57"/>
            <p:cNvSpPr/>
            <p:nvPr/>
          </p:nvSpPr>
          <p:spPr>
            <a:xfrm>
              <a:off x="974842" y="7909469"/>
              <a:ext cx="666598" cy="64465"/>
            </a:xfrm>
            <a:prstGeom prst="rect">
              <a:avLst/>
            </a:prstGeom>
            <a:solidFill>
              <a:srgbClr val="A3A3A3"/>
            </a:solidFill>
            <a:ln/>
          </p:spPr>
        </p:sp>
        <p:sp>
          <p:nvSpPr>
            <p:cNvPr id="70" name="svg2_58"/>
            <p:cNvSpPr txBox="1"/>
            <p:nvPr/>
          </p:nvSpPr>
          <p:spPr>
            <a:xfrm>
              <a:off x="759775" y="7998165"/>
              <a:ext cx="175931"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TDP</a:t>
              </a:r>
              <a:endParaRPr lang="en-US" sz="588" dirty="0"/>
            </a:p>
          </p:txBody>
        </p:sp>
        <p:sp>
          <p:nvSpPr>
            <p:cNvPr id="71" name="svg2_59"/>
            <p:cNvSpPr/>
            <p:nvPr/>
          </p:nvSpPr>
          <p:spPr>
            <a:xfrm>
              <a:off x="974842" y="8013436"/>
              <a:ext cx="594909" cy="64465"/>
            </a:xfrm>
            <a:prstGeom prst="rect">
              <a:avLst/>
            </a:prstGeom>
            <a:solidFill>
              <a:srgbClr val="A3A3A3"/>
            </a:solidFill>
            <a:ln/>
          </p:spPr>
        </p:sp>
        <p:sp>
          <p:nvSpPr>
            <p:cNvPr id="72" name="svg2_60"/>
            <p:cNvSpPr txBox="1"/>
            <p:nvPr/>
          </p:nvSpPr>
          <p:spPr>
            <a:xfrm>
              <a:off x="765627" y="8102224"/>
              <a:ext cx="177759"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TPC</a:t>
              </a:r>
              <a:endParaRPr lang="en-US" sz="588" dirty="0"/>
            </a:p>
          </p:txBody>
        </p:sp>
        <p:sp>
          <p:nvSpPr>
            <p:cNvPr id="73" name="svg2_61"/>
            <p:cNvSpPr/>
            <p:nvPr/>
          </p:nvSpPr>
          <p:spPr>
            <a:xfrm>
              <a:off x="974842" y="8117586"/>
              <a:ext cx="501731" cy="64465"/>
            </a:xfrm>
            <a:prstGeom prst="rect">
              <a:avLst/>
            </a:prstGeom>
            <a:solidFill>
              <a:srgbClr val="A3A3A3"/>
            </a:solidFill>
            <a:ln/>
          </p:spPr>
        </p:sp>
        <p:sp>
          <p:nvSpPr>
            <p:cNvPr id="74" name="svg2_62"/>
            <p:cNvSpPr/>
            <p:nvPr/>
          </p:nvSpPr>
          <p:spPr>
            <a:xfrm>
              <a:off x="974842" y="7161306"/>
              <a:ext cx="0" cy="1039581"/>
            </a:xfrm>
            <a:prstGeom prst="line">
              <a:avLst/>
            </a:prstGeom>
            <a:noFill/>
            <a:ln w="6858">
              <a:solidFill>
                <a:srgbClr val="8C8C8C"/>
              </a:solidFill>
              <a:prstDash val="solid"/>
            </a:ln>
          </p:spPr>
        </p:sp>
        <p:sp>
          <p:nvSpPr>
            <p:cNvPr id="75" name="svg2_63"/>
            <p:cNvSpPr/>
            <p:nvPr/>
          </p:nvSpPr>
          <p:spPr>
            <a:xfrm>
              <a:off x="1605595" y="7161306"/>
              <a:ext cx="0" cy="1059150"/>
            </a:xfrm>
            <a:prstGeom prst="line">
              <a:avLst/>
            </a:prstGeom>
            <a:noFill/>
            <a:ln w="7874">
              <a:solidFill>
                <a:srgbClr val="404040"/>
              </a:solidFill>
              <a:prstDash val="dash"/>
            </a:ln>
          </p:spPr>
        </p:sp>
        <p:sp>
          <p:nvSpPr>
            <p:cNvPr id="76" name="svg2_64"/>
            <p:cNvSpPr txBox="1"/>
            <p:nvPr/>
          </p:nvSpPr>
          <p:spPr>
            <a:xfrm>
              <a:off x="1248796" y="8213232"/>
              <a:ext cx="721279" cy="104790"/>
            </a:xfrm>
            <a:prstGeom prst="rect">
              <a:avLst/>
            </a:prstGeom>
            <a:noFill/>
            <a:ln/>
          </p:spPr>
          <p:txBody>
            <a:bodyPr wrap="none" lIns="0" tIns="0" rIns="0" bIns="0" rtlCol="0" anchor="ctr"/>
            <a:lstStyle/>
            <a:p>
              <a:pPr algn="ctr" indent="0" marL="0">
                <a:buNone/>
              </a:pPr>
              <a:r>
                <a:rPr lang="en-US" sz="557" dirty="0">
                  <a:solidFill>
                    <a:srgbClr val="404040"/>
                  </a:solidFill>
                  <a:latin typeface="Calibri" pitchFamily="34" charset="0"/>
                  <a:ea typeface="Calibri" pitchFamily="34" charset="-122"/>
                  <a:cs typeface="Calibri" pitchFamily="34" charset="-120"/>
                </a:rPr>
                <a:t>Trung vị 15 DN: 8,8%</a:t>
              </a:r>
              <a:endParaRPr lang="en-US" sz="557" dirty="0"/>
            </a:p>
          </p:txBody>
        </p:sp>
        <p:sp>
          <p:nvSpPr>
            <p:cNvPr id="77" name="svg2_65"/>
            <p:cNvSpPr txBox="1"/>
            <p:nvPr/>
          </p:nvSpPr>
          <p:spPr>
            <a:xfrm>
              <a:off x="2159904" y="7165604"/>
              <a:ext cx="208758" cy="104790"/>
            </a:xfrm>
            <a:prstGeom prst="rect">
              <a:avLst/>
            </a:prstGeom>
            <a:solidFill>
              <a:srgbClr val="FFFFFF"/>
            </a:solidFill>
            <a:ln/>
          </p:spPr>
          <p:txBody>
            <a:bodyPr wrap="none" lIns="0" tIns="0" rIns="0" bIns="0" rtlCol="0" anchor="ctr"/>
            <a:lstStyle/>
            <a:p>
              <a:pPr algn="l" indent="0" marL="0">
                <a:buNone/>
              </a:pPr>
              <a:r>
                <a:rPr lang="en-US" sz="588" b="1" dirty="0">
                  <a:solidFill>
                    <a:srgbClr val="262626"/>
                  </a:solidFill>
                  <a:latin typeface="Calibri" pitchFamily="34" charset="0"/>
                  <a:ea typeface="Calibri" pitchFamily="34" charset="-122"/>
                  <a:cs typeface="Calibri" pitchFamily="34" charset="-120"/>
                </a:rPr>
                <a:t>16,2%</a:t>
              </a:r>
              <a:endParaRPr lang="en-US" sz="588" dirty="0"/>
            </a:p>
          </p:txBody>
        </p:sp>
        <p:sp>
          <p:nvSpPr>
            <p:cNvPr id="78" name="svg2_66"/>
            <p:cNvSpPr txBox="1"/>
            <p:nvPr/>
          </p:nvSpPr>
          <p:spPr>
            <a:xfrm>
              <a:off x="2354306" y="7269663"/>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18,9%</a:t>
              </a:r>
              <a:endParaRPr lang="en-US" sz="588" dirty="0"/>
            </a:p>
          </p:txBody>
        </p:sp>
        <p:sp>
          <p:nvSpPr>
            <p:cNvPr id="79" name="svg2_67"/>
            <p:cNvSpPr txBox="1"/>
            <p:nvPr/>
          </p:nvSpPr>
          <p:spPr>
            <a:xfrm>
              <a:off x="2174535" y="7373813"/>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16,4%</a:t>
              </a:r>
              <a:endParaRPr lang="en-US" sz="588" dirty="0"/>
            </a:p>
          </p:txBody>
        </p:sp>
        <p:sp>
          <p:nvSpPr>
            <p:cNvPr id="80" name="svg2_68"/>
            <p:cNvSpPr txBox="1"/>
            <p:nvPr/>
          </p:nvSpPr>
          <p:spPr>
            <a:xfrm>
              <a:off x="2139239" y="7477780"/>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15,9%</a:t>
              </a:r>
              <a:endParaRPr lang="en-US" sz="588" dirty="0"/>
            </a:p>
          </p:txBody>
        </p:sp>
        <p:sp>
          <p:nvSpPr>
            <p:cNvPr id="81" name="svg2_69"/>
            <p:cNvSpPr txBox="1"/>
            <p:nvPr/>
          </p:nvSpPr>
          <p:spPr>
            <a:xfrm>
              <a:off x="2067550" y="7581930"/>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14,9%</a:t>
              </a:r>
              <a:endParaRPr lang="en-US" sz="588" dirty="0"/>
            </a:p>
          </p:txBody>
        </p:sp>
        <p:sp>
          <p:nvSpPr>
            <p:cNvPr id="82" name="svg2_70"/>
            <p:cNvSpPr txBox="1"/>
            <p:nvPr/>
          </p:nvSpPr>
          <p:spPr>
            <a:xfrm>
              <a:off x="2017532" y="7685898"/>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14,2%</a:t>
              </a:r>
              <a:endParaRPr lang="en-US" sz="588" dirty="0"/>
            </a:p>
          </p:txBody>
        </p:sp>
        <p:sp>
          <p:nvSpPr>
            <p:cNvPr id="83" name="svg2_71"/>
            <p:cNvSpPr txBox="1"/>
            <p:nvPr/>
          </p:nvSpPr>
          <p:spPr>
            <a:xfrm>
              <a:off x="2002810" y="7790048"/>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14,0%</a:t>
              </a:r>
              <a:endParaRPr lang="en-US" sz="588" dirty="0"/>
            </a:p>
          </p:txBody>
        </p:sp>
        <p:sp>
          <p:nvSpPr>
            <p:cNvPr id="84" name="svg2_72"/>
            <p:cNvSpPr txBox="1"/>
            <p:nvPr/>
          </p:nvSpPr>
          <p:spPr>
            <a:xfrm>
              <a:off x="1666037" y="7894107"/>
              <a:ext cx="170444"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9,3%</a:t>
              </a:r>
              <a:endParaRPr lang="en-US" sz="588" dirty="0"/>
            </a:p>
          </p:txBody>
        </p:sp>
        <p:sp>
          <p:nvSpPr>
            <p:cNvPr id="85" name="svg2_73"/>
            <p:cNvSpPr txBox="1"/>
            <p:nvPr/>
          </p:nvSpPr>
          <p:spPr>
            <a:xfrm>
              <a:off x="1594348" y="7998165"/>
              <a:ext cx="170444"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8,3%</a:t>
              </a:r>
              <a:endParaRPr lang="en-US" sz="588" dirty="0"/>
            </a:p>
          </p:txBody>
        </p:sp>
        <p:sp>
          <p:nvSpPr>
            <p:cNvPr id="86" name="svg2_74"/>
            <p:cNvSpPr txBox="1"/>
            <p:nvPr/>
          </p:nvSpPr>
          <p:spPr>
            <a:xfrm>
              <a:off x="1501079" y="8102224"/>
              <a:ext cx="170444"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7,0%</a:t>
              </a:r>
              <a:endParaRPr lang="en-US" sz="588" dirty="0"/>
            </a:p>
          </p:txBody>
        </p:sp>
      </p:grpSp>
      <p:sp>
        <p:nvSpPr>
          <p:cNvPr id="87" name="Text 82"/>
          <p:cNvSpPr txBox="1"/>
          <p:nvPr/>
        </p:nvSpPr>
        <p:spPr>
          <a:xfrm>
            <a:off x="405354" y="315559"/>
            <a:ext cx="1873148" cy="119238"/>
          </a:xfrm>
          <a:prstGeom prst="rect">
            <a:avLst/>
          </a:prstGeom>
          <a:noFill/>
          <a:ln/>
        </p:spPr>
        <p:txBody>
          <a:bodyPr wrap="none" lIns="0" tIns="0" rIns="0" bIns="0" rtlCol="0" anchor="t"/>
          <a:lstStyle/>
          <a:p>
            <a:pPr algn="l" indent="0" marL="0">
              <a:lnSpc>
                <a:spcPts val="864"/>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 | Định giá &amp; đề xuất gọi vốn Series A</a:t>
            </a:r>
            <a:endParaRPr lang="en-US" sz="680" dirty="0"/>
          </a:p>
        </p:txBody>
      </p:sp>
      <p:sp>
        <p:nvSpPr>
          <p:cNvPr id="88" name="Text 83"/>
          <p:cNvSpPr txBox="1"/>
          <p:nvPr/>
        </p:nvSpPr>
        <p:spPr>
          <a:xfrm>
            <a:off x="6056346" y="325161"/>
            <a:ext cx="1163940" cy="109545"/>
          </a:xfrm>
          <a:prstGeom prst="rect">
            <a:avLst/>
          </a:prstGeom>
          <a:noFill/>
          <a:ln/>
        </p:spPr>
        <p:txBody>
          <a:bodyPr wrap="none" lIns="0" tIns="0" rIns="0" bIns="0" rtlCol="0" anchor="t"/>
          <a:lstStyle/>
          <a:p>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Báo cáo phân tích · 29/09/2026</a:t>
            </a:r>
            <a:endParaRPr lang="en-US" sz="680" dirty="0"/>
          </a:p>
        </p:txBody>
      </p:sp>
      <p:sp>
        <p:nvSpPr>
          <p:cNvPr id="89" name="Text 84"/>
          <p:cNvSpPr txBox="1"/>
          <p:nvPr/>
        </p:nvSpPr>
        <p:spPr>
          <a:xfrm>
            <a:off x="405354" y="593994"/>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Lộ trình pháp lý: cầu tăng theo từng mốc</a:t>
            </a:r>
            <a:endParaRPr lang="en-US" sz="720" dirty="0"/>
          </a:p>
        </p:txBody>
      </p:sp>
      <p:sp>
        <p:nvSpPr>
          <p:cNvPr id="90" name="Text 85"/>
          <p:cNvSpPr txBox="1"/>
          <p:nvPr/>
        </p:nvSpPr>
        <p:spPr>
          <a:xfrm>
            <a:off x="405354" y="3126334"/>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NĐ 08/2022/NĐ-CP; NĐ 48/2026/NĐ-CP; NĐ 110/2026/NĐ-CP; TT 27/2026/TT-BYT; Luật 67/2025/QH15; NQ 198/2025/QH15</a:t>
            </a:r>
            <a:endParaRPr lang="en-US" sz="600" dirty="0"/>
          </a:p>
        </p:txBody>
      </p:sp>
      <p:sp>
        <p:nvSpPr>
          <p:cNvPr id="91" name="Text 86"/>
          <p:cNvSpPr txBox="1"/>
          <p:nvPr/>
        </p:nvSpPr>
        <p:spPr>
          <a:xfrm>
            <a:off x="405354" y="3422874"/>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AgriPack đã có 4,3% SAM; dự phóng hàm ý 11,0% năm 2030</a:t>
            </a:r>
            <a:endParaRPr lang="en-US" sz="720" dirty="0"/>
          </a:p>
        </p:txBody>
      </p:sp>
      <p:sp>
        <p:nvSpPr>
          <p:cNvPr id="92" name="Text 87"/>
          <p:cNvSpPr txBox="1"/>
          <p:nvPr/>
        </p:nvSpPr>
        <p:spPr>
          <a:xfrm>
            <a:off x="405354" y="4454774"/>
            <a:ext cx="2289566" cy="103144"/>
          </a:xfrm>
          <a:prstGeom prst="rect">
            <a:avLst/>
          </a:prstGeom>
          <a:noFill/>
          <a:ln/>
        </p:spPr>
        <p:txBody>
          <a:bodyPr wrap="none" lIns="0" tIns="0" rIns="0" bIns="0" rtlCol="0" anchor="t"/>
          <a:lstStyle/>
          <a:p>
            <a:pPr algn="l" indent="0" marL="0">
              <a:lnSpc>
                <a:spcPts val="813"/>
              </a:lnSpc>
              <a:buNone/>
            </a:pPr>
            <a:r>
              <a:rPr lang="en-US" sz="640" b="1" dirty="0">
                <a:solidFill>
                  <a:srgbClr val="666666"/>
                </a:solidFill>
                <a:latin typeface="Calibri" pitchFamily="34" charset="0"/>
                <a:ea typeface="Calibri" pitchFamily="34" charset="-122"/>
                <a:cs typeface="Calibri" pitchFamily="34" charset="-120"/>
              </a:rPr>
              <a:t>Thị phần ngầm định của AgriPack trong SAM</a:t>
            </a:r>
            <a:endParaRPr lang="en-US" sz="640" dirty="0"/>
          </a:p>
        </p:txBody>
      </p:sp>
      <p:sp>
        <p:nvSpPr>
          <p:cNvPr id="93" name="Text 88"/>
          <p:cNvSpPr txBox="1"/>
          <p:nvPr/>
        </p:nvSpPr>
        <p:spPr>
          <a:xfrm>
            <a:off x="405354" y="5230734"/>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Mordor Intelligence (ấn bản 2025–2030); IMARC Group (2025); tỷ giá và dự phóng của nhóm (Drivers)</a:t>
            </a:r>
            <a:endParaRPr lang="en-US" sz="600" dirty="0"/>
          </a:p>
        </p:txBody>
      </p:sp>
      <p:sp>
        <p:nvSpPr>
          <p:cNvPr id="94" name="Text 89"/>
          <p:cNvSpPr txBox="1"/>
          <p:nvPr/>
        </p:nvSpPr>
        <p:spPr>
          <a:xfrm>
            <a:off x="405354" y="5527365"/>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Cầu dịch vụ ăn uống tăng 16%; sản lượng F&amp;B dự phóng tăng gấp đôi mức này</a:t>
            </a:r>
            <a:endParaRPr lang="en-US" sz="720" dirty="0"/>
          </a:p>
        </p:txBody>
      </p:sp>
      <p:sp>
        <p:nvSpPr>
          <p:cNvPr id="95" name="Text 90"/>
          <p:cNvSpPr txBox="1"/>
          <p:nvPr/>
        </p:nvSpPr>
        <p:spPr>
          <a:xfrm>
            <a:off x="405354" y="668499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Cục Thống kê qua FiinX; VECOM (2025); Drivers</a:t>
            </a:r>
            <a:endParaRPr lang="en-US" sz="600" dirty="0"/>
          </a:p>
        </p:txBody>
      </p:sp>
      <p:sp>
        <p:nvSpPr>
          <p:cNvPr id="96" name="Text 91"/>
          <p:cNvSpPr txBox="1"/>
          <p:nvPr/>
        </p:nvSpPr>
        <p:spPr>
          <a:xfrm>
            <a:off x="405354" y="6890278"/>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Biên EBITDA của AgriPack thuộc nhóm cao nhất ngành bao bì niêm yết</a:t>
            </a:r>
            <a:endParaRPr lang="en-US" sz="720" dirty="0"/>
          </a:p>
        </p:txBody>
      </p:sp>
      <p:sp>
        <p:nvSpPr>
          <p:cNvPr id="97" name="Text 92"/>
          <p:cNvSpPr txBox="1"/>
          <p:nvPr/>
        </p:nvSpPr>
        <p:spPr>
          <a:xfrm>
            <a:off x="405354" y="8376910"/>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FiinX (giá đóng cửa 28/9/2026; BCTC quý đến Q2/2026, TTM); biên EBITDA DHC theo Q2/2026</a:t>
            </a:r>
            <a:endParaRPr lang="en-US" sz="600" dirty="0"/>
          </a:p>
        </p:txBody>
      </p:sp>
      <p:sp>
        <p:nvSpPr>
          <p:cNvPr id="98" name="Text 93"/>
          <p:cNvSpPr txBox="1"/>
          <p:nvPr/>
        </p:nvSpPr>
        <p:spPr>
          <a:xfrm>
            <a:off x="2745303" y="562813"/>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Thuế.</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Theo Luật Thuế TNDN 67/2025/QH15, thuế suất 17% áp dụng khi tổng doanh thu năm trước liền kề không quá 50 tỷ đồng. Doanh thu 2025 là 47,5 tỷ nên AgriPack hưởng 17% cho năm 2026, từ 2027 áp dụng 20%; lợi ích chỉ khoảng 0,2 tỷ đồng. Lỗ tính thuế còn 2,17 tỷ được bù hết trong 2026. Ưu đãi cho doanh nghiệp khởi nghiệp sáng tạo theo Nghị quyết 198/2025/QH15 (miễn thuế 2 năm, giảm 50% trong 4 năm tiếp theo) chỉ là khả năng tăng giá trị vì điều kiện áp dụng chưa chắc chắn.</a:t>
            </a:r>
            <a:endParaRPr lang="en-US" sz="900" dirty="0"/>
          </a:p>
        </p:txBody>
      </p:sp>
      <p:sp>
        <p:nvSpPr>
          <p:cNvPr id="99" name="Text 94"/>
          <p:cNvSpPr txBox="1"/>
          <p:nvPr/>
        </p:nvSpPr>
        <p:spPr>
          <a:xfrm>
            <a:off x="2745303" y="1485626"/>
            <a:ext cx="4673773" cy="140178"/>
          </a:xfrm>
          <a:prstGeom prst="rect">
            <a:avLst/>
          </a:prstGeom>
          <a:noFill/>
          <a:ln/>
        </p:spPr>
        <p:txBody>
          <a:bodyPr wrap="none" lIns="0" tIns="0" rIns="0" bIns="0" rtlCol="0" anchor="t"/>
          <a:lstStyle/>
          <a:p>
            <a:pPr algn="l" indent="0" marL="0">
              <a:lnSpc>
                <a:spcPts val="1104"/>
              </a:lnSpc>
              <a:buNone/>
            </a:pPr>
            <a:r>
              <a:rPr lang="en-US" sz="920" b="1" dirty="0">
                <a:solidFill>
                  <a:srgbClr val="7B1E2B"/>
                </a:solidFill>
                <a:latin typeface="Calibri" pitchFamily="34" charset="0"/>
                <a:ea typeface="Calibri" pitchFamily="34" charset="-122"/>
                <a:cs typeface="Calibri" pitchFamily="34" charset="-120"/>
              </a:rPr>
              <a:t>3.2 Ngành bao bì xanh: tăng nhanh ở quy định, chậm ở quy mô</a:t>
            </a:r>
            <a:endParaRPr lang="en-US" sz="920" dirty="0"/>
          </a:p>
        </p:txBody>
      </p:sp>
      <p:sp>
        <p:nvSpPr>
          <p:cNvPr id="100" name="Text 95"/>
          <p:cNvSpPr txBox="1"/>
          <p:nvPr/>
        </p:nvSpPr>
        <p:spPr>
          <a:xfrm>
            <a:off x="2745303" y="1672529"/>
            <a:ext cx="4409237" cy="14510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Quy mô và tăng trưởng.</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Các nguồn cho bức tranh khác nhau vì khác phạm vi. Ngành bao bì nói chung được kỳ vọng tăng 15–20%/năm (ProPak Vietnam 2024); bao bì giấy tăng 9,7%/năm, từ 2,85 tỷ USD (2025) lên 4,54 tỷ USD (2030) (Mordor Intelligence); trong khi IMARC ước thị trường bao bì xanh chỉ tăng 4,2%/năm và phân khúc sát nhất với AgriPack – đồ dùng một lần phân hủy sinh học cho ngành ăn uống – tăng 4,7%/năm tính bằng USD (Fig. 23). Khác biệt đến từ định nghĩa (toàn ngành hay chỉ vật liệu phân hủy), đơn vị (USD hay VND, giá trị hay sản lượng) và năm gốc. Chúng tôi dùng SAM của IMARC làm giới hạn trên cho dự phóng: doanh thu F&amp;B của AgriPack tăng 26%/năm theo USD, nên thị phần ngầm định tăng từ 4,3% lên 11,0%. Mức này cao nhưng có thể đạt được nếu Điều 64 được thực thi; trên 15% chúng tôi coi là thiếu cơ sở.</a:t>
            </a:r>
            <a:endParaRPr lang="en-US" sz="900" dirty="0"/>
          </a:p>
        </p:txBody>
      </p:sp>
      <p:sp>
        <p:nvSpPr>
          <p:cNvPr id="101" name="Text 96"/>
          <p:cNvSpPr txBox="1"/>
          <p:nvPr/>
        </p:nvSpPr>
        <p:spPr>
          <a:xfrm>
            <a:off x="2745303" y="3175711"/>
            <a:ext cx="4409237" cy="116092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Động lực tăng trưởng.</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(1) Quy định: Điều 64 NĐ 08/2022 và NĐ 110/2026 chuyển nhu cầu từ nhựa dùng một lần sang bao bì phân hủy, rõ nhất ở siêu thị, trung tâm thương mại và khách sạn. (2) Dịch vụ ăn uống: doanh thu lưu trú, ăn uống tăng 16,4% trong 8 tháng 2026, nhanh hơn bán lẻ nói chung (Fig. 24). (3) Người tiêu dùng: 92,1% quan tâm đến tính thân thiện môi trường của bao bì và 57,4% sẵn sàng trả cao hơn nếu chênh lệch giá nhỏ (Vietnam Report, 2024) – điều kiện "chênh lệch nhỏ" ủng hộ chiến lược giá ngang thị trường. (4) TMĐT (38,5 tỷ USD, +21% năm 2025) và xuất khẩu (+22,4% trong 8 tháng) tạo cầu đệm bảo vệ, nhưng hai mảng này mới chiếm 8% doanh thu, nên chỉ là động lực phụ.</a:t>
            </a:r>
            <a:endParaRPr lang="en-US" sz="900" dirty="0"/>
          </a:p>
        </p:txBody>
      </p:sp>
      <p:sp>
        <p:nvSpPr>
          <p:cNvPr id="102" name="Text 97"/>
          <p:cNvSpPr txBox="1"/>
          <p:nvPr/>
        </p:nvSpPr>
        <p:spPr>
          <a:xfrm>
            <a:off x="2745303" y="4388663"/>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Cạnh tranh.</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Đối thủ cần được chia thành ba nhóm. Đối thủ trực tiếp là các xưởng ép bột giấy/bã mía trong nước và hàng bã mía nhập khẩu – nhóm tạo áp lực giá lớn nhất; số liệu nhập khẩu theo mã HS 4823.70 cần được bổ sung để đo quy mô nhóm này. Đối thủ gián tiếp là nhựa sinh học PLA/PBAT như AnEco của An Phát Holdings (doanh thu hợp nhất 2025: 10.741 tỷ đồng) và Hapbio – quy mô lớn nhưng khác công nghệ và giá thành cao hơn. Sản phẩm thay thế là hộp xốp EPS, hộp nhựa PP, hộp kraft và EPE foam: rẻ nhưng bị thu hẹp dần bởi quy định.</a:t>
            </a:r>
            <a:endParaRPr lang="en-US" sz="900" dirty="0"/>
          </a:p>
        </p:txBody>
      </p:sp>
      <p:sp>
        <p:nvSpPr>
          <p:cNvPr id="103" name="Text 98"/>
          <p:cNvSpPr txBox="1"/>
          <p:nvPr/>
        </p:nvSpPr>
        <p:spPr>
          <a:xfrm>
            <a:off x="2745303" y="5311384"/>
            <a:ext cx="4409237" cy="101571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Vị thế của AgriPack.</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Sức mạnh của người mua cao vì khách hàng B2B có nhiều lựa chọn và nhạy giá; quyền lực của nhà cung cấp ở mức trung bình–cao vì bã mía theo mùa vụ và có chi phí cơ hội là nhiên liệu. Dù vậy, biên EBITDA 16,2% của AgriPack chỉ thấp hơn DHC (18,9%) và ILS (16,4%) trong nhóm doanh nghiệp bao bì niêm yết và gần gấp đôi trung vị 8,8% (Fig. 25). Chúng tôi cho rằng khác biệt đến từ nguyên liệu phụ phẩm rẻ và dịch vụ khuôn theo mẫu, không từ quy mô; vì vậy biên EBITDA dự phóng không vượt 20–21% trong 5 năm. Năm lực lượng cạnh tranh được tóm tắt ở Fig. 26.</a:t>
            </a:r>
            <a:endParaRPr lang="en-US" sz="900" dirty="0"/>
          </a:p>
        </p:txBody>
      </p:sp>
      <p:sp>
        <p:nvSpPr>
          <p:cNvPr id="104" name="Text 99"/>
          <p:cNvSpPr txBox="1"/>
          <p:nvPr/>
        </p:nvSpPr>
        <p:spPr>
          <a:xfrm>
            <a:off x="2745303" y="6410310"/>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Năm lực lượng cạnh tranh: áp lực chính đến từ giá và người mua</a:t>
            </a:r>
            <a:endParaRPr lang="en-US" sz="720" dirty="0"/>
          </a:p>
        </p:txBody>
      </p:sp>
      <p:sp>
        <p:nvSpPr>
          <p:cNvPr id="105" name="Text 100"/>
          <p:cNvSpPr txBox="1"/>
          <p:nvPr/>
        </p:nvSpPr>
        <p:spPr>
          <a:xfrm>
            <a:off x="2745303" y="7945222"/>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Tổng hợp của nhóm; FiinX (APH, BCTC 2025); NĐ 08/2022/NĐ-CP</a:t>
            </a:r>
            <a:endParaRPr lang="en-US" sz="600" dirty="0"/>
          </a:p>
        </p:txBody>
      </p:sp>
      <p:sp>
        <p:nvSpPr>
          <p:cNvPr id="106" name="Text 101"/>
          <p:cNvSpPr txBox="1"/>
          <p:nvPr/>
        </p:nvSpPr>
        <p:spPr>
          <a:xfrm>
            <a:off x="405354" y="8685611"/>
            <a:ext cx="7153991" cy="140178"/>
          </a:xfrm>
          <a:prstGeom prst="rect">
            <a:avLst/>
          </a:prstGeom>
          <a:noFill/>
          <a:ln/>
        </p:spPr>
        <p:txBody>
          <a:bodyPr wrap="none" lIns="0" tIns="0" rIns="0" bIns="0" rtlCol="0" anchor="t"/>
          <a:lstStyle/>
          <a:p>
            <a:pPr algn="l" indent="0" marL="0">
              <a:lnSpc>
                <a:spcPts val="1104"/>
              </a:lnSpc>
              <a:buNone/>
            </a:pPr>
            <a:r>
              <a:rPr lang="en-US" sz="920" b="1" dirty="0">
                <a:solidFill>
                  <a:srgbClr val="7B1E2B"/>
                </a:solidFill>
                <a:latin typeface="Calibri" pitchFamily="34" charset="0"/>
                <a:ea typeface="Calibri" pitchFamily="34" charset="-122"/>
                <a:cs typeface="Calibri" pitchFamily="34" charset="-120"/>
              </a:rPr>
              <a:t>3.3 Từ vĩ mô đến giả định mô hình</a:t>
            </a:r>
            <a:endParaRPr lang="en-US" sz="920" dirty="0"/>
          </a:p>
        </p:txBody>
      </p:sp>
      <p:sp>
        <p:nvSpPr>
          <p:cNvPr id="107" name="Text 102"/>
          <p:cNvSpPr txBox="1"/>
          <p:nvPr/>
        </p:nvSpPr>
        <p:spPr>
          <a:xfrm>
            <a:off x="405354" y="8872515"/>
            <a:ext cx="6749004" cy="580461"/>
          </a:xfrm>
          <a:prstGeom prst="rect">
            <a:avLst/>
          </a:prstGeom>
          <a:noFill/>
          <a:ln/>
        </p:spPr>
        <p:txBody>
          <a:bodyPr wrap="square" lIns="0" tIns="0" rIns="0" bIns="0" rtlCol="0" anchor="t"/>
          <a:lstStyle/>
          <a:p>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Đề bài yêu cầu điều kiện vĩ mô và ngành phải định hướng cho dự phóng và định giá. Chúng tôi nối từng yếu tố với giả định cụ thể trong mô hình (Fig. 27). Ba kết luận: (i) cầu không phải ràng buộc trong 2026–2027, công suất mới là ràng buộc; (ii) chi phí nhân công, năng lượng tăng nhanh hơn giá bán nên biên lợi nhuận chỉ cải thiện nhờ đòn bẩy chi phí cố định; (iii) lãi suất tăng và dòng vốn VC chọn lọc khiến cấu trúc vốn quan trọng ngang với kế hoạch kinh doanh.</a:t>
            </a:r>
            <a:endParaRPr lang="en-US" sz="900" dirty="0"/>
          </a:p>
        </p:txBody>
      </p:sp>
      <p:sp>
        <p:nvSpPr>
          <p:cNvPr id="108" name="Text 103"/>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09" name="Text 104"/>
          <p:cNvSpPr txBox="1"/>
          <p:nvPr/>
        </p:nvSpPr>
        <p:spPr>
          <a:xfrm>
            <a:off x="7114581" y="10402672"/>
            <a:ext cx="97018"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5</a:t>
            </a:r>
            <a:endParaRPr lang="en-US" sz="6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2874325"/>
            <a:ext cx="6749004" cy="206380"/>
          </a:xfrm>
          <a:prstGeom prst="rect">
            <a:avLst/>
          </a:prstGeom>
          <a:solidFill>
            <a:srgbClr val="7B1E2B"/>
          </a:solidFill>
          <a:ln/>
        </p:spPr>
      </p:sp>
      <p:sp>
        <p:nvSpPr>
          <p:cNvPr id="3" name="Shape 1"/>
          <p:cNvSpPr/>
          <p:nvPr/>
        </p:nvSpPr>
        <p:spPr>
          <a:xfrm>
            <a:off x="405354" y="471830"/>
            <a:ext cx="6749004" cy="0"/>
          </a:xfrm>
          <a:prstGeom prst="line">
            <a:avLst/>
          </a:prstGeom>
          <a:noFill/>
          <a:ln w="9525">
            <a:solidFill>
              <a:srgbClr val="7B1E2B"/>
            </a:solidFill>
            <a:prstDash val="solid"/>
          </a:ln>
        </p:spPr>
      </p:sp>
      <p:sp>
        <p:nvSpPr>
          <p:cNvPr id="4" name="Shape 2"/>
          <p:cNvSpPr/>
          <p:nvPr/>
        </p:nvSpPr>
        <p:spPr>
          <a:xfrm>
            <a:off x="405354" y="567568"/>
            <a:ext cx="6749004" cy="0"/>
          </a:xfrm>
          <a:prstGeom prst="line">
            <a:avLst/>
          </a:prstGeom>
          <a:noFill/>
          <a:ln w="9525">
            <a:solidFill>
              <a:srgbClr val="7B1E2B"/>
            </a:solidFill>
            <a:prstDash val="solid"/>
          </a:ln>
        </p:spPr>
      </p:sp>
      <p:sp>
        <p:nvSpPr>
          <p:cNvPr id="5" name="Shape 3"/>
          <p:cNvSpPr/>
          <p:nvPr/>
        </p:nvSpPr>
        <p:spPr>
          <a:xfrm>
            <a:off x="405354" y="3157332"/>
            <a:ext cx="2159996" cy="0"/>
          </a:xfrm>
          <a:prstGeom prst="line">
            <a:avLst/>
          </a:prstGeom>
          <a:noFill/>
          <a:ln w="9525">
            <a:solidFill>
              <a:srgbClr val="7B1E2B"/>
            </a:solidFill>
            <a:prstDash val="solid"/>
          </a:ln>
        </p:spPr>
      </p:sp>
      <p:sp>
        <p:nvSpPr>
          <p:cNvPr id="6" name="Shape 4"/>
          <p:cNvSpPr/>
          <p:nvPr/>
        </p:nvSpPr>
        <p:spPr>
          <a:xfrm>
            <a:off x="405354" y="4692152"/>
            <a:ext cx="2159996" cy="0"/>
          </a:xfrm>
          <a:prstGeom prst="line">
            <a:avLst/>
          </a:prstGeom>
          <a:noFill/>
          <a:ln w="9525">
            <a:solidFill>
              <a:srgbClr val="7B1E2B"/>
            </a:solidFill>
            <a:prstDash val="solid"/>
          </a:ln>
        </p:spPr>
      </p:sp>
      <p:sp>
        <p:nvSpPr>
          <p:cNvPr id="7" name="Shape 5"/>
          <p:cNvSpPr/>
          <p:nvPr/>
        </p:nvSpPr>
        <p:spPr>
          <a:xfrm>
            <a:off x="405354" y="6833677"/>
            <a:ext cx="2159996" cy="0"/>
          </a:xfrm>
          <a:prstGeom prst="line">
            <a:avLst/>
          </a:prstGeom>
          <a:noFill/>
          <a:ln w="9525">
            <a:solidFill>
              <a:srgbClr val="7B1E2B"/>
            </a:solidFill>
            <a:prstDash val="solid"/>
          </a:ln>
        </p:spPr>
      </p:sp>
      <p:sp>
        <p:nvSpPr>
          <p:cNvPr id="8" name="Shape 6"/>
          <p:cNvSpPr/>
          <p:nvPr/>
        </p:nvSpPr>
        <p:spPr>
          <a:xfrm>
            <a:off x="405354" y="8172176"/>
            <a:ext cx="2159996" cy="0"/>
          </a:xfrm>
          <a:prstGeom prst="line">
            <a:avLst/>
          </a:prstGeom>
          <a:noFill/>
          <a:ln w="9525">
            <a:solidFill>
              <a:srgbClr val="7B1E2B"/>
            </a:solidFill>
            <a:prstDash val="solid"/>
          </a:ln>
        </p:spPr>
      </p:sp>
      <p:sp>
        <p:nvSpPr>
          <p:cNvPr id="9" name="Shape 7"/>
          <p:cNvSpPr/>
          <p:nvPr/>
        </p:nvSpPr>
        <p:spPr>
          <a:xfrm>
            <a:off x="405354" y="10365547"/>
            <a:ext cx="6749004" cy="0"/>
          </a:xfrm>
          <a:prstGeom prst="line">
            <a:avLst/>
          </a:prstGeom>
          <a:noFill/>
          <a:ln w="9525">
            <a:solidFill>
              <a:srgbClr val="BFBFBF"/>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5354" y="735818"/>
          <a:ext cx="6749004" cy="914400"/>
        </p:xfrm>
        <a:graphic>
          <a:graphicData uri="http://schemas.openxmlformats.org/drawingml/2006/table">
            <a:tbl>
              <a:tblPr/>
              <a:tblGrid>
                <a:gridCol w="1012332"/>
                <a:gridCol w="2159630"/>
                <a:gridCol w="1687251"/>
                <a:gridCol w="1889790"/>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Yếu tố</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Số liệu</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Tác động lên AgriPack</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Giả định trong mô hình</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35458">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Cầu tiêu dùng, dịch vụ ăn uống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DT lưu trú–ăn uống +16,4%, bán lẻ +13,3% (8T-2026); tiêu dùng cuối cùng +8,2% (6T)</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Cầu hộp/khay F&amp;B tăng; phần tăng vượt thị trường phải đến từ khách hàng mới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Sản lượng F&amp;B +32% (26E), +22% (27E), +35% (28E, nhà máy mới)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Lạm phát, tiền lương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CPI +4,45% (8T-2026); lương tối thiểu vùng +7,2% từ 1/1/2026</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Chi phí tăng nhanh hơn giá bán B2B</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Giá bán +2%/năm; tiền lương 22,5–23,5% DT</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Năng lượng, bã mía</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Giá điện bán lẻ +4,8% (10/2024) và +4,8% (5/2025); bã mía là nhiên liệu lò hơi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Chi phí sấy, ép nhiệt và nguyên liệu tăng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Điện nước 5,0% DT; CP biến đổi 25,0% → 27,0% DT</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Lãi suất</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Cho vay trung–dài hạn 8,4–10,7% (8/2026), +1,7 điểm % so với 12/2025</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Chi phí vay cho nhà máy; khả năng trả lãi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Kd = 10%; vay 60% CAPEX 2027 (31,1 tỷ), 7 năm, ân hạn 2 năm</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Tỷ giá CNY/VND</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+10,9% từ cuối 2024; USD/VND −0,8% từ đầu 2026</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Giá máy ép nhập từ Trung Quốc</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CAPEX tính bằng VND; CNY +5% ≈ +1,3 tỷ CAPEX (độ nhạy)</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Vốn VC</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509 triệu USD (+28%) nhưng chỉ 103 thương vụ (2025)</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NĐT chọn lọc, đòi mốc giải ngân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Series A hai đợt theo mốc; ρ = 0,7 trong total beta</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Quy định</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Điều 64 NĐ 08/2022; NĐ 110/2026; Luật 67/2025</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Cầu dài hạn sau 2030; thuế suất</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g = 5%, RONIC 18%; thuế 17% (26E), 20% (27E trở đi)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Quy mô ngách</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SAM 33,9 triệu USD, CAGR 4,7% (USD)</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Giới hạn tăng trưởng doanh thu</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Thị phần SAM 4,3% → 11,0% (2030E); cờ đỏ nếu &gt; 15%</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405354" y="4969855"/>
          <a:ext cx="2159996" cy="914400"/>
        </p:xfrm>
        <a:graphic>
          <a:graphicData uri="http://schemas.openxmlformats.org/drawingml/2006/table">
            <a:tbl>
              <a:tblPr/>
              <a:tblGrid>
                <a:gridCol w="799277"/>
                <a:gridCol w="272034"/>
                <a:gridCol w="272034"/>
                <a:gridCol w="272034"/>
                <a:gridCol w="272034"/>
                <a:gridCol w="272491"/>
              </a:tblGrid>
              <a:tr h="133045">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Giả định</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26E</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27E</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28E</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29E</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30E</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26497">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SL hộp/khay F&amp;B (tr. cái)</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20,1</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24,5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33,1</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41,4</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48,4</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Tăng SL F&amp;B</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17%</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Tăng số bộ khuôn</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Tăng m² đệm NT/TMĐT</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Tăng m² đệm điện tử</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60%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50%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70%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Giá bán F&amp;B, khuôn</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Giá đệm bảo vệ</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CP biến đổi/DT</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25,0%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25,5%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27,0%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26,5%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27,0%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Tiền lương/DT</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22,5%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23,0%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23,5%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23,0%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22,5%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CAPEX/DT</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20%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65%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12%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10%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10%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195" name="Fig. 28 – biểu đồ"/>
          <p:cNvGrpSpPr/>
          <p:nvPr/>
        </p:nvGrpSpPr>
        <p:grpSpPr>
          <a:xfrm>
            <a:off x="444764" y="3437504"/>
            <a:ext cx="2081266" cy="1058966"/>
            <a:chOff x="444764" y="3437504"/>
            <a:chExt cx="2081266" cy="1058966"/>
          </a:xfrm>
        </p:grpSpPr>
        <p:sp>
          <p:nvSpPr>
            <p:cNvPr id="12" name="svg0_0"/>
            <p:cNvSpPr/>
            <p:nvPr/>
          </p:nvSpPr>
          <p:spPr>
            <a:xfrm>
              <a:off x="791596" y="3582345"/>
              <a:ext cx="1734434" cy="795254"/>
            </a:xfrm>
            <a:prstGeom prst="rect">
              <a:avLst/>
            </a:prstGeom>
            <a:solidFill>
              <a:srgbClr val="F3F1F1"/>
            </a:solidFill>
            <a:ln/>
          </p:spPr>
        </p:sp>
        <p:sp>
          <p:nvSpPr>
            <p:cNvPr id="13" name="svg0_1"/>
            <p:cNvSpPr/>
            <p:nvPr/>
          </p:nvSpPr>
          <p:spPr>
            <a:xfrm>
              <a:off x="510601" y="4223796"/>
              <a:ext cx="215067" cy="153802"/>
            </a:xfrm>
            <a:prstGeom prst="rect">
              <a:avLst/>
            </a:prstGeom>
            <a:solidFill>
              <a:srgbClr val="7B1E2B"/>
            </a:solidFill>
            <a:ln w="6858">
              <a:solidFill>
                <a:srgbClr val="FFFFFF"/>
              </a:solidFill>
              <a:prstDash val="solid"/>
            </a:ln>
          </p:spPr>
        </p:sp>
        <p:sp>
          <p:nvSpPr>
            <p:cNvPr id="14" name="svg0_2"/>
            <p:cNvSpPr/>
            <p:nvPr/>
          </p:nvSpPr>
          <p:spPr>
            <a:xfrm>
              <a:off x="510601" y="4199931"/>
              <a:ext cx="215067" cy="23774"/>
            </a:xfrm>
            <a:prstGeom prst="rect">
              <a:avLst/>
            </a:prstGeom>
            <a:solidFill>
              <a:srgbClr val="A3A3A3"/>
            </a:solidFill>
            <a:ln w="6858">
              <a:solidFill>
                <a:srgbClr val="FFFFFF"/>
              </a:solidFill>
              <a:prstDash val="solid"/>
            </a:ln>
          </p:spPr>
        </p:sp>
        <p:sp>
          <p:nvSpPr>
            <p:cNvPr id="15" name="svg0_3"/>
            <p:cNvSpPr/>
            <p:nvPr/>
          </p:nvSpPr>
          <p:spPr>
            <a:xfrm>
              <a:off x="510601" y="4188866"/>
              <a:ext cx="215067" cy="11064"/>
            </a:xfrm>
            <a:prstGeom prst="rect">
              <a:avLst/>
            </a:prstGeom>
            <a:solidFill>
              <a:srgbClr val="404040"/>
            </a:solidFill>
            <a:ln w="6858">
              <a:solidFill>
                <a:srgbClr val="FFFFFF"/>
              </a:solidFill>
              <a:prstDash val="solid"/>
            </a:ln>
          </p:spPr>
        </p:sp>
        <p:sp>
          <p:nvSpPr>
            <p:cNvPr id="16" name="svg0_4"/>
            <p:cNvSpPr/>
            <p:nvPr/>
          </p:nvSpPr>
          <p:spPr>
            <a:xfrm>
              <a:off x="510601" y="4184020"/>
              <a:ext cx="215067" cy="4846"/>
            </a:xfrm>
            <a:prstGeom prst="rect">
              <a:avLst/>
            </a:prstGeom>
            <a:solidFill>
              <a:srgbClr val="D0D0D0"/>
            </a:solidFill>
            <a:ln w="6858">
              <a:solidFill>
                <a:srgbClr val="FFFFFF"/>
              </a:solidFill>
              <a:prstDash val="solid"/>
            </a:ln>
          </p:spPr>
        </p:sp>
        <p:sp>
          <p:nvSpPr>
            <p:cNvPr id="17" name="svg0_5"/>
            <p:cNvSpPr txBox="1"/>
            <p:nvPr/>
          </p:nvSpPr>
          <p:spPr>
            <a:xfrm>
              <a:off x="551475" y="4074932"/>
              <a:ext cx="139995"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48</a:t>
              </a:r>
              <a:endParaRPr lang="en-US" sz="649" dirty="0"/>
            </a:p>
          </p:txBody>
        </p:sp>
        <p:sp>
          <p:nvSpPr>
            <p:cNvPr id="18" name="svg0_6"/>
            <p:cNvSpPr txBox="1"/>
            <p:nvPr/>
          </p:nvSpPr>
          <p:spPr>
            <a:xfrm>
              <a:off x="488381" y="4391680"/>
              <a:ext cx="26471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a:t>
              </a:r>
              <a:endParaRPr lang="en-US" sz="587" dirty="0"/>
            </a:p>
          </p:txBody>
        </p:sp>
        <p:sp>
          <p:nvSpPr>
            <p:cNvPr id="19" name="svg0_7"/>
            <p:cNvSpPr/>
            <p:nvPr/>
          </p:nvSpPr>
          <p:spPr>
            <a:xfrm>
              <a:off x="857524" y="4170487"/>
              <a:ext cx="215158" cy="207112"/>
            </a:xfrm>
            <a:prstGeom prst="rect">
              <a:avLst/>
            </a:prstGeom>
            <a:solidFill>
              <a:srgbClr val="7B1E2B"/>
            </a:solidFill>
            <a:ln w="6858">
              <a:solidFill>
                <a:srgbClr val="FFFFFF"/>
              </a:solidFill>
              <a:prstDash val="solid"/>
            </a:ln>
          </p:spPr>
        </p:sp>
        <p:sp>
          <p:nvSpPr>
            <p:cNvPr id="20" name="svg0_8"/>
            <p:cNvSpPr/>
            <p:nvPr/>
          </p:nvSpPr>
          <p:spPr>
            <a:xfrm>
              <a:off x="857524" y="4140860"/>
              <a:ext cx="215158" cy="29627"/>
            </a:xfrm>
            <a:prstGeom prst="rect">
              <a:avLst/>
            </a:prstGeom>
            <a:solidFill>
              <a:srgbClr val="A3A3A3"/>
            </a:solidFill>
            <a:ln w="6858">
              <a:solidFill>
                <a:srgbClr val="FFFFFF"/>
              </a:solidFill>
              <a:prstDash val="solid"/>
            </a:ln>
          </p:spPr>
        </p:sp>
        <p:sp>
          <p:nvSpPr>
            <p:cNvPr id="21" name="svg0_9"/>
            <p:cNvSpPr/>
            <p:nvPr/>
          </p:nvSpPr>
          <p:spPr>
            <a:xfrm>
              <a:off x="857524" y="4126230"/>
              <a:ext cx="215158" cy="14630"/>
            </a:xfrm>
            <a:prstGeom prst="rect">
              <a:avLst/>
            </a:prstGeom>
            <a:solidFill>
              <a:srgbClr val="404040"/>
            </a:solidFill>
            <a:ln w="6858">
              <a:solidFill>
                <a:srgbClr val="FFFFFF"/>
              </a:solidFill>
              <a:prstDash val="solid"/>
            </a:ln>
          </p:spPr>
        </p:sp>
        <p:sp>
          <p:nvSpPr>
            <p:cNvPr id="22" name="svg0_10"/>
            <p:cNvSpPr/>
            <p:nvPr/>
          </p:nvSpPr>
          <p:spPr>
            <a:xfrm>
              <a:off x="857524" y="4118549"/>
              <a:ext cx="215158" cy="7681"/>
            </a:xfrm>
            <a:prstGeom prst="rect">
              <a:avLst/>
            </a:prstGeom>
            <a:solidFill>
              <a:srgbClr val="D0D0D0"/>
            </a:solidFill>
            <a:ln w="6858">
              <a:solidFill>
                <a:srgbClr val="FFFFFF"/>
              </a:solidFill>
              <a:prstDash val="solid"/>
            </a:ln>
          </p:spPr>
        </p:sp>
        <p:sp>
          <p:nvSpPr>
            <p:cNvPr id="23" name="svg0_11"/>
            <p:cNvSpPr txBox="1"/>
            <p:nvPr/>
          </p:nvSpPr>
          <p:spPr>
            <a:xfrm>
              <a:off x="898032" y="4009095"/>
              <a:ext cx="139995"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64</a:t>
              </a:r>
              <a:endParaRPr lang="en-US" sz="649" dirty="0"/>
            </a:p>
          </p:txBody>
        </p:sp>
        <p:sp>
          <p:nvSpPr>
            <p:cNvPr id="24" name="svg0_12"/>
            <p:cNvSpPr txBox="1"/>
            <p:nvPr/>
          </p:nvSpPr>
          <p:spPr>
            <a:xfrm>
              <a:off x="882030" y="4391680"/>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25" name="svg0_13"/>
            <p:cNvSpPr/>
            <p:nvPr/>
          </p:nvSpPr>
          <p:spPr>
            <a:xfrm>
              <a:off x="1204448" y="4119921"/>
              <a:ext cx="215067" cy="257678"/>
            </a:xfrm>
            <a:prstGeom prst="rect">
              <a:avLst/>
            </a:prstGeom>
            <a:solidFill>
              <a:srgbClr val="7B1E2B"/>
            </a:solidFill>
            <a:ln w="6858">
              <a:solidFill>
                <a:srgbClr val="FFFFFF"/>
              </a:solidFill>
              <a:prstDash val="solid"/>
            </a:ln>
          </p:spPr>
        </p:sp>
        <p:sp>
          <p:nvSpPr>
            <p:cNvPr id="26" name="svg0_14"/>
            <p:cNvSpPr/>
            <p:nvPr/>
          </p:nvSpPr>
          <p:spPr>
            <a:xfrm>
              <a:off x="1204448" y="4084259"/>
              <a:ext cx="215067" cy="35753"/>
            </a:xfrm>
            <a:prstGeom prst="rect">
              <a:avLst/>
            </a:prstGeom>
            <a:solidFill>
              <a:srgbClr val="A3A3A3"/>
            </a:solidFill>
            <a:ln w="6858">
              <a:solidFill>
                <a:srgbClr val="FFFFFF"/>
              </a:solidFill>
              <a:prstDash val="solid"/>
            </a:ln>
          </p:spPr>
        </p:sp>
        <p:sp>
          <p:nvSpPr>
            <p:cNvPr id="27" name="svg0_15"/>
            <p:cNvSpPr/>
            <p:nvPr/>
          </p:nvSpPr>
          <p:spPr>
            <a:xfrm>
              <a:off x="1204448" y="4064965"/>
              <a:ext cx="215067" cy="19202"/>
            </a:xfrm>
            <a:prstGeom prst="rect">
              <a:avLst/>
            </a:prstGeom>
            <a:solidFill>
              <a:srgbClr val="404040"/>
            </a:solidFill>
            <a:ln w="6858">
              <a:solidFill>
                <a:srgbClr val="FFFFFF"/>
              </a:solidFill>
              <a:prstDash val="solid"/>
            </a:ln>
          </p:spPr>
        </p:sp>
        <p:sp>
          <p:nvSpPr>
            <p:cNvPr id="28" name="svg0_16"/>
            <p:cNvSpPr/>
            <p:nvPr/>
          </p:nvSpPr>
          <p:spPr>
            <a:xfrm>
              <a:off x="1204448" y="4053078"/>
              <a:ext cx="215067" cy="11887"/>
            </a:xfrm>
            <a:prstGeom prst="rect">
              <a:avLst/>
            </a:prstGeom>
            <a:solidFill>
              <a:srgbClr val="D0D0D0"/>
            </a:solidFill>
            <a:ln w="6858">
              <a:solidFill>
                <a:srgbClr val="FFFFFF"/>
              </a:solidFill>
              <a:prstDash val="solid"/>
            </a:ln>
          </p:spPr>
        </p:sp>
        <p:sp>
          <p:nvSpPr>
            <p:cNvPr id="29" name="svg0_17"/>
            <p:cNvSpPr txBox="1"/>
            <p:nvPr/>
          </p:nvSpPr>
          <p:spPr>
            <a:xfrm>
              <a:off x="1244590" y="3944264"/>
              <a:ext cx="139995"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80</a:t>
              </a:r>
              <a:endParaRPr lang="en-US" sz="649" dirty="0"/>
            </a:p>
          </p:txBody>
        </p:sp>
        <p:sp>
          <p:nvSpPr>
            <p:cNvPr id="30" name="svg0_18"/>
            <p:cNvSpPr txBox="1"/>
            <p:nvPr/>
          </p:nvSpPr>
          <p:spPr>
            <a:xfrm>
              <a:off x="1228588" y="4391680"/>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31" name="svg0_19"/>
            <p:cNvSpPr/>
            <p:nvPr/>
          </p:nvSpPr>
          <p:spPr>
            <a:xfrm>
              <a:off x="1551280" y="4022811"/>
              <a:ext cx="215067" cy="354787"/>
            </a:xfrm>
            <a:prstGeom prst="rect">
              <a:avLst/>
            </a:prstGeom>
            <a:solidFill>
              <a:srgbClr val="7B1E2B"/>
            </a:solidFill>
            <a:ln w="6858">
              <a:solidFill>
                <a:srgbClr val="FFFFFF"/>
              </a:solidFill>
              <a:prstDash val="solid"/>
            </a:ln>
          </p:spPr>
        </p:sp>
        <p:sp>
          <p:nvSpPr>
            <p:cNvPr id="32" name="svg0_20"/>
            <p:cNvSpPr/>
            <p:nvPr/>
          </p:nvSpPr>
          <p:spPr>
            <a:xfrm>
              <a:off x="1551280" y="3976177"/>
              <a:ext cx="215067" cy="46634"/>
            </a:xfrm>
            <a:prstGeom prst="rect">
              <a:avLst/>
            </a:prstGeom>
            <a:solidFill>
              <a:srgbClr val="A3A3A3"/>
            </a:solidFill>
            <a:ln w="6858">
              <a:solidFill>
                <a:srgbClr val="FFFFFF"/>
              </a:solidFill>
              <a:prstDash val="solid"/>
            </a:ln>
          </p:spPr>
        </p:sp>
        <p:sp>
          <p:nvSpPr>
            <p:cNvPr id="33" name="svg0_21"/>
            <p:cNvSpPr/>
            <p:nvPr/>
          </p:nvSpPr>
          <p:spPr>
            <a:xfrm>
              <a:off x="1551280" y="3948836"/>
              <a:ext cx="215067" cy="27341"/>
            </a:xfrm>
            <a:prstGeom prst="rect">
              <a:avLst/>
            </a:prstGeom>
            <a:solidFill>
              <a:srgbClr val="404040"/>
            </a:solidFill>
            <a:ln w="6858">
              <a:solidFill>
                <a:srgbClr val="FFFFFF"/>
              </a:solidFill>
              <a:prstDash val="solid"/>
            </a:ln>
          </p:spPr>
        </p:sp>
        <p:sp>
          <p:nvSpPr>
            <p:cNvPr id="34" name="svg0_22"/>
            <p:cNvSpPr/>
            <p:nvPr/>
          </p:nvSpPr>
          <p:spPr>
            <a:xfrm>
              <a:off x="1551280" y="3928262"/>
              <a:ext cx="215067" cy="20574"/>
            </a:xfrm>
            <a:prstGeom prst="rect">
              <a:avLst/>
            </a:prstGeom>
            <a:solidFill>
              <a:srgbClr val="D0D0D0"/>
            </a:solidFill>
            <a:ln w="6858">
              <a:solidFill>
                <a:srgbClr val="FFFFFF"/>
              </a:solidFill>
              <a:prstDash val="solid"/>
            </a:ln>
          </p:spPr>
        </p:sp>
        <p:sp>
          <p:nvSpPr>
            <p:cNvPr id="35" name="svg0_23"/>
            <p:cNvSpPr txBox="1"/>
            <p:nvPr/>
          </p:nvSpPr>
          <p:spPr>
            <a:xfrm>
              <a:off x="1568379" y="3818626"/>
              <a:ext cx="187543"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111</a:t>
              </a:r>
              <a:endParaRPr lang="en-US" sz="649" dirty="0"/>
            </a:p>
          </p:txBody>
        </p:sp>
        <p:sp>
          <p:nvSpPr>
            <p:cNvPr id="36" name="svg0_24"/>
            <p:cNvSpPr txBox="1"/>
            <p:nvPr/>
          </p:nvSpPr>
          <p:spPr>
            <a:xfrm>
              <a:off x="1576151" y="4391680"/>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37" name="svg0_25"/>
            <p:cNvSpPr/>
            <p:nvPr/>
          </p:nvSpPr>
          <p:spPr>
            <a:xfrm>
              <a:off x="1898203" y="3925245"/>
              <a:ext cx="215067" cy="452354"/>
            </a:xfrm>
            <a:prstGeom prst="rect">
              <a:avLst/>
            </a:prstGeom>
            <a:solidFill>
              <a:srgbClr val="7B1E2B"/>
            </a:solidFill>
            <a:ln w="6858">
              <a:solidFill>
                <a:srgbClr val="FFFFFF"/>
              </a:solidFill>
              <a:prstDash val="solid"/>
            </a:ln>
          </p:spPr>
        </p:sp>
        <p:sp>
          <p:nvSpPr>
            <p:cNvPr id="38" name="svg0_26"/>
            <p:cNvSpPr/>
            <p:nvPr/>
          </p:nvSpPr>
          <p:spPr>
            <a:xfrm>
              <a:off x="1898203" y="3868186"/>
              <a:ext cx="215067" cy="57059"/>
            </a:xfrm>
            <a:prstGeom prst="rect">
              <a:avLst/>
            </a:prstGeom>
            <a:solidFill>
              <a:srgbClr val="A3A3A3"/>
            </a:solidFill>
            <a:ln w="6858">
              <a:solidFill>
                <a:srgbClr val="FFFFFF"/>
              </a:solidFill>
              <a:prstDash val="solid"/>
            </a:ln>
          </p:spPr>
        </p:sp>
        <p:sp>
          <p:nvSpPr>
            <p:cNvPr id="39" name="svg0_27"/>
            <p:cNvSpPr/>
            <p:nvPr/>
          </p:nvSpPr>
          <p:spPr>
            <a:xfrm>
              <a:off x="1898203" y="3831519"/>
              <a:ext cx="215067" cy="36576"/>
            </a:xfrm>
            <a:prstGeom prst="rect">
              <a:avLst/>
            </a:prstGeom>
            <a:solidFill>
              <a:srgbClr val="404040"/>
            </a:solidFill>
            <a:ln w="6858">
              <a:solidFill>
                <a:srgbClr val="FFFFFF"/>
              </a:solidFill>
              <a:prstDash val="solid"/>
            </a:ln>
          </p:spPr>
        </p:sp>
        <p:sp>
          <p:nvSpPr>
            <p:cNvPr id="40" name="svg0_28"/>
            <p:cNvSpPr/>
            <p:nvPr/>
          </p:nvSpPr>
          <p:spPr>
            <a:xfrm>
              <a:off x="1898203" y="3801344"/>
              <a:ext cx="215067" cy="30175"/>
            </a:xfrm>
            <a:prstGeom prst="rect">
              <a:avLst/>
            </a:prstGeom>
            <a:solidFill>
              <a:srgbClr val="D0D0D0"/>
            </a:solidFill>
            <a:ln w="6858">
              <a:solidFill>
                <a:srgbClr val="FFFFFF"/>
              </a:solidFill>
              <a:prstDash val="solid"/>
            </a:ln>
          </p:spPr>
        </p:sp>
        <p:sp>
          <p:nvSpPr>
            <p:cNvPr id="41" name="svg0_29"/>
            <p:cNvSpPr txBox="1"/>
            <p:nvPr/>
          </p:nvSpPr>
          <p:spPr>
            <a:xfrm>
              <a:off x="1914845" y="3691981"/>
              <a:ext cx="187543"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143</a:t>
              </a:r>
              <a:endParaRPr lang="en-US" sz="649" dirty="0"/>
            </a:p>
          </p:txBody>
        </p:sp>
        <p:sp>
          <p:nvSpPr>
            <p:cNvPr id="42" name="svg0_30"/>
            <p:cNvSpPr txBox="1"/>
            <p:nvPr/>
          </p:nvSpPr>
          <p:spPr>
            <a:xfrm>
              <a:off x="1922617" y="4391680"/>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43" name="svg0_31"/>
            <p:cNvSpPr/>
            <p:nvPr/>
          </p:nvSpPr>
          <p:spPr>
            <a:xfrm>
              <a:off x="2245035" y="3837828"/>
              <a:ext cx="215067" cy="539770"/>
            </a:xfrm>
            <a:prstGeom prst="rect">
              <a:avLst/>
            </a:prstGeom>
            <a:solidFill>
              <a:srgbClr val="7B1E2B"/>
            </a:solidFill>
            <a:ln w="6858">
              <a:solidFill>
                <a:srgbClr val="FFFFFF"/>
              </a:solidFill>
              <a:prstDash val="solid"/>
            </a:ln>
          </p:spPr>
        </p:sp>
        <p:sp>
          <p:nvSpPr>
            <p:cNvPr id="44" name="svg0_32"/>
            <p:cNvSpPr/>
            <p:nvPr/>
          </p:nvSpPr>
          <p:spPr>
            <a:xfrm>
              <a:off x="2245035" y="3770894"/>
              <a:ext cx="215067" cy="66843"/>
            </a:xfrm>
            <a:prstGeom prst="rect">
              <a:avLst/>
            </a:prstGeom>
            <a:solidFill>
              <a:srgbClr val="A3A3A3"/>
            </a:solidFill>
            <a:ln w="6858">
              <a:solidFill>
                <a:srgbClr val="FFFFFF"/>
              </a:solidFill>
              <a:prstDash val="solid"/>
            </a:ln>
          </p:spPr>
        </p:sp>
        <p:sp>
          <p:nvSpPr>
            <p:cNvPr id="45" name="svg0_33"/>
            <p:cNvSpPr/>
            <p:nvPr/>
          </p:nvSpPr>
          <p:spPr>
            <a:xfrm>
              <a:off x="2245035" y="3724260"/>
              <a:ext cx="215067" cy="46543"/>
            </a:xfrm>
            <a:prstGeom prst="rect">
              <a:avLst/>
            </a:prstGeom>
            <a:solidFill>
              <a:srgbClr val="404040"/>
            </a:solidFill>
            <a:ln w="6858">
              <a:solidFill>
                <a:srgbClr val="FFFFFF"/>
              </a:solidFill>
              <a:prstDash val="solid"/>
            </a:ln>
          </p:spPr>
        </p:sp>
        <p:sp>
          <p:nvSpPr>
            <p:cNvPr id="46" name="svg0_34"/>
            <p:cNvSpPr/>
            <p:nvPr/>
          </p:nvSpPr>
          <p:spPr>
            <a:xfrm>
              <a:off x="2245035" y="3684575"/>
              <a:ext cx="215067" cy="39685"/>
            </a:xfrm>
            <a:prstGeom prst="rect">
              <a:avLst/>
            </a:prstGeom>
            <a:solidFill>
              <a:srgbClr val="D0D0D0"/>
            </a:solidFill>
            <a:ln w="6858">
              <a:solidFill>
                <a:srgbClr val="FFFFFF"/>
              </a:solidFill>
              <a:prstDash val="solid"/>
            </a:ln>
          </p:spPr>
        </p:sp>
        <p:sp>
          <p:nvSpPr>
            <p:cNvPr id="47" name="svg0_35"/>
            <p:cNvSpPr txBox="1"/>
            <p:nvPr/>
          </p:nvSpPr>
          <p:spPr>
            <a:xfrm>
              <a:off x="2261403" y="3575213"/>
              <a:ext cx="187543"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172</a:t>
              </a:r>
              <a:endParaRPr lang="en-US" sz="649" dirty="0"/>
            </a:p>
          </p:txBody>
        </p:sp>
        <p:sp>
          <p:nvSpPr>
            <p:cNvPr id="48" name="svg0_36"/>
            <p:cNvSpPr txBox="1"/>
            <p:nvPr/>
          </p:nvSpPr>
          <p:spPr>
            <a:xfrm>
              <a:off x="2269175" y="4391680"/>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49" name="svg0_37"/>
            <p:cNvSpPr/>
            <p:nvPr/>
          </p:nvSpPr>
          <p:spPr>
            <a:xfrm>
              <a:off x="444764" y="4377599"/>
              <a:ext cx="2081266" cy="0"/>
            </a:xfrm>
            <a:prstGeom prst="line">
              <a:avLst/>
            </a:prstGeom>
            <a:noFill/>
            <a:ln w="6858">
              <a:solidFill>
                <a:srgbClr val="8C8C8C"/>
              </a:solidFill>
              <a:prstDash val="solid"/>
            </a:ln>
          </p:spPr>
        </p:sp>
        <p:sp>
          <p:nvSpPr>
            <p:cNvPr id="50" name="svg0_38"/>
            <p:cNvSpPr/>
            <p:nvPr/>
          </p:nvSpPr>
          <p:spPr>
            <a:xfrm>
              <a:off x="444764" y="3458627"/>
              <a:ext cx="60899" cy="60899"/>
            </a:xfrm>
            <a:prstGeom prst="rect">
              <a:avLst/>
            </a:prstGeom>
            <a:solidFill>
              <a:srgbClr val="7B1E2B"/>
            </a:solidFill>
            <a:ln/>
          </p:spPr>
        </p:sp>
        <p:sp>
          <p:nvSpPr>
            <p:cNvPr id="51" name="svg0_39"/>
            <p:cNvSpPr txBox="1"/>
            <p:nvPr/>
          </p:nvSpPr>
          <p:spPr>
            <a:xfrm>
              <a:off x="528157" y="3437504"/>
              <a:ext cx="424739"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F&amp;B/FMCG</a:t>
              </a:r>
              <a:endParaRPr lang="en-US" sz="587" dirty="0"/>
            </a:p>
          </p:txBody>
        </p:sp>
        <p:sp>
          <p:nvSpPr>
            <p:cNvPr id="52" name="svg0_40"/>
            <p:cNvSpPr/>
            <p:nvPr/>
          </p:nvSpPr>
          <p:spPr>
            <a:xfrm>
              <a:off x="897118" y="3458627"/>
              <a:ext cx="60899" cy="60899"/>
            </a:xfrm>
            <a:prstGeom prst="rect">
              <a:avLst/>
            </a:prstGeom>
            <a:solidFill>
              <a:srgbClr val="A3A3A3"/>
            </a:solidFill>
            <a:ln/>
          </p:spPr>
        </p:sp>
        <p:sp>
          <p:nvSpPr>
            <p:cNvPr id="53" name="svg0_41"/>
            <p:cNvSpPr txBox="1"/>
            <p:nvPr/>
          </p:nvSpPr>
          <p:spPr>
            <a:xfrm>
              <a:off x="980785" y="3437504"/>
              <a:ext cx="261244"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Khuôn</a:t>
              </a:r>
              <a:endParaRPr lang="en-US" sz="587" dirty="0"/>
            </a:p>
          </p:txBody>
        </p:sp>
        <p:sp>
          <p:nvSpPr>
            <p:cNvPr id="54" name="svg0_42"/>
            <p:cNvSpPr/>
            <p:nvPr/>
          </p:nvSpPr>
          <p:spPr>
            <a:xfrm>
              <a:off x="1244224" y="3458627"/>
              <a:ext cx="60899" cy="60899"/>
            </a:xfrm>
            <a:prstGeom prst="rect">
              <a:avLst/>
            </a:prstGeom>
            <a:solidFill>
              <a:srgbClr val="404040"/>
            </a:solidFill>
            <a:ln/>
          </p:spPr>
        </p:sp>
        <p:sp>
          <p:nvSpPr>
            <p:cNvPr id="55" name="svg0_43"/>
            <p:cNvSpPr txBox="1"/>
            <p:nvPr/>
          </p:nvSpPr>
          <p:spPr>
            <a:xfrm>
              <a:off x="1327343" y="3437504"/>
              <a:ext cx="56052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Nội thất/TMĐT</a:t>
              </a:r>
              <a:endParaRPr lang="en-US" sz="587" dirty="0"/>
            </a:p>
          </p:txBody>
        </p:sp>
        <p:sp>
          <p:nvSpPr>
            <p:cNvPr id="56" name="svg0_44"/>
            <p:cNvSpPr/>
            <p:nvPr/>
          </p:nvSpPr>
          <p:spPr>
            <a:xfrm>
              <a:off x="1871868" y="3458627"/>
              <a:ext cx="60899" cy="60899"/>
            </a:xfrm>
            <a:prstGeom prst="rect">
              <a:avLst/>
            </a:prstGeom>
            <a:solidFill>
              <a:srgbClr val="D0D0D0"/>
            </a:solidFill>
            <a:ln/>
          </p:spPr>
        </p:sp>
        <p:sp>
          <p:nvSpPr>
            <p:cNvPr id="57" name="svg0_45"/>
            <p:cNvSpPr txBox="1"/>
            <p:nvPr/>
          </p:nvSpPr>
          <p:spPr>
            <a:xfrm>
              <a:off x="1955536" y="3437504"/>
              <a:ext cx="29955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Điện tử</a:t>
              </a:r>
              <a:endParaRPr lang="en-US" sz="587" dirty="0"/>
            </a:p>
          </p:txBody>
        </p:sp>
      </p:grpSp>
      <p:grpSp>
        <p:nvGrpSpPr>
          <p:cNvPr id="196" name="Fig. 30 – biểu đồ"/>
          <p:cNvGrpSpPr/>
          <p:nvPr/>
        </p:nvGrpSpPr>
        <p:grpSpPr>
          <a:xfrm>
            <a:off x="383591" y="7138355"/>
            <a:ext cx="2248784" cy="836219"/>
            <a:chOff x="383591" y="7138355"/>
            <a:chExt cx="2248784" cy="836219"/>
          </a:xfrm>
        </p:grpSpPr>
        <p:sp>
          <p:nvSpPr>
            <p:cNvPr id="58" name="svg1_46"/>
            <p:cNvSpPr/>
            <p:nvPr/>
          </p:nvSpPr>
          <p:spPr>
            <a:xfrm>
              <a:off x="1230142" y="7170359"/>
              <a:ext cx="1099566" cy="687263"/>
            </a:xfrm>
            <a:prstGeom prst="rect">
              <a:avLst/>
            </a:prstGeom>
            <a:solidFill>
              <a:srgbClr val="F3F1F1"/>
            </a:solidFill>
            <a:ln/>
          </p:spPr>
        </p:sp>
        <p:sp>
          <p:nvSpPr>
            <p:cNvPr id="59" name="svg1_47"/>
            <p:cNvSpPr/>
            <p:nvPr/>
          </p:nvSpPr>
          <p:spPr>
            <a:xfrm>
              <a:off x="621426" y="7790871"/>
              <a:ext cx="1688714" cy="0"/>
            </a:xfrm>
            <a:prstGeom prst="line">
              <a:avLst/>
            </a:prstGeom>
            <a:noFill/>
            <a:ln w="4953">
              <a:solidFill>
                <a:srgbClr val="E4E4E4"/>
              </a:solidFill>
              <a:prstDash val="solid"/>
            </a:ln>
          </p:spPr>
        </p:sp>
        <p:sp>
          <p:nvSpPr>
            <p:cNvPr id="60" name="svg1_48"/>
            <p:cNvSpPr txBox="1"/>
            <p:nvPr/>
          </p:nvSpPr>
          <p:spPr>
            <a:xfrm>
              <a:off x="383591" y="7740122"/>
              <a:ext cx="224851"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61" name="svg1_49"/>
            <p:cNvSpPr/>
            <p:nvPr/>
          </p:nvSpPr>
          <p:spPr>
            <a:xfrm>
              <a:off x="621426" y="7523775"/>
              <a:ext cx="1688714" cy="0"/>
            </a:xfrm>
            <a:prstGeom prst="line">
              <a:avLst/>
            </a:prstGeom>
            <a:noFill/>
            <a:ln w="4953">
              <a:solidFill>
                <a:srgbClr val="E4E4E4"/>
              </a:solidFill>
              <a:prstDash val="solid"/>
            </a:ln>
          </p:spPr>
        </p:sp>
        <p:sp>
          <p:nvSpPr>
            <p:cNvPr id="62" name="svg1_50"/>
            <p:cNvSpPr txBox="1"/>
            <p:nvPr/>
          </p:nvSpPr>
          <p:spPr>
            <a:xfrm>
              <a:off x="464424" y="7473117"/>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63" name="svg1_51"/>
            <p:cNvSpPr/>
            <p:nvPr/>
          </p:nvSpPr>
          <p:spPr>
            <a:xfrm>
              <a:off x="621426" y="7256678"/>
              <a:ext cx="1688714" cy="0"/>
            </a:xfrm>
            <a:prstGeom prst="line">
              <a:avLst/>
            </a:prstGeom>
            <a:noFill/>
            <a:ln w="4953">
              <a:solidFill>
                <a:srgbClr val="E4E4E4"/>
              </a:solidFill>
              <a:prstDash val="solid"/>
            </a:ln>
          </p:spPr>
        </p:sp>
        <p:sp>
          <p:nvSpPr>
            <p:cNvPr id="64" name="svg1_52"/>
            <p:cNvSpPr txBox="1"/>
            <p:nvPr/>
          </p:nvSpPr>
          <p:spPr>
            <a:xfrm>
              <a:off x="423642" y="7206021"/>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65" name="svg1_53"/>
            <p:cNvSpPr/>
            <p:nvPr/>
          </p:nvSpPr>
          <p:spPr>
            <a:xfrm>
              <a:off x="621426" y="7523775"/>
              <a:ext cx="1688714" cy="0"/>
            </a:xfrm>
            <a:prstGeom prst="line">
              <a:avLst/>
            </a:prstGeom>
            <a:noFill/>
            <a:ln w="6858">
              <a:solidFill>
                <a:srgbClr val="8C8C8C"/>
              </a:solidFill>
              <a:prstDash val="solid"/>
            </a:ln>
          </p:spPr>
        </p:sp>
        <p:sp>
          <p:nvSpPr>
            <p:cNvPr id="66" name="svg1_54"/>
            <p:cNvSpPr txBox="1"/>
            <p:nvPr/>
          </p:nvSpPr>
          <p:spPr>
            <a:xfrm>
              <a:off x="554035" y="7869784"/>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23A</a:t>
              </a:r>
              <a:endParaRPr lang="en-US" sz="588" dirty="0"/>
            </a:p>
          </p:txBody>
        </p:sp>
        <p:sp>
          <p:nvSpPr>
            <p:cNvPr id="67" name="svg1_55"/>
            <p:cNvSpPr txBox="1"/>
            <p:nvPr/>
          </p:nvSpPr>
          <p:spPr>
            <a:xfrm>
              <a:off x="789676" y="7869784"/>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24A</a:t>
              </a:r>
              <a:endParaRPr lang="en-US" sz="588" dirty="0"/>
            </a:p>
          </p:txBody>
        </p:sp>
        <p:sp>
          <p:nvSpPr>
            <p:cNvPr id="68" name="svg1_56"/>
            <p:cNvSpPr txBox="1"/>
            <p:nvPr/>
          </p:nvSpPr>
          <p:spPr>
            <a:xfrm>
              <a:off x="1025225" y="7869784"/>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25A</a:t>
              </a:r>
              <a:endParaRPr lang="en-US" sz="588" dirty="0"/>
            </a:p>
          </p:txBody>
        </p:sp>
        <p:sp>
          <p:nvSpPr>
            <p:cNvPr id="69" name="svg1_57"/>
            <p:cNvSpPr txBox="1"/>
            <p:nvPr/>
          </p:nvSpPr>
          <p:spPr>
            <a:xfrm>
              <a:off x="1264890" y="7869784"/>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26E</a:t>
              </a:r>
              <a:endParaRPr lang="en-US" sz="588" dirty="0"/>
            </a:p>
          </p:txBody>
        </p:sp>
        <p:sp>
          <p:nvSpPr>
            <p:cNvPr id="70" name="svg1_58"/>
            <p:cNvSpPr txBox="1"/>
            <p:nvPr/>
          </p:nvSpPr>
          <p:spPr>
            <a:xfrm>
              <a:off x="1500530" y="7869784"/>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27E</a:t>
              </a:r>
              <a:endParaRPr lang="en-US" sz="588" dirty="0"/>
            </a:p>
          </p:txBody>
        </p:sp>
        <p:sp>
          <p:nvSpPr>
            <p:cNvPr id="71" name="svg1_59"/>
            <p:cNvSpPr txBox="1"/>
            <p:nvPr/>
          </p:nvSpPr>
          <p:spPr>
            <a:xfrm>
              <a:off x="1736171" y="7869784"/>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28E</a:t>
              </a:r>
              <a:endParaRPr lang="en-US" sz="588" dirty="0"/>
            </a:p>
          </p:txBody>
        </p:sp>
        <p:sp>
          <p:nvSpPr>
            <p:cNvPr id="72" name="svg1_60"/>
            <p:cNvSpPr txBox="1"/>
            <p:nvPr/>
          </p:nvSpPr>
          <p:spPr>
            <a:xfrm>
              <a:off x="1971721" y="7869784"/>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29E</a:t>
              </a:r>
              <a:endParaRPr lang="en-US" sz="588" dirty="0"/>
            </a:p>
          </p:txBody>
        </p:sp>
        <p:sp>
          <p:nvSpPr>
            <p:cNvPr id="73" name="svg1_61"/>
            <p:cNvSpPr txBox="1"/>
            <p:nvPr/>
          </p:nvSpPr>
          <p:spPr>
            <a:xfrm>
              <a:off x="2207362" y="7869784"/>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30E</a:t>
              </a:r>
              <a:endParaRPr lang="en-US" sz="588" dirty="0"/>
            </a:p>
          </p:txBody>
        </p:sp>
        <p:sp>
          <p:nvSpPr>
            <p:cNvPr id="74" name="svg1_62"/>
            <p:cNvSpPr/>
            <p:nvPr/>
          </p:nvSpPr>
          <p:spPr>
            <a:xfrm>
              <a:off x="640994" y="7253752"/>
              <a:ext cx="1649395" cy="459760"/>
            </a:xfrm>
            <a:custGeom>
              <a:avLst/>
              <a:gdLst/>
              <a:ahLst/>
              <a:cxnLst/>
              <a:rect l="l" t="t" r="r" b="b"/>
              <a:pathLst>
                <a:path w="1649395" h="459760">
                  <a:moveTo>
                    <a:pt x="0" y="459760"/>
                  </a:moveTo>
                  <a:lnTo>
                    <a:pt x="235641" y="183063"/>
                  </a:lnTo>
                  <a:lnTo>
                    <a:pt x="471282" y="53950"/>
                  </a:lnTo>
                  <a:lnTo>
                    <a:pt x="706923" y="31272"/>
                  </a:lnTo>
                  <a:lnTo>
                    <a:pt x="942472" y="31090"/>
                  </a:lnTo>
                  <a:lnTo>
                    <a:pt x="1178113" y="55321"/>
                  </a:lnTo>
                  <a:lnTo>
                    <a:pt x="1413754" y="16185"/>
                  </a:lnTo>
                  <a:lnTo>
                    <a:pt x="1649395" y="0"/>
                  </a:lnTo>
                </a:path>
              </a:pathLst>
            </a:custGeom>
            <a:noFill/>
            <a:ln w="15748">
              <a:solidFill>
                <a:srgbClr val="7B1E2B"/>
              </a:solidFill>
              <a:prstDash val="solid"/>
            </a:ln>
          </p:spPr>
        </p:sp>
        <p:sp>
          <p:nvSpPr>
            <p:cNvPr id="75" name="svg1_63"/>
            <p:cNvSpPr/>
            <p:nvPr/>
          </p:nvSpPr>
          <p:spPr>
            <a:xfrm>
              <a:off x="620420" y="7692939"/>
              <a:ext cx="41239" cy="41239"/>
            </a:xfrm>
            <a:prstGeom prst="ellipse">
              <a:avLst/>
            </a:prstGeom>
            <a:solidFill>
              <a:srgbClr val="7B1E2B"/>
            </a:solidFill>
            <a:ln w="7874">
              <a:solidFill>
                <a:srgbClr val="FFFFFF"/>
              </a:solidFill>
              <a:prstDash val="solid"/>
            </a:ln>
          </p:spPr>
        </p:sp>
        <p:sp>
          <p:nvSpPr>
            <p:cNvPr id="76" name="svg1_64"/>
            <p:cNvSpPr/>
            <p:nvPr/>
          </p:nvSpPr>
          <p:spPr>
            <a:xfrm>
              <a:off x="856061" y="7416241"/>
              <a:ext cx="41239" cy="41239"/>
            </a:xfrm>
            <a:prstGeom prst="ellipse">
              <a:avLst/>
            </a:prstGeom>
            <a:solidFill>
              <a:srgbClr val="7B1E2B"/>
            </a:solidFill>
            <a:ln w="7874">
              <a:solidFill>
                <a:srgbClr val="FFFFFF"/>
              </a:solidFill>
              <a:prstDash val="solid"/>
            </a:ln>
          </p:spPr>
        </p:sp>
        <p:sp>
          <p:nvSpPr>
            <p:cNvPr id="77" name="svg1_65"/>
            <p:cNvSpPr/>
            <p:nvPr/>
          </p:nvSpPr>
          <p:spPr>
            <a:xfrm>
              <a:off x="1091794" y="7287128"/>
              <a:ext cx="41239" cy="41239"/>
            </a:xfrm>
            <a:prstGeom prst="ellipse">
              <a:avLst/>
            </a:prstGeom>
            <a:solidFill>
              <a:srgbClr val="7B1E2B"/>
            </a:solidFill>
            <a:ln w="7874">
              <a:solidFill>
                <a:srgbClr val="FFFFFF"/>
              </a:solidFill>
              <a:prstDash val="solid"/>
            </a:ln>
          </p:spPr>
        </p:sp>
        <p:sp>
          <p:nvSpPr>
            <p:cNvPr id="78" name="svg1_66"/>
            <p:cNvSpPr/>
            <p:nvPr/>
          </p:nvSpPr>
          <p:spPr>
            <a:xfrm>
              <a:off x="1327434" y="7264451"/>
              <a:ext cx="41239" cy="41239"/>
            </a:xfrm>
            <a:prstGeom prst="ellipse">
              <a:avLst/>
            </a:prstGeom>
            <a:solidFill>
              <a:srgbClr val="7B1E2B"/>
            </a:solidFill>
            <a:ln w="7874">
              <a:solidFill>
                <a:srgbClr val="FFFFFF"/>
              </a:solidFill>
              <a:prstDash val="solid"/>
            </a:ln>
          </p:spPr>
        </p:sp>
        <p:sp>
          <p:nvSpPr>
            <p:cNvPr id="79" name="svg1_67"/>
            <p:cNvSpPr/>
            <p:nvPr/>
          </p:nvSpPr>
          <p:spPr>
            <a:xfrm>
              <a:off x="1562984" y="7264268"/>
              <a:ext cx="41239" cy="41239"/>
            </a:xfrm>
            <a:prstGeom prst="ellipse">
              <a:avLst/>
            </a:prstGeom>
            <a:solidFill>
              <a:srgbClr val="7B1E2B"/>
            </a:solidFill>
            <a:ln w="7874">
              <a:solidFill>
                <a:srgbClr val="FFFFFF"/>
              </a:solidFill>
              <a:prstDash val="solid"/>
            </a:ln>
          </p:spPr>
        </p:sp>
        <p:sp>
          <p:nvSpPr>
            <p:cNvPr id="80" name="svg1_68"/>
            <p:cNvSpPr/>
            <p:nvPr/>
          </p:nvSpPr>
          <p:spPr>
            <a:xfrm>
              <a:off x="1798625" y="7288500"/>
              <a:ext cx="41239" cy="41239"/>
            </a:xfrm>
            <a:prstGeom prst="ellipse">
              <a:avLst/>
            </a:prstGeom>
            <a:solidFill>
              <a:srgbClr val="7B1E2B"/>
            </a:solidFill>
            <a:ln w="7874">
              <a:solidFill>
                <a:srgbClr val="FFFFFF"/>
              </a:solidFill>
              <a:prstDash val="solid"/>
            </a:ln>
          </p:spPr>
        </p:sp>
        <p:sp>
          <p:nvSpPr>
            <p:cNvPr id="81" name="svg1_69"/>
            <p:cNvSpPr/>
            <p:nvPr/>
          </p:nvSpPr>
          <p:spPr>
            <a:xfrm>
              <a:off x="2034266" y="7249363"/>
              <a:ext cx="41239" cy="41239"/>
            </a:xfrm>
            <a:prstGeom prst="ellipse">
              <a:avLst/>
            </a:prstGeom>
            <a:solidFill>
              <a:srgbClr val="7B1E2B"/>
            </a:solidFill>
            <a:ln w="7874">
              <a:solidFill>
                <a:srgbClr val="FFFFFF"/>
              </a:solidFill>
              <a:prstDash val="solid"/>
            </a:ln>
          </p:spPr>
        </p:sp>
        <p:sp>
          <p:nvSpPr>
            <p:cNvPr id="82" name="svg1_70"/>
            <p:cNvSpPr/>
            <p:nvPr/>
          </p:nvSpPr>
          <p:spPr>
            <a:xfrm>
              <a:off x="2269815" y="7233178"/>
              <a:ext cx="41239" cy="41239"/>
            </a:xfrm>
            <a:prstGeom prst="ellipse">
              <a:avLst/>
            </a:prstGeom>
            <a:solidFill>
              <a:srgbClr val="7B1E2B"/>
            </a:solidFill>
            <a:ln w="7874">
              <a:solidFill>
                <a:srgbClr val="FFFFFF"/>
              </a:solidFill>
              <a:prstDash val="solid"/>
            </a:ln>
          </p:spPr>
        </p:sp>
        <p:sp>
          <p:nvSpPr>
            <p:cNvPr id="83" name="svg1_71"/>
            <p:cNvSpPr txBox="1"/>
            <p:nvPr/>
          </p:nvSpPr>
          <p:spPr>
            <a:xfrm>
              <a:off x="1019465" y="7192305"/>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16%</a:t>
              </a:r>
              <a:endParaRPr lang="en-US" sz="588" dirty="0"/>
            </a:p>
          </p:txBody>
        </p:sp>
        <p:sp>
          <p:nvSpPr>
            <p:cNvPr id="84" name="svg1_72"/>
            <p:cNvSpPr txBox="1"/>
            <p:nvPr/>
          </p:nvSpPr>
          <p:spPr>
            <a:xfrm>
              <a:off x="1726387" y="7193310"/>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16%</a:t>
              </a:r>
              <a:endParaRPr lang="en-US" sz="588" dirty="0"/>
            </a:p>
          </p:txBody>
        </p:sp>
        <p:sp>
          <p:nvSpPr>
            <p:cNvPr id="85" name="svg1_73"/>
            <p:cNvSpPr txBox="1"/>
            <p:nvPr/>
          </p:nvSpPr>
          <p:spPr>
            <a:xfrm>
              <a:off x="2119579" y="7138355"/>
              <a:ext cx="189464"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20%</a:t>
              </a:r>
              <a:endParaRPr lang="en-US" sz="588" dirty="0"/>
            </a:p>
          </p:txBody>
        </p:sp>
        <p:sp>
          <p:nvSpPr>
            <p:cNvPr id="86" name="svg1_74"/>
            <p:cNvSpPr/>
            <p:nvPr/>
          </p:nvSpPr>
          <p:spPr>
            <a:xfrm>
              <a:off x="640994" y="7363572"/>
              <a:ext cx="1649395" cy="448330"/>
            </a:xfrm>
            <a:custGeom>
              <a:avLst/>
              <a:gdLst/>
              <a:ahLst/>
              <a:cxnLst/>
              <a:rect l="l" t="t" r="r" b="b"/>
              <a:pathLst>
                <a:path w="1649395" h="448330">
                  <a:moveTo>
                    <a:pt x="0" y="448330"/>
                  </a:moveTo>
                  <a:lnTo>
                    <a:pt x="235641" y="175839"/>
                  </a:lnTo>
                  <a:lnTo>
                    <a:pt x="471282" y="32095"/>
                  </a:lnTo>
                  <a:lnTo>
                    <a:pt x="706923" y="0"/>
                  </a:lnTo>
                  <a:lnTo>
                    <a:pt x="942472" y="9510"/>
                  </a:lnTo>
                  <a:lnTo>
                    <a:pt x="1178113" y="84399"/>
                  </a:lnTo>
                  <a:lnTo>
                    <a:pt x="1413754" y="29627"/>
                  </a:lnTo>
                  <a:lnTo>
                    <a:pt x="1649395" y="6126"/>
                  </a:lnTo>
                </a:path>
              </a:pathLst>
            </a:custGeom>
            <a:noFill/>
            <a:ln w="15748">
              <a:solidFill>
                <a:srgbClr val="A3A3A3"/>
              </a:solidFill>
              <a:prstDash val="solid"/>
            </a:ln>
          </p:spPr>
        </p:sp>
        <p:sp>
          <p:nvSpPr>
            <p:cNvPr id="87" name="svg1_75"/>
            <p:cNvSpPr/>
            <p:nvPr/>
          </p:nvSpPr>
          <p:spPr>
            <a:xfrm>
              <a:off x="620420" y="7791328"/>
              <a:ext cx="41239" cy="41239"/>
            </a:xfrm>
            <a:prstGeom prst="ellipse">
              <a:avLst/>
            </a:prstGeom>
            <a:solidFill>
              <a:srgbClr val="A3A3A3"/>
            </a:solidFill>
            <a:ln w="7874">
              <a:solidFill>
                <a:srgbClr val="FFFFFF"/>
              </a:solidFill>
              <a:prstDash val="solid"/>
            </a:ln>
          </p:spPr>
        </p:sp>
        <p:sp>
          <p:nvSpPr>
            <p:cNvPr id="88" name="svg1_76"/>
            <p:cNvSpPr/>
            <p:nvPr/>
          </p:nvSpPr>
          <p:spPr>
            <a:xfrm>
              <a:off x="856061" y="7518837"/>
              <a:ext cx="41239" cy="41239"/>
            </a:xfrm>
            <a:prstGeom prst="ellipse">
              <a:avLst/>
            </a:prstGeom>
            <a:solidFill>
              <a:srgbClr val="A3A3A3"/>
            </a:solidFill>
            <a:ln w="7874">
              <a:solidFill>
                <a:srgbClr val="FFFFFF"/>
              </a:solidFill>
              <a:prstDash val="solid"/>
            </a:ln>
          </p:spPr>
        </p:sp>
        <p:sp>
          <p:nvSpPr>
            <p:cNvPr id="89" name="svg1_77"/>
            <p:cNvSpPr/>
            <p:nvPr/>
          </p:nvSpPr>
          <p:spPr>
            <a:xfrm>
              <a:off x="1091794" y="7375093"/>
              <a:ext cx="41239" cy="41239"/>
            </a:xfrm>
            <a:prstGeom prst="ellipse">
              <a:avLst/>
            </a:prstGeom>
            <a:solidFill>
              <a:srgbClr val="A3A3A3"/>
            </a:solidFill>
            <a:ln w="7874">
              <a:solidFill>
                <a:srgbClr val="FFFFFF"/>
              </a:solidFill>
              <a:prstDash val="solid"/>
            </a:ln>
          </p:spPr>
        </p:sp>
        <p:sp>
          <p:nvSpPr>
            <p:cNvPr id="90" name="svg1_78"/>
            <p:cNvSpPr/>
            <p:nvPr/>
          </p:nvSpPr>
          <p:spPr>
            <a:xfrm>
              <a:off x="1327434" y="7342998"/>
              <a:ext cx="41239" cy="41239"/>
            </a:xfrm>
            <a:prstGeom prst="ellipse">
              <a:avLst/>
            </a:prstGeom>
            <a:solidFill>
              <a:srgbClr val="A3A3A3"/>
            </a:solidFill>
            <a:ln w="7874">
              <a:solidFill>
                <a:srgbClr val="FFFFFF"/>
              </a:solidFill>
              <a:prstDash val="solid"/>
            </a:ln>
          </p:spPr>
        </p:sp>
        <p:sp>
          <p:nvSpPr>
            <p:cNvPr id="91" name="svg1_79"/>
            <p:cNvSpPr/>
            <p:nvPr/>
          </p:nvSpPr>
          <p:spPr>
            <a:xfrm>
              <a:off x="1562984" y="7352508"/>
              <a:ext cx="41239" cy="41239"/>
            </a:xfrm>
            <a:prstGeom prst="ellipse">
              <a:avLst/>
            </a:prstGeom>
            <a:solidFill>
              <a:srgbClr val="A3A3A3"/>
            </a:solidFill>
            <a:ln w="7874">
              <a:solidFill>
                <a:srgbClr val="FFFFFF"/>
              </a:solidFill>
              <a:prstDash val="solid"/>
            </a:ln>
          </p:spPr>
        </p:sp>
        <p:sp>
          <p:nvSpPr>
            <p:cNvPr id="92" name="svg1_80"/>
            <p:cNvSpPr/>
            <p:nvPr/>
          </p:nvSpPr>
          <p:spPr>
            <a:xfrm>
              <a:off x="1798625" y="7427397"/>
              <a:ext cx="41239" cy="41239"/>
            </a:xfrm>
            <a:prstGeom prst="ellipse">
              <a:avLst/>
            </a:prstGeom>
            <a:solidFill>
              <a:srgbClr val="A3A3A3"/>
            </a:solidFill>
            <a:ln w="7874">
              <a:solidFill>
                <a:srgbClr val="FFFFFF"/>
              </a:solidFill>
              <a:prstDash val="solid"/>
            </a:ln>
          </p:spPr>
        </p:sp>
        <p:sp>
          <p:nvSpPr>
            <p:cNvPr id="93" name="svg1_81"/>
            <p:cNvSpPr/>
            <p:nvPr/>
          </p:nvSpPr>
          <p:spPr>
            <a:xfrm>
              <a:off x="2034266" y="7372624"/>
              <a:ext cx="41239" cy="41239"/>
            </a:xfrm>
            <a:prstGeom prst="ellipse">
              <a:avLst/>
            </a:prstGeom>
            <a:solidFill>
              <a:srgbClr val="A3A3A3"/>
            </a:solidFill>
            <a:ln w="7874">
              <a:solidFill>
                <a:srgbClr val="FFFFFF"/>
              </a:solidFill>
              <a:prstDash val="solid"/>
            </a:ln>
          </p:spPr>
        </p:sp>
        <p:sp>
          <p:nvSpPr>
            <p:cNvPr id="94" name="svg1_82"/>
            <p:cNvSpPr/>
            <p:nvPr/>
          </p:nvSpPr>
          <p:spPr>
            <a:xfrm>
              <a:off x="2269815" y="7349124"/>
              <a:ext cx="41239" cy="41239"/>
            </a:xfrm>
            <a:prstGeom prst="ellipse">
              <a:avLst/>
            </a:prstGeom>
            <a:solidFill>
              <a:srgbClr val="A3A3A3"/>
            </a:solidFill>
            <a:ln w="7874">
              <a:solidFill>
                <a:srgbClr val="FFFFFF"/>
              </a:solidFill>
              <a:prstDash val="solid"/>
            </a:ln>
          </p:spPr>
        </p:sp>
        <p:sp>
          <p:nvSpPr>
            <p:cNvPr id="95" name="svg1_83"/>
            <p:cNvSpPr txBox="1"/>
            <p:nvPr/>
          </p:nvSpPr>
          <p:spPr>
            <a:xfrm>
              <a:off x="1747876" y="7332756"/>
              <a:ext cx="146395"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6%</a:t>
              </a:r>
              <a:endParaRPr lang="en-US" sz="588" dirty="0"/>
            </a:p>
          </p:txBody>
        </p:sp>
        <p:sp>
          <p:nvSpPr>
            <p:cNvPr id="96" name="svg1_84"/>
            <p:cNvSpPr/>
            <p:nvPr/>
          </p:nvSpPr>
          <p:spPr>
            <a:xfrm>
              <a:off x="640994" y="7385883"/>
              <a:ext cx="1649395" cy="433974"/>
            </a:xfrm>
            <a:custGeom>
              <a:avLst/>
              <a:gdLst/>
              <a:ahLst/>
              <a:cxnLst/>
              <a:rect l="l" t="t" r="r" b="b"/>
              <a:pathLst>
                <a:path w="1649395" h="433974">
                  <a:moveTo>
                    <a:pt x="0" y="433974"/>
                  </a:moveTo>
                  <a:lnTo>
                    <a:pt x="235641" y="159654"/>
                  </a:lnTo>
                  <a:lnTo>
                    <a:pt x="471282" y="13807"/>
                  </a:lnTo>
                  <a:lnTo>
                    <a:pt x="706923" y="0"/>
                  </a:lnTo>
                  <a:lnTo>
                    <a:pt x="942472" y="40325"/>
                  </a:lnTo>
                  <a:lnTo>
                    <a:pt x="1178113" y="108996"/>
                  </a:lnTo>
                  <a:lnTo>
                    <a:pt x="1413754" y="55687"/>
                  </a:lnTo>
                  <a:lnTo>
                    <a:pt x="1649395" y="29352"/>
                  </a:lnTo>
                </a:path>
              </a:pathLst>
            </a:custGeom>
            <a:noFill/>
            <a:ln w="15748">
              <a:solidFill>
                <a:srgbClr val="404040"/>
              </a:solidFill>
              <a:prstDash val="solid"/>
            </a:ln>
          </p:spPr>
        </p:sp>
        <p:sp>
          <p:nvSpPr>
            <p:cNvPr id="97" name="svg1_85"/>
            <p:cNvSpPr/>
            <p:nvPr/>
          </p:nvSpPr>
          <p:spPr>
            <a:xfrm>
              <a:off x="620420" y="7799283"/>
              <a:ext cx="41239" cy="41239"/>
            </a:xfrm>
            <a:prstGeom prst="ellipse">
              <a:avLst/>
            </a:prstGeom>
            <a:solidFill>
              <a:srgbClr val="404040"/>
            </a:solidFill>
            <a:ln w="7874">
              <a:solidFill>
                <a:srgbClr val="FFFFFF"/>
              </a:solidFill>
              <a:prstDash val="solid"/>
            </a:ln>
          </p:spPr>
        </p:sp>
        <p:sp>
          <p:nvSpPr>
            <p:cNvPr id="98" name="svg1_86"/>
            <p:cNvSpPr/>
            <p:nvPr/>
          </p:nvSpPr>
          <p:spPr>
            <a:xfrm>
              <a:off x="856061" y="7524963"/>
              <a:ext cx="41239" cy="41239"/>
            </a:xfrm>
            <a:prstGeom prst="ellipse">
              <a:avLst/>
            </a:prstGeom>
            <a:solidFill>
              <a:srgbClr val="404040"/>
            </a:solidFill>
            <a:ln w="7874">
              <a:solidFill>
                <a:srgbClr val="FFFFFF"/>
              </a:solidFill>
              <a:prstDash val="solid"/>
            </a:ln>
          </p:spPr>
        </p:sp>
        <p:sp>
          <p:nvSpPr>
            <p:cNvPr id="99" name="svg1_87"/>
            <p:cNvSpPr/>
            <p:nvPr/>
          </p:nvSpPr>
          <p:spPr>
            <a:xfrm>
              <a:off x="1091794" y="7379117"/>
              <a:ext cx="41239" cy="41239"/>
            </a:xfrm>
            <a:prstGeom prst="ellipse">
              <a:avLst/>
            </a:prstGeom>
            <a:solidFill>
              <a:srgbClr val="404040"/>
            </a:solidFill>
            <a:ln w="7874">
              <a:solidFill>
                <a:srgbClr val="FFFFFF"/>
              </a:solidFill>
              <a:prstDash val="solid"/>
            </a:ln>
          </p:spPr>
        </p:sp>
        <p:sp>
          <p:nvSpPr>
            <p:cNvPr id="100" name="svg1_88"/>
            <p:cNvSpPr/>
            <p:nvPr/>
          </p:nvSpPr>
          <p:spPr>
            <a:xfrm>
              <a:off x="1327434" y="7365309"/>
              <a:ext cx="41239" cy="41239"/>
            </a:xfrm>
            <a:prstGeom prst="ellipse">
              <a:avLst/>
            </a:prstGeom>
            <a:solidFill>
              <a:srgbClr val="404040"/>
            </a:solidFill>
            <a:ln w="7874">
              <a:solidFill>
                <a:srgbClr val="FFFFFF"/>
              </a:solidFill>
              <a:prstDash val="solid"/>
            </a:ln>
          </p:spPr>
        </p:sp>
        <p:sp>
          <p:nvSpPr>
            <p:cNvPr id="101" name="svg1_89"/>
            <p:cNvSpPr/>
            <p:nvPr/>
          </p:nvSpPr>
          <p:spPr>
            <a:xfrm>
              <a:off x="1562984" y="7405634"/>
              <a:ext cx="41239" cy="41239"/>
            </a:xfrm>
            <a:prstGeom prst="ellipse">
              <a:avLst/>
            </a:prstGeom>
            <a:solidFill>
              <a:srgbClr val="404040"/>
            </a:solidFill>
            <a:ln w="7874">
              <a:solidFill>
                <a:srgbClr val="FFFFFF"/>
              </a:solidFill>
              <a:prstDash val="solid"/>
            </a:ln>
          </p:spPr>
        </p:sp>
        <p:sp>
          <p:nvSpPr>
            <p:cNvPr id="102" name="svg1_90"/>
            <p:cNvSpPr/>
            <p:nvPr/>
          </p:nvSpPr>
          <p:spPr>
            <a:xfrm>
              <a:off x="1798625" y="7474306"/>
              <a:ext cx="41239" cy="41239"/>
            </a:xfrm>
            <a:prstGeom prst="ellipse">
              <a:avLst/>
            </a:prstGeom>
            <a:solidFill>
              <a:srgbClr val="404040"/>
            </a:solidFill>
            <a:ln w="7874">
              <a:solidFill>
                <a:srgbClr val="FFFFFF"/>
              </a:solidFill>
              <a:prstDash val="solid"/>
            </a:ln>
          </p:spPr>
        </p:sp>
        <p:sp>
          <p:nvSpPr>
            <p:cNvPr id="103" name="svg1_91"/>
            <p:cNvSpPr/>
            <p:nvPr/>
          </p:nvSpPr>
          <p:spPr>
            <a:xfrm>
              <a:off x="2034266" y="7420996"/>
              <a:ext cx="41239" cy="41239"/>
            </a:xfrm>
            <a:prstGeom prst="ellipse">
              <a:avLst/>
            </a:prstGeom>
            <a:solidFill>
              <a:srgbClr val="404040"/>
            </a:solidFill>
            <a:ln w="7874">
              <a:solidFill>
                <a:srgbClr val="FFFFFF"/>
              </a:solidFill>
              <a:prstDash val="solid"/>
            </a:ln>
          </p:spPr>
        </p:sp>
        <p:sp>
          <p:nvSpPr>
            <p:cNvPr id="104" name="svg1_92"/>
            <p:cNvSpPr/>
            <p:nvPr/>
          </p:nvSpPr>
          <p:spPr>
            <a:xfrm>
              <a:off x="2269815" y="7394661"/>
              <a:ext cx="41239" cy="41239"/>
            </a:xfrm>
            <a:prstGeom prst="ellipse">
              <a:avLst/>
            </a:prstGeom>
            <a:solidFill>
              <a:srgbClr val="404040"/>
            </a:solidFill>
            <a:ln w="7874">
              <a:solidFill>
                <a:srgbClr val="FFFFFF"/>
              </a:solidFill>
              <a:prstDash val="solid"/>
            </a:ln>
          </p:spPr>
        </p:sp>
        <p:sp>
          <p:nvSpPr>
            <p:cNvPr id="105" name="svg1_93"/>
            <p:cNvSpPr txBox="1"/>
            <p:nvPr/>
          </p:nvSpPr>
          <p:spPr>
            <a:xfrm>
              <a:off x="2334555" y="7205106"/>
              <a:ext cx="297820" cy="104790"/>
            </a:xfrm>
            <a:prstGeom prst="rect">
              <a:avLst/>
            </a:prstGeom>
            <a:noFill/>
            <a:ln/>
          </p:spPr>
          <p:txBody>
            <a:bodyPr wrap="none" lIns="0" tIns="0" rIns="0" bIns="0" rtlCol="0" anchor="ctr"/>
            <a:lstStyle/>
            <a:p>
              <a:pPr algn="l" indent="0" marL="0">
                <a:buNone/>
              </a:pPr>
              <a:r>
                <a:rPr lang="en-US" sz="588" b="1" dirty="0">
                  <a:solidFill>
                    <a:srgbClr val="7B1E2B"/>
                  </a:solidFill>
                  <a:latin typeface="Calibri" pitchFamily="34" charset="0"/>
                  <a:ea typeface="Calibri" pitchFamily="34" charset="-122"/>
                  <a:cs typeface="Calibri" pitchFamily="34" charset="-120"/>
                </a:rPr>
                <a:t>EBITDA</a:t>
              </a:r>
              <a:endParaRPr lang="en-US" sz="588" dirty="0"/>
            </a:p>
          </p:txBody>
        </p:sp>
        <p:sp>
          <p:nvSpPr>
            <p:cNvPr id="106" name="svg1_94"/>
            <p:cNvSpPr txBox="1"/>
            <p:nvPr/>
          </p:nvSpPr>
          <p:spPr>
            <a:xfrm>
              <a:off x="2334555" y="7320869"/>
              <a:ext cx="193304" cy="104790"/>
            </a:xfrm>
            <a:prstGeom prst="rect">
              <a:avLst/>
            </a:prstGeom>
            <a:noFill/>
            <a:ln/>
          </p:spPr>
          <p:txBody>
            <a:bodyPr wrap="none" lIns="0" tIns="0" rIns="0" bIns="0" rtlCol="0" anchor="ctr"/>
            <a:lstStyle/>
            <a:p>
              <a:pPr algn="l" indent="0" marL="0">
                <a:buNone/>
              </a:pPr>
              <a:r>
                <a:rPr lang="en-US" sz="588" b="1" dirty="0">
                  <a:solidFill>
                    <a:srgbClr val="666666"/>
                  </a:solidFill>
                  <a:latin typeface="Calibri" pitchFamily="34" charset="0"/>
                  <a:ea typeface="Calibri" pitchFamily="34" charset="-122"/>
                  <a:cs typeface="Calibri" pitchFamily="34" charset="-120"/>
                </a:rPr>
                <a:t>EBIT</a:t>
              </a:r>
              <a:endParaRPr lang="en-US" sz="588" dirty="0"/>
            </a:p>
          </p:txBody>
        </p:sp>
        <p:sp>
          <p:nvSpPr>
            <p:cNvPr id="107" name="svg1_95"/>
            <p:cNvSpPr txBox="1"/>
            <p:nvPr/>
          </p:nvSpPr>
          <p:spPr>
            <a:xfrm>
              <a:off x="2334555" y="7399508"/>
              <a:ext cx="212781" cy="104790"/>
            </a:xfrm>
            <a:prstGeom prst="rect">
              <a:avLst/>
            </a:prstGeom>
            <a:noFill/>
            <a:ln/>
          </p:spPr>
          <p:txBody>
            <a:bodyPr wrap="none" lIns="0" tIns="0" rIns="0" bIns="0" rtlCol="0" anchor="ctr"/>
            <a:lstStyle/>
            <a:p>
              <a:pPr algn="l" indent="0" marL="0">
                <a:buNone/>
              </a:pPr>
              <a:r>
                <a:rPr lang="en-US" sz="588" b="1" dirty="0">
                  <a:solidFill>
                    <a:srgbClr val="404040"/>
                  </a:solidFill>
                  <a:latin typeface="Calibri" pitchFamily="34" charset="0"/>
                  <a:ea typeface="Calibri" pitchFamily="34" charset="-122"/>
                  <a:cs typeface="Calibri" pitchFamily="34" charset="-120"/>
                </a:rPr>
                <a:t>LNST</a:t>
              </a:r>
              <a:endParaRPr lang="en-US" sz="588" dirty="0"/>
            </a:p>
          </p:txBody>
        </p:sp>
      </p:grpSp>
      <p:grpSp>
        <p:nvGrpSpPr>
          <p:cNvPr id="197" name="Fig. 31 – biểu đồ"/>
          <p:cNvGrpSpPr/>
          <p:nvPr/>
        </p:nvGrpSpPr>
        <p:grpSpPr>
          <a:xfrm>
            <a:off x="267828" y="8452165"/>
            <a:ext cx="2460102" cy="1246601"/>
            <a:chOff x="267828" y="8452165"/>
            <a:chExt cx="2460102" cy="1246601"/>
          </a:xfrm>
        </p:grpSpPr>
        <p:sp>
          <p:nvSpPr>
            <p:cNvPr id="108" name="svg2_96"/>
            <p:cNvSpPr/>
            <p:nvPr/>
          </p:nvSpPr>
          <p:spPr>
            <a:xfrm>
              <a:off x="998433" y="8477311"/>
              <a:ext cx="51024" cy="51024"/>
            </a:xfrm>
            <a:prstGeom prst="ellipse">
              <a:avLst/>
            </a:prstGeom>
            <a:solidFill>
              <a:srgbClr val="A3A3A3"/>
            </a:solidFill>
            <a:ln w="7874">
              <a:solidFill>
                <a:srgbClr val="FFFFFF"/>
              </a:solidFill>
              <a:prstDash val="solid"/>
            </a:ln>
          </p:spPr>
        </p:sp>
        <p:sp>
          <p:nvSpPr>
            <p:cNvPr id="109" name="svg2_97"/>
            <p:cNvSpPr txBox="1"/>
            <p:nvPr/>
          </p:nvSpPr>
          <p:spPr>
            <a:xfrm>
              <a:off x="1077986" y="8452165"/>
              <a:ext cx="264719"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2025A</a:t>
              </a:r>
              <a:endParaRPr lang="en-US" sz="587" dirty="0"/>
            </a:p>
          </p:txBody>
        </p:sp>
        <p:sp>
          <p:nvSpPr>
            <p:cNvPr id="110" name="svg2_98"/>
            <p:cNvSpPr/>
            <p:nvPr/>
          </p:nvSpPr>
          <p:spPr>
            <a:xfrm>
              <a:off x="1345631" y="8477311"/>
              <a:ext cx="51024" cy="51024"/>
            </a:xfrm>
            <a:prstGeom prst="ellipse">
              <a:avLst/>
            </a:prstGeom>
            <a:solidFill>
              <a:srgbClr val="7B1E2B"/>
            </a:solidFill>
            <a:ln w="7874">
              <a:solidFill>
                <a:srgbClr val="FFFFFF"/>
              </a:solidFill>
              <a:prstDash val="solid"/>
            </a:ln>
          </p:spPr>
        </p:sp>
        <p:sp>
          <p:nvSpPr>
            <p:cNvPr id="111" name="svg2_99"/>
            <p:cNvSpPr txBox="1"/>
            <p:nvPr/>
          </p:nvSpPr>
          <p:spPr>
            <a:xfrm>
              <a:off x="1425550" y="8452165"/>
              <a:ext cx="25383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2030E</a:t>
              </a:r>
              <a:endParaRPr lang="en-US" sz="587" dirty="0"/>
            </a:p>
          </p:txBody>
        </p:sp>
        <p:sp>
          <p:nvSpPr>
            <p:cNvPr id="112" name="svg2_100"/>
            <p:cNvSpPr txBox="1"/>
            <p:nvPr/>
          </p:nvSpPr>
          <p:spPr>
            <a:xfrm>
              <a:off x="526877" y="8577804"/>
              <a:ext cx="43031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CP biến đổi</a:t>
              </a:r>
              <a:endParaRPr lang="en-US" sz="587" dirty="0"/>
            </a:p>
          </p:txBody>
        </p:sp>
        <p:sp>
          <p:nvSpPr>
            <p:cNvPr id="113" name="svg2_101"/>
            <p:cNvSpPr/>
            <p:nvPr/>
          </p:nvSpPr>
          <p:spPr>
            <a:xfrm>
              <a:off x="994501" y="8626632"/>
              <a:ext cx="1138794" cy="0"/>
            </a:xfrm>
            <a:prstGeom prst="line">
              <a:avLst/>
            </a:prstGeom>
            <a:noFill/>
            <a:ln w="5842">
              <a:solidFill>
                <a:srgbClr val="F0F0F0"/>
              </a:solidFill>
              <a:prstDash val="solid"/>
            </a:ln>
          </p:spPr>
        </p:sp>
        <p:sp>
          <p:nvSpPr>
            <p:cNvPr id="114" name="svg2_102"/>
            <p:cNvSpPr/>
            <p:nvPr/>
          </p:nvSpPr>
          <p:spPr>
            <a:xfrm>
              <a:off x="1924538" y="8626632"/>
              <a:ext cx="94823" cy="0"/>
            </a:xfrm>
            <a:prstGeom prst="line">
              <a:avLst/>
            </a:prstGeom>
            <a:noFill/>
            <a:ln w="21590">
              <a:solidFill>
                <a:srgbClr val="D0D0D0"/>
              </a:solidFill>
              <a:prstDash val="solid"/>
            </a:ln>
          </p:spPr>
        </p:sp>
        <p:sp>
          <p:nvSpPr>
            <p:cNvPr id="115" name="svg2_103"/>
            <p:cNvSpPr/>
            <p:nvPr/>
          </p:nvSpPr>
          <p:spPr>
            <a:xfrm>
              <a:off x="1895094" y="8597189"/>
              <a:ext cx="58887" cy="58887"/>
            </a:xfrm>
            <a:prstGeom prst="ellipse">
              <a:avLst/>
            </a:prstGeom>
            <a:solidFill>
              <a:srgbClr val="A3A3A3"/>
            </a:solidFill>
            <a:ln w="7874">
              <a:solidFill>
                <a:srgbClr val="FFFFFF"/>
              </a:solidFill>
              <a:prstDash val="solid"/>
            </a:ln>
          </p:spPr>
        </p:sp>
        <p:sp>
          <p:nvSpPr>
            <p:cNvPr id="116" name="svg2_104"/>
            <p:cNvSpPr/>
            <p:nvPr/>
          </p:nvSpPr>
          <p:spPr>
            <a:xfrm>
              <a:off x="1990009" y="8597189"/>
              <a:ext cx="58887" cy="58887"/>
            </a:xfrm>
            <a:prstGeom prst="ellipse">
              <a:avLst/>
            </a:prstGeom>
            <a:solidFill>
              <a:srgbClr val="7B1E2B"/>
            </a:solidFill>
            <a:ln w="7874">
              <a:solidFill>
                <a:srgbClr val="FFFFFF"/>
              </a:solidFill>
              <a:prstDash val="solid"/>
            </a:ln>
          </p:spPr>
        </p:sp>
        <p:sp>
          <p:nvSpPr>
            <p:cNvPr id="117" name="svg2_105"/>
            <p:cNvSpPr txBox="1"/>
            <p:nvPr/>
          </p:nvSpPr>
          <p:spPr>
            <a:xfrm>
              <a:off x="2172523" y="8577804"/>
              <a:ext cx="555407"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24,5% → </a:t>
              </a:r>
              <a:pPr algn="l" indent="0" marL="0">
                <a:buNone/>
              </a:pPr>
              <a:r>
                <a:rPr lang="en-US" sz="557" b="1" dirty="0">
                  <a:solidFill>
                    <a:srgbClr val="7B1E2B"/>
                  </a:solidFill>
                  <a:latin typeface="Calibri" pitchFamily="34" charset="0"/>
                  <a:ea typeface="Calibri" pitchFamily="34" charset="-122"/>
                  <a:cs typeface="Calibri" pitchFamily="34" charset="-120"/>
                </a:rPr>
                <a:t>27,0%</a:t>
              </a:r>
              <a:endParaRPr lang="en-US" sz="557" dirty="0"/>
            </a:p>
          </p:txBody>
        </p:sp>
        <p:sp>
          <p:nvSpPr>
            <p:cNvPr id="118" name="svg2_106"/>
            <p:cNvSpPr txBox="1"/>
            <p:nvPr/>
          </p:nvSpPr>
          <p:spPr>
            <a:xfrm>
              <a:off x="545074" y="8690823"/>
              <a:ext cx="41312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Tiền lương</a:t>
              </a:r>
              <a:endParaRPr lang="en-US" sz="587" dirty="0"/>
            </a:p>
          </p:txBody>
        </p:sp>
        <p:sp>
          <p:nvSpPr>
            <p:cNvPr id="119" name="svg2_107"/>
            <p:cNvSpPr/>
            <p:nvPr/>
          </p:nvSpPr>
          <p:spPr>
            <a:xfrm>
              <a:off x="994501" y="8739469"/>
              <a:ext cx="1138794" cy="0"/>
            </a:xfrm>
            <a:prstGeom prst="line">
              <a:avLst/>
            </a:prstGeom>
            <a:noFill/>
            <a:ln w="5842">
              <a:solidFill>
                <a:srgbClr val="F0F0F0"/>
              </a:solidFill>
              <a:prstDash val="solid"/>
            </a:ln>
          </p:spPr>
        </p:sp>
        <p:sp>
          <p:nvSpPr>
            <p:cNvPr id="120" name="svg2_108"/>
            <p:cNvSpPr/>
            <p:nvPr/>
          </p:nvSpPr>
          <p:spPr>
            <a:xfrm>
              <a:off x="1848642" y="8739469"/>
              <a:ext cx="5578" cy="0"/>
            </a:xfrm>
            <a:prstGeom prst="line">
              <a:avLst/>
            </a:prstGeom>
            <a:noFill/>
            <a:ln w="21590">
              <a:solidFill>
                <a:srgbClr val="D0D0D0"/>
              </a:solidFill>
              <a:prstDash val="solid"/>
            </a:ln>
          </p:spPr>
        </p:sp>
        <p:sp>
          <p:nvSpPr>
            <p:cNvPr id="121" name="svg2_109"/>
            <p:cNvSpPr/>
            <p:nvPr/>
          </p:nvSpPr>
          <p:spPr>
            <a:xfrm>
              <a:off x="1824777" y="8710026"/>
              <a:ext cx="58887" cy="58887"/>
            </a:xfrm>
            <a:prstGeom prst="ellipse">
              <a:avLst/>
            </a:prstGeom>
            <a:solidFill>
              <a:srgbClr val="A3A3A3"/>
            </a:solidFill>
            <a:ln w="7874">
              <a:solidFill>
                <a:srgbClr val="FFFFFF"/>
              </a:solidFill>
              <a:prstDash val="solid"/>
            </a:ln>
          </p:spPr>
        </p:sp>
        <p:sp>
          <p:nvSpPr>
            <p:cNvPr id="122" name="svg2_110"/>
            <p:cNvSpPr/>
            <p:nvPr/>
          </p:nvSpPr>
          <p:spPr>
            <a:xfrm>
              <a:off x="1819199" y="8710026"/>
              <a:ext cx="58887" cy="58887"/>
            </a:xfrm>
            <a:prstGeom prst="ellipse">
              <a:avLst/>
            </a:prstGeom>
            <a:solidFill>
              <a:srgbClr val="7B1E2B"/>
            </a:solidFill>
            <a:ln w="7874">
              <a:solidFill>
                <a:srgbClr val="FFFFFF"/>
              </a:solidFill>
              <a:prstDash val="solid"/>
            </a:ln>
          </p:spPr>
        </p:sp>
        <p:sp>
          <p:nvSpPr>
            <p:cNvPr id="123" name="svg2_111"/>
            <p:cNvSpPr txBox="1"/>
            <p:nvPr/>
          </p:nvSpPr>
          <p:spPr>
            <a:xfrm>
              <a:off x="2172523" y="8690823"/>
              <a:ext cx="555407"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22,6% → </a:t>
              </a:r>
              <a:pPr algn="l" indent="0" marL="0">
                <a:buNone/>
              </a:pPr>
              <a:r>
                <a:rPr lang="en-US" sz="557" b="1" dirty="0">
                  <a:solidFill>
                    <a:srgbClr val="7B1E2B"/>
                  </a:solidFill>
                  <a:latin typeface="Calibri" pitchFamily="34" charset="0"/>
                  <a:ea typeface="Calibri" pitchFamily="34" charset="-122"/>
                  <a:cs typeface="Calibri" pitchFamily="34" charset="-120"/>
                </a:rPr>
                <a:t>22,5%</a:t>
              </a:r>
              <a:endParaRPr lang="en-US" sz="557" dirty="0"/>
            </a:p>
          </p:txBody>
        </p:sp>
        <p:sp>
          <p:nvSpPr>
            <p:cNvPr id="124" name="svg2_112"/>
            <p:cNvSpPr txBox="1"/>
            <p:nvPr/>
          </p:nvSpPr>
          <p:spPr>
            <a:xfrm>
              <a:off x="398861" y="8794151"/>
              <a:ext cx="559338" cy="11430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Thuê mặt bằng</a:t>
              </a:r>
              <a:endParaRPr lang="en-US" sz="587" dirty="0"/>
            </a:p>
          </p:txBody>
        </p:sp>
        <p:sp>
          <p:nvSpPr>
            <p:cNvPr id="125" name="svg2_113"/>
            <p:cNvSpPr/>
            <p:nvPr/>
          </p:nvSpPr>
          <p:spPr>
            <a:xfrm>
              <a:off x="994501" y="8852306"/>
              <a:ext cx="1138794" cy="0"/>
            </a:xfrm>
            <a:prstGeom prst="line">
              <a:avLst/>
            </a:prstGeom>
            <a:noFill/>
            <a:ln w="5842">
              <a:solidFill>
                <a:srgbClr val="F0F0F0"/>
              </a:solidFill>
              <a:prstDash val="solid"/>
            </a:ln>
          </p:spPr>
        </p:sp>
        <p:sp>
          <p:nvSpPr>
            <p:cNvPr id="126" name="svg2_114"/>
            <p:cNvSpPr/>
            <p:nvPr/>
          </p:nvSpPr>
          <p:spPr>
            <a:xfrm>
              <a:off x="1348923" y="8852306"/>
              <a:ext cx="249906" cy="0"/>
            </a:xfrm>
            <a:prstGeom prst="line">
              <a:avLst/>
            </a:prstGeom>
            <a:noFill/>
            <a:ln w="21590">
              <a:solidFill>
                <a:srgbClr val="D0D0D0"/>
              </a:solidFill>
              <a:prstDash val="solid"/>
            </a:ln>
          </p:spPr>
        </p:sp>
        <p:sp>
          <p:nvSpPr>
            <p:cNvPr id="127" name="svg2_115"/>
            <p:cNvSpPr/>
            <p:nvPr/>
          </p:nvSpPr>
          <p:spPr>
            <a:xfrm>
              <a:off x="1569476" y="8822954"/>
              <a:ext cx="58887" cy="58887"/>
            </a:xfrm>
            <a:prstGeom prst="ellipse">
              <a:avLst/>
            </a:prstGeom>
            <a:solidFill>
              <a:srgbClr val="A3A3A3"/>
            </a:solidFill>
            <a:ln w="7874">
              <a:solidFill>
                <a:srgbClr val="FFFFFF"/>
              </a:solidFill>
              <a:prstDash val="solid"/>
            </a:ln>
          </p:spPr>
        </p:sp>
        <p:sp>
          <p:nvSpPr>
            <p:cNvPr id="128" name="svg2_116"/>
            <p:cNvSpPr/>
            <p:nvPr/>
          </p:nvSpPr>
          <p:spPr>
            <a:xfrm>
              <a:off x="1319479" y="8822954"/>
              <a:ext cx="58887" cy="58887"/>
            </a:xfrm>
            <a:prstGeom prst="ellipse">
              <a:avLst/>
            </a:prstGeom>
            <a:solidFill>
              <a:srgbClr val="7B1E2B"/>
            </a:solidFill>
            <a:ln w="7874">
              <a:solidFill>
                <a:srgbClr val="FFFFFF"/>
              </a:solidFill>
              <a:prstDash val="solid"/>
            </a:ln>
          </p:spPr>
        </p:sp>
        <p:sp>
          <p:nvSpPr>
            <p:cNvPr id="129" name="svg2_117"/>
            <p:cNvSpPr txBox="1"/>
            <p:nvPr/>
          </p:nvSpPr>
          <p:spPr>
            <a:xfrm>
              <a:off x="2172523" y="8803660"/>
              <a:ext cx="514716"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15,9% → </a:t>
              </a:r>
              <a:pPr algn="l" indent="0" marL="0">
                <a:buNone/>
              </a:pPr>
              <a:r>
                <a:rPr lang="en-US" sz="557" b="1" dirty="0">
                  <a:solidFill>
                    <a:srgbClr val="7B1E2B"/>
                  </a:solidFill>
                  <a:latin typeface="Calibri" pitchFamily="34" charset="0"/>
                  <a:ea typeface="Calibri" pitchFamily="34" charset="-122"/>
                  <a:cs typeface="Calibri" pitchFamily="34" charset="-120"/>
                </a:rPr>
                <a:t>9,3%</a:t>
              </a:r>
              <a:endParaRPr lang="en-US" sz="557" dirty="0"/>
            </a:p>
          </p:txBody>
        </p:sp>
        <p:sp>
          <p:nvSpPr>
            <p:cNvPr id="130" name="svg2_118"/>
            <p:cNvSpPr txBox="1"/>
            <p:nvPr/>
          </p:nvSpPr>
          <p:spPr>
            <a:xfrm>
              <a:off x="593446" y="8916589"/>
              <a:ext cx="36182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Khấu hao</a:t>
              </a:r>
              <a:endParaRPr lang="en-US" sz="587" dirty="0"/>
            </a:p>
          </p:txBody>
        </p:sp>
        <p:sp>
          <p:nvSpPr>
            <p:cNvPr id="131" name="svg2_119"/>
            <p:cNvSpPr/>
            <p:nvPr/>
          </p:nvSpPr>
          <p:spPr>
            <a:xfrm>
              <a:off x="994501" y="8965235"/>
              <a:ext cx="1138794" cy="0"/>
            </a:xfrm>
            <a:prstGeom prst="line">
              <a:avLst/>
            </a:prstGeom>
            <a:noFill/>
            <a:ln w="5842">
              <a:solidFill>
                <a:srgbClr val="F0F0F0"/>
              </a:solidFill>
              <a:prstDash val="solid"/>
            </a:ln>
          </p:spPr>
        </p:sp>
        <p:sp>
          <p:nvSpPr>
            <p:cNvPr id="132" name="svg2_120"/>
            <p:cNvSpPr/>
            <p:nvPr/>
          </p:nvSpPr>
          <p:spPr>
            <a:xfrm>
              <a:off x="1244498" y="8965235"/>
              <a:ext cx="79370" cy="0"/>
            </a:xfrm>
            <a:prstGeom prst="line">
              <a:avLst/>
            </a:prstGeom>
            <a:noFill/>
            <a:ln w="21590">
              <a:solidFill>
                <a:srgbClr val="D0D0D0"/>
              </a:solidFill>
              <a:prstDash val="solid"/>
            </a:ln>
          </p:spPr>
        </p:sp>
        <p:sp>
          <p:nvSpPr>
            <p:cNvPr id="133" name="svg2_121"/>
            <p:cNvSpPr/>
            <p:nvPr/>
          </p:nvSpPr>
          <p:spPr>
            <a:xfrm>
              <a:off x="1215146" y="8935791"/>
              <a:ext cx="58887" cy="58887"/>
            </a:xfrm>
            <a:prstGeom prst="ellipse">
              <a:avLst/>
            </a:prstGeom>
            <a:solidFill>
              <a:srgbClr val="A3A3A3"/>
            </a:solidFill>
            <a:ln w="7874">
              <a:solidFill>
                <a:srgbClr val="FFFFFF"/>
              </a:solidFill>
              <a:prstDash val="solid"/>
            </a:ln>
          </p:spPr>
        </p:sp>
        <p:sp>
          <p:nvSpPr>
            <p:cNvPr id="134" name="svg2_122"/>
            <p:cNvSpPr/>
            <p:nvPr/>
          </p:nvSpPr>
          <p:spPr>
            <a:xfrm>
              <a:off x="1294425" y="8935791"/>
              <a:ext cx="58887" cy="58887"/>
            </a:xfrm>
            <a:prstGeom prst="ellipse">
              <a:avLst/>
            </a:prstGeom>
            <a:solidFill>
              <a:srgbClr val="7B1E2B"/>
            </a:solidFill>
            <a:ln w="7874">
              <a:solidFill>
                <a:srgbClr val="FFFFFF"/>
              </a:solidFill>
              <a:prstDash val="solid"/>
            </a:ln>
          </p:spPr>
        </p:sp>
        <p:sp>
          <p:nvSpPr>
            <p:cNvPr id="135" name="svg2_123"/>
            <p:cNvSpPr txBox="1"/>
            <p:nvPr/>
          </p:nvSpPr>
          <p:spPr>
            <a:xfrm>
              <a:off x="2172523" y="8916589"/>
              <a:ext cx="47393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6,6% → </a:t>
              </a:r>
              <a:pPr algn="l" indent="0" marL="0">
                <a:buNone/>
              </a:pPr>
              <a:r>
                <a:rPr lang="en-US" sz="557" b="1" dirty="0">
                  <a:solidFill>
                    <a:srgbClr val="7B1E2B"/>
                  </a:solidFill>
                  <a:latin typeface="Calibri" pitchFamily="34" charset="0"/>
                  <a:ea typeface="Calibri" pitchFamily="34" charset="-122"/>
                  <a:cs typeface="Calibri" pitchFamily="34" charset="-120"/>
                </a:rPr>
                <a:t>8,7%</a:t>
              </a:r>
              <a:endParaRPr lang="en-US" sz="557" dirty="0"/>
            </a:p>
          </p:txBody>
        </p:sp>
        <p:sp>
          <p:nvSpPr>
            <p:cNvPr id="136" name="svg2_124"/>
            <p:cNvSpPr txBox="1"/>
            <p:nvPr/>
          </p:nvSpPr>
          <p:spPr>
            <a:xfrm>
              <a:off x="569031" y="9029426"/>
              <a:ext cx="38852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Tiền ăn ca</a:t>
              </a:r>
              <a:endParaRPr lang="en-US" sz="587" dirty="0"/>
            </a:p>
          </p:txBody>
        </p:sp>
        <p:sp>
          <p:nvSpPr>
            <p:cNvPr id="137" name="svg2_125"/>
            <p:cNvSpPr/>
            <p:nvPr/>
          </p:nvSpPr>
          <p:spPr>
            <a:xfrm>
              <a:off x="994501" y="9078163"/>
              <a:ext cx="1138794" cy="0"/>
            </a:xfrm>
            <a:prstGeom prst="line">
              <a:avLst/>
            </a:prstGeom>
            <a:noFill/>
            <a:ln w="5842">
              <a:solidFill>
                <a:srgbClr val="F0F0F0"/>
              </a:solidFill>
              <a:prstDash val="solid"/>
            </a:ln>
          </p:spPr>
        </p:sp>
        <p:sp>
          <p:nvSpPr>
            <p:cNvPr id="138" name="svg2_126"/>
            <p:cNvSpPr/>
            <p:nvPr/>
          </p:nvSpPr>
          <p:spPr>
            <a:xfrm>
              <a:off x="1233708" y="9078163"/>
              <a:ext cx="8047" cy="0"/>
            </a:xfrm>
            <a:prstGeom prst="line">
              <a:avLst/>
            </a:prstGeom>
            <a:noFill/>
            <a:ln w="21590">
              <a:solidFill>
                <a:srgbClr val="D0D0D0"/>
              </a:solidFill>
              <a:prstDash val="solid"/>
            </a:ln>
          </p:spPr>
        </p:sp>
        <p:sp>
          <p:nvSpPr>
            <p:cNvPr id="139" name="svg2_127"/>
            <p:cNvSpPr/>
            <p:nvPr/>
          </p:nvSpPr>
          <p:spPr>
            <a:xfrm>
              <a:off x="1212220" y="9048720"/>
              <a:ext cx="58887" cy="58887"/>
            </a:xfrm>
            <a:prstGeom prst="ellipse">
              <a:avLst/>
            </a:prstGeom>
            <a:solidFill>
              <a:srgbClr val="A3A3A3"/>
            </a:solidFill>
            <a:ln w="7874">
              <a:solidFill>
                <a:srgbClr val="FFFFFF"/>
              </a:solidFill>
              <a:prstDash val="solid"/>
            </a:ln>
          </p:spPr>
        </p:sp>
        <p:sp>
          <p:nvSpPr>
            <p:cNvPr id="140" name="svg2_128"/>
            <p:cNvSpPr/>
            <p:nvPr/>
          </p:nvSpPr>
          <p:spPr>
            <a:xfrm>
              <a:off x="1204265" y="9048720"/>
              <a:ext cx="58887" cy="58887"/>
            </a:xfrm>
            <a:prstGeom prst="ellipse">
              <a:avLst/>
            </a:prstGeom>
            <a:solidFill>
              <a:srgbClr val="7B1E2B"/>
            </a:solidFill>
            <a:ln w="7874">
              <a:solidFill>
                <a:srgbClr val="FFFFFF"/>
              </a:solidFill>
              <a:prstDash val="solid"/>
            </a:ln>
          </p:spPr>
        </p:sp>
        <p:sp>
          <p:nvSpPr>
            <p:cNvPr id="141" name="svg2_129"/>
            <p:cNvSpPr txBox="1"/>
            <p:nvPr/>
          </p:nvSpPr>
          <p:spPr>
            <a:xfrm>
              <a:off x="2172523" y="9029426"/>
              <a:ext cx="47393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6,5% → </a:t>
              </a:r>
              <a:pPr algn="l" indent="0" marL="0">
                <a:buNone/>
              </a:pPr>
              <a:r>
                <a:rPr lang="en-US" sz="557" b="1" dirty="0">
                  <a:solidFill>
                    <a:srgbClr val="7B1E2B"/>
                  </a:solidFill>
                  <a:latin typeface="Calibri" pitchFamily="34" charset="0"/>
                  <a:ea typeface="Calibri" pitchFamily="34" charset="-122"/>
                  <a:cs typeface="Calibri" pitchFamily="34" charset="-120"/>
                </a:rPr>
                <a:t>6,3%</a:t>
              </a:r>
              <a:endParaRPr lang="en-US" sz="557" dirty="0"/>
            </a:p>
          </p:txBody>
        </p:sp>
        <p:sp>
          <p:nvSpPr>
            <p:cNvPr id="142" name="svg2_130"/>
            <p:cNvSpPr txBox="1"/>
            <p:nvPr/>
          </p:nvSpPr>
          <p:spPr>
            <a:xfrm>
              <a:off x="535198" y="9142354"/>
              <a:ext cx="42647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Điện, nước</a:t>
              </a:r>
              <a:endParaRPr lang="en-US" sz="587" dirty="0"/>
            </a:p>
          </p:txBody>
        </p:sp>
        <p:sp>
          <p:nvSpPr>
            <p:cNvPr id="143" name="svg2_131"/>
            <p:cNvSpPr/>
            <p:nvPr/>
          </p:nvSpPr>
          <p:spPr>
            <a:xfrm>
              <a:off x="994501" y="9191092"/>
              <a:ext cx="1138794" cy="0"/>
            </a:xfrm>
            <a:prstGeom prst="line">
              <a:avLst/>
            </a:prstGeom>
            <a:noFill/>
            <a:ln w="5842">
              <a:solidFill>
                <a:srgbClr val="F0F0F0"/>
              </a:solidFill>
              <a:prstDash val="solid"/>
            </a:ln>
          </p:spPr>
        </p:sp>
        <p:sp>
          <p:nvSpPr>
            <p:cNvPr id="144" name="svg2_132"/>
            <p:cNvSpPr/>
            <p:nvPr/>
          </p:nvSpPr>
          <p:spPr>
            <a:xfrm>
              <a:off x="1174181" y="9191092"/>
              <a:ext cx="10058" cy="0"/>
            </a:xfrm>
            <a:prstGeom prst="line">
              <a:avLst/>
            </a:prstGeom>
            <a:noFill/>
            <a:ln w="21590">
              <a:solidFill>
                <a:srgbClr val="D0D0D0"/>
              </a:solidFill>
              <a:prstDash val="solid"/>
            </a:ln>
          </p:spPr>
        </p:sp>
        <p:sp>
          <p:nvSpPr>
            <p:cNvPr id="145" name="svg2_133"/>
            <p:cNvSpPr/>
            <p:nvPr/>
          </p:nvSpPr>
          <p:spPr>
            <a:xfrm>
              <a:off x="1144737" y="9161648"/>
              <a:ext cx="58887" cy="58887"/>
            </a:xfrm>
            <a:prstGeom prst="ellipse">
              <a:avLst/>
            </a:prstGeom>
            <a:solidFill>
              <a:srgbClr val="A3A3A3"/>
            </a:solidFill>
            <a:ln w="7874">
              <a:solidFill>
                <a:srgbClr val="FFFFFF"/>
              </a:solidFill>
              <a:prstDash val="solid"/>
            </a:ln>
          </p:spPr>
        </p:sp>
        <p:sp>
          <p:nvSpPr>
            <p:cNvPr id="146" name="svg2_134"/>
            <p:cNvSpPr/>
            <p:nvPr/>
          </p:nvSpPr>
          <p:spPr>
            <a:xfrm>
              <a:off x="1154796" y="9161648"/>
              <a:ext cx="58887" cy="58887"/>
            </a:xfrm>
            <a:prstGeom prst="ellipse">
              <a:avLst/>
            </a:prstGeom>
            <a:solidFill>
              <a:srgbClr val="7B1E2B"/>
            </a:solidFill>
            <a:ln w="7874">
              <a:solidFill>
                <a:srgbClr val="FFFFFF"/>
              </a:solidFill>
              <a:prstDash val="solid"/>
            </a:ln>
          </p:spPr>
        </p:sp>
        <p:sp>
          <p:nvSpPr>
            <p:cNvPr id="147" name="svg2_135"/>
            <p:cNvSpPr txBox="1"/>
            <p:nvPr/>
          </p:nvSpPr>
          <p:spPr>
            <a:xfrm>
              <a:off x="2172523" y="9142354"/>
              <a:ext cx="47393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4,7% → </a:t>
              </a:r>
              <a:pPr algn="l" indent="0" marL="0">
                <a:buNone/>
              </a:pPr>
              <a:r>
                <a:rPr lang="en-US" sz="557" b="1" dirty="0">
                  <a:solidFill>
                    <a:srgbClr val="7B1E2B"/>
                  </a:solidFill>
                  <a:latin typeface="Calibri" pitchFamily="34" charset="0"/>
                  <a:ea typeface="Calibri" pitchFamily="34" charset="-122"/>
                  <a:cs typeface="Calibri" pitchFamily="34" charset="-120"/>
                </a:rPr>
                <a:t>5,0%</a:t>
              </a:r>
              <a:endParaRPr lang="en-US" sz="557" dirty="0"/>
            </a:p>
          </p:txBody>
        </p:sp>
        <p:sp>
          <p:nvSpPr>
            <p:cNvPr id="148" name="svg2_136"/>
            <p:cNvSpPr txBox="1"/>
            <p:nvPr/>
          </p:nvSpPr>
          <p:spPr>
            <a:xfrm>
              <a:off x="593994" y="9255282"/>
              <a:ext cx="363565"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Sửa chữa</a:t>
              </a:r>
              <a:endParaRPr lang="en-US" sz="587" dirty="0"/>
            </a:p>
          </p:txBody>
        </p:sp>
        <p:sp>
          <p:nvSpPr>
            <p:cNvPr id="149" name="svg2_137"/>
            <p:cNvSpPr/>
            <p:nvPr/>
          </p:nvSpPr>
          <p:spPr>
            <a:xfrm>
              <a:off x="994501" y="9303929"/>
              <a:ext cx="1138794" cy="0"/>
            </a:xfrm>
            <a:prstGeom prst="line">
              <a:avLst/>
            </a:prstGeom>
            <a:noFill/>
            <a:ln w="5842">
              <a:solidFill>
                <a:srgbClr val="F0F0F0"/>
              </a:solidFill>
              <a:prstDash val="solid"/>
            </a:ln>
          </p:spPr>
        </p:sp>
        <p:sp>
          <p:nvSpPr>
            <p:cNvPr id="150" name="svg2_138"/>
            <p:cNvSpPr/>
            <p:nvPr/>
          </p:nvSpPr>
          <p:spPr>
            <a:xfrm>
              <a:off x="1160831" y="9303929"/>
              <a:ext cx="640" cy="0"/>
            </a:xfrm>
            <a:prstGeom prst="line">
              <a:avLst/>
            </a:prstGeom>
            <a:noFill/>
            <a:ln w="21590">
              <a:solidFill>
                <a:srgbClr val="D0D0D0"/>
              </a:solidFill>
              <a:prstDash val="solid"/>
            </a:ln>
          </p:spPr>
        </p:sp>
        <p:sp>
          <p:nvSpPr>
            <p:cNvPr id="151" name="svg2_139"/>
            <p:cNvSpPr/>
            <p:nvPr/>
          </p:nvSpPr>
          <p:spPr>
            <a:xfrm>
              <a:off x="1131387" y="9274485"/>
              <a:ext cx="58887" cy="58887"/>
            </a:xfrm>
            <a:prstGeom prst="ellipse">
              <a:avLst/>
            </a:prstGeom>
            <a:solidFill>
              <a:srgbClr val="A3A3A3"/>
            </a:solidFill>
            <a:ln w="7874">
              <a:solidFill>
                <a:srgbClr val="FFFFFF"/>
              </a:solidFill>
              <a:prstDash val="solid"/>
            </a:ln>
          </p:spPr>
        </p:sp>
        <p:sp>
          <p:nvSpPr>
            <p:cNvPr id="152" name="svg2_140"/>
            <p:cNvSpPr/>
            <p:nvPr/>
          </p:nvSpPr>
          <p:spPr>
            <a:xfrm>
              <a:off x="1132027" y="9274485"/>
              <a:ext cx="58887" cy="58887"/>
            </a:xfrm>
            <a:prstGeom prst="ellipse">
              <a:avLst/>
            </a:prstGeom>
            <a:solidFill>
              <a:srgbClr val="7B1E2B"/>
            </a:solidFill>
            <a:ln w="7874">
              <a:solidFill>
                <a:srgbClr val="FFFFFF"/>
              </a:solidFill>
              <a:prstDash val="solid"/>
            </a:ln>
          </p:spPr>
        </p:sp>
        <p:sp>
          <p:nvSpPr>
            <p:cNvPr id="153" name="svg2_141"/>
            <p:cNvSpPr txBox="1"/>
            <p:nvPr/>
          </p:nvSpPr>
          <p:spPr>
            <a:xfrm>
              <a:off x="2172523" y="9255282"/>
              <a:ext cx="47393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4,4% → </a:t>
              </a:r>
              <a:pPr algn="l" indent="0" marL="0">
                <a:buNone/>
              </a:pPr>
              <a:r>
                <a:rPr lang="en-US" sz="557" b="1" dirty="0">
                  <a:solidFill>
                    <a:srgbClr val="7B1E2B"/>
                  </a:solidFill>
                  <a:latin typeface="Calibri" pitchFamily="34" charset="0"/>
                  <a:ea typeface="Calibri" pitchFamily="34" charset="-122"/>
                  <a:cs typeface="Calibri" pitchFamily="34" charset="-120"/>
                </a:rPr>
                <a:t>4,4%</a:t>
              </a:r>
              <a:endParaRPr lang="en-US" sz="557" dirty="0"/>
            </a:p>
          </p:txBody>
        </p:sp>
        <p:sp>
          <p:nvSpPr>
            <p:cNvPr id="154" name="svg2_142"/>
            <p:cNvSpPr txBox="1"/>
            <p:nvPr/>
          </p:nvSpPr>
          <p:spPr>
            <a:xfrm>
              <a:off x="563819" y="9368119"/>
              <a:ext cx="39438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Marketing</a:t>
              </a:r>
              <a:endParaRPr lang="en-US" sz="587" dirty="0"/>
            </a:p>
          </p:txBody>
        </p:sp>
        <p:sp>
          <p:nvSpPr>
            <p:cNvPr id="155" name="svg2_143"/>
            <p:cNvSpPr/>
            <p:nvPr/>
          </p:nvSpPr>
          <p:spPr>
            <a:xfrm>
              <a:off x="994501" y="9416857"/>
              <a:ext cx="1138794" cy="0"/>
            </a:xfrm>
            <a:prstGeom prst="line">
              <a:avLst/>
            </a:prstGeom>
            <a:noFill/>
            <a:ln w="5842">
              <a:solidFill>
                <a:srgbClr val="F0F0F0"/>
              </a:solidFill>
              <a:prstDash val="solid"/>
            </a:ln>
          </p:spPr>
        </p:sp>
        <p:sp>
          <p:nvSpPr>
            <p:cNvPr id="156" name="svg2_144"/>
            <p:cNvSpPr/>
            <p:nvPr/>
          </p:nvSpPr>
          <p:spPr>
            <a:xfrm>
              <a:off x="1087130" y="9416857"/>
              <a:ext cx="13716" cy="0"/>
            </a:xfrm>
            <a:prstGeom prst="line">
              <a:avLst/>
            </a:prstGeom>
            <a:noFill/>
            <a:ln w="21590">
              <a:solidFill>
                <a:srgbClr val="D0D0D0"/>
              </a:solidFill>
              <a:prstDash val="solid"/>
            </a:ln>
          </p:spPr>
        </p:sp>
        <p:sp>
          <p:nvSpPr>
            <p:cNvPr id="157" name="svg2_145"/>
            <p:cNvSpPr/>
            <p:nvPr/>
          </p:nvSpPr>
          <p:spPr>
            <a:xfrm>
              <a:off x="1057686" y="9387413"/>
              <a:ext cx="58887" cy="58887"/>
            </a:xfrm>
            <a:prstGeom prst="ellipse">
              <a:avLst/>
            </a:prstGeom>
            <a:solidFill>
              <a:srgbClr val="A3A3A3"/>
            </a:solidFill>
            <a:ln w="7874">
              <a:solidFill>
                <a:srgbClr val="FFFFFF"/>
              </a:solidFill>
              <a:prstDash val="solid"/>
            </a:ln>
          </p:spPr>
        </p:sp>
        <p:sp>
          <p:nvSpPr>
            <p:cNvPr id="158" name="svg2_146"/>
            <p:cNvSpPr/>
            <p:nvPr/>
          </p:nvSpPr>
          <p:spPr>
            <a:xfrm>
              <a:off x="1071402" y="9387413"/>
              <a:ext cx="58887" cy="58887"/>
            </a:xfrm>
            <a:prstGeom prst="ellipse">
              <a:avLst/>
            </a:prstGeom>
            <a:solidFill>
              <a:srgbClr val="7B1E2B"/>
            </a:solidFill>
            <a:ln w="7874">
              <a:solidFill>
                <a:srgbClr val="FFFFFF"/>
              </a:solidFill>
              <a:prstDash val="solid"/>
            </a:ln>
          </p:spPr>
        </p:sp>
        <p:sp>
          <p:nvSpPr>
            <p:cNvPr id="159" name="svg2_147"/>
            <p:cNvSpPr txBox="1"/>
            <p:nvPr/>
          </p:nvSpPr>
          <p:spPr>
            <a:xfrm>
              <a:off x="2172523" y="9368119"/>
              <a:ext cx="47393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2,4% → </a:t>
              </a:r>
              <a:pPr algn="l" indent="0" marL="0">
                <a:buNone/>
              </a:pPr>
              <a:r>
                <a:rPr lang="en-US" sz="557" b="1" dirty="0">
                  <a:solidFill>
                    <a:srgbClr val="7B1E2B"/>
                  </a:solidFill>
                  <a:latin typeface="Calibri" pitchFamily="34" charset="0"/>
                  <a:ea typeface="Calibri" pitchFamily="34" charset="-122"/>
                  <a:cs typeface="Calibri" pitchFamily="34" charset="-120"/>
                </a:rPr>
                <a:t>2,8%</a:t>
              </a:r>
              <a:endParaRPr lang="en-US" sz="557" dirty="0"/>
            </a:p>
          </p:txBody>
        </p:sp>
        <p:sp>
          <p:nvSpPr>
            <p:cNvPr id="160" name="svg2_148"/>
            <p:cNvSpPr txBox="1"/>
            <p:nvPr/>
          </p:nvSpPr>
          <p:spPr>
            <a:xfrm>
              <a:off x="450525" y="9480956"/>
              <a:ext cx="51361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CP cố định SX</a:t>
              </a:r>
              <a:endParaRPr lang="en-US" sz="587" dirty="0"/>
            </a:p>
          </p:txBody>
        </p:sp>
        <p:sp>
          <p:nvSpPr>
            <p:cNvPr id="161" name="svg2_149"/>
            <p:cNvSpPr/>
            <p:nvPr/>
          </p:nvSpPr>
          <p:spPr>
            <a:xfrm>
              <a:off x="994501" y="9529785"/>
              <a:ext cx="1138794" cy="0"/>
            </a:xfrm>
            <a:prstGeom prst="line">
              <a:avLst/>
            </a:prstGeom>
            <a:noFill/>
            <a:ln w="5842">
              <a:solidFill>
                <a:srgbClr val="F0F0F0"/>
              </a:solidFill>
              <a:prstDash val="solid"/>
            </a:ln>
          </p:spPr>
        </p:sp>
        <p:sp>
          <p:nvSpPr>
            <p:cNvPr id="162" name="svg2_150"/>
            <p:cNvSpPr/>
            <p:nvPr/>
          </p:nvSpPr>
          <p:spPr>
            <a:xfrm>
              <a:off x="1064636" y="9529785"/>
              <a:ext cx="31821" cy="0"/>
            </a:xfrm>
            <a:prstGeom prst="line">
              <a:avLst/>
            </a:prstGeom>
            <a:noFill/>
            <a:ln w="21590">
              <a:solidFill>
                <a:srgbClr val="D0D0D0"/>
              </a:solidFill>
              <a:prstDash val="solid"/>
            </a:ln>
          </p:spPr>
        </p:sp>
        <p:sp>
          <p:nvSpPr>
            <p:cNvPr id="163" name="svg2_151"/>
            <p:cNvSpPr/>
            <p:nvPr/>
          </p:nvSpPr>
          <p:spPr>
            <a:xfrm>
              <a:off x="1067013" y="9500342"/>
              <a:ext cx="58887" cy="58887"/>
            </a:xfrm>
            <a:prstGeom prst="ellipse">
              <a:avLst/>
            </a:prstGeom>
            <a:solidFill>
              <a:srgbClr val="A3A3A3"/>
            </a:solidFill>
            <a:ln w="7874">
              <a:solidFill>
                <a:srgbClr val="FFFFFF"/>
              </a:solidFill>
              <a:prstDash val="solid"/>
            </a:ln>
          </p:spPr>
        </p:sp>
        <p:sp>
          <p:nvSpPr>
            <p:cNvPr id="164" name="svg2_152"/>
            <p:cNvSpPr/>
            <p:nvPr/>
          </p:nvSpPr>
          <p:spPr>
            <a:xfrm>
              <a:off x="1035192" y="9500342"/>
              <a:ext cx="58887" cy="58887"/>
            </a:xfrm>
            <a:prstGeom prst="ellipse">
              <a:avLst/>
            </a:prstGeom>
            <a:solidFill>
              <a:srgbClr val="7B1E2B"/>
            </a:solidFill>
            <a:ln w="7874">
              <a:solidFill>
                <a:srgbClr val="FFFFFF"/>
              </a:solidFill>
              <a:prstDash val="solid"/>
            </a:ln>
          </p:spPr>
        </p:sp>
        <p:sp>
          <p:nvSpPr>
            <p:cNvPr id="165" name="svg2_153"/>
            <p:cNvSpPr txBox="1"/>
            <p:nvPr/>
          </p:nvSpPr>
          <p:spPr>
            <a:xfrm>
              <a:off x="2172523" y="9480956"/>
              <a:ext cx="47393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2,7% → </a:t>
              </a:r>
              <a:pPr algn="l" indent="0" marL="0">
                <a:buNone/>
              </a:pPr>
              <a:r>
                <a:rPr lang="en-US" sz="557" b="1" dirty="0">
                  <a:solidFill>
                    <a:srgbClr val="7B1E2B"/>
                  </a:solidFill>
                  <a:latin typeface="Calibri" pitchFamily="34" charset="0"/>
                  <a:ea typeface="Calibri" pitchFamily="34" charset="-122"/>
                  <a:cs typeface="Calibri" pitchFamily="34" charset="-120"/>
                </a:rPr>
                <a:t>1,8%</a:t>
              </a:r>
              <a:endParaRPr lang="en-US" sz="557" dirty="0"/>
            </a:p>
          </p:txBody>
        </p:sp>
        <p:sp>
          <p:nvSpPr>
            <p:cNvPr id="166" name="svg2_154"/>
            <p:cNvSpPr txBox="1"/>
            <p:nvPr/>
          </p:nvSpPr>
          <p:spPr>
            <a:xfrm>
              <a:off x="267828" y="9593976"/>
              <a:ext cx="68909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Kiểm nghiệm, R&amp;D</a:t>
              </a:r>
              <a:endParaRPr lang="en-US" sz="587" dirty="0"/>
            </a:p>
          </p:txBody>
        </p:sp>
        <p:sp>
          <p:nvSpPr>
            <p:cNvPr id="167" name="svg2_155"/>
            <p:cNvSpPr/>
            <p:nvPr/>
          </p:nvSpPr>
          <p:spPr>
            <a:xfrm>
              <a:off x="994501" y="9642622"/>
              <a:ext cx="1138794" cy="0"/>
            </a:xfrm>
            <a:prstGeom prst="line">
              <a:avLst/>
            </a:prstGeom>
            <a:noFill/>
            <a:ln w="5842">
              <a:solidFill>
                <a:srgbClr val="F0F0F0"/>
              </a:solidFill>
              <a:prstDash val="solid"/>
            </a:ln>
          </p:spPr>
        </p:sp>
        <p:sp>
          <p:nvSpPr>
            <p:cNvPr id="168" name="svg2_156"/>
            <p:cNvSpPr/>
            <p:nvPr/>
          </p:nvSpPr>
          <p:spPr>
            <a:xfrm>
              <a:off x="994501" y="9642622"/>
              <a:ext cx="22769" cy="0"/>
            </a:xfrm>
            <a:prstGeom prst="line">
              <a:avLst/>
            </a:prstGeom>
            <a:noFill/>
            <a:ln w="21590">
              <a:solidFill>
                <a:srgbClr val="D0D0D0"/>
              </a:solidFill>
              <a:prstDash val="solid"/>
            </a:ln>
          </p:spPr>
        </p:sp>
        <p:sp>
          <p:nvSpPr>
            <p:cNvPr id="169" name="svg2_157"/>
            <p:cNvSpPr/>
            <p:nvPr/>
          </p:nvSpPr>
          <p:spPr>
            <a:xfrm>
              <a:off x="965058" y="9613179"/>
              <a:ext cx="58887" cy="58887"/>
            </a:xfrm>
            <a:prstGeom prst="ellipse">
              <a:avLst/>
            </a:prstGeom>
            <a:solidFill>
              <a:srgbClr val="A3A3A3"/>
            </a:solidFill>
            <a:ln w="7874">
              <a:solidFill>
                <a:srgbClr val="FFFFFF"/>
              </a:solidFill>
              <a:prstDash val="solid"/>
            </a:ln>
          </p:spPr>
        </p:sp>
        <p:sp>
          <p:nvSpPr>
            <p:cNvPr id="170" name="svg2_158"/>
            <p:cNvSpPr/>
            <p:nvPr/>
          </p:nvSpPr>
          <p:spPr>
            <a:xfrm>
              <a:off x="987826" y="9613179"/>
              <a:ext cx="58887" cy="58887"/>
            </a:xfrm>
            <a:prstGeom prst="ellipse">
              <a:avLst/>
            </a:prstGeom>
            <a:solidFill>
              <a:srgbClr val="7B1E2B"/>
            </a:solidFill>
            <a:ln w="7874">
              <a:solidFill>
                <a:srgbClr val="FFFFFF"/>
              </a:solidFill>
              <a:prstDash val="solid"/>
            </a:ln>
          </p:spPr>
        </p:sp>
        <p:sp>
          <p:nvSpPr>
            <p:cNvPr id="171" name="svg2_159"/>
            <p:cNvSpPr txBox="1"/>
            <p:nvPr/>
          </p:nvSpPr>
          <p:spPr>
            <a:xfrm>
              <a:off x="2172523" y="9593976"/>
              <a:ext cx="47393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0,0% → </a:t>
              </a:r>
              <a:pPr algn="l" indent="0" marL="0">
                <a:buNone/>
              </a:pPr>
              <a:r>
                <a:rPr lang="en-US" sz="557" b="1" dirty="0">
                  <a:solidFill>
                    <a:srgbClr val="7B1E2B"/>
                  </a:solidFill>
                  <a:latin typeface="Calibri" pitchFamily="34" charset="0"/>
                  <a:ea typeface="Calibri" pitchFamily="34" charset="-122"/>
                  <a:cs typeface="Calibri" pitchFamily="34" charset="-120"/>
                </a:rPr>
                <a:t>0,6%</a:t>
              </a:r>
              <a:endParaRPr lang="en-US" sz="557" dirty="0"/>
            </a:p>
          </p:txBody>
        </p:sp>
      </p:grpSp>
      <p:sp>
        <p:nvSpPr>
          <p:cNvPr id="172" name="Text 168"/>
          <p:cNvSpPr txBox="1"/>
          <p:nvPr/>
        </p:nvSpPr>
        <p:spPr>
          <a:xfrm>
            <a:off x="405354" y="315559"/>
            <a:ext cx="1873148" cy="119238"/>
          </a:xfrm>
          <a:prstGeom prst="rect">
            <a:avLst/>
          </a:prstGeom>
          <a:noFill/>
          <a:ln/>
        </p:spPr>
        <p:txBody>
          <a:bodyPr wrap="none" lIns="0" tIns="0" rIns="0" bIns="0" rtlCol="0" anchor="t"/>
          <a:lstStyle/>
          <a:p>
            <a:pPr algn="l" indent="0" marL="0">
              <a:lnSpc>
                <a:spcPts val="864"/>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 | Định giá &amp; đề xuất gọi vốn Series A</a:t>
            </a:r>
            <a:endParaRPr lang="en-US" sz="680" dirty="0"/>
          </a:p>
        </p:txBody>
      </p:sp>
      <p:sp>
        <p:nvSpPr>
          <p:cNvPr id="173" name="Text 169"/>
          <p:cNvSpPr txBox="1"/>
          <p:nvPr/>
        </p:nvSpPr>
        <p:spPr>
          <a:xfrm>
            <a:off x="6056346" y="325161"/>
            <a:ext cx="1163940" cy="109545"/>
          </a:xfrm>
          <a:prstGeom prst="rect">
            <a:avLst/>
          </a:prstGeom>
          <a:noFill/>
          <a:ln/>
        </p:spPr>
        <p:txBody>
          <a:bodyPr wrap="none" lIns="0" tIns="0" rIns="0" bIns="0" rtlCol="0" anchor="t"/>
          <a:lstStyle/>
          <a:p>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Báo cáo phân tích · 29/09/2026</a:t>
            </a:r>
            <a:endParaRPr lang="en-US" sz="680" dirty="0"/>
          </a:p>
        </p:txBody>
      </p:sp>
      <p:sp>
        <p:nvSpPr>
          <p:cNvPr id="174" name="Text 170"/>
          <p:cNvSpPr txBox="1"/>
          <p:nvPr/>
        </p:nvSpPr>
        <p:spPr>
          <a:xfrm>
            <a:off x="405354" y="593994"/>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Cầu nối vĩ mô → ngành → AgriPack → giả định trong mô hình</a:t>
            </a:r>
            <a:endParaRPr lang="en-US" sz="720" dirty="0"/>
          </a:p>
        </p:txBody>
      </p:sp>
      <p:sp>
        <p:nvSpPr>
          <p:cNvPr id="175" name="Text 171"/>
          <p:cNvSpPr txBox="1"/>
          <p:nvPr/>
        </p:nvSpPr>
        <p:spPr>
          <a:xfrm>
            <a:off x="405354" y="2711105"/>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Cục Thống kê, NHNN, Vietcombank qua FiinX (9/2026); BCG–NIC–VPCA (2026); IMARC (2025); mô hình của nhóm (Drivers)</a:t>
            </a:r>
            <a:endParaRPr lang="en-US" sz="600" dirty="0"/>
          </a:p>
        </p:txBody>
      </p:sp>
      <p:sp>
        <p:nvSpPr>
          <p:cNvPr id="176" name="Text 172"/>
          <p:cNvSpPr txBox="1"/>
          <p:nvPr/>
        </p:nvSpPr>
        <p:spPr>
          <a:xfrm>
            <a:off x="484632" y="2906786"/>
            <a:ext cx="6986107" cy="141641"/>
          </a:xfrm>
          <a:prstGeom prst="rect">
            <a:avLst/>
          </a:prstGeom>
          <a:noFill/>
          <a:ln/>
        </p:spPr>
        <p:txBody>
          <a:bodyPr wrap="none" lIns="0" tIns="0" rIns="0" bIns="0" rtlCol="0" anchor="t"/>
          <a:lstStyle/>
          <a:p>
            <a:pPr algn="l" indent="0" marL="0">
              <a:lnSpc>
                <a:spcPts val="1118"/>
              </a:lnSpc>
              <a:buNone/>
            </a:pPr>
            <a:r>
              <a:rPr lang="en-US" sz="880" b="1" spc="35" kern="0" dirty="0">
                <a:solidFill>
                  <a:srgbClr val="FFFFFF"/>
                </a:solidFill>
                <a:latin typeface="Calibri" pitchFamily="34" charset="0"/>
                <a:ea typeface="Calibri" pitchFamily="34" charset="-122"/>
                <a:cs typeface="Calibri" pitchFamily="34" charset="-120"/>
              </a:rPr>
              <a:t>4. DỰ PHÓNG PRO FORMA 5 NĂM (2026E–2030E)</a:t>
            </a:r>
            <a:endParaRPr lang="en-US" sz="880" dirty="0"/>
          </a:p>
        </p:txBody>
      </p:sp>
      <p:sp>
        <p:nvSpPr>
          <p:cNvPr id="177" name="Text 173"/>
          <p:cNvSpPr txBox="1"/>
          <p:nvPr/>
        </p:nvSpPr>
        <p:spPr>
          <a:xfrm>
            <a:off x="405354" y="3183758"/>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Doanh thu 2030E đạt 170 tỷ đồng, F&amp;B vẫn chiếm gần 80%</a:t>
            </a:r>
            <a:endParaRPr lang="en-US" sz="720" dirty="0"/>
          </a:p>
        </p:txBody>
      </p:sp>
      <p:sp>
        <p:nvSpPr>
          <p:cNvPr id="178" name="Text 174"/>
          <p:cNvSpPr txBox="1"/>
          <p:nvPr/>
        </p:nvSpPr>
        <p:spPr>
          <a:xfrm>
            <a:off x="405354" y="4513204"/>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Dự phóng của nhóm (Drivers)</a:t>
            </a:r>
            <a:endParaRPr lang="en-US" sz="600" dirty="0"/>
          </a:p>
        </p:txBody>
      </p:sp>
      <p:sp>
        <p:nvSpPr>
          <p:cNvPr id="179" name="Text 175"/>
          <p:cNvSpPr txBox="1"/>
          <p:nvPr/>
        </p:nvSpPr>
        <p:spPr>
          <a:xfrm>
            <a:off x="405354" y="4718487"/>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Giả định sản lượng, giá và chi phí theo năm (kịch bản cơ sở)</a:t>
            </a:r>
            <a:endParaRPr lang="en-US" sz="720" dirty="0"/>
          </a:p>
        </p:txBody>
      </p:sp>
      <p:sp>
        <p:nvSpPr>
          <p:cNvPr id="180" name="Text 176"/>
          <p:cNvSpPr txBox="1"/>
          <p:nvPr/>
        </p:nvSpPr>
        <p:spPr>
          <a:xfrm>
            <a:off x="405354" y="6654820"/>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Drivers (kịch bản Base)</a:t>
            </a:r>
            <a:endParaRPr lang="en-US" sz="600" dirty="0"/>
          </a:p>
        </p:txBody>
      </p:sp>
      <p:sp>
        <p:nvSpPr>
          <p:cNvPr id="181" name="Text 177"/>
          <p:cNvSpPr txBox="1"/>
          <p:nvPr/>
        </p:nvSpPr>
        <p:spPr>
          <a:xfrm>
            <a:off x="405354" y="6860103"/>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Biên EBITDA giảm năm 2028 rồi lên 20% năm 2030</a:t>
            </a:r>
            <a:endParaRPr lang="en-US" sz="720" dirty="0"/>
          </a:p>
        </p:txBody>
      </p:sp>
      <p:sp>
        <p:nvSpPr>
          <p:cNvPr id="182" name="Text 178"/>
          <p:cNvSpPr txBox="1"/>
          <p:nvPr/>
        </p:nvSpPr>
        <p:spPr>
          <a:xfrm>
            <a:off x="405354" y="7993319"/>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dự phóng (Drivers, Income Statement)</a:t>
            </a:r>
            <a:endParaRPr lang="en-US" sz="600" dirty="0"/>
          </a:p>
        </p:txBody>
      </p:sp>
      <p:sp>
        <p:nvSpPr>
          <p:cNvPr id="183" name="Text 179"/>
          <p:cNvSpPr txBox="1"/>
          <p:nvPr/>
        </p:nvSpPr>
        <p:spPr>
          <a:xfrm>
            <a:off x="405354" y="8198510"/>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Tiền thuê giảm 6,6 điểm % – nguồn chính của biên lợi nhuận tăng</a:t>
            </a:r>
            <a:endParaRPr lang="en-US" sz="720" dirty="0"/>
          </a:p>
        </p:txBody>
      </p:sp>
      <p:sp>
        <p:nvSpPr>
          <p:cNvPr id="184" name="Text 180"/>
          <p:cNvSpPr txBox="1"/>
          <p:nvPr/>
        </p:nvSpPr>
        <p:spPr>
          <a:xfrm>
            <a:off x="405354" y="9773382"/>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dự phóng (Drivers)</a:t>
            </a:r>
            <a:endParaRPr lang="en-US" sz="600" dirty="0"/>
          </a:p>
        </p:txBody>
      </p:sp>
      <p:sp>
        <p:nvSpPr>
          <p:cNvPr id="185" name="Text 181"/>
          <p:cNvSpPr txBox="1"/>
          <p:nvPr/>
        </p:nvSpPr>
        <p:spPr>
          <a:xfrm>
            <a:off x="2745303" y="3152577"/>
            <a:ext cx="4409237" cy="101571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Doanh thu = sản lượng × giá, theo pha công suất.</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Doanh thu đạt 170,3 tỷ đồng năm 2030, CAGR 29% (Fig. 28). Chúng tôi dự phóng sản lượng và giá cho từng phân khúc (Fig. 29; toàn bộ giả định ở Fig. A04) thay vì áp một tỷ lệ tăng trưởng cố định. Với F&amp;B/FMCG, sản lượng quy đổi năm 2025 là 15,2 triệu hộp/khay (doanh thu chia giá bình quân 2.500 đồng). Sản lượng tăng 32% năm 2026 nhờ máy ép bổ sung, chậm lại 22% năm 2027 khi nhà máy hiện hữu gần đầy công suất và nhà máy mới đang xây, rồi tăng 35% năm 2028 khi hai dây chuyền mới vận hành; đến 2030 đạt 48,4 triệu sản phẩm, khoảng 160 nghìn sản phẩm mỗi ngày làm việc.</a:t>
            </a:r>
            <a:endParaRPr lang="en-US" sz="900" dirty="0"/>
          </a:p>
        </p:txBody>
      </p:sp>
      <p:sp>
        <p:nvSpPr>
          <p:cNvPr id="186" name="Text 182"/>
          <p:cNvSpPr txBox="1"/>
          <p:nvPr/>
        </p:nvSpPr>
        <p:spPr>
          <a:xfrm>
            <a:off x="2745303" y="4220413"/>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Các phân khúc còn lại.</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Mảng khuôn tăng theo số khách hàng và SKU mới (295 bộ năm 2025, 750 bộ năm 2030). Vì 295 bộ/năm tương đương một bộ mỗi ngày làm việc, chúng tôi hiểu mảng này là dịch vụ thiết kế – khuôn – mẫu thử tính phí theo dự án. Đệm nội thất/TMĐT và đệm điện tử tăng 25–70%/năm từ nền nhỏ, dựa vào khách hàng FDI chuyển khỏi EPE/EPS.</a:t>
            </a:r>
            <a:endParaRPr lang="en-US" sz="900" dirty="0"/>
          </a:p>
        </p:txBody>
      </p:sp>
      <p:sp>
        <p:nvSpPr>
          <p:cNvPr id="187" name="Text 183"/>
          <p:cNvSpPr txBox="1"/>
          <p:nvPr/>
        </p:nvSpPr>
        <p:spPr>
          <a:xfrm>
            <a:off x="2745303" y="4852995"/>
            <a:ext cx="4409237" cy="435254"/>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Giá bán.</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Giá F&amp;B và khuôn tăng 2%/năm, đệm bảo vệ 1,5%/năm – thấp hơn lạm phát vì cạnh tranh từ hàng nhập khẩu và vì khách hàng B2B chỉ chấp nhận mức chênh giá nhỏ cho "tính xanh". Kết quả: F&amp;B vẫn chiếm 78% doanh thu 2030, đệm điện tử tăng lên 6%.</a:t>
            </a:r>
            <a:endParaRPr lang="en-US" sz="900" dirty="0"/>
          </a:p>
        </p:txBody>
      </p:sp>
      <p:sp>
        <p:nvSpPr>
          <p:cNvPr id="188" name="Text 184"/>
          <p:cNvSpPr txBox="1"/>
          <p:nvPr/>
        </p:nvSpPr>
        <p:spPr>
          <a:xfrm>
            <a:off x="2745303" y="5340370"/>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Vì sao không dùng 40–50%/năm.</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Giữ nhịp tăng trưởng lịch sử trong 5 năm sẽ đưa doanh thu F&amp;B lên 15–18% SAM toàn quốc, khó bảo vệ với doanh nghiệp một nhà máy. Mức tăng giả định cũng bị giới hạn bởi công suất: năm 2027, khi nhà máy mới chưa chạy, tăng trưởng doanh thu chỉ còn 25%.</a:t>
            </a:r>
            <a:endParaRPr lang="en-US" sz="900" dirty="0"/>
          </a:p>
        </p:txBody>
      </p:sp>
      <p:sp>
        <p:nvSpPr>
          <p:cNvPr id="189" name="Text 185"/>
          <p:cNvSpPr txBox="1"/>
          <p:nvPr/>
        </p:nvSpPr>
        <p:spPr>
          <a:xfrm>
            <a:off x="2745303" y="5972952"/>
            <a:ext cx="4409237" cy="101571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Chi phí và biên lợi nhuận.</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Biên EBITDA đi từ 16,2% (2025) lên 20,2% (2030) (Fig. 30). Chi phí biến đổi tăng từ 24,5% lên 27,0% doanh thu (giá bã mía, hao hụt khi chạy nhà máy mới); tiền lương giữ 22,5–23,5% vì phải tuyển trước cho nhà máy mới năm 2027–2028; thêm 0,6% doanh thu cho kiểm nghiệm và chứng nhận. Nguồn cải thiện biên là tiền thuê: nhà máy mới là tài sản tự đầu tư, nên tiền thuê giảm từ 15,9% xuống 9,3% doanh thu (Fig. 31). Khấu hao tăng từ 6,6% lên 8,7% doanh thu, nên phần lớn lợi ích từ tiền thuê chuyển thành chi phí khấu hao ở cấp EBIT.</a:t>
            </a:r>
            <a:endParaRPr lang="en-US" sz="900" dirty="0"/>
          </a:p>
        </p:txBody>
      </p:sp>
      <p:sp>
        <p:nvSpPr>
          <p:cNvPr id="190" name="Text 186"/>
          <p:cNvSpPr txBox="1"/>
          <p:nvPr/>
        </p:nvSpPr>
        <p:spPr>
          <a:xfrm>
            <a:off x="2745303" y="7040789"/>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Đường đi của biên.</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Biên EBITDA đi ngang 17,9% trong 2026–2027, giảm còn 16,1% năm 2028 do chi phí cố định của nhà máy mới (0,9 tỷ/năm) và hao hụt khi chạy thử, rồi lên 20,2% năm 2030. Biên EBIT giảm mạnh hơn (5,7% năm 2028) vì khấu hao tăng gấp đôi. Biên EBITDA 2030 vẫn quanh mức của DHC hiện nay (18,9%), cộng lợi thế nguyên liệu, nên chúng tôi không nâng thêm.</a:t>
            </a:r>
            <a:endParaRPr lang="en-US" sz="900" dirty="0"/>
          </a:p>
        </p:txBody>
      </p:sp>
      <p:sp>
        <p:nvSpPr>
          <p:cNvPr id="191" name="Text 187"/>
          <p:cNvSpPr txBox="1"/>
          <p:nvPr/>
        </p:nvSpPr>
        <p:spPr>
          <a:xfrm>
            <a:off x="2745303" y="7818394"/>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Vốn lưu động.</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Tồn kho giữ 95–105 ngày vì phải tích trữ bã mía theo vụ ép; kỳ thu tiền tăng từ 14 lên 30 ngày khi khách hàng lớn hơn; kỳ trả tiền tăng lên 15 ngày nhờ quy mô mua lớn hơn (Fig. 32). Vốn lưu động hoạt động tăng từ 15% lên 18% doanh thu, hút thêm 24 tỷ đồng trong 5 năm – khoản thường bị bỏ quên trong dự phóng startup.</a:t>
            </a:r>
            <a:endParaRPr lang="en-US" sz="900" dirty="0"/>
          </a:p>
        </p:txBody>
      </p:sp>
      <p:sp>
        <p:nvSpPr>
          <p:cNvPr id="192" name="Text 188"/>
          <p:cNvSpPr txBox="1"/>
          <p:nvPr/>
        </p:nvSpPr>
        <p:spPr>
          <a:xfrm>
            <a:off x="2745303" y="8450885"/>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Thuế, lãi vay và lợi nhuận.</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Thuế suất 17% năm 2026 (lỗ 2,17 tỷ được bù trừ, thuế suất hiệu dụng 12,1%) và 20% từ 2027. Lãi vay tính trên dư nợ bình quân: 1,7 tỷ năm 2027, 3,3 tỷ năm 2028, giảm dần khi trả gốc từ 2029. LNST tăng từ 6,6 tỷ (2026) lên 13,9 tỷ đồng (2030) nhưng giảm còn 2,4 tỷ năm 2028 – năm khấu hao và lãi vay của nhà máy mới cùng đạt đỉnh (Fig. 33). Báo cáo tài chính dự phóng đầy đủ ở Phụ lục (Fig. A01–A03).</a:t>
            </a:r>
            <a:endParaRPr lang="en-US" sz="900" dirty="0"/>
          </a:p>
        </p:txBody>
      </p:sp>
      <p:sp>
        <p:nvSpPr>
          <p:cNvPr id="193" name="Text 189"/>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94" name="Text 190"/>
          <p:cNvSpPr txBox="1"/>
          <p:nvPr/>
        </p:nvSpPr>
        <p:spPr>
          <a:xfrm>
            <a:off x="7114581" y="10402672"/>
            <a:ext cx="97018"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6</a:t>
            </a:r>
            <a:endParaRPr lang="en-US" sz="6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71830"/>
            <a:ext cx="6749004" cy="0"/>
          </a:xfrm>
          <a:prstGeom prst="line">
            <a:avLst/>
          </a:prstGeom>
          <a:noFill/>
          <a:ln w="9525">
            <a:solidFill>
              <a:srgbClr val="7B1E2B"/>
            </a:solidFill>
            <a:prstDash val="solid"/>
          </a:ln>
        </p:spPr>
      </p:sp>
      <p:sp>
        <p:nvSpPr>
          <p:cNvPr id="3" name="Shape 1"/>
          <p:cNvSpPr/>
          <p:nvPr/>
        </p:nvSpPr>
        <p:spPr>
          <a:xfrm>
            <a:off x="405354" y="567568"/>
            <a:ext cx="2159996" cy="0"/>
          </a:xfrm>
          <a:prstGeom prst="line">
            <a:avLst/>
          </a:prstGeom>
          <a:noFill/>
          <a:ln w="9525">
            <a:solidFill>
              <a:srgbClr val="7B1E2B"/>
            </a:solidFill>
            <a:prstDash val="solid"/>
          </a:ln>
        </p:spPr>
      </p:sp>
      <p:sp>
        <p:nvSpPr>
          <p:cNvPr id="4" name="Shape 2"/>
          <p:cNvSpPr/>
          <p:nvPr/>
        </p:nvSpPr>
        <p:spPr>
          <a:xfrm>
            <a:off x="405354" y="1886407"/>
            <a:ext cx="2159996" cy="0"/>
          </a:xfrm>
          <a:prstGeom prst="line">
            <a:avLst/>
          </a:prstGeom>
          <a:noFill/>
          <a:ln w="9525">
            <a:solidFill>
              <a:srgbClr val="7B1E2B"/>
            </a:solidFill>
            <a:prstDash val="solid"/>
          </a:ln>
        </p:spPr>
      </p:sp>
      <p:sp>
        <p:nvSpPr>
          <p:cNvPr id="5" name="Shape 3"/>
          <p:cNvSpPr/>
          <p:nvPr/>
        </p:nvSpPr>
        <p:spPr>
          <a:xfrm>
            <a:off x="405354" y="4127144"/>
            <a:ext cx="2159996" cy="0"/>
          </a:xfrm>
          <a:prstGeom prst="line">
            <a:avLst/>
          </a:prstGeom>
          <a:noFill/>
          <a:ln w="9525">
            <a:solidFill>
              <a:srgbClr val="7B1E2B"/>
            </a:solidFill>
            <a:prstDash val="solid"/>
          </a:ln>
        </p:spPr>
      </p:sp>
      <p:sp>
        <p:nvSpPr>
          <p:cNvPr id="6" name="Shape 4"/>
          <p:cNvSpPr/>
          <p:nvPr/>
        </p:nvSpPr>
        <p:spPr>
          <a:xfrm>
            <a:off x="405354" y="6042447"/>
            <a:ext cx="2159996" cy="0"/>
          </a:xfrm>
          <a:prstGeom prst="line">
            <a:avLst/>
          </a:prstGeom>
          <a:noFill/>
          <a:ln w="9525">
            <a:solidFill>
              <a:srgbClr val="7B1E2B"/>
            </a:solidFill>
            <a:prstDash val="solid"/>
          </a:ln>
        </p:spPr>
      </p:sp>
      <p:sp>
        <p:nvSpPr>
          <p:cNvPr id="7" name="Shape 5"/>
          <p:cNvSpPr/>
          <p:nvPr/>
        </p:nvSpPr>
        <p:spPr>
          <a:xfrm>
            <a:off x="2745303" y="567568"/>
            <a:ext cx="4409237" cy="0"/>
          </a:xfrm>
          <a:prstGeom prst="line">
            <a:avLst/>
          </a:prstGeom>
          <a:noFill/>
          <a:ln w="9525">
            <a:solidFill>
              <a:srgbClr val="7B1E2B"/>
            </a:solidFill>
            <a:prstDash val="solid"/>
          </a:ln>
        </p:spPr>
      </p:sp>
      <p:sp>
        <p:nvSpPr>
          <p:cNvPr id="8" name="Shape 6"/>
          <p:cNvSpPr/>
          <p:nvPr/>
        </p:nvSpPr>
        <p:spPr>
          <a:xfrm>
            <a:off x="405354" y="7541697"/>
            <a:ext cx="6749004" cy="0"/>
          </a:xfrm>
          <a:prstGeom prst="line">
            <a:avLst/>
          </a:prstGeom>
          <a:noFill/>
          <a:ln w="9525">
            <a:solidFill>
              <a:srgbClr val="7B1E2B"/>
            </a:solidFill>
            <a:prstDash val="solid"/>
          </a:ln>
        </p:spPr>
      </p:sp>
      <p:sp>
        <p:nvSpPr>
          <p:cNvPr id="9" name="Shape 7"/>
          <p:cNvSpPr/>
          <p:nvPr/>
        </p:nvSpPr>
        <p:spPr>
          <a:xfrm>
            <a:off x="405354" y="10365547"/>
            <a:ext cx="6749004" cy="0"/>
          </a:xfrm>
          <a:prstGeom prst="line">
            <a:avLst/>
          </a:prstGeom>
          <a:noFill/>
          <a:ln w="9525">
            <a:solidFill>
              <a:srgbClr val="BFBFBF"/>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745303" y="735818"/>
          <a:ext cx="4409237" cy="914400"/>
        </p:xfrm>
        <a:graphic>
          <a:graphicData uri="http://schemas.openxmlformats.org/drawingml/2006/table">
            <a:tbl>
              <a:tblPr/>
              <a:tblGrid>
                <a:gridCol w="1234531"/>
                <a:gridCol w="529072"/>
                <a:gridCol w="529072"/>
                <a:gridCol w="529072"/>
                <a:gridCol w="529072"/>
                <a:gridCol w="529072"/>
                <a:gridCol w="529255"/>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Tỷ đồng</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2025A</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2026E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2027E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2028E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2029E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2030E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3685">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Doanh thu thuần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47,5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63,7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79,7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110,4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141,6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170,3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i="1" dirty="0">
                          <a:solidFill>
                            <a:srgbClr val="555555"/>
                          </a:solidFill>
                          <a:latin typeface="Calibri" pitchFamily="34" charset="0"/>
                          <a:ea typeface="Calibri" pitchFamily="34" charset="-122"/>
                          <a:cs typeface="Calibri" pitchFamily="34" charset="-120"/>
                        </a:rPr>
                        <a:t>Tăng trưởng</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53,7%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33,9%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25,2%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38,5%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28,3%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20,3%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Giá vốn hàng bán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(12,9)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(21,9)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(32,4)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(40,4)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(49,1)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Lợi nhuận gộp</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34,6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46,4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57,9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78,0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101,2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121,2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CP hoạt động (trừ khấu hao)</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(26,9)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(35,0)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(43,6)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(60,2)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(74,3)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(86,8)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EBITDA</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7,7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11,4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14,3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17,8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26,9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34,4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i="1" dirty="0">
                          <a:solidFill>
                            <a:srgbClr val="555555"/>
                          </a:solidFill>
                          <a:latin typeface="Calibri" pitchFamily="34" charset="0"/>
                          <a:ea typeface="Calibri" pitchFamily="34" charset="-122"/>
                          <a:cs typeface="Calibri" pitchFamily="34" charset="-120"/>
                        </a:rPr>
                        <a:t>Biên EBITDA</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16,2%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17,9%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17,9%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16,1%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19,0%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20,2%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Khấu hao</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(11,5)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(13,1)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(14,8)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EBIT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4,6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7,6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9,0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6,3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13,8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19,7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Chi phí lãi vay</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Lợi nhuận trước thuế</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10,9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Thuế TNDN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Lợi nhuận sau thuế</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4,4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6,6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5,8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2,4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8,7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13,9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i="1" dirty="0">
                          <a:solidFill>
                            <a:srgbClr val="555555"/>
                          </a:solidFill>
                          <a:latin typeface="Calibri" pitchFamily="34" charset="0"/>
                          <a:ea typeface="Calibri" pitchFamily="34" charset="-122"/>
                          <a:cs typeface="Calibri" pitchFamily="34" charset="-120"/>
                        </a:rPr>
                        <a:t>Biên LNST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9,3%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10,3%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7,3%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2,2%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6,2%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i="1" dirty="0">
                          <a:solidFill>
                            <a:srgbClr val="555555"/>
                          </a:solidFill>
                          <a:latin typeface="Calibri" pitchFamily="34" charset="0"/>
                          <a:ea typeface="Calibri" pitchFamily="34" charset="-122"/>
                          <a:cs typeface="Calibri" pitchFamily="34" charset="-120"/>
                        </a:rPr>
                        <a:t>8,1%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05354" y="7709946"/>
          <a:ext cx="6749004" cy="914400"/>
        </p:xfrm>
        <a:graphic>
          <a:graphicData uri="http://schemas.openxmlformats.org/drawingml/2006/table">
            <a:tbl>
              <a:tblPr/>
              <a:tblGrid>
                <a:gridCol w="1147298"/>
                <a:gridCol w="371155"/>
                <a:gridCol w="371155"/>
                <a:gridCol w="371155"/>
                <a:gridCol w="371155"/>
                <a:gridCol w="371155"/>
                <a:gridCol w="371155"/>
                <a:gridCol w="1147298"/>
                <a:gridCol w="371155"/>
                <a:gridCol w="371155"/>
                <a:gridCol w="371155"/>
                <a:gridCol w="371155"/>
                <a:gridCol w="371155"/>
                <a:gridCol w="371521"/>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Bảng cân đối (cuối kỳ)</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2025A</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2026E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2027E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2028E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2029E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2030E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Lưu chuyển tiền tệ</a:t>
                      </a:r>
                      <a:endParaRPr lang="en-US" sz="680" dirty="0">
                        <a:latin typeface="Calibri" charset="0"/>
                        <a:ea typeface="Calibri" charset="0"/>
                        <a:cs typeface="Calibri" charset="0"/>
                      </a:endParaRPr>
                    </a:p>
                  </a:txBody>
                  <a:tcPr marL="50383" marR="28804" marT="18014" marB="18014" anchor="ctr">
                    <a:lnL w="9525" cap="flat" cmpd="sng" algn="ctr">
                      <a:solidFill>
                        <a:srgbClr val="7B1E2B"/>
                      </a:solidFill>
                      <a:prstDash val="solid"/>
                      <a:round/>
                      <a:headEnd type="none" w="med" len="med"/>
                      <a:tailEnd type="none" w="med" len="med"/>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2025A</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2026E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2027E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2028E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2029E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2030E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3685">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Tiền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35,5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22,6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16,3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11,4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11,9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CFO</a:t>
                      </a:r>
                      <a:endParaRPr lang="en-US" sz="680" dirty="0">
                        <a:latin typeface="Calibri" charset="0"/>
                        <a:ea typeface="Calibri" charset="0"/>
                        <a:cs typeface="Calibri" charset="0"/>
                      </a:endParaRPr>
                    </a:p>
                  </a:txBody>
                  <a:tcPr marL="50383" marR="28804" marT="13716" marB="13716" anchor="ctr">
                    <a:lnL w="9525" cap="flat" cmpd="sng" algn="ctr">
                      <a:solidFill>
                        <a:srgbClr val="7B1E2B"/>
                      </a:solidFill>
                      <a:prstDash val="solid"/>
                      <a:round/>
                      <a:headEnd type="none" w="med" len="med"/>
                      <a:tailEnd type="none" w="med" len="med"/>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15,4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23,8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Phải thu khách hàng</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11,6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14,0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CAPEX</a:t>
                      </a:r>
                      <a:endParaRPr lang="en-US" sz="680" dirty="0">
                        <a:latin typeface="Calibri" charset="0"/>
                        <a:ea typeface="Calibri" charset="0"/>
                        <a:cs typeface="Calibri" charset="0"/>
                      </a:endParaRPr>
                    </a:p>
                  </a:txBody>
                  <a:tcPr marL="50383" marR="28804" marT="13716" marB="13716" anchor="ctr">
                    <a:lnL w="9525" cap="flat" cmpd="sng" algn="ctr">
                      <a:solidFill>
                        <a:srgbClr val="7B1E2B"/>
                      </a:solidFill>
                      <a:prstDash val="solid"/>
                      <a:round/>
                      <a:headEnd type="none" w="med" len="med"/>
                      <a:tailEnd type="none" w="med" len="med"/>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(12,7)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(51,8)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(13,2)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(14,2)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Hàng tồn kho</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9,3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11,1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12,8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Vốn góp cổ phần</a:t>
                      </a:r>
                      <a:endParaRPr lang="en-US" sz="680" dirty="0">
                        <a:latin typeface="Calibri" charset="0"/>
                        <a:ea typeface="Calibri" charset="0"/>
                        <a:cs typeface="Calibri" charset="0"/>
                      </a:endParaRPr>
                    </a:p>
                  </a:txBody>
                  <a:tcPr marL="50383" marR="28804" marT="13716" marB="13716" anchor="ctr">
                    <a:lnL w="9525" cap="flat" cmpd="sng" algn="ctr">
                      <a:solidFill>
                        <a:srgbClr val="7B1E2B"/>
                      </a:solidFill>
                      <a:prstDash val="solid"/>
                      <a:round/>
                      <a:headEnd type="none" w="med" len="med"/>
                      <a:tailEnd type="none" w="med" len="med"/>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37,6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Tài sản cố định ròng</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21,4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30,4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76,9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78,7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79,8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82,0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Vay (trả) nợ dài hạn</a:t>
                      </a:r>
                      <a:endParaRPr lang="en-US" sz="680" dirty="0">
                        <a:latin typeface="Calibri" charset="0"/>
                        <a:ea typeface="Calibri" charset="0"/>
                        <a:cs typeface="Calibri" charset="0"/>
                      </a:endParaRPr>
                    </a:p>
                  </a:txBody>
                  <a:tcPr marL="50383" marR="28804" marT="13716" marB="13716" anchor="ctr">
                    <a:lnL w="9525" cap="flat" cmpd="sng" algn="ctr">
                      <a:solidFill>
                        <a:srgbClr val="7B1E2B"/>
                      </a:solidFill>
                      <a:prstDash val="solid"/>
                      <a:round/>
                      <a:headEnd type="none" w="med" len="med"/>
                      <a:tailEnd type="none" w="med" len="med"/>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31,1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Tổng tài sản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31,9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76,4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113,6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116,6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119,5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127,6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Tiền cuối kỳ</a:t>
                      </a:r>
                      <a:endParaRPr lang="en-US" sz="680" dirty="0">
                        <a:latin typeface="Calibri" charset="0"/>
                        <a:ea typeface="Calibri" charset="0"/>
                        <a:cs typeface="Calibri" charset="0"/>
                      </a:endParaRPr>
                    </a:p>
                  </a:txBody>
                  <a:tcPr marL="50383" marR="28804" marT="13716" marB="13716" anchor="ctr">
                    <a:lnL w="9525" cap="flat" cmpd="sng" algn="ctr">
                      <a:solidFill>
                        <a:srgbClr val="7B1E2B"/>
                      </a:solidFill>
                      <a:prstDash val="solid"/>
                      <a:round/>
                      <a:headEnd type="none" w="med" len="med"/>
                      <a:tailEnd type="none" w="med" len="med"/>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2,9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35,5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22,6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16,3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11,4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11,9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Nợ vay (ngắn + dài hạn)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32,7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32,7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26,5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20,3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l" indent="0" marL="0">
                        <a:buNone/>
                      </a:pPr>
                      <a:endParaRPr lang="en-US" sz="680" dirty="0">
                        <a:latin typeface="Calibri" charset="0"/>
                        <a:ea typeface="Calibri" charset="0"/>
                        <a:cs typeface="Calibri" charset="0"/>
                      </a:endParaRPr>
                    </a:p>
                  </a:txBody>
                  <a:tcPr marL="50383" marR="28804" marT="13716" marB="13716" anchor="ctr">
                    <a:lnL w="9525" cap="flat" cmpd="sng" algn="ctr">
                      <a:solidFill>
                        <a:srgbClr val="7B1E2B"/>
                      </a:solidFill>
                      <a:prstDash val="solid"/>
                      <a:round/>
                      <a:headEnd type="none" w="med" len="med"/>
                      <a:tailEnd type="none" w="med" len="med"/>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Vốn chủ sở hữu</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30,0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74,2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80,0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82,4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91,1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105,0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l" indent="0" marL="0">
                        <a:buNone/>
                      </a:pPr>
                      <a:endParaRPr lang="en-US" sz="680" dirty="0">
                        <a:latin typeface="Calibri" charset="0"/>
                        <a:ea typeface="Calibri" charset="0"/>
                        <a:cs typeface="Calibri" charset="0"/>
                      </a:endParaRPr>
                    </a:p>
                  </a:txBody>
                  <a:tcPr marL="50383" marR="28804" marT="13716" marB="13716" anchor="ctr">
                    <a:lnL w="9525" cap="flat" cmpd="sng" algn="ctr">
                      <a:solidFill>
                        <a:srgbClr val="7B1E2B"/>
                      </a:solidFill>
                      <a:prstDash val="solid"/>
                      <a:round/>
                      <a:headEnd type="none" w="med" len="med"/>
                      <a:tailEnd type="none" w="med" len="med"/>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222" name="Fig. 32 – biểu đồ"/>
          <p:cNvGrpSpPr/>
          <p:nvPr/>
        </p:nvGrpSpPr>
        <p:grpSpPr>
          <a:xfrm>
            <a:off x="401787" y="841797"/>
            <a:ext cx="2174077" cy="847008"/>
            <a:chOff x="401787" y="841797"/>
            <a:chExt cx="2174077" cy="847008"/>
          </a:xfrm>
        </p:grpSpPr>
        <p:sp>
          <p:nvSpPr>
            <p:cNvPr id="12" name="svg0_0"/>
            <p:cNvSpPr/>
            <p:nvPr/>
          </p:nvSpPr>
          <p:spPr>
            <a:xfrm>
              <a:off x="1218895" y="904250"/>
              <a:ext cx="1150041" cy="667603"/>
            </a:xfrm>
            <a:prstGeom prst="rect">
              <a:avLst/>
            </a:prstGeom>
            <a:solidFill>
              <a:srgbClr val="F3F1F1"/>
            </a:solidFill>
            <a:ln/>
          </p:spPr>
        </p:sp>
        <p:sp>
          <p:nvSpPr>
            <p:cNvPr id="13" name="svg0_1"/>
            <p:cNvSpPr/>
            <p:nvPr/>
          </p:nvSpPr>
          <p:spPr>
            <a:xfrm>
              <a:off x="582198" y="1571854"/>
              <a:ext cx="1767169" cy="0"/>
            </a:xfrm>
            <a:prstGeom prst="line">
              <a:avLst/>
            </a:prstGeom>
            <a:noFill/>
            <a:ln w="4953">
              <a:solidFill>
                <a:srgbClr val="E4E4E4"/>
              </a:solidFill>
              <a:prstDash val="solid"/>
            </a:ln>
          </p:spPr>
        </p:sp>
        <p:sp>
          <p:nvSpPr>
            <p:cNvPr id="14" name="svg0_2"/>
            <p:cNvSpPr txBox="1"/>
            <p:nvPr/>
          </p:nvSpPr>
          <p:spPr>
            <a:xfrm>
              <a:off x="483169" y="1521104"/>
              <a:ext cx="8156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15" name="svg0_3"/>
            <p:cNvSpPr/>
            <p:nvPr/>
          </p:nvSpPr>
          <p:spPr>
            <a:xfrm>
              <a:off x="582198" y="1369405"/>
              <a:ext cx="1767169" cy="0"/>
            </a:xfrm>
            <a:prstGeom prst="line">
              <a:avLst/>
            </a:prstGeom>
            <a:noFill/>
            <a:ln w="4953">
              <a:solidFill>
                <a:srgbClr val="E4E4E4"/>
              </a:solidFill>
              <a:prstDash val="solid"/>
            </a:ln>
          </p:spPr>
        </p:sp>
        <p:sp>
          <p:nvSpPr>
            <p:cNvPr id="16" name="svg0_4"/>
            <p:cNvSpPr txBox="1"/>
            <p:nvPr/>
          </p:nvSpPr>
          <p:spPr>
            <a:xfrm>
              <a:off x="442478" y="1318931"/>
              <a:ext cx="122255"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50</a:t>
              </a:r>
              <a:endParaRPr lang="en-US" sz="557" dirty="0"/>
            </a:p>
          </p:txBody>
        </p:sp>
        <p:sp>
          <p:nvSpPr>
            <p:cNvPr id="17" name="svg0_5"/>
            <p:cNvSpPr/>
            <p:nvPr/>
          </p:nvSpPr>
          <p:spPr>
            <a:xfrm>
              <a:off x="582198" y="1166866"/>
              <a:ext cx="1767169" cy="0"/>
            </a:xfrm>
            <a:prstGeom prst="line">
              <a:avLst/>
            </a:prstGeom>
            <a:noFill/>
            <a:ln w="4953">
              <a:solidFill>
                <a:srgbClr val="E4E4E4"/>
              </a:solidFill>
              <a:prstDash val="solid"/>
            </a:ln>
          </p:spPr>
        </p:sp>
        <p:sp>
          <p:nvSpPr>
            <p:cNvPr id="18" name="svg0_6"/>
            <p:cNvSpPr txBox="1"/>
            <p:nvPr/>
          </p:nvSpPr>
          <p:spPr>
            <a:xfrm>
              <a:off x="401787" y="1116665"/>
              <a:ext cx="163038"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100</a:t>
              </a:r>
              <a:endParaRPr lang="en-US" sz="557" dirty="0"/>
            </a:p>
          </p:txBody>
        </p:sp>
        <p:sp>
          <p:nvSpPr>
            <p:cNvPr id="19" name="svg0_7"/>
            <p:cNvSpPr/>
            <p:nvPr/>
          </p:nvSpPr>
          <p:spPr>
            <a:xfrm>
              <a:off x="582198" y="964326"/>
              <a:ext cx="1767169" cy="0"/>
            </a:xfrm>
            <a:prstGeom prst="line">
              <a:avLst/>
            </a:prstGeom>
            <a:noFill/>
            <a:ln w="4953">
              <a:solidFill>
                <a:srgbClr val="E4E4E4"/>
              </a:solidFill>
              <a:prstDash val="solid"/>
            </a:ln>
          </p:spPr>
        </p:sp>
        <p:sp>
          <p:nvSpPr>
            <p:cNvPr id="20" name="svg0_8"/>
            <p:cNvSpPr txBox="1"/>
            <p:nvPr/>
          </p:nvSpPr>
          <p:spPr>
            <a:xfrm>
              <a:off x="401787" y="913486"/>
              <a:ext cx="163038"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150</a:t>
              </a:r>
              <a:endParaRPr lang="en-US" sz="557" dirty="0"/>
            </a:p>
          </p:txBody>
        </p:sp>
        <p:sp>
          <p:nvSpPr>
            <p:cNvPr id="21" name="svg0_9"/>
            <p:cNvSpPr txBox="1"/>
            <p:nvPr/>
          </p:nvSpPr>
          <p:spPr>
            <a:xfrm>
              <a:off x="514807" y="1584015"/>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23A</a:t>
              </a:r>
              <a:endParaRPr lang="en-US" sz="588" dirty="0"/>
            </a:p>
          </p:txBody>
        </p:sp>
        <p:sp>
          <p:nvSpPr>
            <p:cNvPr id="22" name="svg0_10"/>
            <p:cNvSpPr txBox="1"/>
            <p:nvPr/>
          </p:nvSpPr>
          <p:spPr>
            <a:xfrm>
              <a:off x="761147" y="1584015"/>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24A</a:t>
              </a:r>
              <a:endParaRPr lang="en-US" sz="588" dirty="0"/>
            </a:p>
          </p:txBody>
        </p:sp>
        <p:sp>
          <p:nvSpPr>
            <p:cNvPr id="23" name="svg0_11"/>
            <p:cNvSpPr txBox="1"/>
            <p:nvPr/>
          </p:nvSpPr>
          <p:spPr>
            <a:xfrm>
              <a:off x="1008583" y="1584015"/>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25A</a:t>
              </a:r>
              <a:endParaRPr lang="en-US" sz="588" dirty="0"/>
            </a:p>
          </p:txBody>
        </p:sp>
        <p:sp>
          <p:nvSpPr>
            <p:cNvPr id="24" name="svg0_12"/>
            <p:cNvSpPr txBox="1"/>
            <p:nvPr/>
          </p:nvSpPr>
          <p:spPr>
            <a:xfrm>
              <a:off x="1258946" y="158401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26E</a:t>
              </a:r>
              <a:endParaRPr lang="en-US" sz="588" dirty="0"/>
            </a:p>
          </p:txBody>
        </p:sp>
        <p:sp>
          <p:nvSpPr>
            <p:cNvPr id="25" name="svg0_13"/>
            <p:cNvSpPr txBox="1"/>
            <p:nvPr/>
          </p:nvSpPr>
          <p:spPr>
            <a:xfrm>
              <a:off x="1506383" y="158401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27E</a:t>
              </a:r>
              <a:endParaRPr lang="en-US" sz="588" dirty="0"/>
            </a:p>
          </p:txBody>
        </p:sp>
        <p:sp>
          <p:nvSpPr>
            <p:cNvPr id="26" name="svg0_14"/>
            <p:cNvSpPr txBox="1"/>
            <p:nvPr/>
          </p:nvSpPr>
          <p:spPr>
            <a:xfrm>
              <a:off x="1752813" y="158401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28E</a:t>
              </a:r>
              <a:endParaRPr lang="en-US" sz="588" dirty="0"/>
            </a:p>
          </p:txBody>
        </p:sp>
        <p:sp>
          <p:nvSpPr>
            <p:cNvPr id="27" name="svg0_15"/>
            <p:cNvSpPr txBox="1"/>
            <p:nvPr/>
          </p:nvSpPr>
          <p:spPr>
            <a:xfrm>
              <a:off x="2000159" y="158401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29E</a:t>
              </a:r>
              <a:endParaRPr lang="en-US" sz="588" dirty="0"/>
            </a:p>
          </p:txBody>
        </p:sp>
        <p:sp>
          <p:nvSpPr>
            <p:cNvPr id="28" name="svg0_16"/>
            <p:cNvSpPr txBox="1"/>
            <p:nvPr/>
          </p:nvSpPr>
          <p:spPr>
            <a:xfrm>
              <a:off x="2246589" y="158401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30E</a:t>
              </a:r>
              <a:endParaRPr lang="en-US" sz="588" dirty="0"/>
            </a:p>
          </p:txBody>
        </p:sp>
        <p:sp>
          <p:nvSpPr>
            <p:cNvPr id="29" name="svg0_17"/>
            <p:cNvSpPr/>
            <p:nvPr/>
          </p:nvSpPr>
          <p:spPr>
            <a:xfrm>
              <a:off x="601767" y="957377"/>
              <a:ext cx="1727942" cy="229697"/>
            </a:xfrm>
            <a:custGeom>
              <a:avLst/>
              <a:gdLst/>
              <a:ahLst/>
              <a:cxnLst/>
              <a:rect l="l" t="t" r="r" b="b"/>
              <a:pathLst>
                <a:path w="1727942" h="229697">
                  <a:moveTo>
                    <a:pt x="0" y="0"/>
                  </a:moveTo>
                  <a:lnTo>
                    <a:pt x="246797" y="116037"/>
                  </a:lnTo>
                  <a:lnTo>
                    <a:pt x="493776" y="185806"/>
                  </a:lnTo>
                  <a:lnTo>
                    <a:pt x="740573" y="209580"/>
                  </a:lnTo>
                  <a:lnTo>
                    <a:pt x="987369" y="209580"/>
                  </a:lnTo>
                  <a:lnTo>
                    <a:pt x="1234166" y="189281"/>
                  </a:lnTo>
                  <a:lnTo>
                    <a:pt x="1481054" y="209580"/>
                  </a:lnTo>
                  <a:lnTo>
                    <a:pt x="1727942" y="229697"/>
                  </a:lnTo>
                </a:path>
              </a:pathLst>
            </a:custGeom>
            <a:noFill/>
            <a:ln w="15748">
              <a:solidFill>
                <a:srgbClr val="7B1E2B"/>
              </a:solidFill>
              <a:prstDash val="solid"/>
            </a:ln>
          </p:spPr>
        </p:sp>
        <p:sp>
          <p:nvSpPr>
            <p:cNvPr id="30" name="svg0_18"/>
            <p:cNvSpPr/>
            <p:nvPr/>
          </p:nvSpPr>
          <p:spPr>
            <a:xfrm>
              <a:off x="581193" y="936803"/>
              <a:ext cx="41239" cy="41239"/>
            </a:xfrm>
            <a:prstGeom prst="ellipse">
              <a:avLst/>
            </a:prstGeom>
            <a:solidFill>
              <a:srgbClr val="7B1E2B"/>
            </a:solidFill>
            <a:ln w="7874">
              <a:solidFill>
                <a:srgbClr val="FFFFFF"/>
              </a:solidFill>
              <a:prstDash val="solid"/>
            </a:ln>
          </p:spPr>
        </p:sp>
        <p:sp>
          <p:nvSpPr>
            <p:cNvPr id="31" name="svg0_19"/>
            <p:cNvSpPr/>
            <p:nvPr/>
          </p:nvSpPr>
          <p:spPr>
            <a:xfrm>
              <a:off x="827989" y="1052840"/>
              <a:ext cx="41239" cy="41239"/>
            </a:xfrm>
            <a:prstGeom prst="ellipse">
              <a:avLst/>
            </a:prstGeom>
            <a:solidFill>
              <a:srgbClr val="7B1E2B"/>
            </a:solidFill>
            <a:ln w="7874">
              <a:solidFill>
                <a:srgbClr val="FFFFFF"/>
              </a:solidFill>
              <a:prstDash val="solid"/>
            </a:ln>
          </p:spPr>
        </p:sp>
        <p:sp>
          <p:nvSpPr>
            <p:cNvPr id="32" name="svg0_20"/>
            <p:cNvSpPr/>
            <p:nvPr/>
          </p:nvSpPr>
          <p:spPr>
            <a:xfrm>
              <a:off x="1074969" y="1122609"/>
              <a:ext cx="41239" cy="41239"/>
            </a:xfrm>
            <a:prstGeom prst="ellipse">
              <a:avLst/>
            </a:prstGeom>
            <a:solidFill>
              <a:srgbClr val="7B1E2B"/>
            </a:solidFill>
            <a:ln w="7874">
              <a:solidFill>
                <a:srgbClr val="FFFFFF"/>
              </a:solidFill>
              <a:prstDash val="solid"/>
            </a:ln>
          </p:spPr>
        </p:sp>
        <p:sp>
          <p:nvSpPr>
            <p:cNvPr id="33" name="svg0_21"/>
            <p:cNvSpPr/>
            <p:nvPr/>
          </p:nvSpPr>
          <p:spPr>
            <a:xfrm>
              <a:off x="1321765" y="1146292"/>
              <a:ext cx="41239" cy="41239"/>
            </a:xfrm>
            <a:prstGeom prst="ellipse">
              <a:avLst/>
            </a:prstGeom>
            <a:solidFill>
              <a:srgbClr val="7B1E2B"/>
            </a:solidFill>
            <a:ln w="7874">
              <a:solidFill>
                <a:srgbClr val="FFFFFF"/>
              </a:solidFill>
              <a:prstDash val="solid"/>
            </a:ln>
          </p:spPr>
        </p:sp>
        <p:sp>
          <p:nvSpPr>
            <p:cNvPr id="34" name="svg0_22"/>
            <p:cNvSpPr/>
            <p:nvPr/>
          </p:nvSpPr>
          <p:spPr>
            <a:xfrm>
              <a:off x="1568562" y="1146292"/>
              <a:ext cx="41239" cy="41239"/>
            </a:xfrm>
            <a:prstGeom prst="ellipse">
              <a:avLst/>
            </a:prstGeom>
            <a:solidFill>
              <a:srgbClr val="7B1E2B"/>
            </a:solidFill>
            <a:ln w="7874">
              <a:solidFill>
                <a:srgbClr val="FFFFFF"/>
              </a:solidFill>
              <a:prstDash val="solid"/>
            </a:ln>
          </p:spPr>
        </p:sp>
        <p:sp>
          <p:nvSpPr>
            <p:cNvPr id="35" name="svg0_23"/>
            <p:cNvSpPr/>
            <p:nvPr/>
          </p:nvSpPr>
          <p:spPr>
            <a:xfrm>
              <a:off x="1815358" y="1126084"/>
              <a:ext cx="41239" cy="41239"/>
            </a:xfrm>
            <a:prstGeom prst="ellipse">
              <a:avLst/>
            </a:prstGeom>
            <a:solidFill>
              <a:srgbClr val="7B1E2B"/>
            </a:solidFill>
            <a:ln w="7874">
              <a:solidFill>
                <a:srgbClr val="FFFFFF"/>
              </a:solidFill>
              <a:prstDash val="solid"/>
            </a:ln>
          </p:spPr>
        </p:sp>
        <p:sp>
          <p:nvSpPr>
            <p:cNvPr id="36" name="svg0_24"/>
            <p:cNvSpPr/>
            <p:nvPr/>
          </p:nvSpPr>
          <p:spPr>
            <a:xfrm>
              <a:off x="2062246" y="1146292"/>
              <a:ext cx="41239" cy="41239"/>
            </a:xfrm>
            <a:prstGeom prst="ellipse">
              <a:avLst/>
            </a:prstGeom>
            <a:solidFill>
              <a:srgbClr val="7B1E2B"/>
            </a:solidFill>
            <a:ln w="7874">
              <a:solidFill>
                <a:srgbClr val="FFFFFF"/>
              </a:solidFill>
              <a:prstDash val="solid"/>
            </a:ln>
          </p:spPr>
        </p:sp>
        <p:sp>
          <p:nvSpPr>
            <p:cNvPr id="37" name="svg0_25"/>
            <p:cNvSpPr/>
            <p:nvPr/>
          </p:nvSpPr>
          <p:spPr>
            <a:xfrm>
              <a:off x="2309134" y="1166500"/>
              <a:ext cx="41239" cy="41239"/>
            </a:xfrm>
            <a:prstGeom prst="ellipse">
              <a:avLst/>
            </a:prstGeom>
            <a:solidFill>
              <a:srgbClr val="7B1E2B"/>
            </a:solidFill>
            <a:ln w="7874">
              <a:solidFill>
                <a:srgbClr val="FFFFFF"/>
              </a:solidFill>
              <a:prstDash val="solid"/>
            </a:ln>
          </p:spPr>
        </p:sp>
        <p:sp>
          <p:nvSpPr>
            <p:cNvPr id="38" name="svg0_26"/>
            <p:cNvSpPr txBox="1"/>
            <p:nvPr/>
          </p:nvSpPr>
          <p:spPr>
            <a:xfrm>
              <a:off x="587136" y="841797"/>
              <a:ext cx="167792" cy="104790"/>
            </a:xfrm>
            <a:prstGeom prst="rect">
              <a:avLst/>
            </a:prstGeom>
            <a:no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152</a:t>
              </a:r>
              <a:endParaRPr lang="en-US" sz="588" dirty="0"/>
            </a:p>
          </p:txBody>
        </p:sp>
        <p:sp>
          <p:nvSpPr>
            <p:cNvPr id="39" name="svg0_27"/>
            <p:cNvSpPr txBox="1"/>
            <p:nvPr/>
          </p:nvSpPr>
          <p:spPr>
            <a:xfrm>
              <a:off x="1011875" y="1027328"/>
              <a:ext cx="167792"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106</a:t>
              </a:r>
              <a:endParaRPr lang="en-US" sz="588" dirty="0"/>
            </a:p>
          </p:txBody>
        </p:sp>
        <p:sp>
          <p:nvSpPr>
            <p:cNvPr id="40" name="svg0_28"/>
            <p:cNvSpPr txBox="1"/>
            <p:nvPr/>
          </p:nvSpPr>
          <p:spPr>
            <a:xfrm>
              <a:off x="2220072" y="1071585"/>
              <a:ext cx="124633"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95</a:t>
              </a:r>
              <a:endParaRPr lang="en-US" sz="588" dirty="0"/>
            </a:p>
          </p:txBody>
        </p:sp>
        <p:sp>
          <p:nvSpPr>
            <p:cNvPr id="41" name="svg0_29"/>
            <p:cNvSpPr/>
            <p:nvPr/>
          </p:nvSpPr>
          <p:spPr>
            <a:xfrm>
              <a:off x="601767" y="1450238"/>
              <a:ext cx="1727942" cy="66568"/>
            </a:xfrm>
            <a:custGeom>
              <a:avLst/>
              <a:gdLst/>
              <a:ahLst/>
              <a:cxnLst/>
              <a:rect l="l" t="t" r="r" b="b"/>
              <a:pathLst>
                <a:path w="1727942" h="66568">
                  <a:moveTo>
                    <a:pt x="0" y="25695"/>
                  </a:moveTo>
                  <a:lnTo>
                    <a:pt x="246797" y="48097"/>
                  </a:lnTo>
                  <a:lnTo>
                    <a:pt x="493776" y="66568"/>
                  </a:lnTo>
                  <a:lnTo>
                    <a:pt x="740573" y="48646"/>
                  </a:lnTo>
                  <a:lnTo>
                    <a:pt x="987369" y="32370"/>
                  </a:lnTo>
                  <a:lnTo>
                    <a:pt x="1234166" y="16185"/>
                  </a:lnTo>
                  <a:lnTo>
                    <a:pt x="1481054" y="0"/>
                  </a:lnTo>
                  <a:lnTo>
                    <a:pt x="1727942" y="0"/>
                  </a:lnTo>
                </a:path>
              </a:pathLst>
            </a:custGeom>
            <a:noFill/>
            <a:ln w="15748">
              <a:solidFill>
                <a:srgbClr val="404040"/>
              </a:solidFill>
              <a:prstDash val="solid"/>
            </a:ln>
          </p:spPr>
        </p:sp>
        <p:sp>
          <p:nvSpPr>
            <p:cNvPr id="42" name="svg0_30"/>
            <p:cNvSpPr/>
            <p:nvPr/>
          </p:nvSpPr>
          <p:spPr>
            <a:xfrm>
              <a:off x="581193" y="1455450"/>
              <a:ext cx="41239" cy="41239"/>
            </a:xfrm>
            <a:prstGeom prst="ellipse">
              <a:avLst/>
            </a:prstGeom>
            <a:solidFill>
              <a:srgbClr val="404040"/>
            </a:solidFill>
            <a:ln w="7874">
              <a:solidFill>
                <a:srgbClr val="FFFFFF"/>
              </a:solidFill>
              <a:prstDash val="solid"/>
            </a:ln>
          </p:spPr>
        </p:sp>
        <p:sp>
          <p:nvSpPr>
            <p:cNvPr id="43" name="svg0_31"/>
            <p:cNvSpPr/>
            <p:nvPr/>
          </p:nvSpPr>
          <p:spPr>
            <a:xfrm>
              <a:off x="827989" y="1477762"/>
              <a:ext cx="41239" cy="41239"/>
            </a:xfrm>
            <a:prstGeom prst="ellipse">
              <a:avLst/>
            </a:prstGeom>
            <a:solidFill>
              <a:srgbClr val="404040"/>
            </a:solidFill>
            <a:ln w="7874">
              <a:solidFill>
                <a:srgbClr val="FFFFFF"/>
              </a:solidFill>
              <a:prstDash val="solid"/>
            </a:ln>
          </p:spPr>
        </p:sp>
        <p:sp>
          <p:nvSpPr>
            <p:cNvPr id="44" name="svg0_32"/>
            <p:cNvSpPr/>
            <p:nvPr/>
          </p:nvSpPr>
          <p:spPr>
            <a:xfrm>
              <a:off x="1074969" y="1496324"/>
              <a:ext cx="41239" cy="41239"/>
            </a:xfrm>
            <a:prstGeom prst="ellipse">
              <a:avLst/>
            </a:prstGeom>
            <a:solidFill>
              <a:srgbClr val="404040"/>
            </a:solidFill>
            <a:ln w="7874">
              <a:solidFill>
                <a:srgbClr val="FFFFFF"/>
              </a:solidFill>
              <a:prstDash val="solid"/>
            </a:ln>
          </p:spPr>
        </p:sp>
        <p:sp>
          <p:nvSpPr>
            <p:cNvPr id="45" name="svg0_33"/>
            <p:cNvSpPr/>
            <p:nvPr/>
          </p:nvSpPr>
          <p:spPr>
            <a:xfrm>
              <a:off x="1321765" y="1478402"/>
              <a:ext cx="41239" cy="41239"/>
            </a:xfrm>
            <a:prstGeom prst="ellipse">
              <a:avLst/>
            </a:prstGeom>
            <a:solidFill>
              <a:srgbClr val="404040"/>
            </a:solidFill>
            <a:ln w="7874">
              <a:solidFill>
                <a:srgbClr val="FFFFFF"/>
              </a:solidFill>
              <a:prstDash val="solid"/>
            </a:ln>
          </p:spPr>
        </p:sp>
        <p:sp>
          <p:nvSpPr>
            <p:cNvPr id="46" name="svg0_34"/>
            <p:cNvSpPr/>
            <p:nvPr/>
          </p:nvSpPr>
          <p:spPr>
            <a:xfrm>
              <a:off x="1568562" y="1462126"/>
              <a:ext cx="41239" cy="41239"/>
            </a:xfrm>
            <a:prstGeom prst="ellipse">
              <a:avLst/>
            </a:prstGeom>
            <a:solidFill>
              <a:srgbClr val="404040"/>
            </a:solidFill>
            <a:ln w="7874">
              <a:solidFill>
                <a:srgbClr val="FFFFFF"/>
              </a:solidFill>
              <a:prstDash val="solid"/>
            </a:ln>
          </p:spPr>
        </p:sp>
        <p:sp>
          <p:nvSpPr>
            <p:cNvPr id="47" name="svg0_35"/>
            <p:cNvSpPr/>
            <p:nvPr/>
          </p:nvSpPr>
          <p:spPr>
            <a:xfrm>
              <a:off x="1815358" y="1445941"/>
              <a:ext cx="41239" cy="41239"/>
            </a:xfrm>
            <a:prstGeom prst="ellipse">
              <a:avLst/>
            </a:prstGeom>
            <a:solidFill>
              <a:srgbClr val="404040"/>
            </a:solidFill>
            <a:ln w="7874">
              <a:solidFill>
                <a:srgbClr val="FFFFFF"/>
              </a:solidFill>
              <a:prstDash val="solid"/>
            </a:ln>
          </p:spPr>
        </p:sp>
        <p:sp>
          <p:nvSpPr>
            <p:cNvPr id="48" name="svg0_36"/>
            <p:cNvSpPr/>
            <p:nvPr/>
          </p:nvSpPr>
          <p:spPr>
            <a:xfrm>
              <a:off x="2062246" y="1429664"/>
              <a:ext cx="41239" cy="41239"/>
            </a:xfrm>
            <a:prstGeom prst="ellipse">
              <a:avLst/>
            </a:prstGeom>
            <a:solidFill>
              <a:srgbClr val="404040"/>
            </a:solidFill>
            <a:ln w="7874">
              <a:solidFill>
                <a:srgbClr val="FFFFFF"/>
              </a:solidFill>
              <a:prstDash val="solid"/>
            </a:ln>
          </p:spPr>
        </p:sp>
        <p:sp>
          <p:nvSpPr>
            <p:cNvPr id="49" name="svg0_37"/>
            <p:cNvSpPr/>
            <p:nvPr/>
          </p:nvSpPr>
          <p:spPr>
            <a:xfrm>
              <a:off x="2309134" y="1429664"/>
              <a:ext cx="41239" cy="41239"/>
            </a:xfrm>
            <a:prstGeom prst="ellipse">
              <a:avLst/>
            </a:prstGeom>
            <a:solidFill>
              <a:srgbClr val="404040"/>
            </a:solidFill>
            <a:ln w="7874">
              <a:solidFill>
                <a:srgbClr val="FFFFFF"/>
              </a:solidFill>
              <a:prstDash val="solid"/>
            </a:ln>
          </p:spPr>
        </p:sp>
        <p:sp>
          <p:nvSpPr>
            <p:cNvPr id="50" name="svg0_38"/>
            <p:cNvSpPr txBox="1"/>
            <p:nvPr/>
          </p:nvSpPr>
          <p:spPr>
            <a:xfrm>
              <a:off x="1033455" y="1401409"/>
              <a:ext cx="124633"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14</a:t>
              </a:r>
              <a:endParaRPr lang="en-US" sz="588" dirty="0"/>
            </a:p>
          </p:txBody>
        </p:sp>
        <p:sp>
          <p:nvSpPr>
            <p:cNvPr id="51" name="svg0_39"/>
            <p:cNvSpPr txBox="1"/>
            <p:nvPr/>
          </p:nvSpPr>
          <p:spPr>
            <a:xfrm>
              <a:off x="2220072" y="1334658"/>
              <a:ext cx="124633"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30</a:t>
              </a:r>
              <a:endParaRPr lang="en-US" sz="588" dirty="0"/>
            </a:p>
          </p:txBody>
        </p:sp>
        <p:sp>
          <p:nvSpPr>
            <p:cNvPr id="52" name="svg0_40"/>
            <p:cNvSpPr/>
            <p:nvPr/>
          </p:nvSpPr>
          <p:spPr>
            <a:xfrm>
              <a:off x="601767" y="1511046"/>
              <a:ext cx="1727942" cy="30632"/>
            </a:xfrm>
            <a:custGeom>
              <a:avLst/>
              <a:gdLst/>
              <a:ahLst/>
              <a:cxnLst/>
              <a:rect l="l" t="t" r="r" b="b"/>
              <a:pathLst>
                <a:path w="1727942" h="30632">
                  <a:moveTo>
                    <a:pt x="0" y="22403"/>
                  </a:moveTo>
                  <a:lnTo>
                    <a:pt x="246797" y="27158"/>
                  </a:lnTo>
                  <a:lnTo>
                    <a:pt x="493776" y="30632"/>
                  </a:lnTo>
                  <a:lnTo>
                    <a:pt x="740573" y="20391"/>
                  </a:lnTo>
                  <a:lnTo>
                    <a:pt x="987369" y="12162"/>
                  </a:lnTo>
                  <a:lnTo>
                    <a:pt x="1234166" y="0"/>
                  </a:lnTo>
                  <a:lnTo>
                    <a:pt x="1481054" y="0"/>
                  </a:lnTo>
                  <a:lnTo>
                    <a:pt x="1727942" y="0"/>
                  </a:lnTo>
                </a:path>
              </a:pathLst>
            </a:custGeom>
            <a:noFill/>
            <a:ln w="15748">
              <a:solidFill>
                <a:srgbClr val="A3A3A3"/>
              </a:solidFill>
              <a:prstDash val="solid"/>
            </a:ln>
          </p:spPr>
        </p:sp>
        <p:sp>
          <p:nvSpPr>
            <p:cNvPr id="53" name="svg0_41"/>
            <p:cNvSpPr/>
            <p:nvPr/>
          </p:nvSpPr>
          <p:spPr>
            <a:xfrm>
              <a:off x="581193" y="1512875"/>
              <a:ext cx="41239" cy="41239"/>
            </a:xfrm>
            <a:prstGeom prst="ellipse">
              <a:avLst/>
            </a:prstGeom>
            <a:solidFill>
              <a:srgbClr val="A3A3A3"/>
            </a:solidFill>
            <a:ln w="7874">
              <a:solidFill>
                <a:srgbClr val="FFFFFF"/>
              </a:solidFill>
              <a:prstDash val="solid"/>
            </a:ln>
          </p:spPr>
        </p:sp>
        <p:sp>
          <p:nvSpPr>
            <p:cNvPr id="54" name="svg0_42"/>
            <p:cNvSpPr/>
            <p:nvPr/>
          </p:nvSpPr>
          <p:spPr>
            <a:xfrm>
              <a:off x="827989" y="1517630"/>
              <a:ext cx="41239" cy="41239"/>
            </a:xfrm>
            <a:prstGeom prst="ellipse">
              <a:avLst/>
            </a:prstGeom>
            <a:solidFill>
              <a:srgbClr val="A3A3A3"/>
            </a:solidFill>
            <a:ln w="7874">
              <a:solidFill>
                <a:srgbClr val="FFFFFF"/>
              </a:solidFill>
              <a:prstDash val="solid"/>
            </a:ln>
          </p:spPr>
        </p:sp>
        <p:sp>
          <p:nvSpPr>
            <p:cNvPr id="55" name="svg0_43"/>
            <p:cNvSpPr/>
            <p:nvPr/>
          </p:nvSpPr>
          <p:spPr>
            <a:xfrm>
              <a:off x="1074969" y="1521104"/>
              <a:ext cx="41239" cy="41239"/>
            </a:xfrm>
            <a:prstGeom prst="ellipse">
              <a:avLst/>
            </a:prstGeom>
            <a:solidFill>
              <a:srgbClr val="A3A3A3"/>
            </a:solidFill>
            <a:ln w="7874">
              <a:solidFill>
                <a:srgbClr val="FFFFFF"/>
              </a:solidFill>
              <a:prstDash val="solid"/>
            </a:ln>
          </p:spPr>
        </p:sp>
        <p:sp>
          <p:nvSpPr>
            <p:cNvPr id="56" name="svg0_44"/>
            <p:cNvSpPr/>
            <p:nvPr/>
          </p:nvSpPr>
          <p:spPr>
            <a:xfrm>
              <a:off x="1321765" y="1510863"/>
              <a:ext cx="41239" cy="41239"/>
            </a:xfrm>
            <a:prstGeom prst="ellipse">
              <a:avLst/>
            </a:prstGeom>
            <a:solidFill>
              <a:srgbClr val="A3A3A3"/>
            </a:solidFill>
            <a:ln w="7874">
              <a:solidFill>
                <a:srgbClr val="FFFFFF"/>
              </a:solidFill>
              <a:prstDash val="solid"/>
            </a:ln>
          </p:spPr>
        </p:sp>
        <p:sp>
          <p:nvSpPr>
            <p:cNvPr id="57" name="svg0_45"/>
            <p:cNvSpPr/>
            <p:nvPr/>
          </p:nvSpPr>
          <p:spPr>
            <a:xfrm>
              <a:off x="1568562" y="1502634"/>
              <a:ext cx="41239" cy="41239"/>
            </a:xfrm>
            <a:prstGeom prst="ellipse">
              <a:avLst/>
            </a:prstGeom>
            <a:solidFill>
              <a:srgbClr val="A3A3A3"/>
            </a:solidFill>
            <a:ln w="7874">
              <a:solidFill>
                <a:srgbClr val="FFFFFF"/>
              </a:solidFill>
              <a:prstDash val="solid"/>
            </a:ln>
          </p:spPr>
        </p:sp>
        <p:sp>
          <p:nvSpPr>
            <p:cNvPr id="58" name="svg0_46"/>
            <p:cNvSpPr/>
            <p:nvPr/>
          </p:nvSpPr>
          <p:spPr>
            <a:xfrm>
              <a:off x="1815358" y="1490472"/>
              <a:ext cx="41239" cy="41239"/>
            </a:xfrm>
            <a:prstGeom prst="ellipse">
              <a:avLst/>
            </a:prstGeom>
            <a:solidFill>
              <a:srgbClr val="A3A3A3"/>
            </a:solidFill>
            <a:ln w="7874">
              <a:solidFill>
                <a:srgbClr val="FFFFFF"/>
              </a:solidFill>
              <a:prstDash val="solid"/>
            </a:ln>
          </p:spPr>
        </p:sp>
        <p:sp>
          <p:nvSpPr>
            <p:cNvPr id="59" name="svg0_47"/>
            <p:cNvSpPr/>
            <p:nvPr/>
          </p:nvSpPr>
          <p:spPr>
            <a:xfrm>
              <a:off x="2062246" y="1490472"/>
              <a:ext cx="41239" cy="41239"/>
            </a:xfrm>
            <a:prstGeom prst="ellipse">
              <a:avLst/>
            </a:prstGeom>
            <a:solidFill>
              <a:srgbClr val="A3A3A3"/>
            </a:solidFill>
            <a:ln w="7874">
              <a:solidFill>
                <a:srgbClr val="FFFFFF"/>
              </a:solidFill>
              <a:prstDash val="solid"/>
            </a:ln>
          </p:spPr>
        </p:sp>
        <p:sp>
          <p:nvSpPr>
            <p:cNvPr id="60" name="svg0_48"/>
            <p:cNvSpPr/>
            <p:nvPr/>
          </p:nvSpPr>
          <p:spPr>
            <a:xfrm>
              <a:off x="2309134" y="1490472"/>
              <a:ext cx="41239" cy="41239"/>
            </a:xfrm>
            <a:prstGeom prst="ellipse">
              <a:avLst/>
            </a:prstGeom>
            <a:solidFill>
              <a:srgbClr val="A3A3A3"/>
            </a:solidFill>
            <a:ln w="7874">
              <a:solidFill>
                <a:srgbClr val="FFFFFF"/>
              </a:solidFill>
              <a:prstDash val="solid"/>
            </a:ln>
          </p:spPr>
        </p:sp>
        <p:sp>
          <p:nvSpPr>
            <p:cNvPr id="61" name="svg0_49"/>
            <p:cNvSpPr txBox="1"/>
            <p:nvPr/>
          </p:nvSpPr>
          <p:spPr>
            <a:xfrm>
              <a:off x="2373782" y="1138245"/>
              <a:ext cx="179497" cy="104790"/>
            </a:xfrm>
            <a:prstGeom prst="rect">
              <a:avLst/>
            </a:prstGeom>
            <a:noFill/>
            <a:ln/>
          </p:spPr>
          <p:txBody>
            <a:bodyPr wrap="none" lIns="0" tIns="0" rIns="0" bIns="0" rtlCol="0" anchor="ctr"/>
            <a:lstStyle/>
            <a:p>
              <a:pPr algn="l" indent="0" marL="0">
                <a:buNone/>
              </a:pPr>
              <a:r>
                <a:rPr lang="en-US" sz="588" b="1" dirty="0">
                  <a:solidFill>
                    <a:srgbClr val="7B1E2B"/>
                  </a:solidFill>
                  <a:latin typeface="Calibri" pitchFamily="34" charset="0"/>
                  <a:ea typeface="Calibri" pitchFamily="34" charset="-122"/>
                  <a:cs typeface="Calibri" pitchFamily="34" charset="-120"/>
                </a:rPr>
                <a:t>DIO</a:t>
              </a:r>
              <a:endParaRPr lang="en-US" sz="588" dirty="0"/>
            </a:p>
          </p:txBody>
        </p:sp>
        <p:sp>
          <p:nvSpPr>
            <p:cNvPr id="62" name="svg0_50"/>
            <p:cNvSpPr txBox="1"/>
            <p:nvPr/>
          </p:nvSpPr>
          <p:spPr>
            <a:xfrm>
              <a:off x="2373782" y="1401409"/>
              <a:ext cx="196962" cy="104790"/>
            </a:xfrm>
            <a:prstGeom prst="rect">
              <a:avLst/>
            </a:prstGeom>
            <a:noFill/>
            <a:ln/>
          </p:spPr>
          <p:txBody>
            <a:bodyPr wrap="none" lIns="0" tIns="0" rIns="0" bIns="0" rtlCol="0" anchor="ctr"/>
            <a:lstStyle/>
            <a:p>
              <a:pPr algn="l" indent="0" marL="0">
                <a:buNone/>
              </a:pPr>
              <a:r>
                <a:rPr lang="en-US" sz="588" b="1" dirty="0">
                  <a:solidFill>
                    <a:srgbClr val="404040"/>
                  </a:solidFill>
                  <a:latin typeface="Calibri" pitchFamily="34" charset="0"/>
                  <a:ea typeface="Calibri" pitchFamily="34" charset="-122"/>
                  <a:cs typeface="Calibri" pitchFamily="34" charset="-120"/>
                </a:rPr>
                <a:t>DSO</a:t>
              </a:r>
              <a:endParaRPr lang="en-US" sz="588" dirty="0"/>
            </a:p>
          </p:txBody>
        </p:sp>
        <p:sp>
          <p:nvSpPr>
            <p:cNvPr id="63" name="svg0_51"/>
            <p:cNvSpPr txBox="1"/>
            <p:nvPr/>
          </p:nvSpPr>
          <p:spPr>
            <a:xfrm>
              <a:off x="2373782" y="1479865"/>
              <a:ext cx="202082" cy="104790"/>
            </a:xfrm>
            <a:prstGeom prst="rect">
              <a:avLst/>
            </a:prstGeom>
            <a:noFill/>
            <a:ln/>
          </p:spPr>
          <p:txBody>
            <a:bodyPr wrap="none" lIns="0" tIns="0" rIns="0" bIns="0" rtlCol="0" anchor="ctr"/>
            <a:lstStyle/>
            <a:p>
              <a:pPr algn="l" indent="0" marL="0">
                <a:buNone/>
              </a:pPr>
              <a:r>
                <a:rPr lang="en-US" sz="588" b="1" dirty="0">
                  <a:solidFill>
                    <a:srgbClr val="666666"/>
                  </a:solidFill>
                  <a:latin typeface="Calibri" pitchFamily="34" charset="0"/>
                  <a:ea typeface="Calibri" pitchFamily="34" charset="-122"/>
                  <a:cs typeface="Calibri" pitchFamily="34" charset="-120"/>
                </a:rPr>
                <a:t>DPO</a:t>
              </a:r>
              <a:endParaRPr lang="en-US" sz="588" dirty="0"/>
            </a:p>
          </p:txBody>
        </p:sp>
      </p:grpSp>
      <p:grpSp>
        <p:nvGrpSpPr>
          <p:cNvPr id="223" name="Fig. 34 – biểu đồ"/>
          <p:cNvGrpSpPr/>
          <p:nvPr/>
        </p:nvGrpSpPr>
        <p:grpSpPr>
          <a:xfrm>
            <a:off x="444856" y="2263231"/>
            <a:ext cx="2081083" cy="779892"/>
            <a:chOff x="444856" y="2263231"/>
            <a:chExt cx="2081083" cy="779892"/>
          </a:xfrm>
        </p:grpSpPr>
        <p:sp>
          <p:nvSpPr>
            <p:cNvPr id="64" name="svg1_52"/>
            <p:cNvSpPr/>
            <p:nvPr/>
          </p:nvSpPr>
          <p:spPr>
            <a:xfrm>
              <a:off x="791596" y="2284171"/>
              <a:ext cx="1734342" cy="569397"/>
            </a:xfrm>
            <a:prstGeom prst="rect">
              <a:avLst/>
            </a:prstGeom>
            <a:solidFill>
              <a:srgbClr val="F3F1F1"/>
            </a:solidFill>
            <a:ln/>
          </p:spPr>
        </p:sp>
        <p:sp>
          <p:nvSpPr>
            <p:cNvPr id="65" name="svg1_53"/>
            <p:cNvSpPr/>
            <p:nvPr/>
          </p:nvSpPr>
          <p:spPr>
            <a:xfrm>
              <a:off x="510601" y="2806385"/>
              <a:ext cx="215067" cy="47274"/>
            </a:xfrm>
            <a:prstGeom prst="rect">
              <a:avLst/>
            </a:prstGeom>
            <a:solidFill>
              <a:srgbClr val="7B1E2B"/>
            </a:solidFill>
            <a:ln/>
          </p:spPr>
        </p:sp>
        <p:sp>
          <p:nvSpPr>
            <p:cNvPr id="66" name="svg1_54"/>
            <p:cNvSpPr txBox="1"/>
            <p:nvPr/>
          </p:nvSpPr>
          <p:spPr>
            <a:xfrm>
              <a:off x="540228" y="2697206"/>
              <a:ext cx="156637"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5,1</a:t>
              </a:r>
              <a:endParaRPr lang="en-US" sz="649" dirty="0"/>
            </a:p>
          </p:txBody>
        </p:sp>
        <p:sp>
          <p:nvSpPr>
            <p:cNvPr id="67" name="svg1_55"/>
            <p:cNvSpPr txBox="1"/>
            <p:nvPr/>
          </p:nvSpPr>
          <p:spPr>
            <a:xfrm>
              <a:off x="531449" y="2867650"/>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25A</a:t>
              </a:r>
              <a:endParaRPr lang="en-US" sz="587" dirty="0"/>
            </a:p>
          </p:txBody>
        </p:sp>
        <p:sp>
          <p:nvSpPr>
            <p:cNvPr id="68" name="svg1_56"/>
            <p:cNvSpPr txBox="1"/>
            <p:nvPr/>
          </p:nvSpPr>
          <p:spPr>
            <a:xfrm>
              <a:off x="476768" y="2938333"/>
              <a:ext cx="28730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11% DT</a:t>
              </a:r>
              <a:endParaRPr lang="en-US" sz="557" dirty="0"/>
            </a:p>
          </p:txBody>
        </p:sp>
        <p:sp>
          <p:nvSpPr>
            <p:cNvPr id="69" name="svg1_57"/>
            <p:cNvSpPr/>
            <p:nvPr/>
          </p:nvSpPr>
          <p:spPr>
            <a:xfrm>
              <a:off x="857616" y="2735428"/>
              <a:ext cx="215067" cy="118232"/>
            </a:xfrm>
            <a:prstGeom prst="rect">
              <a:avLst/>
            </a:prstGeom>
            <a:pattFill prst="wdUpDiag">
              <a:fgClr>
                <a:srgbClr val="7B1E2B"/>
              </a:fgClr>
              <a:bgClr>
                <a:srgbClr val="FFFFFF"/>
              </a:bgClr>
            </a:pattFill>
            <a:ln w="7874">
              <a:solidFill>
                <a:srgbClr val="7B1E2B"/>
              </a:solidFill>
              <a:prstDash val="solid"/>
            </a:ln>
          </p:spPr>
        </p:sp>
        <p:sp>
          <p:nvSpPr>
            <p:cNvPr id="70" name="svg1_58"/>
            <p:cNvSpPr txBox="1"/>
            <p:nvPr/>
          </p:nvSpPr>
          <p:spPr>
            <a:xfrm>
              <a:off x="862554" y="2626523"/>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12,7</a:t>
              </a:r>
              <a:endParaRPr lang="en-US" sz="649" dirty="0"/>
            </a:p>
          </p:txBody>
        </p:sp>
        <p:sp>
          <p:nvSpPr>
            <p:cNvPr id="71" name="svg1_59"/>
            <p:cNvSpPr txBox="1"/>
            <p:nvPr/>
          </p:nvSpPr>
          <p:spPr>
            <a:xfrm>
              <a:off x="882030" y="2867650"/>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72" name="svg1_60"/>
            <p:cNvSpPr txBox="1"/>
            <p:nvPr/>
          </p:nvSpPr>
          <p:spPr>
            <a:xfrm>
              <a:off x="823234" y="2938333"/>
              <a:ext cx="28730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 DT</a:t>
              </a:r>
              <a:endParaRPr lang="en-US" sz="557" dirty="0"/>
            </a:p>
          </p:txBody>
        </p:sp>
        <p:sp>
          <p:nvSpPr>
            <p:cNvPr id="73" name="svg1_61"/>
            <p:cNvSpPr/>
            <p:nvPr/>
          </p:nvSpPr>
          <p:spPr>
            <a:xfrm>
              <a:off x="1204448" y="2372594"/>
              <a:ext cx="215067" cy="480974"/>
            </a:xfrm>
            <a:prstGeom prst="rect">
              <a:avLst/>
            </a:prstGeom>
            <a:pattFill prst="wdUpDiag">
              <a:fgClr>
                <a:srgbClr val="7B1E2B"/>
              </a:fgClr>
              <a:bgClr>
                <a:srgbClr val="FFFFFF"/>
              </a:bgClr>
            </a:pattFill>
            <a:ln w="7874">
              <a:solidFill>
                <a:srgbClr val="7B1E2B"/>
              </a:solidFill>
              <a:prstDash val="solid"/>
            </a:ln>
          </p:spPr>
        </p:sp>
        <p:sp>
          <p:nvSpPr>
            <p:cNvPr id="74" name="svg1_62"/>
            <p:cNvSpPr txBox="1"/>
            <p:nvPr/>
          </p:nvSpPr>
          <p:spPr>
            <a:xfrm>
              <a:off x="1209111" y="2263231"/>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51,8</a:t>
              </a:r>
              <a:endParaRPr lang="en-US" sz="649" dirty="0"/>
            </a:p>
          </p:txBody>
        </p:sp>
        <p:sp>
          <p:nvSpPr>
            <p:cNvPr id="75" name="svg1_63"/>
            <p:cNvSpPr txBox="1"/>
            <p:nvPr/>
          </p:nvSpPr>
          <p:spPr>
            <a:xfrm>
              <a:off x="1228588" y="2867650"/>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76" name="svg1_64"/>
            <p:cNvSpPr txBox="1"/>
            <p:nvPr/>
          </p:nvSpPr>
          <p:spPr>
            <a:xfrm>
              <a:off x="1169792" y="2938333"/>
              <a:ext cx="28730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65% DT</a:t>
              </a:r>
              <a:endParaRPr lang="en-US" sz="557" dirty="0"/>
            </a:p>
          </p:txBody>
        </p:sp>
        <p:sp>
          <p:nvSpPr>
            <p:cNvPr id="77" name="svg1_65"/>
            <p:cNvSpPr/>
            <p:nvPr/>
          </p:nvSpPr>
          <p:spPr>
            <a:xfrm>
              <a:off x="1551280" y="2730764"/>
              <a:ext cx="215067" cy="122895"/>
            </a:xfrm>
            <a:prstGeom prst="rect">
              <a:avLst/>
            </a:prstGeom>
            <a:pattFill prst="wdUpDiag">
              <a:fgClr>
                <a:srgbClr val="7B1E2B"/>
              </a:fgClr>
              <a:bgClr>
                <a:srgbClr val="FFFFFF"/>
              </a:bgClr>
            </a:pattFill>
            <a:ln w="7874">
              <a:solidFill>
                <a:srgbClr val="7B1E2B"/>
              </a:solidFill>
              <a:prstDash val="solid"/>
            </a:ln>
          </p:spPr>
        </p:sp>
        <p:sp>
          <p:nvSpPr>
            <p:cNvPr id="78" name="svg1_66"/>
            <p:cNvSpPr txBox="1"/>
            <p:nvPr/>
          </p:nvSpPr>
          <p:spPr>
            <a:xfrm>
              <a:off x="1556675" y="2621585"/>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13,2</a:t>
              </a:r>
              <a:endParaRPr lang="en-US" sz="649" dirty="0"/>
            </a:p>
          </p:txBody>
        </p:sp>
        <p:sp>
          <p:nvSpPr>
            <p:cNvPr id="79" name="svg1_67"/>
            <p:cNvSpPr txBox="1"/>
            <p:nvPr/>
          </p:nvSpPr>
          <p:spPr>
            <a:xfrm>
              <a:off x="1576060" y="2867650"/>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80" name="svg1_68"/>
            <p:cNvSpPr txBox="1"/>
            <p:nvPr/>
          </p:nvSpPr>
          <p:spPr>
            <a:xfrm>
              <a:off x="1517355" y="2938333"/>
              <a:ext cx="28730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12% DT</a:t>
              </a:r>
              <a:endParaRPr lang="en-US" sz="557" dirty="0"/>
            </a:p>
          </p:txBody>
        </p:sp>
        <p:sp>
          <p:nvSpPr>
            <p:cNvPr id="81" name="svg1_69"/>
            <p:cNvSpPr/>
            <p:nvPr/>
          </p:nvSpPr>
          <p:spPr>
            <a:xfrm>
              <a:off x="1898112" y="2722169"/>
              <a:ext cx="215158" cy="131491"/>
            </a:xfrm>
            <a:prstGeom prst="rect">
              <a:avLst/>
            </a:prstGeom>
            <a:pattFill prst="wdUpDiag">
              <a:fgClr>
                <a:srgbClr val="7B1E2B"/>
              </a:fgClr>
              <a:bgClr>
                <a:srgbClr val="FFFFFF"/>
              </a:bgClr>
            </a:pattFill>
            <a:ln w="7874">
              <a:solidFill>
                <a:srgbClr val="7B1E2B"/>
              </a:solidFill>
              <a:prstDash val="solid"/>
            </a:ln>
          </p:spPr>
        </p:sp>
        <p:sp>
          <p:nvSpPr>
            <p:cNvPr id="82" name="svg1_70"/>
            <p:cNvSpPr txBox="1"/>
            <p:nvPr/>
          </p:nvSpPr>
          <p:spPr>
            <a:xfrm>
              <a:off x="1903141" y="2612807"/>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14,2</a:t>
              </a:r>
              <a:endParaRPr lang="en-US" sz="649" dirty="0"/>
            </a:p>
          </p:txBody>
        </p:sp>
        <p:sp>
          <p:nvSpPr>
            <p:cNvPr id="83" name="svg1_71"/>
            <p:cNvSpPr txBox="1"/>
            <p:nvPr/>
          </p:nvSpPr>
          <p:spPr>
            <a:xfrm>
              <a:off x="1922617" y="2867650"/>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84" name="svg1_72"/>
            <p:cNvSpPr txBox="1"/>
            <p:nvPr/>
          </p:nvSpPr>
          <p:spPr>
            <a:xfrm>
              <a:off x="1863913" y="2938333"/>
              <a:ext cx="28730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10% DT</a:t>
              </a:r>
              <a:endParaRPr lang="en-US" sz="557" dirty="0"/>
            </a:p>
          </p:txBody>
        </p:sp>
        <p:sp>
          <p:nvSpPr>
            <p:cNvPr id="85" name="svg1_73"/>
            <p:cNvSpPr/>
            <p:nvPr/>
          </p:nvSpPr>
          <p:spPr>
            <a:xfrm>
              <a:off x="2245035" y="2695560"/>
              <a:ext cx="215067" cy="158008"/>
            </a:xfrm>
            <a:prstGeom prst="rect">
              <a:avLst/>
            </a:prstGeom>
            <a:pattFill prst="wdUpDiag">
              <a:fgClr>
                <a:srgbClr val="7B1E2B"/>
              </a:fgClr>
              <a:bgClr>
                <a:srgbClr val="FFFFFF"/>
              </a:bgClr>
            </a:pattFill>
            <a:ln w="7874">
              <a:solidFill>
                <a:srgbClr val="7B1E2B"/>
              </a:solidFill>
              <a:prstDash val="solid"/>
            </a:ln>
          </p:spPr>
        </p:sp>
        <p:sp>
          <p:nvSpPr>
            <p:cNvPr id="86" name="svg1_74"/>
            <p:cNvSpPr txBox="1"/>
            <p:nvPr/>
          </p:nvSpPr>
          <p:spPr>
            <a:xfrm>
              <a:off x="2249698" y="2586198"/>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17,0</a:t>
              </a:r>
              <a:endParaRPr lang="en-US" sz="649" dirty="0"/>
            </a:p>
          </p:txBody>
        </p:sp>
        <p:sp>
          <p:nvSpPr>
            <p:cNvPr id="87" name="svg1_75"/>
            <p:cNvSpPr txBox="1"/>
            <p:nvPr/>
          </p:nvSpPr>
          <p:spPr>
            <a:xfrm>
              <a:off x="2269175" y="2867650"/>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88" name="svg1_76"/>
            <p:cNvSpPr txBox="1"/>
            <p:nvPr/>
          </p:nvSpPr>
          <p:spPr>
            <a:xfrm>
              <a:off x="2210379" y="2938333"/>
              <a:ext cx="28730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10% DT</a:t>
              </a:r>
              <a:endParaRPr lang="en-US" sz="557" dirty="0"/>
            </a:p>
          </p:txBody>
        </p:sp>
        <p:sp>
          <p:nvSpPr>
            <p:cNvPr id="89" name="svg1_77"/>
            <p:cNvSpPr/>
            <p:nvPr/>
          </p:nvSpPr>
          <p:spPr>
            <a:xfrm>
              <a:off x="444856" y="2853568"/>
              <a:ext cx="2081083" cy="0"/>
            </a:xfrm>
            <a:prstGeom prst="line">
              <a:avLst/>
            </a:prstGeom>
            <a:noFill/>
            <a:ln w="6858">
              <a:solidFill>
                <a:srgbClr val="8C8C8C"/>
              </a:solidFill>
              <a:prstDash val="solid"/>
            </a:ln>
          </p:spPr>
        </p:sp>
      </p:grpSp>
      <p:grpSp>
        <p:nvGrpSpPr>
          <p:cNvPr id="224" name="Fig. 34 – biểu đồ"/>
          <p:cNvGrpSpPr/>
          <p:nvPr/>
        </p:nvGrpSpPr>
        <p:grpSpPr>
          <a:xfrm>
            <a:off x="444856" y="3143707"/>
            <a:ext cx="2081083" cy="787756"/>
            <a:chOff x="444856" y="3143707"/>
            <a:chExt cx="2081083" cy="787756"/>
          </a:xfrm>
        </p:grpSpPr>
        <p:sp>
          <p:nvSpPr>
            <p:cNvPr id="90" name="svg2_78"/>
            <p:cNvSpPr/>
            <p:nvPr/>
          </p:nvSpPr>
          <p:spPr>
            <a:xfrm>
              <a:off x="791596" y="3174522"/>
              <a:ext cx="1734342" cy="638068"/>
            </a:xfrm>
            <a:prstGeom prst="rect">
              <a:avLst/>
            </a:prstGeom>
            <a:solidFill>
              <a:srgbClr val="F3F1F1"/>
            </a:solidFill>
            <a:ln/>
          </p:spPr>
        </p:sp>
        <p:sp>
          <p:nvSpPr>
            <p:cNvPr id="91" name="svg2_79"/>
            <p:cNvSpPr/>
            <p:nvPr/>
          </p:nvSpPr>
          <p:spPr>
            <a:xfrm>
              <a:off x="510601" y="3320095"/>
              <a:ext cx="215067" cy="10790"/>
            </a:xfrm>
            <a:prstGeom prst="rect">
              <a:avLst/>
            </a:prstGeom>
            <a:solidFill>
              <a:srgbClr val="7B1E2B"/>
            </a:solidFill>
            <a:ln/>
          </p:spPr>
        </p:sp>
        <p:sp>
          <p:nvSpPr>
            <p:cNvPr id="92" name="svg2_80"/>
            <p:cNvSpPr txBox="1"/>
            <p:nvPr/>
          </p:nvSpPr>
          <p:spPr>
            <a:xfrm>
              <a:off x="539770" y="3210458"/>
              <a:ext cx="1634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1,2</a:t>
              </a:r>
              <a:endParaRPr lang="en-US" sz="649" dirty="0"/>
            </a:p>
          </p:txBody>
        </p:sp>
        <p:sp>
          <p:nvSpPr>
            <p:cNvPr id="93" name="svg2_81"/>
            <p:cNvSpPr txBox="1"/>
            <p:nvPr/>
          </p:nvSpPr>
          <p:spPr>
            <a:xfrm>
              <a:off x="531449" y="3826673"/>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25A</a:t>
              </a:r>
              <a:endParaRPr lang="en-US" sz="587" dirty="0"/>
            </a:p>
          </p:txBody>
        </p:sp>
        <p:sp>
          <p:nvSpPr>
            <p:cNvPr id="94" name="svg2_82"/>
            <p:cNvSpPr/>
            <p:nvPr/>
          </p:nvSpPr>
          <p:spPr>
            <a:xfrm>
              <a:off x="857616" y="3330885"/>
              <a:ext cx="215067" cy="43800"/>
            </a:xfrm>
            <a:prstGeom prst="rect">
              <a:avLst/>
            </a:prstGeom>
            <a:solidFill>
              <a:srgbClr val="404040"/>
            </a:solidFill>
            <a:ln/>
          </p:spPr>
        </p:sp>
        <p:sp>
          <p:nvSpPr>
            <p:cNvPr id="95" name="svg2_83"/>
            <p:cNvSpPr txBox="1"/>
            <p:nvPr/>
          </p:nvSpPr>
          <p:spPr>
            <a:xfrm>
              <a:off x="863011" y="3377336"/>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−4,9</a:t>
              </a:r>
              <a:endParaRPr lang="en-US" sz="649" dirty="0"/>
            </a:p>
          </p:txBody>
        </p:sp>
        <p:sp>
          <p:nvSpPr>
            <p:cNvPr id="96" name="svg2_84"/>
            <p:cNvSpPr txBox="1"/>
            <p:nvPr/>
          </p:nvSpPr>
          <p:spPr>
            <a:xfrm>
              <a:off x="882030" y="3826673"/>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97" name="svg2_85"/>
            <p:cNvSpPr/>
            <p:nvPr/>
          </p:nvSpPr>
          <p:spPr>
            <a:xfrm>
              <a:off x="1204448" y="3330885"/>
              <a:ext cx="215067" cy="383591"/>
            </a:xfrm>
            <a:prstGeom prst="rect">
              <a:avLst/>
            </a:prstGeom>
            <a:solidFill>
              <a:srgbClr val="404040"/>
            </a:solidFill>
            <a:ln/>
          </p:spPr>
        </p:sp>
        <p:sp>
          <p:nvSpPr>
            <p:cNvPr id="98" name="svg2_86"/>
            <p:cNvSpPr txBox="1"/>
            <p:nvPr/>
          </p:nvSpPr>
          <p:spPr>
            <a:xfrm>
              <a:off x="1185702" y="3717036"/>
              <a:ext cx="257678"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−42,6</a:t>
              </a:r>
              <a:endParaRPr lang="en-US" sz="649" dirty="0"/>
            </a:p>
          </p:txBody>
        </p:sp>
        <p:sp>
          <p:nvSpPr>
            <p:cNvPr id="99" name="svg2_87"/>
            <p:cNvSpPr txBox="1"/>
            <p:nvPr/>
          </p:nvSpPr>
          <p:spPr>
            <a:xfrm>
              <a:off x="1228588" y="3826673"/>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100" name="svg2_88"/>
            <p:cNvSpPr/>
            <p:nvPr/>
          </p:nvSpPr>
          <p:spPr>
            <a:xfrm>
              <a:off x="1551280" y="3330885"/>
              <a:ext cx="215067" cy="33010"/>
            </a:xfrm>
            <a:prstGeom prst="rect">
              <a:avLst/>
            </a:prstGeom>
            <a:solidFill>
              <a:srgbClr val="404040"/>
            </a:solidFill>
            <a:ln/>
          </p:spPr>
        </p:sp>
        <p:sp>
          <p:nvSpPr>
            <p:cNvPr id="101" name="svg2_89"/>
            <p:cNvSpPr txBox="1"/>
            <p:nvPr/>
          </p:nvSpPr>
          <p:spPr>
            <a:xfrm>
              <a:off x="1557040" y="3366638"/>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−3,7</a:t>
              </a:r>
              <a:endParaRPr lang="en-US" sz="649" dirty="0"/>
            </a:p>
          </p:txBody>
        </p:sp>
        <p:sp>
          <p:nvSpPr>
            <p:cNvPr id="102" name="svg2_90"/>
            <p:cNvSpPr txBox="1"/>
            <p:nvPr/>
          </p:nvSpPr>
          <p:spPr>
            <a:xfrm>
              <a:off x="1576060" y="3826673"/>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103" name="svg2_91"/>
            <p:cNvSpPr/>
            <p:nvPr/>
          </p:nvSpPr>
          <p:spPr>
            <a:xfrm>
              <a:off x="1898112" y="3298332"/>
              <a:ext cx="215158" cy="32553"/>
            </a:xfrm>
            <a:prstGeom prst="rect">
              <a:avLst/>
            </a:prstGeom>
            <a:pattFill prst="wdUpDiag">
              <a:fgClr>
                <a:srgbClr val="7B1E2B"/>
              </a:fgClr>
              <a:bgClr>
                <a:srgbClr val="FFFFFF"/>
              </a:bgClr>
            </a:pattFill>
            <a:ln w="7874">
              <a:solidFill>
                <a:srgbClr val="7B1E2B"/>
              </a:solidFill>
              <a:prstDash val="solid"/>
            </a:ln>
          </p:spPr>
        </p:sp>
        <p:sp>
          <p:nvSpPr>
            <p:cNvPr id="104" name="svg2_92"/>
            <p:cNvSpPr txBox="1"/>
            <p:nvPr/>
          </p:nvSpPr>
          <p:spPr>
            <a:xfrm>
              <a:off x="1926915" y="3188879"/>
              <a:ext cx="1634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3,6</a:t>
              </a:r>
              <a:endParaRPr lang="en-US" sz="649" dirty="0"/>
            </a:p>
          </p:txBody>
        </p:sp>
        <p:sp>
          <p:nvSpPr>
            <p:cNvPr id="105" name="svg2_93"/>
            <p:cNvSpPr txBox="1"/>
            <p:nvPr/>
          </p:nvSpPr>
          <p:spPr>
            <a:xfrm>
              <a:off x="1922617" y="3826673"/>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106" name="svg2_94"/>
            <p:cNvSpPr/>
            <p:nvPr/>
          </p:nvSpPr>
          <p:spPr>
            <a:xfrm>
              <a:off x="2245035" y="3253069"/>
              <a:ext cx="215067" cy="77815"/>
            </a:xfrm>
            <a:prstGeom prst="rect">
              <a:avLst/>
            </a:prstGeom>
            <a:pattFill prst="wdUpDiag">
              <a:fgClr>
                <a:srgbClr val="7B1E2B"/>
              </a:fgClr>
              <a:bgClr>
                <a:srgbClr val="FFFFFF"/>
              </a:bgClr>
            </a:pattFill>
            <a:ln w="7874">
              <a:solidFill>
                <a:srgbClr val="7B1E2B"/>
              </a:solidFill>
              <a:prstDash val="solid"/>
            </a:ln>
          </p:spPr>
        </p:sp>
        <p:sp>
          <p:nvSpPr>
            <p:cNvPr id="107" name="svg2_95"/>
            <p:cNvSpPr txBox="1"/>
            <p:nvPr/>
          </p:nvSpPr>
          <p:spPr>
            <a:xfrm>
              <a:off x="2273473" y="3143707"/>
              <a:ext cx="1634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8,7</a:t>
              </a:r>
              <a:endParaRPr lang="en-US" sz="649" dirty="0"/>
            </a:p>
          </p:txBody>
        </p:sp>
        <p:sp>
          <p:nvSpPr>
            <p:cNvPr id="108" name="svg2_96"/>
            <p:cNvSpPr txBox="1"/>
            <p:nvPr/>
          </p:nvSpPr>
          <p:spPr>
            <a:xfrm>
              <a:off x="2269175" y="3826673"/>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109" name="svg2_97"/>
            <p:cNvSpPr/>
            <p:nvPr/>
          </p:nvSpPr>
          <p:spPr>
            <a:xfrm>
              <a:off x="444856" y="3330885"/>
              <a:ext cx="2081083" cy="0"/>
            </a:xfrm>
            <a:prstGeom prst="line">
              <a:avLst/>
            </a:prstGeom>
            <a:noFill/>
            <a:ln w="6858">
              <a:solidFill>
                <a:srgbClr val="8C8C8C"/>
              </a:solidFill>
              <a:prstDash val="solid"/>
            </a:ln>
          </p:spPr>
        </p:sp>
      </p:grpSp>
      <p:grpSp>
        <p:nvGrpSpPr>
          <p:cNvPr id="225" name="Fig. 35 – biểu đồ"/>
          <p:cNvGrpSpPr/>
          <p:nvPr/>
        </p:nvGrpSpPr>
        <p:grpSpPr>
          <a:xfrm>
            <a:off x="404073" y="4433468"/>
            <a:ext cx="2171700" cy="717347"/>
            <a:chOff x="404073" y="4433468"/>
            <a:chExt cx="2171700" cy="717347"/>
          </a:xfrm>
        </p:grpSpPr>
        <p:sp>
          <p:nvSpPr>
            <p:cNvPr id="110" name="svg3_98"/>
            <p:cNvSpPr/>
            <p:nvPr/>
          </p:nvSpPr>
          <p:spPr>
            <a:xfrm>
              <a:off x="786384" y="4464558"/>
              <a:ext cx="1523665" cy="569305"/>
            </a:xfrm>
            <a:prstGeom prst="rect">
              <a:avLst/>
            </a:prstGeom>
            <a:solidFill>
              <a:srgbClr val="F3F1F1"/>
            </a:solidFill>
            <a:ln/>
          </p:spPr>
        </p:sp>
        <p:sp>
          <p:nvSpPr>
            <p:cNvPr id="111" name="svg3_99"/>
            <p:cNvSpPr/>
            <p:nvPr/>
          </p:nvSpPr>
          <p:spPr>
            <a:xfrm>
              <a:off x="601858" y="5033863"/>
              <a:ext cx="1688531" cy="0"/>
            </a:xfrm>
            <a:prstGeom prst="line">
              <a:avLst/>
            </a:prstGeom>
            <a:noFill/>
            <a:ln w="4953">
              <a:solidFill>
                <a:srgbClr val="E4E4E4"/>
              </a:solidFill>
              <a:prstDash val="solid"/>
            </a:ln>
          </p:spPr>
        </p:sp>
        <p:sp>
          <p:nvSpPr>
            <p:cNvPr id="112" name="svg3_100"/>
            <p:cNvSpPr txBox="1"/>
            <p:nvPr/>
          </p:nvSpPr>
          <p:spPr>
            <a:xfrm>
              <a:off x="444764" y="4983206"/>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113" name="svg3_101"/>
            <p:cNvSpPr/>
            <p:nvPr/>
          </p:nvSpPr>
          <p:spPr>
            <a:xfrm>
              <a:off x="601858" y="4896429"/>
              <a:ext cx="1688531" cy="0"/>
            </a:xfrm>
            <a:prstGeom prst="line">
              <a:avLst/>
            </a:prstGeom>
            <a:noFill/>
            <a:ln w="4953">
              <a:solidFill>
                <a:srgbClr val="E4E4E4"/>
              </a:solidFill>
              <a:prstDash val="solid"/>
            </a:ln>
          </p:spPr>
        </p:sp>
        <p:sp>
          <p:nvSpPr>
            <p:cNvPr id="114" name="svg3_102"/>
            <p:cNvSpPr txBox="1"/>
            <p:nvPr/>
          </p:nvSpPr>
          <p:spPr>
            <a:xfrm>
              <a:off x="444764" y="4845771"/>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5%</a:t>
              </a:r>
              <a:endParaRPr lang="en-US" sz="557" dirty="0"/>
            </a:p>
          </p:txBody>
        </p:sp>
        <p:sp>
          <p:nvSpPr>
            <p:cNvPr id="115" name="svg3_103"/>
            <p:cNvSpPr/>
            <p:nvPr/>
          </p:nvSpPr>
          <p:spPr>
            <a:xfrm>
              <a:off x="601858" y="4758995"/>
              <a:ext cx="1688531" cy="0"/>
            </a:xfrm>
            <a:prstGeom prst="line">
              <a:avLst/>
            </a:prstGeom>
            <a:noFill/>
            <a:ln w="4953">
              <a:solidFill>
                <a:srgbClr val="E4E4E4"/>
              </a:solidFill>
              <a:prstDash val="solid"/>
            </a:ln>
          </p:spPr>
        </p:sp>
        <p:sp>
          <p:nvSpPr>
            <p:cNvPr id="116" name="svg3_104"/>
            <p:cNvSpPr txBox="1"/>
            <p:nvPr/>
          </p:nvSpPr>
          <p:spPr>
            <a:xfrm>
              <a:off x="404073" y="4708337"/>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10%</a:t>
              </a:r>
              <a:endParaRPr lang="en-US" sz="557" dirty="0"/>
            </a:p>
          </p:txBody>
        </p:sp>
        <p:sp>
          <p:nvSpPr>
            <p:cNvPr id="117" name="svg3_105"/>
            <p:cNvSpPr/>
            <p:nvPr/>
          </p:nvSpPr>
          <p:spPr>
            <a:xfrm>
              <a:off x="601858" y="4621652"/>
              <a:ext cx="1688531" cy="0"/>
            </a:xfrm>
            <a:prstGeom prst="line">
              <a:avLst/>
            </a:prstGeom>
            <a:noFill/>
            <a:ln w="4953">
              <a:solidFill>
                <a:srgbClr val="E4E4E4"/>
              </a:solidFill>
              <a:prstDash val="solid"/>
            </a:ln>
          </p:spPr>
        </p:sp>
        <p:sp>
          <p:nvSpPr>
            <p:cNvPr id="118" name="svg3_106"/>
            <p:cNvSpPr txBox="1"/>
            <p:nvPr/>
          </p:nvSpPr>
          <p:spPr>
            <a:xfrm>
              <a:off x="404073" y="4570903"/>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15%</a:t>
              </a:r>
              <a:endParaRPr lang="en-US" sz="557" dirty="0"/>
            </a:p>
          </p:txBody>
        </p:sp>
        <p:sp>
          <p:nvSpPr>
            <p:cNvPr id="119" name="svg3_107"/>
            <p:cNvSpPr/>
            <p:nvPr/>
          </p:nvSpPr>
          <p:spPr>
            <a:xfrm>
              <a:off x="601858" y="4484218"/>
              <a:ext cx="1688531" cy="0"/>
            </a:xfrm>
            <a:prstGeom prst="line">
              <a:avLst/>
            </a:prstGeom>
            <a:noFill/>
            <a:ln w="4953">
              <a:solidFill>
                <a:srgbClr val="E4E4E4"/>
              </a:solidFill>
              <a:prstDash val="solid"/>
            </a:ln>
          </p:spPr>
        </p:sp>
        <p:sp>
          <p:nvSpPr>
            <p:cNvPr id="120" name="svg3_108"/>
            <p:cNvSpPr txBox="1"/>
            <p:nvPr/>
          </p:nvSpPr>
          <p:spPr>
            <a:xfrm>
              <a:off x="404073" y="4433468"/>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121" name="svg3_109"/>
            <p:cNvSpPr txBox="1"/>
            <p:nvPr/>
          </p:nvSpPr>
          <p:spPr>
            <a:xfrm>
              <a:off x="534467" y="5046025"/>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25A</a:t>
              </a:r>
              <a:endParaRPr lang="en-US" sz="587" dirty="0"/>
            </a:p>
          </p:txBody>
        </p:sp>
        <p:sp>
          <p:nvSpPr>
            <p:cNvPr id="122" name="svg3_110"/>
            <p:cNvSpPr txBox="1"/>
            <p:nvPr/>
          </p:nvSpPr>
          <p:spPr>
            <a:xfrm>
              <a:off x="868314" y="5046025"/>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123" name="svg3_111"/>
            <p:cNvSpPr txBox="1"/>
            <p:nvPr/>
          </p:nvSpPr>
          <p:spPr>
            <a:xfrm>
              <a:off x="1198230" y="5046025"/>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124" name="svg3_112"/>
            <p:cNvSpPr txBox="1"/>
            <p:nvPr/>
          </p:nvSpPr>
          <p:spPr>
            <a:xfrm>
              <a:off x="1527962" y="5046025"/>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125" name="svg3_113"/>
            <p:cNvSpPr txBox="1"/>
            <p:nvPr/>
          </p:nvSpPr>
          <p:spPr>
            <a:xfrm>
              <a:off x="1857786" y="5046025"/>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126" name="svg3_114"/>
            <p:cNvSpPr txBox="1"/>
            <p:nvPr/>
          </p:nvSpPr>
          <p:spPr>
            <a:xfrm>
              <a:off x="2187611" y="5046025"/>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127" name="svg3_115"/>
            <p:cNvSpPr/>
            <p:nvPr/>
          </p:nvSpPr>
          <p:spPr>
            <a:xfrm>
              <a:off x="621518" y="4575109"/>
              <a:ext cx="1649212" cy="319217"/>
            </a:xfrm>
            <a:custGeom>
              <a:avLst/>
              <a:gdLst/>
              <a:ahLst/>
              <a:cxnLst/>
              <a:rect l="l" t="t" r="r" b="b"/>
              <a:pathLst>
                <a:path w="1649212" h="319217">
                  <a:moveTo>
                    <a:pt x="0" y="108448"/>
                  </a:moveTo>
                  <a:lnTo>
                    <a:pt x="329824" y="0"/>
                  </a:lnTo>
                  <a:lnTo>
                    <a:pt x="659740" y="239116"/>
                  </a:lnTo>
                  <a:lnTo>
                    <a:pt x="989564" y="319217"/>
                  </a:lnTo>
                  <a:lnTo>
                    <a:pt x="1319388" y="172090"/>
                  </a:lnTo>
                  <a:lnTo>
                    <a:pt x="1649212" y="77175"/>
                  </a:lnTo>
                </a:path>
              </a:pathLst>
            </a:custGeom>
            <a:noFill/>
            <a:ln w="15748">
              <a:solidFill>
                <a:srgbClr val="7B1E2B"/>
              </a:solidFill>
              <a:prstDash val="solid"/>
            </a:ln>
          </p:spPr>
        </p:sp>
        <p:sp>
          <p:nvSpPr>
            <p:cNvPr id="128" name="svg3_116"/>
            <p:cNvSpPr/>
            <p:nvPr/>
          </p:nvSpPr>
          <p:spPr>
            <a:xfrm>
              <a:off x="600944" y="4663074"/>
              <a:ext cx="41239" cy="41239"/>
            </a:xfrm>
            <a:prstGeom prst="ellipse">
              <a:avLst/>
            </a:prstGeom>
            <a:solidFill>
              <a:srgbClr val="7B1E2B"/>
            </a:solidFill>
            <a:ln w="7874">
              <a:solidFill>
                <a:srgbClr val="FFFFFF"/>
              </a:solidFill>
              <a:prstDash val="solid"/>
            </a:ln>
          </p:spPr>
        </p:sp>
        <p:sp>
          <p:nvSpPr>
            <p:cNvPr id="129" name="svg3_117"/>
            <p:cNvSpPr/>
            <p:nvPr/>
          </p:nvSpPr>
          <p:spPr>
            <a:xfrm>
              <a:off x="930768" y="4554535"/>
              <a:ext cx="41239" cy="41239"/>
            </a:xfrm>
            <a:prstGeom prst="ellipse">
              <a:avLst/>
            </a:prstGeom>
            <a:solidFill>
              <a:srgbClr val="7B1E2B"/>
            </a:solidFill>
            <a:ln w="7874">
              <a:solidFill>
                <a:srgbClr val="FFFFFF"/>
              </a:solidFill>
              <a:prstDash val="solid"/>
            </a:ln>
          </p:spPr>
        </p:sp>
        <p:sp>
          <p:nvSpPr>
            <p:cNvPr id="130" name="svg3_118"/>
            <p:cNvSpPr/>
            <p:nvPr/>
          </p:nvSpPr>
          <p:spPr>
            <a:xfrm>
              <a:off x="1260592" y="4793651"/>
              <a:ext cx="41239" cy="41239"/>
            </a:xfrm>
            <a:prstGeom prst="ellipse">
              <a:avLst/>
            </a:prstGeom>
            <a:solidFill>
              <a:srgbClr val="7B1E2B"/>
            </a:solidFill>
            <a:ln w="7874">
              <a:solidFill>
                <a:srgbClr val="FFFFFF"/>
              </a:solidFill>
              <a:prstDash val="solid"/>
            </a:ln>
          </p:spPr>
        </p:sp>
        <p:sp>
          <p:nvSpPr>
            <p:cNvPr id="131" name="svg3_119"/>
            <p:cNvSpPr/>
            <p:nvPr/>
          </p:nvSpPr>
          <p:spPr>
            <a:xfrm>
              <a:off x="1590507" y="4873752"/>
              <a:ext cx="41239" cy="41239"/>
            </a:xfrm>
            <a:prstGeom prst="ellipse">
              <a:avLst/>
            </a:prstGeom>
            <a:solidFill>
              <a:srgbClr val="7B1E2B"/>
            </a:solidFill>
            <a:ln w="7874">
              <a:solidFill>
                <a:srgbClr val="FFFFFF"/>
              </a:solidFill>
              <a:prstDash val="solid"/>
            </a:ln>
          </p:spPr>
        </p:sp>
        <p:sp>
          <p:nvSpPr>
            <p:cNvPr id="132" name="svg3_120"/>
            <p:cNvSpPr/>
            <p:nvPr/>
          </p:nvSpPr>
          <p:spPr>
            <a:xfrm>
              <a:off x="1920331" y="4726716"/>
              <a:ext cx="41239" cy="41239"/>
            </a:xfrm>
            <a:prstGeom prst="ellipse">
              <a:avLst/>
            </a:prstGeom>
            <a:solidFill>
              <a:srgbClr val="7B1E2B"/>
            </a:solidFill>
            <a:ln w="7874">
              <a:solidFill>
                <a:srgbClr val="FFFFFF"/>
              </a:solidFill>
              <a:prstDash val="solid"/>
            </a:ln>
          </p:spPr>
        </p:sp>
        <p:sp>
          <p:nvSpPr>
            <p:cNvPr id="133" name="svg3_121"/>
            <p:cNvSpPr/>
            <p:nvPr/>
          </p:nvSpPr>
          <p:spPr>
            <a:xfrm>
              <a:off x="2250156" y="4631710"/>
              <a:ext cx="41239" cy="41239"/>
            </a:xfrm>
            <a:prstGeom prst="ellipse">
              <a:avLst/>
            </a:prstGeom>
            <a:solidFill>
              <a:srgbClr val="7B1E2B"/>
            </a:solidFill>
            <a:ln w="7874">
              <a:solidFill>
                <a:srgbClr val="FFFFFF"/>
              </a:solidFill>
              <a:prstDash val="solid"/>
            </a:ln>
          </p:spPr>
        </p:sp>
        <p:sp>
          <p:nvSpPr>
            <p:cNvPr id="134" name="svg3_122"/>
            <p:cNvSpPr txBox="1"/>
            <p:nvPr/>
          </p:nvSpPr>
          <p:spPr>
            <a:xfrm>
              <a:off x="858530" y="4459986"/>
              <a:ext cx="189464"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17%</a:t>
              </a:r>
              <a:endParaRPr lang="en-US" sz="587" dirty="0"/>
            </a:p>
          </p:txBody>
        </p:sp>
        <p:sp>
          <p:nvSpPr>
            <p:cNvPr id="135" name="svg3_123"/>
            <p:cNvSpPr txBox="1"/>
            <p:nvPr/>
          </p:nvSpPr>
          <p:spPr>
            <a:xfrm>
              <a:off x="1539758" y="4911608"/>
              <a:ext cx="146395"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5%</a:t>
              </a:r>
              <a:endParaRPr lang="en-US" sz="587" dirty="0"/>
            </a:p>
          </p:txBody>
        </p:sp>
        <p:sp>
          <p:nvSpPr>
            <p:cNvPr id="136" name="svg3_124"/>
            <p:cNvSpPr txBox="1"/>
            <p:nvPr/>
          </p:nvSpPr>
          <p:spPr>
            <a:xfrm>
              <a:off x="2099828" y="4536521"/>
              <a:ext cx="18946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14%</a:t>
              </a:r>
              <a:endParaRPr lang="en-US" sz="587" dirty="0"/>
            </a:p>
          </p:txBody>
        </p:sp>
        <p:sp>
          <p:nvSpPr>
            <p:cNvPr id="137" name="svg3_125"/>
            <p:cNvSpPr/>
            <p:nvPr/>
          </p:nvSpPr>
          <p:spPr>
            <a:xfrm>
              <a:off x="621518" y="4653656"/>
              <a:ext cx="1649212" cy="4755"/>
            </a:xfrm>
            <a:custGeom>
              <a:avLst/>
              <a:gdLst/>
              <a:ahLst/>
              <a:cxnLst/>
              <a:rect l="l" t="t" r="r" b="b"/>
              <a:pathLst>
                <a:path w="1649212" h="4755">
                  <a:moveTo>
                    <a:pt x="0" y="0"/>
                  </a:moveTo>
                  <a:lnTo>
                    <a:pt x="329824" y="0"/>
                  </a:lnTo>
                  <a:lnTo>
                    <a:pt x="659740" y="0"/>
                  </a:lnTo>
                  <a:lnTo>
                    <a:pt x="989564" y="0"/>
                  </a:lnTo>
                  <a:lnTo>
                    <a:pt x="1319388" y="0"/>
                  </a:lnTo>
                  <a:lnTo>
                    <a:pt x="1649212" y="0"/>
                  </a:lnTo>
                </a:path>
              </a:pathLst>
            </a:custGeom>
            <a:noFill/>
            <a:ln w="8890">
              <a:solidFill>
                <a:srgbClr val="404040"/>
              </a:solidFill>
              <a:prstDash val="dash"/>
            </a:ln>
          </p:spPr>
        </p:sp>
        <p:sp>
          <p:nvSpPr>
            <p:cNvPr id="138" name="svg3_126"/>
            <p:cNvSpPr txBox="1"/>
            <p:nvPr/>
          </p:nvSpPr>
          <p:spPr>
            <a:xfrm>
              <a:off x="2314895" y="4603364"/>
              <a:ext cx="219547" cy="104790"/>
            </a:xfrm>
            <a:prstGeom prst="rect">
              <a:avLst/>
            </a:prstGeom>
            <a:noFill/>
            <a:ln/>
          </p:spPr>
          <p:txBody>
            <a:bodyPr wrap="none" lIns="0" tIns="0" rIns="0" bIns="0" rtlCol="0" anchor="ctr"/>
            <a:lstStyle/>
            <a:p>
              <a:pPr algn="l" indent="0" marL="0">
                <a:buNone/>
              </a:pPr>
              <a:r>
                <a:rPr lang="en-US" sz="587" b="1" dirty="0">
                  <a:solidFill>
                    <a:srgbClr val="7B1E2B"/>
                  </a:solidFill>
                  <a:latin typeface="Calibri" pitchFamily="34" charset="0"/>
                  <a:ea typeface="Calibri" pitchFamily="34" charset="-122"/>
                  <a:cs typeface="Calibri" pitchFamily="34" charset="-120"/>
                </a:rPr>
                <a:t>ROIC</a:t>
              </a:r>
              <a:endParaRPr lang="en-US" sz="587" dirty="0"/>
            </a:p>
          </p:txBody>
        </p:sp>
        <p:sp>
          <p:nvSpPr>
            <p:cNvPr id="139" name="svg3_127"/>
            <p:cNvSpPr txBox="1"/>
            <p:nvPr/>
          </p:nvSpPr>
          <p:spPr>
            <a:xfrm>
              <a:off x="2314895" y="4681819"/>
              <a:ext cx="260878" cy="104790"/>
            </a:xfrm>
            <a:prstGeom prst="rect">
              <a:avLst/>
            </a:prstGeom>
            <a:noFill/>
            <a:ln/>
          </p:spPr>
          <p:txBody>
            <a:bodyPr wrap="none" lIns="0" tIns="0" rIns="0" bIns="0" rtlCol="0" anchor="ctr"/>
            <a:lstStyle/>
            <a:p>
              <a:pPr algn="l" indent="0" marL="0">
                <a:buNone/>
              </a:pPr>
              <a:r>
                <a:rPr lang="en-US" sz="587" b="1" dirty="0">
                  <a:solidFill>
                    <a:srgbClr val="404040"/>
                  </a:solidFill>
                  <a:latin typeface="Calibri" pitchFamily="34" charset="0"/>
                  <a:ea typeface="Calibri" pitchFamily="34" charset="-122"/>
                  <a:cs typeface="Calibri" pitchFamily="34" charset="-120"/>
                </a:rPr>
                <a:t>WACC</a:t>
              </a:r>
              <a:endParaRPr lang="en-US" sz="587" dirty="0"/>
            </a:p>
          </p:txBody>
        </p:sp>
      </p:grpSp>
      <p:grpSp>
        <p:nvGrpSpPr>
          <p:cNvPr id="226" name="Fig. 35 – biểu đồ"/>
          <p:cNvGrpSpPr/>
          <p:nvPr/>
        </p:nvGrpSpPr>
        <p:grpSpPr>
          <a:xfrm>
            <a:off x="406451" y="5291358"/>
            <a:ext cx="1961662" cy="553487"/>
            <a:chOff x="406451" y="5291358"/>
            <a:chExt cx="1961662" cy="553487"/>
          </a:xfrm>
        </p:grpSpPr>
        <p:sp>
          <p:nvSpPr>
            <p:cNvPr id="140" name="svg4_128"/>
            <p:cNvSpPr/>
            <p:nvPr/>
          </p:nvSpPr>
          <p:spPr>
            <a:xfrm>
              <a:off x="786384" y="5335158"/>
              <a:ext cx="1523756" cy="392735"/>
            </a:xfrm>
            <a:prstGeom prst="rect">
              <a:avLst/>
            </a:prstGeom>
            <a:solidFill>
              <a:srgbClr val="F3F1F1"/>
            </a:solidFill>
            <a:ln/>
          </p:spPr>
        </p:sp>
        <p:sp>
          <p:nvSpPr>
            <p:cNvPr id="141" name="svg4_129"/>
            <p:cNvSpPr/>
            <p:nvPr/>
          </p:nvSpPr>
          <p:spPr>
            <a:xfrm>
              <a:off x="601767" y="5653278"/>
              <a:ext cx="1688622" cy="0"/>
            </a:xfrm>
            <a:prstGeom prst="line">
              <a:avLst/>
            </a:prstGeom>
            <a:noFill/>
            <a:ln w="4953">
              <a:solidFill>
                <a:srgbClr val="E4E4E4"/>
              </a:solidFill>
              <a:prstDash val="solid"/>
            </a:ln>
          </p:spPr>
        </p:sp>
        <p:sp>
          <p:nvSpPr>
            <p:cNvPr id="142" name="svg4_130"/>
            <p:cNvSpPr txBox="1"/>
            <p:nvPr/>
          </p:nvSpPr>
          <p:spPr>
            <a:xfrm>
              <a:off x="406451" y="5602620"/>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1,0x</a:t>
              </a:r>
              <a:endParaRPr lang="en-US" sz="557" dirty="0"/>
            </a:p>
          </p:txBody>
        </p:sp>
        <p:sp>
          <p:nvSpPr>
            <p:cNvPr id="143" name="svg4_131"/>
            <p:cNvSpPr/>
            <p:nvPr/>
          </p:nvSpPr>
          <p:spPr>
            <a:xfrm>
              <a:off x="601767" y="5466649"/>
              <a:ext cx="1688622" cy="0"/>
            </a:xfrm>
            <a:prstGeom prst="line">
              <a:avLst/>
            </a:prstGeom>
            <a:noFill/>
            <a:ln w="4953">
              <a:solidFill>
                <a:srgbClr val="E4E4E4"/>
              </a:solidFill>
              <a:prstDash val="solid"/>
            </a:ln>
          </p:spPr>
        </p:sp>
        <p:sp>
          <p:nvSpPr>
            <p:cNvPr id="144" name="svg4_132"/>
            <p:cNvSpPr txBox="1"/>
            <p:nvPr/>
          </p:nvSpPr>
          <p:spPr>
            <a:xfrm>
              <a:off x="406451" y="5415991"/>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1,5x</a:t>
              </a:r>
              <a:endParaRPr lang="en-US" sz="557" dirty="0"/>
            </a:p>
          </p:txBody>
        </p:sp>
        <p:sp>
          <p:nvSpPr>
            <p:cNvPr id="145" name="svg4_133"/>
            <p:cNvSpPr txBox="1"/>
            <p:nvPr/>
          </p:nvSpPr>
          <p:spPr>
            <a:xfrm>
              <a:off x="534375" y="5740055"/>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25A</a:t>
              </a:r>
              <a:endParaRPr lang="en-US" sz="588" dirty="0"/>
            </a:p>
          </p:txBody>
        </p:sp>
        <p:sp>
          <p:nvSpPr>
            <p:cNvPr id="146" name="svg4_134"/>
            <p:cNvSpPr txBox="1"/>
            <p:nvPr/>
          </p:nvSpPr>
          <p:spPr>
            <a:xfrm>
              <a:off x="868223" y="574005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26E</a:t>
              </a:r>
              <a:endParaRPr lang="en-US" sz="588" dirty="0"/>
            </a:p>
          </p:txBody>
        </p:sp>
        <p:sp>
          <p:nvSpPr>
            <p:cNvPr id="147" name="svg4_135"/>
            <p:cNvSpPr txBox="1"/>
            <p:nvPr/>
          </p:nvSpPr>
          <p:spPr>
            <a:xfrm>
              <a:off x="1198138" y="574005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27E</a:t>
              </a:r>
              <a:endParaRPr lang="en-US" sz="588" dirty="0"/>
            </a:p>
          </p:txBody>
        </p:sp>
        <p:sp>
          <p:nvSpPr>
            <p:cNvPr id="148" name="svg4_136"/>
            <p:cNvSpPr txBox="1"/>
            <p:nvPr/>
          </p:nvSpPr>
          <p:spPr>
            <a:xfrm>
              <a:off x="1528054" y="574005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28E</a:t>
              </a:r>
              <a:endParaRPr lang="en-US" sz="588" dirty="0"/>
            </a:p>
          </p:txBody>
        </p:sp>
        <p:sp>
          <p:nvSpPr>
            <p:cNvPr id="149" name="svg4_137"/>
            <p:cNvSpPr txBox="1"/>
            <p:nvPr/>
          </p:nvSpPr>
          <p:spPr>
            <a:xfrm>
              <a:off x="1857878" y="574005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29E</a:t>
              </a:r>
              <a:endParaRPr lang="en-US" sz="588" dirty="0"/>
            </a:p>
          </p:txBody>
        </p:sp>
        <p:sp>
          <p:nvSpPr>
            <p:cNvPr id="150" name="svg4_138"/>
            <p:cNvSpPr txBox="1"/>
            <p:nvPr/>
          </p:nvSpPr>
          <p:spPr>
            <a:xfrm>
              <a:off x="2187702" y="5740055"/>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30E</a:t>
              </a:r>
              <a:endParaRPr lang="en-US" sz="588" dirty="0"/>
            </a:p>
          </p:txBody>
        </p:sp>
        <p:sp>
          <p:nvSpPr>
            <p:cNvPr id="151" name="svg4_139"/>
            <p:cNvSpPr/>
            <p:nvPr/>
          </p:nvSpPr>
          <p:spPr>
            <a:xfrm>
              <a:off x="621426" y="5393771"/>
              <a:ext cx="1649395" cy="230246"/>
            </a:xfrm>
            <a:custGeom>
              <a:avLst/>
              <a:gdLst/>
              <a:ahLst/>
              <a:cxnLst/>
              <a:rect l="l" t="t" r="r" b="b"/>
              <a:pathLst>
                <a:path w="1649395" h="230246">
                  <a:moveTo>
                    <a:pt x="0" y="13259"/>
                  </a:moveTo>
                  <a:lnTo>
                    <a:pt x="329824" y="0"/>
                  </a:lnTo>
                  <a:lnTo>
                    <a:pt x="659831" y="206472"/>
                  </a:lnTo>
                  <a:lnTo>
                    <a:pt x="989655" y="230246"/>
                  </a:lnTo>
                  <a:lnTo>
                    <a:pt x="1319479" y="177394"/>
                  </a:lnTo>
                  <a:lnTo>
                    <a:pt x="1649395" y="149962"/>
                  </a:lnTo>
                </a:path>
              </a:pathLst>
            </a:custGeom>
            <a:noFill/>
            <a:ln w="15748">
              <a:solidFill>
                <a:srgbClr val="404040"/>
              </a:solidFill>
              <a:prstDash val="solid"/>
            </a:ln>
          </p:spPr>
        </p:sp>
        <p:sp>
          <p:nvSpPr>
            <p:cNvPr id="152" name="svg4_140"/>
            <p:cNvSpPr/>
            <p:nvPr/>
          </p:nvSpPr>
          <p:spPr>
            <a:xfrm>
              <a:off x="600852" y="5386456"/>
              <a:ext cx="41239" cy="41239"/>
            </a:xfrm>
            <a:prstGeom prst="ellipse">
              <a:avLst/>
            </a:prstGeom>
            <a:solidFill>
              <a:srgbClr val="404040"/>
            </a:solidFill>
            <a:ln w="7874">
              <a:solidFill>
                <a:srgbClr val="FFFFFF"/>
              </a:solidFill>
              <a:prstDash val="solid"/>
            </a:ln>
          </p:spPr>
        </p:sp>
        <p:sp>
          <p:nvSpPr>
            <p:cNvPr id="153" name="svg4_141"/>
            <p:cNvSpPr/>
            <p:nvPr/>
          </p:nvSpPr>
          <p:spPr>
            <a:xfrm>
              <a:off x="930676" y="5373197"/>
              <a:ext cx="41239" cy="41239"/>
            </a:xfrm>
            <a:prstGeom prst="ellipse">
              <a:avLst/>
            </a:prstGeom>
            <a:solidFill>
              <a:srgbClr val="404040"/>
            </a:solidFill>
            <a:ln w="7874">
              <a:solidFill>
                <a:srgbClr val="FFFFFF"/>
              </a:solidFill>
              <a:prstDash val="solid"/>
            </a:ln>
          </p:spPr>
        </p:sp>
        <p:sp>
          <p:nvSpPr>
            <p:cNvPr id="154" name="svg4_142"/>
            <p:cNvSpPr/>
            <p:nvPr/>
          </p:nvSpPr>
          <p:spPr>
            <a:xfrm>
              <a:off x="1260592" y="5579760"/>
              <a:ext cx="41239" cy="41239"/>
            </a:xfrm>
            <a:prstGeom prst="ellipse">
              <a:avLst/>
            </a:prstGeom>
            <a:solidFill>
              <a:srgbClr val="404040"/>
            </a:solidFill>
            <a:ln w="7874">
              <a:solidFill>
                <a:srgbClr val="FFFFFF"/>
              </a:solidFill>
              <a:prstDash val="solid"/>
            </a:ln>
          </p:spPr>
        </p:sp>
        <p:sp>
          <p:nvSpPr>
            <p:cNvPr id="155" name="svg4_143"/>
            <p:cNvSpPr/>
            <p:nvPr/>
          </p:nvSpPr>
          <p:spPr>
            <a:xfrm>
              <a:off x="1590507" y="5603443"/>
              <a:ext cx="41239" cy="41239"/>
            </a:xfrm>
            <a:prstGeom prst="ellipse">
              <a:avLst/>
            </a:prstGeom>
            <a:solidFill>
              <a:srgbClr val="404040"/>
            </a:solidFill>
            <a:ln w="7874">
              <a:solidFill>
                <a:srgbClr val="FFFFFF"/>
              </a:solidFill>
              <a:prstDash val="solid"/>
            </a:ln>
          </p:spPr>
        </p:sp>
        <p:sp>
          <p:nvSpPr>
            <p:cNvPr id="156" name="svg4_144"/>
            <p:cNvSpPr/>
            <p:nvPr/>
          </p:nvSpPr>
          <p:spPr>
            <a:xfrm>
              <a:off x="1920331" y="5550591"/>
              <a:ext cx="41239" cy="41239"/>
            </a:xfrm>
            <a:prstGeom prst="ellipse">
              <a:avLst/>
            </a:prstGeom>
            <a:solidFill>
              <a:srgbClr val="404040"/>
            </a:solidFill>
            <a:ln w="7874">
              <a:solidFill>
                <a:srgbClr val="FFFFFF"/>
              </a:solidFill>
              <a:prstDash val="solid"/>
            </a:ln>
          </p:spPr>
        </p:sp>
        <p:sp>
          <p:nvSpPr>
            <p:cNvPr id="157" name="svg4_145"/>
            <p:cNvSpPr/>
            <p:nvPr/>
          </p:nvSpPr>
          <p:spPr>
            <a:xfrm>
              <a:off x="2250156" y="5523159"/>
              <a:ext cx="41239" cy="41239"/>
            </a:xfrm>
            <a:prstGeom prst="ellipse">
              <a:avLst/>
            </a:prstGeom>
            <a:solidFill>
              <a:srgbClr val="404040"/>
            </a:solidFill>
            <a:ln w="7874">
              <a:solidFill>
                <a:srgbClr val="FFFFFF"/>
              </a:solidFill>
              <a:prstDash val="solid"/>
            </a:ln>
          </p:spPr>
        </p:sp>
        <p:sp>
          <p:nvSpPr>
            <p:cNvPr id="158" name="svg4_146"/>
            <p:cNvSpPr txBox="1"/>
            <p:nvPr/>
          </p:nvSpPr>
          <p:spPr>
            <a:xfrm>
              <a:off x="606704" y="5291358"/>
              <a:ext cx="188915" cy="104790"/>
            </a:xfrm>
            <a:prstGeom prst="rect">
              <a:avLst/>
            </a:prstGeom>
            <a:no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1,7x</a:t>
              </a:r>
              <a:endParaRPr lang="en-US" sz="588" dirty="0"/>
            </a:p>
          </p:txBody>
        </p:sp>
        <p:sp>
          <p:nvSpPr>
            <p:cNvPr id="159" name="svg4_147"/>
            <p:cNvSpPr txBox="1"/>
            <p:nvPr/>
          </p:nvSpPr>
          <p:spPr>
            <a:xfrm>
              <a:off x="1519458" y="5640934"/>
              <a:ext cx="188915"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1,1x</a:t>
              </a:r>
              <a:endParaRPr lang="en-US" sz="588" dirty="0"/>
            </a:p>
          </p:txBody>
        </p:sp>
        <p:sp>
          <p:nvSpPr>
            <p:cNvPr id="160" name="svg4_148"/>
            <p:cNvSpPr txBox="1"/>
            <p:nvPr/>
          </p:nvSpPr>
          <p:spPr>
            <a:xfrm>
              <a:off x="2179198" y="5427787"/>
              <a:ext cx="188915"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1,3x</a:t>
              </a:r>
              <a:endParaRPr lang="en-US" sz="588" dirty="0"/>
            </a:p>
          </p:txBody>
        </p:sp>
      </p:grpSp>
      <p:grpSp>
        <p:nvGrpSpPr>
          <p:cNvPr id="227" name="Fig. 36 – biểu đồ"/>
          <p:cNvGrpSpPr/>
          <p:nvPr/>
        </p:nvGrpSpPr>
        <p:grpSpPr>
          <a:xfrm>
            <a:off x="402519" y="6348039"/>
            <a:ext cx="2253081" cy="952896"/>
            <a:chOff x="402519" y="6348039"/>
            <a:chExt cx="2253081" cy="952896"/>
          </a:xfrm>
        </p:grpSpPr>
        <p:sp>
          <p:nvSpPr>
            <p:cNvPr id="161" name="svg5_149"/>
            <p:cNvSpPr/>
            <p:nvPr/>
          </p:nvSpPr>
          <p:spPr>
            <a:xfrm>
              <a:off x="582290" y="7184075"/>
              <a:ext cx="1511686" cy="0"/>
            </a:xfrm>
            <a:prstGeom prst="line">
              <a:avLst/>
            </a:prstGeom>
            <a:noFill/>
            <a:ln w="4953">
              <a:solidFill>
                <a:srgbClr val="E4E4E4"/>
              </a:solidFill>
              <a:prstDash val="solid"/>
            </a:ln>
          </p:spPr>
        </p:sp>
        <p:sp>
          <p:nvSpPr>
            <p:cNvPr id="162" name="svg5_150"/>
            <p:cNvSpPr txBox="1"/>
            <p:nvPr/>
          </p:nvSpPr>
          <p:spPr>
            <a:xfrm>
              <a:off x="402519" y="7133326"/>
              <a:ext cx="162306"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−40</a:t>
              </a:r>
              <a:endParaRPr lang="en-US" sz="557" dirty="0"/>
            </a:p>
          </p:txBody>
        </p:sp>
        <p:sp>
          <p:nvSpPr>
            <p:cNvPr id="163" name="svg5_151"/>
            <p:cNvSpPr/>
            <p:nvPr/>
          </p:nvSpPr>
          <p:spPr>
            <a:xfrm>
              <a:off x="582290" y="6987662"/>
              <a:ext cx="1511686" cy="0"/>
            </a:xfrm>
            <a:prstGeom prst="line">
              <a:avLst/>
            </a:prstGeom>
            <a:noFill/>
            <a:ln w="4953">
              <a:solidFill>
                <a:srgbClr val="E4E4E4"/>
              </a:solidFill>
              <a:prstDash val="solid"/>
            </a:ln>
          </p:spPr>
        </p:sp>
        <p:sp>
          <p:nvSpPr>
            <p:cNvPr id="164" name="svg5_152"/>
            <p:cNvSpPr txBox="1"/>
            <p:nvPr/>
          </p:nvSpPr>
          <p:spPr>
            <a:xfrm>
              <a:off x="402519" y="6937004"/>
              <a:ext cx="162306"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165" name="svg5_153"/>
            <p:cNvSpPr/>
            <p:nvPr/>
          </p:nvSpPr>
          <p:spPr>
            <a:xfrm>
              <a:off x="582290" y="6791340"/>
              <a:ext cx="1511686" cy="0"/>
            </a:xfrm>
            <a:prstGeom prst="line">
              <a:avLst/>
            </a:prstGeom>
            <a:noFill/>
            <a:ln w="4953">
              <a:solidFill>
                <a:srgbClr val="E4E4E4"/>
              </a:solidFill>
              <a:prstDash val="solid"/>
            </a:ln>
          </p:spPr>
        </p:sp>
        <p:sp>
          <p:nvSpPr>
            <p:cNvPr id="166" name="svg5_154"/>
            <p:cNvSpPr txBox="1"/>
            <p:nvPr/>
          </p:nvSpPr>
          <p:spPr>
            <a:xfrm>
              <a:off x="483260" y="6740682"/>
              <a:ext cx="8156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167" name="svg5_155"/>
            <p:cNvSpPr/>
            <p:nvPr/>
          </p:nvSpPr>
          <p:spPr>
            <a:xfrm>
              <a:off x="582290" y="6595019"/>
              <a:ext cx="1511686" cy="0"/>
            </a:xfrm>
            <a:prstGeom prst="line">
              <a:avLst/>
            </a:prstGeom>
            <a:noFill/>
            <a:ln w="4953">
              <a:solidFill>
                <a:srgbClr val="E4E4E4"/>
              </a:solidFill>
              <a:prstDash val="solid"/>
            </a:ln>
          </p:spPr>
        </p:sp>
        <p:sp>
          <p:nvSpPr>
            <p:cNvPr id="168" name="svg5_156"/>
            <p:cNvSpPr txBox="1"/>
            <p:nvPr/>
          </p:nvSpPr>
          <p:spPr>
            <a:xfrm>
              <a:off x="442570" y="6544361"/>
              <a:ext cx="122255"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169" name="svg5_157"/>
            <p:cNvSpPr/>
            <p:nvPr/>
          </p:nvSpPr>
          <p:spPr>
            <a:xfrm>
              <a:off x="582290" y="6398697"/>
              <a:ext cx="1511686" cy="0"/>
            </a:xfrm>
            <a:prstGeom prst="line">
              <a:avLst/>
            </a:prstGeom>
            <a:noFill/>
            <a:ln w="4953">
              <a:solidFill>
                <a:srgbClr val="E4E4E4"/>
              </a:solidFill>
              <a:prstDash val="solid"/>
            </a:ln>
          </p:spPr>
        </p:sp>
        <p:sp>
          <p:nvSpPr>
            <p:cNvPr id="170" name="svg5_158"/>
            <p:cNvSpPr txBox="1"/>
            <p:nvPr/>
          </p:nvSpPr>
          <p:spPr>
            <a:xfrm>
              <a:off x="442570" y="6348039"/>
              <a:ext cx="122255"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40</a:t>
              </a:r>
              <a:endParaRPr lang="en-US" sz="557" dirty="0"/>
            </a:p>
          </p:txBody>
        </p:sp>
        <p:sp>
          <p:nvSpPr>
            <p:cNvPr id="171" name="svg5_159"/>
            <p:cNvSpPr/>
            <p:nvPr/>
          </p:nvSpPr>
          <p:spPr>
            <a:xfrm>
              <a:off x="582290" y="6791340"/>
              <a:ext cx="1511686" cy="0"/>
            </a:xfrm>
            <a:prstGeom prst="line">
              <a:avLst/>
            </a:prstGeom>
            <a:noFill/>
            <a:ln w="6858">
              <a:solidFill>
                <a:srgbClr val="8C8C8C"/>
              </a:solidFill>
              <a:prstDash val="solid"/>
            </a:ln>
          </p:spPr>
        </p:sp>
        <p:sp>
          <p:nvSpPr>
            <p:cNvPr id="172" name="svg5_160"/>
            <p:cNvSpPr txBox="1"/>
            <p:nvPr/>
          </p:nvSpPr>
          <p:spPr>
            <a:xfrm>
              <a:off x="518831" y="7196145"/>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173" name="svg5_161"/>
            <p:cNvSpPr txBox="1"/>
            <p:nvPr/>
          </p:nvSpPr>
          <p:spPr>
            <a:xfrm>
              <a:off x="886877" y="7196145"/>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174" name="svg5_162"/>
            <p:cNvSpPr txBox="1"/>
            <p:nvPr/>
          </p:nvSpPr>
          <p:spPr>
            <a:xfrm>
              <a:off x="1255014" y="7196145"/>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175" name="svg5_163"/>
            <p:cNvSpPr txBox="1"/>
            <p:nvPr/>
          </p:nvSpPr>
          <p:spPr>
            <a:xfrm>
              <a:off x="1623151" y="7196145"/>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176" name="svg5_164"/>
            <p:cNvSpPr txBox="1"/>
            <p:nvPr/>
          </p:nvSpPr>
          <p:spPr>
            <a:xfrm>
              <a:off x="1991380" y="7196145"/>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177" name="svg5_165"/>
            <p:cNvSpPr/>
            <p:nvPr/>
          </p:nvSpPr>
          <p:spPr>
            <a:xfrm>
              <a:off x="601858" y="6442314"/>
              <a:ext cx="1472458" cy="237378"/>
            </a:xfrm>
            <a:custGeom>
              <a:avLst/>
              <a:gdLst/>
              <a:ahLst/>
              <a:cxnLst/>
              <a:rect l="l" t="t" r="r" b="b"/>
              <a:pathLst>
                <a:path w="1472458" h="237378">
                  <a:moveTo>
                    <a:pt x="0" y="0"/>
                  </a:moveTo>
                  <a:lnTo>
                    <a:pt x="368137" y="126827"/>
                  </a:lnTo>
                  <a:lnTo>
                    <a:pt x="736275" y="188732"/>
                  </a:lnTo>
                  <a:lnTo>
                    <a:pt x="1104321" y="237378"/>
                  </a:lnTo>
                  <a:lnTo>
                    <a:pt x="1472458" y="231800"/>
                  </a:lnTo>
                </a:path>
              </a:pathLst>
            </a:custGeom>
            <a:noFill/>
            <a:ln w="15748">
              <a:solidFill>
                <a:srgbClr val="7B1E2B"/>
              </a:solidFill>
              <a:prstDash val="solid"/>
            </a:ln>
          </p:spPr>
        </p:sp>
        <p:sp>
          <p:nvSpPr>
            <p:cNvPr id="178" name="svg5_166"/>
            <p:cNvSpPr/>
            <p:nvPr/>
          </p:nvSpPr>
          <p:spPr>
            <a:xfrm>
              <a:off x="581284" y="6421740"/>
              <a:ext cx="41239" cy="41239"/>
            </a:xfrm>
            <a:prstGeom prst="ellipse">
              <a:avLst/>
            </a:prstGeom>
            <a:solidFill>
              <a:srgbClr val="7B1E2B"/>
            </a:solidFill>
            <a:ln w="7874">
              <a:solidFill>
                <a:srgbClr val="FFFFFF"/>
              </a:solidFill>
              <a:prstDash val="solid"/>
            </a:ln>
          </p:spPr>
        </p:sp>
        <p:sp>
          <p:nvSpPr>
            <p:cNvPr id="179" name="svg5_167"/>
            <p:cNvSpPr/>
            <p:nvPr/>
          </p:nvSpPr>
          <p:spPr>
            <a:xfrm>
              <a:off x="949422" y="6548658"/>
              <a:ext cx="41239" cy="41239"/>
            </a:xfrm>
            <a:prstGeom prst="ellipse">
              <a:avLst/>
            </a:prstGeom>
            <a:solidFill>
              <a:srgbClr val="7B1E2B"/>
            </a:solidFill>
            <a:ln w="7874">
              <a:solidFill>
                <a:srgbClr val="FFFFFF"/>
              </a:solidFill>
              <a:prstDash val="solid"/>
            </a:ln>
          </p:spPr>
        </p:sp>
        <p:sp>
          <p:nvSpPr>
            <p:cNvPr id="180" name="svg5_168"/>
            <p:cNvSpPr/>
            <p:nvPr/>
          </p:nvSpPr>
          <p:spPr>
            <a:xfrm>
              <a:off x="1317559" y="6610472"/>
              <a:ext cx="41239" cy="41239"/>
            </a:xfrm>
            <a:prstGeom prst="ellipse">
              <a:avLst/>
            </a:prstGeom>
            <a:solidFill>
              <a:srgbClr val="7B1E2B"/>
            </a:solidFill>
            <a:ln w="7874">
              <a:solidFill>
                <a:srgbClr val="FFFFFF"/>
              </a:solidFill>
              <a:prstDash val="solid"/>
            </a:ln>
          </p:spPr>
        </p:sp>
        <p:sp>
          <p:nvSpPr>
            <p:cNvPr id="181" name="svg5_169"/>
            <p:cNvSpPr/>
            <p:nvPr/>
          </p:nvSpPr>
          <p:spPr>
            <a:xfrm>
              <a:off x="1685605" y="6659118"/>
              <a:ext cx="41239" cy="41239"/>
            </a:xfrm>
            <a:prstGeom prst="ellipse">
              <a:avLst/>
            </a:prstGeom>
            <a:solidFill>
              <a:srgbClr val="7B1E2B"/>
            </a:solidFill>
            <a:ln w="7874">
              <a:solidFill>
                <a:srgbClr val="FFFFFF"/>
              </a:solidFill>
              <a:prstDash val="solid"/>
            </a:ln>
          </p:spPr>
        </p:sp>
        <p:sp>
          <p:nvSpPr>
            <p:cNvPr id="182" name="svg5_170"/>
            <p:cNvSpPr/>
            <p:nvPr/>
          </p:nvSpPr>
          <p:spPr>
            <a:xfrm>
              <a:off x="2053742" y="6653632"/>
              <a:ext cx="41239" cy="41239"/>
            </a:xfrm>
            <a:prstGeom prst="ellipse">
              <a:avLst/>
            </a:prstGeom>
            <a:solidFill>
              <a:srgbClr val="7B1E2B"/>
            </a:solidFill>
            <a:ln w="7874">
              <a:solidFill>
                <a:srgbClr val="FFFFFF"/>
              </a:solidFill>
              <a:prstDash val="solid"/>
            </a:ln>
          </p:spPr>
        </p:sp>
        <p:sp>
          <p:nvSpPr>
            <p:cNvPr id="183" name="svg5_171"/>
            <p:cNvSpPr txBox="1"/>
            <p:nvPr/>
          </p:nvSpPr>
          <p:spPr>
            <a:xfrm>
              <a:off x="587136" y="6459962"/>
              <a:ext cx="124633"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36</a:t>
              </a:r>
              <a:endParaRPr lang="en-US" sz="587" dirty="0"/>
            </a:p>
          </p:txBody>
        </p:sp>
        <p:sp>
          <p:nvSpPr>
            <p:cNvPr id="184" name="svg5_172"/>
            <p:cNvSpPr txBox="1"/>
            <p:nvPr/>
          </p:nvSpPr>
          <p:spPr>
            <a:xfrm>
              <a:off x="1964771" y="6558991"/>
              <a:ext cx="12463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12</a:t>
              </a:r>
              <a:endParaRPr lang="en-US" sz="587" dirty="0"/>
            </a:p>
          </p:txBody>
        </p:sp>
        <p:sp>
          <p:nvSpPr>
            <p:cNvPr id="185" name="svg5_173"/>
            <p:cNvSpPr/>
            <p:nvPr/>
          </p:nvSpPr>
          <p:spPr>
            <a:xfrm>
              <a:off x="601858" y="6707673"/>
              <a:ext cx="1472458" cy="52395"/>
            </a:xfrm>
            <a:custGeom>
              <a:avLst/>
              <a:gdLst/>
              <a:ahLst/>
              <a:cxnLst/>
              <a:rect l="l" t="t" r="r" b="b"/>
              <a:pathLst>
                <a:path w="1472458" h="52395">
                  <a:moveTo>
                    <a:pt x="0" y="52395"/>
                  </a:moveTo>
                  <a:lnTo>
                    <a:pt x="368137" y="44440"/>
                  </a:lnTo>
                  <a:lnTo>
                    <a:pt x="736275" y="29444"/>
                  </a:lnTo>
                  <a:lnTo>
                    <a:pt x="1104321" y="14082"/>
                  </a:lnTo>
                  <a:lnTo>
                    <a:pt x="1472458" y="0"/>
                  </a:lnTo>
                </a:path>
              </a:pathLst>
            </a:custGeom>
            <a:noFill/>
            <a:ln w="8890">
              <a:solidFill>
                <a:srgbClr val="404040"/>
              </a:solidFill>
              <a:prstDash val="dash"/>
            </a:ln>
          </p:spPr>
        </p:sp>
        <p:sp>
          <p:nvSpPr>
            <p:cNvPr id="186" name="svg5_174"/>
            <p:cNvSpPr/>
            <p:nvPr/>
          </p:nvSpPr>
          <p:spPr>
            <a:xfrm>
              <a:off x="601858" y="6811548"/>
              <a:ext cx="1472458" cy="237378"/>
            </a:xfrm>
            <a:custGeom>
              <a:avLst/>
              <a:gdLst/>
              <a:ahLst/>
              <a:cxnLst/>
              <a:rect l="l" t="t" r="r" b="b"/>
              <a:pathLst>
                <a:path w="1472458" h="237378">
                  <a:moveTo>
                    <a:pt x="0" y="0"/>
                  </a:moveTo>
                  <a:lnTo>
                    <a:pt x="368137" y="126919"/>
                  </a:lnTo>
                  <a:lnTo>
                    <a:pt x="736275" y="188732"/>
                  </a:lnTo>
                  <a:lnTo>
                    <a:pt x="1104321" y="237378"/>
                  </a:lnTo>
                  <a:lnTo>
                    <a:pt x="1472458" y="231892"/>
                  </a:lnTo>
                </a:path>
              </a:pathLst>
            </a:custGeom>
            <a:noFill/>
            <a:ln w="15748">
              <a:solidFill>
                <a:srgbClr val="A3A3A3"/>
              </a:solidFill>
              <a:prstDash val="solid"/>
            </a:ln>
          </p:spPr>
        </p:sp>
        <p:sp>
          <p:nvSpPr>
            <p:cNvPr id="187" name="svg5_175"/>
            <p:cNvSpPr/>
            <p:nvPr/>
          </p:nvSpPr>
          <p:spPr>
            <a:xfrm>
              <a:off x="581284" y="6790974"/>
              <a:ext cx="41239" cy="41239"/>
            </a:xfrm>
            <a:prstGeom prst="ellipse">
              <a:avLst/>
            </a:prstGeom>
            <a:solidFill>
              <a:srgbClr val="A3A3A3"/>
            </a:solidFill>
            <a:ln w="7874">
              <a:solidFill>
                <a:srgbClr val="FFFFFF"/>
              </a:solidFill>
              <a:prstDash val="solid"/>
            </a:ln>
          </p:spPr>
        </p:sp>
        <p:sp>
          <p:nvSpPr>
            <p:cNvPr id="188" name="svg5_176"/>
            <p:cNvSpPr/>
            <p:nvPr/>
          </p:nvSpPr>
          <p:spPr>
            <a:xfrm>
              <a:off x="949422" y="6917802"/>
              <a:ext cx="41239" cy="41239"/>
            </a:xfrm>
            <a:prstGeom prst="ellipse">
              <a:avLst/>
            </a:prstGeom>
            <a:solidFill>
              <a:srgbClr val="A3A3A3"/>
            </a:solidFill>
            <a:ln w="7874">
              <a:solidFill>
                <a:srgbClr val="FFFFFF"/>
              </a:solidFill>
              <a:prstDash val="solid"/>
            </a:ln>
          </p:spPr>
        </p:sp>
        <p:sp>
          <p:nvSpPr>
            <p:cNvPr id="189" name="svg5_177"/>
            <p:cNvSpPr/>
            <p:nvPr/>
          </p:nvSpPr>
          <p:spPr>
            <a:xfrm>
              <a:off x="1317559" y="6979615"/>
              <a:ext cx="41239" cy="41239"/>
            </a:xfrm>
            <a:prstGeom prst="ellipse">
              <a:avLst/>
            </a:prstGeom>
            <a:solidFill>
              <a:srgbClr val="A3A3A3"/>
            </a:solidFill>
            <a:ln w="7874">
              <a:solidFill>
                <a:srgbClr val="FFFFFF"/>
              </a:solidFill>
              <a:prstDash val="solid"/>
            </a:ln>
          </p:spPr>
        </p:sp>
        <p:sp>
          <p:nvSpPr>
            <p:cNvPr id="190" name="svg5_178"/>
            <p:cNvSpPr/>
            <p:nvPr/>
          </p:nvSpPr>
          <p:spPr>
            <a:xfrm>
              <a:off x="1685605" y="7028353"/>
              <a:ext cx="41239" cy="41239"/>
            </a:xfrm>
            <a:prstGeom prst="ellipse">
              <a:avLst/>
            </a:prstGeom>
            <a:solidFill>
              <a:srgbClr val="A3A3A3"/>
            </a:solidFill>
            <a:ln w="7874">
              <a:solidFill>
                <a:srgbClr val="FFFFFF"/>
              </a:solidFill>
              <a:prstDash val="solid"/>
            </a:ln>
          </p:spPr>
        </p:sp>
        <p:sp>
          <p:nvSpPr>
            <p:cNvPr id="191" name="svg5_179"/>
            <p:cNvSpPr/>
            <p:nvPr/>
          </p:nvSpPr>
          <p:spPr>
            <a:xfrm>
              <a:off x="2053742" y="7022866"/>
              <a:ext cx="41239" cy="41239"/>
            </a:xfrm>
            <a:prstGeom prst="ellipse">
              <a:avLst/>
            </a:prstGeom>
            <a:solidFill>
              <a:srgbClr val="A3A3A3"/>
            </a:solidFill>
            <a:ln w="7874">
              <a:solidFill>
                <a:srgbClr val="FFFFFF"/>
              </a:solidFill>
              <a:prstDash val="solid"/>
            </a:ln>
          </p:spPr>
        </p:sp>
        <p:sp>
          <p:nvSpPr>
            <p:cNvPr id="192" name="svg5_180"/>
            <p:cNvSpPr txBox="1"/>
            <p:nvPr/>
          </p:nvSpPr>
          <p:spPr>
            <a:xfrm>
              <a:off x="587136" y="6829014"/>
              <a:ext cx="123901"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a:t>
              </a:r>
              <a:endParaRPr lang="en-US" sz="587" dirty="0"/>
            </a:p>
          </p:txBody>
        </p:sp>
        <p:sp>
          <p:nvSpPr>
            <p:cNvPr id="193" name="svg5_181"/>
            <p:cNvSpPr txBox="1"/>
            <p:nvPr/>
          </p:nvSpPr>
          <p:spPr>
            <a:xfrm>
              <a:off x="1622877" y="7065569"/>
              <a:ext cx="166969"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−26</a:t>
              </a:r>
              <a:endParaRPr lang="en-US" sz="587" dirty="0"/>
            </a:p>
          </p:txBody>
        </p:sp>
        <p:sp>
          <p:nvSpPr>
            <p:cNvPr id="194" name="svg5_182"/>
            <p:cNvSpPr txBox="1"/>
            <p:nvPr/>
          </p:nvSpPr>
          <p:spPr>
            <a:xfrm>
              <a:off x="2118573" y="6625742"/>
              <a:ext cx="441289" cy="104790"/>
            </a:xfrm>
            <a:prstGeom prst="rect">
              <a:avLst/>
            </a:prstGeom>
            <a:noFill/>
            <a:ln/>
          </p:spPr>
          <p:txBody>
            <a:bodyPr wrap="none" lIns="0" tIns="0" rIns="0" bIns="0" rtlCol="0" anchor="ctr"/>
            <a:lstStyle/>
            <a:p>
              <a:pPr algn="l" indent="0" marL="0">
                <a:buNone/>
              </a:pPr>
              <a:r>
                <a:rPr lang="en-US" sz="587" b="1" dirty="0">
                  <a:solidFill>
                    <a:srgbClr val="7B1E2B"/>
                  </a:solidFill>
                  <a:latin typeface="Calibri" pitchFamily="34" charset="0"/>
                  <a:ea typeface="Calibri" pitchFamily="34" charset="-122"/>
                  <a:cs typeface="Calibri" pitchFamily="34" charset="-120"/>
                </a:rPr>
                <a:t>Sau gọi vốn</a:t>
              </a:r>
              <a:endParaRPr lang="en-US" sz="587" dirty="0"/>
            </a:p>
          </p:txBody>
        </p:sp>
        <p:sp>
          <p:nvSpPr>
            <p:cNvPr id="195" name="svg5_183"/>
            <p:cNvSpPr txBox="1"/>
            <p:nvPr/>
          </p:nvSpPr>
          <p:spPr>
            <a:xfrm>
              <a:off x="2118573" y="6704381"/>
              <a:ext cx="343083" cy="104790"/>
            </a:xfrm>
            <a:prstGeom prst="rect">
              <a:avLst/>
            </a:prstGeom>
            <a:noFill/>
            <a:ln/>
          </p:spPr>
          <p:txBody>
            <a:bodyPr wrap="none" lIns="0" tIns="0" rIns="0" bIns="0" rtlCol="0" anchor="ctr"/>
            <a:lstStyle/>
            <a:p>
              <a:pPr algn="l" indent="0" marL="0">
                <a:buNone/>
              </a:pPr>
              <a:r>
                <a:rPr lang="en-US" sz="587" b="1" dirty="0">
                  <a:solidFill>
                    <a:srgbClr val="404040"/>
                  </a:solidFill>
                  <a:latin typeface="Calibri" pitchFamily="34" charset="0"/>
                  <a:ea typeface="Calibri" pitchFamily="34" charset="-122"/>
                  <a:cs typeface="Calibri" pitchFamily="34" charset="-120"/>
                </a:rPr>
                <a:t>Tối thiểu</a:t>
              </a:r>
              <a:endParaRPr lang="en-US" sz="587" dirty="0"/>
            </a:p>
          </p:txBody>
        </p:sp>
        <p:sp>
          <p:nvSpPr>
            <p:cNvPr id="196" name="svg5_184"/>
            <p:cNvSpPr txBox="1"/>
            <p:nvPr/>
          </p:nvSpPr>
          <p:spPr>
            <a:xfrm>
              <a:off x="2118573" y="6994886"/>
              <a:ext cx="537027" cy="104790"/>
            </a:xfrm>
            <a:prstGeom prst="rect">
              <a:avLst/>
            </a:prstGeom>
            <a:noFill/>
            <a:ln/>
          </p:spPr>
          <p:txBody>
            <a:bodyPr wrap="none" lIns="0" tIns="0" rIns="0" bIns="0" rtlCol="0" anchor="ctr"/>
            <a:lstStyle/>
            <a:p>
              <a:pPr algn="l" indent="0" marL="0">
                <a:buNone/>
              </a:pPr>
              <a:r>
                <a:rPr lang="en-US" sz="587" b="1" dirty="0">
                  <a:solidFill>
                    <a:srgbClr val="666666"/>
                  </a:solidFill>
                  <a:latin typeface="Calibri" pitchFamily="34" charset="0"/>
                  <a:ea typeface="Calibri" pitchFamily="34" charset="-122"/>
                  <a:cs typeface="Calibri" pitchFamily="34" charset="-120"/>
                </a:rPr>
                <a:t>Không gọi vốn</a:t>
              </a:r>
              <a:endParaRPr lang="en-US" sz="587" dirty="0"/>
            </a:p>
          </p:txBody>
        </p:sp>
      </p:grpSp>
      <p:sp>
        <p:nvSpPr>
          <p:cNvPr id="197" name="Text 193"/>
          <p:cNvSpPr txBox="1"/>
          <p:nvPr/>
        </p:nvSpPr>
        <p:spPr>
          <a:xfrm>
            <a:off x="405354" y="315559"/>
            <a:ext cx="1873148" cy="119238"/>
          </a:xfrm>
          <a:prstGeom prst="rect">
            <a:avLst/>
          </a:prstGeom>
          <a:noFill/>
          <a:ln/>
        </p:spPr>
        <p:txBody>
          <a:bodyPr wrap="none" lIns="0" tIns="0" rIns="0" bIns="0" rtlCol="0" anchor="t"/>
          <a:lstStyle/>
          <a:p>
            <a:pPr algn="l" indent="0" marL="0">
              <a:lnSpc>
                <a:spcPts val="864"/>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 | Định giá &amp; đề xuất gọi vốn Series A</a:t>
            </a:r>
            <a:endParaRPr lang="en-US" sz="680" dirty="0"/>
          </a:p>
        </p:txBody>
      </p:sp>
      <p:sp>
        <p:nvSpPr>
          <p:cNvPr id="198" name="Text 194"/>
          <p:cNvSpPr txBox="1"/>
          <p:nvPr/>
        </p:nvSpPr>
        <p:spPr>
          <a:xfrm>
            <a:off x="6056346" y="325161"/>
            <a:ext cx="1163940" cy="109545"/>
          </a:xfrm>
          <a:prstGeom prst="rect">
            <a:avLst/>
          </a:prstGeom>
          <a:noFill/>
          <a:ln/>
        </p:spPr>
        <p:txBody>
          <a:bodyPr wrap="none" lIns="0" tIns="0" rIns="0" bIns="0" rtlCol="0" anchor="t"/>
          <a:lstStyle/>
          <a:p>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Báo cáo phân tích · 29/09/2026</a:t>
            </a:r>
            <a:endParaRPr lang="en-US" sz="680" dirty="0"/>
          </a:p>
        </p:txBody>
      </p:sp>
      <p:sp>
        <p:nvSpPr>
          <p:cNvPr id="199" name="Text 195"/>
          <p:cNvSpPr txBox="1"/>
          <p:nvPr/>
        </p:nvSpPr>
        <p:spPr>
          <a:xfrm>
            <a:off x="405354" y="593994"/>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Kỳ thu tiền tăng lên 30 ngày khi khách hàng lớn hơn</a:t>
            </a:r>
            <a:endParaRPr lang="en-US" sz="720" dirty="0"/>
          </a:p>
        </p:txBody>
      </p:sp>
      <p:sp>
        <p:nvSpPr>
          <p:cNvPr id="200" name="Text 196"/>
          <p:cNvSpPr txBox="1"/>
          <p:nvPr/>
        </p:nvSpPr>
        <p:spPr>
          <a:xfrm>
            <a:off x="405354" y="1707551"/>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dự phóng (Drivers)</a:t>
            </a:r>
            <a:endParaRPr lang="en-US" sz="600" dirty="0"/>
          </a:p>
        </p:txBody>
      </p:sp>
      <p:sp>
        <p:nvSpPr>
          <p:cNvPr id="201" name="Text 197"/>
          <p:cNvSpPr txBox="1"/>
          <p:nvPr/>
        </p:nvSpPr>
        <p:spPr>
          <a:xfrm>
            <a:off x="405354" y="1912742"/>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CAPEX 65% doanh thu năm 2027 kéo FCFF âm ba năm liên tiếp</a:t>
            </a:r>
            <a:endParaRPr lang="en-US" sz="720" dirty="0"/>
          </a:p>
        </p:txBody>
      </p:sp>
      <p:sp>
        <p:nvSpPr>
          <p:cNvPr id="202" name="Text 198"/>
          <p:cNvSpPr txBox="1"/>
          <p:nvPr/>
        </p:nvSpPr>
        <p:spPr>
          <a:xfrm>
            <a:off x="405354" y="2164110"/>
            <a:ext cx="2289566" cy="103144"/>
          </a:xfrm>
          <a:prstGeom prst="rect">
            <a:avLst/>
          </a:prstGeom>
          <a:noFill/>
          <a:ln/>
        </p:spPr>
        <p:txBody>
          <a:bodyPr wrap="none" lIns="0" tIns="0" rIns="0" bIns="0" rtlCol="0" anchor="t"/>
          <a:lstStyle/>
          <a:p>
            <a:pPr algn="l" indent="0" marL="0">
              <a:lnSpc>
                <a:spcPts val="813"/>
              </a:lnSpc>
              <a:buNone/>
            </a:pPr>
            <a:r>
              <a:rPr lang="en-US" sz="640" b="1" dirty="0">
                <a:solidFill>
                  <a:srgbClr val="666666"/>
                </a:solidFill>
                <a:latin typeface="Calibri" pitchFamily="34" charset="0"/>
                <a:ea typeface="Calibri" pitchFamily="34" charset="-122"/>
                <a:cs typeface="Calibri" pitchFamily="34" charset="-120"/>
              </a:rPr>
              <a:t>CAPEX (tỷ đồng) và CAPEX/doanh thu</a:t>
            </a:r>
            <a:endParaRPr lang="en-US" sz="640" dirty="0"/>
          </a:p>
        </p:txBody>
      </p:sp>
      <p:sp>
        <p:nvSpPr>
          <p:cNvPr id="203" name="Text 199"/>
          <p:cNvSpPr txBox="1"/>
          <p:nvPr/>
        </p:nvSpPr>
        <p:spPr>
          <a:xfrm>
            <a:off x="405354" y="3054370"/>
            <a:ext cx="2289566" cy="103144"/>
          </a:xfrm>
          <a:prstGeom prst="rect">
            <a:avLst/>
          </a:prstGeom>
          <a:noFill/>
          <a:ln/>
        </p:spPr>
        <p:txBody>
          <a:bodyPr wrap="none" lIns="0" tIns="0" rIns="0" bIns="0" rtlCol="0" anchor="t"/>
          <a:lstStyle/>
          <a:p>
            <a:pPr algn="l" indent="0" marL="0">
              <a:lnSpc>
                <a:spcPts val="813"/>
              </a:lnSpc>
              <a:buNone/>
            </a:pPr>
            <a:r>
              <a:rPr lang="en-US" sz="640" b="1" dirty="0">
                <a:solidFill>
                  <a:srgbClr val="666666"/>
                </a:solidFill>
                <a:latin typeface="Calibri" pitchFamily="34" charset="0"/>
                <a:ea typeface="Calibri" pitchFamily="34" charset="-122"/>
                <a:cs typeface="Calibri" pitchFamily="34" charset="-120"/>
              </a:rPr>
              <a:t>FCFF (tỷ đồng; 2025A = CFO − CAPEX)</a:t>
            </a:r>
            <a:endParaRPr lang="en-US" sz="640" dirty="0"/>
          </a:p>
        </p:txBody>
      </p:sp>
      <p:sp>
        <p:nvSpPr>
          <p:cNvPr id="204" name="Text 200"/>
          <p:cNvSpPr txBox="1"/>
          <p:nvPr/>
        </p:nvSpPr>
        <p:spPr>
          <a:xfrm>
            <a:off x="405354" y="3948288"/>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 Drivers)</a:t>
            </a:r>
            <a:endParaRPr lang="en-US" sz="600" dirty="0"/>
          </a:p>
        </p:txBody>
      </p:sp>
      <p:sp>
        <p:nvSpPr>
          <p:cNvPr id="205" name="Text 201"/>
          <p:cNvSpPr txBox="1"/>
          <p:nvPr/>
        </p:nvSpPr>
        <p:spPr>
          <a:xfrm>
            <a:off x="405354" y="4153479"/>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ROIC chỉ quay lại mức WACC vào năm 2030</a:t>
            </a:r>
            <a:endParaRPr lang="en-US" sz="720" dirty="0"/>
          </a:p>
        </p:txBody>
      </p:sp>
      <p:sp>
        <p:nvSpPr>
          <p:cNvPr id="206" name="Text 202"/>
          <p:cNvSpPr txBox="1"/>
          <p:nvPr/>
        </p:nvSpPr>
        <p:spPr>
          <a:xfrm>
            <a:off x="405354" y="4295303"/>
            <a:ext cx="2289566" cy="103144"/>
          </a:xfrm>
          <a:prstGeom prst="rect">
            <a:avLst/>
          </a:prstGeom>
          <a:noFill/>
          <a:ln/>
        </p:spPr>
        <p:txBody>
          <a:bodyPr wrap="none" lIns="0" tIns="0" rIns="0" bIns="0" rtlCol="0" anchor="t"/>
          <a:lstStyle/>
          <a:p>
            <a:pPr algn="l" indent="0" marL="0">
              <a:lnSpc>
                <a:spcPts val="813"/>
              </a:lnSpc>
              <a:buNone/>
            </a:pPr>
            <a:r>
              <a:rPr lang="en-US" sz="640" b="1" dirty="0">
                <a:solidFill>
                  <a:srgbClr val="666666"/>
                </a:solidFill>
                <a:latin typeface="Calibri" pitchFamily="34" charset="0"/>
                <a:ea typeface="Calibri" pitchFamily="34" charset="-122"/>
                <a:cs typeface="Calibri" pitchFamily="34" charset="-120"/>
              </a:rPr>
              <a:t>ROIC so với WACC (%)</a:t>
            </a:r>
            <a:endParaRPr lang="en-US" sz="640" dirty="0"/>
          </a:p>
        </p:txBody>
      </p:sp>
      <p:sp>
        <p:nvSpPr>
          <p:cNvPr id="207" name="Text 203"/>
          <p:cNvSpPr txBox="1"/>
          <p:nvPr/>
        </p:nvSpPr>
        <p:spPr>
          <a:xfrm>
            <a:off x="405354" y="5165994"/>
            <a:ext cx="2289566" cy="103144"/>
          </a:xfrm>
          <a:prstGeom prst="rect">
            <a:avLst/>
          </a:prstGeom>
          <a:noFill/>
          <a:ln/>
        </p:spPr>
        <p:txBody>
          <a:bodyPr wrap="none" lIns="0" tIns="0" rIns="0" bIns="0" rtlCol="0" anchor="t"/>
          <a:lstStyle/>
          <a:p>
            <a:pPr algn="l" indent="0" marL="0">
              <a:lnSpc>
                <a:spcPts val="813"/>
              </a:lnSpc>
              <a:buNone/>
            </a:pPr>
            <a:r>
              <a:rPr lang="en-US" sz="640" b="1" dirty="0">
                <a:solidFill>
                  <a:srgbClr val="666666"/>
                </a:solidFill>
                <a:latin typeface="Calibri" pitchFamily="34" charset="0"/>
                <a:ea typeface="Calibri" pitchFamily="34" charset="-122"/>
                <a:cs typeface="Calibri" pitchFamily="34" charset="-120"/>
              </a:rPr>
              <a:t>Vòng quay nguyên giá TSCĐ (lần)</a:t>
            </a:r>
            <a:endParaRPr lang="en-US" sz="640" dirty="0"/>
          </a:p>
        </p:txBody>
      </p:sp>
      <p:sp>
        <p:nvSpPr>
          <p:cNvPr id="208" name="Text 204"/>
          <p:cNvSpPr txBox="1"/>
          <p:nvPr/>
        </p:nvSpPr>
        <p:spPr>
          <a:xfrm>
            <a:off x="405354" y="5863499"/>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a:t>
            </a:r>
            <a:endParaRPr lang="en-US" sz="600" dirty="0"/>
          </a:p>
        </p:txBody>
      </p:sp>
      <p:sp>
        <p:nvSpPr>
          <p:cNvPr id="209" name="Text 205"/>
          <p:cNvSpPr txBox="1"/>
          <p:nvPr/>
        </p:nvSpPr>
        <p:spPr>
          <a:xfrm>
            <a:off x="405354" y="6068781"/>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Không gọi vốn cổ phần, tiền mặt âm từ cuối 2026 (tỷ đồng)</a:t>
            </a:r>
            <a:endParaRPr lang="en-US" sz="720" dirty="0"/>
          </a:p>
        </p:txBody>
      </p:sp>
      <p:sp>
        <p:nvSpPr>
          <p:cNvPr id="210" name="Text 206"/>
          <p:cNvSpPr txBox="1"/>
          <p:nvPr/>
        </p:nvSpPr>
        <p:spPr>
          <a:xfrm>
            <a:off x="405354" y="7319681"/>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(Pro Forma, Drivers, BCĐKT)</a:t>
            </a:r>
            <a:endParaRPr lang="en-US" sz="600" dirty="0"/>
          </a:p>
        </p:txBody>
      </p:sp>
      <p:sp>
        <p:nvSpPr>
          <p:cNvPr id="211" name="Text 207"/>
          <p:cNvSpPr txBox="1"/>
          <p:nvPr/>
        </p:nvSpPr>
        <p:spPr>
          <a:xfrm>
            <a:off x="2745303" y="593994"/>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Dự phóng kết quả kinh doanh (tỷ đồng)</a:t>
            </a:r>
            <a:endParaRPr lang="en-US" sz="720" dirty="0"/>
          </a:p>
        </p:txBody>
      </p:sp>
      <p:sp>
        <p:nvSpPr>
          <p:cNvPr id="212" name="Text 208"/>
          <p:cNvSpPr txBox="1"/>
          <p:nvPr/>
        </p:nvSpPr>
        <p:spPr>
          <a:xfrm>
            <a:off x="2745303" y="2828971"/>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(đề bài); dự phóng (Income Statement)</a:t>
            </a:r>
            <a:endParaRPr lang="en-US" sz="600" dirty="0"/>
          </a:p>
        </p:txBody>
      </p:sp>
      <p:sp>
        <p:nvSpPr>
          <p:cNvPr id="213" name="Text 209"/>
          <p:cNvSpPr txBox="1"/>
          <p:nvPr/>
        </p:nvSpPr>
        <p:spPr>
          <a:xfrm>
            <a:off x="2745303" y="3003072"/>
            <a:ext cx="4409237" cy="116092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CAPEX: 65% doanh thu năm 2027.</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Theo đề bài, AgriPack thực hiện khoản đầu tư lớn năm 2027 với CAPEX bằng 65% doanh thu, tức 51,8 tỷ đồng (Fig. 34). Chúng tôi giả định khoản này dùng cho hai dây chuyền ép khuôn – sấy mới, kho chứa bã mía đủ cho một vụ ép và phòng kiểm nghiệm; năm 2028 thêm 12% doanh thu để hoàn thiện và chạy thử; các năm sau 10%, bằng mức tái đầu tư năm 2025. Năm 2026 CAPEX bằng 20% doanh thu cho máy ép bổ sung. Nguyên giá TSCĐ tăng từ 31 tỷ (2025) lên 96 tỷ đồng (2027); với tỷ lệ khấu hao 12% trên nguyên giá đầu kỳ, chi phí khấu hao tăng từ 5,3 tỷ lên 11,5 tỷ năm 2028. File Excel mẫu đặt mức 65% ở năm 2028; phương án này được trình bày trong phân tích kịch bản.</a:t>
            </a:r>
            <a:endParaRPr lang="en-US" sz="900" dirty="0"/>
          </a:p>
        </p:txBody>
      </p:sp>
      <p:sp>
        <p:nvSpPr>
          <p:cNvPr id="214" name="Text 210"/>
          <p:cNvSpPr txBox="1"/>
          <p:nvPr/>
        </p:nvSpPr>
        <p:spPr>
          <a:xfrm>
            <a:off x="2745303" y="4216024"/>
            <a:ext cx="4409237" cy="435254"/>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FCFF âm ba năm.</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FCFF âm 4,9 tỷ (2026), 42,6 tỷ (2027) và 3,7 tỷ (2028), dương từ 2029 và đạt 8,7 tỷ năm 2030. Tổng FCFF 2026–2030 âm 38,9 tỷ – phù hợp với lưu ý của đề bài rằng startup hiếm khi tạo FCF dương mạnh ở giai đoạn đầu.</a:t>
            </a:r>
            <a:endParaRPr lang="en-US" sz="900" dirty="0"/>
          </a:p>
        </p:txBody>
      </p:sp>
      <p:sp>
        <p:nvSpPr>
          <p:cNvPr id="215" name="Text 211"/>
          <p:cNvSpPr txBox="1"/>
          <p:nvPr/>
        </p:nvSpPr>
        <p:spPr>
          <a:xfrm>
            <a:off x="2745303" y="4703399"/>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Kiểm tra tính hợp lý.</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Ba chỉ báo cho thấy dự phóng không lạc quan quá mức nhưng cũng chỉ ra điểm yếu của kế hoạch: (i) vòng quay nguyên giá TSCĐ giảm từ 1,66 lần xuống 1,08 lần năm 2028 và chỉ hồi lên 1,29 lần năm 2030 – nhà máy mới vẫn còn công suất trống; (ii) ROIC giảm về 5,1% năm 2028 và đến 2030 mới đạt 13,9%, xấp xỉ WACC 13,8% (Fig. 35) – trong 5 năm dự phóng, khoản đầu tư chỉ vừa đủ bù chi phí vốn; (iii) thị phần SAM 11,0% năm 2030 (Fig. 23).</a:t>
            </a:r>
            <a:endParaRPr lang="en-US" sz="900" dirty="0"/>
          </a:p>
        </p:txBody>
      </p:sp>
      <p:sp>
        <p:nvSpPr>
          <p:cNvPr id="216" name="Text 212"/>
          <p:cNvSpPr txBox="1"/>
          <p:nvPr/>
        </p:nvSpPr>
        <p:spPr>
          <a:xfrm>
            <a:off x="2745303" y="5481096"/>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Nhu cầu vốn.</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Nếu không huy động vốn cổ phần, tiền mặt âm 2,1 tỷ ngay cuối 2026 và âm 26,2 tỷ năm 2029, kể cả khi đã vay 31,1 tỷ cho nhà máy (Fig. 36). Thiếu hụt lớn nhất so với tiền mặt tối thiểu (5% doanh thu) là 34,2 tỷ; cộng 10% dự phòng, nhu cầu vốn cổ phần là 37,6 tỷ đồng, giả định giải ngân đầu năm 2026.</a:t>
            </a:r>
            <a:endParaRPr lang="en-US" sz="900" dirty="0"/>
          </a:p>
        </p:txBody>
      </p:sp>
      <p:sp>
        <p:nvSpPr>
          <p:cNvPr id="217" name="Text 213"/>
          <p:cNvSpPr txBox="1"/>
          <p:nvPr/>
        </p:nvSpPr>
        <p:spPr>
          <a:xfrm>
            <a:off x="2745303" y="6113496"/>
            <a:ext cx="4409237" cy="435254"/>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Bảng cân đối và dòng tiền.</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Tổng tài sản tăng từ 31,9 tỷ (2025) lên 113,6 tỷ (2027); tiền mặt đạt đỉnh 35,5 tỷ cuối 2026 sau Series A rồi giảm về 11–12 tỷ, luôn trên mức tối thiểu. CFO tăng từ 7,7 tỷ lên 23,8 tỷ năm 2030 nhưng chỉ vượt CAPEX từ 2029 (Fig. 37).</a:t>
            </a:r>
            <a:endParaRPr lang="en-US" sz="900" dirty="0"/>
          </a:p>
        </p:txBody>
      </p:sp>
      <p:sp>
        <p:nvSpPr>
          <p:cNvPr id="218" name="Text 214"/>
          <p:cNvSpPr txBox="1"/>
          <p:nvPr/>
        </p:nvSpPr>
        <p:spPr>
          <a:xfrm>
            <a:off x="405354" y="7568123"/>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Chỉ tiêu bảng cân đối và lưu chuyển tiền tệ dự phóng (tỷ đồng)</a:t>
            </a:r>
            <a:endParaRPr lang="en-US" sz="720" dirty="0"/>
          </a:p>
        </p:txBody>
      </p:sp>
      <p:sp>
        <p:nvSpPr>
          <p:cNvPr id="219" name="Text 215"/>
          <p:cNvSpPr txBox="1"/>
          <p:nvPr/>
        </p:nvSpPr>
        <p:spPr>
          <a:xfrm>
            <a:off x="405354" y="8834110"/>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(đề bài); dự phóng (Balance Sheet, Cash Flow Statement)</a:t>
            </a:r>
            <a:endParaRPr lang="en-US" sz="600" dirty="0"/>
          </a:p>
        </p:txBody>
      </p:sp>
      <p:sp>
        <p:nvSpPr>
          <p:cNvPr id="220" name="Text 216"/>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21" name="Text 217"/>
          <p:cNvSpPr txBox="1"/>
          <p:nvPr/>
        </p:nvSpPr>
        <p:spPr>
          <a:xfrm>
            <a:off x="7114581" y="10402672"/>
            <a:ext cx="97018"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7</a:t>
            </a:r>
            <a:endParaRPr lang="en-US" sz="6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62813"/>
            <a:ext cx="6749004" cy="206380"/>
          </a:xfrm>
          <a:prstGeom prst="rect">
            <a:avLst/>
          </a:prstGeom>
          <a:solidFill>
            <a:srgbClr val="7B1E2B"/>
          </a:solidFill>
          <a:ln/>
        </p:spPr>
      </p:sp>
      <p:sp>
        <p:nvSpPr>
          <p:cNvPr id="3" name="Shape 1"/>
          <p:cNvSpPr/>
          <p:nvPr/>
        </p:nvSpPr>
        <p:spPr>
          <a:xfrm>
            <a:off x="405354" y="471830"/>
            <a:ext cx="6749004" cy="0"/>
          </a:xfrm>
          <a:prstGeom prst="line">
            <a:avLst/>
          </a:prstGeom>
          <a:noFill/>
          <a:ln w="9525">
            <a:solidFill>
              <a:srgbClr val="7B1E2B"/>
            </a:solidFill>
            <a:prstDash val="solid"/>
          </a:ln>
        </p:spPr>
      </p:sp>
      <p:sp>
        <p:nvSpPr>
          <p:cNvPr id="4" name="Shape 2"/>
          <p:cNvSpPr/>
          <p:nvPr/>
        </p:nvSpPr>
        <p:spPr>
          <a:xfrm>
            <a:off x="405354" y="845911"/>
            <a:ext cx="2159996" cy="0"/>
          </a:xfrm>
          <a:prstGeom prst="line">
            <a:avLst/>
          </a:prstGeom>
          <a:noFill/>
          <a:ln w="9525">
            <a:solidFill>
              <a:srgbClr val="7B1E2B"/>
            </a:solidFill>
            <a:prstDash val="solid"/>
          </a:ln>
        </p:spPr>
      </p:sp>
      <p:sp>
        <p:nvSpPr>
          <p:cNvPr id="5" name="Shape 3"/>
          <p:cNvSpPr/>
          <p:nvPr/>
        </p:nvSpPr>
        <p:spPr>
          <a:xfrm>
            <a:off x="405354" y="3286171"/>
            <a:ext cx="2159996" cy="0"/>
          </a:xfrm>
          <a:prstGeom prst="line">
            <a:avLst/>
          </a:prstGeom>
          <a:noFill/>
          <a:ln w="9525">
            <a:solidFill>
              <a:srgbClr val="7B1E2B"/>
            </a:solidFill>
            <a:prstDash val="solid"/>
          </a:ln>
        </p:spPr>
      </p:sp>
      <p:sp>
        <p:nvSpPr>
          <p:cNvPr id="6" name="Shape 4"/>
          <p:cNvSpPr/>
          <p:nvPr/>
        </p:nvSpPr>
        <p:spPr>
          <a:xfrm>
            <a:off x="405354" y="4781580"/>
            <a:ext cx="2159996" cy="0"/>
          </a:xfrm>
          <a:prstGeom prst="line">
            <a:avLst/>
          </a:prstGeom>
          <a:noFill/>
          <a:ln w="9525">
            <a:solidFill>
              <a:srgbClr val="7B1E2B"/>
            </a:solidFill>
            <a:prstDash val="solid"/>
          </a:ln>
        </p:spPr>
      </p:sp>
      <p:sp>
        <p:nvSpPr>
          <p:cNvPr id="7" name="Shape 5"/>
          <p:cNvSpPr/>
          <p:nvPr/>
        </p:nvSpPr>
        <p:spPr>
          <a:xfrm>
            <a:off x="405354" y="5949178"/>
            <a:ext cx="2159996" cy="0"/>
          </a:xfrm>
          <a:prstGeom prst="line">
            <a:avLst/>
          </a:prstGeom>
          <a:noFill/>
          <a:ln w="9525">
            <a:solidFill>
              <a:srgbClr val="7B1E2B"/>
            </a:solidFill>
            <a:prstDash val="solid"/>
          </a:ln>
        </p:spPr>
      </p:sp>
      <p:sp>
        <p:nvSpPr>
          <p:cNvPr id="8" name="Shape 6"/>
          <p:cNvSpPr/>
          <p:nvPr/>
        </p:nvSpPr>
        <p:spPr>
          <a:xfrm>
            <a:off x="405354" y="8109356"/>
            <a:ext cx="2159996" cy="0"/>
          </a:xfrm>
          <a:prstGeom prst="line">
            <a:avLst/>
          </a:prstGeom>
          <a:noFill/>
          <a:ln w="9525">
            <a:solidFill>
              <a:srgbClr val="7B1E2B"/>
            </a:solidFill>
            <a:prstDash val="solid"/>
          </a:ln>
        </p:spPr>
      </p:sp>
      <p:sp>
        <p:nvSpPr>
          <p:cNvPr id="9" name="Shape 7"/>
          <p:cNvSpPr/>
          <p:nvPr/>
        </p:nvSpPr>
        <p:spPr>
          <a:xfrm>
            <a:off x="2745303" y="4194627"/>
            <a:ext cx="4409237" cy="0"/>
          </a:xfrm>
          <a:prstGeom prst="line">
            <a:avLst/>
          </a:prstGeom>
          <a:noFill/>
          <a:ln w="9525">
            <a:solidFill>
              <a:srgbClr val="7B1E2B"/>
            </a:solidFill>
            <a:prstDash val="solid"/>
          </a:ln>
        </p:spPr>
      </p:sp>
      <p:sp>
        <p:nvSpPr>
          <p:cNvPr id="10" name="Shape 8"/>
          <p:cNvSpPr/>
          <p:nvPr/>
        </p:nvSpPr>
        <p:spPr>
          <a:xfrm>
            <a:off x="405354" y="10365547"/>
            <a:ext cx="6749004" cy="0"/>
          </a:xfrm>
          <a:prstGeom prst="line">
            <a:avLst/>
          </a:prstGeom>
          <a:noFill/>
          <a:ln w="9525">
            <a:solidFill>
              <a:srgbClr val="BFBFBF"/>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05354" y="1123706"/>
          <a:ext cx="2159996" cy="914400"/>
        </p:xfrm>
        <a:graphic>
          <a:graphicData uri="http://schemas.openxmlformats.org/drawingml/2006/table">
            <a:tbl>
              <a:tblPr/>
              <a:tblGrid>
                <a:gridCol w="1511960"/>
                <a:gridCol w="648035"/>
              </a:tblGrid>
              <a:tr h="133045">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Thành phần</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Giá trị</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Rf – TPCP 10 năm (ước tính)</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4,20%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ERP thị trường phát triển</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4,23%</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 CRP Việt Nam (ước tính)</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3,90%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 ERP Việt Nam</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8,13%</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βu ngành bao bì (Damodaran)</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0,78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D/E mục tiêu (2027E)</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41%</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β có đòn bẩy</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1,04</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 ρ (đa dạng hóa một phần)</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0,70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 Total beta</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1,48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Ke = Rf + β × ERP</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16,2%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Kd trước / sau thuế</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10% / 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Tỷ trọng E / D</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71% / 29%</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WACC</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13,8%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05354" y="4949739"/>
          <a:ext cx="2159996" cy="914400"/>
        </p:xfrm>
        <a:graphic>
          <a:graphicData uri="http://schemas.openxmlformats.org/drawingml/2006/table">
            <a:tbl>
              <a:tblPr/>
              <a:tblGrid>
                <a:gridCol w="518556"/>
                <a:gridCol w="328178"/>
                <a:gridCol w="328178"/>
                <a:gridCol w="328178"/>
                <a:gridCol w="328178"/>
                <a:gridCol w="328727"/>
              </a:tblGrid>
              <a:tr h="133045">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WACC \ g</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3%</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4%</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5%</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6%</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7%</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11,8%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54,8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60,3</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67,2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76,4</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89,0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12,8%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43,0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46,6</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51,1</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56,8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64,3</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13,8%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33,5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36,0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38,9</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42,5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47,0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14,8%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25,8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27,5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29,4</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31,7</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34,4</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15,8%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19,6</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20,7</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21,9</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23,3</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24,9</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25" name="Table 2"/>
          <p:cNvGraphicFramePr>
            <a:graphicFrameLocks noGrp="1"/>
          </p:cNvGraphicFramePr>
          <p:nvPr>
            <p:extLst>
              <p:ext uri="{D42A27DB-BD31-4B8C-83A1-F6EECF244321}">
                <p14:modId xmlns:p14="http://schemas.microsoft.com/office/powerpoint/2010/main" val="1579011935"/>
              </p:ext>
            </p:extLst>
          </p:nvPr>
        </p:nvGraphicFramePr>
        <p:xfrm>
          <a:off x="405354" y="6117427"/>
          <a:ext cx="2159996" cy="914400"/>
        </p:xfrm>
        <a:graphic>
          <a:graphicData uri="http://schemas.openxmlformats.org/drawingml/2006/table">
            <a:tbl>
              <a:tblPr/>
              <a:tblGrid>
                <a:gridCol w="1598280"/>
                <a:gridCol w="561716"/>
              </a:tblGrid>
              <a:tr h="133045">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Bước</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Tỷ đồng</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LNST 2030E × P/E 9,4x</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130,2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EBITDA 2030E × EV/EBITDA 8,0x + tiền − nợ</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267,2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Giá trị thoái vốn 2030 (bình quân)</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198,7</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Tỷ lệ thất bại tích lũy z (5 năm)</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Quy đổi theo năm p = 1 − (1 − z)^(1/5)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9,7%</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Tỷ suất yêu cầu khi thành công</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26,1%</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Post-money = Exit × (1 − z)/(1 + WACC)^5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62,4</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 Vốn cần huy động</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37,6</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Pre-money</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24,8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Tỷ lệ NĐT mới</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60,3%</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50" i="1" dirty="0">
                          <a:solidFill>
                            <a:srgbClr val="1F1F1F"/>
                          </a:solidFill>
                          <a:latin typeface="Calibri" pitchFamily="34" charset="0"/>
                          <a:ea typeface="Calibri" pitchFamily="34" charset="-122"/>
                          <a:cs typeface="Calibri" pitchFamily="34" charset="-120"/>
                        </a:rPr>
                        <a:t>Nếu dùng z như xác suất mỗi năm: tỷ suất / post-money</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i="1" dirty="0">
                          <a:solidFill>
                            <a:srgbClr val="1F1F1F"/>
                          </a:solidFill>
                          <a:latin typeface="Calibri" pitchFamily="34" charset="0"/>
                          <a:ea typeface="Calibri" pitchFamily="34" charset="-122"/>
                          <a:cs typeface="Calibri" pitchFamily="34" charset="-120"/>
                        </a:rPr>
                        <a:t>90% / 8,1</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3" name="Table 3"/>
          <p:cNvGraphicFramePr>
            <a:graphicFrameLocks noGrp="1"/>
          </p:cNvGraphicFramePr>
          <p:nvPr>
            <p:extLst>
              <p:ext uri="{D42A27DB-BD31-4B8C-83A1-F6EECF244321}">
                <p14:modId xmlns:p14="http://schemas.microsoft.com/office/powerpoint/2010/main" val="1579011935"/>
              </p:ext>
            </p:extLst>
          </p:nvPr>
        </p:nvGraphicFramePr>
        <p:xfrm>
          <a:off x="2745303" y="4362694"/>
          <a:ext cx="4409237" cy="914400"/>
        </p:xfrm>
        <a:graphic>
          <a:graphicData uri="http://schemas.openxmlformats.org/drawingml/2006/table">
            <a:tbl>
              <a:tblPr/>
              <a:tblGrid>
                <a:gridCol w="1234531"/>
                <a:gridCol w="529072"/>
                <a:gridCol w="529072"/>
                <a:gridCol w="529072"/>
                <a:gridCol w="529072"/>
                <a:gridCol w="529072"/>
                <a:gridCol w="529255"/>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Tỷ đồng</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2026E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2027E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2028E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2029E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2030E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Cuối kỳ</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3685">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NOPAT = EBIT × (1 − 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7,2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11,1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15,7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 Khấu hao</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11,5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13,1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14,8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 Tăng vốn lưu động</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 CAPEX</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(12,7)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(51,8)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(13,2)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(14,2)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FCFF</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(4,9)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(42,6)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(3,7)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3,6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8,7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135,0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Hệ số chiết khấu</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0,878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0,772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0,678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0,595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0,523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0,523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Giá trị hiện tại</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(4,3)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(32,9)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(2,5)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2,2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4,5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70,6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42921">
                <a:tc gridSpan="7">
                  <a:txBody>
                    <a:bodyPr/>
                    <a:lstStyle/>
                    <a:p>
                      <a:pPr algn="l" indent="0" marL="0">
                        <a:buNone/>
                      </a:pPr>
                      <a:r>
                        <a:rPr lang="en-US" sz="640" b="1" dirty="0">
                          <a:solidFill>
                            <a:srgbClr val="333333"/>
                          </a:solidFill>
                          <a:latin typeface="Calibri" pitchFamily="34" charset="0"/>
                          <a:ea typeface="Calibri" pitchFamily="34" charset="-122"/>
                          <a:cs typeface="Calibri" pitchFamily="34" charset="-120"/>
                        </a:rPr>
                        <a:t>EV = Σ PV = 37,6; + tiền 2,9 − nợ vay 1,6 = pre-money 38,9</a:t>
                      </a:r>
                      <a:endParaRPr lang="en-US" sz="640" dirty="0">
                        <a:latin typeface="Calibri" charset="0"/>
                        <a:ea typeface="Calibri" charset="0"/>
                        <a:cs typeface="Calibri" charset="0"/>
                      </a:endParaRPr>
                    </a:p>
                  </a:txBody>
                  <a:tcPr marL="28804" marR="28804" marT="28804" marB="13716"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c hMerge="1">
                  <a:tcPr/>
                </a:tc>
              </a:tr>
            </a:tbl>
          </a:graphicData>
        </a:graphic>
      </p:graphicFrame>
      <p:grpSp>
        <p:nvGrpSpPr>
          <p:cNvPr id="98" name="Fig. 39 – biểu đồ"/>
          <p:cNvGrpSpPr/>
          <p:nvPr/>
        </p:nvGrpSpPr>
        <p:grpSpPr>
          <a:xfrm>
            <a:off x="444856" y="3552718"/>
            <a:ext cx="2111990" cy="1002731"/>
            <a:chOff x="444856" y="3552718"/>
            <a:chExt cx="2111990" cy="1002731"/>
          </a:xfrm>
        </p:grpSpPr>
        <p:sp>
          <p:nvSpPr>
            <p:cNvPr id="15" name="svg0_0"/>
            <p:cNvSpPr/>
            <p:nvPr/>
          </p:nvSpPr>
          <p:spPr>
            <a:xfrm>
              <a:off x="514167" y="4051706"/>
              <a:ext cx="208117" cy="317114"/>
            </a:xfrm>
            <a:prstGeom prst="rect">
              <a:avLst/>
            </a:prstGeom>
            <a:solidFill>
              <a:srgbClr val="A3A3A3"/>
            </a:solidFill>
            <a:ln/>
          </p:spPr>
        </p:sp>
        <p:sp>
          <p:nvSpPr>
            <p:cNvPr id="16" name="svg0_1"/>
            <p:cNvSpPr txBox="1"/>
            <p:nvPr/>
          </p:nvSpPr>
          <p:spPr>
            <a:xfrm>
              <a:off x="492587" y="3942527"/>
              <a:ext cx="257678"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−33,0</a:t>
              </a:r>
              <a:endParaRPr lang="en-US" sz="649" dirty="0"/>
            </a:p>
          </p:txBody>
        </p:sp>
        <p:sp>
          <p:nvSpPr>
            <p:cNvPr id="17" name="svg0_2"/>
            <p:cNvSpPr txBox="1"/>
            <p:nvPr/>
          </p:nvSpPr>
          <p:spPr>
            <a:xfrm>
              <a:off x="470093" y="4376044"/>
              <a:ext cx="30257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PV FCFF</a:t>
              </a:r>
              <a:endParaRPr lang="en-US" sz="557" dirty="0"/>
            </a:p>
          </p:txBody>
        </p:sp>
        <p:sp>
          <p:nvSpPr>
            <p:cNvPr id="18" name="svg0_3"/>
            <p:cNvSpPr txBox="1"/>
            <p:nvPr/>
          </p:nvSpPr>
          <p:spPr>
            <a:xfrm>
              <a:off x="457017" y="4450659"/>
              <a:ext cx="32543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2026–30</a:t>
              </a:r>
              <a:endParaRPr lang="en-US" sz="557" dirty="0"/>
            </a:p>
          </p:txBody>
        </p:sp>
        <p:sp>
          <p:nvSpPr>
            <p:cNvPr id="19" name="svg0_4"/>
            <p:cNvSpPr/>
            <p:nvPr/>
          </p:nvSpPr>
          <p:spPr>
            <a:xfrm>
              <a:off x="861090" y="3690153"/>
              <a:ext cx="208117" cy="678668"/>
            </a:xfrm>
            <a:prstGeom prst="rect">
              <a:avLst/>
            </a:prstGeom>
            <a:solidFill>
              <a:srgbClr val="404040"/>
            </a:solidFill>
            <a:ln/>
          </p:spPr>
        </p:sp>
        <p:sp>
          <p:nvSpPr>
            <p:cNvPr id="20" name="svg0_5"/>
            <p:cNvSpPr/>
            <p:nvPr/>
          </p:nvSpPr>
          <p:spPr>
            <a:xfrm>
              <a:off x="722285" y="4368820"/>
              <a:ext cx="138806" cy="0"/>
            </a:xfrm>
            <a:prstGeom prst="line">
              <a:avLst/>
            </a:prstGeom>
            <a:noFill/>
            <a:ln w="4953">
              <a:solidFill>
                <a:srgbClr val="8C8C8C"/>
              </a:solidFill>
              <a:prstDash val="dash"/>
            </a:ln>
          </p:spPr>
        </p:sp>
        <p:sp>
          <p:nvSpPr>
            <p:cNvPr id="21" name="svg0_6"/>
            <p:cNvSpPr txBox="1"/>
            <p:nvPr/>
          </p:nvSpPr>
          <p:spPr>
            <a:xfrm>
              <a:off x="839236" y="3581248"/>
              <a:ext cx="257678"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+70,6</a:t>
              </a:r>
              <a:endParaRPr lang="en-US" sz="649" dirty="0"/>
            </a:p>
          </p:txBody>
        </p:sp>
        <p:sp>
          <p:nvSpPr>
            <p:cNvPr id="22" name="svg0_7"/>
            <p:cNvSpPr txBox="1"/>
            <p:nvPr/>
          </p:nvSpPr>
          <p:spPr>
            <a:xfrm>
              <a:off x="800100" y="4376044"/>
              <a:ext cx="332842"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PV giá trị</a:t>
              </a:r>
              <a:endParaRPr lang="en-US" sz="557" dirty="0"/>
            </a:p>
          </p:txBody>
        </p:sp>
        <p:sp>
          <p:nvSpPr>
            <p:cNvPr id="23" name="svg0_8"/>
            <p:cNvSpPr txBox="1"/>
            <p:nvPr/>
          </p:nvSpPr>
          <p:spPr>
            <a:xfrm>
              <a:off x="831464" y="4450659"/>
              <a:ext cx="273406"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cuối kỳ</a:t>
              </a:r>
              <a:endParaRPr lang="en-US" sz="557" dirty="0"/>
            </a:p>
          </p:txBody>
        </p:sp>
        <p:sp>
          <p:nvSpPr>
            <p:cNvPr id="24" name="svg0_9"/>
            <p:cNvSpPr/>
            <p:nvPr/>
          </p:nvSpPr>
          <p:spPr>
            <a:xfrm>
              <a:off x="1207831" y="3690153"/>
              <a:ext cx="208117" cy="361462"/>
            </a:xfrm>
            <a:prstGeom prst="rect">
              <a:avLst/>
            </a:prstGeom>
            <a:solidFill>
              <a:srgbClr val="7B1E2B"/>
            </a:solidFill>
            <a:ln/>
          </p:spPr>
        </p:sp>
        <p:sp>
          <p:nvSpPr>
            <p:cNvPr id="25" name="svg0_10"/>
            <p:cNvSpPr/>
            <p:nvPr/>
          </p:nvSpPr>
          <p:spPr>
            <a:xfrm>
              <a:off x="1069208" y="3690153"/>
              <a:ext cx="138714" cy="0"/>
            </a:xfrm>
            <a:prstGeom prst="line">
              <a:avLst/>
            </a:prstGeom>
            <a:noFill/>
            <a:ln w="4953">
              <a:solidFill>
                <a:srgbClr val="8C8C8C"/>
              </a:solidFill>
              <a:prstDash val="dash"/>
            </a:ln>
          </p:spPr>
        </p:sp>
        <p:sp>
          <p:nvSpPr>
            <p:cNvPr id="26" name="svg0_11"/>
            <p:cNvSpPr txBox="1"/>
            <p:nvPr/>
          </p:nvSpPr>
          <p:spPr>
            <a:xfrm>
              <a:off x="1208745" y="3581248"/>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37,6</a:t>
              </a:r>
              <a:endParaRPr lang="en-US" sz="649" dirty="0"/>
            </a:p>
          </p:txBody>
        </p:sp>
        <p:sp>
          <p:nvSpPr>
            <p:cNvPr id="27" name="svg0_12"/>
            <p:cNvSpPr txBox="1"/>
            <p:nvPr/>
          </p:nvSpPr>
          <p:spPr>
            <a:xfrm>
              <a:off x="1249528" y="4376044"/>
              <a:ext cx="13167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EV</a:t>
              </a:r>
              <a:endParaRPr lang="en-US" sz="557" dirty="0"/>
            </a:p>
          </p:txBody>
        </p:sp>
        <p:sp>
          <p:nvSpPr>
            <p:cNvPr id="28" name="svg0_13"/>
            <p:cNvSpPr/>
            <p:nvPr/>
          </p:nvSpPr>
          <p:spPr>
            <a:xfrm>
              <a:off x="1554754" y="3661989"/>
              <a:ext cx="208117" cy="28164"/>
            </a:xfrm>
            <a:prstGeom prst="rect">
              <a:avLst/>
            </a:prstGeom>
            <a:solidFill>
              <a:srgbClr val="404040"/>
            </a:solidFill>
            <a:ln/>
          </p:spPr>
        </p:sp>
        <p:sp>
          <p:nvSpPr>
            <p:cNvPr id="29" name="svg0_14"/>
            <p:cNvSpPr/>
            <p:nvPr/>
          </p:nvSpPr>
          <p:spPr>
            <a:xfrm>
              <a:off x="1415948" y="3690153"/>
              <a:ext cx="138806" cy="0"/>
            </a:xfrm>
            <a:prstGeom prst="line">
              <a:avLst/>
            </a:prstGeom>
            <a:noFill/>
            <a:ln w="4953">
              <a:solidFill>
                <a:srgbClr val="8C8C8C"/>
              </a:solidFill>
              <a:prstDash val="dash"/>
            </a:ln>
          </p:spPr>
        </p:sp>
        <p:sp>
          <p:nvSpPr>
            <p:cNvPr id="30" name="svg0_15"/>
            <p:cNvSpPr txBox="1"/>
            <p:nvPr/>
          </p:nvSpPr>
          <p:spPr>
            <a:xfrm>
              <a:off x="1557040" y="3552718"/>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+2,9</a:t>
              </a:r>
              <a:endParaRPr lang="en-US" sz="649" dirty="0"/>
            </a:p>
          </p:txBody>
        </p:sp>
        <p:sp>
          <p:nvSpPr>
            <p:cNvPr id="31" name="svg0_16"/>
            <p:cNvSpPr txBox="1"/>
            <p:nvPr/>
          </p:nvSpPr>
          <p:spPr>
            <a:xfrm>
              <a:off x="1540947" y="4376044"/>
              <a:ext cx="23747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 Tiền</a:t>
              </a:r>
              <a:endParaRPr lang="en-US" sz="557" dirty="0"/>
            </a:p>
          </p:txBody>
        </p:sp>
        <p:sp>
          <p:nvSpPr>
            <p:cNvPr id="32" name="svg0_17"/>
            <p:cNvSpPr txBox="1"/>
            <p:nvPr/>
          </p:nvSpPr>
          <p:spPr>
            <a:xfrm>
              <a:off x="1558412" y="4450659"/>
              <a:ext cx="20382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2025</a:t>
              </a:r>
              <a:endParaRPr lang="en-US" sz="557" dirty="0"/>
            </a:p>
          </p:txBody>
        </p:sp>
        <p:sp>
          <p:nvSpPr>
            <p:cNvPr id="33" name="svg0_18"/>
            <p:cNvSpPr/>
            <p:nvPr/>
          </p:nvSpPr>
          <p:spPr>
            <a:xfrm>
              <a:off x="1901586" y="3661989"/>
              <a:ext cx="208117" cy="15453"/>
            </a:xfrm>
            <a:prstGeom prst="rect">
              <a:avLst/>
            </a:prstGeom>
            <a:solidFill>
              <a:srgbClr val="A3A3A3"/>
            </a:solidFill>
            <a:ln/>
          </p:spPr>
        </p:sp>
        <p:sp>
          <p:nvSpPr>
            <p:cNvPr id="34" name="svg0_19"/>
            <p:cNvSpPr/>
            <p:nvPr/>
          </p:nvSpPr>
          <p:spPr>
            <a:xfrm>
              <a:off x="1762872" y="3661989"/>
              <a:ext cx="138714" cy="0"/>
            </a:xfrm>
            <a:prstGeom prst="line">
              <a:avLst/>
            </a:prstGeom>
            <a:noFill/>
            <a:ln w="4953">
              <a:solidFill>
                <a:srgbClr val="8C8C8C"/>
              </a:solidFill>
              <a:prstDash val="dash"/>
            </a:ln>
          </p:spPr>
        </p:sp>
        <p:sp>
          <p:nvSpPr>
            <p:cNvPr id="35" name="svg0_20"/>
            <p:cNvSpPr txBox="1"/>
            <p:nvPr/>
          </p:nvSpPr>
          <p:spPr>
            <a:xfrm>
              <a:off x="1903598" y="3552718"/>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−1,6</a:t>
              </a:r>
              <a:endParaRPr lang="en-US" sz="649" dirty="0"/>
            </a:p>
          </p:txBody>
        </p:sp>
        <p:sp>
          <p:nvSpPr>
            <p:cNvPr id="36" name="svg0_21"/>
            <p:cNvSpPr txBox="1"/>
            <p:nvPr/>
          </p:nvSpPr>
          <p:spPr>
            <a:xfrm>
              <a:off x="1844528" y="4376044"/>
              <a:ext cx="32854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 Nợ vay</a:t>
              </a:r>
              <a:endParaRPr lang="en-US" sz="557" dirty="0"/>
            </a:p>
          </p:txBody>
        </p:sp>
        <p:sp>
          <p:nvSpPr>
            <p:cNvPr id="37" name="svg0_22"/>
            <p:cNvSpPr txBox="1"/>
            <p:nvPr/>
          </p:nvSpPr>
          <p:spPr>
            <a:xfrm>
              <a:off x="1904878" y="4450659"/>
              <a:ext cx="20382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2025</a:t>
              </a:r>
              <a:endParaRPr lang="en-US" sz="557" dirty="0"/>
            </a:p>
          </p:txBody>
        </p:sp>
        <p:sp>
          <p:nvSpPr>
            <p:cNvPr id="38" name="svg0_23"/>
            <p:cNvSpPr/>
            <p:nvPr/>
          </p:nvSpPr>
          <p:spPr>
            <a:xfrm>
              <a:off x="2248510" y="3677442"/>
              <a:ext cx="208117" cy="374355"/>
            </a:xfrm>
            <a:prstGeom prst="rect">
              <a:avLst/>
            </a:prstGeom>
            <a:solidFill>
              <a:srgbClr val="7B1E2B"/>
            </a:solidFill>
            <a:ln/>
          </p:spPr>
        </p:sp>
        <p:sp>
          <p:nvSpPr>
            <p:cNvPr id="39" name="svg0_24"/>
            <p:cNvSpPr/>
            <p:nvPr/>
          </p:nvSpPr>
          <p:spPr>
            <a:xfrm>
              <a:off x="2109704" y="3677442"/>
              <a:ext cx="138806" cy="0"/>
            </a:xfrm>
            <a:prstGeom prst="line">
              <a:avLst/>
            </a:prstGeom>
            <a:noFill/>
            <a:ln w="4953">
              <a:solidFill>
                <a:srgbClr val="8C8C8C"/>
              </a:solidFill>
              <a:prstDash val="dash"/>
            </a:ln>
          </p:spPr>
        </p:sp>
        <p:sp>
          <p:nvSpPr>
            <p:cNvPr id="40" name="svg0_25"/>
            <p:cNvSpPr txBox="1"/>
            <p:nvPr/>
          </p:nvSpPr>
          <p:spPr>
            <a:xfrm>
              <a:off x="2249241" y="3568446"/>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38,9</a:t>
              </a:r>
              <a:endParaRPr lang="en-US" sz="649" dirty="0"/>
            </a:p>
          </p:txBody>
        </p:sp>
        <p:sp>
          <p:nvSpPr>
            <p:cNvPr id="41" name="svg0_26"/>
            <p:cNvSpPr txBox="1"/>
            <p:nvPr/>
          </p:nvSpPr>
          <p:spPr>
            <a:xfrm>
              <a:off x="2153778" y="4376044"/>
              <a:ext cx="403068"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Pre-money</a:t>
              </a:r>
              <a:endParaRPr lang="en-US" sz="557" dirty="0"/>
            </a:p>
          </p:txBody>
        </p:sp>
        <p:sp>
          <p:nvSpPr>
            <p:cNvPr id="42" name="svg0_27"/>
            <p:cNvSpPr/>
            <p:nvPr/>
          </p:nvSpPr>
          <p:spPr>
            <a:xfrm>
              <a:off x="444856" y="4051706"/>
              <a:ext cx="2081083" cy="0"/>
            </a:xfrm>
            <a:prstGeom prst="line">
              <a:avLst/>
            </a:prstGeom>
            <a:noFill/>
            <a:ln w="6858">
              <a:solidFill>
                <a:srgbClr val="8C8C8C"/>
              </a:solidFill>
              <a:prstDash val="solid"/>
            </a:ln>
          </p:spPr>
        </p:sp>
      </p:grpSp>
      <p:grpSp>
        <p:nvGrpSpPr>
          <p:cNvPr id="99" name="Fig. 43 – biểu đồ"/>
          <p:cNvGrpSpPr/>
          <p:nvPr/>
        </p:nvGrpSpPr>
        <p:grpSpPr>
          <a:xfrm>
            <a:off x="349575" y="8406628"/>
            <a:ext cx="2072488" cy="1069208"/>
            <a:chOff x="349575" y="8406628"/>
            <a:chExt cx="2072488" cy="1069208"/>
          </a:xfrm>
        </p:grpSpPr>
        <p:sp>
          <p:nvSpPr>
            <p:cNvPr id="43" name="svg1_28"/>
            <p:cNvSpPr txBox="1"/>
            <p:nvPr/>
          </p:nvSpPr>
          <p:spPr>
            <a:xfrm>
              <a:off x="763524" y="8410926"/>
              <a:ext cx="42729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VC Method</a:t>
              </a:r>
              <a:endParaRPr lang="en-US" sz="587" dirty="0"/>
            </a:p>
          </p:txBody>
        </p:sp>
        <p:sp>
          <p:nvSpPr>
            <p:cNvPr id="44" name="svg1_29"/>
            <p:cNvSpPr/>
            <p:nvPr/>
          </p:nvSpPr>
          <p:spPr>
            <a:xfrm>
              <a:off x="1230142" y="8426287"/>
              <a:ext cx="272125" cy="65837"/>
            </a:xfrm>
            <a:prstGeom prst="rect">
              <a:avLst/>
            </a:prstGeom>
            <a:solidFill>
              <a:srgbClr val="A3A3A3"/>
            </a:solidFill>
            <a:ln/>
          </p:spPr>
        </p:sp>
        <p:sp>
          <p:nvSpPr>
            <p:cNvPr id="45" name="svg1_30"/>
            <p:cNvSpPr txBox="1"/>
            <p:nvPr/>
          </p:nvSpPr>
          <p:spPr>
            <a:xfrm>
              <a:off x="349575" y="8517087"/>
              <a:ext cx="84481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DCF × xác suất sống sót</a:t>
              </a:r>
              <a:endParaRPr lang="en-US" sz="587" dirty="0"/>
            </a:p>
          </p:txBody>
        </p:sp>
        <p:sp>
          <p:nvSpPr>
            <p:cNvPr id="46" name="svg1_31"/>
            <p:cNvSpPr/>
            <p:nvPr/>
          </p:nvSpPr>
          <p:spPr>
            <a:xfrm>
              <a:off x="1230142" y="8532358"/>
              <a:ext cx="322783" cy="65745"/>
            </a:xfrm>
            <a:prstGeom prst="rect">
              <a:avLst/>
            </a:prstGeom>
            <a:solidFill>
              <a:srgbClr val="A3A3A3"/>
            </a:solidFill>
            <a:ln/>
          </p:spPr>
        </p:sp>
        <p:sp>
          <p:nvSpPr>
            <p:cNvPr id="47" name="svg1_32"/>
            <p:cNvSpPr txBox="1"/>
            <p:nvPr/>
          </p:nvSpPr>
          <p:spPr>
            <a:xfrm>
              <a:off x="434523" y="8623066"/>
              <a:ext cx="756300" cy="104790"/>
            </a:xfrm>
            <a:prstGeom prst="rect">
              <a:avLst/>
            </a:prstGeom>
            <a:noFill/>
            <a:ln/>
          </p:spPr>
          <p:txBody>
            <a:bodyPr wrap="none" lIns="0" tIns="0" rIns="0" bIns="0" rtlCol="0" anchor="ctr"/>
            <a:lstStyle/>
            <a:p>
              <a:pPr algn="r" indent="0" marL="0">
                <a:buNone/>
              </a:pPr>
              <a:r>
                <a:rPr lang="en-US" sz="587" b="1" dirty="0">
                  <a:solidFill>
                    <a:srgbClr val="262626"/>
                  </a:solidFill>
                  <a:latin typeface="Calibri" pitchFamily="34" charset="0"/>
                  <a:ea typeface="Calibri" pitchFamily="34" charset="-122"/>
                  <a:cs typeface="Calibri" pitchFamily="34" charset="-120"/>
                </a:rPr>
                <a:t>Khuyến nghị (50/50)</a:t>
              </a:r>
              <a:endParaRPr lang="en-US" sz="587" dirty="0"/>
            </a:p>
          </p:txBody>
        </p:sp>
        <p:sp>
          <p:nvSpPr>
            <p:cNvPr id="48" name="svg1_33"/>
            <p:cNvSpPr/>
            <p:nvPr/>
          </p:nvSpPr>
          <p:spPr>
            <a:xfrm>
              <a:off x="1230142" y="8638428"/>
              <a:ext cx="350124" cy="65745"/>
            </a:xfrm>
            <a:prstGeom prst="rect">
              <a:avLst/>
            </a:prstGeom>
            <a:solidFill>
              <a:srgbClr val="7B1E2B"/>
            </a:solidFill>
            <a:ln/>
          </p:spPr>
        </p:sp>
        <p:sp>
          <p:nvSpPr>
            <p:cNvPr id="49" name="svg1_34"/>
            <p:cNvSpPr txBox="1"/>
            <p:nvPr/>
          </p:nvSpPr>
          <p:spPr>
            <a:xfrm>
              <a:off x="1015441" y="8729137"/>
              <a:ext cx="17913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DCF</a:t>
              </a:r>
              <a:endParaRPr lang="en-US" sz="587" dirty="0"/>
            </a:p>
          </p:txBody>
        </p:sp>
        <p:sp>
          <p:nvSpPr>
            <p:cNvPr id="50" name="svg1_35"/>
            <p:cNvSpPr/>
            <p:nvPr/>
          </p:nvSpPr>
          <p:spPr>
            <a:xfrm>
              <a:off x="1230142" y="8744407"/>
              <a:ext cx="428122" cy="65745"/>
            </a:xfrm>
            <a:prstGeom prst="rect">
              <a:avLst/>
            </a:prstGeom>
            <a:solidFill>
              <a:srgbClr val="A3A3A3"/>
            </a:solidFill>
            <a:ln/>
          </p:spPr>
        </p:sp>
        <p:sp>
          <p:nvSpPr>
            <p:cNvPr id="51" name="svg1_36"/>
            <p:cNvSpPr txBox="1"/>
            <p:nvPr/>
          </p:nvSpPr>
          <p:spPr>
            <a:xfrm>
              <a:off x="505297" y="8835116"/>
              <a:ext cx="68589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VCSH sổ sách 2025</a:t>
              </a:r>
              <a:endParaRPr lang="en-US" sz="587" dirty="0"/>
            </a:p>
          </p:txBody>
        </p:sp>
        <p:sp>
          <p:nvSpPr>
            <p:cNvPr id="52" name="svg1_37"/>
            <p:cNvSpPr/>
            <p:nvPr/>
          </p:nvSpPr>
          <p:spPr>
            <a:xfrm>
              <a:off x="1230142" y="8850478"/>
              <a:ext cx="329550" cy="65745"/>
            </a:xfrm>
            <a:prstGeom prst="rect">
              <a:avLst/>
            </a:prstGeom>
            <a:solidFill>
              <a:srgbClr val="D0D0D0"/>
            </a:solidFill>
            <a:ln/>
          </p:spPr>
        </p:sp>
        <p:sp>
          <p:nvSpPr>
            <p:cNvPr id="53" name="svg1_38"/>
            <p:cNvSpPr txBox="1"/>
            <p:nvPr/>
          </p:nvSpPr>
          <p:spPr>
            <a:xfrm>
              <a:off x="641726" y="8941095"/>
              <a:ext cx="55330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Giá trị thanh lý</a:t>
              </a:r>
              <a:endParaRPr lang="en-US" sz="587" dirty="0"/>
            </a:p>
          </p:txBody>
        </p:sp>
        <p:sp>
          <p:nvSpPr>
            <p:cNvPr id="54" name="svg1_39"/>
            <p:cNvSpPr/>
            <p:nvPr/>
          </p:nvSpPr>
          <p:spPr>
            <a:xfrm>
              <a:off x="1230142" y="8956457"/>
              <a:ext cx="164683" cy="65837"/>
            </a:xfrm>
            <a:prstGeom prst="rect">
              <a:avLst/>
            </a:prstGeom>
            <a:solidFill>
              <a:srgbClr val="D0D0D0"/>
            </a:solidFill>
            <a:ln/>
          </p:spPr>
        </p:sp>
        <p:sp>
          <p:nvSpPr>
            <p:cNvPr id="55" name="svg1_40"/>
            <p:cNvSpPr txBox="1"/>
            <p:nvPr/>
          </p:nvSpPr>
          <p:spPr>
            <a:xfrm>
              <a:off x="666232" y="9047165"/>
              <a:ext cx="53035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P/E 26E × 9,4x</a:t>
              </a:r>
              <a:endParaRPr lang="en-US" sz="587" dirty="0"/>
            </a:p>
          </p:txBody>
        </p:sp>
        <p:sp>
          <p:nvSpPr>
            <p:cNvPr id="56" name="svg1_41"/>
            <p:cNvSpPr/>
            <p:nvPr/>
          </p:nvSpPr>
          <p:spPr>
            <a:xfrm>
              <a:off x="1230142" y="9062436"/>
              <a:ext cx="679948" cy="65837"/>
            </a:xfrm>
            <a:prstGeom prst="rect">
              <a:avLst/>
            </a:prstGeom>
            <a:solidFill>
              <a:srgbClr val="D0D0D0"/>
            </a:solidFill>
            <a:ln/>
          </p:spPr>
        </p:sp>
        <p:sp>
          <p:nvSpPr>
            <p:cNvPr id="57" name="svg1_42"/>
            <p:cNvSpPr txBox="1"/>
            <p:nvPr/>
          </p:nvSpPr>
          <p:spPr>
            <a:xfrm>
              <a:off x="411023" y="9153144"/>
              <a:ext cx="78547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EV/EBITDA 26E × 5,7x</a:t>
              </a:r>
              <a:endParaRPr lang="en-US" sz="587" dirty="0"/>
            </a:p>
          </p:txBody>
        </p:sp>
        <p:sp>
          <p:nvSpPr>
            <p:cNvPr id="58" name="svg1_43"/>
            <p:cNvSpPr/>
            <p:nvPr/>
          </p:nvSpPr>
          <p:spPr>
            <a:xfrm>
              <a:off x="1230142" y="9168506"/>
              <a:ext cx="728137" cy="65837"/>
            </a:xfrm>
            <a:prstGeom prst="rect">
              <a:avLst/>
            </a:prstGeom>
            <a:solidFill>
              <a:srgbClr val="D0D0D0"/>
            </a:solidFill>
            <a:ln/>
          </p:spPr>
        </p:sp>
        <p:sp>
          <p:nvSpPr>
            <p:cNvPr id="59" name="svg1_44"/>
            <p:cNvSpPr txBox="1"/>
            <p:nvPr/>
          </p:nvSpPr>
          <p:spPr>
            <a:xfrm>
              <a:off x="411023" y="9259123"/>
              <a:ext cx="78547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EV/EBITDA 26E × 8,0x</a:t>
              </a:r>
              <a:endParaRPr lang="en-US" sz="587" dirty="0"/>
            </a:p>
          </p:txBody>
        </p:sp>
        <p:sp>
          <p:nvSpPr>
            <p:cNvPr id="60" name="svg1_45"/>
            <p:cNvSpPr/>
            <p:nvPr/>
          </p:nvSpPr>
          <p:spPr>
            <a:xfrm>
              <a:off x="1230142" y="9274485"/>
              <a:ext cx="1015898" cy="65837"/>
            </a:xfrm>
            <a:prstGeom prst="rect">
              <a:avLst/>
            </a:prstGeom>
            <a:solidFill>
              <a:srgbClr val="D0D0D0"/>
            </a:solidFill>
            <a:ln/>
          </p:spPr>
        </p:sp>
        <p:sp>
          <p:nvSpPr>
            <p:cNvPr id="61" name="svg1_46"/>
            <p:cNvSpPr/>
            <p:nvPr/>
          </p:nvSpPr>
          <p:spPr>
            <a:xfrm>
              <a:off x="1230142" y="8406628"/>
              <a:ext cx="0" cy="952713"/>
            </a:xfrm>
            <a:prstGeom prst="line">
              <a:avLst/>
            </a:prstGeom>
            <a:noFill/>
            <a:ln w="6858">
              <a:solidFill>
                <a:srgbClr val="8C8C8C"/>
              </a:solidFill>
              <a:prstDash val="solid"/>
            </a:ln>
          </p:spPr>
        </p:sp>
        <p:sp>
          <p:nvSpPr>
            <p:cNvPr id="62" name="svg1_47"/>
            <p:cNvSpPr/>
            <p:nvPr/>
          </p:nvSpPr>
          <p:spPr>
            <a:xfrm>
              <a:off x="1643634" y="8406628"/>
              <a:ext cx="0" cy="972282"/>
            </a:xfrm>
            <a:prstGeom prst="line">
              <a:avLst/>
            </a:prstGeom>
            <a:noFill/>
            <a:ln w="7874">
              <a:solidFill>
                <a:srgbClr val="404040"/>
              </a:solidFill>
              <a:prstDash val="dash"/>
            </a:ln>
          </p:spPr>
        </p:sp>
        <p:sp>
          <p:nvSpPr>
            <p:cNvPr id="63" name="svg1_48"/>
            <p:cNvSpPr txBox="1"/>
            <p:nvPr/>
          </p:nvSpPr>
          <p:spPr>
            <a:xfrm>
              <a:off x="1356147" y="9371046"/>
              <a:ext cx="576895" cy="104790"/>
            </a:xfrm>
            <a:prstGeom prst="rect">
              <a:avLst/>
            </a:prstGeom>
            <a:noFill/>
            <a:ln/>
          </p:spPr>
          <p:txBody>
            <a:bodyPr wrap="none" lIns="0" tIns="0" rIns="0" bIns="0" rtlCol="0" anchor="ctr"/>
            <a:lstStyle/>
            <a:p>
              <a:pPr algn="ctr" indent="0" marL="0">
                <a:buNone/>
              </a:pPr>
              <a:r>
                <a:rPr lang="en-US" sz="557" dirty="0">
                  <a:solidFill>
                    <a:srgbClr val="404040"/>
                  </a:solidFill>
                  <a:latin typeface="Calibri" pitchFamily="34" charset="0"/>
                  <a:ea typeface="Calibri" pitchFamily="34" charset="-122"/>
                  <a:cs typeface="Calibri" pitchFamily="34" charset="-120"/>
                </a:rPr>
                <a:t>Vốn cần gọi 37,6</a:t>
              </a:r>
              <a:endParaRPr lang="en-US" sz="557" dirty="0"/>
            </a:p>
          </p:txBody>
        </p:sp>
        <p:sp>
          <p:nvSpPr>
            <p:cNvPr id="64" name="svg1_49"/>
            <p:cNvSpPr txBox="1"/>
            <p:nvPr/>
          </p:nvSpPr>
          <p:spPr>
            <a:xfrm>
              <a:off x="1526591" y="8410926"/>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24,8</a:t>
              </a:r>
              <a:endParaRPr lang="en-US" sz="587" dirty="0"/>
            </a:p>
          </p:txBody>
        </p:sp>
        <p:sp>
          <p:nvSpPr>
            <p:cNvPr id="65" name="svg1_50"/>
            <p:cNvSpPr txBox="1"/>
            <p:nvPr/>
          </p:nvSpPr>
          <p:spPr>
            <a:xfrm>
              <a:off x="1577614" y="8517087"/>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29,4</a:t>
              </a:r>
              <a:endParaRPr lang="en-US" sz="587" dirty="0"/>
            </a:p>
          </p:txBody>
        </p:sp>
        <p:sp>
          <p:nvSpPr>
            <p:cNvPr id="66" name="svg1_51"/>
            <p:cNvSpPr txBox="1"/>
            <p:nvPr/>
          </p:nvSpPr>
          <p:spPr>
            <a:xfrm>
              <a:off x="1605138" y="8623066"/>
              <a:ext cx="151882" cy="104790"/>
            </a:xfrm>
            <a:prstGeom prst="rect">
              <a:avLst/>
            </a:prstGeom>
            <a:solidFill>
              <a:srgbClr val="FFFFFF"/>
            </a:solidFill>
            <a:ln/>
          </p:spPr>
          <p:txBody>
            <a:bodyPr wrap="none" lIns="0" tIns="0" rIns="0" bIns="0" rtlCol="0" anchor="ctr"/>
            <a:lstStyle/>
            <a:p>
              <a:pPr algn="l" indent="0" marL="0">
                <a:buNone/>
              </a:pPr>
              <a:r>
                <a:rPr lang="en-US" sz="587" b="1" dirty="0">
                  <a:solidFill>
                    <a:srgbClr val="262626"/>
                  </a:solidFill>
                  <a:latin typeface="Calibri" pitchFamily="34" charset="0"/>
                  <a:ea typeface="Calibri" pitchFamily="34" charset="-122"/>
                  <a:cs typeface="Calibri" pitchFamily="34" charset="-120"/>
                </a:rPr>
                <a:t>31,8</a:t>
              </a:r>
              <a:endParaRPr lang="en-US" sz="587" dirty="0"/>
            </a:p>
          </p:txBody>
        </p:sp>
        <p:sp>
          <p:nvSpPr>
            <p:cNvPr id="67" name="svg1_52"/>
            <p:cNvSpPr txBox="1"/>
            <p:nvPr/>
          </p:nvSpPr>
          <p:spPr>
            <a:xfrm>
              <a:off x="1682679" y="8729137"/>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38,9</a:t>
              </a:r>
              <a:endParaRPr lang="en-US" sz="587" dirty="0"/>
            </a:p>
          </p:txBody>
        </p:sp>
        <p:sp>
          <p:nvSpPr>
            <p:cNvPr id="68" name="svg1_53"/>
            <p:cNvSpPr txBox="1"/>
            <p:nvPr/>
          </p:nvSpPr>
          <p:spPr>
            <a:xfrm>
              <a:off x="1584564" y="8835116"/>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30,0</a:t>
              </a:r>
              <a:endParaRPr lang="en-US" sz="587" dirty="0"/>
            </a:p>
          </p:txBody>
        </p:sp>
        <p:sp>
          <p:nvSpPr>
            <p:cNvPr id="69" name="svg1_54"/>
            <p:cNvSpPr txBox="1"/>
            <p:nvPr/>
          </p:nvSpPr>
          <p:spPr>
            <a:xfrm>
              <a:off x="1419606" y="8941095"/>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15,0</a:t>
              </a:r>
              <a:endParaRPr lang="en-US" sz="587" dirty="0"/>
            </a:p>
          </p:txBody>
        </p:sp>
        <p:sp>
          <p:nvSpPr>
            <p:cNvPr id="70" name="svg1_55"/>
            <p:cNvSpPr txBox="1"/>
            <p:nvPr/>
          </p:nvSpPr>
          <p:spPr>
            <a:xfrm>
              <a:off x="1934962" y="9047165"/>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61,8</a:t>
              </a:r>
              <a:endParaRPr lang="en-US" sz="587" dirty="0"/>
            </a:p>
          </p:txBody>
        </p:sp>
        <p:sp>
          <p:nvSpPr>
            <p:cNvPr id="71" name="svg1_56"/>
            <p:cNvSpPr txBox="1"/>
            <p:nvPr/>
          </p:nvSpPr>
          <p:spPr>
            <a:xfrm>
              <a:off x="1983059" y="9153144"/>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66,2</a:t>
              </a:r>
              <a:endParaRPr lang="en-US" sz="587" dirty="0"/>
            </a:p>
          </p:txBody>
        </p:sp>
        <p:sp>
          <p:nvSpPr>
            <p:cNvPr id="72" name="svg1_57"/>
            <p:cNvSpPr txBox="1"/>
            <p:nvPr/>
          </p:nvSpPr>
          <p:spPr>
            <a:xfrm>
              <a:off x="2270730" y="9259123"/>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92,4</a:t>
              </a:r>
              <a:endParaRPr lang="en-US" sz="587" dirty="0"/>
            </a:p>
          </p:txBody>
        </p:sp>
      </p:grpSp>
      <p:sp>
        <p:nvSpPr>
          <p:cNvPr id="73" name="Text 67"/>
          <p:cNvSpPr txBox="1"/>
          <p:nvPr/>
        </p:nvSpPr>
        <p:spPr>
          <a:xfrm>
            <a:off x="405354" y="315559"/>
            <a:ext cx="1873148" cy="119238"/>
          </a:xfrm>
          <a:prstGeom prst="rect">
            <a:avLst/>
          </a:prstGeom>
          <a:noFill/>
          <a:ln/>
        </p:spPr>
        <p:txBody>
          <a:bodyPr wrap="none" lIns="0" tIns="0" rIns="0" bIns="0" rtlCol="0" anchor="t"/>
          <a:lstStyle/>
          <a:p>
            <a:pPr algn="l" indent="0" marL="0">
              <a:lnSpc>
                <a:spcPts val="864"/>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 | Định giá &amp; đề xuất gọi vốn Series A</a:t>
            </a:r>
            <a:endParaRPr lang="en-US" sz="680" dirty="0"/>
          </a:p>
        </p:txBody>
      </p:sp>
      <p:sp>
        <p:nvSpPr>
          <p:cNvPr id="74" name="Text 68"/>
          <p:cNvSpPr txBox="1"/>
          <p:nvPr/>
        </p:nvSpPr>
        <p:spPr>
          <a:xfrm>
            <a:off x="6056346" y="325161"/>
            <a:ext cx="1163940" cy="109545"/>
          </a:xfrm>
          <a:prstGeom prst="rect">
            <a:avLst/>
          </a:prstGeom>
          <a:noFill/>
          <a:ln/>
        </p:spPr>
        <p:txBody>
          <a:bodyPr wrap="none" lIns="0" tIns="0" rIns="0" bIns="0" rtlCol="0" anchor="t"/>
          <a:lstStyle/>
          <a:p>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Báo cáo phân tích · 29/09/2026</a:t>
            </a:r>
            <a:endParaRPr lang="en-US" sz="680" dirty="0"/>
          </a:p>
        </p:txBody>
      </p:sp>
      <p:sp>
        <p:nvSpPr>
          <p:cNvPr id="75" name="Text 69"/>
          <p:cNvSpPr txBox="1"/>
          <p:nvPr/>
        </p:nvSpPr>
        <p:spPr>
          <a:xfrm>
            <a:off x="484632" y="595274"/>
            <a:ext cx="6986107" cy="141641"/>
          </a:xfrm>
          <a:prstGeom prst="rect">
            <a:avLst/>
          </a:prstGeom>
          <a:noFill/>
          <a:ln/>
        </p:spPr>
        <p:txBody>
          <a:bodyPr wrap="none" lIns="0" tIns="0" rIns="0" bIns="0" rtlCol="0" anchor="t"/>
          <a:lstStyle/>
          <a:p>
            <a:pPr algn="l" indent="0" marL="0">
              <a:lnSpc>
                <a:spcPts val="1118"/>
              </a:lnSpc>
              <a:buNone/>
            </a:pPr>
            <a:r>
              <a:rPr lang="en-US" sz="880" b="1" spc="35" kern="0" dirty="0">
                <a:solidFill>
                  <a:srgbClr val="FFFFFF"/>
                </a:solidFill>
                <a:latin typeface="Calibri" pitchFamily="34" charset="0"/>
                <a:ea typeface="Calibri" pitchFamily="34" charset="-122"/>
                <a:cs typeface="Calibri" pitchFamily="34" charset="-120"/>
              </a:rPr>
              <a:t>5. ĐỊNH GIÁ</a:t>
            </a:r>
            <a:endParaRPr lang="en-US" sz="880" dirty="0"/>
          </a:p>
        </p:txBody>
      </p:sp>
      <p:sp>
        <p:nvSpPr>
          <p:cNvPr id="76" name="Text 70"/>
          <p:cNvSpPr txBox="1"/>
          <p:nvPr/>
        </p:nvSpPr>
        <p:spPr>
          <a:xfrm>
            <a:off x="405354" y="872338"/>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WACC 13,8%: total beta cho nhà đầu tư đa dạng hóa một phần</a:t>
            </a:r>
            <a:endParaRPr lang="en-US" sz="720" dirty="0"/>
          </a:p>
        </p:txBody>
      </p:sp>
      <p:sp>
        <p:nvSpPr>
          <p:cNvPr id="77" name="Text 71"/>
          <p:cNvSpPr txBox="1"/>
          <p:nvPr/>
        </p:nvSpPr>
        <p:spPr>
          <a:xfrm>
            <a:off x="405354" y="3015874"/>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Damodaran (01/2026); NHNN (8/2026); Rf và CRP là ước tính của nhóm, cần cập nhật</a:t>
            </a:r>
            <a:endParaRPr lang="en-US" sz="600" dirty="0"/>
          </a:p>
        </p:txBody>
      </p:sp>
      <p:sp>
        <p:nvSpPr>
          <p:cNvPr id="78" name="Text 72"/>
          <p:cNvSpPr txBox="1"/>
          <p:nvPr/>
        </p:nvSpPr>
        <p:spPr>
          <a:xfrm>
            <a:off x="405354" y="3312505"/>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Giá trị cuối kỳ tạo toàn bộ giá trị doanh nghiệp (tỷ đồng)</a:t>
            </a:r>
            <a:endParaRPr lang="en-US" sz="720" dirty="0"/>
          </a:p>
        </p:txBody>
      </p:sp>
      <p:sp>
        <p:nvSpPr>
          <p:cNvPr id="79" name="Text 73"/>
          <p:cNvSpPr txBox="1"/>
          <p:nvPr/>
        </p:nvSpPr>
        <p:spPr>
          <a:xfrm>
            <a:off x="405354" y="4602632"/>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a:t>
            </a:r>
            <a:endParaRPr lang="en-US" sz="600" dirty="0"/>
          </a:p>
        </p:txBody>
      </p:sp>
      <p:sp>
        <p:nvSpPr>
          <p:cNvPr id="80" name="Text 74"/>
          <p:cNvSpPr txBox="1"/>
          <p:nvPr/>
        </p:nvSpPr>
        <p:spPr>
          <a:xfrm>
            <a:off x="405354" y="4807915"/>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Độ nhạy pre-money theo DCF (tỷ đồng)</a:t>
            </a:r>
            <a:endParaRPr lang="en-US" sz="720" dirty="0"/>
          </a:p>
        </p:txBody>
      </p:sp>
      <p:sp>
        <p:nvSpPr>
          <p:cNvPr id="81" name="Text 75"/>
          <p:cNvSpPr txBox="1"/>
          <p:nvPr/>
        </p:nvSpPr>
        <p:spPr>
          <a:xfrm>
            <a:off x="405354" y="5770321"/>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(Sensitivity, bảng 1 – mỗi ô tính lại toàn bộ DCF)</a:t>
            </a:r>
            <a:endParaRPr lang="en-US" sz="600" dirty="0"/>
          </a:p>
        </p:txBody>
      </p:sp>
      <p:sp>
        <p:nvSpPr>
          <p:cNvPr id="82" name="Text 76"/>
          <p:cNvSpPr txBox="1"/>
          <p:nvPr/>
        </p:nvSpPr>
        <p:spPr>
          <a:xfrm>
            <a:off x="405354" y="5975604"/>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VC Method: pre-money 24,8 tỷ đồng</a:t>
            </a:r>
            <a:endParaRPr lang="en-US" sz="720" dirty="0"/>
          </a:p>
        </p:txBody>
      </p:sp>
      <p:sp>
        <p:nvSpPr>
          <p:cNvPr id="83" name="Text 77"/>
          <p:cNvSpPr txBox="1"/>
          <p:nvPr/>
        </p:nvSpPr>
        <p:spPr>
          <a:xfrm>
            <a:off x="405354" y="7839060"/>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(VCM); bội số ngành Containers &amp; Packaging (FiinX, 2026)</a:t>
            </a:r>
            <a:endParaRPr lang="en-US" sz="600" dirty="0"/>
          </a:p>
        </p:txBody>
      </p:sp>
      <p:sp>
        <p:nvSpPr>
          <p:cNvPr id="84" name="Text 78"/>
          <p:cNvSpPr txBox="1"/>
          <p:nvPr/>
        </p:nvSpPr>
        <p:spPr>
          <a:xfrm>
            <a:off x="405354" y="8135691"/>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Các phương pháp hội tụ quanh 25–39 tỷ; bội số cao hơn vì bỏ qua vốn đầu tư (tỷ đồng)</a:t>
            </a:r>
            <a:endParaRPr lang="en-US" sz="720" dirty="0"/>
          </a:p>
        </p:txBody>
      </p:sp>
      <p:sp>
        <p:nvSpPr>
          <p:cNvPr id="85" name="Text 79"/>
          <p:cNvSpPr txBox="1"/>
          <p:nvPr/>
        </p:nvSpPr>
        <p:spPr>
          <a:xfrm>
            <a:off x="405354" y="9535820"/>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a:t>
            </a:r>
            <a:endParaRPr lang="en-US" sz="600" dirty="0"/>
          </a:p>
        </p:txBody>
      </p:sp>
      <p:sp>
        <p:nvSpPr>
          <p:cNvPr id="86" name="Text 80"/>
          <p:cNvSpPr txBox="1"/>
          <p:nvPr/>
        </p:nvSpPr>
        <p:spPr>
          <a:xfrm>
            <a:off x="2745303" y="841157"/>
            <a:ext cx="4409237" cy="101571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Chọn phương pháp.</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AgriPack đã có ba năm doanh thu, EBITDA dương và kế hoạch đầu tư rõ, nên DCF (FCFF) dùng được để đo giá trị khi doanh nghiệp tiếp tục hoạt động. Nhưng với tỷ lệ thất bại 40%, một DCF kịch bản đơn sẽ phóng đại giá trị đối với nhà đầu tư; VC Method bổ sung góc nhìn đó bằng giá trị thoái vốn và xác suất thất bại. Bội số giao dịch chỉ dùng để đối chiếu vì doanh nghiệp niêm yết khác xa về quy mô và rủi ro. Pre-money khuyến nghị là bình quân 50/50 của DCF và VC Method. Các phương pháp cho doanh nghiệp chưa có doanh thu (Berkus, Scorecard) không phù hợp ở giai đoạn này và được trình bày ở câu hỏi Bonus.</a:t>
            </a:r>
            <a:endParaRPr lang="en-US" sz="900" dirty="0"/>
          </a:p>
        </p:txBody>
      </p:sp>
      <p:sp>
        <p:nvSpPr>
          <p:cNvPr id="87" name="Text 81"/>
          <p:cNvSpPr txBox="1"/>
          <p:nvPr/>
        </p:nvSpPr>
        <p:spPr>
          <a:xfrm>
            <a:off x="2745303" y="1908993"/>
            <a:ext cx="4409237" cy="101571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WACC 13,8%.</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Chi phí vốn chủ sở hữu 16,2% theo CAPM: lãi suất phi rủi ro 4,2%, phần bù rủi ro thị trường Việt Nam 8,13% (4,23% của thị trường phát triển cộng 3,9% rủi ro quốc gia), beta không đòn bẩy ngành bao bì 0,78 (Damodaran) điều chỉnh theo D/E mục tiêu 41% và chia cho hệ số tương quan 0,7 để phản ánh việc quỹ VC chỉ đa dạng hóa một phần – total beta 1,48 (Fig. 38). Chi phí nợ 10% trước thuế; tỷ trọng theo cơ cấu vốn mục tiêu năm 2027. Chúng tôi không cộng phần bù "startup" vào WACC vì rủi ro thất bại đã được tính trong VC Method; cộng cả hai là tính trùng.</a:t>
            </a:r>
            <a:endParaRPr lang="en-US" sz="900" dirty="0"/>
          </a:p>
        </p:txBody>
      </p:sp>
      <p:sp>
        <p:nvSpPr>
          <p:cNvPr id="88" name="Text 82"/>
          <p:cNvSpPr txBox="1"/>
          <p:nvPr/>
        </p:nvSpPr>
        <p:spPr>
          <a:xfrm>
            <a:off x="2745303" y="2976829"/>
            <a:ext cx="4409237" cy="116092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DCF: 38,9 tỷ đồng.</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Giá trị hiện tại của FCFF 2026–2030 âm 33,0 tỷ; giá trị cuối kỳ (135 tỷ năm 2030, hiện giá 70,6 tỷ) tạo toàn bộ giá trị doanh nghiệp 37,6 tỷ (Fig. 39, Fig. 40). Để giá trị cuối kỳ không phụ thuộc vào FCFF của một năm còn công suất trống, chúng tôi dùng FCFF chuẩn hóa: NOPAT 2031 × (1 − g/RONIC), với g = 5% (lạm phát mục tiêu cộng tăng trưởng thực thấp, thấp hơn GDP danh nghiệp) và RONIC 18% (cao hơn ROIC 2030 vì công suất còn dư). Dùng FCFF 2031 chưa chuẩn hóa, giá trị cuối kỳ chỉ còn 103 tỷ. Giá trị vốn chủ tương đương EV/EBITDA 2026E 3,3 lần và P/E 2026E 5,9 lần – thấp hơn bội số ngành vì đã trừ vốn đầu tư nhà máy.</a:t>
            </a:r>
            <a:endParaRPr lang="en-US" sz="900" dirty="0"/>
          </a:p>
        </p:txBody>
      </p:sp>
      <p:sp>
        <p:nvSpPr>
          <p:cNvPr id="89" name="Text 83"/>
          <p:cNvSpPr txBox="1"/>
          <p:nvPr/>
        </p:nvSpPr>
        <p:spPr>
          <a:xfrm>
            <a:off x="2745303" y="4220870"/>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Bảng tính DCF: FCFF, hệ số chiết khấu và giá trị hiện tại (tỷ đồng)</a:t>
            </a:r>
            <a:endParaRPr lang="en-US" sz="720" dirty="0"/>
          </a:p>
        </p:txBody>
      </p:sp>
      <p:sp>
        <p:nvSpPr>
          <p:cNvPr id="90" name="Text 84"/>
          <p:cNvSpPr txBox="1"/>
          <p:nvPr/>
        </p:nvSpPr>
        <p:spPr>
          <a:xfrm>
            <a:off x="2745303" y="5625114"/>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 Discount rate); chiết khấu cuối năm, t0 = 01/01/2026; cột "Cuối kỳ" = giá trị cuối kỳ tại 2030</a:t>
            </a:r>
            <a:endParaRPr lang="en-US" sz="600" dirty="0"/>
          </a:p>
        </p:txBody>
      </p:sp>
      <p:sp>
        <p:nvSpPr>
          <p:cNvPr id="91" name="Text 85"/>
          <p:cNvSpPr txBox="1"/>
          <p:nvPr/>
        </p:nvSpPr>
        <p:spPr>
          <a:xfrm>
            <a:off x="2745303" y="5799216"/>
            <a:ext cx="4409237" cy="435254"/>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Độ nhạy.</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WACC ±1 điểm % và g ±1 điểm % cho khoảng 27,5–56,8 tỷ đồng (Fig. 41). Kết quả nhạy với WACC hơn với g vì dòng tiền dương đến muộn; RONIC 14% thay vì 18% làm giá trị giảm 7,8 tỷ (Fig. A05).</a:t>
            </a:r>
            <a:endParaRPr lang="en-US" sz="900" dirty="0"/>
          </a:p>
        </p:txBody>
      </p:sp>
      <p:sp>
        <p:nvSpPr>
          <p:cNvPr id="92" name="Text 86"/>
          <p:cNvSpPr txBox="1"/>
          <p:nvPr/>
        </p:nvSpPr>
        <p:spPr>
          <a:xfrm>
            <a:off x="2745303" y="6286683"/>
            <a:ext cx="4409237" cy="116092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VC Method: 24,8 tỷ đồng.</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Nhà đầu tư thoái vốn cuối 2030. Giá trị thoái vốn là bình quân của hai cách: P/E 9,4 lần × LNST 2030E (130 tỷ) và EV/EBITDA 8,0 lần × EBITDA 2030E, cộng tiền trừ nợ (267 tỷ), tức 198,7 tỷ đồng; bội số là bình quân ngành Containers &amp; Packaging năm 2026 theo FiinX (Fig. 42). Tỷ lệ thất bại 40% là xác suất tích lũy trong 5 năm, không phải mỗi năm: quy đổi ra 9,7%/năm, tỷ suất yêu cầu khi thành công là 26,1%. Post-money bằng 198,7 × (1 − 40%)/(1 + 13,8%)</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⁵</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 62,4 tỷ; trừ 37,6 tỷ vốn mới, pre-money là 24,8 tỷ. Nếu dùng nhầm 40% như xác suất mỗi năm, tỷ suất yêu cầu lên 90% và post-money chỉ còn 8,1 tỷ – thấp hơn cả số vốn cần gọi.</a:t>
            </a:r>
            <a:endParaRPr lang="en-US" sz="900" dirty="0"/>
          </a:p>
        </p:txBody>
      </p:sp>
      <p:sp>
        <p:nvSpPr>
          <p:cNvPr id="93" name="Text 87"/>
          <p:cNvSpPr txBox="1"/>
          <p:nvPr/>
        </p:nvSpPr>
        <p:spPr>
          <a:xfrm>
            <a:off x="2745303" y="7499634"/>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Vì sao DCF và VC Method chênh 14 tỷ.</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Chênh lệch chủ yếu do VC Method tính xác suất thất bại còn DCF thì không. DCF điều chỉnh xác suất sống sót – 60% × 38,9 tỷ + 40% × giá trị thanh lý 15,0 tỷ (50% VCSH sổ sách) – cho 29,4 tỷ, sát mức bình quân 31,8 tỷ (Fig. 43). Phần còn lại đến từ giá trị thoái vốn: VC Method áp bội số ngành lên kết quả 2030, cao hơn giá trị DCF tại 2030 (127 tỷ). Hạn chế của từng phương pháp: DCF phụ thuộc giá trị cuối kỳ (188% EV), VC Method phụ thuộc bội số thoái vốn và z.</a:t>
            </a:r>
            <a:endParaRPr lang="en-US" sz="900" dirty="0"/>
          </a:p>
        </p:txBody>
      </p:sp>
      <p:sp>
        <p:nvSpPr>
          <p:cNvPr id="94" name="Text 88"/>
          <p:cNvSpPr txBox="1"/>
          <p:nvPr/>
        </p:nvSpPr>
        <p:spPr>
          <a:xfrm>
            <a:off x="2745303" y="8422264"/>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Bội số chỉ để đối chiếu.</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Áp EV/EBITDA 5,7–8,0 lần và P/E 9,4 lần lên kết quả 2026E cho 62–92 tỷ đồng, cao gấp đôi DCF. Bội số của doanh nghiệp niêm yết phản ánh doanh nghiệp đã đủ công suất, còn AgriPack phải bỏ thêm gần 69 tỷ đồng (vốn cổ phần và vay) để đạt EBITDA dự phóng. Giá trị sổ sách 30,0 tỷ gần với pre-money khuyến nghị: nhà đầu tư sẽ trả rất ít cho tăng trưởng khi nhà máy chưa được xây.</a:t>
            </a:r>
            <a:endParaRPr lang="en-US" sz="900" dirty="0"/>
          </a:p>
        </p:txBody>
      </p:sp>
      <p:sp>
        <p:nvSpPr>
          <p:cNvPr id="95" name="Text 89"/>
          <p:cNvSpPr txBox="1"/>
          <p:nvPr/>
        </p:nvSpPr>
        <p:spPr>
          <a:xfrm>
            <a:off x="2745303" y="9199961"/>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Kịch bản.</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Kết quả nhạy nhất với sản lượng (Fig. 44). Ở kịch bản Bear (sản lượng bằng 70% cơ sở, giá chỉ tăng 1%/năm, chi phí biến đổi +1 điểm %), cả DCF và VC Method đều âm: nhà máy 2027 phá hủy giá trị nếu nhu cầu không đến. Ở kịch bản Bull, pre-money 82,7 tỷ và nhà đầu tư chỉ cần 28,5% cổ phần. Nếu nhà máy trễ sang 2028 như file mẫu, pre-money giảm còn 24,0 tỷ. Tài trợ hoàn toàn bằng vốn cổ phần đẩy tỷ lệ của nhà đầu tư lên 67,7%, trong khi vay 75% CAPEX chỉ giảm tỷ lệ này xuống 52,0% nhưng làm áp lực trả nợ tăng.</a:t>
            </a:r>
            <a:endParaRPr lang="en-US" sz="900" dirty="0"/>
          </a:p>
        </p:txBody>
      </p:sp>
      <p:sp>
        <p:nvSpPr>
          <p:cNvPr id="96" name="Text 90"/>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97" name="Text 91"/>
          <p:cNvSpPr txBox="1"/>
          <p:nvPr/>
        </p:nvSpPr>
        <p:spPr>
          <a:xfrm>
            <a:off x="7114581" y="10402672"/>
            <a:ext cx="97018"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8</a:t>
            </a:r>
            <a:endParaRPr lang="en-US" sz="6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2300082"/>
            <a:ext cx="6749004" cy="206380"/>
          </a:xfrm>
          <a:prstGeom prst="rect">
            <a:avLst/>
          </a:prstGeom>
          <a:solidFill>
            <a:srgbClr val="7B1E2B"/>
          </a:solidFill>
          <a:ln/>
        </p:spPr>
      </p:sp>
      <p:sp>
        <p:nvSpPr>
          <p:cNvPr id="3" name="Shape 1"/>
          <p:cNvSpPr/>
          <p:nvPr/>
        </p:nvSpPr>
        <p:spPr>
          <a:xfrm>
            <a:off x="405354" y="471830"/>
            <a:ext cx="6749004" cy="0"/>
          </a:xfrm>
          <a:prstGeom prst="line">
            <a:avLst/>
          </a:prstGeom>
          <a:noFill/>
          <a:ln w="9525">
            <a:solidFill>
              <a:srgbClr val="7B1E2B"/>
            </a:solidFill>
            <a:prstDash val="solid"/>
          </a:ln>
        </p:spPr>
      </p:sp>
      <p:sp>
        <p:nvSpPr>
          <p:cNvPr id="4" name="Shape 2"/>
          <p:cNvSpPr/>
          <p:nvPr/>
        </p:nvSpPr>
        <p:spPr>
          <a:xfrm>
            <a:off x="405354" y="567568"/>
            <a:ext cx="6749004" cy="0"/>
          </a:xfrm>
          <a:prstGeom prst="line">
            <a:avLst/>
          </a:prstGeom>
          <a:noFill/>
          <a:ln w="9525">
            <a:solidFill>
              <a:srgbClr val="7B1E2B"/>
            </a:solidFill>
            <a:prstDash val="solid"/>
          </a:ln>
        </p:spPr>
      </p:sp>
      <p:sp>
        <p:nvSpPr>
          <p:cNvPr id="5" name="Shape 3"/>
          <p:cNvSpPr/>
          <p:nvPr/>
        </p:nvSpPr>
        <p:spPr>
          <a:xfrm>
            <a:off x="405354" y="2583180"/>
            <a:ext cx="2159996" cy="0"/>
          </a:xfrm>
          <a:prstGeom prst="line">
            <a:avLst/>
          </a:prstGeom>
          <a:noFill/>
          <a:ln w="9525">
            <a:solidFill>
              <a:srgbClr val="7B1E2B"/>
            </a:solidFill>
            <a:prstDash val="solid"/>
          </a:ln>
        </p:spPr>
      </p:sp>
      <p:sp>
        <p:nvSpPr>
          <p:cNvPr id="6" name="Shape 4"/>
          <p:cNvSpPr/>
          <p:nvPr/>
        </p:nvSpPr>
        <p:spPr>
          <a:xfrm>
            <a:off x="405354" y="4157228"/>
            <a:ext cx="2159996" cy="0"/>
          </a:xfrm>
          <a:prstGeom prst="line">
            <a:avLst/>
          </a:prstGeom>
          <a:noFill/>
          <a:ln w="9525">
            <a:solidFill>
              <a:srgbClr val="7B1E2B"/>
            </a:solidFill>
            <a:prstDash val="solid"/>
          </a:ln>
        </p:spPr>
      </p:sp>
      <p:sp>
        <p:nvSpPr>
          <p:cNvPr id="7" name="Shape 5"/>
          <p:cNvSpPr/>
          <p:nvPr/>
        </p:nvSpPr>
        <p:spPr>
          <a:xfrm>
            <a:off x="405354" y="5474330"/>
            <a:ext cx="2159996" cy="0"/>
          </a:xfrm>
          <a:prstGeom prst="line">
            <a:avLst/>
          </a:prstGeom>
          <a:noFill/>
          <a:ln w="9525">
            <a:solidFill>
              <a:srgbClr val="7B1E2B"/>
            </a:solidFill>
            <a:prstDash val="solid"/>
          </a:ln>
        </p:spPr>
      </p:sp>
      <p:sp>
        <p:nvSpPr>
          <p:cNvPr id="8" name="Shape 6"/>
          <p:cNvSpPr/>
          <p:nvPr/>
        </p:nvSpPr>
        <p:spPr>
          <a:xfrm>
            <a:off x="405354" y="7177857"/>
            <a:ext cx="2159996" cy="0"/>
          </a:xfrm>
          <a:prstGeom prst="line">
            <a:avLst/>
          </a:prstGeom>
          <a:noFill/>
          <a:ln w="9525">
            <a:solidFill>
              <a:srgbClr val="7B1E2B"/>
            </a:solidFill>
            <a:prstDash val="solid"/>
          </a:ln>
        </p:spPr>
      </p:sp>
      <p:sp>
        <p:nvSpPr>
          <p:cNvPr id="9" name="Shape 7"/>
          <p:cNvSpPr/>
          <p:nvPr/>
        </p:nvSpPr>
        <p:spPr>
          <a:xfrm>
            <a:off x="2745303" y="4283598"/>
            <a:ext cx="4409237" cy="0"/>
          </a:xfrm>
          <a:prstGeom prst="line">
            <a:avLst/>
          </a:prstGeom>
          <a:noFill/>
          <a:ln w="9525">
            <a:solidFill>
              <a:srgbClr val="7B1E2B"/>
            </a:solidFill>
            <a:prstDash val="solid"/>
          </a:ln>
        </p:spPr>
      </p:sp>
      <p:sp>
        <p:nvSpPr>
          <p:cNvPr id="10" name="Shape 8"/>
          <p:cNvSpPr/>
          <p:nvPr/>
        </p:nvSpPr>
        <p:spPr>
          <a:xfrm>
            <a:off x="405354" y="10365547"/>
            <a:ext cx="6749004" cy="0"/>
          </a:xfrm>
          <a:prstGeom prst="line">
            <a:avLst/>
          </a:prstGeom>
          <a:noFill/>
          <a:ln w="9525">
            <a:solidFill>
              <a:srgbClr val="BFBFBF"/>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5354" y="735818"/>
          <a:ext cx="6749004" cy="914400"/>
        </p:xfrm>
        <a:graphic>
          <a:graphicData uri="http://schemas.openxmlformats.org/drawingml/2006/table">
            <a:tbl>
              <a:tblPr/>
              <a:tblGrid>
                <a:gridCol w="1484711"/>
                <a:gridCol w="877367"/>
                <a:gridCol w="877367"/>
                <a:gridCol w="877367"/>
                <a:gridCol w="877367"/>
                <a:gridCol w="877367"/>
                <a:gridCol w="877641"/>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Tỷ đồng</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Base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Bear</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Bull</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Trễ 2028</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Chỉ vốn CP</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Vay 75%</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3685">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DT 2030E</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170,3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116,9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214,8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174,7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170,3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170,3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Biên EBITDA 2030E</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20,2%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13,5%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23,7%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20,6%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20,2%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20,2%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LNST 2030E</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13,9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25,8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12,1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15,6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13,4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Nhu cầu vốn CP</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37,6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48,2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33,0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45,2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59,6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34,6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Vay trung hạn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31,1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26,7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34,1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39,5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38,9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DCF pre-money</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38,9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(25,9)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97,4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31,9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45,2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37,8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VCM pre-money</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24,8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(28,5)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68,0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16,0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11,7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26,1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Pre-money bình quân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31,8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(27,2)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82,7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24,0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28,5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31,9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Tỷ lệ NĐT mới</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54,2%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n.m.</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28,5%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65,3%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67,7%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52,0%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05354" y="5642488"/>
          <a:ext cx="2159996" cy="914400"/>
        </p:xfrm>
        <a:graphic>
          <a:graphicData uri="http://schemas.openxmlformats.org/drawingml/2006/table">
            <a:tbl>
              <a:tblPr/>
              <a:tblGrid>
                <a:gridCol w="1468709"/>
                <a:gridCol w="691286"/>
              </a:tblGrid>
              <a:tr h="133045">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Series A hai đợt</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Giá trị</a:t>
                      </a:r>
                      <a:endParaRPr lang="en-US" sz="65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Đợt 1 tại t0 (55%)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20,7</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Pre-money đợt 1</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31,8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Tỷ lệ NĐT sau đợt 1</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39,4%</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Đợt 2 cuối 2027 (khi đạt mốc)</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16,9</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z còn lại sau mốc</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25%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Post-money tại đợt 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101,0</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Tỷ lệ NĐT thêm ở đợt 2</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16,8%</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dirty="0">
                          <a:solidFill>
                            <a:srgbClr val="1F1F1F"/>
                          </a:solidFill>
                          <a:latin typeface="Calibri" pitchFamily="34" charset="0"/>
                          <a:ea typeface="Calibri" pitchFamily="34" charset="-122"/>
                          <a:cs typeface="Calibri" pitchFamily="34" charset="-120"/>
                        </a:rPr>
                        <a:t>Tổng tỷ lệ NĐT</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0" dirty="0">
                          <a:solidFill>
                            <a:srgbClr val="1F1F1F"/>
                          </a:solidFill>
                          <a:latin typeface="Calibri" pitchFamily="34" charset="0"/>
                          <a:ea typeface="Calibri" pitchFamily="34" charset="-122"/>
                          <a:cs typeface="Calibri" pitchFamily="34" charset="-120"/>
                        </a:rPr>
                        <a:t>49,5%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50" b="1" dirty="0">
                          <a:solidFill>
                            <a:srgbClr val="1F1F1F"/>
                          </a:solidFill>
                          <a:latin typeface="Calibri" pitchFamily="34" charset="0"/>
                          <a:ea typeface="Calibri" pitchFamily="34" charset="-122"/>
                          <a:cs typeface="Calibri" pitchFamily="34" charset="-120"/>
                        </a:rPr>
                        <a:t>Founder &amp; cổ đông hiện hữu</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0" b="1" dirty="0">
                          <a:solidFill>
                            <a:srgbClr val="1F1F1F"/>
                          </a:solidFill>
                          <a:latin typeface="Calibri" pitchFamily="34" charset="0"/>
                          <a:ea typeface="Calibri" pitchFamily="34" charset="-122"/>
                          <a:cs typeface="Calibri" pitchFamily="34" charset="-120"/>
                        </a:rPr>
                        <a:t>50,5%</a:t>
                      </a:r>
                      <a:endParaRPr lang="en-US" sz="65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405354" y="7345924"/>
          <a:ext cx="2159996" cy="914400"/>
        </p:xfrm>
        <a:graphic>
          <a:graphicData uri="http://schemas.openxmlformats.org/drawingml/2006/table">
            <a:tbl>
              <a:tblPr/>
              <a:tblGrid>
                <a:gridCol w="648035"/>
                <a:gridCol w="302301"/>
                <a:gridCol w="302301"/>
                <a:gridCol w="302301"/>
                <a:gridCol w="302301"/>
                <a:gridCol w="302849"/>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Tỷ đồng</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2026E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2027E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2028E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2029E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80" b="1" dirty="0">
                          <a:solidFill>
                            <a:srgbClr val="FFFFFF"/>
                          </a:solidFill>
                          <a:latin typeface="Calibri" pitchFamily="34" charset="0"/>
                          <a:ea typeface="Calibri" pitchFamily="34" charset="-122"/>
                          <a:cs typeface="Calibri" pitchFamily="34" charset="-120"/>
                        </a:rPr>
                        <a:t>2030E</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35458">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Dư nợ vay cuối kỳ</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32,7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32,7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26,5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20,3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Lãi vay</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Trả gốc</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6,2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EBITDA</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11,4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14,3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17,8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26,9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34,4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EBIT / lãi vay (lần)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47,7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5,2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1,9</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4,7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8,4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DSCR (lần)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65,4</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7,5</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5,2</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2,7</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b="1" dirty="0">
                          <a:solidFill>
                            <a:srgbClr val="1F1F1F"/>
                          </a:solidFill>
                          <a:latin typeface="Calibri" pitchFamily="34" charset="0"/>
                          <a:ea typeface="Calibri" pitchFamily="34" charset="-122"/>
                          <a:cs typeface="Calibri" pitchFamily="34" charset="-120"/>
                        </a:rPr>
                        <a:t>3,6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Nợ vay / EBITDA (lần)</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0,1</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2,3</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1,8</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1,0</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80" dirty="0">
                          <a:solidFill>
                            <a:srgbClr val="1F1F1F"/>
                          </a:solidFill>
                          <a:latin typeface="Calibri" pitchFamily="34" charset="0"/>
                          <a:ea typeface="Calibri" pitchFamily="34" charset="-122"/>
                          <a:cs typeface="Calibri" pitchFamily="34" charset="-120"/>
                        </a:rPr>
                        <a:t>0,6</a:t>
                      </a:r>
                      <a:endParaRPr lang="en-US" sz="68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37" name="Table 3"/>
          <p:cNvGraphicFramePr>
            <a:graphicFrameLocks noGrp="1"/>
          </p:cNvGraphicFramePr>
          <p:nvPr>
            <p:extLst>
              <p:ext uri="{D42A27DB-BD31-4B8C-83A1-F6EECF244321}">
                <p14:modId xmlns:p14="http://schemas.microsoft.com/office/powerpoint/2010/main" val="1579011935"/>
              </p:ext>
            </p:extLst>
          </p:nvPr>
        </p:nvGraphicFramePr>
        <p:xfrm>
          <a:off x="2745303" y="4451756"/>
          <a:ext cx="4409237" cy="914400"/>
        </p:xfrm>
        <a:graphic>
          <a:graphicData uri="http://schemas.openxmlformats.org/drawingml/2006/table">
            <a:tbl>
              <a:tblPr/>
              <a:tblGrid>
                <a:gridCol w="1058144"/>
                <a:gridCol w="837590"/>
                <a:gridCol w="881847"/>
                <a:gridCol w="484906"/>
                <a:gridCol w="1146749"/>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Nguồn vốn</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Chi phí</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Rủi ro cho DN</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Pha loãng</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Đánh giá</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3685">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Founder, cổ đông hiện hữu</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Chi phí cơ hội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Thấp</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Không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Không đủ quy mô</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Angel</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Cao</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Thấp</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Có</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Quy mô nhỏ so với nhu cầu</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Quỹ VC (Series A)</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Cao: ~26%/năm khi thành công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Trung bình (điều khoản bảo vệ)</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Có</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Phù hợp cho phần vốn rủi ro</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NĐT chiến lược (chuỗi F&amp;B, tập đoàn bao bì)</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Trung bình</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Phụ thuộc đối tác</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Có</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Phù hợp ở đợt 2</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Vay trung hạn ngân hàng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~10%/năm</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Cao nếu dòng tiền đến chậm</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Không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b="1" dirty="0">
                          <a:solidFill>
                            <a:srgbClr val="1F1F1F"/>
                          </a:solidFill>
                          <a:latin typeface="Calibri" pitchFamily="34" charset="0"/>
                          <a:ea typeface="Calibri" pitchFamily="34" charset="-122"/>
                          <a:cs typeface="Calibri" pitchFamily="34" charset="-120"/>
                        </a:rPr>
                        <a:t>60% CAPEX nhà máy, TSĐB là nhà máy</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Thuê tài chính thiết bị</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Cao hơn vay ngân hàng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Trung bình</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Không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Thay thế một phần khoản vay</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Venture debt</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Cao</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Cao</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Ít (quyền mua CP)</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Chưa phổ biến ở Việt Nam</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Hỗ trợ lãi suất NATIF, tài trợ ĐMST</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Rất thấp</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Thấp</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Không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Bổ sung, không chắc chắn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91" name="Fig. 45 – biểu đồ"/>
          <p:cNvGrpSpPr/>
          <p:nvPr/>
        </p:nvGrpSpPr>
        <p:grpSpPr>
          <a:xfrm>
            <a:off x="311445" y="2853660"/>
            <a:ext cx="2302550" cy="1028242"/>
            <a:chOff x="311445" y="2853660"/>
            <a:chExt cx="2302550" cy="1028242"/>
          </a:xfrm>
        </p:grpSpPr>
        <p:sp>
          <p:nvSpPr>
            <p:cNvPr id="15" name="svg0_0"/>
            <p:cNvSpPr txBox="1"/>
            <p:nvPr/>
          </p:nvSpPr>
          <p:spPr>
            <a:xfrm>
              <a:off x="888065" y="2853660"/>
              <a:ext cx="487924" cy="11430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NGUỒN 91,2</a:t>
              </a:r>
              <a:endParaRPr lang="en-US" sz="587" dirty="0"/>
            </a:p>
          </p:txBody>
        </p:sp>
        <p:sp>
          <p:nvSpPr>
            <p:cNvPr id="16" name="svg0_1"/>
            <p:cNvSpPr/>
            <p:nvPr/>
          </p:nvSpPr>
          <p:spPr>
            <a:xfrm>
              <a:off x="916046" y="2978749"/>
              <a:ext cx="431963" cy="222748"/>
            </a:xfrm>
            <a:prstGeom prst="rect">
              <a:avLst/>
            </a:prstGeom>
            <a:solidFill>
              <a:srgbClr val="404040"/>
            </a:solidFill>
            <a:ln w="7874">
              <a:solidFill>
                <a:srgbClr val="FFFFFF"/>
              </a:solidFill>
              <a:prstDash val="solid"/>
            </a:ln>
          </p:spPr>
        </p:sp>
        <p:sp>
          <p:nvSpPr>
            <p:cNvPr id="17" name="svg0_2"/>
            <p:cNvSpPr txBox="1"/>
            <p:nvPr/>
          </p:nvSpPr>
          <p:spPr>
            <a:xfrm>
              <a:off x="1029432" y="3031419"/>
              <a:ext cx="205100"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22,5</a:t>
              </a:r>
              <a:endParaRPr lang="en-US" sz="649" dirty="0"/>
            </a:p>
          </p:txBody>
        </p:sp>
        <p:sp>
          <p:nvSpPr>
            <p:cNvPr id="18" name="svg0_3"/>
            <p:cNvSpPr txBox="1"/>
            <p:nvPr/>
          </p:nvSpPr>
          <p:spPr>
            <a:xfrm>
              <a:off x="388346" y="3040929"/>
              <a:ext cx="49834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CFO 2026–28</a:t>
              </a:r>
              <a:endParaRPr lang="en-US" sz="587" dirty="0"/>
            </a:p>
          </p:txBody>
        </p:sp>
        <p:sp>
          <p:nvSpPr>
            <p:cNvPr id="19" name="svg0_4"/>
            <p:cNvSpPr/>
            <p:nvPr/>
          </p:nvSpPr>
          <p:spPr>
            <a:xfrm>
              <a:off x="916046" y="3201589"/>
              <a:ext cx="431963" cy="372527"/>
            </a:xfrm>
            <a:prstGeom prst="rect">
              <a:avLst/>
            </a:prstGeom>
            <a:solidFill>
              <a:srgbClr val="7B1E2B"/>
            </a:solidFill>
            <a:ln w="7874">
              <a:solidFill>
                <a:srgbClr val="FFFFFF"/>
              </a:solidFill>
              <a:prstDash val="solid"/>
            </a:ln>
          </p:spPr>
        </p:sp>
        <p:sp>
          <p:nvSpPr>
            <p:cNvPr id="20" name="svg0_5"/>
            <p:cNvSpPr txBox="1"/>
            <p:nvPr/>
          </p:nvSpPr>
          <p:spPr>
            <a:xfrm>
              <a:off x="1028974" y="3329879"/>
              <a:ext cx="21168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37,6</a:t>
              </a:r>
              <a:endParaRPr lang="en-US" sz="649" dirty="0"/>
            </a:p>
          </p:txBody>
        </p:sp>
        <p:sp>
          <p:nvSpPr>
            <p:cNvPr id="21" name="svg0_6"/>
            <p:cNvSpPr txBox="1"/>
            <p:nvPr/>
          </p:nvSpPr>
          <p:spPr>
            <a:xfrm>
              <a:off x="311445" y="3339389"/>
              <a:ext cx="57936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Vốn CP Series A</a:t>
              </a:r>
              <a:endParaRPr lang="en-US" sz="587" dirty="0"/>
            </a:p>
          </p:txBody>
        </p:sp>
        <p:sp>
          <p:nvSpPr>
            <p:cNvPr id="22" name="svg0_7"/>
            <p:cNvSpPr/>
            <p:nvPr/>
          </p:nvSpPr>
          <p:spPr>
            <a:xfrm>
              <a:off x="916046" y="3573932"/>
              <a:ext cx="431963" cy="307970"/>
            </a:xfrm>
            <a:prstGeom prst="rect">
              <a:avLst/>
            </a:prstGeom>
            <a:solidFill>
              <a:srgbClr val="A3A3A3"/>
            </a:solidFill>
            <a:ln w="7874">
              <a:solidFill>
                <a:srgbClr val="FFFFFF"/>
              </a:solidFill>
              <a:prstDash val="solid"/>
            </a:ln>
          </p:spPr>
        </p:sp>
        <p:sp>
          <p:nvSpPr>
            <p:cNvPr id="23" name="svg0_8"/>
            <p:cNvSpPr txBox="1"/>
            <p:nvPr/>
          </p:nvSpPr>
          <p:spPr>
            <a:xfrm>
              <a:off x="1028974" y="3669579"/>
              <a:ext cx="21168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31,1</a:t>
              </a:r>
              <a:endParaRPr lang="en-US" sz="649" dirty="0"/>
            </a:p>
          </p:txBody>
        </p:sp>
        <p:sp>
          <p:nvSpPr>
            <p:cNvPr id="24" name="svg0_9"/>
            <p:cNvSpPr txBox="1"/>
            <p:nvPr/>
          </p:nvSpPr>
          <p:spPr>
            <a:xfrm>
              <a:off x="371338" y="3679088"/>
              <a:ext cx="51526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Vay trung hạn</a:t>
              </a:r>
              <a:endParaRPr lang="en-US" sz="587" dirty="0"/>
            </a:p>
          </p:txBody>
        </p:sp>
        <p:sp>
          <p:nvSpPr>
            <p:cNvPr id="25" name="svg0_10"/>
            <p:cNvSpPr txBox="1"/>
            <p:nvPr/>
          </p:nvSpPr>
          <p:spPr>
            <a:xfrm>
              <a:off x="1504005" y="2853660"/>
              <a:ext cx="552115" cy="11430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SỬ DỤNG 91,2</a:t>
              </a:r>
              <a:endParaRPr lang="en-US" sz="587" dirty="0"/>
            </a:p>
          </p:txBody>
        </p:sp>
        <p:sp>
          <p:nvSpPr>
            <p:cNvPr id="26" name="svg0_11"/>
            <p:cNvSpPr/>
            <p:nvPr/>
          </p:nvSpPr>
          <p:spPr>
            <a:xfrm>
              <a:off x="1563898" y="2978749"/>
              <a:ext cx="431963" cy="770565"/>
            </a:xfrm>
            <a:prstGeom prst="rect">
              <a:avLst/>
            </a:prstGeom>
            <a:solidFill>
              <a:srgbClr val="404040"/>
            </a:solidFill>
            <a:ln w="7874">
              <a:solidFill>
                <a:srgbClr val="FFFFFF"/>
              </a:solidFill>
              <a:prstDash val="solid"/>
            </a:ln>
          </p:spPr>
        </p:sp>
        <p:sp>
          <p:nvSpPr>
            <p:cNvPr id="27" name="svg0_12"/>
            <p:cNvSpPr txBox="1"/>
            <p:nvPr/>
          </p:nvSpPr>
          <p:spPr>
            <a:xfrm>
              <a:off x="1677010" y="3305373"/>
              <a:ext cx="21168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77,8</a:t>
              </a:r>
              <a:endParaRPr lang="en-US" sz="649" dirty="0"/>
            </a:p>
          </p:txBody>
        </p:sp>
        <p:sp>
          <p:nvSpPr>
            <p:cNvPr id="28" name="svg0_13"/>
            <p:cNvSpPr txBox="1"/>
            <p:nvPr/>
          </p:nvSpPr>
          <p:spPr>
            <a:xfrm>
              <a:off x="2015520" y="3314883"/>
              <a:ext cx="582564"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CAPEX 2026–28</a:t>
              </a:r>
              <a:endParaRPr lang="en-US" sz="587" dirty="0"/>
            </a:p>
          </p:txBody>
        </p:sp>
        <p:sp>
          <p:nvSpPr>
            <p:cNvPr id="29" name="svg0_14"/>
            <p:cNvSpPr/>
            <p:nvPr/>
          </p:nvSpPr>
          <p:spPr>
            <a:xfrm>
              <a:off x="1563898" y="3749314"/>
              <a:ext cx="431963" cy="132588"/>
            </a:xfrm>
            <a:prstGeom prst="rect">
              <a:avLst/>
            </a:prstGeom>
            <a:solidFill>
              <a:srgbClr val="D0D0D0"/>
            </a:solidFill>
            <a:ln w="7874">
              <a:solidFill>
                <a:srgbClr val="FFFFFF"/>
              </a:solidFill>
              <a:prstDash val="solid"/>
            </a:ln>
          </p:spPr>
        </p:sp>
        <p:sp>
          <p:nvSpPr>
            <p:cNvPr id="30" name="svg0_15"/>
            <p:cNvSpPr txBox="1"/>
            <p:nvPr/>
          </p:nvSpPr>
          <p:spPr>
            <a:xfrm>
              <a:off x="1677010" y="3756904"/>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13,4</a:t>
              </a:r>
              <a:endParaRPr lang="en-US" sz="649" dirty="0"/>
            </a:p>
          </p:txBody>
        </p:sp>
        <p:sp>
          <p:nvSpPr>
            <p:cNvPr id="31" name="svg0_16"/>
            <p:cNvSpPr txBox="1"/>
            <p:nvPr/>
          </p:nvSpPr>
          <p:spPr>
            <a:xfrm>
              <a:off x="2015520" y="3766505"/>
              <a:ext cx="598475"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Tăng tiền dự trữ</a:t>
              </a:r>
              <a:endParaRPr lang="en-US" sz="587" dirty="0"/>
            </a:p>
          </p:txBody>
        </p:sp>
      </p:grpSp>
      <p:grpSp>
        <p:nvGrpSpPr>
          <p:cNvPr id="92" name="Fig. 47 – biểu đồ"/>
          <p:cNvGrpSpPr/>
          <p:nvPr/>
        </p:nvGrpSpPr>
        <p:grpSpPr>
          <a:xfrm>
            <a:off x="322875" y="4327672"/>
            <a:ext cx="2203064" cy="968715"/>
            <a:chOff x="322875" y="4327672"/>
            <a:chExt cx="2203064" cy="968715"/>
          </a:xfrm>
        </p:grpSpPr>
        <p:sp>
          <p:nvSpPr>
            <p:cNvPr id="32" name="svg1_17"/>
            <p:cNvSpPr/>
            <p:nvPr/>
          </p:nvSpPr>
          <p:spPr>
            <a:xfrm>
              <a:off x="425196" y="4348886"/>
              <a:ext cx="60899" cy="60899"/>
            </a:xfrm>
            <a:prstGeom prst="rect">
              <a:avLst/>
            </a:prstGeom>
            <a:solidFill>
              <a:srgbClr val="7B1E2B"/>
            </a:solidFill>
            <a:ln/>
          </p:spPr>
        </p:sp>
        <p:sp>
          <p:nvSpPr>
            <p:cNvPr id="33" name="svg1_18"/>
            <p:cNvSpPr txBox="1"/>
            <p:nvPr/>
          </p:nvSpPr>
          <p:spPr>
            <a:xfrm>
              <a:off x="508681" y="4327672"/>
              <a:ext cx="1028974"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Founder &amp; cổ đông hiện hữu</a:t>
              </a:r>
              <a:endParaRPr lang="en-US" sz="587" dirty="0"/>
            </a:p>
          </p:txBody>
        </p:sp>
        <p:sp>
          <p:nvSpPr>
            <p:cNvPr id="34" name="svg1_19"/>
            <p:cNvSpPr/>
            <p:nvPr/>
          </p:nvSpPr>
          <p:spPr>
            <a:xfrm>
              <a:off x="1508669" y="4348886"/>
              <a:ext cx="60899" cy="60899"/>
            </a:xfrm>
            <a:prstGeom prst="rect">
              <a:avLst/>
            </a:prstGeom>
            <a:solidFill>
              <a:srgbClr val="A3A3A3"/>
            </a:solidFill>
            <a:ln/>
          </p:spPr>
        </p:sp>
        <p:sp>
          <p:nvSpPr>
            <p:cNvPr id="35" name="svg1_20"/>
            <p:cNvSpPr txBox="1"/>
            <p:nvPr/>
          </p:nvSpPr>
          <p:spPr>
            <a:xfrm>
              <a:off x="1592428" y="4327672"/>
              <a:ext cx="485272"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NĐT Series A</a:t>
              </a:r>
              <a:endParaRPr lang="en-US" sz="587" dirty="0"/>
            </a:p>
          </p:txBody>
        </p:sp>
        <p:sp>
          <p:nvSpPr>
            <p:cNvPr id="36" name="svg1_21"/>
            <p:cNvSpPr txBox="1"/>
            <p:nvPr/>
          </p:nvSpPr>
          <p:spPr>
            <a:xfrm>
              <a:off x="764164" y="4454408"/>
              <a:ext cx="37152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Theo DCF</a:t>
              </a:r>
              <a:endParaRPr lang="en-US" sz="587" dirty="0"/>
            </a:p>
          </p:txBody>
        </p:sp>
        <p:sp>
          <p:nvSpPr>
            <p:cNvPr id="37" name="svg1_22"/>
            <p:cNvSpPr/>
            <p:nvPr/>
          </p:nvSpPr>
          <p:spPr>
            <a:xfrm>
              <a:off x="1171255" y="4462821"/>
              <a:ext cx="688909" cy="80924"/>
            </a:xfrm>
            <a:prstGeom prst="rect">
              <a:avLst/>
            </a:prstGeom>
            <a:solidFill>
              <a:srgbClr val="7B1E2B"/>
            </a:solidFill>
            <a:ln w="5842">
              <a:solidFill>
                <a:srgbClr val="FFFFFF"/>
              </a:solidFill>
              <a:prstDash val="solid"/>
            </a:ln>
          </p:spPr>
        </p:sp>
        <p:sp>
          <p:nvSpPr>
            <p:cNvPr id="38" name="svg1_23"/>
            <p:cNvSpPr/>
            <p:nvPr/>
          </p:nvSpPr>
          <p:spPr>
            <a:xfrm>
              <a:off x="1860255" y="4462821"/>
              <a:ext cx="665683" cy="80924"/>
            </a:xfrm>
            <a:prstGeom prst="rect">
              <a:avLst/>
            </a:prstGeom>
            <a:solidFill>
              <a:srgbClr val="A3A3A3"/>
            </a:solidFill>
            <a:ln w="5842">
              <a:solidFill>
                <a:srgbClr val="FFFFFF"/>
              </a:solidFill>
              <a:prstDash val="solid"/>
            </a:ln>
          </p:spPr>
        </p:sp>
        <p:sp>
          <p:nvSpPr>
            <p:cNvPr id="39" name="svg1_24"/>
            <p:cNvSpPr txBox="1"/>
            <p:nvPr/>
          </p:nvSpPr>
          <p:spPr>
            <a:xfrm>
              <a:off x="1200699" y="4454408"/>
              <a:ext cx="253746" cy="104790"/>
            </a:xfrm>
            <a:prstGeom prst="rect">
              <a:avLst/>
            </a:prstGeom>
            <a:noFill/>
            <a:ln/>
          </p:spPr>
          <p:txBody>
            <a:bodyPr wrap="none" lIns="0" tIns="0" rIns="0" bIns="0" rtlCol="0" anchor="ctr"/>
            <a:lstStyle/>
            <a:p>
              <a:pPr algn="l" indent="0" marL="0">
                <a:buNone/>
              </a:pPr>
              <a:r>
                <a:rPr lang="en-US" sz="587" dirty="0">
                  <a:solidFill>
                    <a:srgbClr val="FFFFFF"/>
                  </a:solidFill>
                  <a:latin typeface="Calibri" pitchFamily="34" charset="0"/>
                  <a:ea typeface="Calibri" pitchFamily="34" charset="-122"/>
                  <a:cs typeface="Calibri" pitchFamily="34" charset="-120"/>
                </a:rPr>
                <a:t>50,9%</a:t>
              </a:r>
              <a:endParaRPr lang="en-US" sz="587" dirty="0"/>
            </a:p>
          </p:txBody>
        </p:sp>
        <p:sp>
          <p:nvSpPr>
            <p:cNvPr id="40" name="svg1_25"/>
            <p:cNvSpPr txBox="1"/>
            <p:nvPr/>
          </p:nvSpPr>
          <p:spPr>
            <a:xfrm>
              <a:off x="2246589" y="4454408"/>
              <a:ext cx="25374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49,1%</a:t>
              </a:r>
              <a:endParaRPr lang="en-US" sz="587" dirty="0"/>
            </a:p>
          </p:txBody>
        </p:sp>
        <p:sp>
          <p:nvSpPr>
            <p:cNvPr id="41" name="svg1_26"/>
            <p:cNvSpPr txBox="1"/>
            <p:nvPr/>
          </p:nvSpPr>
          <p:spPr>
            <a:xfrm>
              <a:off x="512247" y="4577029"/>
              <a:ext cx="61968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Theo VC Method</a:t>
              </a:r>
              <a:endParaRPr lang="en-US" sz="587" dirty="0"/>
            </a:p>
          </p:txBody>
        </p:sp>
        <p:sp>
          <p:nvSpPr>
            <p:cNvPr id="42" name="svg1_27"/>
            <p:cNvSpPr/>
            <p:nvPr/>
          </p:nvSpPr>
          <p:spPr>
            <a:xfrm>
              <a:off x="1171255" y="4585533"/>
              <a:ext cx="537576" cy="80924"/>
            </a:xfrm>
            <a:prstGeom prst="rect">
              <a:avLst/>
            </a:prstGeom>
            <a:solidFill>
              <a:srgbClr val="7B1E2B"/>
            </a:solidFill>
            <a:ln w="5842">
              <a:solidFill>
                <a:srgbClr val="FFFFFF"/>
              </a:solidFill>
              <a:prstDash val="solid"/>
            </a:ln>
          </p:spPr>
        </p:sp>
        <p:sp>
          <p:nvSpPr>
            <p:cNvPr id="43" name="svg1_28"/>
            <p:cNvSpPr/>
            <p:nvPr/>
          </p:nvSpPr>
          <p:spPr>
            <a:xfrm>
              <a:off x="1708922" y="4585533"/>
              <a:ext cx="817016" cy="80924"/>
            </a:xfrm>
            <a:prstGeom prst="rect">
              <a:avLst/>
            </a:prstGeom>
            <a:solidFill>
              <a:srgbClr val="A3A3A3"/>
            </a:solidFill>
            <a:ln w="5842">
              <a:solidFill>
                <a:srgbClr val="FFFFFF"/>
              </a:solidFill>
              <a:prstDash val="solid"/>
            </a:ln>
          </p:spPr>
        </p:sp>
        <p:sp>
          <p:nvSpPr>
            <p:cNvPr id="44" name="svg1_29"/>
            <p:cNvSpPr txBox="1"/>
            <p:nvPr/>
          </p:nvSpPr>
          <p:spPr>
            <a:xfrm>
              <a:off x="1200699" y="4577029"/>
              <a:ext cx="253746" cy="104790"/>
            </a:xfrm>
            <a:prstGeom prst="rect">
              <a:avLst/>
            </a:prstGeom>
            <a:noFill/>
            <a:ln/>
          </p:spPr>
          <p:txBody>
            <a:bodyPr wrap="none" lIns="0" tIns="0" rIns="0" bIns="0" rtlCol="0" anchor="ctr"/>
            <a:lstStyle/>
            <a:p>
              <a:pPr algn="l" indent="0" marL="0">
                <a:buNone/>
              </a:pPr>
              <a:r>
                <a:rPr lang="en-US" sz="587" dirty="0">
                  <a:solidFill>
                    <a:srgbClr val="FFFFFF"/>
                  </a:solidFill>
                  <a:latin typeface="Calibri" pitchFamily="34" charset="0"/>
                  <a:ea typeface="Calibri" pitchFamily="34" charset="-122"/>
                  <a:cs typeface="Calibri" pitchFamily="34" charset="-120"/>
                </a:rPr>
                <a:t>39,7%</a:t>
              </a:r>
              <a:endParaRPr lang="en-US" sz="587" dirty="0"/>
            </a:p>
          </p:txBody>
        </p:sp>
        <p:sp>
          <p:nvSpPr>
            <p:cNvPr id="45" name="svg1_30"/>
            <p:cNvSpPr txBox="1"/>
            <p:nvPr/>
          </p:nvSpPr>
          <p:spPr>
            <a:xfrm>
              <a:off x="2246589" y="4577029"/>
              <a:ext cx="25374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60,3%</a:t>
              </a:r>
              <a:endParaRPr lang="en-US" sz="587" dirty="0"/>
            </a:p>
          </p:txBody>
        </p:sp>
        <p:sp>
          <p:nvSpPr>
            <p:cNvPr id="46" name="svg1_31"/>
            <p:cNvSpPr txBox="1"/>
            <p:nvPr/>
          </p:nvSpPr>
          <p:spPr>
            <a:xfrm>
              <a:off x="414223" y="4699742"/>
              <a:ext cx="71771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Bình quân, gọi 1 lần</a:t>
              </a:r>
              <a:endParaRPr lang="en-US" sz="587" dirty="0"/>
            </a:p>
          </p:txBody>
        </p:sp>
        <p:sp>
          <p:nvSpPr>
            <p:cNvPr id="47" name="svg1_32"/>
            <p:cNvSpPr/>
            <p:nvPr/>
          </p:nvSpPr>
          <p:spPr>
            <a:xfrm>
              <a:off x="1171255" y="4708246"/>
              <a:ext cx="621060" cy="81016"/>
            </a:xfrm>
            <a:prstGeom prst="rect">
              <a:avLst/>
            </a:prstGeom>
            <a:solidFill>
              <a:srgbClr val="7B1E2B"/>
            </a:solidFill>
            <a:ln w="5842">
              <a:solidFill>
                <a:srgbClr val="FFFFFF"/>
              </a:solidFill>
              <a:prstDash val="solid"/>
            </a:ln>
          </p:spPr>
        </p:sp>
        <p:sp>
          <p:nvSpPr>
            <p:cNvPr id="48" name="svg1_33"/>
            <p:cNvSpPr/>
            <p:nvPr/>
          </p:nvSpPr>
          <p:spPr>
            <a:xfrm>
              <a:off x="1792315" y="4708246"/>
              <a:ext cx="733623" cy="81016"/>
            </a:xfrm>
            <a:prstGeom prst="rect">
              <a:avLst/>
            </a:prstGeom>
            <a:solidFill>
              <a:srgbClr val="A3A3A3"/>
            </a:solidFill>
            <a:ln w="5842">
              <a:solidFill>
                <a:srgbClr val="FFFFFF"/>
              </a:solidFill>
              <a:prstDash val="solid"/>
            </a:ln>
          </p:spPr>
        </p:sp>
        <p:sp>
          <p:nvSpPr>
            <p:cNvPr id="49" name="svg1_34"/>
            <p:cNvSpPr txBox="1"/>
            <p:nvPr/>
          </p:nvSpPr>
          <p:spPr>
            <a:xfrm>
              <a:off x="1200699" y="4699742"/>
              <a:ext cx="253746" cy="104790"/>
            </a:xfrm>
            <a:prstGeom prst="rect">
              <a:avLst/>
            </a:prstGeom>
            <a:noFill/>
            <a:ln/>
          </p:spPr>
          <p:txBody>
            <a:bodyPr wrap="none" lIns="0" tIns="0" rIns="0" bIns="0" rtlCol="0" anchor="ctr"/>
            <a:lstStyle/>
            <a:p>
              <a:pPr algn="l" indent="0" marL="0">
                <a:buNone/>
              </a:pPr>
              <a:r>
                <a:rPr lang="en-US" sz="587" dirty="0">
                  <a:solidFill>
                    <a:srgbClr val="FFFFFF"/>
                  </a:solidFill>
                  <a:latin typeface="Calibri" pitchFamily="34" charset="0"/>
                  <a:ea typeface="Calibri" pitchFamily="34" charset="-122"/>
                  <a:cs typeface="Calibri" pitchFamily="34" charset="-120"/>
                </a:rPr>
                <a:t>45,8%</a:t>
              </a:r>
              <a:endParaRPr lang="en-US" sz="587" dirty="0"/>
            </a:p>
          </p:txBody>
        </p:sp>
        <p:sp>
          <p:nvSpPr>
            <p:cNvPr id="50" name="svg1_35"/>
            <p:cNvSpPr txBox="1"/>
            <p:nvPr/>
          </p:nvSpPr>
          <p:spPr>
            <a:xfrm>
              <a:off x="2246589" y="4699742"/>
              <a:ext cx="25374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54,2%</a:t>
              </a:r>
              <a:endParaRPr lang="en-US" sz="587" dirty="0"/>
            </a:p>
          </p:txBody>
        </p:sp>
        <p:sp>
          <p:nvSpPr>
            <p:cNvPr id="51" name="svg1_36"/>
            <p:cNvSpPr txBox="1"/>
            <p:nvPr/>
          </p:nvSpPr>
          <p:spPr>
            <a:xfrm>
              <a:off x="352318" y="4822546"/>
              <a:ext cx="78400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Chỉ vốn CP, không vay</a:t>
              </a:r>
              <a:endParaRPr lang="en-US" sz="587" dirty="0"/>
            </a:p>
          </p:txBody>
        </p:sp>
        <p:sp>
          <p:nvSpPr>
            <p:cNvPr id="52" name="svg1_37"/>
            <p:cNvSpPr/>
            <p:nvPr/>
          </p:nvSpPr>
          <p:spPr>
            <a:xfrm>
              <a:off x="1171255" y="4830958"/>
              <a:ext cx="437815" cy="80924"/>
            </a:xfrm>
            <a:prstGeom prst="rect">
              <a:avLst/>
            </a:prstGeom>
            <a:solidFill>
              <a:srgbClr val="7B1E2B"/>
            </a:solidFill>
            <a:ln w="5842">
              <a:solidFill>
                <a:srgbClr val="FFFFFF"/>
              </a:solidFill>
              <a:prstDash val="solid"/>
            </a:ln>
          </p:spPr>
        </p:sp>
        <p:sp>
          <p:nvSpPr>
            <p:cNvPr id="53" name="svg1_38"/>
            <p:cNvSpPr/>
            <p:nvPr/>
          </p:nvSpPr>
          <p:spPr>
            <a:xfrm>
              <a:off x="1609070" y="4830958"/>
              <a:ext cx="916869" cy="80924"/>
            </a:xfrm>
            <a:prstGeom prst="rect">
              <a:avLst/>
            </a:prstGeom>
            <a:solidFill>
              <a:srgbClr val="A3A3A3"/>
            </a:solidFill>
            <a:ln w="5842">
              <a:solidFill>
                <a:srgbClr val="FFFFFF"/>
              </a:solidFill>
              <a:prstDash val="solid"/>
            </a:ln>
          </p:spPr>
        </p:sp>
        <p:sp>
          <p:nvSpPr>
            <p:cNvPr id="54" name="svg1_39"/>
            <p:cNvSpPr txBox="1"/>
            <p:nvPr/>
          </p:nvSpPr>
          <p:spPr>
            <a:xfrm>
              <a:off x="1200699" y="4822546"/>
              <a:ext cx="253746" cy="104790"/>
            </a:xfrm>
            <a:prstGeom prst="rect">
              <a:avLst/>
            </a:prstGeom>
            <a:noFill/>
            <a:ln/>
          </p:spPr>
          <p:txBody>
            <a:bodyPr wrap="none" lIns="0" tIns="0" rIns="0" bIns="0" rtlCol="0" anchor="ctr"/>
            <a:lstStyle/>
            <a:p>
              <a:pPr algn="l" indent="0" marL="0">
                <a:buNone/>
              </a:pPr>
              <a:r>
                <a:rPr lang="en-US" sz="587" dirty="0">
                  <a:solidFill>
                    <a:srgbClr val="FFFFFF"/>
                  </a:solidFill>
                  <a:latin typeface="Calibri" pitchFamily="34" charset="0"/>
                  <a:ea typeface="Calibri" pitchFamily="34" charset="-122"/>
                  <a:cs typeface="Calibri" pitchFamily="34" charset="-120"/>
                </a:rPr>
                <a:t>32,3%</a:t>
              </a:r>
              <a:endParaRPr lang="en-US" sz="587" dirty="0"/>
            </a:p>
          </p:txBody>
        </p:sp>
        <p:sp>
          <p:nvSpPr>
            <p:cNvPr id="55" name="svg1_40"/>
            <p:cNvSpPr txBox="1"/>
            <p:nvPr/>
          </p:nvSpPr>
          <p:spPr>
            <a:xfrm>
              <a:off x="2246589" y="4822546"/>
              <a:ext cx="25374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67,7%</a:t>
              </a:r>
              <a:endParaRPr lang="en-US" sz="587" dirty="0"/>
            </a:p>
          </p:txBody>
        </p:sp>
        <p:sp>
          <p:nvSpPr>
            <p:cNvPr id="56" name="svg1_41"/>
            <p:cNvSpPr txBox="1"/>
            <p:nvPr/>
          </p:nvSpPr>
          <p:spPr>
            <a:xfrm>
              <a:off x="371704" y="4945167"/>
              <a:ext cx="76050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Vay 75% CAPEX 2027</a:t>
              </a:r>
              <a:endParaRPr lang="en-US" sz="587" dirty="0"/>
            </a:p>
          </p:txBody>
        </p:sp>
        <p:sp>
          <p:nvSpPr>
            <p:cNvPr id="57" name="svg1_42"/>
            <p:cNvSpPr/>
            <p:nvPr/>
          </p:nvSpPr>
          <p:spPr>
            <a:xfrm>
              <a:off x="1171255" y="4953671"/>
              <a:ext cx="649864" cy="80924"/>
            </a:xfrm>
            <a:prstGeom prst="rect">
              <a:avLst/>
            </a:prstGeom>
            <a:solidFill>
              <a:srgbClr val="7B1E2B"/>
            </a:solidFill>
            <a:ln w="5842">
              <a:solidFill>
                <a:srgbClr val="FFFFFF"/>
              </a:solidFill>
              <a:prstDash val="solid"/>
            </a:ln>
          </p:spPr>
        </p:sp>
        <p:sp>
          <p:nvSpPr>
            <p:cNvPr id="58" name="svg1_43"/>
            <p:cNvSpPr/>
            <p:nvPr/>
          </p:nvSpPr>
          <p:spPr>
            <a:xfrm>
              <a:off x="1821210" y="4953671"/>
              <a:ext cx="704728" cy="80924"/>
            </a:xfrm>
            <a:prstGeom prst="rect">
              <a:avLst/>
            </a:prstGeom>
            <a:solidFill>
              <a:srgbClr val="A3A3A3"/>
            </a:solidFill>
            <a:ln w="5842">
              <a:solidFill>
                <a:srgbClr val="FFFFFF"/>
              </a:solidFill>
              <a:prstDash val="solid"/>
            </a:ln>
          </p:spPr>
        </p:sp>
        <p:sp>
          <p:nvSpPr>
            <p:cNvPr id="59" name="svg1_44"/>
            <p:cNvSpPr txBox="1"/>
            <p:nvPr/>
          </p:nvSpPr>
          <p:spPr>
            <a:xfrm>
              <a:off x="1200699" y="4945167"/>
              <a:ext cx="253746" cy="104790"/>
            </a:xfrm>
            <a:prstGeom prst="rect">
              <a:avLst/>
            </a:prstGeom>
            <a:noFill/>
            <a:ln/>
          </p:spPr>
          <p:txBody>
            <a:bodyPr wrap="none" lIns="0" tIns="0" rIns="0" bIns="0" rtlCol="0" anchor="ctr"/>
            <a:lstStyle/>
            <a:p>
              <a:pPr algn="l" indent="0" marL="0">
                <a:buNone/>
              </a:pPr>
              <a:r>
                <a:rPr lang="en-US" sz="587" dirty="0">
                  <a:solidFill>
                    <a:srgbClr val="FFFFFF"/>
                  </a:solidFill>
                  <a:latin typeface="Calibri" pitchFamily="34" charset="0"/>
                  <a:ea typeface="Calibri" pitchFamily="34" charset="-122"/>
                  <a:cs typeface="Calibri" pitchFamily="34" charset="-120"/>
                </a:rPr>
                <a:t>48,0%</a:t>
              </a:r>
              <a:endParaRPr lang="en-US" sz="587" dirty="0"/>
            </a:p>
          </p:txBody>
        </p:sp>
        <p:sp>
          <p:nvSpPr>
            <p:cNvPr id="60" name="svg1_45"/>
            <p:cNvSpPr txBox="1"/>
            <p:nvPr/>
          </p:nvSpPr>
          <p:spPr>
            <a:xfrm>
              <a:off x="2246589" y="4945167"/>
              <a:ext cx="25374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52,0%</a:t>
              </a:r>
              <a:endParaRPr lang="en-US" sz="587" dirty="0"/>
            </a:p>
          </p:txBody>
        </p:sp>
        <p:sp>
          <p:nvSpPr>
            <p:cNvPr id="61" name="svg1_46"/>
            <p:cNvSpPr txBox="1"/>
            <p:nvPr/>
          </p:nvSpPr>
          <p:spPr>
            <a:xfrm>
              <a:off x="322875" y="5067879"/>
              <a:ext cx="809061" cy="104790"/>
            </a:xfrm>
            <a:prstGeom prst="rect">
              <a:avLst/>
            </a:prstGeom>
            <a:noFill/>
            <a:ln/>
          </p:spPr>
          <p:txBody>
            <a:bodyPr wrap="none" lIns="0" tIns="0" rIns="0" bIns="0" rtlCol="0" anchor="ctr"/>
            <a:lstStyle/>
            <a:p>
              <a:pPr algn="r" indent="0" marL="0">
                <a:buNone/>
              </a:pPr>
              <a:r>
                <a:rPr lang="en-US" sz="587" b="1" dirty="0">
                  <a:solidFill>
                    <a:srgbClr val="262626"/>
                  </a:solidFill>
                  <a:latin typeface="Calibri" pitchFamily="34" charset="0"/>
                  <a:ea typeface="Calibri" pitchFamily="34" charset="-122"/>
                  <a:cs typeface="Calibri" pitchFamily="34" charset="-120"/>
                </a:rPr>
                <a:t>Hai đợt (khuyến nghị)</a:t>
              </a:r>
              <a:endParaRPr lang="en-US" sz="587" dirty="0"/>
            </a:p>
          </p:txBody>
        </p:sp>
        <p:sp>
          <p:nvSpPr>
            <p:cNvPr id="62" name="svg1_47"/>
            <p:cNvSpPr/>
            <p:nvPr/>
          </p:nvSpPr>
          <p:spPr>
            <a:xfrm>
              <a:off x="1171255" y="5076383"/>
              <a:ext cx="683605" cy="80924"/>
            </a:xfrm>
            <a:prstGeom prst="rect">
              <a:avLst/>
            </a:prstGeom>
            <a:solidFill>
              <a:srgbClr val="7B1E2B"/>
            </a:solidFill>
            <a:ln w="5842">
              <a:solidFill>
                <a:srgbClr val="FFFFFF"/>
              </a:solidFill>
              <a:prstDash val="solid"/>
            </a:ln>
          </p:spPr>
        </p:sp>
        <p:sp>
          <p:nvSpPr>
            <p:cNvPr id="63" name="svg1_48"/>
            <p:cNvSpPr/>
            <p:nvPr/>
          </p:nvSpPr>
          <p:spPr>
            <a:xfrm>
              <a:off x="1854860" y="5076383"/>
              <a:ext cx="671078" cy="80924"/>
            </a:xfrm>
            <a:prstGeom prst="rect">
              <a:avLst/>
            </a:prstGeom>
            <a:solidFill>
              <a:srgbClr val="A3A3A3"/>
            </a:solidFill>
            <a:ln w="5842">
              <a:solidFill>
                <a:srgbClr val="FFFFFF"/>
              </a:solidFill>
              <a:prstDash val="solid"/>
            </a:ln>
          </p:spPr>
        </p:sp>
        <p:sp>
          <p:nvSpPr>
            <p:cNvPr id="64" name="svg1_49"/>
            <p:cNvSpPr txBox="1"/>
            <p:nvPr/>
          </p:nvSpPr>
          <p:spPr>
            <a:xfrm>
              <a:off x="1200699" y="5067879"/>
              <a:ext cx="254386" cy="104790"/>
            </a:xfrm>
            <a:prstGeom prst="rect">
              <a:avLst/>
            </a:prstGeom>
            <a:noFill/>
            <a:ln/>
          </p:spPr>
          <p:txBody>
            <a:bodyPr wrap="none" lIns="0" tIns="0" rIns="0" bIns="0" rtlCol="0" anchor="ctr"/>
            <a:lstStyle/>
            <a:p>
              <a:pPr algn="l" indent="0" marL="0">
                <a:buNone/>
              </a:pPr>
              <a:r>
                <a:rPr lang="en-US" sz="587" b="1" dirty="0">
                  <a:solidFill>
                    <a:srgbClr val="FFFFFF"/>
                  </a:solidFill>
                  <a:latin typeface="Calibri" pitchFamily="34" charset="0"/>
                  <a:ea typeface="Calibri" pitchFamily="34" charset="-122"/>
                  <a:cs typeface="Calibri" pitchFamily="34" charset="-120"/>
                </a:rPr>
                <a:t>50,5%</a:t>
              </a:r>
              <a:endParaRPr lang="en-US" sz="587" dirty="0"/>
            </a:p>
          </p:txBody>
        </p:sp>
        <p:sp>
          <p:nvSpPr>
            <p:cNvPr id="65" name="svg1_50"/>
            <p:cNvSpPr txBox="1"/>
            <p:nvPr/>
          </p:nvSpPr>
          <p:spPr>
            <a:xfrm>
              <a:off x="2246589" y="5067879"/>
              <a:ext cx="25374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49,5%</a:t>
              </a:r>
              <a:endParaRPr lang="en-US" sz="587" dirty="0"/>
            </a:p>
          </p:txBody>
        </p:sp>
        <p:sp>
          <p:nvSpPr>
            <p:cNvPr id="66" name="svg1_51"/>
            <p:cNvSpPr/>
            <p:nvPr/>
          </p:nvSpPr>
          <p:spPr>
            <a:xfrm>
              <a:off x="1848642" y="4433377"/>
              <a:ext cx="0" cy="765627"/>
            </a:xfrm>
            <a:prstGeom prst="line">
              <a:avLst/>
            </a:prstGeom>
            <a:noFill/>
            <a:ln w="7874">
              <a:solidFill>
                <a:srgbClr val="404040"/>
              </a:solidFill>
              <a:prstDash val="dash"/>
            </a:ln>
          </p:spPr>
        </p:sp>
        <p:sp>
          <p:nvSpPr>
            <p:cNvPr id="67" name="svg1_52"/>
            <p:cNvSpPr txBox="1"/>
            <p:nvPr/>
          </p:nvSpPr>
          <p:spPr>
            <a:xfrm>
              <a:off x="1618031" y="5191597"/>
              <a:ext cx="467807" cy="104790"/>
            </a:xfrm>
            <a:prstGeom prst="rect">
              <a:avLst/>
            </a:prstGeom>
            <a:noFill/>
            <a:ln/>
          </p:spPr>
          <p:txBody>
            <a:bodyPr wrap="none" lIns="0" tIns="0" rIns="0" bIns="0" rtlCol="0" anchor="ctr"/>
            <a:lstStyle/>
            <a:p>
              <a:pPr algn="ctr" indent="0" marL="0">
                <a:buNone/>
              </a:pPr>
              <a:r>
                <a:rPr lang="en-US" sz="557" dirty="0">
                  <a:solidFill>
                    <a:srgbClr val="404040"/>
                  </a:solidFill>
                  <a:latin typeface="Calibri" pitchFamily="34" charset="0"/>
                  <a:ea typeface="Calibri" pitchFamily="34" charset="-122"/>
                  <a:cs typeface="Calibri" pitchFamily="34" charset="-120"/>
                </a:rPr>
                <a:t>Ngưỡng 50%</a:t>
              </a:r>
              <a:endParaRPr lang="en-US" sz="557" dirty="0"/>
            </a:p>
          </p:txBody>
        </p:sp>
      </p:grpSp>
      <p:sp>
        <p:nvSpPr>
          <p:cNvPr id="68" name="Text 62"/>
          <p:cNvSpPr txBox="1"/>
          <p:nvPr/>
        </p:nvSpPr>
        <p:spPr>
          <a:xfrm>
            <a:off x="405354" y="315559"/>
            <a:ext cx="1873148" cy="119238"/>
          </a:xfrm>
          <a:prstGeom prst="rect">
            <a:avLst/>
          </a:prstGeom>
          <a:noFill/>
          <a:ln/>
        </p:spPr>
        <p:txBody>
          <a:bodyPr wrap="none" lIns="0" tIns="0" rIns="0" bIns="0" rtlCol="0" anchor="t"/>
          <a:lstStyle/>
          <a:p>
            <a:pPr algn="l" indent="0" marL="0">
              <a:lnSpc>
                <a:spcPts val="864"/>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 | Định giá &amp; đề xuất gọi vốn Series A</a:t>
            </a:r>
            <a:endParaRPr lang="en-US" sz="680" dirty="0"/>
          </a:p>
        </p:txBody>
      </p:sp>
      <p:sp>
        <p:nvSpPr>
          <p:cNvPr id="69" name="Text 63"/>
          <p:cNvSpPr txBox="1"/>
          <p:nvPr/>
        </p:nvSpPr>
        <p:spPr>
          <a:xfrm>
            <a:off x="6056346" y="325161"/>
            <a:ext cx="1163940" cy="109545"/>
          </a:xfrm>
          <a:prstGeom prst="rect">
            <a:avLst/>
          </a:prstGeom>
          <a:noFill/>
          <a:ln/>
        </p:spPr>
        <p:txBody>
          <a:bodyPr wrap="none" lIns="0" tIns="0" rIns="0" bIns="0" rtlCol="0" anchor="t"/>
          <a:lstStyle/>
          <a:p>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Báo cáo phân tích · 29/09/2026</a:t>
            </a:r>
            <a:endParaRPr lang="en-US" sz="680" dirty="0"/>
          </a:p>
        </p:txBody>
      </p:sp>
      <p:sp>
        <p:nvSpPr>
          <p:cNvPr id="70" name="Text 64"/>
          <p:cNvSpPr txBox="1"/>
          <p:nvPr/>
        </p:nvSpPr>
        <p:spPr>
          <a:xfrm>
            <a:off x="405354" y="593994"/>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Kết quả theo kịch bản (tỷ đồng)</a:t>
            </a:r>
            <a:endParaRPr lang="en-US" sz="720" dirty="0"/>
          </a:p>
        </p:txBody>
      </p:sp>
      <p:sp>
        <p:nvSpPr>
          <p:cNvPr id="71" name="Text 65"/>
          <p:cNvSpPr txBox="1"/>
          <p:nvPr/>
        </p:nvSpPr>
        <p:spPr>
          <a:xfrm>
            <a:off x="405354" y="2136861"/>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cột Base là công thức sống, các cột khác chụp lại khi đổi ô chọn ở Drivers)</a:t>
            </a:r>
            <a:endParaRPr lang="en-US" sz="600" dirty="0"/>
          </a:p>
        </p:txBody>
      </p:sp>
      <p:sp>
        <p:nvSpPr>
          <p:cNvPr id="72" name="Text 66"/>
          <p:cNvSpPr txBox="1"/>
          <p:nvPr/>
        </p:nvSpPr>
        <p:spPr>
          <a:xfrm>
            <a:off x="484632" y="2332543"/>
            <a:ext cx="6986107" cy="141641"/>
          </a:xfrm>
          <a:prstGeom prst="rect">
            <a:avLst/>
          </a:prstGeom>
          <a:noFill/>
          <a:ln/>
        </p:spPr>
        <p:txBody>
          <a:bodyPr wrap="none" lIns="0" tIns="0" rIns="0" bIns="0" rtlCol="0" anchor="t"/>
          <a:lstStyle/>
          <a:p>
            <a:pPr algn="l" indent="0" marL="0">
              <a:lnSpc>
                <a:spcPts val="1118"/>
              </a:lnSpc>
              <a:buNone/>
            </a:pPr>
            <a:r>
              <a:rPr lang="en-US" sz="880" b="1" spc="35" kern="0" dirty="0">
                <a:solidFill>
                  <a:srgbClr val="FFFFFF"/>
                </a:solidFill>
                <a:latin typeface="Calibri" pitchFamily="34" charset="0"/>
                <a:ea typeface="Calibri" pitchFamily="34" charset="-122"/>
                <a:cs typeface="Calibri" pitchFamily="34" charset="-120"/>
              </a:rPr>
              <a:t>6. KẾ HOẠCH HUY ĐỘNG VỐN</a:t>
            </a:r>
            <a:endParaRPr lang="en-US" sz="880" dirty="0"/>
          </a:p>
        </p:txBody>
      </p:sp>
      <p:sp>
        <p:nvSpPr>
          <p:cNvPr id="73" name="Text 67"/>
          <p:cNvSpPr txBox="1"/>
          <p:nvPr/>
        </p:nvSpPr>
        <p:spPr>
          <a:xfrm>
            <a:off x="405354" y="2609606"/>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Nguồn và sử dụng vốn 2026E–2028E: 69 tỷ đến từ bên ngoài (tỷ đồng)</a:t>
            </a:r>
            <a:endParaRPr lang="en-US" sz="720" dirty="0"/>
          </a:p>
        </p:txBody>
      </p:sp>
      <p:sp>
        <p:nvSpPr>
          <p:cNvPr id="74" name="Text 68"/>
          <p:cNvSpPr txBox="1"/>
          <p:nvPr/>
        </p:nvSpPr>
        <p:spPr>
          <a:xfrm>
            <a:off x="405354" y="3978280"/>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(Cash Flow Statement, Balance Sheet)</a:t>
            </a:r>
            <a:endParaRPr lang="en-US" sz="600" dirty="0"/>
          </a:p>
        </p:txBody>
      </p:sp>
      <p:sp>
        <p:nvSpPr>
          <p:cNvPr id="75" name="Text 69"/>
          <p:cNvSpPr txBox="1"/>
          <p:nvPr/>
        </p:nvSpPr>
        <p:spPr>
          <a:xfrm>
            <a:off x="405354" y="4183563"/>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Chia hai đợt giúp founder giữ trên 50% cổ phần</a:t>
            </a:r>
            <a:endParaRPr lang="en-US" sz="720" dirty="0"/>
          </a:p>
        </p:txBody>
      </p:sp>
      <p:sp>
        <p:nvSpPr>
          <p:cNvPr id="76" name="Text 70"/>
          <p:cNvSpPr txBox="1"/>
          <p:nvPr/>
        </p:nvSpPr>
        <p:spPr>
          <a:xfrm>
            <a:off x="405354" y="5295382"/>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a:t>
            </a:r>
            <a:endParaRPr lang="en-US" sz="600" dirty="0"/>
          </a:p>
        </p:txBody>
      </p:sp>
      <p:sp>
        <p:nvSpPr>
          <p:cNvPr id="77" name="Text 71"/>
          <p:cNvSpPr txBox="1"/>
          <p:nvPr/>
        </p:nvSpPr>
        <p:spPr>
          <a:xfrm>
            <a:off x="405354" y="5500665"/>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Series A hai đợt: đợt 2 định giá lại khi đạt mốc</a:t>
            </a:r>
            <a:endParaRPr lang="en-US" sz="720" dirty="0"/>
          </a:p>
        </p:txBody>
      </p:sp>
      <p:sp>
        <p:nvSpPr>
          <p:cNvPr id="78" name="Text 72"/>
          <p:cNvSpPr txBox="1"/>
          <p:nvPr/>
        </p:nvSpPr>
        <p:spPr>
          <a:xfrm>
            <a:off x="405354" y="6999000"/>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a:t>
            </a:r>
            <a:endParaRPr lang="en-US" sz="600" dirty="0"/>
          </a:p>
        </p:txBody>
      </p:sp>
      <p:sp>
        <p:nvSpPr>
          <p:cNvPr id="79" name="Text 73"/>
          <p:cNvSpPr txBox="1"/>
          <p:nvPr/>
        </p:nvSpPr>
        <p:spPr>
          <a:xfrm>
            <a:off x="405354" y="7204192"/>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Khả năng trả nợ: điểm yếu tập trung ở năm 2028</a:t>
            </a:r>
            <a:endParaRPr lang="en-US" sz="720" dirty="0"/>
          </a:p>
        </p:txBody>
      </p:sp>
      <p:sp>
        <p:nvSpPr>
          <p:cNvPr id="80" name="Text 74"/>
          <p:cNvSpPr txBox="1"/>
          <p:nvPr/>
        </p:nvSpPr>
        <p:spPr>
          <a:xfrm>
            <a:off x="405354" y="8775680"/>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(Drivers, Income Statement)</a:t>
            </a:r>
            <a:endParaRPr lang="en-US" sz="600" dirty="0"/>
          </a:p>
        </p:txBody>
      </p:sp>
      <p:sp>
        <p:nvSpPr>
          <p:cNvPr id="81" name="Text 75"/>
          <p:cNvSpPr txBox="1"/>
          <p:nvPr/>
        </p:nvSpPr>
        <p:spPr>
          <a:xfrm>
            <a:off x="2745303" y="2578425"/>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Nhu cầu và sử dụng vốn.</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Giai đoạn 2026–2028 AgriPack cần 77,8 tỷ đồng CAPEX và tăng tiền dự trữ 13,4 tỷ; dòng tiền kinh doanh chỉ đáp ứng 22,5 tỷ (Fig. 45). Phần còn lại đến từ 37,6 tỷ vốn cổ phần và 31,1 tỷ vay. Vay trung hạn tài trợ 60% CAPEX nhà máy, với tài sản bảo đảm là chính nhà máy; vốn cổ phần tài trợ 40% đối ứng (khoảng 20,7 tỷ), máy ép bổ sung năm 2026, vốn lưu động tăng thêm và dự phòng thanh khoản.</a:t>
            </a:r>
            <a:endParaRPr lang="en-US" sz="900" dirty="0"/>
          </a:p>
        </p:txBody>
      </p:sp>
      <p:sp>
        <p:nvSpPr>
          <p:cNvPr id="82" name="Text 76"/>
          <p:cNvSpPr txBox="1"/>
          <p:nvPr/>
        </p:nvSpPr>
        <p:spPr>
          <a:xfrm>
            <a:off x="2745303" y="3356031"/>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Lựa chọn nguồn vốn.</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Vốn của founder không đủ quy mô (Fig. 46). Vay ngân hàng rẻ nhất nhưng chỉ khả thi khi có tài sản bảo đảm; thuê tài chính thiết bị là phương án thay thế khi ngân hàng yêu cầu vốn đối ứng cao. Venture debt chưa phổ biến ở Việt Nam. Quỹ VC phù hợp nhất cho phần vốn chịu rủi ro, đặc biệt các quỹ có chủ đề khí hậu; nhà đầu tư chiến lược (chuỗi F&amp;B hoặc tập đoàn bao bì) nên tham gia ở đợt 2, kèm hợp đồng bao tiêu. Hỗ trợ lãi suất NATIF là nguồn bổ sung, không thay thế được vốn cổ phần.</a:t>
            </a:r>
            <a:endParaRPr lang="en-US" sz="900" dirty="0"/>
          </a:p>
        </p:txBody>
      </p:sp>
      <p:sp>
        <p:nvSpPr>
          <p:cNvPr id="83" name="Text 77"/>
          <p:cNvSpPr txBox="1"/>
          <p:nvPr/>
        </p:nvSpPr>
        <p:spPr>
          <a:xfrm>
            <a:off x="2745303" y="4309933"/>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So sánh các nguồn vốn</a:t>
            </a:r>
            <a:endParaRPr lang="en-US" sz="720" dirty="0"/>
          </a:p>
        </p:txBody>
      </p:sp>
      <p:sp>
        <p:nvSpPr>
          <p:cNvPr id="84" name="Text 78"/>
          <p:cNvSpPr txBox="1"/>
          <p:nvPr/>
        </p:nvSpPr>
        <p:spPr>
          <a:xfrm>
            <a:off x="2745303" y="6325179"/>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Tổng hợp của nhóm; lãi suất cho vay NHNN (8/2026); tỷ suất yêu cầu từ mô hình (VCM)</a:t>
            </a:r>
            <a:endParaRPr lang="en-US" sz="600" dirty="0"/>
          </a:p>
        </p:txBody>
      </p:sp>
      <p:sp>
        <p:nvSpPr>
          <p:cNvPr id="85" name="Text 79"/>
          <p:cNvSpPr txBox="1"/>
          <p:nvPr/>
        </p:nvSpPr>
        <p:spPr>
          <a:xfrm>
            <a:off x="2745303" y="6499281"/>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Pha loãng và quyền kiểm soát.</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Vì vốn cổ phần cần gọi (37,6 tỷ) lớn hơn pre-money (31,8 tỷ), gọi một lần sẽ trao 54,2% cổ phần; nếu không vay mà dùng toàn vốn cổ phần, tỷ lệ này lên 67,7% (Fig. 47). Chúng tôi đề xuất chia Series A thành hai đợt (Fig. 48): đợt 1 20,7 tỷ (55%) tại pre-money 31,8 tỷ, nhà đầu tư nhận 39,4%; đợt 2 16,9 tỷ giải ngân cuối 2027 khi đạt mốc, định giá lại với tỷ lệ thất bại còn 25%, tương ứng post-money 101 tỷ và thêm 16,8% cổ phần. Sau hai đợt, founder và cổ đông hiện hữu giữ 50,5%.</a:t>
            </a:r>
            <a:endParaRPr lang="en-US" sz="900" dirty="0"/>
          </a:p>
        </p:txBody>
      </p:sp>
      <p:sp>
        <p:nvSpPr>
          <p:cNvPr id="86" name="Text 80"/>
          <p:cNvSpPr txBox="1"/>
          <p:nvPr/>
        </p:nvSpPr>
        <p:spPr>
          <a:xfrm>
            <a:off x="2745303" y="7422093"/>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Mốc giải ngân đợt 2 (đề xuất).</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(i) Hai dây chuyền mới vận hành thương mại trước 31/12/2027; (ii) doanh thu 2027 từ 75 tỷ đồng và biên EBITDA từ 16%; (iii) hợp đồng thu mua bã mía dài hạn cho nhà máy mới; (iv) chứng nhận vật liệu tiếp xúc thực phẩm. Không đạt mốc, nhà đầu tư có quyền dừng đợt 2 – cơ chế bảo vệ trước kịch bản Bear. Với nhà đầu tư, cấu trúc này đổi một phần tỷ lệ sở hữu lấy quyền lựa chọn: họ chỉ bỏ thêm vốn khi rủi ro đã giảm.</a:t>
            </a:r>
            <a:endParaRPr lang="en-US" sz="900" dirty="0"/>
          </a:p>
        </p:txBody>
      </p:sp>
      <p:sp>
        <p:nvSpPr>
          <p:cNvPr id="87" name="Text 81"/>
          <p:cNvSpPr txBox="1"/>
          <p:nvPr/>
        </p:nvSpPr>
        <p:spPr>
          <a:xfrm>
            <a:off x="2745303" y="8199699"/>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Khả năng trả nợ.</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Dư nợ đạt đỉnh 32,7 tỷ năm 2027–2028, bằng 2,3 lần EBITDA 2027, rồi giảm khi trả gốc 6,2 tỷ/năm từ 2029 (Fig. 49). Điểm yếu là năm 2028: EBIT chỉ bằng 1,9 lần lãi vay vì khấu hao nhà máy mới; tính trên dòng tiền, DSCR thấp nhất 2,7 lần năm 2029 khi bắt đầu trả gốc – đủ an toàn nếu sản lượng đạt kế hoạch, nên ân hạn gốc 2 năm là điều kiện cần.</a:t>
            </a:r>
            <a:endParaRPr lang="en-US" sz="900" dirty="0"/>
          </a:p>
        </p:txBody>
      </p:sp>
      <p:sp>
        <p:nvSpPr>
          <p:cNvPr id="88" name="Text 82"/>
          <p:cNvSpPr txBox="1"/>
          <p:nvPr/>
        </p:nvSpPr>
        <p:spPr>
          <a:xfrm>
            <a:off x="2745303" y="8832281"/>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Tác động lên doanh nghiệp.</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Nhà đầu tư VC sẽ yêu cầu ghế HĐQT, quyền phủ quyết các quyết định lớn và kỳ vọng tỷ suất 26%/năm nếu thành công – áp lực tăng trưởng lên đội ngũ. Lối thoát hợp lý nhất năm 2030 là bán cho nhà đầu tư chiến lược (tập đoàn bao bì, chuỗi F&amp;B), vì doanh thu khoảng 170 tỷ đồng còn nhỏ để niêm yết.</a:t>
            </a:r>
            <a:endParaRPr lang="en-US" sz="900" dirty="0"/>
          </a:p>
        </p:txBody>
      </p:sp>
      <p:sp>
        <p:nvSpPr>
          <p:cNvPr id="89" name="Text 83"/>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90" name="Text 84"/>
          <p:cNvSpPr txBox="1"/>
          <p:nvPr/>
        </p:nvSpPr>
        <p:spPr>
          <a:xfrm>
            <a:off x="7114581" y="10402672"/>
            <a:ext cx="97018"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9</a:t>
            </a:r>
            <a:endParaRPr lang="en-US" sz="6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1930756"/>
            <a:ext cx="6749004" cy="206380"/>
          </a:xfrm>
          <a:prstGeom prst="rect">
            <a:avLst/>
          </a:prstGeom>
          <a:solidFill>
            <a:srgbClr val="7B1E2B"/>
          </a:solidFill>
          <a:ln/>
        </p:spPr>
      </p:sp>
      <p:sp>
        <p:nvSpPr>
          <p:cNvPr id="3" name="Shape 1"/>
          <p:cNvSpPr/>
          <p:nvPr/>
        </p:nvSpPr>
        <p:spPr>
          <a:xfrm>
            <a:off x="405354" y="5922020"/>
            <a:ext cx="6749004" cy="206380"/>
          </a:xfrm>
          <a:prstGeom prst="rect">
            <a:avLst/>
          </a:prstGeom>
          <a:solidFill>
            <a:srgbClr val="7B1E2B"/>
          </a:solidFill>
          <a:ln/>
        </p:spPr>
      </p:sp>
      <p:sp>
        <p:nvSpPr>
          <p:cNvPr id="4" name="Shape 2"/>
          <p:cNvSpPr/>
          <p:nvPr/>
        </p:nvSpPr>
        <p:spPr>
          <a:xfrm>
            <a:off x="405354" y="471830"/>
            <a:ext cx="6749004" cy="0"/>
          </a:xfrm>
          <a:prstGeom prst="line">
            <a:avLst/>
          </a:prstGeom>
          <a:noFill/>
          <a:ln w="9525">
            <a:solidFill>
              <a:srgbClr val="7B1E2B"/>
            </a:solidFill>
            <a:prstDash val="solid"/>
          </a:ln>
        </p:spPr>
      </p:sp>
      <p:sp>
        <p:nvSpPr>
          <p:cNvPr id="5" name="Shape 3"/>
          <p:cNvSpPr/>
          <p:nvPr/>
        </p:nvSpPr>
        <p:spPr>
          <a:xfrm>
            <a:off x="405354" y="567568"/>
            <a:ext cx="2159996" cy="0"/>
          </a:xfrm>
          <a:prstGeom prst="line">
            <a:avLst/>
          </a:prstGeom>
          <a:noFill/>
          <a:ln w="9525">
            <a:solidFill>
              <a:srgbClr val="7B1E2B"/>
            </a:solidFill>
            <a:prstDash val="solid"/>
          </a:ln>
        </p:spPr>
      </p:sp>
      <p:sp>
        <p:nvSpPr>
          <p:cNvPr id="6" name="Shape 4"/>
          <p:cNvSpPr/>
          <p:nvPr/>
        </p:nvSpPr>
        <p:spPr>
          <a:xfrm>
            <a:off x="405354" y="2213762"/>
            <a:ext cx="2159996" cy="0"/>
          </a:xfrm>
          <a:prstGeom prst="line">
            <a:avLst/>
          </a:prstGeom>
          <a:noFill/>
          <a:ln w="9525">
            <a:solidFill>
              <a:srgbClr val="7B1E2B"/>
            </a:solidFill>
            <a:prstDash val="solid"/>
          </a:ln>
        </p:spPr>
      </p:sp>
      <p:sp>
        <p:nvSpPr>
          <p:cNvPr id="7" name="Shape 5"/>
          <p:cNvSpPr/>
          <p:nvPr/>
        </p:nvSpPr>
        <p:spPr>
          <a:xfrm>
            <a:off x="405354" y="3957340"/>
            <a:ext cx="6749004" cy="0"/>
          </a:xfrm>
          <a:prstGeom prst="line">
            <a:avLst/>
          </a:prstGeom>
          <a:noFill/>
          <a:ln w="9525">
            <a:solidFill>
              <a:srgbClr val="7B1E2B"/>
            </a:solidFill>
            <a:prstDash val="solid"/>
          </a:ln>
        </p:spPr>
      </p:sp>
      <p:sp>
        <p:nvSpPr>
          <p:cNvPr id="8" name="Shape 6"/>
          <p:cNvSpPr/>
          <p:nvPr/>
        </p:nvSpPr>
        <p:spPr>
          <a:xfrm>
            <a:off x="405354" y="6205027"/>
            <a:ext cx="2159996" cy="0"/>
          </a:xfrm>
          <a:prstGeom prst="line">
            <a:avLst/>
          </a:prstGeom>
          <a:noFill/>
          <a:ln w="9525">
            <a:solidFill>
              <a:srgbClr val="7B1E2B"/>
            </a:solidFill>
            <a:prstDash val="solid"/>
          </a:ln>
        </p:spPr>
      </p:sp>
      <p:sp>
        <p:nvSpPr>
          <p:cNvPr id="9" name="Shape 7"/>
          <p:cNvSpPr/>
          <p:nvPr/>
        </p:nvSpPr>
        <p:spPr>
          <a:xfrm>
            <a:off x="405354" y="10365547"/>
            <a:ext cx="6749004" cy="0"/>
          </a:xfrm>
          <a:prstGeom prst="line">
            <a:avLst/>
          </a:prstGeom>
          <a:noFill/>
          <a:ln w="9525">
            <a:solidFill>
              <a:srgbClr val="BFBFBF"/>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5354" y="4125590"/>
          <a:ext cx="6749004" cy="914400"/>
        </p:xfrm>
        <a:graphic>
          <a:graphicData uri="http://schemas.openxmlformats.org/drawingml/2006/table">
            <a:tbl>
              <a:tblPr/>
              <a:tblGrid>
                <a:gridCol w="944758"/>
                <a:gridCol w="1484711"/>
                <a:gridCol w="1484711"/>
                <a:gridCol w="1484711"/>
                <a:gridCol w="1350203"/>
              </a:tblGrid>
              <a:tr h="137526">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Rủi ro</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Nguyên nhân</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Tác động</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Giảm thiểu</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80" b="1" dirty="0">
                          <a:solidFill>
                            <a:srgbClr val="FFFFFF"/>
                          </a:solidFill>
                          <a:latin typeface="Calibri" pitchFamily="34" charset="0"/>
                          <a:ea typeface="Calibri" pitchFamily="34" charset="-122"/>
                          <a:cs typeface="Calibri" pitchFamily="34" charset="-120"/>
                        </a:rPr>
                        <a:t>Chỉ báo theo dõi</a:t>
                      </a:r>
                      <a:endParaRPr lang="en-US" sz="68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35458">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Nguồn cung bã mía</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Nhà máy đường ưu tiên đốt lò hơi; mùa vụ T11–T4</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CP biến đổi +1 điểm % → biên EBITDA −1 điểm %</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Hợp đồng dài hạn với 2–3 nhà máy đường; kho chứa đủ một vụ</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Tỷ lệ bã mía có hợp đồng cho 2027 &lt; 70%</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Cạnh tranh giá</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Hàng bã mía nhập khẩu, xưởng nhỏ trong nước</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Giá bán tăng 1%/năm thay vì 2% (thuộc kịch bản Bear)</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Khác biệt ở khuôn theo mẫu, giao nhanh</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Giá bán bình quân hộp F&amp;B giảm 2 quý liên tiếp</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Chậm tiến độ nhà máy</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Lắp đặt, chạy thử kéo dài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Trễ sang 2028: pre-money −7,9 tỷ</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Series A hai đợt; hợp đồng EPC có phạt chậm</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Chưa vận hành thương mại trước 31/12/2027</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Cầu thấp hơn dự phóng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Thực thi Điều 64 chậm; khách hàng hoãn chuyển đổi</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Kịch bản Bear: giá trị vốn chủ âm</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Mốc giải ngân đợt 2</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Sản lượng F&amp;B 2026 tăng &lt; 25%</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Lãi suất, tín dụng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Lãi suất cho vay tiếp tục tăng</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EBIT/lãi vay 2028E chỉ 1,9 lần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Ân hạn gốc 2 năm; hồ sơ NATIF</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EBIT/lãi vay &lt; 1,5 lần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213">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Pháp lý, kiểm nghiệm</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Yêu cầu vật liệu tiếp xúc thực phẩm (TT 27/2026)</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Chậm bán cho chuỗi F&amp;B lớn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Kiểm nghiệm sớm, lưu hồ sơ công bố</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Chưa có chứng nhận trước Q2/2027</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440">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Tỷ giá CNY</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Máy ép nhập từ Trung Quốc</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CNY +5% ≈ CAPEX +1,3 tỷ</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Chốt giá VND hoặc mua kỳ hạn</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80" dirty="0">
                          <a:solidFill>
                            <a:srgbClr val="1F1F1F"/>
                          </a:solidFill>
                          <a:latin typeface="Calibri" pitchFamily="34" charset="0"/>
                          <a:ea typeface="Calibri" pitchFamily="34" charset="-122"/>
                          <a:cs typeface="Calibri" pitchFamily="34" charset="-120"/>
                        </a:rPr>
                        <a:t>CNY/VND vượt 4.100</a:t>
                      </a:r>
                      <a:endParaRPr lang="en-US" sz="680"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76" name="Fig. 50 – biểu đồ"/>
          <p:cNvGrpSpPr/>
          <p:nvPr/>
        </p:nvGrpSpPr>
        <p:grpSpPr>
          <a:xfrm>
            <a:off x="375910" y="864931"/>
            <a:ext cx="2111807" cy="602864"/>
            <a:chOff x="375910" y="864931"/>
            <a:chExt cx="2111807" cy="602864"/>
          </a:xfrm>
        </p:grpSpPr>
        <p:sp>
          <p:nvSpPr>
            <p:cNvPr id="11" name="svg0_0"/>
            <p:cNvSpPr txBox="1"/>
            <p:nvPr/>
          </p:nvSpPr>
          <p:spPr>
            <a:xfrm>
              <a:off x="375910" y="875172"/>
              <a:ext cx="93579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Gọi 1 lần – khi thành công</a:t>
              </a:r>
              <a:endParaRPr lang="en-US" sz="587" dirty="0"/>
            </a:p>
          </p:txBody>
        </p:sp>
        <p:sp>
          <p:nvSpPr>
            <p:cNvPr id="12" name="svg0_1"/>
            <p:cNvSpPr/>
            <p:nvPr/>
          </p:nvSpPr>
          <p:spPr>
            <a:xfrm>
              <a:off x="1348008" y="884591"/>
              <a:ext cx="826709" cy="76078"/>
            </a:xfrm>
            <a:prstGeom prst="rect">
              <a:avLst/>
            </a:prstGeom>
            <a:solidFill>
              <a:srgbClr val="D0D0D0"/>
            </a:solidFill>
            <a:ln/>
          </p:spPr>
        </p:sp>
        <p:sp>
          <p:nvSpPr>
            <p:cNvPr id="13" name="svg0_2"/>
            <p:cNvSpPr txBox="1"/>
            <p:nvPr/>
          </p:nvSpPr>
          <p:spPr>
            <a:xfrm>
              <a:off x="621518" y="997885"/>
              <a:ext cx="69000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Gọi 1 lần – kỳ vọng</a:t>
              </a:r>
              <a:endParaRPr lang="en-US" sz="587" dirty="0"/>
            </a:p>
          </p:txBody>
        </p:sp>
        <p:sp>
          <p:nvSpPr>
            <p:cNvPr id="14" name="svg0_3"/>
            <p:cNvSpPr/>
            <p:nvPr/>
          </p:nvSpPr>
          <p:spPr>
            <a:xfrm>
              <a:off x="1348008" y="1007303"/>
              <a:ext cx="403159" cy="76078"/>
            </a:xfrm>
            <a:prstGeom prst="rect">
              <a:avLst/>
            </a:prstGeom>
            <a:solidFill>
              <a:srgbClr val="A3A3A3"/>
            </a:solidFill>
            <a:ln/>
          </p:spPr>
        </p:sp>
        <p:sp>
          <p:nvSpPr>
            <p:cNvPr id="15" name="svg0_4"/>
            <p:cNvSpPr txBox="1"/>
            <p:nvPr/>
          </p:nvSpPr>
          <p:spPr>
            <a:xfrm>
              <a:off x="423276" y="1120506"/>
              <a:ext cx="88834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Hai đợt – khi thành công</a:t>
              </a:r>
              <a:endParaRPr lang="en-US" sz="587" dirty="0"/>
            </a:p>
          </p:txBody>
        </p:sp>
        <p:sp>
          <p:nvSpPr>
            <p:cNvPr id="16" name="svg0_5"/>
            <p:cNvSpPr/>
            <p:nvPr/>
          </p:nvSpPr>
          <p:spPr>
            <a:xfrm>
              <a:off x="1348008" y="1130016"/>
              <a:ext cx="907085" cy="75987"/>
            </a:xfrm>
            <a:prstGeom prst="rect">
              <a:avLst/>
            </a:prstGeom>
            <a:solidFill>
              <a:srgbClr val="D0D0D0"/>
            </a:solidFill>
            <a:ln/>
          </p:spPr>
        </p:sp>
        <p:sp>
          <p:nvSpPr>
            <p:cNvPr id="17" name="svg0_6"/>
            <p:cNvSpPr txBox="1"/>
            <p:nvPr/>
          </p:nvSpPr>
          <p:spPr>
            <a:xfrm>
              <a:off x="650778" y="1243310"/>
              <a:ext cx="660654" cy="104790"/>
            </a:xfrm>
            <a:prstGeom prst="rect">
              <a:avLst/>
            </a:prstGeom>
            <a:noFill/>
            <a:ln/>
          </p:spPr>
          <p:txBody>
            <a:bodyPr wrap="none" lIns="0" tIns="0" rIns="0" bIns="0" rtlCol="0" anchor="ctr"/>
            <a:lstStyle/>
            <a:p>
              <a:pPr algn="r" indent="0" marL="0">
                <a:buNone/>
              </a:pPr>
              <a:r>
                <a:rPr lang="en-US" sz="587" b="1" dirty="0">
                  <a:solidFill>
                    <a:srgbClr val="262626"/>
                  </a:solidFill>
                  <a:latin typeface="Calibri" pitchFamily="34" charset="0"/>
                  <a:ea typeface="Calibri" pitchFamily="34" charset="-122"/>
                  <a:cs typeface="Calibri" pitchFamily="34" charset="-120"/>
                </a:rPr>
                <a:t>Hai đợt – kỳ vọng</a:t>
              </a:r>
              <a:endParaRPr lang="en-US" sz="587" dirty="0"/>
            </a:p>
          </p:txBody>
        </p:sp>
        <p:sp>
          <p:nvSpPr>
            <p:cNvPr id="18" name="svg0_7"/>
            <p:cNvSpPr/>
            <p:nvPr/>
          </p:nvSpPr>
          <p:spPr>
            <a:xfrm>
              <a:off x="1348008" y="1252728"/>
              <a:ext cx="493227" cy="76078"/>
            </a:xfrm>
            <a:prstGeom prst="rect">
              <a:avLst/>
            </a:prstGeom>
            <a:solidFill>
              <a:srgbClr val="7B1E2B"/>
            </a:solidFill>
            <a:ln/>
          </p:spPr>
        </p:sp>
        <p:sp>
          <p:nvSpPr>
            <p:cNvPr id="19" name="svg0_8"/>
            <p:cNvSpPr/>
            <p:nvPr/>
          </p:nvSpPr>
          <p:spPr>
            <a:xfrm>
              <a:off x="1348008" y="864931"/>
              <a:ext cx="0" cy="485912"/>
            </a:xfrm>
            <a:prstGeom prst="line">
              <a:avLst/>
            </a:prstGeom>
            <a:noFill/>
            <a:ln w="6858">
              <a:solidFill>
                <a:srgbClr val="8C8C8C"/>
              </a:solidFill>
              <a:prstDash val="solid"/>
            </a:ln>
          </p:spPr>
        </p:sp>
        <p:sp>
          <p:nvSpPr>
            <p:cNvPr id="20" name="svg0_9"/>
            <p:cNvSpPr/>
            <p:nvPr/>
          </p:nvSpPr>
          <p:spPr>
            <a:xfrm>
              <a:off x="1836938" y="864931"/>
              <a:ext cx="0" cy="505480"/>
            </a:xfrm>
            <a:prstGeom prst="line">
              <a:avLst/>
            </a:prstGeom>
            <a:noFill/>
            <a:ln w="7874">
              <a:solidFill>
                <a:srgbClr val="404040"/>
              </a:solidFill>
              <a:prstDash val="dash"/>
            </a:ln>
          </p:spPr>
        </p:sp>
        <p:sp>
          <p:nvSpPr>
            <p:cNvPr id="21" name="svg0_10"/>
            <p:cNvSpPr txBox="1"/>
            <p:nvPr/>
          </p:nvSpPr>
          <p:spPr>
            <a:xfrm>
              <a:off x="1608338" y="1363005"/>
              <a:ext cx="463326" cy="104790"/>
            </a:xfrm>
            <a:prstGeom prst="rect">
              <a:avLst/>
            </a:prstGeom>
            <a:noFill/>
            <a:ln/>
          </p:spPr>
          <p:txBody>
            <a:bodyPr wrap="none" lIns="0" tIns="0" rIns="0" bIns="0" rtlCol="0" anchor="ctr"/>
            <a:lstStyle/>
            <a:p>
              <a:pPr algn="ctr" indent="0" marL="0">
                <a:buNone/>
              </a:pPr>
              <a:r>
                <a:rPr lang="en-US" sz="557" dirty="0">
                  <a:solidFill>
                    <a:srgbClr val="404040"/>
                  </a:solidFill>
                  <a:latin typeface="Calibri" pitchFamily="34" charset="0"/>
                  <a:ea typeface="Calibri" pitchFamily="34" charset="-122"/>
                  <a:cs typeface="Calibri" pitchFamily="34" charset="-120"/>
                </a:rPr>
                <a:t>WACC 13,8%</a:t>
              </a:r>
              <a:endParaRPr lang="en-US" sz="557" dirty="0"/>
            </a:p>
          </p:txBody>
        </p:sp>
        <p:sp>
          <p:nvSpPr>
            <p:cNvPr id="22" name="svg0_11"/>
            <p:cNvSpPr txBox="1"/>
            <p:nvPr/>
          </p:nvSpPr>
          <p:spPr>
            <a:xfrm>
              <a:off x="2199041" y="875172"/>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23,4%</a:t>
              </a:r>
              <a:endParaRPr lang="en-US" sz="587" dirty="0"/>
            </a:p>
          </p:txBody>
        </p:sp>
        <p:sp>
          <p:nvSpPr>
            <p:cNvPr id="23" name="svg0_12"/>
            <p:cNvSpPr txBox="1"/>
            <p:nvPr/>
          </p:nvSpPr>
          <p:spPr>
            <a:xfrm>
              <a:off x="1775948" y="997885"/>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11,4%</a:t>
              </a:r>
              <a:endParaRPr lang="en-US" sz="587" dirty="0"/>
            </a:p>
          </p:txBody>
        </p:sp>
        <p:sp>
          <p:nvSpPr>
            <p:cNvPr id="24" name="svg0_13"/>
            <p:cNvSpPr txBox="1"/>
            <p:nvPr/>
          </p:nvSpPr>
          <p:spPr>
            <a:xfrm>
              <a:off x="2279508" y="1120506"/>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25,7%</a:t>
              </a:r>
              <a:endParaRPr lang="en-US" sz="587" dirty="0"/>
            </a:p>
          </p:txBody>
        </p:sp>
        <p:sp>
          <p:nvSpPr>
            <p:cNvPr id="25" name="svg0_14"/>
            <p:cNvSpPr txBox="1"/>
            <p:nvPr/>
          </p:nvSpPr>
          <p:spPr>
            <a:xfrm>
              <a:off x="1866199" y="1243310"/>
              <a:ext cx="208758" cy="104790"/>
            </a:xfrm>
            <a:prstGeom prst="rect">
              <a:avLst/>
            </a:prstGeom>
            <a:solidFill>
              <a:srgbClr val="FFFFFF"/>
            </a:solidFill>
            <a:ln/>
          </p:spPr>
          <p:txBody>
            <a:bodyPr wrap="none" lIns="0" tIns="0" rIns="0" bIns="0" rtlCol="0" anchor="ctr"/>
            <a:lstStyle/>
            <a:p>
              <a:pPr algn="l" indent="0" marL="0">
                <a:buNone/>
              </a:pPr>
              <a:r>
                <a:rPr lang="en-US" sz="587" b="1" dirty="0">
                  <a:solidFill>
                    <a:srgbClr val="262626"/>
                  </a:solidFill>
                  <a:latin typeface="Calibri" pitchFamily="34" charset="0"/>
                  <a:ea typeface="Calibri" pitchFamily="34" charset="-122"/>
                  <a:cs typeface="Calibri" pitchFamily="34" charset="-120"/>
                </a:rPr>
                <a:t>14,0%</a:t>
              </a:r>
              <a:endParaRPr lang="en-US" sz="587" dirty="0"/>
            </a:p>
          </p:txBody>
        </p:sp>
      </p:grpSp>
      <p:grpSp>
        <p:nvGrpSpPr>
          <p:cNvPr id="77" name="Fig. 51 – biểu đồ"/>
          <p:cNvGrpSpPr/>
          <p:nvPr/>
        </p:nvGrpSpPr>
        <p:grpSpPr>
          <a:xfrm>
            <a:off x="307604" y="2511125"/>
            <a:ext cx="2198767" cy="585033"/>
            <a:chOff x="307604" y="2511125"/>
            <a:chExt cx="2198767" cy="585033"/>
          </a:xfrm>
        </p:grpSpPr>
        <p:sp>
          <p:nvSpPr>
            <p:cNvPr id="26" name="svg1_15"/>
            <p:cNvSpPr txBox="1"/>
            <p:nvPr/>
          </p:nvSpPr>
          <p:spPr>
            <a:xfrm>
              <a:off x="673913" y="2519355"/>
              <a:ext cx="83128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Nhà máy trễ sang 2028</a:t>
              </a:r>
              <a:endParaRPr lang="en-US" sz="587" dirty="0"/>
            </a:p>
          </p:txBody>
        </p:sp>
        <p:sp>
          <p:nvSpPr>
            <p:cNvPr id="27" name="svg1_16"/>
            <p:cNvSpPr/>
            <p:nvPr/>
          </p:nvSpPr>
          <p:spPr>
            <a:xfrm>
              <a:off x="1847820" y="2530785"/>
              <a:ext cx="658459" cy="73061"/>
            </a:xfrm>
            <a:prstGeom prst="rect">
              <a:avLst/>
            </a:prstGeom>
            <a:solidFill>
              <a:srgbClr val="7B1E2B"/>
            </a:solidFill>
            <a:ln/>
          </p:spPr>
        </p:sp>
        <p:sp>
          <p:nvSpPr>
            <p:cNvPr id="28" name="svg1_17"/>
            <p:cNvSpPr txBox="1"/>
            <p:nvPr/>
          </p:nvSpPr>
          <p:spPr>
            <a:xfrm>
              <a:off x="518648" y="2637221"/>
              <a:ext cx="98636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WACC +1 điểm % (qua DCF)</a:t>
              </a:r>
              <a:endParaRPr lang="en-US" sz="587" dirty="0"/>
            </a:p>
          </p:txBody>
        </p:sp>
        <p:sp>
          <p:nvSpPr>
            <p:cNvPr id="29" name="svg1_18"/>
            <p:cNvSpPr/>
            <p:nvPr/>
          </p:nvSpPr>
          <p:spPr>
            <a:xfrm>
              <a:off x="2109521" y="2648651"/>
              <a:ext cx="396850" cy="72969"/>
            </a:xfrm>
            <a:prstGeom prst="rect">
              <a:avLst/>
            </a:prstGeom>
            <a:solidFill>
              <a:srgbClr val="A3A3A3"/>
            </a:solidFill>
            <a:ln/>
          </p:spPr>
        </p:sp>
        <p:sp>
          <p:nvSpPr>
            <p:cNvPr id="30" name="svg1_19"/>
            <p:cNvSpPr txBox="1"/>
            <p:nvPr/>
          </p:nvSpPr>
          <p:spPr>
            <a:xfrm>
              <a:off x="318486" y="2754996"/>
              <a:ext cx="118661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Giá trị thoái vốn −15% (qua VCM)</a:t>
              </a:r>
              <a:endParaRPr lang="en-US" sz="587" dirty="0"/>
            </a:p>
          </p:txBody>
        </p:sp>
        <p:sp>
          <p:nvSpPr>
            <p:cNvPr id="31" name="svg1_20"/>
            <p:cNvSpPr/>
            <p:nvPr/>
          </p:nvSpPr>
          <p:spPr>
            <a:xfrm>
              <a:off x="2115007" y="2766334"/>
              <a:ext cx="391272" cy="73061"/>
            </a:xfrm>
            <a:prstGeom prst="rect">
              <a:avLst/>
            </a:prstGeom>
            <a:solidFill>
              <a:srgbClr val="A3A3A3"/>
            </a:solidFill>
            <a:ln/>
          </p:spPr>
        </p:sp>
        <p:sp>
          <p:nvSpPr>
            <p:cNvPr id="32" name="svg1_21"/>
            <p:cNvSpPr txBox="1"/>
            <p:nvPr/>
          </p:nvSpPr>
          <p:spPr>
            <a:xfrm>
              <a:off x="307604" y="2872770"/>
              <a:ext cx="119749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RONIC 14% thay vì 18% (qua DCF)</a:t>
              </a:r>
              <a:endParaRPr lang="en-US" sz="587" dirty="0"/>
            </a:p>
          </p:txBody>
        </p:sp>
        <p:sp>
          <p:nvSpPr>
            <p:cNvPr id="33" name="svg1_22"/>
            <p:cNvSpPr/>
            <p:nvPr/>
          </p:nvSpPr>
          <p:spPr>
            <a:xfrm>
              <a:off x="2181758" y="2884200"/>
              <a:ext cx="324521" cy="73061"/>
            </a:xfrm>
            <a:prstGeom prst="rect">
              <a:avLst/>
            </a:prstGeom>
            <a:solidFill>
              <a:srgbClr val="A3A3A3"/>
            </a:solidFill>
            <a:ln/>
          </p:spPr>
        </p:sp>
        <p:sp>
          <p:nvSpPr>
            <p:cNvPr id="34" name="svg1_23"/>
            <p:cNvSpPr txBox="1"/>
            <p:nvPr/>
          </p:nvSpPr>
          <p:spPr>
            <a:xfrm>
              <a:off x="406817" y="2990545"/>
              <a:ext cx="109819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z = 45% thay vì 40% (qua VCM)</a:t>
              </a:r>
              <a:endParaRPr lang="en-US" sz="587" dirty="0"/>
            </a:p>
          </p:txBody>
        </p:sp>
        <p:sp>
          <p:nvSpPr>
            <p:cNvPr id="35" name="svg1_24"/>
            <p:cNvSpPr/>
            <p:nvPr/>
          </p:nvSpPr>
          <p:spPr>
            <a:xfrm>
              <a:off x="2288926" y="3001975"/>
              <a:ext cx="217353" cy="73061"/>
            </a:xfrm>
            <a:prstGeom prst="rect">
              <a:avLst/>
            </a:prstGeom>
            <a:solidFill>
              <a:srgbClr val="A3A3A3"/>
            </a:solidFill>
            <a:ln/>
          </p:spPr>
        </p:sp>
        <p:sp>
          <p:nvSpPr>
            <p:cNvPr id="36" name="svg1_25"/>
            <p:cNvSpPr/>
            <p:nvPr/>
          </p:nvSpPr>
          <p:spPr>
            <a:xfrm>
              <a:off x="2506279" y="2511125"/>
              <a:ext cx="0" cy="585033"/>
            </a:xfrm>
            <a:prstGeom prst="line">
              <a:avLst/>
            </a:prstGeom>
            <a:noFill/>
            <a:ln w="6858">
              <a:solidFill>
                <a:srgbClr val="8C8C8C"/>
              </a:solidFill>
              <a:prstDash val="solid"/>
            </a:ln>
          </p:spPr>
        </p:sp>
        <p:sp>
          <p:nvSpPr>
            <p:cNvPr id="37" name="svg1_26"/>
            <p:cNvSpPr txBox="1"/>
            <p:nvPr/>
          </p:nvSpPr>
          <p:spPr>
            <a:xfrm>
              <a:off x="1672620" y="2519355"/>
              <a:ext cx="150693" cy="104790"/>
            </a:xfrm>
            <a:prstGeom prst="rect">
              <a:avLst/>
            </a:prstGeom>
            <a:solidFill>
              <a:srgbClr val="FFFFFF"/>
            </a:solid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−7,9</a:t>
              </a:r>
              <a:endParaRPr lang="en-US" sz="587" dirty="0"/>
            </a:p>
          </p:txBody>
        </p:sp>
        <p:sp>
          <p:nvSpPr>
            <p:cNvPr id="38" name="svg1_27"/>
            <p:cNvSpPr txBox="1"/>
            <p:nvPr/>
          </p:nvSpPr>
          <p:spPr>
            <a:xfrm>
              <a:off x="1934688" y="2637221"/>
              <a:ext cx="150693" cy="104790"/>
            </a:xfrm>
            <a:prstGeom prst="rect">
              <a:avLst/>
            </a:prstGeom>
            <a:solidFill>
              <a:srgbClr val="FFFFFF"/>
            </a:solid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−4,7</a:t>
              </a:r>
              <a:endParaRPr lang="en-US" sz="587" dirty="0"/>
            </a:p>
          </p:txBody>
        </p:sp>
        <p:sp>
          <p:nvSpPr>
            <p:cNvPr id="39" name="svg1_28"/>
            <p:cNvSpPr txBox="1"/>
            <p:nvPr/>
          </p:nvSpPr>
          <p:spPr>
            <a:xfrm>
              <a:off x="1939534" y="2754996"/>
              <a:ext cx="150693" cy="104790"/>
            </a:xfrm>
            <a:prstGeom prst="rect">
              <a:avLst/>
            </a:prstGeom>
            <a:solidFill>
              <a:srgbClr val="FFFFFF"/>
            </a:solid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−4,7</a:t>
              </a:r>
              <a:endParaRPr lang="en-US" sz="587" dirty="0"/>
            </a:p>
          </p:txBody>
        </p:sp>
        <p:sp>
          <p:nvSpPr>
            <p:cNvPr id="40" name="svg1_29"/>
            <p:cNvSpPr txBox="1"/>
            <p:nvPr/>
          </p:nvSpPr>
          <p:spPr>
            <a:xfrm>
              <a:off x="2006376" y="2872770"/>
              <a:ext cx="150693" cy="104790"/>
            </a:xfrm>
            <a:prstGeom prst="rect">
              <a:avLst/>
            </a:prstGeom>
            <a:solidFill>
              <a:srgbClr val="FFFFFF"/>
            </a:solid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−3,9</a:t>
              </a:r>
              <a:endParaRPr lang="en-US" sz="587" dirty="0"/>
            </a:p>
          </p:txBody>
        </p:sp>
        <p:sp>
          <p:nvSpPr>
            <p:cNvPr id="41" name="svg1_30"/>
            <p:cNvSpPr txBox="1"/>
            <p:nvPr/>
          </p:nvSpPr>
          <p:spPr>
            <a:xfrm>
              <a:off x="2114367" y="2990545"/>
              <a:ext cx="150693" cy="104790"/>
            </a:xfrm>
            <a:prstGeom prst="rect">
              <a:avLst/>
            </a:prstGeom>
            <a:solidFill>
              <a:srgbClr val="FFFFFF"/>
            </a:solid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−2,6</a:t>
              </a:r>
              <a:endParaRPr lang="en-US" sz="587" dirty="0"/>
            </a:p>
          </p:txBody>
        </p:sp>
      </p:grpSp>
      <p:grpSp>
        <p:nvGrpSpPr>
          <p:cNvPr id="78" name="Fig. 53 – biểu đồ"/>
          <p:cNvGrpSpPr/>
          <p:nvPr/>
        </p:nvGrpSpPr>
        <p:grpSpPr>
          <a:xfrm>
            <a:off x="444764" y="6481450"/>
            <a:ext cx="2081266" cy="789767"/>
            <a:chOff x="444764" y="6481450"/>
            <a:chExt cx="2081266" cy="789767"/>
          </a:xfrm>
        </p:grpSpPr>
        <p:sp>
          <p:nvSpPr>
            <p:cNvPr id="42" name="svg2_31"/>
            <p:cNvSpPr/>
            <p:nvPr/>
          </p:nvSpPr>
          <p:spPr>
            <a:xfrm>
              <a:off x="576621" y="6590812"/>
              <a:ext cx="430042" cy="490850"/>
            </a:xfrm>
            <a:prstGeom prst="rect">
              <a:avLst/>
            </a:prstGeom>
            <a:solidFill>
              <a:srgbClr val="7B1E2B"/>
            </a:solidFill>
            <a:ln/>
          </p:spPr>
        </p:sp>
        <p:sp>
          <p:nvSpPr>
            <p:cNvPr id="43" name="svg2_32"/>
            <p:cNvSpPr txBox="1"/>
            <p:nvPr/>
          </p:nvSpPr>
          <p:spPr>
            <a:xfrm>
              <a:off x="688818" y="6481450"/>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62,4</a:t>
              </a:r>
              <a:endParaRPr lang="en-US" sz="649" dirty="0"/>
            </a:p>
          </p:txBody>
        </p:sp>
        <p:sp>
          <p:nvSpPr>
            <p:cNvPr id="44" name="svg2_33"/>
            <p:cNvSpPr txBox="1"/>
            <p:nvPr/>
          </p:nvSpPr>
          <p:spPr>
            <a:xfrm>
              <a:off x="485546" y="7095744"/>
              <a:ext cx="614385"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Đầu tăng trưởng</a:t>
              </a:r>
              <a:endParaRPr lang="en-US" sz="587" dirty="0"/>
            </a:p>
          </p:txBody>
        </p:sp>
        <p:sp>
          <p:nvSpPr>
            <p:cNvPr id="45" name="svg2_34"/>
            <p:cNvSpPr txBox="1"/>
            <p:nvPr/>
          </p:nvSpPr>
          <p:spPr>
            <a:xfrm>
              <a:off x="648127" y="7166427"/>
              <a:ext cx="29297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z = 40%</a:t>
              </a:r>
              <a:endParaRPr lang="en-US" sz="557" dirty="0"/>
            </a:p>
          </p:txBody>
        </p:sp>
        <p:sp>
          <p:nvSpPr>
            <p:cNvPr id="46" name="svg2_35"/>
            <p:cNvSpPr/>
            <p:nvPr/>
          </p:nvSpPr>
          <p:spPr>
            <a:xfrm>
              <a:off x="1270284" y="6733916"/>
              <a:ext cx="430134" cy="347746"/>
            </a:xfrm>
            <a:prstGeom prst="rect">
              <a:avLst/>
            </a:prstGeom>
            <a:solidFill>
              <a:srgbClr val="A3A3A3"/>
            </a:solidFill>
            <a:ln/>
          </p:spPr>
        </p:sp>
        <p:sp>
          <p:nvSpPr>
            <p:cNvPr id="47" name="svg2_36"/>
            <p:cNvSpPr txBox="1"/>
            <p:nvPr/>
          </p:nvSpPr>
          <p:spPr>
            <a:xfrm>
              <a:off x="1382939" y="6624828"/>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44,2</a:t>
              </a:r>
              <a:endParaRPr lang="en-US" sz="649" dirty="0"/>
            </a:p>
          </p:txBody>
        </p:sp>
        <p:sp>
          <p:nvSpPr>
            <p:cNvPr id="48" name="svg2_37"/>
            <p:cNvSpPr txBox="1"/>
            <p:nvPr/>
          </p:nvSpPr>
          <p:spPr>
            <a:xfrm>
              <a:off x="1258489" y="7095744"/>
              <a:ext cx="453725"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Thử nghiệm</a:t>
              </a:r>
              <a:endParaRPr lang="en-US" sz="587" dirty="0"/>
            </a:p>
          </p:txBody>
        </p:sp>
        <p:sp>
          <p:nvSpPr>
            <p:cNvPr id="49" name="svg2_38"/>
            <p:cNvSpPr txBox="1"/>
            <p:nvPr/>
          </p:nvSpPr>
          <p:spPr>
            <a:xfrm>
              <a:off x="1311798" y="7166427"/>
              <a:ext cx="353781"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z = 57,5%</a:t>
              </a:r>
              <a:endParaRPr lang="en-US" sz="557" dirty="0"/>
            </a:p>
          </p:txBody>
        </p:sp>
        <p:sp>
          <p:nvSpPr>
            <p:cNvPr id="50" name="svg2_39"/>
            <p:cNvSpPr/>
            <p:nvPr/>
          </p:nvSpPr>
          <p:spPr>
            <a:xfrm>
              <a:off x="1964040" y="6856628"/>
              <a:ext cx="430042" cy="224942"/>
            </a:xfrm>
            <a:prstGeom prst="rect">
              <a:avLst/>
            </a:prstGeom>
            <a:solidFill>
              <a:srgbClr val="D0D0D0"/>
            </a:solidFill>
            <a:ln/>
          </p:spPr>
        </p:sp>
        <p:sp>
          <p:nvSpPr>
            <p:cNvPr id="51" name="svg2_40"/>
            <p:cNvSpPr txBox="1"/>
            <p:nvPr/>
          </p:nvSpPr>
          <p:spPr>
            <a:xfrm>
              <a:off x="2076877" y="6747540"/>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28,6</a:t>
              </a:r>
              <a:endParaRPr lang="en-US" sz="649" dirty="0"/>
            </a:p>
          </p:txBody>
        </p:sp>
        <p:sp>
          <p:nvSpPr>
            <p:cNvPr id="52" name="svg2_41"/>
            <p:cNvSpPr txBox="1"/>
            <p:nvPr/>
          </p:nvSpPr>
          <p:spPr>
            <a:xfrm>
              <a:off x="1975104" y="7095744"/>
              <a:ext cx="408737"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Ươm mầm</a:t>
              </a:r>
              <a:endParaRPr lang="en-US" sz="587" dirty="0"/>
            </a:p>
          </p:txBody>
        </p:sp>
        <p:sp>
          <p:nvSpPr>
            <p:cNvPr id="53" name="svg2_42"/>
            <p:cNvSpPr txBox="1"/>
            <p:nvPr/>
          </p:nvSpPr>
          <p:spPr>
            <a:xfrm>
              <a:off x="2005919" y="7166427"/>
              <a:ext cx="353781"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z = 72,5%</a:t>
              </a:r>
              <a:endParaRPr lang="en-US" sz="557" dirty="0"/>
            </a:p>
          </p:txBody>
        </p:sp>
        <p:sp>
          <p:nvSpPr>
            <p:cNvPr id="54" name="svg2_43"/>
            <p:cNvSpPr/>
            <p:nvPr/>
          </p:nvSpPr>
          <p:spPr>
            <a:xfrm>
              <a:off x="444764" y="7081662"/>
              <a:ext cx="2081266" cy="0"/>
            </a:xfrm>
            <a:prstGeom prst="line">
              <a:avLst/>
            </a:prstGeom>
            <a:noFill/>
            <a:ln w="6858">
              <a:solidFill>
                <a:srgbClr val="8C8C8C"/>
              </a:solidFill>
              <a:prstDash val="solid"/>
            </a:ln>
          </p:spPr>
        </p:sp>
      </p:grpSp>
      <p:sp>
        <p:nvSpPr>
          <p:cNvPr id="55" name="Text 52"/>
          <p:cNvSpPr txBox="1"/>
          <p:nvPr/>
        </p:nvSpPr>
        <p:spPr>
          <a:xfrm>
            <a:off x="405354" y="315559"/>
            <a:ext cx="1873148" cy="119238"/>
          </a:xfrm>
          <a:prstGeom prst="rect">
            <a:avLst/>
          </a:prstGeom>
          <a:noFill/>
          <a:ln/>
        </p:spPr>
        <p:txBody>
          <a:bodyPr wrap="none" lIns="0" tIns="0" rIns="0" bIns="0" rtlCol="0" anchor="t"/>
          <a:lstStyle/>
          <a:p>
            <a:pPr algn="l" indent="0" marL="0">
              <a:lnSpc>
                <a:spcPts val="864"/>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 | Định giá &amp; đề xuất gọi vốn Series A</a:t>
            </a:r>
            <a:endParaRPr lang="en-US" sz="680" dirty="0"/>
          </a:p>
        </p:txBody>
      </p:sp>
      <p:sp>
        <p:nvSpPr>
          <p:cNvPr id="56" name="Text 53"/>
          <p:cNvSpPr txBox="1"/>
          <p:nvPr/>
        </p:nvSpPr>
        <p:spPr>
          <a:xfrm>
            <a:off x="6056346" y="325161"/>
            <a:ext cx="1163940" cy="109545"/>
          </a:xfrm>
          <a:prstGeom prst="rect">
            <a:avLst/>
          </a:prstGeom>
          <a:noFill/>
          <a:ln/>
        </p:spPr>
        <p:txBody>
          <a:bodyPr wrap="none" lIns="0" tIns="0" rIns="0" bIns="0" rtlCol="0" anchor="t"/>
          <a:lstStyle/>
          <a:p>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Báo cáo phân tích · 29/09/2026</a:t>
            </a:r>
            <a:endParaRPr lang="en-US" sz="680" dirty="0"/>
          </a:p>
        </p:txBody>
      </p:sp>
      <p:sp>
        <p:nvSpPr>
          <p:cNvPr id="57" name="Text 54"/>
          <p:cNvSpPr txBox="1"/>
          <p:nvPr/>
        </p:nvSpPr>
        <p:spPr>
          <a:xfrm>
            <a:off x="405354" y="593994"/>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Chia hai đợt đưa IRR kỳ vọng của nhà đầu tư về ngang WACC</a:t>
            </a:r>
            <a:endParaRPr lang="en-US" sz="720" dirty="0"/>
          </a:p>
        </p:txBody>
      </p:sp>
      <p:sp>
        <p:nvSpPr>
          <p:cNvPr id="58" name="Text 55"/>
          <p:cNvSpPr txBox="1"/>
          <p:nvPr/>
        </p:nvSpPr>
        <p:spPr>
          <a:xfrm>
            <a:off x="405354" y="1530706"/>
            <a:ext cx="2213945" cy="274137"/>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VCM, Discount rate); xác suất thất bại/năm p = 1 − (1 − z)^(1/5); sau mốc 2027 z còn 25% (giả định của nhóm); giá trị thu hồi khi thất bại = 0</a:t>
            </a:r>
            <a:endParaRPr lang="en-US" sz="600" dirty="0"/>
          </a:p>
        </p:txBody>
      </p:sp>
      <p:sp>
        <p:nvSpPr>
          <p:cNvPr id="59" name="Text 56"/>
          <p:cNvSpPr txBox="1"/>
          <p:nvPr/>
        </p:nvSpPr>
        <p:spPr>
          <a:xfrm>
            <a:off x="2745303" y="562813"/>
            <a:ext cx="4409237" cy="1015716"/>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Lợi suất của nhà đầu tư.</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Nếu thành công, nhà đầu tư nhận 2,6–2,9 lần vốn và IRR 23%–26% (Fig. 50). Tính cả 40% xác suất thất bại, gọi một lần ở pre-money 31,8 tỷ chỉ cho IRR kỳ vọng 11,4%, thấp hơn WACC 13,8%: nhà đầu tư sẽ ép giá về gần mức VC Method (24,8 tỷ). Chia hai đợt nâng IRR kỳ vọng lên 14,0%, ngang WACC, vì 16,9 tỷ của đợt 2 chỉ được giải ngân nếu công ty còn hoạt động đến cuối 2027 (xác suất 81,5%) và khi rủi ro còn lại đã giảm về 25%. Cấu trúc hai đợt vì vậy là điểm cân bằng: founder giữ quyền kiểm soát, nhà đầu tư vẫn đạt lợi suất đòi hỏi.</a:t>
            </a:r>
            <a:endParaRPr lang="en-US" sz="900" dirty="0"/>
          </a:p>
        </p:txBody>
      </p:sp>
      <p:sp>
        <p:nvSpPr>
          <p:cNvPr id="60" name="Text 57"/>
          <p:cNvSpPr txBox="1"/>
          <p:nvPr/>
        </p:nvSpPr>
        <p:spPr>
          <a:xfrm>
            <a:off x="484632" y="1963125"/>
            <a:ext cx="6986107" cy="141641"/>
          </a:xfrm>
          <a:prstGeom prst="rect">
            <a:avLst/>
          </a:prstGeom>
          <a:noFill/>
          <a:ln/>
        </p:spPr>
        <p:txBody>
          <a:bodyPr wrap="none" lIns="0" tIns="0" rIns="0" bIns="0" rtlCol="0" anchor="t"/>
          <a:lstStyle/>
          <a:p>
            <a:pPr algn="l" indent="0" marL="0">
              <a:lnSpc>
                <a:spcPts val="1118"/>
              </a:lnSpc>
              <a:buNone/>
            </a:pPr>
            <a:r>
              <a:rPr lang="en-US" sz="880" b="1" spc="35" kern="0" dirty="0">
                <a:solidFill>
                  <a:srgbClr val="FFFFFF"/>
                </a:solidFill>
                <a:latin typeface="Calibri" pitchFamily="34" charset="0"/>
                <a:ea typeface="Calibri" pitchFamily="34" charset="-122"/>
                <a:cs typeface="Calibri" pitchFamily="34" charset="-120"/>
              </a:rPr>
              <a:t>RỦI RO ĐẦU TƯ</a:t>
            </a:r>
            <a:endParaRPr lang="en-US" sz="880" dirty="0"/>
          </a:p>
        </p:txBody>
      </p:sp>
      <p:sp>
        <p:nvSpPr>
          <p:cNvPr id="61" name="Text 58"/>
          <p:cNvSpPr txBox="1"/>
          <p:nvPr/>
        </p:nvSpPr>
        <p:spPr>
          <a:xfrm>
            <a:off x="405354" y="224018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Ngoài cầu, trễ tiến độ nhà máy làm giảm pre-money khuyến nghị nhiều nhất (tỷ đồng)</a:t>
            </a:r>
            <a:endParaRPr lang="en-US" sz="720" dirty="0"/>
          </a:p>
        </p:txBody>
      </p:sp>
      <p:sp>
        <p:nvSpPr>
          <p:cNvPr id="62" name="Text 59"/>
          <p:cNvSpPr txBox="1"/>
          <p:nvPr/>
        </p:nvSpPr>
        <p:spPr>
          <a:xfrm>
            <a:off x="405354" y="3196468"/>
            <a:ext cx="2213945" cy="274137"/>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Sensitivity); độ nhạy của một phương pháp được quy về pre-money khuyến nghị theo trọng số 50/50. Kịch bản Bear không vẽ: pre-money giảm 59,1 tỷ, xuống mức âm</a:t>
            </a:r>
            <a:endParaRPr lang="en-US" sz="600" dirty="0"/>
          </a:p>
        </p:txBody>
      </p:sp>
      <p:sp>
        <p:nvSpPr>
          <p:cNvPr id="63" name="Text 60"/>
          <p:cNvSpPr txBox="1"/>
          <p:nvPr/>
        </p:nvSpPr>
        <p:spPr>
          <a:xfrm>
            <a:off x="2745303" y="2209008"/>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Rủi ro trong mô hình.</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Rủi ro lớn nhất là nhu cầu: kịch bản Bear làm giá trị vốn chủ âm, nên Series A hai đợt là công cụ quản trị rủi ro chứ không chỉ để giảm pha loãng. Trong các rủi ro còn lại, trễ tiến độ nhà máy làm pre-money khuyến nghị giảm nhiều nhất (7,9 tỷ), gần gấp đôi tác động của WACC +1 điểm % hay giá trị thoái vốn −15% (Fig. 51). Mỗi rủi ro được gắn với một chỉ báo theo dõi có ngưỡng để nhà đầu tư biết sớm khi nào luận điểm sai (Fig. 52).</a:t>
            </a:r>
            <a:endParaRPr lang="en-US" sz="900" dirty="0"/>
          </a:p>
        </p:txBody>
      </p:sp>
      <p:sp>
        <p:nvSpPr>
          <p:cNvPr id="64" name="Text 61"/>
          <p:cNvSpPr txBox="1"/>
          <p:nvPr/>
        </p:nvSpPr>
        <p:spPr>
          <a:xfrm>
            <a:off x="2745303" y="2986613"/>
            <a:ext cx="4409237" cy="870692"/>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Rủi ro ngoài mô hình.</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Ba rủi ro không đo được bằng độ nhạy nhưng cần kiểm tra trước khi giải ngân: (i) chất lượng số liệu – nhà đầu tư cần BCTC kiểm toán và đối chiếu sản lượng với hóa đơn bán hàng; (ii) phụ thuộc đội ngũ sáng lập – với startup một nhà máy, công thức phối trộn và quan hệ với nhà máy đường thường nằm ở vài người chủ chốt, nên cần cam kết gắn bó (vesting) trong điều khoản đầu tư; (iii) uy tín "xanh" – sản phẩm cần chứng nhận phân hủy và an toàn thực phẩm để không bị đánh đồng với nhựa "tự hủy" pha phụ gia.</a:t>
            </a:r>
            <a:endParaRPr lang="en-US" sz="900" dirty="0"/>
          </a:p>
        </p:txBody>
      </p:sp>
      <p:sp>
        <p:nvSpPr>
          <p:cNvPr id="65" name="Text 62"/>
          <p:cNvSpPr txBox="1"/>
          <p:nvPr/>
        </p:nvSpPr>
        <p:spPr>
          <a:xfrm>
            <a:off x="405354" y="3983766"/>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Rủi ro chính, tác động và chỉ báo theo dõi</a:t>
            </a:r>
            <a:endParaRPr lang="en-US" sz="720" dirty="0"/>
          </a:p>
        </p:txBody>
      </p:sp>
      <p:sp>
        <p:nvSpPr>
          <p:cNvPr id="66" name="Text 63"/>
          <p:cNvSpPr txBox="1"/>
          <p:nvPr/>
        </p:nvSpPr>
        <p:spPr>
          <a:xfrm>
            <a:off x="405354" y="5758708"/>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của nhóm; ngưỡng theo dõi là đề xuất của nhóm</a:t>
            </a:r>
            <a:endParaRPr lang="en-US" sz="600" dirty="0"/>
          </a:p>
        </p:txBody>
      </p:sp>
      <p:sp>
        <p:nvSpPr>
          <p:cNvPr id="67" name="Text 64"/>
          <p:cNvSpPr txBox="1"/>
          <p:nvPr/>
        </p:nvSpPr>
        <p:spPr>
          <a:xfrm>
            <a:off x="484632" y="5954481"/>
            <a:ext cx="6986107" cy="141641"/>
          </a:xfrm>
          <a:prstGeom prst="rect">
            <a:avLst/>
          </a:prstGeom>
          <a:noFill/>
          <a:ln/>
        </p:spPr>
        <p:txBody>
          <a:bodyPr wrap="none" lIns="0" tIns="0" rIns="0" bIns="0" rtlCol="0" anchor="t"/>
          <a:lstStyle/>
          <a:p>
            <a:pPr algn="l" indent="0" marL="0">
              <a:lnSpc>
                <a:spcPts val="1118"/>
              </a:lnSpc>
              <a:buNone/>
            </a:pPr>
            <a:r>
              <a:rPr lang="en-US" sz="880" b="1" spc="35" kern="0" dirty="0">
                <a:solidFill>
                  <a:srgbClr val="FFFFFF"/>
                </a:solidFill>
                <a:latin typeface="Calibri" pitchFamily="34" charset="0"/>
                <a:ea typeface="Calibri" pitchFamily="34" charset="-122"/>
                <a:cs typeface="Calibri" pitchFamily="34" charset="-120"/>
              </a:rPr>
              <a:t>CÂU HỎI BONUS: ĐỊNH GIÁ KHI CHƯA CÓ DOANH THU</a:t>
            </a:r>
            <a:endParaRPr lang="en-US" sz="880" dirty="0"/>
          </a:p>
        </p:txBody>
      </p:sp>
      <p:sp>
        <p:nvSpPr>
          <p:cNvPr id="68" name="Text 65"/>
          <p:cNvSpPr txBox="1"/>
          <p:nvPr/>
        </p:nvSpPr>
        <p:spPr>
          <a:xfrm>
            <a:off x="405354" y="6231453"/>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Cùng giá trị thoái vốn, z cao làm post-money giảm hơn một nửa (tỷ đồng)</a:t>
            </a:r>
            <a:endParaRPr lang="en-US" sz="720" dirty="0"/>
          </a:p>
        </p:txBody>
      </p:sp>
      <p:sp>
        <p:nvSpPr>
          <p:cNvPr id="69" name="Text 66"/>
          <p:cNvSpPr txBox="1"/>
          <p:nvPr/>
        </p:nvSpPr>
        <p:spPr>
          <a:xfrm>
            <a:off x="405354" y="7286031"/>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Minh họa trên mô hình (VCM): giữ nguyên giá trị thoái vốn và WACC, chỉ đổi z theo giai đoạn</a:t>
            </a:r>
            <a:endParaRPr lang="en-US" sz="600" dirty="0"/>
          </a:p>
        </p:txBody>
      </p:sp>
      <p:sp>
        <p:nvSpPr>
          <p:cNvPr id="70" name="Text 67"/>
          <p:cNvSpPr txBox="1"/>
          <p:nvPr/>
        </p:nvSpPr>
        <p:spPr>
          <a:xfrm>
            <a:off x="2745303" y="6200272"/>
            <a:ext cx="4409237" cy="290231"/>
          </a:xfrm>
          <a:prstGeom prst="rect">
            <a:avLst/>
          </a:prstGeom>
          <a:noFill/>
          <a:ln/>
        </p:spPr>
        <p:txBody>
          <a:bodyPr wrap="square" lIns="0" tIns="0" rIns="0" bIns="0" rtlCol="0" anchor="t"/>
          <a:lstStyle/>
          <a:p>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Nếu AgriPack chưa có doanh thu, DCF không còn cơ sở vì dòng tiền dự phóng gần như hoàn toàn là giả định. Chúng tôi sẽ kết hợp ba phương pháp:</a:t>
            </a:r>
            <a:endParaRPr lang="en-US" sz="900" dirty="0"/>
          </a:p>
        </p:txBody>
      </p:sp>
      <p:sp>
        <p:nvSpPr>
          <p:cNvPr id="71" name="Text 68"/>
          <p:cNvSpPr txBox="1"/>
          <p:nvPr/>
        </p:nvSpPr>
        <p:spPr>
          <a:xfrm>
            <a:off x="2745303" y="6542623"/>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VC Method với tỷ lệ thất bại của giai đoạn Ươm mầm/Thử nghiệm.</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Giữ nguyên giá trị thoái vốn và WACC, chỉ nâng z lên 72,5% (Ươm mầm) hoặc 57,5% (Thử nghiệm), post-money giảm từ 62,4 tỷ xuống 28,6 tỷ và 44,2 tỷ (Fig. 53). Trên thực tế giá trị thoái vốn cũng kém chắc chắn hơn, nên cần một khoảng rộng.</a:t>
            </a:r>
            <a:endParaRPr lang="en-US" sz="900" dirty="0"/>
          </a:p>
        </p:txBody>
      </p:sp>
      <p:sp>
        <p:nvSpPr>
          <p:cNvPr id="72" name="Text 69"/>
          <p:cNvSpPr txBox="1"/>
          <p:nvPr/>
        </p:nvSpPr>
        <p:spPr>
          <a:xfrm>
            <a:off x="2745303" y="7175205"/>
            <a:ext cx="4409237" cy="725485"/>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Scorecard và Berkus.</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Scorecard lấy pre-money trung vị của các vòng hạt giống cùng ngành làm gốc rồi điều chỉnh theo đội ngũ, quy mô thị trường, sản phẩm, cạnh tranh và kênh bán; Berkus cộng giá trị cho năm cột mốc (ý tưởng, mẫu thử, đội ngũ, quan hệ chiến lược, bán hàng đầu tiên), mỗi cột mốc có mức trần. Cả hai cần dữ liệu các vòng gọi vốn hạt giống GreenTech tại Việt Nam – hiện chưa có nguồn công khai đủ tin cậy.</a:t>
            </a:r>
            <a:endParaRPr lang="en-US" sz="900" dirty="0"/>
          </a:p>
        </p:txBody>
      </p:sp>
      <p:sp>
        <p:nvSpPr>
          <p:cNvPr id="73" name="Text 70"/>
          <p:cNvSpPr txBox="1"/>
          <p:nvPr/>
        </p:nvSpPr>
        <p:spPr>
          <a:xfrm>
            <a:off x="2745303" y="7952811"/>
            <a:ext cx="4409237" cy="580461"/>
          </a:xfrm>
          <a:prstGeom prst="rect">
            <a:avLst/>
          </a:prstGeom>
          <a:noFill/>
          <a:ln/>
        </p:spPr>
        <p:txBody>
          <a:bodyPr wrap="square" lIns="0" tIns="0" rIns="0" bIns="0" rtlCol="0" anchor="t"/>
          <a:lstStyle/>
          <a:p>
            <a:pPr algn="just" indent="0" marL="0">
              <a:lnSpc>
                <a:spcPts val="1143"/>
              </a:lnSpc>
              <a:buNone/>
            </a:pPr>
            <a:r>
              <a:rPr lang="en-US" sz="900" b="1" dirty="0">
                <a:solidFill>
                  <a:srgbClr val="7B1E2B"/>
                </a:solidFill>
                <a:latin typeface="Calibri" pitchFamily="34" charset="0"/>
                <a:ea typeface="Calibri" pitchFamily="34" charset="-122"/>
                <a:cs typeface="Calibri" pitchFamily="34" charset="-120"/>
              </a:rPr>
              <a:t>Giả định cần có.</a:t>
            </a:r>
            <a:pPr algn="just" indent="0" marL="0">
              <a:lnSpc>
                <a:spcPts val="1143"/>
              </a:lnSpc>
              <a:buNone/>
            </a:pPr>
            <a:r>
              <a:rPr lang="en-US" sz="900" dirty="0">
                <a:solidFill>
                  <a:srgbClr val="1F1F1F"/>
                </a:solidFill>
                <a:latin typeface="Calibri" pitchFamily="34" charset="0"/>
                <a:ea typeface="Calibri" pitchFamily="34" charset="-122"/>
                <a:cs typeface="Calibri" pitchFamily="34" charset="-120"/>
              </a:rPr>
              <a:t> TAM/SAM theo IMARC; mẫu sản phẩm đạt kiểm nghiệm vật liệu tiếp xúc thực phẩm; thư ý định mua (LOI) của chuỗi F&amp;B; chi phí dây chuyền thử; hợp đồng nguyên liệu bã mía; đội ngũ có kinh nghiệm sản xuất bột giấy. Mỗi mốc đạt được là căn cứ để giảm z và tăng giá trị ở vòng sau.</a:t>
            </a:r>
            <a:endParaRPr lang="en-US" sz="900" dirty="0"/>
          </a:p>
        </p:txBody>
      </p:sp>
      <p:sp>
        <p:nvSpPr>
          <p:cNvPr id="74" name="Text 71"/>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75" name="Text 72"/>
          <p:cNvSpPr txBox="1"/>
          <p:nvPr/>
        </p:nvSpPr>
        <p:spPr>
          <a:xfrm>
            <a:off x="7074713" y="10402672"/>
            <a:ext cx="136977"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10</a:t>
            </a:r>
            <a:endParaRPr lang="en-US"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62813"/>
            <a:ext cx="6749004" cy="206380"/>
          </a:xfrm>
          <a:prstGeom prst="rect">
            <a:avLst/>
          </a:prstGeom>
          <a:solidFill>
            <a:srgbClr val="7B1E2B"/>
          </a:solidFill>
          <a:ln/>
        </p:spPr>
      </p:sp>
      <p:sp>
        <p:nvSpPr>
          <p:cNvPr id="3" name="Shape 1"/>
          <p:cNvSpPr/>
          <p:nvPr/>
        </p:nvSpPr>
        <p:spPr>
          <a:xfrm>
            <a:off x="405354" y="471830"/>
            <a:ext cx="6749004" cy="0"/>
          </a:xfrm>
          <a:prstGeom prst="line">
            <a:avLst/>
          </a:prstGeom>
          <a:noFill/>
          <a:ln w="9525">
            <a:solidFill>
              <a:srgbClr val="7B1E2B"/>
            </a:solidFill>
            <a:prstDash val="solid"/>
          </a:ln>
        </p:spPr>
      </p:sp>
      <p:sp>
        <p:nvSpPr>
          <p:cNvPr id="4" name="Shape 2"/>
          <p:cNvSpPr/>
          <p:nvPr/>
        </p:nvSpPr>
        <p:spPr>
          <a:xfrm>
            <a:off x="405354" y="845911"/>
            <a:ext cx="6749004" cy="0"/>
          </a:xfrm>
          <a:prstGeom prst="line">
            <a:avLst/>
          </a:prstGeom>
          <a:noFill/>
          <a:ln w="9525">
            <a:solidFill>
              <a:srgbClr val="7B1E2B"/>
            </a:solidFill>
            <a:prstDash val="solid"/>
          </a:ln>
        </p:spPr>
      </p:sp>
      <p:sp>
        <p:nvSpPr>
          <p:cNvPr id="5" name="Shape 3"/>
          <p:cNvSpPr/>
          <p:nvPr/>
        </p:nvSpPr>
        <p:spPr>
          <a:xfrm>
            <a:off x="405354" y="3636935"/>
            <a:ext cx="6749004" cy="0"/>
          </a:xfrm>
          <a:prstGeom prst="line">
            <a:avLst/>
          </a:prstGeom>
          <a:noFill/>
          <a:ln w="9525">
            <a:solidFill>
              <a:srgbClr val="7B1E2B"/>
            </a:solidFill>
            <a:prstDash val="solid"/>
          </a:ln>
        </p:spPr>
      </p:sp>
      <p:sp>
        <p:nvSpPr>
          <p:cNvPr id="6" name="Shape 4"/>
          <p:cNvSpPr/>
          <p:nvPr/>
        </p:nvSpPr>
        <p:spPr>
          <a:xfrm>
            <a:off x="405354" y="6563289"/>
            <a:ext cx="6749004" cy="0"/>
          </a:xfrm>
          <a:prstGeom prst="line">
            <a:avLst/>
          </a:prstGeom>
          <a:noFill/>
          <a:ln w="9525">
            <a:solidFill>
              <a:srgbClr val="7B1E2B"/>
            </a:solidFill>
            <a:prstDash val="solid"/>
          </a:ln>
        </p:spPr>
      </p:sp>
      <p:sp>
        <p:nvSpPr>
          <p:cNvPr id="7" name="Shape 5"/>
          <p:cNvSpPr/>
          <p:nvPr/>
        </p:nvSpPr>
        <p:spPr>
          <a:xfrm>
            <a:off x="405354" y="10365547"/>
            <a:ext cx="6749004" cy="0"/>
          </a:xfrm>
          <a:prstGeom prst="line">
            <a:avLst/>
          </a:prstGeom>
          <a:noFill/>
          <a:ln w="9525">
            <a:solidFill>
              <a:srgbClr val="BFBFBF"/>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5354" y="1014161"/>
          <a:ext cx="6749004" cy="914400"/>
        </p:xfrm>
        <a:graphic>
          <a:graphicData uri="http://schemas.openxmlformats.org/drawingml/2006/table">
            <a:tbl>
              <a:tblPr/>
              <a:tblGrid>
                <a:gridCol w="1619677"/>
                <a:gridCol w="641177"/>
                <a:gridCol w="641177"/>
                <a:gridCol w="641177"/>
                <a:gridCol w="641177"/>
                <a:gridCol w="641177"/>
                <a:gridCol w="641177"/>
                <a:gridCol w="641177"/>
                <a:gridCol w="641269"/>
              </a:tblGrid>
              <a:tr h="134508">
                <a:tc>
                  <a:txBody>
                    <a:bodyPr/>
                    <a:lstStyle/>
                    <a:p>
                      <a:pPr algn="l" indent="0" marL="0">
                        <a:buNone/>
                      </a:pPr>
                      <a:r>
                        <a:rPr lang="en-US" sz="660" b="1" dirty="0">
                          <a:solidFill>
                            <a:srgbClr val="FFFFFF"/>
                          </a:solidFill>
                          <a:latin typeface="Calibri" pitchFamily="34" charset="0"/>
                          <a:ea typeface="Calibri" pitchFamily="34" charset="-122"/>
                          <a:cs typeface="Calibri" pitchFamily="34" charset="-120"/>
                        </a:rPr>
                        <a:t>Tỷ đồng</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2023A</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2024A</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2025A</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2026E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2027E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2028E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2029E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2030E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Doanh thu thuần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19,4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30,9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47,5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63,7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79,7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110,4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141,6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170,3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Giá vốn hàng bán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(8,9)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(17,3)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(21,9)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(32,4)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(40,4)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(49,1)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Lợi nhuận gộp</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13,4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22,0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34,6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46,4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57,9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78,0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101,2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121,2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Tiền lương</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(14,3)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(18,3)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(25,9)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(32,6)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(38,3)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Thuê mặt bằng</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(8,5)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(9,8)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(14,2)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(15,9)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Hỗ trợ tiền ăn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(9,1)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Điện, nước, dịch vụ chung</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(8,5)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Sửa chữa, bảo dưỡng</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Marketing</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Kiểm nghiệm, chứng nhận &amp; R&amp;D</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EBITDA</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11,4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14,3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17,8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26,9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Khấu hao</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(13,1)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(14,8)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EBIT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(4,2)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(0,4)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4,6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9,0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6,3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13,8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19,7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Chi phí lãi vay</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Lợi nhuận trước thuế</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17,3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Thuế TNDN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Lợi nhuận sau thuế</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(4,3)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(0,5)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6,6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5,8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8,7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13,9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405354" y="3805001"/>
          <a:ext cx="6749004" cy="914400"/>
        </p:xfrm>
        <a:graphic>
          <a:graphicData uri="http://schemas.openxmlformats.org/drawingml/2006/table">
            <a:tbl>
              <a:tblPr/>
              <a:tblGrid>
                <a:gridCol w="1619677"/>
                <a:gridCol w="641177"/>
                <a:gridCol w="641177"/>
                <a:gridCol w="641177"/>
                <a:gridCol w="641177"/>
                <a:gridCol w="641177"/>
                <a:gridCol w="641177"/>
                <a:gridCol w="641177"/>
                <a:gridCol w="641269"/>
              </a:tblGrid>
              <a:tr h="134508">
                <a:tc>
                  <a:txBody>
                    <a:bodyPr/>
                    <a:lstStyle/>
                    <a:p>
                      <a:pPr algn="l" indent="0" marL="0">
                        <a:buNone/>
                      </a:pPr>
                      <a:r>
                        <a:rPr lang="en-US" sz="660" b="1" dirty="0">
                          <a:solidFill>
                            <a:srgbClr val="FFFFFF"/>
                          </a:solidFill>
                          <a:latin typeface="Calibri" pitchFamily="34" charset="0"/>
                          <a:ea typeface="Calibri" pitchFamily="34" charset="-122"/>
                          <a:cs typeface="Calibri" pitchFamily="34" charset="-120"/>
                        </a:rPr>
                        <a:t>Tỷ đồng</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2023A</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2024A</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2025A</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2026E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2027E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2028E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2029E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2030E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Tiền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35,5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22,6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16,3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11,4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11,9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Phải thu khách hàng</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11,6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14,0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Hàng tồn kho</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9,3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11,1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Tài sản ngắn hạn khác</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Tổng tài sản ngắn hạn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5,0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8,0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10,5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46,0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36,6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37,9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39,7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45,5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Nguyên giá TSCĐ (hữu hình + vô hình)</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19,8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26,1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43,9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95,8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109,0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123,2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140,2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Khấu hao lũy kế</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(9,8)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(13,5)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(18,8)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(30,3)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(43,4)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(58,2)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Tài sản dài hạn ròng</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15,5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19,4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21,4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30,4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76,9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78,7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79,8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82,0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Tổng tài sản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20,5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27,4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31,9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76,4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113,6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116,6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119,5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127,6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Phải trả người bán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Vay ngắn hạn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Nợ ngắn hạn khác</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Vay dài hạn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32,6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32,6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26,4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20,2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Tổng nợ phải trả</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33,6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34,3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28,4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22,6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Vốn góp</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25,1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32,1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32,1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69,8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69,8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69,8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69,8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69,8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Lợi nhuận giữ lại</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21,3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35,2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Vốn chủ sở hữu</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19,1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25,6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30,0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74,2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80,0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82,4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91,1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105,0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Tổng nguồn vốn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20,5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27,4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31,9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76,4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113,6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116,6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119,5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127,6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405354" y="6731538"/>
          <a:ext cx="6749004" cy="914400"/>
        </p:xfrm>
        <a:graphic>
          <a:graphicData uri="http://schemas.openxmlformats.org/drawingml/2006/table">
            <a:tbl>
              <a:tblPr/>
              <a:tblGrid>
                <a:gridCol w="1619677"/>
                <a:gridCol w="641177"/>
                <a:gridCol w="641177"/>
                <a:gridCol w="641177"/>
                <a:gridCol w="641177"/>
                <a:gridCol w="641177"/>
                <a:gridCol w="641177"/>
                <a:gridCol w="641177"/>
                <a:gridCol w="641269"/>
              </a:tblGrid>
              <a:tr h="134508">
                <a:tc>
                  <a:txBody>
                    <a:bodyPr/>
                    <a:lstStyle/>
                    <a:p>
                      <a:pPr algn="l" indent="0" marL="0">
                        <a:buNone/>
                      </a:pPr>
                      <a:r>
                        <a:rPr lang="en-US" sz="660" b="1" dirty="0">
                          <a:solidFill>
                            <a:srgbClr val="FFFFFF"/>
                          </a:solidFill>
                          <a:latin typeface="Calibri" pitchFamily="34" charset="0"/>
                          <a:ea typeface="Calibri" pitchFamily="34" charset="-122"/>
                          <a:cs typeface="Calibri" pitchFamily="34" charset="-120"/>
                        </a:rPr>
                        <a:t>Tỷ đồng</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2023A</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2024A</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2025A</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2026E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2027E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2028E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2029E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2030E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Lợi nhuận sau thuế</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8,7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13,9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Khấu hao</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13,1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14,8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Thay đổi vốn lưu động và khác</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Lưu chuyển tiền thuần từ HĐKD (CFO)</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0,7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6,3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6,9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15,4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23,8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CAPEX (CFI)</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(51,8)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(13,2)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(14,2)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(17,0)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Vốn góp cổ phần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8,1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37,6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Vay (trả) nợ dài hạn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31,1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Lưu chuyển tiền thuần từ HĐTC (CFF)</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8,1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7,3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37,6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31,1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(6,2)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(6,2)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Tiền cuối kỳ</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0,0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35,5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22,6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16,3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11,4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11,9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60" b="1" dirty="0">
                          <a:solidFill>
                            <a:srgbClr val="1F1F1F"/>
                          </a:solidFill>
                          <a:latin typeface="Calibri" pitchFamily="34" charset="0"/>
                          <a:ea typeface="Calibri" pitchFamily="34" charset="-122"/>
                          <a:cs typeface="Calibri" pitchFamily="34" charset="-120"/>
                        </a:rPr>
                        <a:t>FCFF (2023–25A: CFO − CAPEX)</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(9,0)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(5,6)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(4,9)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(42,6)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3,6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60" b="1" dirty="0">
                          <a:solidFill>
                            <a:srgbClr val="1F1F1F"/>
                          </a:solidFill>
                          <a:latin typeface="Calibri" pitchFamily="34" charset="0"/>
                          <a:ea typeface="Calibri" pitchFamily="34" charset="-122"/>
                          <a:cs typeface="Calibri" pitchFamily="34" charset="-120"/>
                        </a:rPr>
                        <a:t>8,7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1" name="Text 6"/>
          <p:cNvSpPr txBox="1"/>
          <p:nvPr/>
        </p:nvSpPr>
        <p:spPr>
          <a:xfrm>
            <a:off x="405354" y="315559"/>
            <a:ext cx="1873148" cy="119238"/>
          </a:xfrm>
          <a:prstGeom prst="rect">
            <a:avLst/>
          </a:prstGeom>
          <a:noFill/>
          <a:ln/>
        </p:spPr>
        <p:txBody>
          <a:bodyPr wrap="none" lIns="0" tIns="0" rIns="0" bIns="0" rtlCol="0" anchor="t"/>
          <a:lstStyle/>
          <a:p>
            <a:pPr algn="l" indent="0" marL="0">
              <a:lnSpc>
                <a:spcPts val="864"/>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 | Định giá &amp; đề xuất gọi vốn Series A</a:t>
            </a:r>
            <a:endParaRPr lang="en-US" sz="680" dirty="0"/>
          </a:p>
        </p:txBody>
      </p:sp>
      <p:sp>
        <p:nvSpPr>
          <p:cNvPr id="12" name="Text 7"/>
          <p:cNvSpPr txBox="1"/>
          <p:nvPr/>
        </p:nvSpPr>
        <p:spPr>
          <a:xfrm>
            <a:off x="6056346" y="325161"/>
            <a:ext cx="1163940" cy="109545"/>
          </a:xfrm>
          <a:prstGeom prst="rect">
            <a:avLst/>
          </a:prstGeom>
          <a:noFill/>
          <a:ln/>
        </p:spPr>
        <p:txBody>
          <a:bodyPr wrap="none" lIns="0" tIns="0" rIns="0" bIns="0" rtlCol="0" anchor="t"/>
          <a:lstStyle/>
          <a:p>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Báo cáo phân tích · 29/09/2026</a:t>
            </a:r>
            <a:endParaRPr lang="en-US" sz="680" dirty="0"/>
          </a:p>
        </p:txBody>
      </p:sp>
      <p:sp>
        <p:nvSpPr>
          <p:cNvPr id="13" name="Text 8"/>
          <p:cNvSpPr txBox="1"/>
          <p:nvPr/>
        </p:nvSpPr>
        <p:spPr>
          <a:xfrm>
            <a:off x="484632" y="595274"/>
            <a:ext cx="6986107" cy="141641"/>
          </a:xfrm>
          <a:prstGeom prst="rect">
            <a:avLst/>
          </a:prstGeom>
          <a:noFill/>
          <a:ln/>
        </p:spPr>
        <p:txBody>
          <a:bodyPr wrap="none" lIns="0" tIns="0" rIns="0" bIns="0" rtlCol="0" anchor="t"/>
          <a:lstStyle/>
          <a:p>
            <a:pPr algn="l" indent="0" marL="0">
              <a:lnSpc>
                <a:spcPts val="1118"/>
              </a:lnSpc>
              <a:buNone/>
            </a:pPr>
            <a:r>
              <a:rPr lang="en-US" sz="880" b="1" spc="35" kern="0" dirty="0">
                <a:solidFill>
                  <a:srgbClr val="FFFFFF"/>
                </a:solidFill>
                <a:latin typeface="Calibri" pitchFamily="34" charset="0"/>
                <a:ea typeface="Calibri" pitchFamily="34" charset="-122"/>
                <a:cs typeface="Calibri" pitchFamily="34" charset="-120"/>
              </a:rPr>
              <a:t>PHỤ LỤC</a:t>
            </a:r>
            <a:endParaRPr lang="en-US" sz="880" dirty="0"/>
          </a:p>
        </p:txBody>
      </p:sp>
      <p:sp>
        <p:nvSpPr>
          <p:cNvPr id="14" name="Text 9"/>
          <p:cNvSpPr txBox="1"/>
          <p:nvPr/>
        </p:nvSpPr>
        <p:spPr>
          <a:xfrm>
            <a:off x="405354" y="872338"/>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A1. Báo cáo kết quả kinh doanh (tỷ đồng)</a:t>
            </a:r>
            <a:endParaRPr lang="en-US" sz="720" dirty="0"/>
          </a:p>
        </p:txBody>
      </p:sp>
      <p:sp>
        <p:nvSpPr>
          <p:cNvPr id="15" name="Text 10"/>
          <p:cNvSpPr txBox="1"/>
          <p:nvPr/>
        </p:nvSpPr>
        <p:spPr>
          <a:xfrm>
            <a:off x="405354" y="3468868"/>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dự phóng (Income Statement)</a:t>
            </a:r>
            <a:endParaRPr lang="en-US" sz="600" dirty="0"/>
          </a:p>
        </p:txBody>
      </p:sp>
      <p:sp>
        <p:nvSpPr>
          <p:cNvPr id="16" name="Text 11"/>
          <p:cNvSpPr txBox="1"/>
          <p:nvPr/>
        </p:nvSpPr>
        <p:spPr>
          <a:xfrm>
            <a:off x="405354" y="3663361"/>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A2. Bảng cân đối kế toán (tỷ đồng)</a:t>
            </a:r>
            <a:endParaRPr lang="en-US" sz="720" dirty="0"/>
          </a:p>
        </p:txBody>
      </p:sp>
      <p:sp>
        <p:nvSpPr>
          <p:cNvPr id="17" name="Text 12"/>
          <p:cNvSpPr txBox="1"/>
          <p:nvPr/>
        </p:nvSpPr>
        <p:spPr>
          <a:xfrm>
            <a:off x="405354" y="6395314"/>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dự phóng (Balance Sheet)</a:t>
            </a:r>
            <a:endParaRPr lang="en-US" sz="600" dirty="0"/>
          </a:p>
        </p:txBody>
      </p:sp>
      <p:sp>
        <p:nvSpPr>
          <p:cNvPr id="18" name="Text 13"/>
          <p:cNvSpPr txBox="1"/>
          <p:nvPr/>
        </p:nvSpPr>
        <p:spPr>
          <a:xfrm>
            <a:off x="405354" y="6589715"/>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A3. Báo cáo lưu chuyển tiền tệ (tỷ đồng)</a:t>
            </a:r>
            <a:endParaRPr lang="en-US" sz="720" dirty="0"/>
          </a:p>
        </p:txBody>
      </p:sp>
      <p:sp>
        <p:nvSpPr>
          <p:cNvPr id="19" name="Text 14"/>
          <p:cNvSpPr txBox="1"/>
          <p:nvPr/>
        </p:nvSpPr>
        <p:spPr>
          <a:xfrm>
            <a:off x="405354" y="8238287"/>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dự phóng (Cash Flow Statement, DCF)</a:t>
            </a:r>
            <a:endParaRPr lang="en-US" sz="600" dirty="0"/>
          </a:p>
        </p:txBody>
      </p:sp>
      <p:sp>
        <p:nvSpPr>
          <p:cNvPr id="20" name="Text 15"/>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1" name="Text 16"/>
          <p:cNvSpPr txBox="1"/>
          <p:nvPr/>
        </p:nvSpPr>
        <p:spPr>
          <a:xfrm>
            <a:off x="7074713" y="10402672"/>
            <a:ext cx="136977"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11</a:t>
            </a:r>
            <a:endParaRPr lang="en-US" sz="6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71830"/>
            <a:ext cx="6749004" cy="0"/>
          </a:xfrm>
          <a:prstGeom prst="line">
            <a:avLst/>
          </a:prstGeom>
          <a:noFill/>
          <a:ln w="9525">
            <a:solidFill>
              <a:srgbClr val="7B1E2B"/>
            </a:solidFill>
            <a:prstDash val="solid"/>
          </a:ln>
        </p:spPr>
      </p:sp>
      <p:sp>
        <p:nvSpPr>
          <p:cNvPr id="3" name="Shape 1"/>
          <p:cNvSpPr/>
          <p:nvPr/>
        </p:nvSpPr>
        <p:spPr>
          <a:xfrm>
            <a:off x="405354" y="567568"/>
            <a:ext cx="3095884" cy="0"/>
          </a:xfrm>
          <a:prstGeom prst="line">
            <a:avLst/>
          </a:prstGeom>
          <a:noFill/>
          <a:ln w="9525">
            <a:solidFill>
              <a:srgbClr val="7B1E2B"/>
            </a:solidFill>
            <a:prstDash val="solid"/>
          </a:ln>
        </p:spPr>
      </p:sp>
      <p:sp>
        <p:nvSpPr>
          <p:cNvPr id="4" name="Shape 2"/>
          <p:cNvSpPr/>
          <p:nvPr/>
        </p:nvSpPr>
        <p:spPr>
          <a:xfrm>
            <a:off x="405354" y="3332897"/>
            <a:ext cx="3095884" cy="0"/>
          </a:xfrm>
          <a:prstGeom prst="line">
            <a:avLst/>
          </a:prstGeom>
          <a:noFill/>
          <a:ln w="9525">
            <a:solidFill>
              <a:srgbClr val="7B1E2B"/>
            </a:solidFill>
            <a:prstDash val="solid"/>
          </a:ln>
        </p:spPr>
      </p:sp>
      <p:sp>
        <p:nvSpPr>
          <p:cNvPr id="5" name="Shape 3"/>
          <p:cNvSpPr/>
          <p:nvPr/>
        </p:nvSpPr>
        <p:spPr>
          <a:xfrm>
            <a:off x="405354" y="10365547"/>
            <a:ext cx="6749004" cy="0"/>
          </a:xfrm>
          <a:prstGeom prst="line">
            <a:avLst/>
          </a:prstGeom>
          <a:noFill/>
          <a:ln w="9525">
            <a:solidFill>
              <a:srgbClr val="BFBFBF"/>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5354" y="735818"/>
          <a:ext cx="3095884" cy="914400"/>
        </p:xfrm>
        <a:graphic>
          <a:graphicData uri="http://schemas.openxmlformats.org/drawingml/2006/table">
            <a:tbl>
              <a:tblPr/>
              <a:tblGrid>
                <a:gridCol w="1238189"/>
                <a:gridCol w="371521"/>
                <a:gridCol w="371521"/>
                <a:gridCol w="371521"/>
                <a:gridCol w="371521"/>
                <a:gridCol w="371795"/>
              </a:tblGrid>
              <a:tr h="134508">
                <a:tc>
                  <a:txBody>
                    <a:bodyPr/>
                    <a:lstStyle/>
                    <a:p>
                      <a:pPr algn="l" indent="0" marL="0">
                        <a:buNone/>
                      </a:pPr>
                      <a:r>
                        <a:rPr lang="en-US" sz="660" b="1" dirty="0">
                          <a:solidFill>
                            <a:srgbClr val="FFFFFF"/>
                          </a:solidFill>
                          <a:latin typeface="Calibri" pitchFamily="34" charset="0"/>
                          <a:ea typeface="Calibri" pitchFamily="34" charset="-122"/>
                          <a:cs typeface="Calibri" pitchFamily="34" charset="-120"/>
                        </a:rPr>
                        <a:t>Giả định</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2026E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2027E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2028E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2029E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2030E</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Chi phí biến đổi / doanh thu</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25,5%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26,5%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Tiền lương / doanh thu</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22,5%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23,5%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22,5%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Hỗ trợ tiền ăn / tiền lương</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28,0%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28,0%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28,0%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28,0%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28,0%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Tăng tiền thuê mặt bằng</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Điện, nước / doanh thu</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Sửa chữa / doanh thu</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Marketing / doanh thu</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69">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Kiểm nghiệm, chứng nhận &amp; R&amp;D / doanh thu</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0,6%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CAPEX / doanh thu</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Khấu hao (% nguyên giá đầu kỳ)</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Số ngày tồn kho (DIO)</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95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Số ngày phải thu (DSO)</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Số ngày phải trả (DPO)</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Tiền mặt tối thiểu / doanh thu</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Lãi suất vay</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Thuế suất TNDN</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05354" y="3500963"/>
          <a:ext cx="3095884" cy="914400"/>
        </p:xfrm>
        <a:graphic>
          <a:graphicData uri="http://schemas.openxmlformats.org/drawingml/2006/table">
            <a:tbl>
              <a:tblPr/>
              <a:tblGrid>
                <a:gridCol w="619140"/>
                <a:gridCol w="495330"/>
                <a:gridCol w="495330"/>
                <a:gridCol w="495330"/>
                <a:gridCol w="495330"/>
                <a:gridCol w="495605"/>
              </a:tblGrid>
              <a:tr h="134508">
                <a:tc>
                  <a:txBody>
                    <a:bodyPr/>
                    <a:lstStyle/>
                    <a:p>
                      <a:pPr algn="l" indent="0" marL="0">
                        <a:buNone/>
                      </a:pPr>
                      <a:r>
                        <a:rPr lang="en-US" sz="660" b="1" dirty="0">
                          <a:solidFill>
                            <a:srgbClr val="FFFFFF"/>
                          </a:solidFill>
                          <a:latin typeface="Calibri" pitchFamily="34" charset="0"/>
                          <a:ea typeface="Calibri" pitchFamily="34" charset="-122"/>
                          <a:cs typeface="Calibri" pitchFamily="34" charset="-120"/>
                        </a:rPr>
                        <a:t>z \ exit</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0%</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13,3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24,2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35,1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46,1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57,0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35%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9,7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19,8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29,9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40,1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50,2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15,4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24,8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34,1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43,5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45%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11,0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19,6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28,1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36,7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50%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14,4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22,2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29,9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7" name="Table 2"/>
          <p:cNvGraphicFramePr>
            <a:graphicFrameLocks noGrp="1"/>
          </p:cNvGraphicFramePr>
          <p:nvPr>
            <p:extLst>
              <p:ext uri="{D42A27DB-BD31-4B8C-83A1-F6EECF244321}">
                <p14:modId xmlns:p14="http://schemas.microsoft.com/office/powerpoint/2010/main" val="1579011935"/>
              </p:ext>
            </p:extLst>
          </p:nvPr>
        </p:nvGraphicFramePr>
        <p:xfrm>
          <a:off x="405354" y="4466204"/>
          <a:ext cx="3095884" cy="914400"/>
        </p:xfrm>
        <a:graphic>
          <a:graphicData uri="http://schemas.openxmlformats.org/drawingml/2006/table">
            <a:tbl>
              <a:tblPr/>
              <a:tblGrid>
                <a:gridCol w="743133"/>
                <a:gridCol w="470459"/>
                <a:gridCol w="470459"/>
                <a:gridCol w="470459"/>
                <a:gridCol w="470459"/>
                <a:gridCol w="471007"/>
              </a:tblGrid>
              <a:tr h="134508">
                <a:tc>
                  <a:txBody>
                    <a:bodyPr/>
                    <a:lstStyle/>
                    <a:p>
                      <a:pPr algn="l" indent="0" marL="0">
                        <a:buNone/>
                      </a:pPr>
                      <a:r>
                        <a:rPr lang="en-US" sz="660" b="1" dirty="0">
                          <a:solidFill>
                            <a:srgbClr val="FFFFFF"/>
                          </a:solidFill>
                          <a:latin typeface="Calibri" pitchFamily="34" charset="0"/>
                          <a:ea typeface="Calibri" pitchFamily="34" charset="-122"/>
                          <a:cs typeface="Calibri" pitchFamily="34" charset="-120"/>
                        </a:rPr>
                        <a:t>WACC \ RONIC</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14%</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16%</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18%</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22%</a:t>
                      </a:r>
                      <a:endParaRPr lang="en-US" sz="660"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11,8%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56,3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62,4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67,2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71,1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74,2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12,8%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42,0</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47,1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51,1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54,3</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56,9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13,8%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31,2</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35,5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38,9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41,7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43,9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14,8%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22,8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26,5</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29,4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31,8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33,7</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60" dirty="0">
                          <a:solidFill>
                            <a:srgbClr val="1F1F1F"/>
                          </a:solidFill>
                          <a:latin typeface="Calibri" pitchFamily="34" charset="0"/>
                          <a:ea typeface="Calibri" pitchFamily="34" charset="-122"/>
                          <a:cs typeface="Calibri" pitchFamily="34" charset="-120"/>
                        </a:rPr>
                        <a:t>15,8%</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16,1</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19,4</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21,9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23,9</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0" dirty="0">
                          <a:solidFill>
                            <a:srgbClr val="1F1F1F"/>
                          </a:solidFill>
                          <a:latin typeface="Calibri" pitchFamily="34" charset="0"/>
                          <a:ea typeface="Calibri" pitchFamily="34" charset="-122"/>
                          <a:cs typeface="Calibri" pitchFamily="34" charset="-120"/>
                        </a:rPr>
                        <a:t>25,6</a:t>
                      </a:r>
                      <a:endParaRPr lang="en-US" sz="660"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9" name="Text 4"/>
          <p:cNvSpPr txBox="1"/>
          <p:nvPr/>
        </p:nvSpPr>
        <p:spPr>
          <a:xfrm>
            <a:off x="3681192" y="749808"/>
            <a:ext cx="3473166" cy="1780337"/>
          </a:xfrm>
          <a:prstGeom prst="rect">
            <a:avLst/>
          </a:prstGeom>
          <a:noFill/>
          <a:ln/>
        </p:spPr>
        <p:txBody>
          <a:bodyPr wrap="square" lIns="0" tIns="0" rIns="0" bIns="0" rtlCol="0" anchor="t"/>
          <a:lstStyle/>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Mô hình.</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Toàn bộ số liệu lấy từ file </a:t>
            </a:r>
            <a:pPr algn="just" marL="125857" indent="-125857">
              <a:lnSpc>
                <a:spcPts val="875"/>
              </a:lnSpc>
              <a:spcAft>
                <a:spcPts val="227"/>
              </a:spcAft>
              <a:buSzPct val="100000"/>
              <a:buChar char="•"/>
            </a:pPr>
            <a:r>
              <a:rPr lang="en-US" sz="700" i="1" dirty="0">
                <a:solidFill>
                  <a:srgbClr val="1F1F1F"/>
                </a:solidFill>
                <a:latin typeface="Calibri" pitchFamily="34" charset="0"/>
                <a:ea typeface="Calibri" pitchFamily="34" charset="-122"/>
                <a:cs typeface="Calibri" pitchFamily="34" charset="-120"/>
              </a:rPr>
              <a:t>AgriPack_Model_final.xlsx</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(dựng trên file mẫu của giảng viên): Drivers → Pro Forma → BCTC 2026–2030 → WACC → DCF, VCM → Summary. Mọi Fig. có số liệu trong báo cáo có block dữ liệu cùng số trong sheet </a:t>
            </a:r>
            <a:pPr algn="just" marL="125857" indent="-125857">
              <a:lnSpc>
                <a:spcPts val="875"/>
              </a:lnSpc>
              <a:spcAft>
                <a:spcPts val="227"/>
              </a:spcAft>
              <a:buSzPct val="100000"/>
              <a:buChar char="•"/>
            </a:pPr>
            <a:r>
              <a:rPr lang="en-US" sz="700" i="1" dirty="0">
                <a:solidFill>
                  <a:srgbClr val="1F1F1F"/>
                </a:solidFill>
                <a:latin typeface="Calibri" pitchFamily="34" charset="0"/>
                <a:ea typeface="Calibri" pitchFamily="34" charset="-122"/>
                <a:cs typeface="Calibri" pitchFamily="34" charset="-120"/>
              </a:rPr>
              <a:t>Chart_Data</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sheet </a:t>
            </a:r>
            <a:pPr algn="just" marL="125857" indent="-125857">
              <a:lnSpc>
                <a:spcPts val="875"/>
              </a:lnSpc>
              <a:spcAft>
                <a:spcPts val="227"/>
              </a:spcAft>
              <a:buSzPct val="100000"/>
              <a:buChar char="•"/>
            </a:pPr>
            <a:r>
              <a:rPr lang="en-US" sz="700" i="1" dirty="0">
                <a:solidFill>
                  <a:srgbClr val="1F1F1F"/>
                </a:solidFill>
                <a:latin typeface="Calibri" pitchFamily="34" charset="0"/>
                <a:ea typeface="Calibri" pitchFamily="34" charset="-122"/>
                <a:cs typeface="Calibri" pitchFamily="34" charset="-120"/>
              </a:rPr>
              <a:t>Checks</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xác nhận bảng cân đối cân và các liên kết khớp.</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Mâu thuẫn năm đầu tư.</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Đề bài ghi khoản đầu tư lớn năm 2027; file Excel mẫu khóa 65% ở năm 2028. Báo cáo theo đề bài; phương án 2028 chạy bằng ô chọn Drivers!C4 (pre-money bình quân 24,0 tỷ). Cần thống nhất với giảng viên.</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Ước tính cần cập nhật.</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Lợi suất TPCP 10 năm (4,2%) và phần bù rủi ro quốc gia (3,9%) là ước tính vì chưa truy cập được HNX/VBMA và bảng Damodaran 01/2026. Tên báo cáo IMARC về SAM và ngày hiệu lực của TT 27/2026/TT-BYT cần đối chiếu văn bản gốc.</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Năm thành lập giả định 2021</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(thay cho 2016) để khớp BCTC: lỗ lũy kế đầu 2023 chỉ 1,78 tỷ và khấu hao lũy kế cho thấy tài sản đưa vào sử dụng khoảng năm 2021.</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Quy ước.</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Tỷ đồng; t0 = 01/01/2026; chiết khấu cuối năm; A = số thực tế, E = dự phóng (cột tô nền). FCFF = EBIT(1 − t) + khấu hao − ΔVLĐ − CAPEX. ROE, ROA, vòng quay tài sản tính trên số dư bình quân.</a:t>
            </a:r>
            <a:endParaRPr lang="en-US" sz="700" dirty="0"/>
          </a:p>
        </p:txBody>
      </p:sp>
      <p:sp>
        <p:nvSpPr>
          <p:cNvPr id="10" name="Text 5"/>
          <p:cNvSpPr txBox="1"/>
          <p:nvPr/>
        </p:nvSpPr>
        <p:spPr>
          <a:xfrm>
            <a:off x="3681192" y="2788920"/>
            <a:ext cx="3473166" cy="4470136"/>
          </a:xfrm>
          <a:prstGeom prst="rect">
            <a:avLst/>
          </a:prstGeom>
          <a:noFill/>
          <a:ln/>
        </p:spPr>
        <p:txBody>
          <a:bodyPr wrap="square" lIns="0" tIns="0" rIns="0" bIns="0" rtlCol="0" anchor="t"/>
          <a:lstStyle/>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Asian Development Bank. (2026, tháng 4).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Asian Development Outlook April 2026</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ADB.</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BCG, National Innovation Center, &amp; Vietnam Private Capital Agency.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innovation and private capital report 2026</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https://www.vpca.vn/insights/vietnam-innovation-private-capital-report-2026</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Bộ Y tế.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Thông tư số 27/2026/TT-BYT ban hành danh mục thực phẩm, dụng cụ chứa đựng, vật liệu bao gói tiếp xúc trực tiếp với thực phẩm có mức độ rủi ro trung bình</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(2022).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08/2022/NĐ-CP quy định chi tiết một số điều của Luật Bảo vệ môi trường</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293/2025/NĐ-CP quy định mức lương tối thiểu đối với người lao động làm việc theo hợp đồng lao động</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(2026a).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48/2026/NĐ-CP sửa đổi, bổ sung Nghị định số 08/2022/NĐ-CP</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(2026b).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110/2026/NĐ-CP quy định trách nhiệm tái chế, xử lý chất thải của tổ chức, cá nhân sản xuất, nhập khẩu</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Cục Thống kê.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Tình hình kinh tế – xã hội quý II và 6 tháng đầu năm 2026; tháng 8 và 8 tháng năm 2026</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[Số liệu truy xuất qua FiinX ngày 29/9/2026].</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Damodaran, A.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Betas by sector; Country default spreads and risk premiums</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[Bộ dữ liệu, cập nhật 01/2026]. NYU Stern. https://pages.stern.nyu.edu/~adamodar/</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FiinGroup.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FiinX: dữ liệu tài chính doanh nghiệp bao bì niêm yết và thống kê ngành Containers &amp; Packaging</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[Cơ sở dữ liệu, truy xuất 28–29/9/2026].</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Hiệp hội Thương mại điện tử Việt Nam.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Báo cáo Chỉ số Thương mại điện tử Việt Nam 2025</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VECOM.</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IMARC Group. (2025a).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green packaging market report 2026–2034</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https://www.imarcgroup.com/vietnam-green-packaging-market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IMARC Group. (2025b). [Thị trường đồ dùng một lần phân hủy sinh học cho ngành dịch vụ ăn uống Việt Nam, 2026–2034] [Báo cáo thị trường].</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MBS Research. (2026, tháng 9). Dự báo tỷ giá USD/VND cuối năm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Thời báo Tài chính Việt Nam</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Mordor Intelligence.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paper packaging market: Growth, trends, and forecasts (2025–2030)</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Mordor Intelligence.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plastics market: Size &amp; share analysis (2026–2031)</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Ngân hàng Nhà nước Việt Nam.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Lãi suất huy động và cho vay bình quân của NHTM, 8/2025–8/2026</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[Số liệu truy xuất qua FiinX ngày 29/9/2026].</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ProPak Vietnam. (2024).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Thông cáo báo chí Triển lãm quốc tế lần thứ 17 về công nghệ chế biến và đóng gói</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Quốc hội. (2025a).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Luật Thuế thu nhập doanh nghiệp số 67/2025/QH15</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Quốc hội. (2025b).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quyết số 198/2025/QH15 về một số cơ chế, chính sách đặc biệt phát triển kinh tế tư nhân</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Quỹ Đổi mới công nghệ quốc gia.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Thông báo số 846/TB-NATIF về hỗ trợ lãi suất vay</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https://natif.mst.gov.vn/ho-tro-lai-suat-vay/</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Vietcombank.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Tỷ giá ngoại tệ cuối kỳ 2022–2026</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[Số liệu truy xuất qua FiinX ngày 29/9/2026].</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Vietnam Report. (2024). [Khảo sát người tiêu dùng về bao bì thân thiện môi trường, công bố cùng bảng xếp hạng Top 10 Công ty uy tín ngành Bao bì].</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World Bank. (2026, tháng 4).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East Asia and Pacific economic update, April 2026</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World Bank.</a:t>
            </a:r>
            <a:endParaRPr lang="en-US" sz="630" dirty="0"/>
          </a:p>
        </p:txBody>
      </p:sp>
      <p:sp>
        <p:nvSpPr>
          <p:cNvPr id="11" name="Text 6"/>
          <p:cNvSpPr txBox="1"/>
          <p:nvPr/>
        </p:nvSpPr>
        <p:spPr>
          <a:xfrm>
            <a:off x="405354" y="315559"/>
            <a:ext cx="1873148" cy="119238"/>
          </a:xfrm>
          <a:prstGeom prst="rect">
            <a:avLst/>
          </a:prstGeom>
          <a:noFill/>
          <a:ln/>
        </p:spPr>
        <p:txBody>
          <a:bodyPr wrap="none" lIns="0" tIns="0" rIns="0" bIns="0" rtlCol="0" anchor="t"/>
          <a:lstStyle/>
          <a:p>
            <a:pPr algn="l" indent="0" marL="0">
              <a:lnSpc>
                <a:spcPts val="864"/>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 | Định giá &amp; đề xuất gọi vốn Series A</a:t>
            </a:r>
            <a:endParaRPr lang="en-US" sz="680" dirty="0"/>
          </a:p>
        </p:txBody>
      </p:sp>
      <p:sp>
        <p:nvSpPr>
          <p:cNvPr id="12" name="Text 7"/>
          <p:cNvSpPr txBox="1"/>
          <p:nvPr/>
        </p:nvSpPr>
        <p:spPr>
          <a:xfrm>
            <a:off x="6056346" y="325161"/>
            <a:ext cx="1163940" cy="109545"/>
          </a:xfrm>
          <a:prstGeom prst="rect">
            <a:avLst/>
          </a:prstGeom>
          <a:noFill/>
          <a:ln/>
        </p:spPr>
        <p:txBody>
          <a:bodyPr wrap="none" lIns="0" tIns="0" rIns="0" bIns="0" rtlCol="0" anchor="t"/>
          <a:lstStyle/>
          <a:p>
            <a:pPr algn="l" indent="0" marL="0">
              <a:lnSpc>
                <a:spcPts val="864"/>
              </a:lnSpc>
              <a:buNone/>
            </a:pPr>
            <a:r>
              <a:rPr lang="en-US" sz="680" dirty="0">
                <a:solidFill>
                  <a:srgbClr val="666666"/>
                </a:solidFill>
                <a:latin typeface="Calibri" pitchFamily="34" charset="0"/>
                <a:ea typeface="Calibri" pitchFamily="34" charset="-122"/>
                <a:cs typeface="Calibri" pitchFamily="34" charset="-120"/>
              </a:rPr>
              <a:t>Báo cáo phân tích · 29/09/2026</a:t>
            </a:r>
            <a:endParaRPr lang="en-US" sz="680" dirty="0"/>
          </a:p>
        </p:txBody>
      </p:sp>
      <p:sp>
        <p:nvSpPr>
          <p:cNvPr id="13" name="Text 8"/>
          <p:cNvSpPr txBox="1"/>
          <p:nvPr/>
        </p:nvSpPr>
        <p:spPr>
          <a:xfrm>
            <a:off x="405354" y="593994"/>
            <a:ext cx="3281690"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A4. Giả định dự phóng chính (kịch bản cơ sở)</a:t>
            </a:r>
            <a:endParaRPr lang="en-US" sz="720" dirty="0"/>
          </a:p>
        </p:txBody>
      </p:sp>
      <p:sp>
        <p:nvSpPr>
          <p:cNvPr id="14" name="Text 9"/>
          <p:cNvSpPr txBox="1"/>
          <p:nvPr/>
        </p:nvSpPr>
        <p:spPr>
          <a:xfrm>
            <a:off x="405354" y="3154040"/>
            <a:ext cx="3281690"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Drivers (kịch bản Base)</a:t>
            </a:r>
            <a:endParaRPr lang="en-US" sz="600" dirty="0"/>
          </a:p>
        </p:txBody>
      </p:sp>
      <p:sp>
        <p:nvSpPr>
          <p:cNvPr id="15" name="Text 10"/>
          <p:cNvSpPr txBox="1"/>
          <p:nvPr/>
        </p:nvSpPr>
        <p:spPr>
          <a:xfrm>
            <a:off x="405354" y="3359140"/>
            <a:ext cx="3281690"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A5. Độ nhạy VC Method: z × thay đổi giá trị thoái vốn (tỷ đồng)</a:t>
            </a:r>
            <a:endParaRPr lang="en-US" sz="720" dirty="0"/>
          </a:p>
        </p:txBody>
      </p:sp>
      <p:sp>
        <p:nvSpPr>
          <p:cNvPr id="16" name="Text 11"/>
          <p:cNvSpPr txBox="1"/>
          <p:nvPr/>
        </p:nvSpPr>
        <p:spPr>
          <a:xfrm>
            <a:off x="405354" y="4355836"/>
            <a:ext cx="3281690" cy="103144"/>
          </a:xfrm>
          <a:prstGeom prst="rect">
            <a:avLst/>
          </a:prstGeom>
          <a:noFill/>
          <a:ln/>
        </p:spPr>
        <p:txBody>
          <a:bodyPr wrap="none" lIns="0" tIns="0" rIns="0" bIns="0" rtlCol="0" anchor="t"/>
          <a:lstStyle/>
          <a:p>
            <a:pPr algn="l" indent="0" marL="0">
              <a:lnSpc>
                <a:spcPts val="813"/>
              </a:lnSpc>
              <a:buNone/>
            </a:pPr>
            <a:r>
              <a:rPr lang="en-US" sz="640" b="1" dirty="0">
                <a:solidFill>
                  <a:srgbClr val="666666"/>
                </a:solidFill>
                <a:latin typeface="Calibri" pitchFamily="34" charset="0"/>
                <a:ea typeface="Calibri" pitchFamily="34" charset="-122"/>
                <a:cs typeface="Calibri" pitchFamily="34" charset="-120"/>
              </a:rPr>
              <a:t>DCF: WACC × RONIC (tỷ đồng)</a:t>
            </a:r>
            <a:endParaRPr lang="en-US" sz="640" dirty="0"/>
          </a:p>
        </p:txBody>
      </p:sp>
      <p:sp>
        <p:nvSpPr>
          <p:cNvPr id="17" name="Text 12"/>
          <p:cNvSpPr txBox="1"/>
          <p:nvPr/>
        </p:nvSpPr>
        <p:spPr>
          <a:xfrm>
            <a:off x="405354" y="5295748"/>
            <a:ext cx="3281690"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(Sensitivity, bảng 2 và 3)</a:t>
            </a:r>
            <a:endParaRPr lang="en-US" sz="600" dirty="0"/>
          </a:p>
        </p:txBody>
      </p:sp>
      <p:sp>
        <p:nvSpPr>
          <p:cNvPr id="18" name="Text 13"/>
          <p:cNvSpPr txBox="1"/>
          <p:nvPr/>
        </p:nvSpPr>
        <p:spPr>
          <a:xfrm>
            <a:off x="3681192" y="562813"/>
            <a:ext cx="3681557" cy="140178"/>
          </a:xfrm>
          <a:prstGeom prst="rect">
            <a:avLst/>
          </a:prstGeom>
          <a:noFill/>
          <a:ln/>
        </p:spPr>
        <p:txBody>
          <a:bodyPr wrap="none" lIns="0" tIns="0" rIns="0" bIns="0" rtlCol="0" anchor="t"/>
          <a:lstStyle/>
          <a:p>
            <a:pPr algn="l" indent="0" marL="0">
              <a:lnSpc>
                <a:spcPts val="1104"/>
              </a:lnSpc>
              <a:buNone/>
            </a:pPr>
            <a:r>
              <a:rPr lang="en-US" sz="920" b="1" dirty="0">
                <a:solidFill>
                  <a:srgbClr val="7B1E2B"/>
                </a:solidFill>
                <a:latin typeface="Calibri" pitchFamily="34" charset="0"/>
                <a:ea typeface="Calibri" pitchFamily="34" charset="-122"/>
                <a:cs typeface="Calibri" pitchFamily="34" charset="-120"/>
              </a:rPr>
              <a:t>A6. Ghi chú phương pháp và điểm cần cập nhật</a:t>
            </a:r>
            <a:endParaRPr lang="en-US" sz="920" dirty="0"/>
          </a:p>
        </p:txBody>
      </p:sp>
      <p:sp>
        <p:nvSpPr>
          <p:cNvPr id="19" name="Text 14"/>
          <p:cNvSpPr txBox="1"/>
          <p:nvPr/>
        </p:nvSpPr>
        <p:spPr>
          <a:xfrm>
            <a:off x="3681192" y="2601925"/>
            <a:ext cx="3681557" cy="140178"/>
          </a:xfrm>
          <a:prstGeom prst="rect">
            <a:avLst/>
          </a:prstGeom>
          <a:noFill/>
          <a:ln/>
        </p:spPr>
        <p:txBody>
          <a:bodyPr wrap="none" lIns="0" tIns="0" rIns="0" bIns="0" rtlCol="0" anchor="t"/>
          <a:lstStyle/>
          <a:p>
            <a:pPr algn="l" indent="0" marL="0">
              <a:lnSpc>
                <a:spcPts val="1104"/>
              </a:lnSpc>
              <a:buNone/>
            </a:pPr>
            <a:r>
              <a:rPr lang="en-US" sz="920" b="1" dirty="0">
                <a:solidFill>
                  <a:srgbClr val="7B1E2B"/>
                </a:solidFill>
                <a:latin typeface="Calibri" pitchFamily="34" charset="0"/>
                <a:ea typeface="Calibri" pitchFamily="34" charset="-122"/>
                <a:cs typeface="Calibri" pitchFamily="34" charset="-120"/>
              </a:rPr>
              <a:t>A7. Tài liệu tham khảo (APA 7)</a:t>
            </a:r>
            <a:endParaRPr lang="en-US" sz="920" dirty="0"/>
          </a:p>
        </p:txBody>
      </p:sp>
      <p:sp>
        <p:nvSpPr>
          <p:cNvPr id="20" name="Text 15"/>
          <p:cNvSpPr txBox="1"/>
          <p:nvPr/>
        </p:nvSpPr>
        <p:spPr>
          <a:xfrm>
            <a:off x="405354" y="10402672"/>
            <a:ext cx="2526121"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1" name="Text 16"/>
          <p:cNvSpPr txBox="1"/>
          <p:nvPr/>
        </p:nvSpPr>
        <p:spPr>
          <a:xfrm>
            <a:off x="7074713" y="10402672"/>
            <a:ext cx="136977" cy="99852"/>
          </a:xfrm>
          <a:prstGeom prst="rect">
            <a:avLst/>
          </a:prstGeom>
          <a:noFill/>
          <a:ln/>
        </p:spPr>
        <p:txBody>
          <a:bodyPr wrap="none" lIns="0" tIns="0" rIns="0" bIns="0" rtlCol="0" anchor="t"/>
          <a:lstStyle/>
          <a:p>
            <a:pPr algn="l" indent="0" marL="0">
              <a:lnSpc>
                <a:spcPts val="787"/>
              </a:lnSpc>
              <a:buNone/>
            </a:pPr>
            <a:r>
              <a:rPr lang="en-US" sz="620" dirty="0">
                <a:solidFill>
                  <a:srgbClr val="666666"/>
                </a:solidFill>
                <a:latin typeface="Calibri" pitchFamily="34" charset="0"/>
                <a:ea typeface="Calibri" pitchFamily="34" charset="-122"/>
                <a:cs typeface="Calibri" pitchFamily="34" charset="-120"/>
              </a:rPr>
              <a:t>12</a:t>
            </a:r>
            <a:endParaRPr lang="en-US" sz="6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AgriPack – Báo cáo định giá và đề xuất gọi vốn Series A</dc:title>
  <dc:subject>PptxGenJS Presentation</dc:subject>
  <dc:creator>Nhóm AgriPack – học phần TTKN</dc:creator>
  <cp:lastModifiedBy>Nhóm AgriPack – học phần TTKN</cp:lastModifiedBy>
  <cp:revision>1</cp:revision>
  <dcterms:created xsi:type="dcterms:W3CDTF">2026-09-29T07:58:59Z</dcterms:created>
  <dcterms:modified xsi:type="dcterms:W3CDTF">2026-09-29T07:58:59Z</dcterms:modified>
</cp:coreProperties>
</file>