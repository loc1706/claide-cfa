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7559985" cy="10691988"/>
  <p:notesSz cx="10691988" cy="755998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10" y="9510"/>
            <a:ext cx="7540874" cy="656722"/>
          </a:xfrm>
          <a:prstGeom prst="rect">
            <a:avLst/>
          </a:prstGeom>
          <a:solidFill>
            <a:srgbClr val="7B1E2B"/>
          </a:solidFill>
          <a:ln/>
        </p:spPr>
      </p:sp>
      <p:sp>
        <p:nvSpPr>
          <p:cNvPr id="3" name="Shape 1"/>
          <p:cNvSpPr/>
          <p:nvPr/>
        </p:nvSpPr>
        <p:spPr>
          <a:xfrm>
            <a:off x="405354" y="774222"/>
            <a:ext cx="2159996" cy="158648"/>
          </a:xfrm>
          <a:prstGeom prst="rect">
            <a:avLst/>
          </a:prstGeom>
          <a:solidFill>
            <a:srgbClr val="404040"/>
          </a:solidFill>
          <a:ln/>
        </p:spPr>
      </p:sp>
      <p:sp>
        <p:nvSpPr>
          <p:cNvPr id="4" name="Shape 2"/>
          <p:cNvSpPr/>
          <p:nvPr/>
        </p:nvSpPr>
        <p:spPr>
          <a:xfrm>
            <a:off x="405354" y="7672182"/>
            <a:ext cx="2159996" cy="158648"/>
          </a:xfrm>
          <a:prstGeom prst="rect">
            <a:avLst/>
          </a:prstGeom>
          <a:solidFill>
            <a:srgbClr val="404040"/>
          </a:solidFill>
          <a:ln/>
        </p:spPr>
      </p:sp>
      <p:sp>
        <p:nvSpPr>
          <p:cNvPr id="5" name="Shape 3"/>
          <p:cNvSpPr/>
          <p:nvPr/>
        </p:nvSpPr>
        <p:spPr>
          <a:xfrm>
            <a:off x="2745303" y="1205362"/>
            <a:ext cx="4409237" cy="881024"/>
          </a:xfrm>
          <a:prstGeom prst="rect">
            <a:avLst/>
          </a:prstGeom>
          <a:solidFill>
            <a:srgbClr val="F7F4F4"/>
          </a:solidFill>
          <a:ln/>
        </p:spPr>
      </p:sp>
      <p:sp>
        <p:nvSpPr>
          <p:cNvPr id="6" name="Shape 4"/>
          <p:cNvSpPr/>
          <p:nvPr/>
        </p:nvSpPr>
        <p:spPr>
          <a:xfrm>
            <a:off x="405354" y="3854379"/>
            <a:ext cx="2159996" cy="0"/>
          </a:xfrm>
          <a:prstGeom prst="line">
            <a:avLst/>
          </a:prstGeom>
          <a:noFill/>
          <a:ln w="9525">
            <a:solidFill>
              <a:srgbClr val="7B1E2B"/>
            </a:solidFill>
            <a:prstDash val="solid"/>
          </a:ln>
        </p:spPr>
      </p:sp>
      <p:sp>
        <p:nvSpPr>
          <p:cNvPr id="7" name="Shape 5"/>
          <p:cNvSpPr/>
          <p:nvPr/>
        </p:nvSpPr>
        <p:spPr>
          <a:xfrm>
            <a:off x="405354" y="6060735"/>
            <a:ext cx="2159996" cy="0"/>
          </a:xfrm>
          <a:prstGeom prst="line">
            <a:avLst/>
          </a:prstGeom>
          <a:noFill/>
          <a:ln w="9525">
            <a:solidFill>
              <a:srgbClr val="7B1E2B"/>
            </a:solidFill>
            <a:prstDash val="solid"/>
          </a:ln>
        </p:spPr>
      </p:sp>
      <p:sp>
        <p:nvSpPr>
          <p:cNvPr id="8" name="Shape 6"/>
          <p:cNvSpPr/>
          <p:nvPr/>
        </p:nvSpPr>
        <p:spPr>
          <a:xfrm>
            <a:off x="2745303" y="1210117"/>
            <a:ext cx="4409237" cy="0"/>
          </a:xfrm>
          <a:prstGeom prst="line">
            <a:avLst/>
          </a:prstGeom>
          <a:noFill/>
          <a:ln w="9525">
            <a:solidFill>
              <a:srgbClr val="7B1E2B"/>
            </a:solidFill>
            <a:prstDash val="solid"/>
          </a:ln>
        </p:spPr>
      </p:sp>
      <p:sp>
        <p:nvSpPr>
          <p:cNvPr id="9" name="Shape 7"/>
          <p:cNvSpPr/>
          <p:nvPr/>
        </p:nvSpPr>
        <p:spPr>
          <a:xfrm>
            <a:off x="7149785" y="1205362"/>
            <a:ext cx="0" cy="881024"/>
          </a:xfrm>
          <a:prstGeom prst="line">
            <a:avLst/>
          </a:prstGeom>
          <a:noFill/>
          <a:ln w="9525">
            <a:solidFill>
              <a:srgbClr val="7B1E2B"/>
            </a:solidFill>
            <a:prstDash val="solid"/>
          </a:ln>
        </p:spPr>
      </p:sp>
      <p:sp>
        <p:nvSpPr>
          <p:cNvPr id="10" name="Shape 8"/>
          <p:cNvSpPr/>
          <p:nvPr/>
        </p:nvSpPr>
        <p:spPr>
          <a:xfrm>
            <a:off x="2745303" y="2081723"/>
            <a:ext cx="4409237" cy="0"/>
          </a:xfrm>
          <a:prstGeom prst="line">
            <a:avLst/>
          </a:prstGeom>
          <a:noFill/>
          <a:ln w="9525">
            <a:solidFill>
              <a:srgbClr val="7B1E2B"/>
            </a:solidFill>
            <a:prstDash val="solid"/>
          </a:ln>
        </p:spPr>
      </p:sp>
      <p:sp>
        <p:nvSpPr>
          <p:cNvPr id="11" name="Shape 9"/>
          <p:cNvSpPr/>
          <p:nvPr/>
        </p:nvSpPr>
        <p:spPr>
          <a:xfrm>
            <a:off x="2764323" y="1205362"/>
            <a:ext cx="0" cy="881024"/>
          </a:xfrm>
          <a:prstGeom prst="line">
            <a:avLst/>
          </a:prstGeom>
          <a:noFill/>
          <a:ln w="38100">
            <a:solidFill>
              <a:srgbClr val="7B1E2B"/>
            </a:solidFill>
            <a:prstDash val="solid"/>
          </a:ln>
        </p:spPr>
      </p:sp>
      <p:sp>
        <p:nvSpPr>
          <p:cNvPr id="12" name="Shape 10"/>
          <p:cNvSpPr/>
          <p:nvPr/>
        </p:nvSpPr>
        <p:spPr>
          <a:xfrm>
            <a:off x="2745303" y="5422301"/>
            <a:ext cx="4409237" cy="0"/>
          </a:xfrm>
          <a:prstGeom prst="line">
            <a:avLst/>
          </a:prstGeom>
          <a:noFill/>
          <a:ln w="9525">
            <a:solidFill>
              <a:srgbClr val="7B1E2B"/>
            </a:solidFill>
            <a:prstDash val="solid"/>
          </a:ln>
        </p:spPr>
      </p:sp>
      <p:sp>
        <p:nvSpPr>
          <p:cNvPr id="13" name="Shape 11"/>
          <p:cNvSpPr/>
          <p:nvPr/>
        </p:nvSpPr>
        <p:spPr>
          <a:xfrm>
            <a:off x="405354" y="10369479"/>
            <a:ext cx="6749004" cy="0"/>
          </a:xfrm>
          <a:prstGeom prst="line">
            <a:avLst/>
          </a:prstGeom>
          <a:noFill/>
          <a:ln w="9525">
            <a:solidFill>
              <a:srgbClr val="BFBFB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05354" y="932871"/>
          <a:ext cx="2159996" cy="914400"/>
        </p:xfrm>
        <a:graphic>
          <a:graphicData uri="http://schemas.openxmlformats.org/drawingml/2006/table">
            <a:tbl>
              <a:tblPr/>
              <a:tblGrid>
                <a:gridCol w="843717"/>
                <a:gridCol w="1316279"/>
              </a:tblGrid>
              <a:tr h="139903">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Ngành</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Bao bì bền vững (B2B)</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23">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Sản phẩm</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Hộp, khay, đệm từ bã mía + vỏ trứng</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Nhà máy</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Gia Lai (1 nhà máy)</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Thành lập (giả định)</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2021</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Giai đoạn</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Đầu tăng trưởng (z 35–45%)</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Doanh thu 2025A</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47,5 tỷ (+53,7%)</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Biên EBITDA 2025A</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16,2%</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LNST 2025A</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4,4 tỷ</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VCSH 31/12/2025</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30,0 tỷ</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D/E 2025</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6,5%</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ROE 2025A / Ke</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15,9% / 15,9%</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Thị phần SAM 2025</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4,3%</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WACC / g / z</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13,6% / 5,0% / 40%</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23">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DCF / VCM / Multiples</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41,1 / 25,3 / 27,7 tỷ</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23">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Pre-money (40/40/20)</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32,1 tỷ</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58">
                <a:tc>
                  <a:txBody>
                    <a:bodyPr/>
                    <a:lstStyle/>
                    <a:p>
                      <a:pPr algn="l" indent="0" marL="0">
                        <a:buNone/>
                      </a:pPr>
                      <a:r>
                        <a:rPr lang="en-US" sz="662" dirty="0">
                          <a:solidFill>
                            <a:srgbClr val="1F1F1F"/>
                          </a:solidFill>
                          <a:latin typeface="Calibri" pitchFamily="34" charset="0"/>
                          <a:ea typeface="Calibri" pitchFamily="34" charset="-122"/>
                          <a:cs typeface="Calibri" pitchFamily="34" charset="-120"/>
                        </a:rPr>
                        <a:t>Khoảng giá trị</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62" b="1" dirty="0">
                          <a:solidFill>
                            <a:srgbClr val="1F1F1F"/>
                          </a:solidFill>
                          <a:latin typeface="Calibri" pitchFamily="34" charset="0"/>
                          <a:ea typeface="Calibri" pitchFamily="34" charset="-122"/>
                          <a:cs typeface="Calibri" pitchFamily="34" charset="-120"/>
                        </a:rPr>
                        <a:t>19,7–49,2 tỷ</a:t>
                      </a:r>
                      <a:endParaRPr lang="en-US" sz="662" dirty="0">
                        <a:latin typeface="Calibri" charset="0"/>
                        <a:ea typeface="Calibri" charset="0"/>
                        <a:cs typeface="Calibri" charset="0"/>
                      </a:endParaRPr>
                    </a:p>
                  </a:txBody>
                  <a:tcPr marL="43160" marR="43160" marT="15088" marB="15088"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405354" y="7830922"/>
          <a:ext cx="2159996" cy="914400"/>
        </p:xfrm>
        <a:graphic>
          <a:graphicData uri="http://schemas.openxmlformats.org/drawingml/2006/table">
            <a:tbl>
              <a:tblPr/>
              <a:tblGrid>
                <a:gridCol w="1998055"/>
                <a:gridCol w="161940"/>
              </a:tblGrid>
              <a:tr h="140818">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1. Đề xuất ý tưởng khởi nghiệp</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2</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72">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2. Báo cáo tài chính và xác định giai đoạn</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4</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72">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3. Phân tích vĩ mô và phân tích ngành</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6</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72">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4. Lập dự phóng pro forma 5 năm (2026E–2030E)</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12</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72">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5. Định giá</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14</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72">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8. Câu hỏi Bonus: định giá khi chưa có doanh thu</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15</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56581">
                <a:tc>
                  <a:txBody>
                    <a:bodyPr/>
                    <a:lstStyle/>
                    <a:p>
                      <a:pPr algn="l" indent="0" marL="0">
                        <a:buNone/>
                      </a:pPr>
                      <a:r>
                        <a:rPr lang="en-US" sz="672" dirty="0">
                          <a:solidFill>
                            <a:srgbClr val="1F1F1F"/>
                          </a:solidFill>
                          <a:latin typeface="Calibri" pitchFamily="34" charset="0"/>
                          <a:ea typeface="Calibri" pitchFamily="34" charset="-122"/>
                          <a:cs typeface="Calibri" pitchFamily="34" charset="-120"/>
                        </a:rPr>
                        <a:t>Phụ lục: BCTC, giả định (lý do, nguồn), chi phí vốn, độ nhạy, chuỗi giá trị, tài liệu tham khảo</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72" b="1" dirty="0">
                          <a:solidFill>
                            <a:srgbClr val="7B1E2B"/>
                          </a:solidFill>
                          <a:latin typeface="Calibri" pitchFamily="34" charset="0"/>
                          <a:ea typeface="Calibri" pitchFamily="34" charset="-122"/>
                          <a:cs typeface="Calibri" pitchFamily="34" charset="-120"/>
                        </a:rPr>
                        <a:t>16</a:t>
                      </a:r>
                      <a:endParaRPr lang="en-US" sz="672" dirty="0">
                        <a:latin typeface="Calibri" charset="0"/>
                        <a:ea typeface="Calibri" charset="0"/>
                        <a:cs typeface="Calibri" charset="0"/>
                      </a:endParaRPr>
                    </a:p>
                  </a:txBody>
                  <a:tcPr marL="36027" marR="36027" marT="12619" marB="12619"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2855305" y="1386505"/>
          <a:ext cx="4217761" cy="914400"/>
        </p:xfrm>
        <a:graphic>
          <a:graphicData uri="http://schemas.openxmlformats.org/drawingml/2006/table">
            <a:tbl>
              <a:tblPr/>
              <a:tblGrid>
                <a:gridCol w="1307501"/>
                <a:gridCol w="2910261"/>
              </a:tblGrid>
              <a:tr h="246797">
                <a:tc>
                  <a:txBody>
                    <a:bodyPr/>
                    <a:lstStyle/>
                    <a:p>
                      <a:pPr algn="l" indent="0" marL="0">
                        <a:buNone/>
                      </a:pPr>
                      <a:r>
                        <a:rPr lang="en-US" sz="710" dirty="0">
                          <a:solidFill>
                            <a:srgbClr val="666666"/>
                          </a:solidFill>
                          <a:latin typeface="Calibri" pitchFamily="34" charset="0"/>
                          <a:ea typeface="Calibri" pitchFamily="34" charset="-122"/>
                          <a:cs typeface="Calibri" pitchFamily="34" charset="-120"/>
                        </a:rPr>
                        <a:t>Pre-money bình quân</a:t>
                      </a:r>
                      <a:endParaRPr lang="en-US" sz="710" dirty="0">
                        <a:latin typeface="Calibri" charset="0"/>
                        <a:ea typeface="Calibri" charset="0"/>
                        <a:cs typeface="Calibri" charset="0"/>
                      </a:endParaRPr>
                    </a:p>
                  </a:txBody>
                  <a:tcPr marL="0" marR="71963" marT="8961" marB="8961"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710" b="1" dirty="0">
                          <a:solidFill>
                            <a:srgbClr val="1F1F1F"/>
                          </a:solidFill>
                          <a:latin typeface="Calibri" pitchFamily="34" charset="0"/>
                          <a:ea typeface="Calibri" pitchFamily="34" charset="-122"/>
                          <a:cs typeface="Calibri" pitchFamily="34" charset="-120"/>
                        </a:rPr>
                        <a:t>32,1 tỷ đồng</a:t>
                      </a:r>
                      <a:pPr algn="l" indent="0" marL="0">
                        <a:buNone/>
                      </a:pPr>
                      <a:r>
                        <a:rPr lang="en-US" sz="710" dirty="0">
                          <a:solidFill>
                            <a:srgbClr val="1F1F1F"/>
                          </a:solidFill>
                          <a:latin typeface="Calibri" pitchFamily="34" charset="0"/>
                          <a:ea typeface="Calibri" pitchFamily="34" charset="-122"/>
                          <a:cs typeface="Calibri" pitchFamily="34" charset="-120"/>
                        </a:rPr>
                        <a:t> (khoảng 19,7–49,2 tỷ), trọng số DCF 40%, VC Method 40%, Multiples 20%</a:t>
                      </a:r>
                      <a:endParaRPr lang="en-US" sz="710" dirty="0">
                        <a:latin typeface="Calibri" charset="0"/>
                        <a:ea typeface="Calibri" charset="0"/>
                        <a:cs typeface="Calibri" charset="0"/>
                      </a:endParaRPr>
                    </a:p>
                  </a:txBody>
                  <a:tcPr marL="0" marR="0" marT="8961" marB="8961" anchor="t">
                    <a:lnL w="0" cap="flat" cmpd="sng" algn="ctr">
                      <a:noFill/>
                    </a:lnL>
                    <a:lnR w="0" cap="flat" cmpd="sng" algn="ctr">
                      <a:noFill/>
                    </a:lnR>
                    <a:lnT w="0" cap="flat" cmpd="sng" algn="ctr">
                      <a:noFill/>
                    </a:lnT>
                    <a:lnB w="0" cap="flat" cmpd="sng" algn="ctr">
                      <a:noFill/>
                    </a:lnB>
                  </a:tcPr>
                </a:tc>
              </a:tr>
              <a:tr h="132314">
                <a:tc>
                  <a:txBody>
                    <a:bodyPr/>
                    <a:lstStyle/>
                    <a:p>
                      <a:pPr algn="l" indent="0" marL="0">
                        <a:buNone/>
                      </a:pPr>
                      <a:r>
                        <a:rPr lang="en-US" sz="710" dirty="0">
                          <a:solidFill>
                            <a:srgbClr val="666666"/>
                          </a:solidFill>
                          <a:latin typeface="Calibri" pitchFamily="34" charset="0"/>
                          <a:ea typeface="Calibri" pitchFamily="34" charset="-122"/>
                          <a:cs typeface="Calibri" pitchFamily="34" charset="-120"/>
                        </a:rPr>
                        <a:t>DCF / VC Method / Multiples</a:t>
                      </a:r>
                      <a:endParaRPr lang="en-US" sz="710" dirty="0">
                        <a:latin typeface="Calibri" charset="0"/>
                        <a:ea typeface="Calibri" charset="0"/>
                        <a:cs typeface="Calibri" charset="0"/>
                      </a:endParaRPr>
                    </a:p>
                  </a:txBody>
                  <a:tcPr marL="0" marR="71963" marT="8961" marB="8961"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710" dirty="0">
                          <a:solidFill>
                            <a:srgbClr val="1F1F1F"/>
                          </a:solidFill>
                          <a:latin typeface="Calibri" pitchFamily="34" charset="0"/>
                          <a:ea typeface="Calibri" pitchFamily="34" charset="-122"/>
                          <a:cs typeface="Calibri" pitchFamily="34" charset="-120"/>
                        </a:rPr>
                        <a:t>41,1 / 25,3 / 27,7 tỷ; DCF điều chỉnh xác suất sống sót 30,7 tỷ</a:t>
                      </a:r>
                      <a:endParaRPr lang="en-US" sz="710" dirty="0">
                        <a:latin typeface="Calibri" charset="0"/>
                        <a:ea typeface="Calibri" charset="0"/>
                        <a:cs typeface="Calibri" charset="0"/>
                      </a:endParaRPr>
                    </a:p>
                  </a:txBody>
                  <a:tcPr marL="0" marR="0" marT="8961" marB="8961" anchor="t">
                    <a:lnL w="0" cap="flat" cmpd="sng" algn="ctr">
                      <a:noFill/>
                    </a:lnL>
                    <a:lnR w="0" cap="flat" cmpd="sng" algn="ctr">
                      <a:noFill/>
                    </a:lnR>
                    <a:lnT w="0" cap="flat" cmpd="sng" algn="ctr">
                      <a:noFill/>
                    </a:lnT>
                    <a:lnB w="0" cap="flat" cmpd="sng" algn="ctr">
                      <a:noFill/>
                    </a:lnB>
                  </a:tcPr>
                </a:tc>
              </a:tr>
              <a:tr h="132314">
                <a:tc>
                  <a:txBody>
                    <a:bodyPr/>
                    <a:lstStyle/>
                    <a:p>
                      <a:pPr algn="l" indent="0" marL="0">
                        <a:buNone/>
                      </a:pPr>
                      <a:r>
                        <a:rPr lang="en-US" sz="710" dirty="0">
                          <a:solidFill>
                            <a:srgbClr val="666666"/>
                          </a:solidFill>
                          <a:latin typeface="Calibri" pitchFamily="34" charset="0"/>
                          <a:ea typeface="Calibri" pitchFamily="34" charset="-122"/>
                          <a:cs typeface="Calibri" pitchFamily="34" charset="-120"/>
                        </a:rPr>
                        <a:t>Chi phí vốn</a:t>
                      </a:r>
                      <a:endParaRPr lang="en-US" sz="710" dirty="0">
                        <a:latin typeface="Calibri" charset="0"/>
                        <a:ea typeface="Calibri" charset="0"/>
                        <a:cs typeface="Calibri" charset="0"/>
                      </a:endParaRPr>
                    </a:p>
                  </a:txBody>
                  <a:tcPr marL="0" marR="71963" marT="8961" marB="8961"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710" dirty="0">
                          <a:solidFill>
                            <a:srgbClr val="1F1F1F"/>
                          </a:solidFill>
                          <a:latin typeface="Calibri" pitchFamily="34" charset="0"/>
                          <a:ea typeface="Calibri" pitchFamily="34" charset="-122"/>
                          <a:cs typeface="Calibri" pitchFamily="34" charset="-120"/>
                        </a:rPr>
                        <a:t>WACC 13,6%; Rf 3,92% (TPCP 10 năm, bình quân 10 năm); beta 1,48</a:t>
                      </a:r>
                      <a:endParaRPr lang="en-US" sz="710" dirty="0">
                        <a:latin typeface="Calibri" charset="0"/>
                        <a:ea typeface="Calibri" charset="0"/>
                        <a:cs typeface="Calibri" charset="0"/>
                      </a:endParaRPr>
                    </a:p>
                  </a:txBody>
                  <a:tcPr marL="0" marR="0" marT="8961" marB="8961" anchor="t">
                    <a:lnL w="0" cap="flat" cmpd="sng" algn="ctr">
                      <a:noFill/>
                    </a:lnL>
                    <a:lnR w="0" cap="flat" cmpd="sng" algn="ctr">
                      <a:noFill/>
                    </a:lnR>
                    <a:lnT w="0" cap="flat" cmpd="sng" algn="ctr">
                      <a:noFill/>
                    </a:lnT>
                    <a:lnB w="0" cap="flat" cmpd="sng" algn="ctr">
                      <a:noFill/>
                    </a:lnB>
                  </a:tcPr>
                </a:tc>
              </a:tr>
              <a:tr h="132314">
                <a:tc>
                  <a:txBody>
                    <a:bodyPr/>
                    <a:lstStyle/>
                    <a:p>
                      <a:pPr algn="l" indent="0" marL="0">
                        <a:buNone/>
                      </a:pPr>
                      <a:r>
                        <a:rPr lang="en-US" sz="710" dirty="0">
                          <a:solidFill>
                            <a:srgbClr val="666666"/>
                          </a:solidFill>
                          <a:latin typeface="Calibri" pitchFamily="34" charset="0"/>
                          <a:ea typeface="Calibri" pitchFamily="34" charset="-122"/>
                          <a:cs typeface="Calibri" pitchFamily="34" charset="-120"/>
                        </a:rPr>
                        <a:t>Hàm ý</a:t>
                      </a:r>
                      <a:endParaRPr lang="en-US" sz="710" dirty="0">
                        <a:latin typeface="Calibri" charset="0"/>
                        <a:ea typeface="Calibri" charset="0"/>
                        <a:cs typeface="Calibri" charset="0"/>
                      </a:endParaRPr>
                    </a:p>
                  </a:txBody>
                  <a:tcPr marL="0" marR="71963" marT="8961" marB="8961"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710" dirty="0">
                          <a:solidFill>
                            <a:srgbClr val="1F1F1F"/>
                          </a:solidFill>
                          <a:latin typeface="Calibri" pitchFamily="34" charset="0"/>
                          <a:ea typeface="Calibri" pitchFamily="34" charset="-122"/>
                          <a:cs typeface="Calibri" pitchFamily="34" charset="-120"/>
                        </a:rPr>
                        <a:t>1,07 lần VCSH sổ sách; P/E 2025A 9,1 lần; EV/EBITDA 2025A 4,0 lần</a:t>
                      </a:r>
                      <a:endParaRPr lang="en-US" sz="710" dirty="0">
                        <a:latin typeface="Calibri" charset="0"/>
                        <a:ea typeface="Calibri" charset="0"/>
                        <a:cs typeface="Calibri" charset="0"/>
                      </a:endParaRPr>
                    </a:p>
                  </a:txBody>
                  <a:tcPr marL="0" marR="0" marT="8961" marB="8961"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2745303" y="5691683"/>
          <a:ext cx="4409237" cy="914400"/>
        </p:xfrm>
        <a:graphic>
          <a:graphicData uri="http://schemas.openxmlformats.org/drawingml/2006/table">
            <a:tbl>
              <a:tblPr/>
              <a:tblGrid>
                <a:gridCol w="1016081"/>
                <a:gridCol w="424007"/>
                <a:gridCol w="424007"/>
                <a:gridCol w="424007"/>
                <a:gridCol w="424007"/>
                <a:gridCol w="424007"/>
                <a:gridCol w="424007"/>
                <a:gridCol w="424007"/>
                <a:gridCol w="425013"/>
              </a:tblGrid>
              <a:tr h="137526">
                <a:tc>
                  <a:txBody>
                    <a:bodyPr/>
                    <a:lstStyle/>
                    <a:p>
                      <a:pPr algn="l" indent="0" marL="0">
                        <a:buNone/>
                      </a:pPr>
                      <a:r>
                        <a:rPr lang="en-US" sz="653" b="1" dirty="0">
                          <a:solidFill>
                            <a:srgbClr val="FFFFFF"/>
                          </a:solidFill>
                          <a:latin typeface="Calibri" pitchFamily="34" charset="0"/>
                          <a:ea typeface="Calibri" pitchFamily="34" charset="-122"/>
                          <a:cs typeface="Calibri" pitchFamily="34" charset="-120"/>
                        </a:rPr>
                        <a:t>Tỷ đồng</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2023A</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2024A</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2025A</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2026E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2027E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2028E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2029E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2030E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3685">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Doanh thu thuần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19,4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30,9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47,5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63,7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79,7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110,4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141,6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170,3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Tăng trưởng</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59,1%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33,9%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25,2%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38,5%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28,3%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240213">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Biên gộp (70% lương, 90% KH vào GVHB)</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37,3%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46,9%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51,0%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51,8%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50,5%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44,8%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47,1%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47,6%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EBITDA</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11,4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14,3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17,8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26,9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34,4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Biên EBITDA</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(14,2%)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6,5%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16,2%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17,9%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17,9%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16,1%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19,0%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LNST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(0,5)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5,8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13,9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FCF/FCFF*</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(9,0)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(5,6)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(42,6)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CAPEX/doanh thu</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65%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ROIC</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16,7%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8,0%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10,4%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13,9%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Vốn chủ sở hữu</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19,1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25,6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30,0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74,2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80,0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82,4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91,1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105,0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Nợ vay</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26,5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grpSp>
        <p:nvGrpSpPr>
          <p:cNvPr id="143" name="Fig. 01 – biểu đồ"/>
          <p:cNvGrpSpPr/>
          <p:nvPr/>
        </p:nvGrpSpPr>
        <p:grpSpPr>
          <a:xfrm>
            <a:off x="444764" y="4236964"/>
            <a:ext cx="2081266" cy="846734"/>
            <a:chOff x="444764" y="4236964"/>
            <a:chExt cx="2081266" cy="846734"/>
          </a:xfrm>
        </p:grpSpPr>
        <p:sp>
          <p:nvSpPr>
            <p:cNvPr id="18" name="svg0_0"/>
            <p:cNvSpPr/>
            <p:nvPr/>
          </p:nvSpPr>
          <p:spPr>
            <a:xfrm>
              <a:off x="1225205" y="4248120"/>
              <a:ext cx="1300825" cy="716615"/>
            </a:xfrm>
            <a:prstGeom prst="rect">
              <a:avLst/>
            </a:prstGeom>
            <a:solidFill>
              <a:srgbClr val="F3F1F1"/>
            </a:solidFill>
            <a:ln/>
          </p:spPr>
        </p:sp>
        <p:sp>
          <p:nvSpPr>
            <p:cNvPr id="19" name="svg0_1"/>
            <p:cNvSpPr/>
            <p:nvPr/>
          </p:nvSpPr>
          <p:spPr>
            <a:xfrm>
              <a:off x="494233" y="4894235"/>
              <a:ext cx="161300" cy="70592"/>
            </a:xfrm>
            <a:prstGeom prst="rect">
              <a:avLst/>
            </a:prstGeom>
            <a:solidFill>
              <a:srgbClr val="7B1E2B"/>
            </a:solidFill>
            <a:ln/>
          </p:spPr>
        </p:sp>
        <p:sp>
          <p:nvSpPr>
            <p:cNvPr id="20" name="svg0_2"/>
            <p:cNvSpPr txBox="1"/>
            <p:nvPr/>
          </p:nvSpPr>
          <p:spPr>
            <a:xfrm>
              <a:off x="507218" y="4784872"/>
              <a:ext cx="139995"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19</a:t>
              </a:r>
              <a:endParaRPr lang="en-US" sz="649" dirty="0"/>
            </a:p>
          </p:txBody>
        </p:sp>
        <p:sp>
          <p:nvSpPr>
            <p:cNvPr id="21" name="svg0_3"/>
            <p:cNvSpPr txBox="1"/>
            <p:nvPr/>
          </p:nvSpPr>
          <p:spPr>
            <a:xfrm>
              <a:off x="487284" y="497890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23A</a:t>
              </a:r>
              <a:endParaRPr lang="en-US" sz="588" dirty="0"/>
            </a:p>
          </p:txBody>
        </p:sp>
        <p:sp>
          <p:nvSpPr>
            <p:cNvPr id="22" name="svg0_4"/>
            <p:cNvSpPr/>
            <p:nvPr/>
          </p:nvSpPr>
          <p:spPr>
            <a:xfrm>
              <a:off x="754289" y="4852538"/>
              <a:ext cx="161300" cy="112288"/>
            </a:xfrm>
            <a:prstGeom prst="rect">
              <a:avLst/>
            </a:prstGeom>
            <a:solidFill>
              <a:srgbClr val="7B1E2B"/>
            </a:solidFill>
            <a:ln/>
          </p:spPr>
        </p:sp>
        <p:sp>
          <p:nvSpPr>
            <p:cNvPr id="23" name="svg0_5"/>
            <p:cNvSpPr txBox="1"/>
            <p:nvPr/>
          </p:nvSpPr>
          <p:spPr>
            <a:xfrm>
              <a:off x="768828" y="4743633"/>
              <a:ext cx="133320"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31</a:t>
              </a:r>
              <a:endParaRPr lang="en-US" sz="649" dirty="0"/>
            </a:p>
          </p:txBody>
        </p:sp>
        <p:sp>
          <p:nvSpPr>
            <p:cNvPr id="24" name="svg0_6"/>
            <p:cNvSpPr txBox="1"/>
            <p:nvPr/>
          </p:nvSpPr>
          <p:spPr>
            <a:xfrm>
              <a:off x="748436" y="497890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24A</a:t>
              </a:r>
              <a:endParaRPr lang="en-US" sz="588" dirty="0"/>
            </a:p>
          </p:txBody>
        </p:sp>
        <p:sp>
          <p:nvSpPr>
            <p:cNvPr id="25" name="svg0_7"/>
            <p:cNvSpPr/>
            <p:nvPr/>
          </p:nvSpPr>
          <p:spPr>
            <a:xfrm>
              <a:off x="1014435" y="4792096"/>
              <a:ext cx="161392" cy="172730"/>
            </a:xfrm>
            <a:prstGeom prst="rect">
              <a:avLst/>
            </a:prstGeom>
            <a:solidFill>
              <a:srgbClr val="7B1E2B"/>
            </a:solidFill>
            <a:ln/>
          </p:spPr>
        </p:sp>
        <p:sp>
          <p:nvSpPr>
            <p:cNvPr id="26" name="svg0_8"/>
            <p:cNvSpPr txBox="1"/>
            <p:nvPr/>
          </p:nvSpPr>
          <p:spPr>
            <a:xfrm>
              <a:off x="1027603" y="4682734"/>
              <a:ext cx="139995"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48</a:t>
              </a:r>
              <a:endParaRPr lang="en-US" sz="649" dirty="0"/>
            </a:p>
          </p:txBody>
        </p:sp>
        <p:sp>
          <p:nvSpPr>
            <p:cNvPr id="27" name="svg0_9"/>
            <p:cNvSpPr txBox="1"/>
            <p:nvPr/>
          </p:nvSpPr>
          <p:spPr>
            <a:xfrm>
              <a:off x="1007577" y="497890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25A</a:t>
              </a:r>
              <a:endParaRPr lang="en-US" sz="588" dirty="0"/>
            </a:p>
          </p:txBody>
        </p:sp>
        <p:sp>
          <p:nvSpPr>
            <p:cNvPr id="28" name="svg0_10"/>
            <p:cNvSpPr/>
            <p:nvPr/>
          </p:nvSpPr>
          <p:spPr>
            <a:xfrm>
              <a:off x="1274674" y="4733666"/>
              <a:ext cx="161300" cy="231160"/>
            </a:xfrm>
            <a:prstGeom prst="rect">
              <a:avLst/>
            </a:prstGeom>
            <a:pattFill prst="wdUpDiag">
              <a:fgClr>
                <a:srgbClr val="7B1E2B"/>
              </a:fgClr>
              <a:bgClr>
                <a:srgbClr val="FFFFFF"/>
              </a:bgClr>
            </a:pattFill>
            <a:ln w="7874">
              <a:solidFill>
                <a:srgbClr val="7B1E2B"/>
              </a:solidFill>
              <a:prstDash val="solid"/>
            </a:ln>
          </p:spPr>
        </p:sp>
        <p:sp>
          <p:nvSpPr>
            <p:cNvPr id="29" name="svg0_11"/>
            <p:cNvSpPr txBox="1"/>
            <p:nvPr/>
          </p:nvSpPr>
          <p:spPr>
            <a:xfrm>
              <a:off x="1288755" y="4623846"/>
              <a:ext cx="139995"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64</a:t>
              </a:r>
              <a:endParaRPr lang="en-US" sz="649" dirty="0"/>
            </a:p>
          </p:txBody>
        </p:sp>
        <p:sp>
          <p:nvSpPr>
            <p:cNvPr id="30" name="svg0_12"/>
            <p:cNvSpPr txBox="1"/>
            <p:nvPr/>
          </p:nvSpPr>
          <p:spPr>
            <a:xfrm>
              <a:off x="1272753" y="497890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26E</a:t>
              </a:r>
              <a:endParaRPr lang="en-US" sz="588" dirty="0"/>
            </a:p>
          </p:txBody>
        </p:sp>
        <p:sp>
          <p:nvSpPr>
            <p:cNvPr id="31" name="svg0_13"/>
            <p:cNvSpPr/>
            <p:nvPr/>
          </p:nvSpPr>
          <p:spPr>
            <a:xfrm>
              <a:off x="1534729" y="4675236"/>
              <a:ext cx="161300" cy="289590"/>
            </a:xfrm>
            <a:prstGeom prst="rect">
              <a:avLst/>
            </a:prstGeom>
            <a:pattFill prst="wdUpDiag">
              <a:fgClr>
                <a:srgbClr val="7B1E2B"/>
              </a:fgClr>
              <a:bgClr>
                <a:srgbClr val="FFFFFF"/>
              </a:bgClr>
            </a:pattFill>
            <a:ln w="7874">
              <a:solidFill>
                <a:srgbClr val="7B1E2B"/>
              </a:solidFill>
              <a:prstDash val="solid"/>
            </a:ln>
          </p:spPr>
        </p:sp>
        <p:sp>
          <p:nvSpPr>
            <p:cNvPr id="32" name="svg0_14"/>
            <p:cNvSpPr txBox="1"/>
            <p:nvPr/>
          </p:nvSpPr>
          <p:spPr>
            <a:xfrm>
              <a:off x="1547896" y="4565874"/>
              <a:ext cx="139995"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80</a:t>
              </a:r>
              <a:endParaRPr lang="en-US" sz="649" dirty="0"/>
            </a:p>
          </p:txBody>
        </p:sp>
        <p:sp>
          <p:nvSpPr>
            <p:cNvPr id="33" name="svg0_15"/>
            <p:cNvSpPr txBox="1"/>
            <p:nvPr/>
          </p:nvSpPr>
          <p:spPr>
            <a:xfrm>
              <a:off x="1531986" y="497890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27E</a:t>
              </a:r>
              <a:endParaRPr lang="en-US" sz="588" dirty="0"/>
            </a:p>
          </p:txBody>
        </p:sp>
        <p:sp>
          <p:nvSpPr>
            <p:cNvPr id="34" name="svg0_16"/>
            <p:cNvSpPr/>
            <p:nvPr/>
          </p:nvSpPr>
          <p:spPr>
            <a:xfrm>
              <a:off x="1794876" y="4563862"/>
              <a:ext cx="161392" cy="400873"/>
            </a:xfrm>
            <a:prstGeom prst="rect">
              <a:avLst/>
            </a:prstGeom>
            <a:pattFill prst="wdUpDiag">
              <a:fgClr>
                <a:srgbClr val="7B1E2B"/>
              </a:fgClr>
              <a:bgClr>
                <a:srgbClr val="FFFFFF"/>
              </a:bgClr>
            </a:pattFill>
            <a:ln w="7874">
              <a:solidFill>
                <a:srgbClr val="7B1E2B"/>
              </a:solidFill>
              <a:prstDash val="solid"/>
            </a:ln>
          </p:spPr>
        </p:sp>
        <p:sp>
          <p:nvSpPr>
            <p:cNvPr id="35" name="svg0_17"/>
            <p:cNvSpPr txBox="1"/>
            <p:nvPr/>
          </p:nvSpPr>
          <p:spPr>
            <a:xfrm>
              <a:off x="1785366" y="4454957"/>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110</a:t>
              </a:r>
              <a:endParaRPr lang="en-US" sz="649" dirty="0"/>
            </a:p>
          </p:txBody>
        </p:sp>
        <p:sp>
          <p:nvSpPr>
            <p:cNvPr id="36" name="svg0_18"/>
            <p:cNvSpPr txBox="1"/>
            <p:nvPr/>
          </p:nvSpPr>
          <p:spPr>
            <a:xfrm>
              <a:off x="1793047" y="497890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28E</a:t>
              </a:r>
              <a:endParaRPr lang="en-US" sz="588" dirty="0"/>
            </a:p>
          </p:txBody>
        </p:sp>
        <p:sp>
          <p:nvSpPr>
            <p:cNvPr id="37" name="svg0_19"/>
            <p:cNvSpPr/>
            <p:nvPr/>
          </p:nvSpPr>
          <p:spPr>
            <a:xfrm>
              <a:off x="2055114" y="4450568"/>
              <a:ext cx="161300" cy="514259"/>
            </a:xfrm>
            <a:prstGeom prst="rect">
              <a:avLst/>
            </a:prstGeom>
            <a:pattFill prst="wdUpDiag">
              <a:fgClr>
                <a:srgbClr val="7B1E2B"/>
              </a:fgClr>
              <a:bgClr>
                <a:srgbClr val="FFFFFF"/>
              </a:bgClr>
            </a:pattFill>
            <a:ln w="7874">
              <a:solidFill>
                <a:srgbClr val="7B1E2B"/>
              </a:solidFill>
              <a:prstDash val="solid"/>
            </a:ln>
          </p:spPr>
        </p:sp>
        <p:sp>
          <p:nvSpPr>
            <p:cNvPr id="38" name="svg0_20"/>
            <p:cNvSpPr txBox="1"/>
            <p:nvPr/>
          </p:nvSpPr>
          <p:spPr>
            <a:xfrm>
              <a:off x="2044507" y="4341114"/>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142</a:t>
              </a:r>
              <a:endParaRPr lang="en-US" sz="649" dirty="0"/>
            </a:p>
          </p:txBody>
        </p:sp>
        <p:sp>
          <p:nvSpPr>
            <p:cNvPr id="39" name="svg0_21"/>
            <p:cNvSpPr txBox="1"/>
            <p:nvPr/>
          </p:nvSpPr>
          <p:spPr>
            <a:xfrm>
              <a:off x="2052279" y="497890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29E</a:t>
              </a:r>
              <a:endParaRPr lang="en-US" sz="588" dirty="0"/>
            </a:p>
          </p:txBody>
        </p:sp>
        <p:sp>
          <p:nvSpPr>
            <p:cNvPr id="40" name="svg0_22"/>
            <p:cNvSpPr/>
            <p:nvPr/>
          </p:nvSpPr>
          <p:spPr>
            <a:xfrm>
              <a:off x="2315261" y="4346326"/>
              <a:ext cx="161392" cy="618500"/>
            </a:xfrm>
            <a:prstGeom prst="rect">
              <a:avLst/>
            </a:prstGeom>
            <a:pattFill prst="wdUpDiag">
              <a:fgClr>
                <a:srgbClr val="7B1E2B"/>
              </a:fgClr>
              <a:bgClr>
                <a:srgbClr val="FFFFFF"/>
              </a:bgClr>
            </a:pattFill>
            <a:ln w="7874">
              <a:solidFill>
                <a:srgbClr val="7B1E2B"/>
              </a:solidFill>
              <a:prstDash val="solid"/>
            </a:ln>
          </p:spPr>
        </p:sp>
        <p:sp>
          <p:nvSpPr>
            <p:cNvPr id="41" name="svg0_23"/>
            <p:cNvSpPr txBox="1"/>
            <p:nvPr/>
          </p:nvSpPr>
          <p:spPr>
            <a:xfrm>
              <a:off x="2305568" y="4236964"/>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170</a:t>
              </a:r>
              <a:endParaRPr lang="en-US" sz="649" dirty="0"/>
            </a:p>
          </p:txBody>
        </p:sp>
        <p:sp>
          <p:nvSpPr>
            <p:cNvPr id="42" name="svg0_24"/>
            <p:cNvSpPr txBox="1"/>
            <p:nvPr/>
          </p:nvSpPr>
          <p:spPr>
            <a:xfrm>
              <a:off x="2313341" y="497890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30E</a:t>
              </a:r>
              <a:endParaRPr lang="en-US" sz="588" dirty="0"/>
            </a:p>
          </p:txBody>
        </p:sp>
        <p:sp>
          <p:nvSpPr>
            <p:cNvPr id="43" name="svg0_25"/>
            <p:cNvSpPr/>
            <p:nvPr/>
          </p:nvSpPr>
          <p:spPr>
            <a:xfrm>
              <a:off x="444764" y="4964826"/>
              <a:ext cx="2081266" cy="0"/>
            </a:xfrm>
            <a:prstGeom prst="line">
              <a:avLst/>
            </a:prstGeom>
            <a:noFill/>
            <a:ln w="6858">
              <a:solidFill>
                <a:srgbClr val="8C8C8C"/>
              </a:solidFill>
              <a:prstDash val="solid"/>
            </a:ln>
          </p:spPr>
        </p:sp>
      </p:grpSp>
      <p:grpSp>
        <p:nvGrpSpPr>
          <p:cNvPr id="144" name="Fig. 01 – biểu đồ"/>
          <p:cNvGrpSpPr/>
          <p:nvPr/>
        </p:nvGrpSpPr>
        <p:grpSpPr>
          <a:xfrm>
            <a:off x="383591" y="5225156"/>
            <a:ext cx="2199864" cy="556412"/>
            <a:chOff x="383591" y="5225156"/>
            <a:chExt cx="2199864" cy="556412"/>
          </a:xfrm>
        </p:grpSpPr>
        <p:sp>
          <p:nvSpPr>
            <p:cNvPr id="44" name="svg1_26"/>
            <p:cNvSpPr/>
            <p:nvPr/>
          </p:nvSpPr>
          <p:spPr>
            <a:xfrm>
              <a:off x="1300277" y="5242438"/>
              <a:ext cx="1225753" cy="422178"/>
            </a:xfrm>
            <a:prstGeom prst="rect">
              <a:avLst/>
            </a:prstGeom>
            <a:solidFill>
              <a:srgbClr val="F3F1F1"/>
            </a:solidFill>
            <a:ln/>
          </p:spPr>
        </p:sp>
        <p:sp>
          <p:nvSpPr>
            <p:cNvPr id="45" name="svg1_27"/>
            <p:cNvSpPr/>
            <p:nvPr/>
          </p:nvSpPr>
          <p:spPr>
            <a:xfrm>
              <a:off x="621426" y="5664617"/>
              <a:ext cx="1885036" cy="0"/>
            </a:xfrm>
            <a:prstGeom prst="line">
              <a:avLst/>
            </a:prstGeom>
            <a:noFill/>
            <a:ln w="4953">
              <a:solidFill>
                <a:srgbClr val="E4E4E4"/>
              </a:solidFill>
              <a:prstDash val="solid"/>
            </a:ln>
          </p:spPr>
        </p:sp>
        <p:sp>
          <p:nvSpPr>
            <p:cNvPr id="46" name="svg1_28"/>
            <p:cNvSpPr txBox="1"/>
            <p:nvPr/>
          </p:nvSpPr>
          <p:spPr>
            <a:xfrm>
              <a:off x="383591" y="5613959"/>
              <a:ext cx="224851"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−20%</a:t>
              </a:r>
              <a:endParaRPr lang="en-US" sz="557" dirty="0"/>
            </a:p>
          </p:txBody>
        </p:sp>
        <p:sp>
          <p:nvSpPr>
            <p:cNvPr id="47" name="svg1_29"/>
            <p:cNvSpPr/>
            <p:nvPr/>
          </p:nvSpPr>
          <p:spPr>
            <a:xfrm>
              <a:off x="621426" y="5503682"/>
              <a:ext cx="1885036" cy="0"/>
            </a:xfrm>
            <a:prstGeom prst="line">
              <a:avLst/>
            </a:prstGeom>
            <a:noFill/>
            <a:ln w="4953">
              <a:solidFill>
                <a:srgbClr val="E4E4E4"/>
              </a:solidFill>
              <a:prstDash val="solid"/>
            </a:ln>
          </p:spPr>
        </p:sp>
        <p:sp>
          <p:nvSpPr>
            <p:cNvPr id="48" name="svg1_30"/>
            <p:cNvSpPr txBox="1"/>
            <p:nvPr/>
          </p:nvSpPr>
          <p:spPr>
            <a:xfrm>
              <a:off x="464424" y="5452933"/>
              <a:ext cx="143927"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0%</a:t>
              </a:r>
              <a:endParaRPr lang="en-US" sz="557" dirty="0"/>
            </a:p>
          </p:txBody>
        </p:sp>
        <p:sp>
          <p:nvSpPr>
            <p:cNvPr id="49" name="svg1_31"/>
            <p:cNvSpPr/>
            <p:nvPr/>
          </p:nvSpPr>
          <p:spPr>
            <a:xfrm>
              <a:off x="621426" y="5342565"/>
              <a:ext cx="1885036" cy="0"/>
            </a:xfrm>
            <a:prstGeom prst="line">
              <a:avLst/>
            </a:prstGeom>
            <a:noFill/>
            <a:ln w="4953">
              <a:solidFill>
                <a:srgbClr val="E4E4E4"/>
              </a:solidFill>
              <a:prstDash val="solid"/>
            </a:ln>
          </p:spPr>
        </p:sp>
        <p:sp>
          <p:nvSpPr>
            <p:cNvPr id="50" name="svg1_32"/>
            <p:cNvSpPr txBox="1"/>
            <p:nvPr/>
          </p:nvSpPr>
          <p:spPr>
            <a:xfrm>
              <a:off x="423642" y="5291907"/>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20%</a:t>
              </a:r>
              <a:endParaRPr lang="en-US" sz="557" dirty="0"/>
            </a:p>
          </p:txBody>
        </p:sp>
        <p:sp>
          <p:nvSpPr>
            <p:cNvPr id="51" name="svg1_33"/>
            <p:cNvSpPr/>
            <p:nvPr/>
          </p:nvSpPr>
          <p:spPr>
            <a:xfrm>
              <a:off x="621426" y="5503682"/>
              <a:ext cx="1885036" cy="0"/>
            </a:xfrm>
            <a:prstGeom prst="line">
              <a:avLst/>
            </a:prstGeom>
            <a:noFill/>
            <a:ln w="6858">
              <a:solidFill>
                <a:srgbClr val="8C8C8C"/>
              </a:solidFill>
              <a:prstDash val="solid"/>
            </a:ln>
          </p:spPr>
        </p:sp>
        <p:sp>
          <p:nvSpPr>
            <p:cNvPr id="52" name="svg1_34"/>
            <p:cNvSpPr txBox="1"/>
            <p:nvPr/>
          </p:nvSpPr>
          <p:spPr>
            <a:xfrm>
              <a:off x="554035" y="567677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23A</a:t>
              </a:r>
              <a:endParaRPr lang="en-US" sz="588" dirty="0"/>
            </a:p>
          </p:txBody>
        </p:sp>
        <p:sp>
          <p:nvSpPr>
            <p:cNvPr id="53" name="svg1_35"/>
            <p:cNvSpPr txBox="1"/>
            <p:nvPr/>
          </p:nvSpPr>
          <p:spPr>
            <a:xfrm>
              <a:off x="818114" y="567677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24A</a:t>
              </a:r>
              <a:endParaRPr lang="en-US" sz="588" dirty="0"/>
            </a:p>
          </p:txBody>
        </p:sp>
        <p:sp>
          <p:nvSpPr>
            <p:cNvPr id="54" name="svg1_36"/>
            <p:cNvSpPr txBox="1"/>
            <p:nvPr/>
          </p:nvSpPr>
          <p:spPr>
            <a:xfrm>
              <a:off x="1081187" y="5676778"/>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25A</a:t>
              </a:r>
              <a:endParaRPr lang="en-US" sz="588" dirty="0"/>
            </a:p>
          </p:txBody>
        </p:sp>
        <p:sp>
          <p:nvSpPr>
            <p:cNvPr id="55" name="svg1_37"/>
            <p:cNvSpPr txBox="1"/>
            <p:nvPr/>
          </p:nvSpPr>
          <p:spPr>
            <a:xfrm>
              <a:off x="1349380" y="567677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26E</a:t>
              </a:r>
              <a:endParaRPr lang="en-US" sz="588" dirty="0"/>
            </a:p>
          </p:txBody>
        </p:sp>
        <p:sp>
          <p:nvSpPr>
            <p:cNvPr id="56" name="svg1_38"/>
            <p:cNvSpPr txBox="1"/>
            <p:nvPr/>
          </p:nvSpPr>
          <p:spPr>
            <a:xfrm>
              <a:off x="1612453" y="567677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27E</a:t>
              </a:r>
              <a:endParaRPr lang="en-US" sz="588" dirty="0"/>
            </a:p>
          </p:txBody>
        </p:sp>
        <p:sp>
          <p:nvSpPr>
            <p:cNvPr id="57" name="svg1_39"/>
            <p:cNvSpPr txBox="1"/>
            <p:nvPr/>
          </p:nvSpPr>
          <p:spPr>
            <a:xfrm>
              <a:off x="1876532" y="567677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28E</a:t>
              </a:r>
              <a:endParaRPr lang="en-US" sz="588" dirty="0"/>
            </a:p>
          </p:txBody>
        </p:sp>
        <p:sp>
          <p:nvSpPr>
            <p:cNvPr id="58" name="svg1_40"/>
            <p:cNvSpPr txBox="1"/>
            <p:nvPr/>
          </p:nvSpPr>
          <p:spPr>
            <a:xfrm>
              <a:off x="2139605" y="567677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29E</a:t>
              </a:r>
              <a:endParaRPr lang="en-US" sz="588" dirty="0"/>
            </a:p>
          </p:txBody>
        </p:sp>
        <p:sp>
          <p:nvSpPr>
            <p:cNvPr id="59" name="svg1_41"/>
            <p:cNvSpPr txBox="1"/>
            <p:nvPr/>
          </p:nvSpPr>
          <p:spPr>
            <a:xfrm>
              <a:off x="2403775" y="5676778"/>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30E</a:t>
              </a:r>
              <a:endParaRPr lang="en-US" sz="588" dirty="0"/>
            </a:p>
          </p:txBody>
        </p:sp>
        <p:sp>
          <p:nvSpPr>
            <p:cNvPr id="60" name="svg1_42"/>
            <p:cNvSpPr/>
            <p:nvPr/>
          </p:nvSpPr>
          <p:spPr>
            <a:xfrm>
              <a:off x="640994" y="5340828"/>
              <a:ext cx="1845716" cy="277063"/>
            </a:xfrm>
            <a:custGeom>
              <a:avLst/>
              <a:gdLst/>
              <a:ahLst/>
              <a:cxnLst/>
              <a:rect l="l" t="t" r="r" b="b"/>
              <a:pathLst>
                <a:path w="1845716" h="277063">
                  <a:moveTo>
                    <a:pt x="0" y="277063"/>
                  </a:moveTo>
                  <a:lnTo>
                    <a:pt x="263713" y="110277"/>
                  </a:lnTo>
                  <a:lnTo>
                    <a:pt x="527334" y="32461"/>
                  </a:lnTo>
                  <a:lnTo>
                    <a:pt x="791047" y="18837"/>
                  </a:lnTo>
                  <a:lnTo>
                    <a:pt x="1054669" y="18654"/>
                  </a:lnTo>
                  <a:lnTo>
                    <a:pt x="1318473" y="33284"/>
                  </a:lnTo>
                  <a:lnTo>
                    <a:pt x="1582003" y="9693"/>
                  </a:lnTo>
                  <a:lnTo>
                    <a:pt x="1845716" y="0"/>
                  </a:lnTo>
                </a:path>
              </a:pathLst>
            </a:custGeom>
            <a:noFill/>
            <a:ln w="15748">
              <a:solidFill>
                <a:srgbClr val="7B1E2B"/>
              </a:solidFill>
              <a:prstDash val="solid"/>
            </a:ln>
          </p:spPr>
        </p:sp>
        <p:sp>
          <p:nvSpPr>
            <p:cNvPr id="61" name="svg1_43"/>
            <p:cNvSpPr/>
            <p:nvPr/>
          </p:nvSpPr>
          <p:spPr>
            <a:xfrm>
              <a:off x="620420" y="5597408"/>
              <a:ext cx="41239" cy="41239"/>
            </a:xfrm>
            <a:prstGeom prst="ellipse">
              <a:avLst/>
            </a:prstGeom>
            <a:solidFill>
              <a:srgbClr val="7B1E2B"/>
            </a:solidFill>
            <a:ln w="7874">
              <a:solidFill>
                <a:srgbClr val="FFFFFF"/>
              </a:solidFill>
              <a:prstDash val="solid"/>
            </a:ln>
          </p:spPr>
        </p:sp>
        <p:sp>
          <p:nvSpPr>
            <p:cNvPr id="62" name="svg1_44"/>
            <p:cNvSpPr/>
            <p:nvPr/>
          </p:nvSpPr>
          <p:spPr>
            <a:xfrm>
              <a:off x="884225" y="5430622"/>
              <a:ext cx="41239" cy="41239"/>
            </a:xfrm>
            <a:prstGeom prst="ellipse">
              <a:avLst/>
            </a:prstGeom>
            <a:solidFill>
              <a:srgbClr val="7B1E2B"/>
            </a:solidFill>
            <a:ln w="7874">
              <a:solidFill>
                <a:srgbClr val="FFFFFF"/>
              </a:solidFill>
              <a:prstDash val="solid"/>
            </a:ln>
          </p:spPr>
        </p:sp>
        <p:sp>
          <p:nvSpPr>
            <p:cNvPr id="63" name="svg1_45"/>
            <p:cNvSpPr/>
            <p:nvPr/>
          </p:nvSpPr>
          <p:spPr>
            <a:xfrm>
              <a:off x="1147755" y="5352806"/>
              <a:ext cx="41239" cy="41239"/>
            </a:xfrm>
            <a:prstGeom prst="ellipse">
              <a:avLst/>
            </a:prstGeom>
            <a:solidFill>
              <a:srgbClr val="7B1E2B"/>
            </a:solidFill>
            <a:ln w="7874">
              <a:solidFill>
                <a:srgbClr val="FFFFFF"/>
              </a:solidFill>
              <a:prstDash val="solid"/>
            </a:ln>
          </p:spPr>
        </p:sp>
        <p:sp>
          <p:nvSpPr>
            <p:cNvPr id="64" name="svg1_46"/>
            <p:cNvSpPr/>
            <p:nvPr/>
          </p:nvSpPr>
          <p:spPr>
            <a:xfrm>
              <a:off x="1411468" y="5339182"/>
              <a:ext cx="41239" cy="41239"/>
            </a:xfrm>
            <a:prstGeom prst="ellipse">
              <a:avLst/>
            </a:prstGeom>
            <a:solidFill>
              <a:srgbClr val="7B1E2B"/>
            </a:solidFill>
            <a:ln w="7874">
              <a:solidFill>
                <a:srgbClr val="FFFFFF"/>
              </a:solidFill>
              <a:prstDash val="solid"/>
            </a:ln>
          </p:spPr>
        </p:sp>
        <p:sp>
          <p:nvSpPr>
            <p:cNvPr id="65" name="svg1_47"/>
            <p:cNvSpPr/>
            <p:nvPr/>
          </p:nvSpPr>
          <p:spPr>
            <a:xfrm>
              <a:off x="1675181" y="5338999"/>
              <a:ext cx="41239" cy="41239"/>
            </a:xfrm>
            <a:prstGeom prst="ellipse">
              <a:avLst/>
            </a:prstGeom>
            <a:solidFill>
              <a:srgbClr val="7B1E2B"/>
            </a:solidFill>
            <a:ln w="7874">
              <a:solidFill>
                <a:srgbClr val="FFFFFF"/>
              </a:solidFill>
              <a:prstDash val="solid"/>
            </a:ln>
          </p:spPr>
        </p:sp>
        <p:sp>
          <p:nvSpPr>
            <p:cNvPr id="66" name="svg1_48"/>
            <p:cNvSpPr/>
            <p:nvPr/>
          </p:nvSpPr>
          <p:spPr>
            <a:xfrm>
              <a:off x="1938894" y="5353538"/>
              <a:ext cx="41239" cy="41239"/>
            </a:xfrm>
            <a:prstGeom prst="ellipse">
              <a:avLst/>
            </a:prstGeom>
            <a:solidFill>
              <a:srgbClr val="7B1E2B"/>
            </a:solidFill>
            <a:ln w="7874">
              <a:solidFill>
                <a:srgbClr val="FFFFFF"/>
              </a:solidFill>
              <a:prstDash val="solid"/>
            </a:ln>
          </p:spPr>
        </p:sp>
        <p:sp>
          <p:nvSpPr>
            <p:cNvPr id="67" name="svg1_49"/>
            <p:cNvSpPr/>
            <p:nvPr/>
          </p:nvSpPr>
          <p:spPr>
            <a:xfrm>
              <a:off x="2202424" y="5330038"/>
              <a:ext cx="41239" cy="41239"/>
            </a:xfrm>
            <a:prstGeom prst="ellipse">
              <a:avLst/>
            </a:prstGeom>
            <a:solidFill>
              <a:srgbClr val="7B1E2B"/>
            </a:solidFill>
            <a:ln w="7874">
              <a:solidFill>
                <a:srgbClr val="FFFFFF"/>
              </a:solidFill>
              <a:prstDash val="solid"/>
            </a:ln>
          </p:spPr>
        </p:sp>
        <p:sp>
          <p:nvSpPr>
            <p:cNvPr id="68" name="svg1_50"/>
            <p:cNvSpPr/>
            <p:nvPr/>
          </p:nvSpPr>
          <p:spPr>
            <a:xfrm>
              <a:off x="2466228" y="5320254"/>
              <a:ext cx="41239" cy="41239"/>
            </a:xfrm>
            <a:prstGeom prst="ellipse">
              <a:avLst/>
            </a:prstGeom>
            <a:solidFill>
              <a:srgbClr val="7B1E2B"/>
            </a:solidFill>
            <a:ln w="7874">
              <a:solidFill>
                <a:srgbClr val="FFFFFF"/>
              </a:solidFill>
              <a:prstDash val="solid"/>
            </a:ln>
          </p:spPr>
        </p:sp>
        <p:sp>
          <p:nvSpPr>
            <p:cNvPr id="69" name="svg1_51"/>
            <p:cNvSpPr txBox="1"/>
            <p:nvPr/>
          </p:nvSpPr>
          <p:spPr>
            <a:xfrm>
              <a:off x="680405" y="5576560"/>
              <a:ext cx="231709" cy="104790"/>
            </a:xfrm>
            <a:prstGeom prst="rect">
              <a:avLst/>
            </a:prstGeom>
            <a:no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−14%</a:t>
              </a:r>
              <a:endParaRPr lang="en-US" sz="588" dirty="0"/>
            </a:p>
          </p:txBody>
        </p:sp>
        <p:sp>
          <p:nvSpPr>
            <p:cNvPr id="70" name="svg1_52"/>
            <p:cNvSpPr txBox="1"/>
            <p:nvPr/>
          </p:nvSpPr>
          <p:spPr>
            <a:xfrm>
              <a:off x="1075517" y="5257526"/>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16%</a:t>
              </a:r>
              <a:endParaRPr lang="en-US" sz="588" dirty="0"/>
            </a:p>
          </p:txBody>
        </p:sp>
        <p:sp>
          <p:nvSpPr>
            <p:cNvPr id="71" name="svg1_53"/>
            <p:cNvSpPr txBox="1"/>
            <p:nvPr/>
          </p:nvSpPr>
          <p:spPr>
            <a:xfrm>
              <a:off x="1339505" y="5243810"/>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18%</a:t>
              </a:r>
              <a:endParaRPr lang="en-US" sz="588" dirty="0"/>
            </a:p>
          </p:txBody>
        </p:sp>
        <p:sp>
          <p:nvSpPr>
            <p:cNvPr id="72" name="svg1_54"/>
            <p:cNvSpPr txBox="1"/>
            <p:nvPr/>
          </p:nvSpPr>
          <p:spPr>
            <a:xfrm>
              <a:off x="1866748" y="5391028"/>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16%</a:t>
              </a:r>
              <a:endParaRPr lang="en-US" sz="588" dirty="0"/>
            </a:p>
          </p:txBody>
        </p:sp>
        <p:sp>
          <p:nvSpPr>
            <p:cNvPr id="73" name="svg1_55"/>
            <p:cNvSpPr txBox="1"/>
            <p:nvPr/>
          </p:nvSpPr>
          <p:spPr>
            <a:xfrm>
              <a:off x="2393991" y="5225156"/>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20%</a:t>
              </a:r>
              <a:endParaRPr lang="en-US" sz="588" dirty="0"/>
            </a:p>
          </p:txBody>
        </p:sp>
      </p:grpSp>
      <p:grpSp>
        <p:nvGrpSpPr>
          <p:cNvPr id="145" name="Fig. 02 – biểu đồ"/>
          <p:cNvGrpSpPr/>
          <p:nvPr/>
        </p:nvGrpSpPr>
        <p:grpSpPr>
          <a:xfrm>
            <a:off x="342534" y="6466545"/>
            <a:ext cx="2186788" cy="949056"/>
            <a:chOff x="342534" y="6466545"/>
            <a:chExt cx="2186788" cy="949056"/>
          </a:xfrm>
        </p:grpSpPr>
        <p:sp>
          <p:nvSpPr>
            <p:cNvPr id="74" name="svg2_56"/>
            <p:cNvSpPr/>
            <p:nvPr/>
          </p:nvSpPr>
          <p:spPr>
            <a:xfrm>
              <a:off x="1112368" y="6567312"/>
              <a:ext cx="0" cy="736275"/>
            </a:xfrm>
            <a:prstGeom prst="line">
              <a:avLst/>
            </a:prstGeom>
            <a:noFill/>
            <a:ln w="4953">
              <a:solidFill>
                <a:srgbClr val="E4E4E4"/>
              </a:solidFill>
              <a:prstDash val="solid"/>
            </a:ln>
          </p:spPr>
        </p:sp>
        <p:sp>
          <p:nvSpPr>
            <p:cNvPr id="75" name="svg2_57"/>
            <p:cNvSpPr txBox="1"/>
            <p:nvPr/>
          </p:nvSpPr>
          <p:spPr>
            <a:xfrm>
              <a:off x="1072683" y="7310811"/>
              <a:ext cx="81564"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0</a:t>
              </a:r>
              <a:endParaRPr lang="en-US" sz="557" dirty="0"/>
            </a:p>
          </p:txBody>
        </p:sp>
        <p:sp>
          <p:nvSpPr>
            <p:cNvPr id="76" name="svg2_58"/>
            <p:cNvSpPr/>
            <p:nvPr/>
          </p:nvSpPr>
          <p:spPr>
            <a:xfrm>
              <a:off x="1305763" y="6567312"/>
              <a:ext cx="0" cy="736275"/>
            </a:xfrm>
            <a:prstGeom prst="line">
              <a:avLst/>
            </a:prstGeom>
            <a:noFill/>
            <a:ln w="4953">
              <a:solidFill>
                <a:srgbClr val="E4E4E4"/>
              </a:solidFill>
              <a:prstDash val="solid"/>
            </a:ln>
          </p:spPr>
        </p:sp>
        <p:sp>
          <p:nvSpPr>
            <p:cNvPr id="77" name="svg2_59"/>
            <p:cNvSpPr txBox="1"/>
            <p:nvPr/>
          </p:nvSpPr>
          <p:spPr>
            <a:xfrm>
              <a:off x="1245779"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10</a:t>
              </a:r>
              <a:endParaRPr lang="en-US" sz="557" dirty="0"/>
            </a:p>
          </p:txBody>
        </p:sp>
        <p:sp>
          <p:nvSpPr>
            <p:cNvPr id="78" name="svg2_60"/>
            <p:cNvSpPr/>
            <p:nvPr/>
          </p:nvSpPr>
          <p:spPr>
            <a:xfrm>
              <a:off x="1499433" y="6567312"/>
              <a:ext cx="0" cy="736275"/>
            </a:xfrm>
            <a:prstGeom prst="line">
              <a:avLst/>
            </a:prstGeom>
            <a:noFill/>
            <a:ln w="4953">
              <a:solidFill>
                <a:srgbClr val="E4E4E4"/>
              </a:solidFill>
              <a:prstDash val="solid"/>
            </a:ln>
          </p:spPr>
        </p:sp>
        <p:sp>
          <p:nvSpPr>
            <p:cNvPr id="79" name="svg2_61"/>
            <p:cNvSpPr txBox="1"/>
            <p:nvPr/>
          </p:nvSpPr>
          <p:spPr>
            <a:xfrm>
              <a:off x="1439083"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20</a:t>
              </a:r>
              <a:endParaRPr lang="en-US" sz="557" dirty="0"/>
            </a:p>
          </p:txBody>
        </p:sp>
        <p:sp>
          <p:nvSpPr>
            <p:cNvPr id="80" name="svg2_62"/>
            <p:cNvSpPr/>
            <p:nvPr/>
          </p:nvSpPr>
          <p:spPr>
            <a:xfrm>
              <a:off x="1692920" y="6567312"/>
              <a:ext cx="0" cy="736275"/>
            </a:xfrm>
            <a:prstGeom prst="line">
              <a:avLst/>
            </a:prstGeom>
            <a:noFill/>
            <a:ln w="4953">
              <a:solidFill>
                <a:srgbClr val="E4E4E4"/>
              </a:solidFill>
              <a:prstDash val="solid"/>
            </a:ln>
          </p:spPr>
        </p:sp>
        <p:sp>
          <p:nvSpPr>
            <p:cNvPr id="81" name="svg2_63"/>
            <p:cNvSpPr txBox="1"/>
            <p:nvPr/>
          </p:nvSpPr>
          <p:spPr>
            <a:xfrm>
              <a:off x="1632478"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30</a:t>
              </a:r>
              <a:endParaRPr lang="en-US" sz="557" dirty="0"/>
            </a:p>
          </p:txBody>
        </p:sp>
        <p:sp>
          <p:nvSpPr>
            <p:cNvPr id="82" name="svg2_64"/>
            <p:cNvSpPr/>
            <p:nvPr/>
          </p:nvSpPr>
          <p:spPr>
            <a:xfrm>
              <a:off x="1886499" y="6567312"/>
              <a:ext cx="0" cy="736275"/>
            </a:xfrm>
            <a:prstGeom prst="line">
              <a:avLst/>
            </a:prstGeom>
            <a:noFill/>
            <a:ln w="4953">
              <a:solidFill>
                <a:srgbClr val="E4E4E4"/>
              </a:solidFill>
              <a:prstDash val="solid"/>
            </a:ln>
          </p:spPr>
        </p:sp>
        <p:sp>
          <p:nvSpPr>
            <p:cNvPr id="83" name="svg2_65"/>
            <p:cNvSpPr txBox="1"/>
            <p:nvPr/>
          </p:nvSpPr>
          <p:spPr>
            <a:xfrm>
              <a:off x="1826880"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40</a:t>
              </a:r>
              <a:endParaRPr lang="en-US" sz="557" dirty="0"/>
            </a:p>
          </p:txBody>
        </p:sp>
        <p:sp>
          <p:nvSpPr>
            <p:cNvPr id="84" name="svg2_66"/>
            <p:cNvSpPr/>
            <p:nvPr/>
          </p:nvSpPr>
          <p:spPr>
            <a:xfrm>
              <a:off x="2079986" y="6567312"/>
              <a:ext cx="0" cy="736275"/>
            </a:xfrm>
            <a:prstGeom prst="line">
              <a:avLst/>
            </a:prstGeom>
            <a:noFill/>
            <a:ln w="4953">
              <a:solidFill>
                <a:srgbClr val="E4E4E4"/>
              </a:solidFill>
              <a:prstDash val="solid"/>
            </a:ln>
          </p:spPr>
        </p:sp>
        <p:sp>
          <p:nvSpPr>
            <p:cNvPr id="85" name="svg2_67"/>
            <p:cNvSpPr txBox="1"/>
            <p:nvPr/>
          </p:nvSpPr>
          <p:spPr>
            <a:xfrm>
              <a:off x="2020367"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50</a:t>
              </a:r>
              <a:endParaRPr lang="en-US" sz="557" dirty="0"/>
            </a:p>
          </p:txBody>
        </p:sp>
        <p:sp>
          <p:nvSpPr>
            <p:cNvPr id="86" name="svg2_68"/>
            <p:cNvSpPr/>
            <p:nvPr/>
          </p:nvSpPr>
          <p:spPr>
            <a:xfrm>
              <a:off x="2273656" y="6567312"/>
              <a:ext cx="0" cy="736275"/>
            </a:xfrm>
            <a:prstGeom prst="line">
              <a:avLst/>
            </a:prstGeom>
            <a:noFill/>
            <a:ln w="4953">
              <a:solidFill>
                <a:srgbClr val="E4E4E4"/>
              </a:solidFill>
              <a:prstDash val="solid"/>
            </a:ln>
          </p:spPr>
        </p:sp>
        <p:sp>
          <p:nvSpPr>
            <p:cNvPr id="87" name="svg2_69"/>
            <p:cNvSpPr txBox="1"/>
            <p:nvPr/>
          </p:nvSpPr>
          <p:spPr>
            <a:xfrm>
              <a:off x="2213671"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60</a:t>
              </a:r>
              <a:endParaRPr lang="en-US" sz="557" dirty="0"/>
            </a:p>
          </p:txBody>
        </p:sp>
        <p:sp>
          <p:nvSpPr>
            <p:cNvPr id="88" name="svg2_70"/>
            <p:cNvSpPr/>
            <p:nvPr/>
          </p:nvSpPr>
          <p:spPr>
            <a:xfrm>
              <a:off x="2467051" y="6567312"/>
              <a:ext cx="0" cy="736275"/>
            </a:xfrm>
            <a:prstGeom prst="line">
              <a:avLst/>
            </a:prstGeom>
            <a:noFill/>
            <a:ln w="4953">
              <a:solidFill>
                <a:srgbClr val="E4E4E4"/>
              </a:solidFill>
              <a:prstDash val="solid"/>
            </a:ln>
          </p:spPr>
        </p:sp>
        <p:sp>
          <p:nvSpPr>
            <p:cNvPr id="89" name="svg2_71"/>
            <p:cNvSpPr txBox="1"/>
            <p:nvPr/>
          </p:nvSpPr>
          <p:spPr>
            <a:xfrm>
              <a:off x="2407067" y="7310811"/>
              <a:ext cx="12225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70</a:t>
              </a:r>
              <a:endParaRPr lang="en-US" sz="557" dirty="0"/>
            </a:p>
          </p:txBody>
        </p:sp>
        <p:sp>
          <p:nvSpPr>
            <p:cNvPr id="90" name="svg2_72"/>
            <p:cNvSpPr txBox="1"/>
            <p:nvPr/>
          </p:nvSpPr>
          <p:spPr>
            <a:xfrm>
              <a:off x="897666" y="6593190"/>
              <a:ext cx="179131"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DCF</a:t>
              </a:r>
              <a:endParaRPr lang="en-US" sz="587" dirty="0"/>
            </a:p>
          </p:txBody>
        </p:sp>
        <p:sp>
          <p:nvSpPr>
            <p:cNvPr id="91" name="svg2_73"/>
            <p:cNvSpPr/>
            <p:nvPr/>
          </p:nvSpPr>
          <p:spPr>
            <a:xfrm>
              <a:off x="1674724" y="6596756"/>
              <a:ext cx="602407" cy="88331"/>
            </a:xfrm>
            <a:prstGeom prst="rect">
              <a:avLst/>
            </a:prstGeom>
            <a:solidFill>
              <a:srgbClr val="404040"/>
            </a:solidFill>
            <a:ln/>
          </p:spPr>
        </p:sp>
        <p:sp>
          <p:nvSpPr>
            <p:cNvPr id="92" name="svg2_74"/>
            <p:cNvSpPr txBox="1"/>
            <p:nvPr/>
          </p:nvSpPr>
          <p:spPr>
            <a:xfrm>
              <a:off x="1474470" y="6593190"/>
              <a:ext cx="183154"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29,1</a:t>
              </a:r>
              <a:endParaRPr lang="en-US" sz="557" dirty="0"/>
            </a:p>
          </p:txBody>
        </p:sp>
        <p:sp>
          <p:nvSpPr>
            <p:cNvPr id="93" name="svg2_75"/>
            <p:cNvSpPr txBox="1"/>
            <p:nvPr/>
          </p:nvSpPr>
          <p:spPr>
            <a:xfrm>
              <a:off x="2296241" y="6593190"/>
              <a:ext cx="183154"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60,2</a:t>
              </a:r>
              <a:endParaRPr lang="en-US" sz="557" dirty="0"/>
            </a:p>
          </p:txBody>
        </p:sp>
        <p:sp>
          <p:nvSpPr>
            <p:cNvPr id="94" name="svg2_76"/>
            <p:cNvSpPr/>
            <p:nvPr/>
          </p:nvSpPr>
          <p:spPr>
            <a:xfrm>
              <a:off x="1907896" y="6584960"/>
              <a:ext cx="0" cy="111923"/>
            </a:xfrm>
            <a:prstGeom prst="line">
              <a:avLst/>
            </a:prstGeom>
            <a:noFill/>
            <a:ln w="13716">
              <a:solidFill>
                <a:srgbClr val="FFFFFF"/>
              </a:solidFill>
              <a:prstDash val="solid"/>
            </a:ln>
          </p:spPr>
        </p:sp>
        <p:sp>
          <p:nvSpPr>
            <p:cNvPr id="95" name="svg2_77"/>
            <p:cNvSpPr txBox="1"/>
            <p:nvPr/>
          </p:nvSpPr>
          <p:spPr>
            <a:xfrm>
              <a:off x="645749" y="6769852"/>
              <a:ext cx="427299"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VC Method</a:t>
              </a:r>
              <a:endParaRPr lang="en-US" sz="587" dirty="0"/>
            </a:p>
          </p:txBody>
        </p:sp>
        <p:sp>
          <p:nvSpPr>
            <p:cNvPr id="96" name="svg2_78"/>
            <p:cNvSpPr/>
            <p:nvPr/>
          </p:nvSpPr>
          <p:spPr>
            <a:xfrm>
              <a:off x="1333104" y="6773418"/>
              <a:ext cx="568208" cy="88422"/>
            </a:xfrm>
            <a:prstGeom prst="rect">
              <a:avLst/>
            </a:prstGeom>
            <a:solidFill>
              <a:srgbClr val="A3A3A3"/>
            </a:solidFill>
            <a:ln/>
          </p:spPr>
        </p:sp>
        <p:sp>
          <p:nvSpPr>
            <p:cNvPr id="97" name="svg2_79"/>
            <p:cNvSpPr txBox="1"/>
            <p:nvPr/>
          </p:nvSpPr>
          <p:spPr>
            <a:xfrm>
              <a:off x="1132850" y="6769852"/>
              <a:ext cx="183154"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11,4</a:t>
              </a:r>
              <a:endParaRPr lang="en-US" sz="557" dirty="0"/>
            </a:p>
          </p:txBody>
        </p:sp>
        <p:sp>
          <p:nvSpPr>
            <p:cNvPr id="98" name="svg2_80"/>
            <p:cNvSpPr txBox="1"/>
            <p:nvPr/>
          </p:nvSpPr>
          <p:spPr>
            <a:xfrm>
              <a:off x="1921246" y="6769852"/>
              <a:ext cx="183154"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40,8</a:t>
              </a:r>
              <a:endParaRPr lang="en-US" sz="557" dirty="0"/>
            </a:p>
          </p:txBody>
        </p:sp>
        <p:sp>
          <p:nvSpPr>
            <p:cNvPr id="99" name="svg2_81"/>
            <p:cNvSpPr/>
            <p:nvPr/>
          </p:nvSpPr>
          <p:spPr>
            <a:xfrm>
              <a:off x="1601937" y="6761622"/>
              <a:ext cx="0" cy="111923"/>
            </a:xfrm>
            <a:prstGeom prst="line">
              <a:avLst/>
            </a:prstGeom>
            <a:noFill/>
            <a:ln w="13716">
              <a:solidFill>
                <a:srgbClr val="404040"/>
              </a:solidFill>
              <a:prstDash val="solid"/>
            </a:ln>
          </p:spPr>
        </p:sp>
        <p:sp>
          <p:nvSpPr>
            <p:cNvPr id="100" name="svg2_82"/>
            <p:cNvSpPr txBox="1"/>
            <p:nvPr/>
          </p:nvSpPr>
          <p:spPr>
            <a:xfrm>
              <a:off x="469727" y="6946605"/>
              <a:ext cx="607802"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Multiples 2025A</a:t>
              </a:r>
              <a:endParaRPr lang="en-US" sz="587" dirty="0"/>
            </a:p>
          </p:txBody>
        </p:sp>
        <p:sp>
          <p:nvSpPr>
            <p:cNvPr id="101" name="svg2_83"/>
            <p:cNvSpPr/>
            <p:nvPr/>
          </p:nvSpPr>
          <p:spPr>
            <a:xfrm>
              <a:off x="1454170" y="6950080"/>
              <a:ext cx="509138" cy="88422"/>
            </a:xfrm>
            <a:prstGeom prst="rect">
              <a:avLst/>
            </a:prstGeom>
            <a:solidFill>
              <a:srgbClr val="D0D0D0"/>
            </a:solidFill>
            <a:ln/>
          </p:spPr>
        </p:sp>
        <p:sp>
          <p:nvSpPr>
            <p:cNvPr id="102" name="svg2_84"/>
            <p:cNvSpPr txBox="1"/>
            <p:nvPr/>
          </p:nvSpPr>
          <p:spPr>
            <a:xfrm>
              <a:off x="1253551" y="6946605"/>
              <a:ext cx="183154"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17,7</a:t>
              </a:r>
              <a:endParaRPr lang="en-US" sz="557" dirty="0"/>
            </a:p>
          </p:txBody>
        </p:sp>
        <p:sp>
          <p:nvSpPr>
            <p:cNvPr id="103" name="svg2_85"/>
            <p:cNvSpPr txBox="1"/>
            <p:nvPr/>
          </p:nvSpPr>
          <p:spPr>
            <a:xfrm>
              <a:off x="1983059" y="6946605"/>
              <a:ext cx="183154"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44,0</a:t>
              </a:r>
              <a:endParaRPr lang="en-US" sz="557" dirty="0"/>
            </a:p>
          </p:txBody>
        </p:sp>
        <p:sp>
          <p:nvSpPr>
            <p:cNvPr id="104" name="svg2_86"/>
            <p:cNvSpPr/>
            <p:nvPr/>
          </p:nvSpPr>
          <p:spPr>
            <a:xfrm>
              <a:off x="1648663" y="6938376"/>
              <a:ext cx="0" cy="111923"/>
            </a:xfrm>
            <a:prstGeom prst="line">
              <a:avLst/>
            </a:prstGeom>
            <a:noFill/>
            <a:ln w="13716">
              <a:solidFill>
                <a:srgbClr val="404040"/>
              </a:solidFill>
              <a:prstDash val="solid"/>
            </a:ln>
          </p:spPr>
        </p:sp>
        <p:sp>
          <p:nvSpPr>
            <p:cNvPr id="105" name="svg2_87"/>
            <p:cNvSpPr txBox="1"/>
            <p:nvPr/>
          </p:nvSpPr>
          <p:spPr>
            <a:xfrm>
              <a:off x="342534" y="7123267"/>
              <a:ext cx="73078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Bình quân 40/40/20</a:t>
              </a:r>
              <a:endParaRPr lang="en-US" sz="587" dirty="0"/>
            </a:p>
          </p:txBody>
        </p:sp>
        <p:sp>
          <p:nvSpPr>
            <p:cNvPr id="106" name="svg2_88"/>
            <p:cNvSpPr/>
            <p:nvPr/>
          </p:nvSpPr>
          <p:spPr>
            <a:xfrm>
              <a:off x="1493947" y="7126834"/>
              <a:ext cx="570037" cy="88422"/>
            </a:xfrm>
            <a:prstGeom prst="rect">
              <a:avLst/>
            </a:prstGeom>
            <a:solidFill>
              <a:srgbClr val="7B1E2B"/>
            </a:solidFill>
            <a:ln/>
          </p:spPr>
        </p:sp>
        <p:sp>
          <p:nvSpPr>
            <p:cNvPr id="107" name="svg2_89"/>
            <p:cNvSpPr txBox="1"/>
            <p:nvPr/>
          </p:nvSpPr>
          <p:spPr>
            <a:xfrm>
              <a:off x="1293785" y="7123267"/>
              <a:ext cx="183154"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19,7</a:t>
              </a:r>
              <a:endParaRPr lang="en-US" sz="557" dirty="0"/>
            </a:p>
          </p:txBody>
        </p:sp>
        <p:sp>
          <p:nvSpPr>
            <p:cNvPr id="108" name="svg2_90"/>
            <p:cNvSpPr txBox="1"/>
            <p:nvPr/>
          </p:nvSpPr>
          <p:spPr>
            <a:xfrm>
              <a:off x="2083186" y="7123267"/>
              <a:ext cx="183154"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49,2</a:t>
              </a:r>
              <a:endParaRPr lang="en-US" sz="557" dirty="0"/>
            </a:p>
          </p:txBody>
        </p:sp>
        <p:sp>
          <p:nvSpPr>
            <p:cNvPr id="109" name="svg2_91"/>
            <p:cNvSpPr/>
            <p:nvPr/>
          </p:nvSpPr>
          <p:spPr>
            <a:xfrm>
              <a:off x="1733611" y="7115038"/>
              <a:ext cx="0" cy="111923"/>
            </a:xfrm>
            <a:prstGeom prst="line">
              <a:avLst/>
            </a:prstGeom>
            <a:noFill/>
            <a:ln w="13716">
              <a:solidFill>
                <a:srgbClr val="FFFFFF"/>
              </a:solidFill>
              <a:prstDash val="solid"/>
            </a:ln>
          </p:spPr>
        </p:sp>
        <p:sp>
          <p:nvSpPr>
            <p:cNvPr id="110" name="svg2_92"/>
            <p:cNvSpPr/>
            <p:nvPr/>
          </p:nvSpPr>
          <p:spPr>
            <a:xfrm>
              <a:off x="1692372" y="6547653"/>
              <a:ext cx="0" cy="755934"/>
            </a:xfrm>
            <a:prstGeom prst="line">
              <a:avLst/>
            </a:prstGeom>
            <a:noFill/>
            <a:ln w="8890">
              <a:solidFill>
                <a:srgbClr val="5C1520"/>
              </a:solidFill>
              <a:prstDash val="dash"/>
            </a:ln>
          </p:spPr>
        </p:sp>
        <p:sp>
          <p:nvSpPr>
            <p:cNvPr id="111" name="svg2_93"/>
            <p:cNvSpPr txBox="1"/>
            <p:nvPr/>
          </p:nvSpPr>
          <p:spPr>
            <a:xfrm>
              <a:off x="1712123" y="6466545"/>
              <a:ext cx="639806" cy="104790"/>
            </a:xfrm>
            <a:prstGeom prst="rect">
              <a:avLst/>
            </a:prstGeom>
            <a:noFill/>
            <a:ln/>
          </p:spPr>
          <p:txBody>
            <a:bodyPr wrap="none" lIns="0" tIns="0" rIns="0" bIns="0" rtlCol="0" anchor="ctr"/>
            <a:lstStyle/>
            <a:p>
              <a:pPr algn="l" indent="0" marL="0">
                <a:buNone/>
              </a:pPr>
              <a:r>
                <a:rPr lang="en-US" sz="557" b="1" dirty="0">
                  <a:solidFill>
                    <a:srgbClr val="5C1520"/>
                  </a:solidFill>
                  <a:latin typeface="Calibri" pitchFamily="34" charset="0"/>
                  <a:ea typeface="Calibri" pitchFamily="34" charset="-122"/>
                  <a:cs typeface="Calibri" pitchFamily="34" charset="-120"/>
                </a:rPr>
                <a:t>VCSH sổ sách 30,0</a:t>
              </a:r>
              <a:endParaRPr lang="en-US" sz="557" dirty="0"/>
            </a:p>
          </p:txBody>
        </p:sp>
        <p:sp>
          <p:nvSpPr>
            <p:cNvPr id="112" name="svg2_94"/>
            <p:cNvSpPr txBox="1"/>
            <p:nvPr/>
          </p:nvSpPr>
          <p:spPr>
            <a:xfrm>
              <a:off x="1835292" y="6673657"/>
              <a:ext cx="146853" cy="104790"/>
            </a:xfrm>
            <a:prstGeom prst="rect">
              <a:avLst/>
            </a:prstGeom>
            <a:solidFill>
              <a:srgbClr val="FFFFFF"/>
            </a:solidFill>
            <a:ln/>
          </p:spPr>
          <p:txBody>
            <a:bodyPr wrap="none" lIns="0" tIns="0" rIns="0" bIns="0" rtlCol="0" anchor="ctr"/>
            <a:lstStyle/>
            <a:p>
              <a:pPr algn="ctr" indent="0" marL="0">
                <a:buNone/>
              </a:pPr>
              <a:r>
                <a:rPr lang="en-US" sz="557" b="1" dirty="0">
                  <a:solidFill>
                    <a:srgbClr val="262626"/>
                  </a:solidFill>
                  <a:latin typeface="Calibri" pitchFamily="34" charset="0"/>
                  <a:ea typeface="Calibri" pitchFamily="34" charset="-122"/>
                  <a:cs typeface="Calibri" pitchFamily="34" charset="-120"/>
                </a:rPr>
                <a:t>41,1</a:t>
              </a:r>
              <a:endParaRPr lang="en-US" sz="557" dirty="0"/>
            </a:p>
          </p:txBody>
        </p:sp>
        <p:sp>
          <p:nvSpPr>
            <p:cNvPr id="113" name="svg2_95"/>
            <p:cNvSpPr txBox="1"/>
            <p:nvPr/>
          </p:nvSpPr>
          <p:spPr>
            <a:xfrm>
              <a:off x="1529883" y="6850410"/>
              <a:ext cx="146853" cy="104790"/>
            </a:xfrm>
            <a:prstGeom prst="rect">
              <a:avLst/>
            </a:prstGeom>
            <a:solidFill>
              <a:srgbClr val="FFFFFF"/>
            </a:solidFill>
            <a:ln/>
          </p:spPr>
          <p:txBody>
            <a:bodyPr wrap="none" lIns="0" tIns="0" rIns="0" bIns="0" rtlCol="0" anchor="ctr"/>
            <a:lstStyle/>
            <a:p>
              <a:pPr algn="ctr" indent="0" marL="0">
                <a:buNone/>
              </a:pPr>
              <a:r>
                <a:rPr lang="en-US" sz="557" b="1" dirty="0">
                  <a:solidFill>
                    <a:srgbClr val="262626"/>
                  </a:solidFill>
                  <a:latin typeface="Calibri" pitchFamily="34" charset="0"/>
                  <a:ea typeface="Calibri" pitchFamily="34" charset="-122"/>
                  <a:cs typeface="Calibri" pitchFamily="34" charset="-120"/>
                </a:rPr>
                <a:t>25,3</a:t>
              </a:r>
              <a:endParaRPr lang="en-US" sz="557" dirty="0"/>
            </a:p>
          </p:txBody>
        </p:sp>
        <p:sp>
          <p:nvSpPr>
            <p:cNvPr id="114" name="svg2_96"/>
            <p:cNvSpPr txBox="1"/>
            <p:nvPr/>
          </p:nvSpPr>
          <p:spPr>
            <a:xfrm>
              <a:off x="1576060" y="7027073"/>
              <a:ext cx="146853" cy="104790"/>
            </a:xfrm>
            <a:prstGeom prst="rect">
              <a:avLst/>
            </a:prstGeom>
            <a:solidFill>
              <a:srgbClr val="FFFFFF"/>
            </a:solidFill>
            <a:ln/>
          </p:spPr>
          <p:txBody>
            <a:bodyPr wrap="none" lIns="0" tIns="0" rIns="0" bIns="0" rtlCol="0" anchor="ctr"/>
            <a:lstStyle/>
            <a:p>
              <a:pPr algn="ctr" indent="0" marL="0">
                <a:buNone/>
              </a:pPr>
              <a:r>
                <a:rPr lang="en-US" sz="557" b="1" dirty="0">
                  <a:solidFill>
                    <a:srgbClr val="262626"/>
                  </a:solidFill>
                  <a:latin typeface="Calibri" pitchFamily="34" charset="0"/>
                  <a:ea typeface="Calibri" pitchFamily="34" charset="-122"/>
                  <a:cs typeface="Calibri" pitchFamily="34" charset="-120"/>
                </a:rPr>
                <a:t>27,7</a:t>
              </a:r>
              <a:endParaRPr lang="en-US" sz="557" dirty="0"/>
            </a:p>
          </p:txBody>
        </p:sp>
        <p:sp>
          <p:nvSpPr>
            <p:cNvPr id="115" name="svg2_97"/>
            <p:cNvSpPr txBox="1"/>
            <p:nvPr/>
          </p:nvSpPr>
          <p:spPr>
            <a:xfrm>
              <a:off x="1661556" y="7203735"/>
              <a:ext cx="146853" cy="104790"/>
            </a:xfrm>
            <a:prstGeom prst="rect">
              <a:avLst/>
            </a:prstGeom>
            <a:solidFill>
              <a:srgbClr val="FFFFFF"/>
            </a:solidFill>
            <a:ln/>
          </p:spPr>
          <p:txBody>
            <a:bodyPr wrap="none" lIns="0" tIns="0" rIns="0" bIns="0" rtlCol="0" anchor="ctr"/>
            <a:lstStyle/>
            <a:p>
              <a:pPr algn="ctr" indent="0" marL="0">
                <a:buNone/>
              </a:pPr>
              <a:r>
                <a:rPr lang="en-US" sz="557" b="1" dirty="0">
                  <a:solidFill>
                    <a:srgbClr val="262626"/>
                  </a:solidFill>
                  <a:latin typeface="Calibri" pitchFamily="34" charset="0"/>
                  <a:ea typeface="Calibri" pitchFamily="34" charset="-122"/>
                  <a:cs typeface="Calibri" pitchFamily="34" charset="-120"/>
                </a:rPr>
                <a:t>32,1</a:t>
              </a:r>
              <a:endParaRPr lang="en-US" sz="557" dirty="0"/>
            </a:p>
          </p:txBody>
        </p:sp>
      </p:grpSp>
      <p:sp>
        <p:nvSpPr>
          <p:cNvPr id="116" name="Text 110"/>
          <p:cNvSpPr txBox="1"/>
          <p:nvPr/>
        </p:nvSpPr>
        <p:spPr>
          <a:xfrm>
            <a:off x="405354" y="138989"/>
            <a:ext cx="2434407" cy="266730"/>
          </a:xfrm>
          <a:prstGeom prst="rect">
            <a:avLst/>
          </a:prstGeom>
          <a:noFill/>
          <a:ln/>
        </p:spPr>
        <p:txBody>
          <a:bodyPr wrap="none" lIns="0" tIns="0" rIns="0" bIns="0" rtlCol="0" anchor="t"/>
          <a:lstStyle/>
          <a:p>
            <a:pPr algn="l" indent="0" marL="0">
              <a:lnSpc>
                <a:spcPts val="2100"/>
              </a:lnSpc>
              <a:buNone/>
            </a:pPr>
            <a:r>
              <a:rPr lang="en-US" sz="2000" b="1" spc="80" kern="0" dirty="0">
                <a:solidFill>
                  <a:srgbClr val="FFFFFF"/>
                </a:solidFill>
                <a:latin typeface="Calibri" pitchFamily="34" charset="0"/>
                <a:ea typeface="Calibri" pitchFamily="34" charset="-122"/>
                <a:cs typeface="Calibri" pitchFamily="34" charset="-120"/>
              </a:rPr>
              <a:t>CTCP AGRIPACK</a:t>
            </a:r>
            <a:endParaRPr lang="en-US" sz="2000" dirty="0"/>
          </a:p>
        </p:txBody>
      </p:sp>
      <p:sp>
        <p:nvSpPr>
          <p:cNvPr id="117" name="Text 111"/>
          <p:cNvSpPr txBox="1"/>
          <p:nvPr/>
        </p:nvSpPr>
        <p:spPr>
          <a:xfrm>
            <a:off x="405354" y="434431"/>
            <a:ext cx="2434407" cy="123993"/>
          </a:xfrm>
          <a:prstGeom prst="rect">
            <a:avLst/>
          </a:prstGeom>
          <a:noFill/>
          <a:ln/>
        </p:spPr>
        <p:txBody>
          <a:bodyPr wrap="none" lIns="0" tIns="0" rIns="0" bIns="0" rtlCol="0" anchor="t"/>
          <a:lstStyle/>
          <a:p>
            <a:pPr algn="l" indent="0" marL="0">
              <a:lnSpc>
                <a:spcPts val="976"/>
              </a:lnSpc>
              <a:buNone/>
            </a:pPr>
            <a:r>
              <a:rPr lang="en-US" sz="800" dirty="0">
                <a:solidFill>
                  <a:srgbClr val="FFFFFF"/>
                </a:solidFill>
                <a:latin typeface="Calibri" pitchFamily="34" charset="0"/>
                <a:ea typeface="Calibri" pitchFamily="34" charset="-122"/>
                <a:cs typeface="Calibri" pitchFamily="34" charset="-120"/>
              </a:rPr>
              <a:t>Bao bì từ bã mía – vỏ trứng · B2B · Gia Lai</a:t>
            </a:r>
            <a:endParaRPr lang="en-US" sz="800" dirty="0"/>
          </a:p>
        </p:txBody>
      </p:sp>
      <p:sp>
        <p:nvSpPr>
          <p:cNvPr id="118" name="Text 112"/>
          <p:cNvSpPr txBox="1"/>
          <p:nvPr/>
        </p:nvSpPr>
        <p:spPr>
          <a:xfrm>
            <a:off x="2811963" y="176479"/>
            <a:ext cx="4342486" cy="381853"/>
          </a:xfrm>
          <a:prstGeom prst="rect">
            <a:avLst/>
          </a:prstGeom>
          <a:noFill/>
          <a:ln/>
        </p:spPr>
        <p:txBody>
          <a:bodyPr wrap="square" lIns="0" tIns="0" rIns="0" bIns="0" rtlCol="0" anchor="t"/>
          <a:lstStyle/>
          <a:p>
            <a:pPr algn="r" indent="0" marL="0">
              <a:lnSpc>
                <a:spcPts val="938"/>
              </a:lnSpc>
              <a:buNone/>
            </a:pPr>
            <a:r>
              <a:rPr lang="en-US" sz="820" b="1" spc="30" kern="0" dirty="0">
                <a:solidFill>
                  <a:srgbClr val="FFFFFF"/>
                </a:solidFill>
                <a:latin typeface="Calibri" pitchFamily="34" charset="0"/>
                <a:ea typeface="Calibri" pitchFamily="34" charset="-122"/>
                <a:cs typeface="Calibri" pitchFamily="34" charset="-120"/>
              </a:rPr>
              <a:t>BÁO CÁO PHÂN TÍCH, DỰ PHÓNG &amp; ĐỊNH GIÁ</a:t>
            </a:r>
            <a:endParaRPr lang="en-US" sz="680" dirty="0"/>
          </a:p>
          <a:p>
            <a:pPr algn="r" indent="0" marL="0">
              <a:lnSpc>
                <a:spcPts val="938"/>
              </a:lnSpc>
              <a:buNone/>
            </a:pPr>
            <a:r>
              <a:rPr lang="en-US" sz="680" dirty="0">
                <a:solidFill>
                  <a:srgbClr val="FFFFFF"/>
                </a:solidFill>
                <a:latin typeface="Calibri" pitchFamily="34" charset="0"/>
                <a:ea typeface="Calibri" pitchFamily="34" charset="-122"/>
                <a:cs typeface="Calibri" pitchFamily="34" charset="-120"/>
              </a:rPr>
              <a:t>Ngày báo cáo: 30/09/2026 · Thời điểm định giá: 01/01/2026</a:t>
            </a:r>
            <a:endParaRPr lang="en-US" sz="680" dirty="0"/>
          </a:p>
          <a:p>
            <a:pPr algn="r" indent="0" marL="0">
              <a:lnSpc>
                <a:spcPts val="938"/>
              </a:lnSpc>
              <a:buNone/>
            </a:pPr>
            <a:r>
              <a:rPr lang="en-US" sz="680" dirty="0">
                <a:solidFill>
                  <a:srgbClr val="FFFFFF"/>
                </a:solidFill>
                <a:latin typeface="Calibri" pitchFamily="34" charset="0"/>
                <a:ea typeface="Calibri" pitchFamily="34" charset="-122"/>
                <a:cs typeface="Calibri" pitchFamily="34" charset="-120"/>
              </a:rPr>
              <a:t>Nhóm: Nguyễn Thu Thủy · Tạ Hồng Anh · Nguyễn Đức Lộc · Lý Đặng Thu Hằng · Đào Khánh Linh · Nguyễn Thị Phương Thảo</a:t>
            </a:r>
            <a:endParaRPr lang="en-US" sz="680" dirty="0"/>
          </a:p>
        </p:txBody>
      </p:sp>
      <p:sp>
        <p:nvSpPr>
          <p:cNvPr id="119" name="Text 113"/>
          <p:cNvSpPr txBox="1"/>
          <p:nvPr/>
        </p:nvSpPr>
        <p:spPr>
          <a:xfrm>
            <a:off x="463052" y="799460"/>
            <a:ext cx="2167402" cy="108174"/>
          </a:xfrm>
          <a:prstGeom prst="rect">
            <a:avLst/>
          </a:prstGeom>
          <a:noFill/>
          <a:ln/>
        </p:spPr>
        <p:txBody>
          <a:bodyPr wrap="none" lIns="0" tIns="0" rIns="0" bIns="0" rtlCol="0" anchor="t"/>
          <a:lstStyle/>
          <a:p>
            <a:pPr algn="l" indent="0" marL="0">
              <a:lnSpc>
                <a:spcPts val="854"/>
              </a:lnSpc>
              <a:buNone/>
            </a:pPr>
            <a:r>
              <a:rPr lang="en-US" sz="700" b="1" spc="40" kern="0" dirty="0">
                <a:solidFill>
                  <a:srgbClr val="FFFFFF"/>
                </a:solidFill>
                <a:latin typeface="Calibri" pitchFamily="34" charset="0"/>
                <a:ea typeface="Calibri" pitchFamily="34" charset="-122"/>
                <a:cs typeface="Calibri" pitchFamily="34" charset="-120"/>
              </a:rPr>
              <a:t>THÔNG TIN CHÍNH</a:t>
            </a:r>
            <a:endParaRPr lang="en-US" sz="700" dirty="0"/>
          </a:p>
        </p:txBody>
      </p:sp>
      <p:sp>
        <p:nvSpPr>
          <p:cNvPr id="120" name="Text 114"/>
          <p:cNvSpPr txBox="1"/>
          <p:nvPr/>
        </p:nvSpPr>
        <p:spPr>
          <a:xfrm>
            <a:off x="405354" y="3580516"/>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do đề bài cung cấp; mô hình của nhóm (AgriPack_Model_final.xlsx)</a:t>
            </a:r>
            <a:endParaRPr lang="en-US" sz="600" dirty="0"/>
          </a:p>
        </p:txBody>
      </p:sp>
      <p:sp>
        <p:nvSpPr>
          <p:cNvPr id="121" name="Text 115"/>
          <p:cNvSpPr txBox="1"/>
          <p:nvPr/>
        </p:nvSpPr>
        <p:spPr>
          <a:xfrm>
            <a:off x="405354" y="3880714"/>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Doanh thu tăng 3,6 lần đến 2030E; biên EBITDA giảm năm 2028 khi nhà máy mới chạy</a:t>
            </a:r>
            <a:endParaRPr lang="en-US" sz="720" dirty="0"/>
          </a:p>
        </p:txBody>
      </p:sp>
      <p:sp>
        <p:nvSpPr>
          <p:cNvPr id="122" name="Text 116"/>
          <p:cNvSpPr txBox="1"/>
          <p:nvPr/>
        </p:nvSpPr>
        <p:spPr>
          <a:xfrm>
            <a:off x="405354" y="4132082"/>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Doanh thu thuần (tỷ đồng)</a:t>
            </a:r>
            <a:endParaRPr lang="en-US" sz="640" dirty="0"/>
          </a:p>
        </p:txBody>
      </p:sp>
      <p:sp>
        <p:nvSpPr>
          <p:cNvPr id="123" name="Text 117"/>
          <p:cNvSpPr txBox="1"/>
          <p:nvPr/>
        </p:nvSpPr>
        <p:spPr>
          <a:xfrm>
            <a:off x="405354" y="5096957"/>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Biên EBITDA (%)</a:t>
            </a:r>
            <a:endParaRPr lang="en-US" sz="640" dirty="0"/>
          </a:p>
        </p:txBody>
      </p:sp>
      <p:sp>
        <p:nvSpPr>
          <p:cNvPr id="124" name="Text 118"/>
          <p:cNvSpPr txBox="1"/>
          <p:nvPr/>
        </p:nvSpPr>
        <p:spPr>
          <a:xfrm>
            <a:off x="405354" y="5790438"/>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do đề bài cung cấp; dự phóng của nhóm (sheet Drivers)</a:t>
            </a:r>
            <a:endParaRPr lang="en-US" sz="600" dirty="0"/>
          </a:p>
        </p:txBody>
      </p:sp>
      <p:sp>
        <p:nvSpPr>
          <p:cNvPr id="125" name="Text 119"/>
          <p:cNvSpPr txBox="1"/>
          <p:nvPr/>
        </p:nvSpPr>
        <p:spPr>
          <a:xfrm>
            <a:off x="405354" y="608706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Ba phương pháp cho 25–41 tỷ; bình quân gần VCSH sổ sách</a:t>
            </a:r>
            <a:endParaRPr lang="en-US" sz="720" dirty="0"/>
          </a:p>
        </p:txBody>
      </p:sp>
      <p:sp>
        <p:nvSpPr>
          <p:cNvPr id="126" name="Text 120"/>
          <p:cNvSpPr txBox="1"/>
          <p:nvPr/>
        </p:nvSpPr>
        <p:spPr>
          <a:xfrm>
            <a:off x="405354" y="632408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Pre-money, tỷ đồng</a:t>
            </a:r>
            <a:endParaRPr lang="en-US" sz="630" dirty="0"/>
          </a:p>
        </p:txBody>
      </p:sp>
      <p:sp>
        <p:nvSpPr>
          <p:cNvPr id="127" name="Text 121"/>
          <p:cNvSpPr txBox="1"/>
          <p:nvPr/>
        </p:nvSpPr>
        <p:spPr>
          <a:xfrm>
            <a:off x="405354" y="7498080"/>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(Summary, Sensitivity, Multiples)</a:t>
            </a:r>
            <a:endParaRPr lang="en-US" sz="600" dirty="0"/>
          </a:p>
        </p:txBody>
      </p:sp>
      <p:sp>
        <p:nvSpPr>
          <p:cNvPr id="128" name="Text 122"/>
          <p:cNvSpPr txBox="1"/>
          <p:nvPr/>
        </p:nvSpPr>
        <p:spPr>
          <a:xfrm>
            <a:off x="463052" y="7697419"/>
            <a:ext cx="2167402" cy="108174"/>
          </a:xfrm>
          <a:prstGeom prst="rect">
            <a:avLst/>
          </a:prstGeom>
          <a:noFill/>
          <a:ln/>
        </p:spPr>
        <p:txBody>
          <a:bodyPr wrap="none" lIns="0" tIns="0" rIns="0" bIns="0" rtlCol="0" anchor="t"/>
          <a:lstStyle/>
          <a:p>
            <a:pPr algn="l" indent="0" marL="0">
              <a:lnSpc>
                <a:spcPts val="854"/>
              </a:lnSpc>
              <a:buNone/>
            </a:pPr>
            <a:r>
              <a:rPr lang="en-US" sz="700" b="1" spc="40" kern="0" dirty="0">
                <a:solidFill>
                  <a:srgbClr val="FFFFFF"/>
                </a:solidFill>
                <a:latin typeface="Calibri" pitchFamily="34" charset="0"/>
                <a:ea typeface="Calibri" pitchFamily="34" charset="-122"/>
                <a:cs typeface="Calibri" pitchFamily="34" charset="-120"/>
              </a:rPr>
              <a:t>NỘI DUNG BÁO CÁO</a:t>
            </a:r>
            <a:endParaRPr lang="en-US" sz="700" dirty="0"/>
          </a:p>
        </p:txBody>
      </p:sp>
      <p:sp>
        <p:nvSpPr>
          <p:cNvPr id="129" name="Text 123"/>
          <p:cNvSpPr txBox="1"/>
          <p:nvPr/>
        </p:nvSpPr>
        <p:spPr>
          <a:xfrm>
            <a:off x="405354" y="8978676"/>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Mục 1–3 giữ nguyên văn bài của nhóm; Mục 6 (kế hoạch huy động vốn) và Mục 7 (pitching) không thuộc phạm vi báo cáo này.</a:t>
            </a:r>
            <a:endParaRPr lang="en-US" sz="600" dirty="0"/>
          </a:p>
        </p:txBody>
      </p:sp>
      <p:sp>
        <p:nvSpPr>
          <p:cNvPr id="130" name="Text 124"/>
          <p:cNvSpPr txBox="1"/>
          <p:nvPr/>
        </p:nvSpPr>
        <p:spPr>
          <a:xfrm>
            <a:off x="2745303" y="774222"/>
            <a:ext cx="4519422" cy="359268"/>
          </a:xfrm>
          <a:prstGeom prst="rect">
            <a:avLst/>
          </a:prstGeom>
          <a:noFill/>
          <a:ln/>
        </p:spPr>
        <p:txBody>
          <a:bodyPr wrap="square" lIns="0" tIns="0" rIns="0" bIns="0" rtlCol="0" anchor="t"/>
          <a:lstStyle/>
          <a:p>
            <a:pPr algn="l" indent="0" marL="0">
              <a:lnSpc>
                <a:spcPts val="1415"/>
              </a:lnSpc>
              <a:buNone/>
            </a:pPr>
            <a:r>
              <a:rPr lang="en-US" sz="1220" b="1" dirty="0">
                <a:solidFill>
                  <a:srgbClr val="7B1E2B"/>
                </a:solidFill>
                <a:latin typeface="Calibri" pitchFamily="34" charset="0"/>
                <a:ea typeface="Calibri" pitchFamily="34" charset="-122"/>
                <a:cs typeface="Calibri" pitchFamily="34" charset="-120"/>
              </a:rPr>
              <a:t>AgriPack đã qua giai đoạn thử nghiệm; pre-money 32,1 tỷ đồng vì nhà máy 2027 mới là nơi tạo giá trị</a:t>
            </a:r>
            <a:endParaRPr lang="en-US" sz="1220" dirty="0"/>
          </a:p>
        </p:txBody>
      </p:sp>
      <p:sp>
        <p:nvSpPr>
          <p:cNvPr id="131" name="Text 125"/>
          <p:cNvSpPr txBox="1"/>
          <p:nvPr/>
        </p:nvSpPr>
        <p:spPr>
          <a:xfrm>
            <a:off x="2855305" y="1258032"/>
            <a:ext cx="4470867" cy="106893"/>
          </a:xfrm>
          <a:prstGeom prst="rect">
            <a:avLst/>
          </a:prstGeom>
          <a:noFill/>
          <a:ln/>
        </p:spPr>
        <p:txBody>
          <a:bodyPr wrap="none" lIns="0" tIns="0" rIns="0" bIns="0" rtlCol="0" anchor="t"/>
          <a:lstStyle/>
          <a:p>
            <a:pPr algn="l" indent="0" marL="0">
              <a:lnSpc>
                <a:spcPts val="842"/>
              </a:lnSpc>
              <a:buNone/>
            </a:pPr>
            <a:r>
              <a:rPr lang="en-US" sz="690" b="1" spc="40" kern="0" dirty="0">
                <a:solidFill>
                  <a:srgbClr val="7B1E2B"/>
                </a:solidFill>
                <a:latin typeface="Calibri" pitchFamily="34" charset="0"/>
                <a:ea typeface="Calibri" pitchFamily="34" charset="-122"/>
                <a:cs typeface="Calibri" pitchFamily="34" charset="-120"/>
              </a:rPr>
              <a:t>KẾT QUẢ ĐỊNH GIÁ (T0 = 01/01/2026)</a:t>
            </a:r>
            <a:endParaRPr lang="en-US" sz="690" dirty="0"/>
          </a:p>
        </p:txBody>
      </p:sp>
      <p:sp>
        <p:nvSpPr>
          <p:cNvPr id="132" name="Text 126"/>
          <p:cNvSpPr txBox="1"/>
          <p:nvPr/>
        </p:nvSpPr>
        <p:spPr>
          <a:xfrm>
            <a:off x="2745303" y="2165574"/>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Doanh nghiệp (Mục 1).</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AgriPack sản xuất hộp, khay đựng thực phẩm và đệm bảo vệ từ bã mía phối trộn vỏ trứng tại một nhà máy ở Gia Lai, bán B2B cho doanh nghiệp F&amp;B, điện tử, nội thất và TMĐT ở miền Trung và miền Nam. Thực phẩm/FMCG chiếm gần 80% doanh thu (Fig. 07).</a:t>
            </a:r>
            <a:endParaRPr lang="en-US" sz="850" dirty="0"/>
          </a:p>
        </p:txBody>
      </p:sp>
      <p:sp>
        <p:nvSpPr>
          <p:cNvPr id="133" name="Text 127"/>
          <p:cNvSpPr txBox="1"/>
          <p:nvPr/>
        </p:nvSpPr>
        <p:spPr>
          <a:xfrm>
            <a:off x="2745303" y="2597902"/>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Giai đoạn (Mục 2).</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Doanh thu tăng 59,1% và 53,7%, LNST và FCF dương lần đầu năm 2025, D/E chỉ 6,5%, nhưng quy mô còn nhỏ so với các doanh nghiệp dẫn đầu: nhóm xếp AgriPack vào giai đoạn đầu tăng trưởng, tỷ lệ thất bại 35–45% (dùng z = 40%).</a:t>
            </a:r>
            <a:endParaRPr lang="en-US" sz="850" dirty="0"/>
          </a:p>
        </p:txBody>
      </p:sp>
      <p:sp>
        <p:nvSpPr>
          <p:cNvPr id="134" name="Text 128"/>
          <p:cNvSpPr txBox="1"/>
          <p:nvPr/>
        </p:nvSpPr>
        <p:spPr>
          <a:xfrm>
            <a:off x="2745303" y="3030322"/>
            <a:ext cx="4409237" cy="789402"/>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Vĩ mô, ngành → giả định (Mục 3, 4.1).</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GDP 6 tháng 2026 tăng 8,18%, TMĐT và lộ trình hạn chế nhựa dùng một lần hỗ trợ cầu, nhưng SAM chỉ tăng 4,7%/năm và khách hàng B2B có sức mạnh đàm phán cao. Mô hình vì vậy cho giá bán chỉ tăng 2%/năm (CPI 4,45%) và chi phí biến đổi tăng lên 27% doanh thu; tăng trưởng đến từ giành thị phần (4,3% → 11,0% SAM). Chạy lại mô hình cho từng nhân tố cho thấy cầu tác động mạnh nhất: tốc độ tăng sản lượng ±20% làm pre-money thay đổi −24,3/+28,3 tỷ, gấp 4–5 lần giá bán, lãi suất hay CRP ±1 điểm % (Fig. 30).</a:t>
            </a:r>
            <a:endParaRPr lang="en-US" sz="850" dirty="0"/>
          </a:p>
        </p:txBody>
      </p:sp>
      <p:sp>
        <p:nvSpPr>
          <p:cNvPr id="135" name="Text 129"/>
          <p:cNvSpPr txBox="1"/>
          <p:nvPr/>
        </p:nvSpPr>
        <p:spPr>
          <a:xfrm>
            <a:off x="2745303" y="3857305"/>
            <a:ext cx="4409237" cy="52623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Dự phóng (Mục 4).</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Doanh thu 170,3 tỷ năm 2030 (CAGR 29%); biên EBITDA 16,2% → 20,2% (Fig. 01). BCKQKD theo chức năng (70% tiền lương, 90% khấu hao vào giá vốn): biên gộp 51,0% (2025A) → 47,6% (2030E). CAPEX 65% doanh thu năm 2027 làm FCFF âm ba năm; tỷ lệ tái đầu tư 10% từ 2029, cao hơn trung vị ngành 3,1% vì AgriPack còn tăng 17–28%/năm (Fig. 03).</a:t>
            </a:r>
            <a:endParaRPr lang="en-US" sz="850" dirty="0"/>
          </a:p>
        </p:txBody>
      </p:sp>
      <p:sp>
        <p:nvSpPr>
          <p:cNvPr id="136" name="Text 130"/>
          <p:cNvSpPr txBox="1"/>
          <p:nvPr/>
        </p:nvSpPr>
        <p:spPr>
          <a:xfrm>
            <a:off x="2745303" y="4421215"/>
            <a:ext cx="4409237" cy="52623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Định giá (Mục 5).</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DCF 41,1 tỷ, VC Method 25,3 tỷ, Multiples 27,7 tỷ; bình quân 32,1 tỷ (Fig. 02). Khi DCF được điều chỉnh theo xác suất sống sót (30,7 tỷ), ba phương pháp hội tụ quanh 25–31 tỷ. Mức 32,1 tỷ chỉ bằng 1,07 lần VCSH sổ sách: nhà đầu tư trả rất ít cho tăng trưởng vì tăng trưởng cần gần 69 tỷ vốn bên ngoài và ROIC 2027–2029 thấp hơn WACC.</a:t>
            </a:r>
            <a:endParaRPr lang="en-US" sz="850" dirty="0"/>
          </a:p>
        </p:txBody>
      </p:sp>
      <p:sp>
        <p:nvSpPr>
          <p:cNvPr id="137" name="Text 131"/>
          <p:cNvSpPr txBox="1"/>
          <p:nvPr/>
        </p:nvSpPr>
        <p:spPr>
          <a:xfrm>
            <a:off x="2745303" y="4985217"/>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Điều cần theo dõi.</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Kịch bản Bear (sản lượng bằng 70% cơ sở) cho giá trị vốn chủ âm. Chỉ báo sớm: sản lượng F&amp;B 2026 tăng dưới 25% (mô hình: 32%), chưa có chứng nhận vật liệu tiếp xúc thực phẩm trước Q2/2027, hoặc nhà máy mới chưa vận hành trước 31/12/2027.</a:t>
            </a:r>
            <a:endParaRPr lang="en-US" sz="850" dirty="0"/>
          </a:p>
        </p:txBody>
      </p:sp>
      <p:sp>
        <p:nvSpPr>
          <p:cNvPr id="138" name="Text 132"/>
          <p:cNvSpPr txBox="1"/>
          <p:nvPr/>
        </p:nvSpPr>
        <p:spPr>
          <a:xfrm>
            <a:off x="2745303" y="5448544"/>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Tóm tắt tài chính</a:t>
            </a:r>
            <a:endParaRPr lang="en-US" sz="720" dirty="0"/>
          </a:p>
        </p:txBody>
      </p:sp>
      <p:sp>
        <p:nvSpPr>
          <p:cNvPr id="139" name="Text 133"/>
          <p:cNvSpPr txBox="1"/>
          <p:nvPr/>
        </p:nvSpPr>
        <p:spPr>
          <a:xfrm>
            <a:off x="2745303" y="5576103"/>
            <a:ext cx="4673773"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40" name="Text 134"/>
          <p:cNvSpPr txBox="1"/>
          <p:nvPr/>
        </p:nvSpPr>
        <p:spPr>
          <a:xfrm>
            <a:off x="2745303" y="7471288"/>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trình bày lại theo chức năng); dự phóng của nhóm. *2023–25A: FCF = CFO − CAPEX; 2026–30E: FCFF</a:t>
            </a:r>
            <a:endParaRPr lang="en-US" sz="600" dirty="0"/>
          </a:p>
        </p:txBody>
      </p:sp>
      <p:sp>
        <p:nvSpPr>
          <p:cNvPr id="141" name="Text 135"/>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42" name="Text 136"/>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a:t>
            </a:r>
            <a:endParaRPr lang="en-US" sz="6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55805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835670"/>
            <a:ext cx="2159996" cy="0"/>
          </a:xfrm>
          <a:prstGeom prst="line">
            <a:avLst/>
          </a:prstGeom>
          <a:noFill/>
          <a:ln w="9525">
            <a:solidFill>
              <a:srgbClr val="7B1E2B"/>
            </a:solidFill>
            <a:prstDash val="solid"/>
          </a:ln>
        </p:spPr>
      </p:sp>
      <p:sp>
        <p:nvSpPr>
          <p:cNvPr id="5" name="Shape 3"/>
          <p:cNvSpPr/>
          <p:nvPr/>
        </p:nvSpPr>
        <p:spPr>
          <a:xfrm>
            <a:off x="405354" y="10369479"/>
            <a:ext cx="6749004" cy="0"/>
          </a:xfrm>
          <a:prstGeom prst="line">
            <a:avLst/>
          </a:prstGeom>
          <a:noFill/>
          <a:ln w="9525">
            <a:solidFill>
              <a:srgbClr val="BFBFBF"/>
            </a:solidFill>
            <a:prstDash val="solid"/>
          </a:ln>
        </p:spPr>
      </p:sp>
      <p:grpSp>
        <p:nvGrpSpPr>
          <p:cNvPr id="56" name="Fig. 04 – biểu đồ"/>
          <p:cNvGrpSpPr/>
          <p:nvPr/>
        </p:nvGrpSpPr>
        <p:grpSpPr>
          <a:xfrm>
            <a:off x="306873" y="1253825"/>
            <a:ext cx="2145365" cy="764896"/>
            <a:chOff x="306873" y="1253825"/>
            <a:chExt cx="2145365" cy="764896"/>
          </a:xfrm>
        </p:grpSpPr>
        <p:sp>
          <p:nvSpPr>
            <p:cNvPr id="6" name="svg0_0"/>
            <p:cNvSpPr/>
            <p:nvPr/>
          </p:nvSpPr>
          <p:spPr>
            <a:xfrm>
              <a:off x="1171164" y="1253825"/>
              <a:ext cx="0" cy="657819"/>
            </a:xfrm>
            <a:prstGeom prst="line">
              <a:avLst/>
            </a:prstGeom>
            <a:noFill/>
            <a:ln w="4953">
              <a:solidFill>
                <a:srgbClr val="E4E4E4"/>
              </a:solidFill>
              <a:prstDash val="solid"/>
            </a:ln>
          </p:spPr>
        </p:sp>
        <p:sp>
          <p:nvSpPr>
            <p:cNvPr id="7" name="svg0_1"/>
            <p:cNvSpPr txBox="1"/>
            <p:nvPr/>
          </p:nvSpPr>
          <p:spPr>
            <a:xfrm>
              <a:off x="1132027" y="1913931"/>
              <a:ext cx="81564"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0</a:t>
              </a:r>
              <a:endParaRPr lang="en-US" sz="541" dirty="0"/>
            </a:p>
          </p:txBody>
        </p:sp>
        <p:sp>
          <p:nvSpPr>
            <p:cNvPr id="8" name="svg0_2"/>
            <p:cNvSpPr/>
            <p:nvPr/>
          </p:nvSpPr>
          <p:spPr>
            <a:xfrm>
              <a:off x="1463589" y="1253825"/>
              <a:ext cx="0" cy="657819"/>
            </a:xfrm>
            <a:prstGeom prst="line">
              <a:avLst/>
            </a:prstGeom>
            <a:noFill/>
            <a:ln w="4953">
              <a:solidFill>
                <a:srgbClr val="E4E4E4"/>
              </a:solidFill>
              <a:prstDash val="solid"/>
            </a:ln>
          </p:spPr>
        </p:sp>
        <p:sp>
          <p:nvSpPr>
            <p:cNvPr id="9" name="svg0_3"/>
            <p:cNvSpPr txBox="1"/>
            <p:nvPr/>
          </p:nvSpPr>
          <p:spPr>
            <a:xfrm>
              <a:off x="1355415" y="1913931"/>
              <a:ext cx="220188"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1.000</a:t>
              </a:r>
              <a:endParaRPr lang="en-US" sz="541" dirty="0"/>
            </a:p>
          </p:txBody>
        </p:sp>
        <p:sp>
          <p:nvSpPr>
            <p:cNvPr id="10" name="svg0_4"/>
            <p:cNvSpPr/>
            <p:nvPr/>
          </p:nvSpPr>
          <p:spPr>
            <a:xfrm>
              <a:off x="1755922" y="1253825"/>
              <a:ext cx="0" cy="657819"/>
            </a:xfrm>
            <a:prstGeom prst="line">
              <a:avLst/>
            </a:prstGeom>
            <a:noFill/>
            <a:ln w="4953">
              <a:solidFill>
                <a:srgbClr val="E4E4E4"/>
              </a:solidFill>
              <a:prstDash val="solid"/>
            </a:ln>
          </p:spPr>
        </p:sp>
        <p:sp>
          <p:nvSpPr>
            <p:cNvPr id="11" name="svg0_5"/>
            <p:cNvSpPr txBox="1"/>
            <p:nvPr/>
          </p:nvSpPr>
          <p:spPr>
            <a:xfrm>
              <a:off x="1647840" y="1913931"/>
              <a:ext cx="220188"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2.000</a:t>
              </a:r>
              <a:endParaRPr lang="en-US" sz="541" dirty="0"/>
            </a:p>
          </p:txBody>
        </p:sp>
        <p:sp>
          <p:nvSpPr>
            <p:cNvPr id="12" name="svg0_6"/>
            <p:cNvSpPr/>
            <p:nvPr/>
          </p:nvSpPr>
          <p:spPr>
            <a:xfrm>
              <a:off x="2048256" y="1253825"/>
              <a:ext cx="0" cy="657819"/>
            </a:xfrm>
            <a:prstGeom prst="line">
              <a:avLst/>
            </a:prstGeom>
            <a:noFill/>
            <a:ln w="4953">
              <a:solidFill>
                <a:srgbClr val="E4E4E4"/>
              </a:solidFill>
              <a:prstDash val="solid"/>
            </a:ln>
          </p:spPr>
        </p:sp>
        <p:sp>
          <p:nvSpPr>
            <p:cNvPr id="13" name="svg0_7"/>
            <p:cNvSpPr txBox="1"/>
            <p:nvPr/>
          </p:nvSpPr>
          <p:spPr>
            <a:xfrm>
              <a:off x="1939442" y="1913931"/>
              <a:ext cx="220188"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3.000</a:t>
              </a:r>
              <a:endParaRPr lang="en-US" sz="541" dirty="0"/>
            </a:p>
          </p:txBody>
        </p:sp>
        <p:sp>
          <p:nvSpPr>
            <p:cNvPr id="14" name="svg0_8"/>
            <p:cNvSpPr/>
            <p:nvPr/>
          </p:nvSpPr>
          <p:spPr>
            <a:xfrm>
              <a:off x="2340590" y="1253825"/>
              <a:ext cx="0" cy="657819"/>
            </a:xfrm>
            <a:prstGeom prst="line">
              <a:avLst/>
            </a:prstGeom>
            <a:noFill/>
            <a:ln w="4953">
              <a:solidFill>
                <a:srgbClr val="E4E4E4"/>
              </a:solidFill>
              <a:prstDash val="solid"/>
            </a:ln>
          </p:spPr>
        </p:sp>
        <p:sp>
          <p:nvSpPr>
            <p:cNvPr id="15" name="svg0_9"/>
            <p:cNvSpPr txBox="1"/>
            <p:nvPr/>
          </p:nvSpPr>
          <p:spPr>
            <a:xfrm>
              <a:off x="2232050" y="1913931"/>
              <a:ext cx="220188"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4.000</a:t>
              </a:r>
              <a:endParaRPr lang="en-US" sz="541" dirty="0"/>
            </a:p>
          </p:txBody>
        </p:sp>
        <p:sp>
          <p:nvSpPr>
            <p:cNvPr id="16" name="svg0_10"/>
            <p:cNvSpPr txBox="1"/>
            <p:nvPr/>
          </p:nvSpPr>
          <p:spPr>
            <a:xfrm>
              <a:off x="817474" y="1258123"/>
              <a:ext cx="318120"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Xốp EPS</a:t>
              </a:r>
              <a:endParaRPr lang="en-US" sz="587" dirty="0"/>
            </a:p>
          </p:txBody>
        </p:sp>
        <p:sp>
          <p:nvSpPr>
            <p:cNvPr id="17" name="svg0_11"/>
            <p:cNvSpPr/>
            <p:nvPr/>
          </p:nvSpPr>
          <p:spPr>
            <a:xfrm>
              <a:off x="1288207" y="1273485"/>
              <a:ext cx="58522" cy="66385"/>
            </a:xfrm>
            <a:prstGeom prst="rect">
              <a:avLst/>
            </a:prstGeom>
            <a:solidFill>
              <a:srgbClr val="A3A3A3"/>
            </a:solidFill>
            <a:ln/>
          </p:spPr>
        </p:sp>
        <p:sp>
          <p:nvSpPr>
            <p:cNvPr id="18" name="svg0_12"/>
            <p:cNvSpPr txBox="1"/>
            <p:nvPr/>
          </p:nvSpPr>
          <p:spPr>
            <a:xfrm>
              <a:off x="1366571" y="1258123"/>
              <a:ext cx="271120"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400–600</a:t>
              </a:r>
              <a:endParaRPr lang="en-US" sz="557" dirty="0"/>
            </a:p>
          </p:txBody>
        </p:sp>
        <p:sp>
          <p:nvSpPr>
            <p:cNvPr id="19" name="svg0_13"/>
            <p:cNvSpPr txBox="1"/>
            <p:nvPr/>
          </p:nvSpPr>
          <p:spPr>
            <a:xfrm>
              <a:off x="1006023" y="1385773"/>
              <a:ext cx="12591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PP</a:t>
              </a:r>
              <a:endParaRPr lang="en-US" sz="587" dirty="0"/>
            </a:p>
          </p:txBody>
        </p:sp>
        <p:sp>
          <p:nvSpPr>
            <p:cNvPr id="20" name="svg0_14"/>
            <p:cNvSpPr/>
            <p:nvPr/>
          </p:nvSpPr>
          <p:spPr>
            <a:xfrm>
              <a:off x="1460114" y="1401135"/>
              <a:ext cx="23500" cy="66385"/>
            </a:xfrm>
            <a:prstGeom prst="rect">
              <a:avLst/>
            </a:prstGeom>
            <a:solidFill>
              <a:srgbClr val="A3A3A3"/>
            </a:solidFill>
            <a:ln/>
          </p:spPr>
        </p:sp>
        <p:sp>
          <p:nvSpPr>
            <p:cNvPr id="21" name="svg0_15"/>
            <p:cNvSpPr txBox="1"/>
            <p:nvPr/>
          </p:nvSpPr>
          <p:spPr>
            <a:xfrm>
              <a:off x="1503091" y="1385773"/>
              <a:ext cx="128656"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988</a:t>
              </a:r>
              <a:endParaRPr lang="en-US" sz="557" dirty="0"/>
            </a:p>
          </p:txBody>
        </p:sp>
        <p:sp>
          <p:nvSpPr>
            <p:cNvPr id="22" name="svg0_16"/>
            <p:cNvSpPr txBox="1"/>
            <p:nvPr/>
          </p:nvSpPr>
          <p:spPr>
            <a:xfrm>
              <a:off x="622706" y="1513423"/>
              <a:ext cx="509229"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Kraft (nắp PP)</a:t>
              </a:r>
              <a:endParaRPr lang="en-US" sz="587" dirty="0"/>
            </a:p>
          </p:txBody>
        </p:sp>
        <p:sp>
          <p:nvSpPr>
            <p:cNvPr id="23" name="svg0_17"/>
            <p:cNvSpPr/>
            <p:nvPr/>
          </p:nvSpPr>
          <p:spPr>
            <a:xfrm>
              <a:off x="1565910" y="1528785"/>
              <a:ext cx="58522" cy="66385"/>
            </a:xfrm>
            <a:prstGeom prst="rect">
              <a:avLst/>
            </a:prstGeom>
            <a:solidFill>
              <a:srgbClr val="A3A3A3"/>
            </a:solidFill>
            <a:ln/>
          </p:spPr>
        </p:sp>
        <p:sp>
          <p:nvSpPr>
            <p:cNvPr id="24" name="svg0_18"/>
            <p:cNvSpPr txBox="1"/>
            <p:nvPr/>
          </p:nvSpPr>
          <p:spPr>
            <a:xfrm>
              <a:off x="1644366" y="1513423"/>
              <a:ext cx="378104"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1.350–1.550</a:t>
              </a:r>
              <a:endParaRPr lang="en-US" sz="557" dirty="0"/>
            </a:p>
          </p:txBody>
        </p:sp>
        <p:sp>
          <p:nvSpPr>
            <p:cNvPr id="25" name="svg0_19"/>
            <p:cNvSpPr txBox="1"/>
            <p:nvPr/>
          </p:nvSpPr>
          <p:spPr>
            <a:xfrm>
              <a:off x="859170" y="1641074"/>
              <a:ext cx="27514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Bã mía</a:t>
              </a:r>
              <a:endParaRPr lang="en-US" sz="587" dirty="0"/>
            </a:p>
          </p:txBody>
        </p:sp>
        <p:sp>
          <p:nvSpPr>
            <p:cNvPr id="26" name="svg0_20"/>
            <p:cNvSpPr/>
            <p:nvPr/>
          </p:nvSpPr>
          <p:spPr>
            <a:xfrm>
              <a:off x="1726662" y="1656436"/>
              <a:ext cx="233812" cy="66294"/>
            </a:xfrm>
            <a:prstGeom prst="rect">
              <a:avLst/>
            </a:prstGeom>
            <a:solidFill>
              <a:srgbClr val="404040"/>
            </a:solidFill>
            <a:ln/>
          </p:spPr>
        </p:sp>
        <p:sp>
          <p:nvSpPr>
            <p:cNvPr id="27" name="svg0_21"/>
            <p:cNvSpPr txBox="1"/>
            <p:nvPr/>
          </p:nvSpPr>
          <p:spPr>
            <a:xfrm>
              <a:off x="1980133" y="1641074"/>
              <a:ext cx="378104"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1.900–2.700</a:t>
              </a:r>
              <a:endParaRPr lang="en-US" sz="557" dirty="0"/>
            </a:p>
          </p:txBody>
        </p:sp>
        <p:sp>
          <p:nvSpPr>
            <p:cNvPr id="28" name="svg0_22"/>
            <p:cNvSpPr txBox="1"/>
            <p:nvPr/>
          </p:nvSpPr>
          <p:spPr>
            <a:xfrm>
              <a:off x="306873" y="1768724"/>
              <a:ext cx="825155" cy="104790"/>
            </a:xfrm>
            <a:prstGeom prst="rect">
              <a:avLst/>
            </a:prstGeom>
            <a:noFill/>
            <a:ln/>
          </p:spPr>
          <p:txBody>
            <a:bodyPr wrap="none" lIns="0" tIns="0" rIns="0" bIns="0" rtlCol="0" anchor="ctr"/>
            <a:lstStyle/>
            <a:p>
              <a:pPr algn="r" indent="0" marL="0">
                <a:buNone/>
              </a:pPr>
              <a:r>
                <a:rPr lang="en-US" sz="587" b="1" dirty="0">
                  <a:solidFill>
                    <a:srgbClr val="262626"/>
                  </a:solidFill>
                  <a:latin typeface="Calibri" pitchFamily="34" charset="0"/>
                  <a:ea typeface="Calibri" pitchFamily="34" charset="-122"/>
                  <a:cs typeface="Calibri" pitchFamily="34" charset="-120"/>
                </a:rPr>
                <a:t>AgriPack (500–800 ml)</a:t>
              </a:r>
              <a:endParaRPr lang="en-US" sz="587" dirty="0"/>
            </a:p>
          </p:txBody>
        </p:sp>
        <p:sp>
          <p:nvSpPr>
            <p:cNvPr id="29" name="svg0_23"/>
            <p:cNvSpPr/>
            <p:nvPr/>
          </p:nvSpPr>
          <p:spPr>
            <a:xfrm>
              <a:off x="1902043" y="1783994"/>
              <a:ext cx="438546" cy="66294"/>
            </a:xfrm>
            <a:prstGeom prst="rect">
              <a:avLst/>
            </a:prstGeom>
            <a:solidFill>
              <a:srgbClr val="7B1E2B"/>
            </a:solidFill>
            <a:ln/>
          </p:spPr>
        </p:sp>
        <p:sp>
          <p:nvSpPr>
            <p:cNvPr id="30" name="svg0_24"/>
            <p:cNvSpPr txBox="1"/>
            <p:nvPr/>
          </p:nvSpPr>
          <p:spPr>
            <a:xfrm>
              <a:off x="1504005" y="1768724"/>
              <a:ext cx="380208" cy="104790"/>
            </a:xfrm>
            <a:prstGeom prst="rect">
              <a:avLst/>
            </a:prstGeom>
            <a:solidFill>
              <a:srgbClr val="FFFFFF"/>
            </a:solidFill>
            <a:ln/>
          </p:spPr>
          <p:txBody>
            <a:bodyPr wrap="none" lIns="0" tIns="0" rIns="0" bIns="0" rtlCol="0" anchor="ctr"/>
            <a:lstStyle/>
            <a:p>
              <a:pPr algn="r" indent="0" marL="0">
                <a:buNone/>
              </a:pPr>
              <a:r>
                <a:rPr lang="en-US" sz="557" b="1" dirty="0">
                  <a:solidFill>
                    <a:srgbClr val="262626"/>
                  </a:solidFill>
                  <a:latin typeface="Calibri" pitchFamily="34" charset="0"/>
                  <a:ea typeface="Calibri" pitchFamily="34" charset="-122"/>
                  <a:cs typeface="Calibri" pitchFamily="34" charset="-120"/>
                </a:rPr>
                <a:t>2.500–4.000</a:t>
              </a:r>
              <a:endParaRPr lang="en-US" sz="557" dirty="0"/>
            </a:p>
          </p:txBody>
        </p:sp>
      </p:grpSp>
      <p:sp>
        <p:nvSpPr>
          <p:cNvPr id="31" name="Text 29"/>
          <p:cNvSpPr txBox="1"/>
          <p:nvPr/>
        </p:nvSpPr>
        <p:spPr>
          <a:xfrm>
            <a:off x="2745303" y="3811585"/>
            <a:ext cx="4409237" cy="1201979"/>
          </a:xfrm>
          <a:prstGeom prst="rect">
            <a:avLst/>
          </a:prstGeom>
          <a:noFill/>
          <a:ln/>
        </p:spPr>
        <p:txBody>
          <a:bodyPr wrap="square" lIns="0" tIns="0" rIns="0" bIns="0" rtlCol="0" anchor="t"/>
          <a:lstStyle/>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Từ 01/01/2026, không sản xuất và nhập khẩu túi ni lông khó phân hủy sinh học có kích thước nhỏ. Tổ chức, cá nhân sản xuất hay nhập khẩu sản phẩm nhựa sử dụng một lần, bao bì nhựa khó phân hủy sinh học (gồm túi ni lông, hộp nhựa xốp đóng gói, chứa đựng thực phẩm) phải thực hiện trách nhiệm tái chế, xử lý theo quy định.</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Sau 31/12/2030, dừng sản xuất, nhập khẩu các sản phẩm này (trừ khi được chứng nhận nhãn sinh thái Việt Nam) và sản phẩm, hàng hóa chứa vi nhựa (trừ trường hợp sản xuất để xuất khẩu hoặc để đóng gói bán ra thị trường).</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Bảo đảm sau năm 2025, không lưu hành và sử dụng các sản phẩm này tại các trung tâm thương mại, siêu thị, khách sạn, khu du lịch</a:t>
            </a:r>
            <a:endParaRPr lang="en-US" sz="850" dirty="0"/>
          </a:p>
        </p:txBody>
      </p:sp>
      <p:sp>
        <p:nvSpPr>
          <p:cNvPr id="32" name="Text 30"/>
          <p:cNvSpPr txBox="1"/>
          <p:nvPr/>
        </p:nvSpPr>
        <p:spPr>
          <a:xfrm>
            <a:off x="2745303" y="6640830"/>
            <a:ext cx="4409237" cy="816193"/>
          </a:xfrm>
          <a:prstGeom prst="rect">
            <a:avLst/>
          </a:prstGeom>
          <a:noFill/>
          <a:ln/>
        </p:spPr>
        <p:txBody>
          <a:bodyPr wrap="square" lIns="0" tIns="0" rIns="0" bIns="0" rtlCol="0" anchor="t"/>
          <a:lstStyle/>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cho FMCG và F&amp;B: Hộp đóng gói đựng thực phẩm mang đi và các loại khay chia nhiều ngăn, được ép khuôn theo kích thước, hình dáng tùy chỉnh của thực phẩm (cơm, pizza, bánh ngọt, bánh gato, đồ ăn nhiều ngăn,...)</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Đệm bảo vệ, chống sốc cho các thiết bị, linh kiện điện tử</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Đệm chống sốc, góc bảo vệ cho quá trình vận chuyển đồ đồ nội thất, e-commerce.</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Dịch vụ thiết kế - khuôn - mẫu thử tính phí theo dự án.</a:t>
            </a:r>
            <a:endParaRPr lang="en-US" sz="850" dirty="0"/>
          </a:p>
        </p:txBody>
      </p:sp>
      <p:sp>
        <p:nvSpPr>
          <p:cNvPr id="33" name="Text 31"/>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34" name="Text 32"/>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35" name="Text 33"/>
          <p:cNvSpPr txBox="1"/>
          <p:nvPr/>
        </p:nvSpPr>
        <p:spPr>
          <a:xfrm>
            <a:off x="484632" y="5905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1. ĐỀ XUẤT Ý TƯỞNG KHỞI NGHIỆP</a:t>
            </a:r>
            <a:endParaRPr lang="en-US" sz="880" dirty="0"/>
          </a:p>
        </p:txBody>
      </p:sp>
      <p:sp>
        <p:nvSpPr>
          <p:cNvPr id="36" name="Text 34"/>
          <p:cNvSpPr txBox="1"/>
          <p:nvPr/>
        </p:nvSpPr>
        <p:spPr>
          <a:xfrm>
            <a:off x="405354" y="862005"/>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Hộp bã mía đắt gấp 3–5 lần hộp xốp EPS cùng dung tích</a:t>
            </a:r>
            <a:endParaRPr lang="en-US" sz="720" dirty="0"/>
          </a:p>
        </p:txBody>
      </p:sp>
      <p:sp>
        <p:nvSpPr>
          <p:cNvPr id="37" name="Text 35"/>
          <p:cNvSpPr txBox="1"/>
          <p:nvPr/>
        </p:nvSpPr>
        <p:spPr>
          <a:xfrm>
            <a:off x="405354" y="1099109"/>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Giá tham khảo hộp 500 ml có nắp, đồng/chiếc</a:t>
            </a:r>
            <a:endParaRPr lang="en-US" sz="630" dirty="0"/>
          </a:p>
        </p:txBody>
      </p:sp>
      <p:sp>
        <p:nvSpPr>
          <p:cNvPr id="38" name="Text 36"/>
          <p:cNvSpPr txBox="1"/>
          <p:nvPr/>
        </p:nvSpPr>
        <p:spPr>
          <a:xfrm>
            <a:off x="405354" y="2066910"/>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QueenPack.com, baobixanh.com (bảng giá của nhóm); giá AgriPack: bảng chiến lược giá (Mục 1.2.2)</a:t>
            </a:r>
            <a:endParaRPr lang="en-US" sz="600" dirty="0"/>
          </a:p>
        </p:txBody>
      </p:sp>
      <p:sp>
        <p:nvSpPr>
          <p:cNvPr id="39" name="Text 37"/>
          <p:cNvSpPr txBox="1"/>
          <p:nvPr/>
        </p:nvSpPr>
        <p:spPr>
          <a:xfrm>
            <a:off x="2745303" y="84518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Tổng quan doanh nghiệp</a:t>
            </a:r>
            <a:endParaRPr lang="en-US" sz="900" dirty="0"/>
          </a:p>
        </p:txBody>
      </p:sp>
      <p:sp>
        <p:nvSpPr>
          <p:cNvPr id="40" name="Text 38"/>
          <p:cNvSpPr txBox="1"/>
          <p:nvPr/>
        </p:nvSpPr>
        <p:spPr>
          <a:xfrm>
            <a:off x="2745303" y="1014618"/>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CTCP AgriPack là một doanh nghiệp khởi nghiệp sáng tạo, hoạt động sản xuất trong lĩnh vực bao bì bền vững. Doanh nghiệp được giả định thành lập vào năm 2021 với sứ mệnh tạo ra những chiếc bao bì, lớp đệm đóng gói và bảo vệ bằng các chất liệu thân thiện với môi trường, từ đó lan tỏa vẻ đẹp xanh của sự tái chế và niềm tin vào một cuộc sống bền vững. Doanh nghiệp đặt ra tầm nhìn trở thành biểu tượng hàng đầu Việt Nam lan tỏa lối sống xanh trên từng chiếc sản phẩm trao tay. Hiện nay, AgriPack có một nhà máy sản xuất tại Gia Lai, kinh doanh tập trung cho doanh nghiệp và hộ kinh doanh ở các tỉnh miền Trung và Nam.</a:t>
            </a:r>
            <a:endParaRPr lang="en-US" sz="850" dirty="0"/>
          </a:p>
        </p:txBody>
      </p:sp>
      <p:sp>
        <p:nvSpPr>
          <p:cNvPr id="41" name="Text 39"/>
          <p:cNvSpPr txBox="1"/>
          <p:nvPr/>
        </p:nvSpPr>
        <p:spPr>
          <a:xfrm>
            <a:off x="2745303" y="1973184"/>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1.1 Sản phẩm kinh doanh</a:t>
            </a:r>
            <a:endParaRPr lang="en-US" sz="900" dirty="0"/>
          </a:p>
        </p:txBody>
      </p:sp>
      <p:sp>
        <p:nvSpPr>
          <p:cNvPr id="42" name="Text 40"/>
          <p:cNvSpPr txBox="1"/>
          <p:nvPr/>
        </p:nvSpPr>
        <p:spPr>
          <a:xfrm>
            <a:off x="2745303" y="2142531"/>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1.1.1. Vấn đề thị trường</a:t>
            </a:r>
            <a:endParaRPr lang="en-US" sz="820" dirty="0"/>
          </a:p>
        </p:txBody>
      </p:sp>
      <p:sp>
        <p:nvSpPr>
          <p:cNvPr id="43" name="Text 41"/>
          <p:cNvSpPr txBox="1"/>
          <p:nvPr/>
        </p:nvSpPr>
        <p:spPr>
          <a:xfrm>
            <a:off x="2745303" y="2289109"/>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Thị trường nhựa năm 2026 đạt khoảng 12,83 triệu tấn và dự kiến chạm mốc 19,16 triệu tấn vào năm 2031 với tốc độ tăng trưởng bình quân 8,35%/năm. Trong đó, nhựa bao bì có tỷ trọng chiếm 50,35% sản lượng, phục vụ chủ yếu cho thực phẩm đồ uống và các hàng tiêu dùng. 46% rác thải nhựa toàn cầu đến từ bao bì nhựa, mang đến sức tàn phá sự sống xung quanh môi trường đất liền và hệ thống sông ngòi (UNEP, 2022, United Nations Environment Programme). Tuy vậy, đây vẫn là sản phẩm được sử dụng thông dụng nhất trong hoạt động kinh doanh của người Việt bởi số lượng sản xuất lớn và giá thành rẻ.</a:t>
            </a:r>
            <a:endParaRPr lang="en-US" sz="850" dirty="0"/>
          </a:p>
        </p:txBody>
      </p:sp>
      <p:sp>
        <p:nvSpPr>
          <p:cNvPr id="44" name="Text 42"/>
          <p:cNvSpPr txBox="1"/>
          <p:nvPr/>
        </p:nvSpPr>
        <p:spPr>
          <a:xfrm>
            <a:off x="2745303" y="3247766"/>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Để giảm thiểu vấn đề rác thải nhựa, Việt Nam đã đưa ra Nghị định số 08/2022/NĐ-CP quy định chi tiết một số điều của Luật Bảo vệ môi trường. Trong đó, điều 64 chỉ ra lộ trình hạn chế sản xuất, nhập khẩu sản phẩm nhựa sử dụng một lần, bao bì nhựa khó phân hủy sinh học và sản phẩm, hàng hóa chứa vi nhựa:</a:t>
            </a:r>
            <a:endParaRPr lang="en-US" sz="850" dirty="0"/>
          </a:p>
        </p:txBody>
      </p:sp>
      <p:sp>
        <p:nvSpPr>
          <p:cNvPr id="45" name="Text 43"/>
          <p:cNvSpPr txBox="1"/>
          <p:nvPr/>
        </p:nvSpPr>
        <p:spPr>
          <a:xfrm>
            <a:off x="2745303" y="5065685"/>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Điều này tạo áp lực chuyển đổi sang các giải pháp bao bì thay thế.</a:t>
            </a:r>
            <a:endParaRPr lang="en-US" sz="850" dirty="0"/>
          </a:p>
        </p:txBody>
      </p:sp>
      <p:sp>
        <p:nvSpPr>
          <p:cNvPr id="46" name="Text 44"/>
          <p:cNvSpPr txBox="1"/>
          <p:nvPr/>
        </p:nvSpPr>
        <p:spPr>
          <a:xfrm>
            <a:off x="2745303" y="5234849"/>
            <a:ext cx="4409237" cy="105247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Các giải pháp hiện nay bao gồm giấy, các-tông, nhựa sinh học (bioplastic) hoặc bã mía làm các chất liệu sản xuất bao bì phục vụ cho việc đóng gói thực phẩm. Tuy nhiên, hạn chế của chất liệu vẫn còn nhiều. Đối với các chất liệu chứa cellulose ưa nước, sự ổn định và tính bền còn yếu, yêu cầu phải được phủ bằng lớp hóa chất gây khó khăn cho việc tái chế. Đối với nhựa sinh học, giá thành và cơ sở hạ tầng sản xuất cần một khoản đầu tư lớn, gây khó khăn cho việc sản xuất hàng loạt và thương mại hóa. Doanh nghiệp và các hộ kinh doanh cần một giải pháp thay thế bao bì nhựa nhưng giá thành vẫn phải rẻ, có khả năng bảo vệ sản phẩm, bền và ổn định. Hiện nay, giá thành bao bì nhựa vẫn rẻ hơn nhiều lần so với bao bì xanh (Fig. 04).</a:t>
            </a:r>
            <a:endParaRPr lang="en-US" sz="850" dirty="0"/>
          </a:p>
        </p:txBody>
      </p:sp>
      <p:sp>
        <p:nvSpPr>
          <p:cNvPr id="47" name="Text 45"/>
          <p:cNvSpPr txBox="1"/>
          <p:nvPr/>
        </p:nvSpPr>
        <p:spPr>
          <a:xfrm>
            <a:off x="2745303" y="6325088"/>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1.1.2. Giải pháp sản phẩm</a:t>
            </a:r>
            <a:endParaRPr lang="en-US" sz="820" dirty="0"/>
          </a:p>
        </p:txBody>
      </p:sp>
      <p:sp>
        <p:nvSpPr>
          <p:cNvPr id="48" name="Text 46"/>
          <p:cNvSpPr txBox="1"/>
          <p:nvPr/>
        </p:nvSpPr>
        <p:spPr>
          <a:xfrm>
            <a:off x="2745303" y="6471666"/>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AgriPack cung ứng bốn loại sản phẩm:</a:t>
            </a:r>
            <a:endParaRPr lang="en-US" sz="850" dirty="0"/>
          </a:p>
        </p:txBody>
      </p:sp>
      <p:sp>
        <p:nvSpPr>
          <p:cNvPr id="49" name="Text 47"/>
          <p:cNvSpPr txBox="1"/>
          <p:nvPr/>
        </p:nvSpPr>
        <p:spPr>
          <a:xfrm>
            <a:off x="2745303" y="7509144"/>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Sản phẩm được làm từ chất liệu bã mía và thêm một thành phần đặc biệt là vỏ trứng. Vỏ trứng chứa thành phần CaCO3, là loại chất phụ gia hay được sử dụng để làm chất độn. Ở tỷ lệ vừa phải, chất giúp giảm chi phí sợi, tăng độ trắng và phẳng. Hiện nay khả năng tăng độ bền đang được thử nghiệm.</a:t>
            </a:r>
            <a:endParaRPr lang="en-US" sz="850" dirty="0"/>
          </a:p>
        </p:txBody>
      </p:sp>
      <p:sp>
        <p:nvSpPr>
          <p:cNvPr id="50" name="Text 48"/>
          <p:cNvSpPr txBox="1"/>
          <p:nvPr/>
        </p:nvSpPr>
        <p:spPr>
          <a:xfrm>
            <a:off x="2745303" y="8072963"/>
            <a:ext cx="4409237" cy="1315730"/>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Các chất liệu bã mía và vỏ trứng đã tận dụng được phế phẩm từ các nhà máy sản xuất đường mía và sản xuất các thực phẩm sử dụng trứng, góp phần tái chế bảo vệ môi trường và tạo ra sản phẩm thay thế hàng tiêu dùng một lần bằng nhựa, đáp ứng với chiến lược xây dựng một nền kinh tế tuần hoàn của Chính phủ Việt Nam. Theo ước tính của nhóm, Việt Nam thải ra ~ 3,3 - 4 triệu tấn bã mía/năm, tương đương với 25-30% sản lượng mía ép, trở thành nguồn thu của AgriPack thông qua hợp đồng thu mua dài hạn. Ngoài ra, các nhà máy sử dụng trứng ví dụ như Bibica từng thuộc PAN Group sử dụng trung bình 600kg vỏ trứng/ngày để sản xuất bánh bông lan (The PAN Group, 2024, Sustainability Report), tương đương với 219 tấn vỏ trứng/năm, tức ước chừng số lượng vỏ trứng của các nhà máy sản xuất bánh tại Việt Nam đủ lớn đáng kể để tạo nguồn thu nguyên liệu cho AgriPack.</a:t>
            </a:r>
            <a:endParaRPr lang="en-US" sz="850" dirty="0"/>
          </a:p>
        </p:txBody>
      </p:sp>
      <p:sp>
        <p:nvSpPr>
          <p:cNvPr id="51" name="Text 49"/>
          <p:cNvSpPr txBox="1"/>
          <p:nvPr/>
        </p:nvSpPr>
        <p:spPr>
          <a:xfrm>
            <a:off x="2745303" y="9426275"/>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1.2. Khách hàng mục tiêu và chiến lược giá bán</a:t>
            </a:r>
            <a:endParaRPr lang="en-US" sz="900" dirty="0"/>
          </a:p>
        </p:txBody>
      </p:sp>
      <p:sp>
        <p:nvSpPr>
          <p:cNvPr id="52" name="Text 50"/>
          <p:cNvSpPr txBox="1"/>
          <p:nvPr/>
        </p:nvSpPr>
        <p:spPr>
          <a:xfrm>
            <a:off x="2745303" y="9595714"/>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1.2.1. Khách hàng mục tiêu</a:t>
            </a:r>
            <a:endParaRPr lang="en-US" sz="820" dirty="0"/>
          </a:p>
        </p:txBody>
      </p:sp>
      <p:sp>
        <p:nvSpPr>
          <p:cNvPr id="53" name="Text 51"/>
          <p:cNvSpPr txBox="1"/>
          <p:nvPr/>
        </p:nvSpPr>
        <p:spPr>
          <a:xfrm>
            <a:off x="2745303" y="9742292"/>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Các tiêu chí lựa chọn khách hàng mục tiêu được thể hiện như sau: (Fig. A01)</a:t>
            </a:r>
            <a:endParaRPr lang="en-US" sz="850" dirty="0"/>
          </a:p>
        </p:txBody>
      </p:sp>
      <p:sp>
        <p:nvSpPr>
          <p:cNvPr id="54" name="Text 52"/>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55" name="Text 53"/>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2</a:t>
            </a:r>
            <a:endParaRPr lang="en-US" sz="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2702143"/>
            <a:ext cx="6749004" cy="0"/>
          </a:xfrm>
          <a:prstGeom prst="line">
            <a:avLst/>
          </a:prstGeom>
          <a:noFill/>
          <a:ln w="9525">
            <a:solidFill>
              <a:srgbClr val="7B1E2B"/>
            </a:solidFill>
            <a:prstDash val="solid"/>
          </a:ln>
        </p:spPr>
      </p:sp>
      <p:sp>
        <p:nvSpPr>
          <p:cNvPr id="5" name="Shape 3"/>
          <p:cNvSpPr/>
          <p:nvPr/>
        </p:nvSpPr>
        <p:spPr>
          <a:xfrm>
            <a:off x="405354" y="4463552"/>
            <a:ext cx="2159996" cy="0"/>
          </a:xfrm>
          <a:prstGeom prst="line">
            <a:avLst/>
          </a:prstGeom>
          <a:noFill/>
          <a:ln w="9525">
            <a:solidFill>
              <a:srgbClr val="7B1E2B"/>
            </a:solidFill>
            <a:prstDash val="solid"/>
          </a:ln>
        </p:spPr>
      </p:sp>
      <p:sp>
        <p:nvSpPr>
          <p:cNvPr id="6" name="Shape 4"/>
          <p:cNvSpPr/>
          <p:nvPr/>
        </p:nvSpPr>
        <p:spPr>
          <a:xfrm>
            <a:off x="405354" y="6210513"/>
            <a:ext cx="2159996" cy="0"/>
          </a:xfrm>
          <a:prstGeom prst="line">
            <a:avLst/>
          </a:prstGeom>
          <a:noFill/>
          <a:ln w="9525">
            <a:solidFill>
              <a:srgbClr val="7B1E2B"/>
            </a:solidFill>
            <a:prstDash val="solid"/>
          </a:ln>
        </p:spPr>
      </p:sp>
      <p:sp>
        <p:nvSpPr>
          <p:cNvPr id="7" name="Shape 5"/>
          <p:cNvSpPr/>
          <p:nvPr/>
        </p:nvSpPr>
        <p:spPr>
          <a:xfrm>
            <a:off x="405354" y="7898404"/>
            <a:ext cx="2159996" cy="0"/>
          </a:xfrm>
          <a:prstGeom prst="line">
            <a:avLst/>
          </a:prstGeom>
          <a:noFill/>
          <a:ln w="9525">
            <a:solidFill>
              <a:srgbClr val="7B1E2B"/>
            </a:solidFill>
            <a:prstDash val="solid"/>
          </a:ln>
        </p:spPr>
      </p:sp>
      <p:sp>
        <p:nvSpPr>
          <p:cNvPr id="8" name="Shape 6"/>
          <p:cNvSpPr/>
          <p:nvPr/>
        </p:nvSpPr>
        <p:spPr>
          <a:xfrm>
            <a:off x="405354" y="10369479"/>
            <a:ext cx="6749004" cy="0"/>
          </a:xfrm>
          <a:prstGeom prst="line">
            <a:avLst/>
          </a:prstGeom>
          <a:noFill/>
          <a:ln w="9525">
            <a:solidFill>
              <a:srgbClr val="BFBFBF"/>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2159996" cy="914400"/>
        </p:xfrm>
        <a:graphic>
          <a:graphicData uri="http://schemas.openxmlformats.org/drawingml/2006/table">
            <a:tbl>
              <a:tblPr/>
              <a:tblGrid>
                <a:gridCol w="993404"/>
                <a:gridCol w="367132"/>
                <a:gridCol w="367132"/>
                <a:gridCol w="432237"/>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Triệu USD</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2025</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2030E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CAGR</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6497">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TAM – bao bì xanh Việt Nam</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1.129,8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1.384,5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SAM – bao bì dùng một lần phân hủy sinh học ngành F&amp;B</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33,93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42,75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4,73%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SOM – doanh thu F&amp;B/FMCG của AgriPack</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1,46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4,69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26,2%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i="1" dirty="0">
                          <a:solidFill>
                            <a:srgbClr val="555555"/>
                          </a:solidFill>
                          <a:latin typeface="Calibri" pitchFamily="34" charset="0"/>
                          <a:ea typeface="Calibri" pitchFamily="34" charset="-122"/>
                          <a:cs typeface="Calibri" pitchFamily="34" charset="-120"/>
                        </a:rPr>
                        <a:t>SOM / SAM</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i="1" dirty="0">
                          <a:solidFill>
                            <a:srgbClr val="555555"/>
                          </a:solidFill>
                          <a:latin typeface="Calibri" pitchFamily="34" charset="0"/>
                          <a:ea typeface="Calibri" pitchFamily="34" charset="-122"/>
                          <a:cs typeface="Calibri" pitchFamily="34" charset="-120"/>
                        </a:rPr>
                        <a:t>4,3%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i="1" dirty="0">
                          <a:solidFill>
                            <a:srgbClr val="555555"/>
                          </a:solidFill>
                          <a:latin typeface="Calibri" pitchFamily="34" charset="0"/>
                          <a:ea typeface="Calibri" pitchFamily="34" charset="-122"/>
                          <a:cs typeface="Calibri" pitchFamily="34" charset="-120"/>
                        </a:rPr>
                        <a:t>11,0%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05354" y="2870302"/>
          <a:ext cx="6749004" cy="914400"/>
        </p:xfrm>
        <a:graphic>
          <a:graphicData uri="http://schemas.openxmlformats.org/drawingml/2006/table">
            <a:tbl>
              <a:tblPr/>
              <a:tblGrid>
                <a:gridCol w="1147298"/>
                <a:gridCol w="1619677"/>
                <a:gridCol w="1957090"/>
                <a:gridCol w="2024939"/>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Phân khúc sản phẩm AgriPack</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Sản phẩm thay thế tham chiếu</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Giá thị trường tham chiếu (Cơ sở xác định giá)</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Giá bán AgriPack</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44019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Hộp/khay F&amp;B, FMCG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Hộp bã mía Thái Lan và Trung Quốc (ecoeshop.com)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 Giá hộp bã mía Thái Lan:</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2.100 – 2.4000đ/cái (dung tích 600ml)</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Giá hộp bã mía Trung Quốc: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1.900 – 4.000đ/cái (dung tích 600 - 750ml)</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2.500 – 4.000 đ/cái (tùy dung tích từ 500ml – 800ml)</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Đệm bảo vệ thiết bị, linh kiện điện tử</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2.600 - 18.200đ/cái (ép khuôn tiêu chuẩn)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2.500 – 18.500đ/ cái (biến động theo độ phức tạp thiết kế, phương pháp ép, xử lý lớp phủ, lượng vật liệu kích thước)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Đệm bảo vệ nội thất/e-commerce</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520 - 11.700đ/cái (ép khuôn cơ bản)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600 – 11.500đ/ cái (biến động theo độ phức tạp thiết kế, phương pháp ép, xử lý lớp phủ, lượng vật liệu kích thước)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Thiết kế - Chế tạo khuôn – Ép mẫu thử</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Báo giá theo dự án</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Khoảng 20 triệu đồng/ bộ khuôn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Báo giá theo dự án</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Khoảng 20 triệu đồng/ bộ khuôn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pSp>
        <p:nvGrpSpPr>
          <p:cNvPr id="131" name="Fig. 07 – biểu đồ"/>
          <p:cNvGrpSpPr/>
          <p:nvPr/>
        </p:nvGrpSpPr>
        <p:grpSpPr>
          <a:xfrm>
            <a:off x="444764" y="4844766"/>
            <a:ext cx="2081266" cy="1078626"/>
            <a:chOff x="444764" y="4844766"/>
            <a:chExt cx="2081266" cy="1078626"/>
          </a:xfrm>
        </p:grpSpPr>
        <p:sp>
          <p:nvSpPr>
            <p:cNvPr id="11" name="svg0_0"/>
            <p:cNvSpPr/>
            <p:nvPr/>
          </p:nvSpPr>
          <p:spPr>
            <a:xfrm>
              <a:off x="576621" y="5601706"/>
              <a:ext cx="430042" cy="202814"/>
            </a:xfrm>
            <a:prstGeom prst="rect">
              <a:avLst/>
            </a:prstGeom>
            <a:solidFill>
              <a:srgbClr val="7B1E2B"/>
            </a:solidFill>
            <a:ln w="6858">
              <a:solidFill>
                <a:srgbClr val="FFFFFF"/>
              </a:solidFill>
              <a:prstDash val="solid"/>
            </a:ln>
          </p:spPr>
        </p:sp>
        <p:sp>
          <p:nvSpPr>
            <p:cNvPr id="12" name="svg0_1"/>
            <p:cNvSpPr txBox="1"/>
            <p:nvPr/>
          </p:nvSpPr>
          <p:spPr>
            <a:xfrm>
              <a:off x="702259" y="5653644"/>
              <a:ext cx="184800"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77%</a:t>
              </a:r>
              <a:endParaRPr lang="en-US" sz="557" dirty="0"/>
            </a:p>
          </p:txBody>
        </p:sp>
        <p:sp>
          <p:nvSpPr>
            <p:cNvPr id="13" name="svg0_2"/>
            <p:cNvSpPr/>
            <p:nvPr/>
          </p:nvSpPr>
          <p:spPr>
            <a:xfrm>
              <a:off x="576621" y="5561106"/>
              <a:ext cx="430042" cy="40599"/>
            </a:xfrm>
            <a:prstGeom prst="rect">
              <a:avLst/>
            </a:prstGeom>
            <a:solidFill>
              <a:srgbClr val="A3A3A3"/>
            </a:solidFill>
            <a:ln w="6858">
              <a:solidFill>
                <a:srgbClr val="FFFFFF"/>
              </a:solidFill>
              <a:prstDash val="solid"/>
            </a:ln>
          </p:spPr>
        </p:sp>
        <p:sp>
          <p:nvSpPr>
            <p:cNvPr id="14" name="svg0_3"/>
            <p:cNvSpPr/>
            <p:nvPr/>
          </p:nvSpPr>
          <p:spPr>
            <a:xfrm>
              <a:off x="576621" y="5540624"/>
              <a:ext cx="430042" cy="20574"/>
            </a:xfrm>
            <a:prstGeom prst="rect">
              <a:avLst/>
            </a:prstGeom>
            <a:solidFill>
              <a:srgbClr val="404040"/>
            </a:solidFill>
            <a:ln w="6858">
              <a:solidFill>
                <a:srgbClr val="FFFFFF"/>
              </a:solidFill>
              <a:prstDash val="solid"/>
            </a:ln>
          </p:spPr>
        </p:sp>
        <p:sp>
          <p:nvSpPr>
            <p:cNvPr id="15" name="svg0_4"/>
            <p:cNvSpPr txBox="1"/>
            <p:nvPr/>
          </p:nvSpPr>
          <p:spPr>
            <a:xfrm>
              <a:off x="688360" y="5431170"/>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19,6</a:t>
              </a:r>
              <a:endParaRPr lang="en-US" sz="649" dirty="0"/>
            </a:p>
          </p:txBody>
        </p:sp>
        <p:sp>
          <p:nvSpPr>
            <p:cNvPr id="16" name="svg0_5"/>
            <p:cNvSpPr txBox="1"/>
            <p:nvPr/>
          </p:nvSpPr>
          <p:spPr>
            <a:xfrm>
              <a:off x="686074" y="5818602"/>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2023</a:t>
              </a:r>
              <a:endParaRPr lang="en-US" sz="587" dirty="0"/>
            </a:p>
          </p:txBody>
        </p:sp>
        <p:sp>
          <p:nvSpPr>
            <p:cNvPr id="17" name="svg0_6"/>
            <p:cNvSpPr/>
            <p:nvPr/>
          </p:nvSpPr>
          <p:spPr>
            <a:xfrm>
              <a:off x="1270284" y="5479999"/>
              <a:ext cx="430134" cy="324521"/>
            </a:xfrm>
            <a:prstGeom prst="rect">
              <a:avLst/>
            </a:prstGeom>
            <a:solidFill>
              <a:srgbClr val="7B1E2B"/>
            </a:solidFill>
            <a:ln w="6858">
              <a:solidFill>
                <a:srgbClr val="FFFFFF"/>
              </a:solidFill>
              <a:prstDash val="solid"/>
            </a:ln>
          </p:spPr>
        </p:sp>
        <p:sp>
          <p:nvSpPr>
            <p:cNvPr id="18" name="svg0_7"/>
            <p:cNvSpPr txBox="1"/>
            <p:nvPr/>
          </p:nvSpPr>
          <p:spPr>
            <a:xfrm>
              <a:off x="1396289" y="5592836"/>
              <a:ext cx="184800"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77%</a:t>
              </a:r>
              <a:endParaRPr lang="en-US" sz="557" dirty="0"/>
            </a:p>
          </p:txBody>
        </p:sp>
        <p:sp>
          <p:nvSpPr>
            <p:cNvPr id="19" name="svg0_8"/>
            <p:cNvSpPr/>
            <p:nvPr/>
          </p:nvSpPr>
          <p:spPr>
            <a:xfrm>
              <a:off x="1270284" y="5423124"/>
              <a:ext cx="430134" cy="56876"/>
            </a:xfrm>
            <a:prstGeom prst="rect">
              <a:avLst/>
            </a:prstGeom>
            <a:solidFill>
              <a:srgbClr val="A3A3A3"/>
            </a:solidFill>
            <a:ln w="6858">
              <a:solidFill>
                <a:srgbClr val="FFFFFF"/>
              </a:solidFill>
              <a:prstDash val="solid"/>
            </a:ln>
          </p:spPr>
        </p:sp>
        <p:sp>
          <p:nvSpPr>
            <p:cNvPr id="20" name="svg0_9"/>
            <p:cNvSpPr/>
            <p:nvPr/>
          </p:nvSpPr>
          <p:spPr>
            <a:xfrm>
              <a:off x="1270284" y="5392491"/>
              <a:ext cx="430134" cy="30724"/>
            </a:xfrm>
            <a:prstGeom prst="rect">
              <a:avLst/>
            </a:prstGeom>
            <a:solidFill>
              <a:srgbClr val="404040"/>
            </a:solidFill>
            <a:ln w="6858">
              <a:solidFill>
                <a:srgbClr val="FFFFFF"/>
              </a:solidFill>
              <a:prstDash val="solid"/>
            </a:ln>
          </p:spPr>
        </p:sp>
        <p:sp>
          <p:nvSpPr>
            <p:cNvPr id="21" name="svg0_10"/>
            <p:cNvSpPr/>
            <p:nvPr/>
          </p:nvSpPr>
          <p:spPr>
            <a:xfrm>
              <a:off x="1270284" y="5384902"/>
              <a:ext cx="430134" cy="7590"/>
            </a:xfrm>
            <a:prstGeom prst="rect">
              <a:avLst/>
            </a:prstGeom>
            <a:solidFill>
              <a:srgbClr val="D0D0D0"/>
            </a:solidFill>
            <a:ln w="6858">
              <a:solidFill>
                <a:srgbClr val="FFFFFF"/>
              </a:solidFill>
              <a:prstDash val="solid"/>
            </a:ln>
          </p:spPr>
        </p:sp>
        <p:sp>
          <p:nvSpPr>
            <p:cNvPr id="22" name="svg0_11"/>
            <p:cNvSpPr txBox="1"/>
            <p:nvPr/>
          </p:nvSpPr>
          <p:spPr>
            <a:xfrm>
              <a:off x="1382481" y="5275997"/>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31,2</a:t>
              </a:r>
              <a:endParaRPr lang="en-US" sz="649" dirty="0"/>
            </a:p>
          </p:txBody>
        </p:sp>
        <p:sp>
          <p:nvSpPr>
            <p:cNvPr id="23" name="svg0_12"/>
            <p:cNvSpPr txBox="1"/>
            <p:nvPr/>
          </p:nvSpPr>
          <p:spPr>
            <a:xfrm>
              <a:off x="1380104" y="5818602"/>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2024</a:t>
              </a:r>
              <a:endParaRPr lang="en-US" sz="587" dirty="0"/>
            </a:p>
          </p:txBody>
        </p:sp>
        <p:sp>
          <p:nvSpPr>
            <p:cNvPr id="24" name="svg0_13"/>
            <p:cNvSpPr/>
            <p:nvPr/>
          </p:nvSpPr>
          <p:spPr>
            <a:xfrm>
              <a:off x="1964040" y="5291999"/>
              <a:ext cx="430134" cy="512521"/>
            </a:xfrm>
            <a:prstGeom prst="rect">
              <a:avLst/>
            </a:prstGeom>
            <a:solidFill>
              <a:srgbClr val="7B1E2B"/>
            </a:solidFill>
            <a:ln w="6858">
              <a:solidFill>
                <a:srgbClr val="FFFFFF"/>
              </a:solidFill>
              <a:prstDash val="solid"/>
            </a:ln>
          </p:spPr>
        </p:sp>
        <p:sp>
          <p:nvSpPr>
            <p:cNvPr id="25" name="svg0_14"/>
            <p:cNvSpPr txBox="1"/>
            <p:nvPr/>
          </p:nvSpPr>
          <p:spPr>
            <a:xfrm>
              <a:off x="2090410" y="5498562"/>
              <a:ext cx="184800"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79%</a:t>
              </a:r>
              <a:endParaRPr lang="en-US" sz="557" dirty="0"/>
            </a:p>
          </p:txBody>
        </p:sp>
        <p:sp>
          <p:nvSpPr>
            <p:cNvPr id="26" name="svg0_15"/>
            <p:cNvSpPr/>
            <p:nvPr/>
          </p:nvSpPr>
          <p:spPr>
            <a:xfrm>
              <a:off x="1964040" y="5212537"/>
              <a:ext cx="430134" cy="79461"/>
            </a:xfrm>
            <a:prstGeom prst="rect">
              <a:avLst/>
            </a:prstGeom>
            <a:solidFill>
              <a:srgbClr val="A3A3A3"/>
            </a:solidFill>
            <a:ln w="6858">
              <a:solidFill>
                <a:srgbClr val="FFFFFF"/>
              </a:solidFill>
              <a:prstDash val="solid"/>
            </a:ln>
          </p:spPr>
        </p:sp>
        <p:sp>
          <p:nvSpPr>
            <p:cNvPr id="27" name="svg0_16"/>
            <p:cNvSpPr/>
            <p:nvPr/>
          </p:nvSpPr>
          <p:spPr>
            <a:xfrm>
              <a:off x="1964040" y="5175595"/>
              <a:ext cx="430134" cy="36850"/>
            </a:xfrm>
            <a:prstGeom prst="rect">
              <a:avLst/>
            </a:prstGeom>
            <a:solidFill>
              <a:srgbClr val="404040"/>
            </a:solidFill>
            <a:ln w="6858">
              <a:solidFill>
                <a:srgbClr val="FFFFFF"/>
              </a:solidFill>
              <a:prstDash val="solid"/>
            </a:ln>
          </p:spPr>
        </p:sp>
        <p:sp>
          <p:nvSpPr>
            <p:cNvPr id="28" name="svg0_17"/>
            <p:cNvSpPr/>
            <p:nvPr/>
          </p:nvSpPr>
          <p:spPr>
            <a:xfrm>
              <a:off x="1964040" y="5159593"/>
              <a:ext cx="430134" cy="16002"/>
            </a:xfrm>
            <a:prstGeom prst="rect">
              <a:avLst/>
            </a:prstGeom>
            <a:solidFill>
              <a:srgbClr val="D0D0D0"/>
            </a:solidFill>
            <a:ln w="6858">
              <a:solidFill>
                <a:srgbClr val="FFFFFF"/>
              </a:solidFill>
              <a:prstDash val="solid"/>
            </a:ln>
          </p:spPr>
        </p:sp>
        <p:sp>
          <p:nvSpPr>
            <p:cNvPr id="29" name="svg0_18"/>
            <p:cNvSpPr txBox="1"/>
            <p:nvPr/>
          </p:nvSpPr>
          <p:spPr>
            <a:xfrm>
              <a:off x="2076511" y="5050231"/>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47,9</a:t>
              </a:r>
              <a:endParaRPr lang="en-US" sz="649" dirty="0"/>
            </a:p>
          </p:txBody>
        </p:sp>
        <p:sp>
          <p:nvSpPr>
            <p:cNvPr id="30" name="svg0_19"/>
            <p:cNvSpPr txBox="1"/>
            <p:nvPr/>
          </p:nvSpPr>
          <p:spPr>
            <a:xfrm>
              <a:off x="2074225" y="5818602"/>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2025</a:t>
              </a:r>
              <a:endParaRPr lang="en-US" sz="587" dirty="0"/>
            </a:p>
          </p:txBody>
        </p:sp>
        <p:sp>
          <p:nvSpPr>
            <p:cNvPr id="31" name="svg0_20"/>
            <p:cNvSpPr/>
            <p:nvPr/>
          </p:nvSpPr>
          <p:spPr>
            <a:xfrm>
              <a:off x="444764" y="5804520"/>
              <a:ext cx="2081266" cy="0"/>
            </a:xfrm>
            <a:prstGeom prst="line">
              <a:avLst/>
            </a:prstGeom>
            <a:noFill/>
            <a:ln w="6858">
              <a:solidFill>
                <a:srgbClr val="8C8C8C"/>
              </a:solidFill>
              <a:prstDash val="solid"/>
            </a:ln>
          </p:spPr>
        </p:sp>
        <p:sp>
          <p:nvSpPr>
            <p:cNvPr id="32" name="svg0_21"/>
            <p:cNvSpPr/>
            <p:nvPr/>
          </p:nvSpPr>
          <p:spPr>
            <a:xfrm>
              <a:off x="444764" y="4865980"/>
              <a:ext cx="60899" cy="60899"/>
            </a:xfrm>
            <a:prstGeom prst="rect">
              <a:avLst/>
            </a:prstGeom>
            <a:solidFill>
              <a:srgbClr val="7B1E2B"/>
            </a:solidFill>
            <a:ln/>
          </p:spPr>
        </p:sp>
        <p:sp>
          <p:nvSpPr>
            <p:cNvPr id="33" name="svg0_22"/>
            <p:cNvSpPr txBox="1"/>
            <p:nvPr/>
          </p:nvSpPr>
          <p:spPr>
            <a:xfrm>
              <a:off x="528157" y="4844766"/>
              <a:ext cx="671901"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Thực phẩm/FMCG</a:t>
              </a:r>
              <a:endParaRPr lang="en-US" sz="587" dirty="0"/>
            </a:p>
          </p:txBody>
        </p:sp>
        <p:sp>
          <p:nvSpPr>
            <p:cNvPr id="34" name="svg0_23"/>
            <p:cNvSpPr/>
            <p:nvPr/>
          </p:nvSpPr>
          <p:spPr>
            <a:xfrm>
              <a:off x="1107430" y="4865980"/>
              <a:ext cx="60899" cy="60899"/>
            </a:xfrm>
            <a:prstGeom prst="rect">
              <a:avLst/>
            </a:prstGeom>
            <a:solidFill>
              <a:srgbClr val="A3A3A3"/>
            </a:solidFill>
            <a:ln/>
          </p:spPr>
        </p:sp>
        <p:sp>
          <p:nvSpPr>
            <p:cNvPr id="35" name="svg0_24"/>
            <p:cNvSpPr txBox="1"/>
            <p:nvPr/>
          </p:nvSpPr>
          <p:spPr>
            <a:xfrm>
              <a:off x="1190823" y="4844766"/>
              <a:ext cx="663397"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Thiết kế theo mẫu</a:t>
              </a:r>
              <a:endParaRPr lang="en-US" sz="587" dirty="0"/>
            </a:p>
          </p:txBody>
        </p:sp>
        <p:sp>
          <p:nvSpPr>
            <p:cNvPr id="36" name="svg0_25"/>
            <p:cNvSpPr/>
            <p:nvPr/>
          </p:nvSpPr>
          <p:spPr>
            <a:xfrm>
              <a:off x="1875343" y="4865980"/>
              <a:ext cx="60899" cy="60899"/>
            </a:xfrm>
            <a:prstGeom prst="rect">
              <a:avLst/>
            </a:prstGeom>
            <a:solidFill>
              <a:srgbClr val="404040"/>
            </a:solidFill>
            <a:ln/>
          </p:spPr>
        </p:sp>
        <p:sp>
          <p:nvSpPr>
            <p:cNvPr id="37" name="svg0_26"/>
            <p:cNvSpPr txBox="1"/>
            <p:nvPr/>
          </p:nvSpPr>
          <p:spPr>
            <a:xfrm>
              <a:off x="1958553" y="4844766"/>
              <a:ext cx="565374"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Nội thất/E-com</a:t>
              </a:r>
              <a:endParaRPr lang="en-US" sz="587" dirty="0"/>
            </a:p>
          </p:txBody>
        </p:sp>
        <p:sp>
          <p:nvSpPr>
            <p:cNvPr id="38" name="svg0_27"/>
            <p:cNvSpPr/>
            <p:nvPr/>
          </p:nvSpPr>
          <p:spPr>
            <a:xfrm>
              <a:off x="444764" y="4954311"/>
              <a:ext cx="60899" cy="60899"/>
            </a:xfrm>
            <a:prstGeom prst="rect">
              <a:avLst/>
            </a:prstGeom>
            <a:solidFill>
              <a:srgbClr val="D0D0D0"/>
            </a:solidFill>
            <a:ln/>
          </p:spPr>
        </p:sp>
        <p:sp>
          <p:nvSpPr>
            <p:cNvPr id="39" name="svg0_28"/>
            <p:cNvSpPr txBox="1"/>
            <p:nvPr/>
          </p:nvSpPr>
          <p:spPr>
            <a:xfrm>
              <a:off x="528157" y="4933097"/>
              <a:ext cx="299557"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Điện tử</a:t>
              </a:r>
              <a:endParaRPr lang="en-US" sz="587" dirty="0"/>
            </a:p>
          </p:txBody>
        </p:sp>
      </p:grpSp>
      <p:grpSp>
        <p:nvGrpSpPr>
          <p:cNvPr id="132" name="Fig. 08 – biểu đồ"/>
          <p:cNvGrpSpPr/>
          <p:nvPr/>
        </p:nvGrpSpPr>
        <p:grpSpPr>
          <a:xfrm>
            <a:off x="444856" y="6591635"/>
            <a:ext cx="2081083" cy="1019830"/>
            <a:chOff x="444856" y="6591635"/>
            <a:chExt cx="2081083" cy="1019830"/>
          </a:xfrm>
        </p:grpSpPr>
        <p:sp>
          <p:nvSpPr>
            <p:cNvPr id="40" name="svg1_29"/>
            <p:cNvSpPr/>
            <p:nvPr/>
          </p:nvSpPr>
          <p:spPr>
            <a:xfrm>
              <a:off x="576621" y="7390912"/>
              <a:ext cx="430042" cy="101590"/>
            </a:xfrm>
            <a:prstGeom prst="rect">
              <a:avLst/>
            </a:prstGeom>
            <a:solidFill>
              <a:srgbClr val="D0D0D0"/>
            </a:solidFill>
            <a:ln w="6858">
              <a:solidFill>
                <a:srgbClr val="FFFFFF"/>
              </a:solidFill>
              <a:prstDash val="solid"/>
            </a:ln>
          </p:spPr>
        </p:sp>
        <p:sp>
          <p:nvSpPr>
            <p:cNvPr id="41" name="svg1_30"/>
            <p:cNvSpPr txBox="1"/>
            <p:nvPr/>
          </p:nvSpPr>
          <p:spPr>
            <a:xfrm>
              <a:off x="721279" y="7391827"/>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6,0</a:t>
              </a:r>
              <a:endParaRPr lang="en-US" sz="557" dirty="0"/>
            </a:p>
          </p:txBody>
        </p:sp>
        <p:sp>
          <p:nvSpPr>
            <p:cNvPr id="42" name="svg1_31"/>
            <p:cNvSpPr/>
            <p:nvPr/>
          </p:nvSpPr>
          <p:spPr>
            <a:xfrm>
              <a:off x="576621" y="7235373"/>
              <a:ext cx="430042" cy="155539"/>
            </a:xfrm>
            <a:prstGeom prst="rect">
              <a:avLst/>
            </a:prstGeom>
            <a:solidFill>
              <a:srgbClr val="7B1E2B"/>
            </a:solidFill>
            <a:ln w="6858">
              <a:solidFill>
                <a:srgbClr val="FFFFFF"/>
              </a:solidFill>
              <a:prstDash val="solid"/>
            </a:ln>
          </p:spPr>
        </p:sp>
        <p:sp>
          <p:nvSpPr>
            <p:cNvPr id="43" name="svg1_32"/>
            <p:cNvSpPr txBox="1"/>
            <p:nvPr/>
          </p:nvSpPr>
          <p:spPr>
            <a:xfrm>
              <a:off x="721279" y="7263171"/>
              <a:ext cx="142372"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9,2</a:t>
              </a:r>
              <a:endParaRPr lang="en-US" sz="557" dirty="0"/>
            </a:p>
          </p:txBody>
        </p:sp>
        <p:sp>
          <p:nvSpPr>
            <p:cNvPr id="44" name="svg1_33"/>
            <p:cNvSpPr/>
            <p:nvPr/>
          </p:nvSpPr>
          <p:spPr>
            <a:xfrm>
              <a:off x="576621" y="7117141"/>
              <a:ext cx="430042" cy="118232"/>
            </a:xfrm>
            <a:prstGeom prst="rect">
              <a:avLst/>
            </a:prstGeom>
            <a:solidFill>
              <a:srgbClr val="A3A3A3"/>
            </a:solidFill>
            <a:ln w="6858">
              <a:solidFill>
                <a:srgbClr val="FFFFFF"/>
              </a:solidFill>
              <a:prstDash val="solid"/>
            </a:ln>
          </p:spPr>
        </p:sp>
        <p:sp>
          <p:nvSpPr>
            <p:cNvPr id="45" name="svg1_34"/>
            <p:cNvSpPr txBox="1"/>
            <p:nvPr/>
          </p:nvSpPr>
          <p:spPr>
            <a:xfrm>
              <a:off x="721279" y="7126742"/>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7,0</a:t>
              </a:r>
              <a:endParaRPr lang="en-US" sz="557" dirty="0"/>
            </a:p>
          </p:txBody>
        </p:sp>
        <p:sp>
          <p:nvSpPr>
            <p:cNvPr id="46" name="svg1_35"/>
            <p:cNvSpPr txBox="1"/>
            <p:nvPr/>
          </p:nvSpPr>
          <p:spPr>
            <a:xfrm>
              <a:off x="688360" y="7008236"/>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22,2</a:t>
              </a:r>
              <a:endParaRPr lang="en-US" sz="649" dirty="0"/>
            </a:p>
          </p:txBody>
        </p:sp>
        <p:sp>
          <p:nvSpPr>
            <p:cNvPr id="47" name="svg1_36"/>
            <p:cNvSpPr txBox="1"/>
            <p:nvPr/>
          </p:nvSpPr>
          <p:spPr>
            <a:xfrm>
              <a:off x="686074" y="7506675"/>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2023</a:t>
              </a:r>
              <a:endParaRPr lang="en-US" sz="587" dirty="0"/>
            </a:p>
          </p:txBody>
        </p:sp>
        <p:sp>
          <p:nvSpPr>
            <p:cNvPr id="48" name="svg1_37"/>
            <p:cNvSpPr/>
            <p:nvPr/>
          </p:nvSpPr>
          <p:spPr>
            <a:xfrm>
              <a:off x="1270284" y="7342266"/>
              <a:ext cx="430134" cy="150327"/>
            </a:xfrm>
            <a:prstGeom prst="rect">
              <a:avLst/>
            </a:prstGeom>
            <a:solidFill>
              <a:srgbClr val="D0D0D0"/>
            </a:solidFill>
            <a:ln w="6858">
              <a:solidFill>
                <a:srgbClr val="FFFFFF"/>
              </a:solidFill>
              <a:prstDash val="solid"/>
            </a:ln>
          </p:spPr>
        </p:sp>
        <p:sp>
          <p:nvSpPr>
            <p:cNvPr id="49" name="svg1_38"/>
            <p:cNvSpPr txBox="1"/>
            <p:nvPr/>
          </p:nvSpPr>
          <p:spPr>
            <a:xfrm>
              <a:off x="1415400" y="7367229"/>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8,9</a:t>
              </a:r>
              <a:endParaRPr lang="en-US" sz="557" dirty="0"/>
            </a:p>
          </p:txBody>
        </p:sp>
        <p:sp>
          <p:nvSpPr>
            <p:cNvPr id="50" name="svg1_39"/>
            <p:cNvSpPr/>
            <p:nvPr/>
          </p:nvSpPr>
          <p:spPr>
            <a:xfrm>
              <a:off x="1270284" y="7133783"/>
              <a:ext cx="430134" cy="208392"/>
            </a:xfrm>
            <a:prstGeom prst="rect">
              <a:avLst/>
            </a:prstGeom>
            <a:solidFill>
              <a:srgbClr val="7B1E2B"/>
            </a:solidFill>
            <a:ln w="6858">
              <a:solidFill>
                <a:srgbClr val="FFFFFF"/>
              </a:solidFill>
              <a:prstDash val="solid"/>
            </a:ln>
          </p:spPr>
        </p:sp>
        <p:sp>
          <p:nvSpPr>
            <p:cNvPr id="51" name="svg1_40"/>
            <p:cNvSpPr txBox="1"/>
            <p:nvPr/>
          </p:nvSpPr>
          <p:spPr>
            <a:xfrm>
              <a:off x="1395009" y="7188647"/>
              <a:ext cx="183154"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12,3</a:t>
              </a:r>
              <a:endParaRPr lang="en-US" sz="557" dirty="0"/>
            </a:p>
          </p:txBody>
        </p:sp>
        <p:sp>
          <p:nvSpPr>
            <p:cNvPr id="52" name="svg1_41"/>
            <p:cNvSpPr/>
            <p:nvPr/>
          </p:nvSpPr>
          <p:spPr>
            <a:xfrm>
              <a:off x="1270284" y="7003755"/>
              <a:ext cx="430134" cy="130028"/>
            </a:xfrm>
            <a:prstGeom prst="rect">
              <a:avLst/>
            </a:prstGeom>
            <a:solidFill>
              <a:srgbClr val="A3A3A3"/>
            </a:solidFill>
            <a:ln w="6858">
              <a:solidFill>
                <a:srgbClr val="FFFFFF"/>
              </a:solidFill>
              <a:prstDash val="solid"/>
            </a:ln>
          </p:spPr>
        </p:sp>
        <p:sp>
          <p:nvSpPr>
            <p:cNvPr id="53" name="svg1_42"/>
            <p:cNvSpPr txBox="1"/>
            <p:nvPr/>
          </p:nvSpPr>
          <p:spPr>
            <a:xfrm>
              <a:off x="1415400" y="7018752"/>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7,7</a:t>
              </a:r>
              <a:endParaRPr lang="en-US" sz="557" dirty="0"/>
            </a:p>
          </p:txBody>
        </p:sp>
        <p:sp>
          <p:nvSpPr>
            <p:cNvPr id="54" name="svg1_43"/>
            <p:cNvSpPr txBox="1"/>
            <p:nvPr/>
          </p:nvSpPr>
          <p:spPr>
            <a:xfrm>
              <a:off x="1382481" y="6894393"/>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28,9</a:t>
              </a:r>
              <a:endParaRPr lang="en-US" sz="649" dirty="0"/>
            </a:p>
          </p:txBody>
        </p:sp>
        <p:sp>
          <p:nvSpPr>
            <p:cNvPr id="55" name="svg1_44"/>
            <p:cNvSpPr txBox="1"/>
            <p:nvPr/>
          </p:nvSpPr>
          <p:spPr>
            <a:xfrm>
              <a:off x="1380104" y="7506675"/>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2024</a:t>
              </a:r>
              <a:endParaRPr lang="en-US" sz="587" dirty="0"/>
            </a:p>
          </p:txBody>
        </p:sp>
        <p:sp>
          <p:nvSpPr>
            <p:cNvPr id="56" name="svg1_45"/>
            <p:cNvSpPr/>
            <p:nvPr/>
          </p:nvSpPr>
          <p:spPr>
            <a:xfrm>
              <a:off x="1964040" y="7273961"/>
              <a:ext cx="430042" cy="218633"/>
            </a:xfrm>
            <a:prstGeom prst="rect">
              <a:avLst/>
            </a:prstGeom>
            <a:solidFill>
              <a:srgbClr val="D0D0D0"/>
            </a:solidFill>
            <a:ln w="6858">
              <a:solidFill>
                <a:srgbClr val="FFFFFF"/>
              </a:solidFill>
              <a:prstDash val="solid"/>
            </a:ln>
          </p:spPr>
        </p:sp>
        <p:sp>
          <p:nvSpPr>
            <p:cNvPr id="57" name="svg1_46"/>
            <p:cNvSpPr txBox="1"/>
            <p:nvPr/>
          </p:nvSpPr>
          <p:spPr>
            <a:xfrm>
              <a:off x="2089038" y="7333854"/>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12,9</a:t>
              </a:r>
              <a:endParaRPr lang="en-US" sz="557" dirty="0"/>
            </a:p>
          </p:txBody>
        </p:sp>
        <p:sp>
          <p:nvSpPr>
            <p:cNvPr id="58" name="svg1_47"/>
            <p:cNvSpPr/>
            <p:nvPr/>
          </p:nvSpPr>
          <p:spPr>
            <a:xfrm>
              <a:off x="1964040" y="7000921"/>
              <a:ext cx="430042" cy="273223"/>
            </a:xfrm>
            <a:prstGeom prst="rect">
              <a:avLst/>
            </a:prstGeom>
            <a:solidFill>
              <a:srgbClr val="7B1E2B"/>
            </a:solidFill>
            <a:ln w="6858">
              <a:solidFill>
                <a:srgbClr val="FFFFFF"/>
              </a:solidFill>
              <a:prstDash val="solid"/>
            </a:ln>
          </p:spPr>
        </p:sp>
        <p:sp>
          <p:nvSpPr>
            <p:cNvPr id="59" name="svg1_48"/>
            <p:cNvSpPr txBox="1"/>
            <p:nvPr/>
          </p:nvSpPr>
          <p:spPr>
            <a:xfrm>
              <a:off x="2089038" y="7087423"/>
              <a:ext cx="183154" cy="104790"/>
            </a:xfrm>
            <a:prstGeom prst="rect">
              <a:avLst/>
            </a:prstGeom>
            <a:noFill/>
            <a:ln/>
          </p:spPr>
          <p:txBody>
            <a:bodyPr wrap="none" lIns="0" tIns="0" rIns="0" bIns="0" rtlCol="0" anchor="ctr"/>
            <a:lstStyle/>
            <a:p>
              <a:pPr algn="ctr" indent="0" marL="0">
                <a:buNone/>
              </a:pPr>
              <a:r>
                <a:rPr lang="en-US" sz="557" dirty="0">
                  <a:solidFill>
                    <a:srgbClr val="FFFFFF"/>
                  </a:solidFill>
                  <a:latin typeface="Calibri" pitchFamily="34" charset="0"/>
                  <a:ea typeface="Calibri" pitchFamily="34" charset="-122"/>
                  <a:cs typeface="Calibri" pitchFamily="34" charset="-120"/>
                </a:rPr>
                <a:t>16,2</a:t>
              </a:r>
              <a:endParaRPr lang="en-US" sz="557" dirty="0"/>
            </a:p>
          </p:txBody>
        </p:sp>
        <p:sp>
          <p:nvSpPr>
            <p:cNvPr id="60" name="svg1_49"/>
            <p:cNvSpPr/>
            <p:nvPr/>
          </p:nvSpPr>
          <p:spPr>
            <a:xfrm>
              <a:off x="1964040" y="6818772"/>
              <a:ext cx="430042" cy="182057"/>
            </a:xfrm>
            <a:prstGeom prst="rect">
              <a:avLst/>
            </a:prstGeom>
            <a:solidFill>
              <a:srgbClr val="A3A3A3"/>
            </a:solidFill>
            <a:ln w="6858">
              <a:solidFill>
                <a:srgbClr val="FFFFFF"/>
              </a:solidFill>
              <a:prstDash val="solid"/>
            </a:ln>
          </p:spPr>
        </p:sp>
        <p:sp>
          <p:nvSpPr>
            <p:cNvPr id="61" name="svg1_50"/>
            <p:cNvSpPr txBox="1"/>
            <p:nvPr/>
          </p:nvSpPr>
          <p:spPr>
            <a:xfrm>
              <a:off x="2089038" y="6859737"/>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10,8</a:t>
              </a:r>
              <a:endParaRPr lang="en-US" sz="557" dirty="0"/>
            </a:p>
          </p:txBody>
        </p:sp>
        <p:sp>
          <p:nvSpPr>
            <p:cNvPr id="62" name="svg1_51"/>
            <p:cNvSpPr txBox="1"/>
            <p:nvPr/>
          </p:nvSpPr>
          <p:spPr>
            <a:xfrm>
              <a:off x="2076420" y="6709776"/>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39,9</a:t>
              </a:r>
              <a:endParaRPr lang="en-US" sz="649" dirty="0"/>
            </a:p>
          </p:txBody>
        </p:sp>
        <p:sp>
          <p:nvSpPr>
            <p:cNvPr id="63" name="svg1_52"/>
            <p:cNvSpPr txBox="1"/>
            <p:nvPr/>
          </p:nvSpPr>
          <p:spPr>
            <a:xfrm>
              <a:off x="2074134" y="7506675"/>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2025</a:t>
              </a:r>
              <a:endParaRPr lang="en-US" sz="587" dirty="0"/>
            </a:p>
          </p:txBody>
        </p:sp>
        <p:sp>
          <p:nvSpPr>
            <p:cNvPr id="64" name="svg1_53"/>
            <p:cNvSpPr/>
            <p:nvPr/>
          </p:nvSpPr>
          <p:spPr>
            <a:xfrm>
              <a:off x="444856" y="7492594"/>
              <a:ext cx="2081083" cy="0"/>
            </a:xfrm>
            <a:prstGeom prst="line">
              <a:avLst/>
            </a:prstGeom>
            <a:noFill/>
            <a:ln w="6858">
              <a:solidFill>
                <a:srgbClr val="8C8C8C"/>
              </a:solidFill>
              <a:prstDash val="solid"/>
            </a:ln>
          </p:spPr>
        </p:sp>
        <p:sp>
          <p:nvSpPr>
            <p:cNvPr id="65" name="svg1_54"/>
            <p:cNvSpPr/>
            <p:nvPr/>
          </p:nvSpPr>
          <p:spPr>
            <a:xfrm>
              <a:off x="444856" y="6612941"/>
              <a:ext cx="60899" cy="60899"/>
            </a:xfrm>
            <a:prstGeom prst="rect">
              <a:avLst/>
            </a:prstGeom>
            <a:solidFill>
              <a:srgbClr val="D0D0D0"/>
            </a:solidFill>
            <a:ln/>
          </p:spPr>
        </p:sp>
        <p:sp>
          <p:nvSpPr>
            <p:cNvPr id="66" name="svg1_55"/>
            <p:cNvSpPr txBox="1"/>
            <p:nvPr/>
          </p:nvSpPr>
          <p:spPr>
            <a:xfrm>
              <a:off x="528249" y="6591635"/>
              <a:ext cx="236007"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COGS</a:t>
              </a:r>
              <a:endParaRPr lang="en-US" sz="587" dirty="0"/>
            </a:p>
          </p:txBody>
        </p:sp>
        <p:sp>
          <p:nvSpPr>
            <p:cNvPr id="67" name="svg1_56"/>
            <p:cNvSpPr/>
            <p:nvPr/>
          </p:nvSpPr>
          <p:spPr>
            <a:xfrm>
              <a:off x="756849" y="6612941"/>
              <a:ext cx="60899" cy="60899"/>
            </a:xfrm>
            <a:prstGeom prst="rect">
              <a:avLst/>
            </a:prstGeom>
            <a:solidFill>
              <a:srgbClr val="7B1E2B"/>
            </a:solidFill>
            <a:ln/>
          </p:spPr>
        </p:sp>
        <p:sp>
          <p:nvSpPr>
            <p:cNvPr id="68" name="svg1_57"/>
            <p:cNvSpPr txBox="1"/>
            <p:nvPr/>
          </p:nvSpPr>
          <p:spPr>
            <a:xfrm>
              <a:off x="840425" y="6591635"/>
              <a:ext cx="243139"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SG&amp;A</a:t>
              </a:r>
              <a:endParaRPr lang="en-US" sz="587" dirty="0"/>
            </a:p>
          </p:txBody>
        </p:sp>
        <p:sp>
          <p:nvSpPr>
            <p:cNvPr id="69" name="svg1_58"/>
            <p:cNvSpPr/>
            <p:nvPr/>
          </p:nvSpPr>
          <p:spPr>
            <a:xfrm>
              <a:off x="1069025" y="6612941"/>
              <a:ext cx="60899" cy="60899"/>
            </a:xfrm>
            <a:prstGeom prst="rect">
              <a:avLst/>
            </a:prstGeom>
            <a:solidFill>
              <a:srgbClr val="A3A3A3"/>
            </a:solidFill>
            <a:ln/>
          </p:spPr>
        </p:sp>
        <p:sp>
          <p:nvSpPr>
            <p:cNvPr id="70" name="svg1_59"/>
            <p:cNvSpPr txBox="1"/>
            <p:nvPr/>
          </p:nvSpPr>
          <p:spPr>
            <a:xfrm>
              <a:off x="1152601" y="6591635"/>
              <a:ext cx="272125"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Payroll</a:t>
              </a:r>
              <a:endParaRPr lang="en-US" sz="587" dirty="0"/>
            </a:p>
          </p:txBody>
        </p:sp>
      </p:grpSp>
      <p:grpSp>
        <p:nvGrpSpPr>
          <p:cNvPr id="133" name="Fig. 09 – biểu đồ"/>
          <p:cNvGrpSpPr/>
          <p:nvPr/>
        </p:nvGrpSpPr>
        <p:grpSpPr>
          <a:xfrm>
            <a:off x="425105" y="8192567"/>
            <a:ext cx="2120493" cy="975207"/>
            <a:chOff x="425105" y="8192567"/>
            <a:chExt cx="2120493" cy="975207"/>
          </a:xfrm>
        </p:grpSpPr>
        <p:sp>
          <p:nvSpPr>
            <p:cNvPr id="71" name="svg2_60"/>
            <p:cNvSpPr/>
            <p:nvPr/>
          </p:nvSpPr>
          <p:spPr>
            <a:xfrm>
              <a:off x="425105" y="8195767"/>
              <a:ext cx="147218" cy="107991"/>
            </a:xfrm>
            <a:prstGeom prst="rect">
              <a:avLst/>
            </a:prstGeom>
            <a:solidFill>
              <a:srgbClr val="7B1E2B"/>
            </a:solidFill>
            <a:ln/>
          </p:spPr>
        </p:sp>
        <p:sp>
          <p:nvSpPr>
            <p:cNvPr id="72" name="svg2_61"/>
            <p:cNvSpPr txBox="1"/>
            <p:nvPr/>
          </p:nvSpPr>
          <p:spPr>
            <a:xfrm>
              <a:off x="455371" y="8193481"/>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1</a:t>
              </a:r>
              <a:endParaRPr lang="en-US" sz="649" dirty="0"/>
            </a:p>
          </p:txBody>
        </p:sp>
        <p:sp>
          <p:nvSpPr>
            <p:cNvPr id="73" name="svg2_62"/>
            <p:cNvSpPr/>
            <p:nvPr/>
          </p:nvSpPr>
          <p:spPr>
            <a:xfrm>
              <a:off x="572323" y="8195767"/>
              <a:ext cx="1973275" cy="107991"/>
            </a:xfrm>
            <a:prstGeom prst="rect">
              <a:avLst/>
            </a:prstGeom>
            <a:solidFill>
              <a:srgbClr val="F4EEEE"/>
            </a:solidFill>
            <a:ln/>
          </p:spPr>
        </p:sp>
        <p:sp>
          <p:nvSpPr>
            <p:cNvPr id="74" name="svg2_63"/>
            <p:cNvSpPr txBox="1"/>
            <p:nvPr/>
          </p:nvSpPr>
          <p:spPr>
            <a:xfrm>
              <a:off x="621426" y="8192567"/>
              <a:ext cx="1430487"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Thu gom nguyên liệu (bã mía, vỏ trứng)</a:t>
              </a:r>
              <a:endParaRPr lang="en-US" sz="603" dirty="0"/>
            </a:p>
          </p:txBody>
        </p:sp>
        <p:sp>
          <p:nvSpPr>
            <p:cNvPr id="75" name="svg2_64"/>
            <p:cNvSpPr/>
            <p:nvPr/>
          </p:nvSpPr>
          <p:spPr>
            <a:xfrm>
              <a:off x="473202" y="8309701"/>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76" name="svg2_65"/>
            <p:cNvSpPr/>
            <p:nvPr/>
          </p:nvSpPr>
          <p:spPr>
            <a:xfrm>
              <a:off x="425105" y="8339145"/>
              <a:ext cx="147218" cy="107991"/>
            </a:xfrm>
            <a:prstGeom prst="rect">
              <a:avLst/>
            </a:prstGeom>
            <a:solidFill>
              <a:srgbClr val="7B1E2B"/>
            </a:solidFill>
            <a:ln/>
          </p:spPr>
        </p:sp>
        <p:sp>
          <p:nvSpPr>
            <p:cNvPr id="77" name="svg2_66"/>
            <p:cNvSpPr txBox="1"/>
            <p:nvPr/>
          </p:nvSpPr>
          <p:spPr>
            <a:xfrm>
              <a:off x="455371" y="8336859"/>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2</a:t>
              </a:r>
              <a:endParaRPr lang="en-US" sz="649" dirty="0"/>
            </a:p>
          </p:txBody>
        </p:sp>
        <p:sp>
          <p:nvSpPr>
            <p:cNvPr id="78" name="svg2_67"/>
            <p:cNvSpPr/>
            <p:nvPr/>
          </p:nvSpPr>
          <p:spPr>
            <a:xfrm>
              <a:off x="572323" y="8339145"/>
              <a:ext cx="1973275" cy="107991"/>
            </a:xfrm>
            <a:prstGeom prst="rect">
              <a:avLst/>
            </a:prstGeom>
            <a:solidFill>
              <a:srgbClr val="F4EEEE"/>
            </a:solidFill>
            <a:ln/>
          </p:spPr>
        </p:sp>
        <p:sp>
          <p:nvSpPr>
            <p:cNvPr id="79" name="svg2_68"/>
            <p:cNvSpPr txBox="1"/>
            <p:nvPr/>
          </p:nvSpPr>
          <p:spPr>
            <a:xfrm>
              <a:off x="621426" y="8335853"/>
              <a:ext cx="1221547"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Xử lý, chuẩn hóa bã mía, vỏ trứng</a:t>
              </a:r>
              <a:endParaRPr lang="en-US" sz="603" dirty="0"/>
            </a:p>
          </p:txBody>
        </p:sp>
        <p:sp>
          <p:nvSpPr>
            <p:cNvPr id="80" name="svg2_69"/>
            <p:cNvSpPr/>
            <p:nvPr/>
          </p:nvSpPr>
          <p:spPr>
            <a:xfrm>
              <a:off x="473202" y="8453079"/>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81" name="svg2_70"/>
            <p:cNvSpPr/>
            <p:nvPr/>
          </p:nvSpPr>
          <p:spPr>
            <a:xfrm>
              <a:off x="425105" y="8482523"/>
              <a:ext cx="147218" cy="107991"/>
            </a:xfrm>
            <a:prstGeom prst="rect">
              <a:avLst/>
            </a:prstGeom>
            <a:solidFill>
              <a:srgbClr val="7B1E2B"/>
            </a:solidFill>
            <a:ln/>
          </p:spPr>
        </p:sp>
        <p:sp>
          <p:nvSpPr>
            <p:cNvPr id="82" name="svg2_71"/>
            <p:cNvSpPr txBox="1"/>
            <p:nvPr/>
          </p:nvSpPr>
          <p:spPr>
            <a:xfrm>
              <a:off x="455371" y="8480237"/>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3</a:t>
              </a:r>
              <a:endParaRPr lang="en-US" sz="649" dirty="0"/>
            </a:p>
          </p:txBody>
        </p:sp>
        <p:sp>
          <p:nvSpPr>
            <p:cNvPr id="83" name="svg2_72"/>
            <p:cNvSpPr/>
            <p:nvPr/>
          </p:nvSpPr>
          <p:spPr>
            <a:xfrm>
              <a:off x="572323" y="8482523"/>
              <a:ext cx="1973275" cy="107991"/>
            </a:xfrm>
            <a:prstGeom prst="rect">
              <a:avLst/>
            </a:prstGeom>
            <a:solidFill>
              <a:srgbClr val="F4EEEE"/>
            </a:solidFill>
            <a:ln/>
          </p:spPr>
        </p:sp>
        <p:sp>
          <p:nvSpPr>
            <p:cNvPr id="84" name="svg2_73"/>
            <p:cNvSpPr txBox="1"/>
            <p:nvPr/>
          </p:nvSpPr>
          <p:spPr>
            <a:xfrm>
              <a:off x="621426" y="8479231"/>
              <a:ext cx="966704"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Phối trộn, tạo sợi tự nhiên</a:t>
              </a:r>
              <a:endParaRPr lang="en-US" sz="603" dirty="0"/>
            </a:p>
          </p:txBody>
        </p:sp>
        <p:sp>
          <p:nvSpPr>
            <p:cNvPr id="85" name="svg2_74"/>
            <p:cNvSpPr/>
            <p:nvPr/>
          </p:nvSpPr>
          <p:spPr>
            <a:xfrm>
              <a:off x="473202" y="8596274"/>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86" name="svg2_75"/>
            <p:cNvSpPr/>
            <p:nvPr/>
          </p:nvSpPr>
          <p:spPr>
            <a:xfrm>
              <a:off x="425105" y="8625810"/>
              <a:ext cx="147218" cy="107899"/>
            </a:xfrm>
            <a:prstGeom prst="rect">
              <a:avLst/>
            </a:prstGeom>
            <a:solidFill>
              <a:srgbClr val="7B1E2B"/>
            </a:solidFill>
            <a:ln/>
          </p:spPr>
        </p:sp>
        <p:sp>
          <p:nvSpPr>
            <p:cNvPr id="87" name="svg2_76"/>
            <p:cNvSpPr txBox="1"/>
            <p:nvPr/>
          </p:nvSpPr>
          <p:spPr>
            <a:xfrm>
              <a:off x="455371" y="8623524"/>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4</a:t>
              </a:r>
              <a:endParaRPr lang="en-US" sz="649" dirty="0"/>
            </a:p>
          </p:txBody>
        </p:sp>
        <p:sp>
          <p:nvSpPr>
            <p:cNvPr id="88" name="svg2_77"/>
            <p:cNvSpPr/>
            <p:nvPr/>
          </p:nvSpPr>
          <p:spPr>
            <a:xfrm>
              <a:off x="572323" y="8625810"/>
              <a:ext cx="1973275" cy="107899"/>
            </a:xfrm>
            <a:prstGeom prst="rect">
              <a:avLst/>
            </a:prstGeom>
            <a:solidFill>
              <a:srgbClr val="F4EEEE"/>
            </a:solidFill>
            <a:ln/>
          </p:spPr>
        </p:sp>
        <p:sp>
          <p:nvSpPr>
            <p:cNvPr id="89" name="svg2_78"/>
            <p:cNvSpPr txBox="1"/>
            <p:nvPr/>
          </p:nvSpPr>
          <p:spPr>
            <a:xfrm>
              <a:off x="621426" y="8622518"/>
              <a:ext cx="560253"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Thiết kế khuôn</a:t>
              </a:r>
              <a:endParaRPr lang="en-US" sz="603" dirty="0"/>
            </a:p>
          </p:txBody>
        </p:sp>
        <p:sp>
          <p:nvSpPr>
            <p:cNvPr id="90" name="svg2_79"/>
            <p:cNvSpPr/>
            <p:nvPr/>
          </p:nvSpPr>
          <p:spPr>
            <a:xfrm>
              <a:off x="473202" y="8739652"/>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91" name="svg2_80"/>
            <p:cNvSpPr/>
            <p:nvPr/>
          </p:nvSpPr>
          <p:spPr>
            <a:xfrm>
              <a:off x="425105" y="8769187"/>
              <a:ext cx="147218" cy="107899"/>
            </a:xfrm>
            <a:prstGeom prst="rect">
              <a:avLst/>
            </a:prstGeom>
            <a:solidFill>
              <a:srgbClr val="7B1E2B"/>
            </a:solidFill>
            <a:ln/>
          </p:spPr>
        </p:sp>
        <p:sp>
          <p:nvSpPr>
            <p:cNvPr id="92" name="svg2_81"/>
            <p:cNvSpPr txBox="1"/>
            <p:nvPr/>
          </p:nvSpPr>
          <p:spPr>
            <a:xfrm>
              <a:off x="455828" y="8766901"/>
              <a:ext cx="85771"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5</a:t>
              </a:r>
              <a:endParaRPr lang="en-US" sz="649" dirty="0"/>
            </a:p>
          </p:txBody>
        </p:sp>
        <p:sp>
          <p:nvSpPr>
            <p:cNvPr id="93" name="svg2_82"/>
            <p:cNvSpPr/>
            <p:nvPr/>
          </p:nvSpPr>
          <p:spPr>
            <a:xfrm>
              <a:off x="572323" y="8769187"/>
              <a:ext cx="1973275" cy="107899"/>
            </a:xfrm>
            <a:prstGeom prst="rect">
              <a:avLst/>
            </a:prstGeom>
            <a:solidFill>
              <a:srgbClr val="F4EEEE"/>
            </a:solidFill>
            <a:ln/>
          </p:spPr>
        </p:sp>
        <p:sp>
          <p:nvSpPr>
            <p:cNvPr id="94" name="svg2_83"/>
            <p:cNvSpPr txBox="1"/>
            <p:nvPr/>
          </p:nvSpPr>
          <p:spPr>
            <a:xfrm>
              <a:off x="621426" y="8765896"/>
              <a:ext cx="1337493"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Ép khuôn, tạo hình và sấy hoàn thiện</a:t>
              </a:r>
              <a:endParaRPr lang="en-US" sz="603" dirty="0"/>
            </a:p>
          </p:txBody>
        </p:sp>
        <p:sp>
          <p:nvSpPr>
            <p:cNvPr id="95" name="svg2_84"/>
            <p:cNvSpPr/>
            <p:nvPr/>
          </p:nvSpPr>
          <p:spPr>
            <a:xfrm>
              <a:off x="473202" y="8883030"/>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96" name="svg2_85"/>
            <p:cNvSpPr/>
            <p:nvPr/>
          </p:nvSpPr>
          <p:spPr>
            <a:xfrm>
              <a:off x="425105" y="8912474"/>
              <a:ext cx="147218" cy="107991"/>
            </a:xfrm>
            <a:prstGeom prst="rect">
              <a:avLst/>
            </a:prstGeom>
            <a:solidFill>
              <a:srgbClr val="7B1E2B"/>
            </a:solidFill>
            <a:ln/>
          </p:spPr>
        </p:sp>
        <p:sp>
          <p:nvSpPr>
            <p:cNvPr id="97" name="svg2_86"/>
            <p:cNvSpPr txBox="1"/>
            <p:nvPr/>
          </p:nvSpPr>
          <p:spPr>
            <a:xfrm>
              <a:off x="455371" y="8910188"/>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6</a:t>
              </a:r>
              <a:endParaRPr lang="en-US" sz="649" dirty="0"/>
            </a:p>
          </p:txBody>
        </p:sp>
        <p:sp>
          <p:nvSpPr>
            <p:cNvPr id="98" name="svg2_87"/>
            <p:cNvSpPr/>
            <p:nvPr/>
          </p:nvSpPr>
          <p:spPr>
            <a:xfrm>
              <a:off x="572323" y="8912474"/>
              <a:ext cx="1973275" cy="107991"/>
            </a:xfrm>
            <a:prstGeom prst="rect">
              <a:avLst/>
            </a:prstGeom>
            <a:solidFill>
              <a:srgbClr val="F4EEEE"/>
            </a:solidFill>
            <a:ln/>
          </p:spPr>
        </p:sp>
        <p:sp>
          <p:nvSpPr>
            <p:cNvPr id="99" name="svg2_88"/>
            <p:cNvSpPr txBox="1"/>
            <p:nvPr/>
          </p:nvSpPr>
          <p:spPr>
            <a:xfrm>
              <a:off x="621426" y="8909182"/>
              <a:ext cx="739018"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Kiểm tra chất lượng</a:t>
              </a:r>
              <a:endParaRPr lang="en-US" sz="603" dirty="0"/>
            </a:p>
          </p:txBody>
        </p:sp>
        <p:sp>
          <p:nvSpPr>
            <p:cNvPr id="100" name="svg2_89"/>
            <p:cNvSpPr/>
            <p:nvPr/>
          </p:nvSpPr>
          <p:spPr>
            <a:xfrm>
              <a:off x="473202" y="9026408"/>
              <a:ext cx="51024" cy="25512"/>
            </a:xfrm>
            <a:custGeom>
              <a:avLst/>
              <a:gdLst/>
              <a:ahLst/>
              <a:cxnLst/>
              <a:rect l="l" t="t" r="r" b="b"/>
              <a:pathLst>
                <a:path w="51024" h="25512">
                  <a:moveTo>
                    <a:pt x="0" y="0"/>
                  </a:moveTo>
                  <a:lnTo>
                    <a:pt x="51024" y="0"/>
                  </a:lnTo>
                  <a:lnTo>
                    <a:pt x="25512" y="25512"/>
                  </a:lnTo>
                  <a:close/>
                </a:path>
              </a:pathLst>
            </a:custGeom>
            <a:solidFill>
              <a:srgbClr val="A3A3A3"/>
            </a:solidFill>
            <a:ln/>
          </p:spPr>
        </p:sp>
        <p:sp>
          <p:nvSpPr>
            <p:cNvPr id="101" name="svg2_90"/>
            <p:cNvSpPr/>
            <p:nvPr/>
          </p:nvSpPr>
          <p:spPr>
            <a:xfrm>
              <a:off x="425105" y="9055760"/>
              <a:ext cx="147218" cy="107991"/>
            </a:xfrm>
            <a:prstGeom prst="rect">
              <a:avLst/>
            </a:prstGeom>
            <a:solidFill>
              <a:srgbClr val="7B1E2B"/>
            </a:solidFill>
            <a:ln/>
          </p:spPr>
        </p:sp>
        <p:sp>
          <p:nvSpPr>
            <p:cNvPr id="102" name="svg2_91"/>
            <p:cNvSpPr txBox="1"/>
            <p:nvPr/>
          </p:nvSpPr>
          <p:spPr>
            <a:xfrm>
              <a:off x="455371" y="9053474"/>
              <a:ext cx="92354" cy="114300"/>
            </a:xfrm>
            <a:prstGeom prst="rect">
              <a:avLst/>
            </a:prstGeom>
            <a:noFill/>
            <a:ln/>
          </p:spPr>
          <p:txBody>
            <a:bodyPr wrap="none" lIns="0" tIns="0" rIns="0" bIns="0" rtlCol="0" anchor="ctr"/>
            <a:lstStyle/>
            <a:p>
              <a:pPr algn="ctr" indent="0" marL="0">
                <a:buNone/>
              </a:pPr>
              <a:r>
                <a:rPr lang="en-US" sz="649" b="1" dirty="0">
                  <a:solidFill>
                    <a:srgbClr val="FFFFFF"/>
                  </a:solidFill>
                  <a:latin typeface="Calibri" pitchFamily="34" charset="0"/>
                  <a:ea typeface="Calibri" pitchFamily="34" charset="-122"/>
                  <a:cs typeface="Calibri" pitchFamily="34" charset="-120"/>
                </a:rPr>
                <a:t>7</a:t>
              </a:r>
              <a:endParaRPr lang="en-US" sz="649" dirty="0"/>
            </a:p>
          </p:txBody>
        </p:sp>
        <p:sp>
          <p:nvSpPr>
            <p:cNvPr id="103" name="svg2_92"/>
            <p:cNvSpPr/>
            <p:nvPr/>
          </p:nvSpPr>
          <p:spPr>
            <a:xfrm>
              <a:off x="572323" y="9055760"/>
              <a:ext cx="1973275" cy="107991"/>
            </a:xfrm>
            <a:prstGeom prst="rect">
              <a:avLst/>
            </a:prstGeom>
            <a:solidFill>
              <a:srgbClr val="F4EEEE"/>
            </a:solidFill>
            <a:ln/>
          </p:spPr>
        </p:sp>
        <p:sp>
          <p:nvSpPr>
            <p:cNvPr id="104" name="svg2_93"/>
            <p:cNvSpPr txBox="1"/>
            <p:nvPr/>
          </p:nvSpPr>
          <p:spPr>
            <a:xfrm>
              <a:off x="621426" y="9052560"/>
              <a:ext cx="1425458" cy="114300"/>
            </a:xfrm>
            <a:prstGeom prst="rect">
              <a:avLst/>
            </a:prstGeom>
            <a:noFill/>
            <a:ln/>
          </p:spPr>
          <p:txBody>
            <a:bodyPr wrap="none" lIns="0" tIns="0" rIns="0" bIns="0" rtlCol="0" anchor="ctr"/>
            <a:lstStyle/>
            <a:p>
              <a:pPr algn="l" indent="0" marL="0">
                <a:buNone/>
              </a:pPr>
              <a:r>
                <a:rPr lang="en-US" sz="603" dirty="0">
                  <a:solidFill>
                    <a:srgbClr val="262626"/>
                  </a:solidFill>
                  <a:latin typeface="Calibri" pitchFamily="34" charset="0"/>
                  <a:ea typeface="Calibri" pitchFamily="34" charset="-122"/>
                  <a:cs typeface="Calibri" pitchFamily="34" charset="-120"/>
                </a:rPr>
                <a:t>Phân phối trực tiếp tới khách hàng B2B</a:t>
              </a:r>
              <a:endParaRPr lang="en-US" sz="603" dirty="0"/>
            </a:p>
          </p:txBody>
        </p:sp>
      </p:grpSp>
      <p:sp>
        <p:nvSpPr>
          <p:cNvPr id="105" name="Text 101"/>
          <p:cNvSpPr txBox="1"/>
          <p:nvPr/>
        </p:nvSpPr>
        <p:spPr>
          <a:xfrm>
            <a:off x="2745303" y="990387"/>
            <a:ext cx="4409237" cy="1465052"/>
          </a:xfrm>
          <a:prstGeom prst="rect">
            <a:avLst/>
          </a:prstGeom>
          <a:noFill/>
          <a:ln/>
        </p:spPr>
        <p:txBody>
          <a:bodyPr wrap="square" lIns="0" tIns="0" rIns="0" bIns="0" rtlCol="0" anchor="t"/>
          <a:lstStyle/>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TAM (Total Addressable Market - Tổng thị trường khả dụng): Quy mô thị trường bao bì xanh Việt Nam đạt khoảng 1.129,79 triệu USD năm 2025 và dự báo đạt 1.628,64 triệu USD năm 2034, tương ứng CAGR 4,15% giai đoạn 2026-2034 (IMARC Group, 2025).</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SAM (Serviceable Addressable Market - Tổng thị trường mục tiêu): Thị trường bao bì dùng một lần phân hủy sinh học cho ngành dịch vụ ăn uống (F&amp;B) tại Việt Nam đạt khoảng 33,93 triệu USD năm 2025 và dự kiến đạt 51,45 triệu USD vào năm 2034, với CAGR 4,73% (IMARC Group, 2025).</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SOM (Serviceable Obtainable Market - Tổng thị trường khai thác được): Doanh thu phân khúc bao bì đóng gói thực phẩm năm 2025 của AgriPack là ~1,464 triệu USD, tương đương với 4,3% thị trường SAM. Theo dự phóng của nhóm, đến năm 2030, thị phần của AgriPack sẽ đạt 11% thị trường SAM với mức doanh thu ~4,7 triệu USD. Thị trường miền Trung và Nam là hai thị trường AgriPack tập trung khai thác, sau đó sẽ mở rộng ra Hà Nội và miền Bắc (Fig. 05).</a:t>
            </a:r>
            <a:endParaRPr lang="en-US" sz="850" dirty="0"/>
          </a:p>
        </p:txBody>
      </p:sp>
      <p:sp>
        <p:nvSpPr>
          <p:cNvPr id="106" name="Text 102"/>
          <p:cNvSpPr txBox="1"/>
          <p:nvPr/>
        </p:nvSpPr>
        <p:spPr>
          <a:xfrm>
            <a:off x="2745303" y="7022043"/>
            <a:ext cx="4409237" cy="974476"/>
          </a:xfrm>
          <a:prstGeom prst="rect">
            <a:avLst/>
          </a:prstGeom>
          <a:noFill/>
          <a:ln/>
        </p:spPr>
        <p:txBody>
          <a:bodyPr wrap="square" lIns="0" tIns="0" rIns="0" bIns="0" rtlCol="0" anchor="t"/>
          <a:lstStyle/>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Thu gom nguyên liệu: Thu gom bã mía, vỏ trứng từ nhà cung cấp</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Xử lý để chuẩn hóa bã mía, vỏ trứng: Làm sạch, xử lý và chuẩn hóa nguyên liệu</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Phối trộn, tạo sợi tự nhiên</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Thiết kế khuôn: Thiết kế khuôn theo sản phẩm tiêu chuẩn hoặc yêu cầu của khách hàng</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Ép khuôn, tạo hình và sấy hoàn thiện</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Kiểm tra chất lượng: Kiểm tra các yêu cầu kỹ thuật của sản phẩm như kích thước, độ bền</a:t>
            </a:r>
            <a:endParaRPr lang="en-US" sz="850" dirty="0"/>
          </a:p>
          <a:p>
            <a:pPr algn="just" marL="151003" indent="-151003">
              <a:lnSpc>
                <a:spcPts val="1037"/>
              </a:lnSpc>
              <a:spcAft>
                <a:spcPts val="71"/>
              </a:spcAft>
              <a:buSzPct val="100000"/>
              <a:buFont typeface="+mj-lt"/>
              <a:buAutoNum type="arabicPeriod" startAt="1"/>
            </a:pPr>
            <a:r>
              <a:rPr lang="en-US" sz="850" dirty="0">
                <a:solidFill>
                  <a:srgbClr val="1F1F1F"/>
                </a:solidFill>
                <a:latin typeface="Calibri" pitchFamily="34" charset="0"/>
                <a:ea typeface="Calibri" pitchFamily="34" charset="-122"/>
                <a:cs typeface="Calibri" pitchFamily="34" charset="-120"/>
              </a:rPr>
              <a:t>Phân phối trực tiếp tới khách hàng B2B</a:t>
            </a:r>
            <a:endParaRPr lang="en-US" sz="850" dirty="0"/>
          </a:p>
        </p:txBody>
      </p:sp>
      <p:sp>
        <p:nvSpPr>
          <p:cNvPr id="107" name="Text 10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08" name="Text 10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09" name="Text 105"/>
          <p:cNvSpPr txBox="1"/>
          <p:nvPr/>
        </p:nvSpPr>
        <p:spPr>
          <a:xfrm>
            <a:off x="405354" y="589239"/>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SOM tăng từ 4,3% lên 11,0% SAM đến 2030E</a:t>
            </a:r>
            <a:endParaRPr lang="en-US" sz="720" dirty="0"/>
          </a:p>
        </p:txBody>
      </p:sp>
      <p:sp>
        <p:nvSpPr>
          <p:cNvPr id="110" name="Text 106"/>
          <p:cNvSpPr txBox="1"/>
          <p:nvPr/>
        </p:nvSpPr>
        <p:spPr>
          <a:xfrm>
            <a:off x="405354" y="1807129"/>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IMARC Group (2025); doanh thu F&amp;B quy đổi USD (mô hình, Drivers)</a:t>
            </a:r>
            <a:endParaRPr lang="en-US" sz="600" dirty="0"/>
          </a:p>
        </p:txBody>
      </p:sp>
      <p:sp>
        <p:nvSpPr>
          <p:cNvPr id="111" name="Text 107"/>
          <p:cNvSpPr txBox="1"/>
          <p:nvPr/>
        </p:nvSpPr>
        <p:spPr>
          <a:xfrm>
            <a:off x="2745303" y="558058"/>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Khách hàng mục tiêu chính hiện được tập trung là các bên hoạt động trong ngành F&amp;B sử dụng bao bì xanh, cũng chính là nguồn doanh thu quan trọng nhất của AgriPack. Thị trường mục tiêu được xác định theo mô hình TAM-SAM-SOM:</a:t>
            </a:r>
            <a:endParaRPr lang="en-US" sz="850" dirty="0"/>
          </a:p>
        </p:txBody>
      </p:sp>
      <p:sp>
        <p:nvSpPr>
          <p:cNvPr id="112" name="Text 108"/>
          <p:cNvSpPr txBox="1"/>
          <p:nvPr/>
        </p:nvSpPr>
        <p:spPr>
          <a:xfrm>
            <a:off x="405354" y="2550810"/>
            <a:ext cx="7153991"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1.2.2. Chiến lược giá bán</a:t>
            </a:r>
            <a:endParaRPr lang="en-US" sz="820" dirty="0"/>
          </a:p>
        </p:txBody>
      </p:sp>
      <p:sp>
        <p:nvSpPr>
          <p:cNvPr id="113" name="Text 109"/>
          <p:cNvSpPr txBox="1"/>
          <p:nvPr/>
        </p:nvSpPr>
        <p:spPr>
          <a:xfrm>
            <a:off x="405354" y="2728570"/>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Chiến lược giá bán: AgriPack định giá trong khung giá của hàng bã mía, tre nhập khẩu</a:t>
            </a:r>
            <a:endParaRPr lang="en-US" sz="720" dirty="0"/>
          </a:p>
        </p:txBody>
      </p:sp>
      <p:sp>
        <p:nvSpPr>
          <p:cNvPr id="114" name="Text 110"/>
          <p:cNvSpPr txBox="1"/>
          <p:nvPr/>
        </p:nvSpPr>
        <p:spPr>
          <a:xfrm>
            <a:off x="405354" y="4295485"/>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Bảng của nhóm: ecoeshop.com, HTAECO.com. Giá hộp/khay F&amp;B 2025 dùng trong dự phóng: 2.500 đồng/cái – cận dưới khung giá (Mục 4)</a:t>
            </a:r>
            <a:endParaRPr lang="en-US" sz="600" dirty="0"/>
          </a:p>
        </p:txBody>
      </p:sp>
      <p:sp>
        <p:nvSpPr>
          <p:cNvPr id="115" name="Text 111"/>
          <p:cNvSpPr txBox="1"/>
          <p:nvPr/>
        </p:nvSpPr>
        <p:spPr>
          <a:xfrm>
            <a:off x="405354" y="4489887"/>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Thực phẩm/FMCG chiếm gần 80% doanh thu bán hàng</a:t>
            </a:r>
            <a:endParaRPr lang="en-US" sz="720" dirty="0"/>
          </a:p>
        </p:txBody>
      </p:sp>
      <p:sp>
        <p:nvSpPr>
          <p:cNvPr id="116" name="Text 112"/>
          <p:cNvSpPr txBox="1"/>
          <p:nvPr/>
        </p:nvSpPr>
        <p:spPr>
          <a:xfrm>
            <a:off x="405354" y="4726991"/>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17" name="Text 113"/>
          <p:cNvSpPr txBox="1"/>
          <p:nvPr/>
        </p:nvSpPr>
        <p:spPr>
          <a:xfrm>
            <a:off x="405354" y="5940125"/>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biểu đồ cơ cấu doanh thu của nhóm</a:t>
            </a:r>
            <a:endParaRPr lang="en-US" sz="600" dirty="0"/>
          </a:p>
        </p:txBody>
      </p:sp>
      <p:sp>
        <p:nvSpPr>
          <p:cNvPr id="118" name="Text 114"/>
          <p:cNvSpPr txBox="1"/>
          <p:nvPr/>
        </p:nvSpPr>
        <p:spPr>
          <a:xfrm>
            <a:off x="405354" y="6236757"/>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SG&amp;A là nhóm chi phí lớn nhất theo cách phân loại của BCTC gốc</a:t>
            </a:r>
            <a:endParaRPr lang="en-US" sz="720" dirty="0"/>
          </a:p>
        </p:txBody>
      </p:sp>
      <p:sp>
        <p:nvSpPr>
          <p:cNvPr id="119" name="Text 115"/>
          <p:cNvSpPr txBox="1"/>
          <p:nvPr/>
        </p:nvSpPr>
        <p:spPr>
          <a:xfrm>
            <a:off x="405354" y="6473861"/>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20" name="Text 116"/>
          <p:cNvSpPr txBox="1"/>
          <p:nvPr/>
        </p:nvSpPr>
        <p:spPr>
          <a:xfrm>
            <a:off x="405354" y="7628199"/>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biểu đồ cơ cấu chi phí của nhóm. Mục 4 phân bổ 70% tiền lương, 90% khấu hao vào giá vốn</a:t>
            </a:r>
            <a:endParaRPr lang="en-US" sz="600" dirty="0"/>
          </a:p>
        </p:txBody>
      </p:sp>
      <p:sp>
        <p:nvSpPr>
          <p:cNvPr id="121" name="Text 117"/>
          <p:cNvSpPr txBox="1"/>
          <p:nvPr/>
        </p:nvSpPr>
        <p:spPr>
          <a:xfrm>
            <a:off x="405354" y="7924830"/>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09: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Chuỗi giá trị 7 hoạt động từ phụ phẩm đến khách hàng B2B</a:t>
            </a:r>
            <a:endParaRPr lang="en-US" sz="720" dirty="0"/>
          </a:p>
        </p:txBody>
      </p:sp>
      <p:sp>
        <p:nvSpPr>
          <p:cNvPr id="122" name="Text 118"/>
          <p:cNvSpPr txBox="1"/>
          <p:nvPr/>
        </p:nvSpPr>
        <p:spPr>
          <a:xfrm>
            <a:off x="405354" y="9201333"/>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Sơ đồ chuỗi giá trị của nhóm (Mục 1.3.2); bản chi tiết có địa điểm nhà máy và khách hàng ở Fig. A02</a:t>
            </a:r>
            <a:endParaRPr lang="en-US" sz="600" dirty="0"/>
          </a:p>
        </p:txBody>
      </p:sp>
      <p:sp>
        <p:nvSpPr>
          <p:cNvPr id="123" name="Text 119"/>
          <p:cNvSpPr txBox="1"/>
          <p:nvPr/>
        </p:nvSpPr>
        <p:spPr>
          <a:xfrm>
            <a:off x="2745303" y="4473062"/>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1.3. Mô hình kinh doanh và Chuỗi giá trị</a:t>
            </a:r>
            <a:endParaRPr lang="en-US" sz="900" dirty="0"/>
          </a:p>
        </p:txBody>
      </p:sp>
      <p:sp>
        <p:nvSpPr>
          <p:cNvPr id="124" name="Text 120"/>
          <p:cNvSpPr txBox="1"/>
          <p:nvPr/>
        </p:nvSpPr>
        <p:spPr>
          <a:xfrm>
            <a:off x="2745303" y="4642409"/>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1.3.1. Mô hình kinh doanh</a:t>
            </a:r>
            <a:endParaRPr lang="en-US" sz="820" dirty="0"/>
          </a:p>
        </p:txBody>
      </p:sp>
      <p:sp>
        <p:nvSpPr>
          <p:cNvPr id="125" name="Text 121"/>
          <p:cNvSpPr txBox="1"/>
          <p:nvPr/>
        </p:nvSpPr>
        <p:spPr>
          <a:xfrm>
            <a:off x="2745303" y="4788987"/>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AgriPack hoạt động theo mô hình B2B (Business to Business), hợp tác với đơn vị cung cấp bã mía như nhà máy sản xuất đường mía, vỏ trứng từ các nhà máy sản xuất bánh, máy móc ép khuôn, đối tác logistics và các đối tác kỹ thuật khác phục vụ cho việc sản xuất. Khách hàng của AgriPack là các đơn vị hoạt động trong lĩnh vực F&amp;B/FMCG, sản xuất điện tử, nội thất và thương mại điện tử. Doanh nghiệp tiếp cận khách hàng chủ yếu thông qua bán hàng trực tiếp B2B, website và các kênh kết nối doanh nghiệp.</a:t>
            </a:r>
            <a:endParaRPr lang="en-US" sz="850" dirty="0"/>
          </a:p>
        </p:txBody>
      </p:sp>
      <p:sp>
        <p:nvSpPr>
          <p:cNvPr id="126" name="Text 122"/>
          <p:cNvSpPr txBox="1"/>
          <p:nvPr/>
        </p:nvSpPr>
        <p:spPr>
          <a:xfrm>
            <a:off x="2745303" y="5616062"/>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AgriPack tập trung vào hai nhóm nguồn doanh thu chính: thứ nhất là bán bao bì thực phẩm/FMCG, vật liệu bảo vệ cho thiết bị điện tử và vật liệu bảo vệ cho nội thất, thương mại điện tử theo đơn vị (cái); thứ hai là thu phí từ dịch vụ thiết kế và sản xuất khuôn theo yêu cầu, đáp ứng nhu cầu tùy chỉnh của từng khách hàng (dự án). Trong cơ cấu doanh thu, việc kinh doanh bao bì cho ngành thực phẩm/FMCG đóng góp tỷ trọng doanh thu lớn nhất. Đối với nguồn chi phí, AgriPack có ba nguồn chính: giá vốn hàng bán hay chi phí sản xuất; chi phí bán hàng và quản lý doanh nghiệp hay nguồn đóng góp tỷ trọng lớn nhất trong cơ cấu chi phí, lương và phụ cấp cho nhân viên (Fig. 07, Fig. 08).</a:t>
            </a:r>
            <a:endParaRPr lang="en-US" sz="850" dirty="0"/>
          </a:p>
        </p:txBody>
      </p:sp>
      <p:sp>
        <p:nvSpPr>
          <p:cNvPr id="127" name="Text 123"/>
          <p:cNvSpPr txBox="1"/>
          <p:nvPr/>
        </p:nvSpPr>
        <p:spPr>
          <a:xfrm>
            <a:off x="2745303" y="6574627"/>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1.3.2 Chuỗi giá trị</a:t>
            </a:r>
            <a:endParaRPr lang="en-US" sz="820" dirty="0"/>
          </a:p>
        </p:txBody>
      </p:sp>
      <p:sp>
        <p:nvSpPr>
          <p:cNvPr id="128" name="Text 124"/>
          <p:cNvSpPr txBox="1"/>
          <p:nvPr/>
        </p:nvSpPr>
        <p:spPr>
          <a:xfrm>
            <a:off x="2745303" y="6721206"/>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Chuỗi giá trị của AgriPack tập trung vào việc chuyển hóa phụ phẩm nông nghiệp thành các sản phẩm bao bì có giá trị gia tăng, thông qua 7 hoạt động sau: (Fig. 09; sơ đồ chi tiết ở Fig. A02)</a:t>
            </a:r>
            <a:endParaRPr lang="en-US" sz="850" dirty="0"/>
          </a:p>
        </p:txBody>
      </p:sp>
      <p:sp>
        <p:nvSpPr>
          <p:cNvPr id="129" name="Text 125"/>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30" name="Text 126"/>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3</a:t>
            </a:r>
            <a:endParaRPr lang="en-US" sz="6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55805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835670"/>
            <a:ext cx="2159996" cy="0"/>
          </a:xfrm>
          <a:prstGeom prst="line">
            <a:avLst/>
          </a:prstGeom>
          <a:noFill/>
          <a:ln w="9525">
            <a:solidFill>
              <a:srgbClr val="7B1E2B"/>
            </a:solidFill>
            <a:prstDash val="solid"/>
          </a:ln>
        </p:spPr>
      </p:sp>
      <p:sp>
        <p:nvSpPr>
          <p:cNvPr id="5" name="Shape 3"/>
          <p:cNvSpPr/>
          <p:nvPr/>
        </p:nvSpPr>
        <p:spPr>
          <a:xfrm>
            <a:off x="405354" y="1794144"/>
            <a:ext cx="2159996" cy="0"/>
          </a:xfrm>
          <a:prstGeom prst="line">
            <a:avLst/>
          </a:prstGeom>
          <a:noFill/>
          <a:ln w="9525">
            <a:solidFill>
              <a:srgbClr val="7B1E2B"/>
            </a:solidFill>
            <a:prstDash val="solid"/>
          </a:ln>
        </p:spPr>
      </p:sp>
      <p:sp>
        <p:nvSpPr>
          <p:cNvPr id="6" name="Shape 4"/>
          <p:cNvSpPr/>
          <p:nvPr/>
        </p:nvSpPr>
        <p:spPr>
          <a:xfrm>
            <a:off x="405354" y="10369479"/>
            <a:ext cx="6749004" cy="0"/>
          </a:xfrm>
          <a:prstGeom prst="line">
            <a:avLst/>
          </a:prstGeom>
          <a:noFill/>
          <a:ln w="9525">
            <a:solidFill>
              <a:srgbClr val="BFBFBF"/>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05354" y="1105052"/>
          <a:ext cx="2159996" cy="914400"/>
        </p:xfrm>
        <a:graphic>
          <a:graphicData uri="http://schemas.openxmlformats.org/drawingml/2006/table">
            <a:tbl>
              <a:tblPr/>
              <a:tblGrid>
                <a:gridCol w="863925"/>
                <a:gridCol w="431871"/>
                <a:gridCol w="431871"/>
                <a:gridCol w="43223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7650">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Doanh thu thuần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19.438.240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30.928.285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47.546.528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Tăng trưởng doanh thu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59,1%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53,7%</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05354" y="2173072"/>
          <a:ext cx="2159996" cy="914400"/>
        </p:xfrm>
        <a:graphic>
          <a:graphicData uri="http://schemas.openxmlformats.org/drawingml/2006/table">
            <a:tbl>
              <a:tblPr/>
              <a:tblGrid>
                <a:gridCol w="863925"/>
                <a:gridCol w="431871"/>
                <a:gridCol w="431871"/>
                <a:gridCol w="43223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7650">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Doanh thu thuần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19.438.240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30.928.285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47.546.528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Lợi nhuận gộp</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13.426.489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22.035.714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34.621.079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Lợi nhuận gộp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69,1%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71,2%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72,8%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19984">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Tổng chi phí hoạt động (chi phí bán hàng và quản lý doanh nghiệp + lương)</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16.189.000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20.021.150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26.926.450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EBITDA</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(2.762.511)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2.014.564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7.694.629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Biên EBITDA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-14,2%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16,2%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EBIT</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(4.194.711)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(360.716)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4.562.677</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Biên EBIT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-21,6%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9,6%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Lợi nhuận sau thuế</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(4.309.011)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(503.276)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4.420.495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Biên lợi nhuận ròng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-22,2%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9,3%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ROE</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-25,1%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15,9%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ROA</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-23,1%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14,9%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Vòng quay tổng tài sản (lần)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1,04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1,29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1,60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4579">
                <a:tc gridSpan="4">
                  <a:txBody>
                    <a:bodyPr/>
                    <a:lstStyle/>
                    <a:p>
                      <a:pPr algn="l" indent="0" marL="0">
                        <a:buNone/>
                      </a:pPr>
                      <a:r>
                        <a:rPr lang="en-US" sz="614" dirty="0">
                          <a:solidFill>
                            <a:srgbClr val="333333"/>
                          </a:solidFill>
                          <a:latin typeface="Calibri" pitchFamily="34" charset="0"/>
                          <a:ea typeface="Calibri" pitchFamily="34" charset="-122"/>
                          <a:cs typeface="Calibri" pitchFamily="34" charset="-120"/>
                        </a:rPr>
                        <a:t>Ghi nhớ (Mục 4): khi phân bổ 70% tiền lương và 90% khấu hao vào giá vốn, biên lợi nhuận gộp 2023–2025 là 37,3% – 46,9% – 51,0%; EBITDA, EBIT và LNST không đổi.</a:t>
                      </a:r>
                      <a:endParaRPr lang="en-US" sz="614" dirty="0">
                        <a:latin typeface="Calibri" charset="0"/>
                        <a:ea typeface="Calibri" charset="0"/>
                        <a:cs typeface="Calibri" charset="0"/>
                      </a:endParaRPr>
                    </a:p>
                  </a:txBody>
                  <a:tcPr marL="28804" marR="28804" marT="28804" marB="13716" anchor="ctr">
                    <a:lnL w="0" cap="flat" cmpd="sng" algn="ctr">
                      <a:noFill/>
                    </a:lnL>
                    <a:lnR w="0" cap="flat" cmpd="sng" algn="ctr">
                      <a:noFill/>
                    </a:lnR>
                    <a:lnT w="0" cap="flat" cmpd="sng" algn="ctr">
                      <a:noFill/>
                    </a:lnT>
                    <a:lnB w="0" cap="flat" cmpd="sng" algn="ctr">
                      <a:noFill/>
                    </a:lnB>
                  </a:tcPr>
                </a:tc>
                <a:tc hMerge="1">
                  <a:tcPr/>
                </a:tc>
                <a:tc hMerge="1">
                  <a:tcPr/>
                </a:tc>
                <a:tc hMerge="1">
                  <a:tcPr/>
                </a:tc>
              </a:tr>
            </a:tbl>
          </a:graphicData>
        </a:graphic>
      </p:graphicFrame>
      <p:sp>
        <p:nvSpPr>
          <p:cNvPr id="9" name="Text 5"/>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0" name="Text 6"/>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1" name="Text 7"/>
          <p:cNvSpPr txBox="1"/>
          <p:nvPr/>
        </p:nvSpPr>
        <p:spPr>
          <a:xfrm>
            <a:off x="484632" y="5905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2. BÁO CÁO TÀI CHÍNH VÀ XÁC ĐỊNH GIAI ĐOẠN</a:t>
            </a:r>
            <a:endParaRPr lang="en-US" sz="880" dirty="0"/>
          </a:p>
        </p:txBody>
      </p:sp>
      <p:sp>
        <p:nvSpPr>
          <p:cNvPr id="12" name="Text 8"/>
          <p:cNvSpPr txBox="1"/>
          <p:nvPr/>
        </p:nvSpPr>
        <p:spPr>
          <a:xfrm>
            <a:off x="405354" y="862005"/>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10:</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Doanh thu tăng 59,1% và 53,7%</a:t>
            </a:r>
            <a:endParaRPr lang="en-US" sz="720" dirty="0"/>
          </a:p>
        </p:txBody>
      </p:sp>
      <p:sp>
        <p:nvSpPr>
          <p:cNvPr id="13" name="Text 9"/>
          <p:cNvSpPr txBox="1"/>
          <p:nvPr/>
        </p:nvSpPr>
        <p:spPr>
          <a:xfrm>
            <a:off x="405354" y="989564"/>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14" name="Text 10"/>
          <p:cNvSpPr txBox="1"/>
          <p:nvPr/>
        </p:nvSpPr>
        <p:spPr>
          <a:xfrm>
            <a:off x="405354" y="1615288"/>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tính toán của nhóm</a:t>
            </a:r>
            <a:endParaRPr lang="en-US" sz="600" dirty="0"/>
          </a:p>
        </p:txBody>
      </p:sp>
      <p:sp>
        <p:nvSpPr>
          <p:cNvPr id="15" name="Text 11"/>
          <p:cNvSpPr txBox="1"/>
          <p:nvPr/>
        </p:nvSpPr>
        <p:spPr>
          <a:xfrm>
            <a:off x="405354" y="182047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Biên EBITDA từ −14,2% lên 16,2%; LNST dương lần đầu năm 2025</a:t>
            </a:r>
            <a:endParaRPr lang="en-US" sz="720" dirty="0"/>
          </a:p>
        </p:txBody>
      </p:sp>
      <p:sp>
        <p:nvSpPr>
          <p:cNvPr id="16" name="Text 12"/>
          <p:cNvSpPr txBox="1"/>
          <p:nvPr/>
        </p:nvSpPr>
        <p:spPr>
          <a:xfrm>
            <a:off x="405354" y="2057583"/>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17" name="Text 13"/>
          <p:cNvSpPr txBox="1"/>
          <p:nvPr/>
        </p:nvSpPr>
        <p:spPr>
          <a:xfrm>
            <a:off x="405354" y="4757532"/>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tính toán của nhóm (ROE, ROA, vòng quay trên số dư bình quân)</a:t>
            </a:r>
            <a:endParaRPr lang="en-US" sz="600" dirty="0"/>
          </a:p>
        </p:txBody>
      </p:sp>
      <p:sp>
        <p:nvSpPr>
          <p:cNvPr id="18" name="Text 14"/>
          <p:cNvSpPr txBox="1"/>
          <p:nvPr/>
        </p:nvSpPr>
        <p:spPr>
          <a:xfrm>
            <a:off x="2745303" y="84518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2.1. Quy mô doanh thu</a:t>
            </a:r>
            <a:endParaRPr lang="en-US" sz="900" dirty="0"/>
          </a:p>
        </p:txBody>
      </p:sp>
      <p:sp>
        <p:nvSpPr>
          <p:cNvPr id="19" name="Text 15"/>
          <p:cNvSpPr txBox="1"/>
          <p:nvPr/>
        </p:nvSpPr>
        <p:spPr>
          <a:xfrm>
            <a:off x="2745303" y="1014618"/>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Về quy mô tuyệt đối, doanh thu thuần của AgriPack tăng từ 19,4 tỷ đồng năm 2023 lên 47,5 tỷ đồng năm 2025, tăng gấp 2,45 lần chỉ sau hai năm, với tốc độ tăng trưởng kép (CAGR) 56,4%/năm (Fig. 10).</a:t>
            </a:r>
            <a:endParaRPr lang="en-US" sz="850" dirty="0"/>
          </a:p>
        </p:txBody>
      </p:sp>
      <p:sp>
        <p:nvSpPr>
          <p:cNvPr id="20" name="Text 16"/>
          <p:cNvSpPr txBox="1"/>
          <p:nvPr/>
        </p:nvSpPr>
        <p:spPr>
          <a:xfrm>
            <a:off x="2745303" y="1446947"/>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Đặt trong bối cảnh toàn ngành, theo IMARC Group (2025), quy mô thị trường bao bì xanh Việt Nam năm 2025 đạt khoảng 1.129,79 triệu USD, trong đó riêng ngành dịch vụ ăn uống (F&amp;B) đóng góp khoảng 33,93 triệu USD. Với mức doanh thu 47,5 tỷ đồng (tương đương khoảng 1,83 triệu USD với tỷ giá 25,974.5 VND/USD) năm 2025, AgriPack hiện chiếm 0,16% quy mô thị trường bao bì xanh toàn quốc và 4,3% thị trường bao bì xanh ngành F&amp;B (tính trên doanh thu mảng F&amp;B ~1,46 triệu USD, như ở Mục 1).</a:t>
            </a:r>
            <a:endParaRPr lang="en-US" sz="850" dirty="0"/>
          </a:p>
        </p:txBody>
      </p:sp>
      <p:sp>
        <p:nvSpPr>
          <p:cNvPr id="21" name="Text 17"/>
          <p:cNvSpPr txBox="1"/>
          <p:nvPr/>
        </p:nvSpPr>
        <p:spPr>
          <a:xfrm>
            <a:off x="2745303" y="2273930"/>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Điều này cho thấy AgriPack đang có vị thế tương đối vững chắc trong phân khúc F&amp;B, với 4,3% thị phần toàn quốc và khoảng 5,8% tại miền Trung - Nam, cho thấy năng lực cạnh tranh, kênh phân phối và nhận diện thương hiệu tốt trong ngành F&amp;B nội địa. Tuy nhiên, thị phần 0,16% toàn ngành bao bì xanh cho thấy quy mô còn nhỏ và phụ thuộc vào một phân khúc. Mức 5,8% cũng cho thấy dư địa tăng trưởng tại thị trường hiện tại đang dần thu hẹp, nhưng đồng thời mở ra cơ hội lớn khi AgriPack có thể khai thác 99,84% thị trường còn lại, mở rộng ra miền Bắc và các lĩnh vực như logistics, FMCG và nông sản xuất khẩu.</a:t>
            </a:r>
            <a:endParaRPr lang="en-US" sz="850" dirty="0"/>
          </a:p>
        </p:txBody>
      </p:sp>
      <p:sp>
        <p:nvSpPr>
          <p:cNvPr id="22" name="Text 18"/>
          <p:cNvSpPr txBox="1"/>
          <p:nvPr/>
        </p:nvSpPr>
        <p:spPr>
          <a:xfrm>
            <a:off x="2745303" y="3232587"/>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Bên cạnh đó, tốc độ tăng trưởng đạt 59,1% (2024) và 53,7% (2025) cho thấy doanh nghiệp đang trong quá trình mở rộng nhanh. Điều này phù hợp với hình thái của một doanh nghiệp đang giành thị phần từ một nền doanh thu nhỏ, chứ không phải doanh nghiệp đã trưởng thành và chỉ tăng trưởng ngang thị trường. Điều quan trọng hơn là chất lượng tăng trưởng: chi phí biến đổi (nguyên liệu, nhân công trực tiếp) tăng với tốc độ 56,0% (2024) và 50,7% (2025), bám sát nhưng thấp hơn tốc độ tăng doanh thu, cho thấy công ty đã bước đầu hưởng lợi thế quy mô trong sản xuất, không phải tăng trưởng doanh thu bằng cách hy sinh biên lợi nhuận.</a:t>
            </a:r>
            <a:endParaRPr lang="en-US" sz="850" dirty="0"/>
          </a:p>
        </p:txBody>
      </p:sp>
      <p:sp>
        <p:nvSpPr>
          <p:cNvPr id="23" name="Text 19"/>
          <p:cNvSpPr txBox="1"/>
          <p:nvPr/>
        </p:nvSpPr>
        <p:spPr>
          <a:xfrm>
            <a:off x="2745303" y="4191152"/>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Như vậy, xét riêng về doanh thu và tốc độ tăng trưởng, doanh nghiệp đã vượt qua giai đoạn thử nghiệm mô hình (doanh thu tăng liên tục, có khách hàng thực), nhưng quy mô tuyệt đối vẫn nhỏ so với các đối thủ lớn: An Phát có doanh thu 10.746 tỷ đồng, gấp khoảng 226 lần AgriPack, Đông Hải Bến Tre có doanh thu 3.633 tỷ đồng, gấp khoảng 76 lần AgriPack. Nói cách khác, AgriPack có chỗ đứng trong ngách F&amp;B nhưng chưa đạt quy mô công nghiệp.</a:t>
            </a:r>
            <a:endParaRPr lang="en-US" sz="850" dirty="0"/>
          </a:p>
        </p:txBody>
      </p:sp>
      <p:sp>
        <p:nvSpPr>
          <p:cNvPr id="24" name="Text 20"/>
          <p:cNvSpPr txBox="1"/>
          <p:nvPr/>
        </p:nvSpPr>
        <p:spPr>
          <a:xfrm>
            <a:off x="2745303" y="4886645"/>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2.2. Mức độ sinh lời</a:t>
            </a:r>
            <a:endParaRPr lang="en-US" sz="900" dirty="0"/>
          </a:p>
        </p:txBody>
      </p:sp>
      <p:sp>
        <p:nvSpPr>
          <p:cNvPr id="25" name="Text 21"/>
          <p:cNvSpPr txBox="1"/>
          <p:nvPr/>
        </p:nvSpPr>
        <p:spPr>
          <a:xfrm>
            <a:off x="2745303" y="5055992"/>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Biên lợi nhuận gộp tăng đều đặn qua ba năm: 69,1% (2023) → 71,2% (2024) → 72,8% (2025). Đây là mức biên gộp cao khi nghiên cứu chuẩn ngành sản xuất nói chung cho thấy biên gộp của nhà sản xuất theo hợp đồng/hàng hóa phổ thông thường ở mức 25-40% (Taylor, 2026). Riêng ngành bao bì, các doanh nghiệp lớn đi đầu về bao bì giấy bền vững (như Bao bì Biên Hòa - SVI, Đông Hải Bến Tre) ghi nhận BLNG quanh chỉ mức 12-16% (Fig. 11).</a:t>
            </a:r>
            <a:endParaRPr lang="en-US" sz="850" dirty="0"/>
          </a:p>
        </p:txBody>
      </p:sp>
      <p:sp>
        <p:nvSpPr>
          <p:cNvPr id="26" name="Text 22"/>
          <p:cNvSpPr txBox="1"/>
          <p:nvPr/>
        </p:nvSpPr>
        <p:spPr>
          <a:xfrm>
            <a:off x="2745303" y="5751485"/>
            <a:ext cx="4409237" cy="118405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Ở cấp độ lợi nhuận hoạt động, biên EBITDA cải thiện mạnh từ -14,2% (2023) lên 6,5% (2024) và 16,2% (2025), kéo theo biên EBIT chuyển từ -21,6% sang -1,2% rồi đạt mức dương 9,6%. Nguyên nhân cốt lõi đến từ hiệu ứng đòn bẩy hoạt động: trong khi doanh thu tăng trưởng mạnh với tốc độ tăng trưởng kép (CAGR) khoảng 56%/năm, tổng chi phí hoạt động (bán hàng, quản lý và lương) chỉ tăng với CAGR khoảng 29%/năm. Nhờ đó, các chi phí cố định trọng yếu được “pha loãng” nhanh chóng, thể hiện rõ qua tỷ lệ chi phí thuê mặt bằng/doanh thu giảm từ 20,5% xuống 15,9% và chi phí lương/doanh thu giảm từ 36,0% xuống 22,6% giai đoạn 2023-2025. Đây là dấu hiệu đặc trưng của giai đoạn công ty đã tìm ra mô hình vận hành có khả năng mở rộng hiệu quả, không chỉ đơn thuần tăng trưởng doanh thu bằng mọi giá.</a:t>
            </a:r>
            <a:endParaRPr lang="en-US" sz="850" dirty="0"/>
          </a:p>
        </p:txBody>
      </p:sp>
      <p:sp>
        <p:nvSpPr>
          <p:cNvPr id="27" name="Text 23"/>
          <p:cNvSpPr txBox="1"/>
          <p:nvPr/>
        </p:nvSpPr>
        <p:spPr>
          <a:xfrm>
            <a:off x="2745303" y="6973123"/>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Lợi nhuận sau thuế chỉ chuyển dương lần đầu tiên vào năm 2025 (biên lợi nhuận ròng 9,3%, so với -22,2% năm 2023 và -1,6% năm 2024), đây là bước ngoặt định tính quan trọng nhất về khả năng sinh lời. Như vậy, doanh nghiệp đã vượt qua giai đoạn đầu tư ban đầu để chạm ngưỡng hòa vốn và bắt đầu sinh lời. Cột mốc này đánh dấu sự chuyển dịch quan trọng từ bước xác thực mô hình sang giai đoạn mở rộng quy mô gắn liền với kỷ luật tài chính, bước đầu cho thấy khả năng thoát khỏi định vị của một startup đang thử nghiệm ở quy mô nhỏ .</a:t>
            </a:r>
            <a:endParaRPr lang="en-US" sz="850" dirty="0"/>
          </a:p>
        </p:txBody>
      </p:sp>
      <p:sp>
        <p:nvSpPr>
          <p:cNvPr id="28" name="Text 24"/>
          <p:cNvSpPr txBox="1"/>
          <p:nvPr/>
        </p:nvSpPr>
        <p:spPr>
          <a:xfrm>
            <a:off x="2745303" y="7800198"/>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ROE và ROA cũng đi cùng quỹ đạo với biên độ dao động lớn: ROE từ -25,1% (2023) lên -2,3% (2024) rồi +15,9% (2025); ROA từ -23,1% lên -2,1% rồi +14,9%. Đáng chú ý, khoảng cách giữa ROE và ROA năm 2025 chỉ 1% cho thấy lợi nhuận tạo ra xuất phát từ chính hiệu quả vận hành nội tại của tổng tài sản chứ không đến từ việc lạm dụng đòn bẩy tài chính. Dù biên độ biến động lớn phản ánh mô hình có đòn bẩy hoạt động cao - vốn nhạy cảm với biến động doanh thu, nhưng mức ROE xấp xỉ 16% là minh chứng cho thấy khả năng làm chủ được chi phí và xây dựng một mô hình kinh doanh có khả năng sinh lời.</a:t>
            </a:r>
            <a:endParaRPr lang="en-US" sz="850" dirty="0"/>
          </a:p>
        </p:txBody>
      </p:sp>
      <p:sp>
        <p:nvSpPr>
          <p:cNvPr id="29" name="Text 25"/>
          <p:cNvSpPr txBox="1"/>
          <p:nvPr/>
        </p:nvSpPr>
        <p:spPr>
          <a:xfrm>
            <a:off x="2745303" y="8758763"/>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Vòng quay tổng tài sản cũng tăng đều từ 1,04 lần lên 1,60 lần, cho thấy công ty đang khai thác hiệu quả hơn tài sản đã đầu tư (nhà máy, thiết bị) để tạo doanh thu, tín hiệu cho thấy đòn bẩy hoạt động bắt đầu phát huy tác dụng, đặc trưng của giai đoạn sau khi công suất đã được xây dựng và đang được lấp đầy bằng đơn hàng thực tế, không phải giai đoạn công suất còn bỏ trống chờ thử nghiệm.</a:t>
            </a:r>
            <a:endParaRPr lang="en-US" sz="850" dirty="0"/>
          </a:p>
        </p:txBody>
      </p:sp>
      <p:sp>
        <p:nvSpPr>
          <p:cNvPr id="30" name="Text 26"/>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31" name="Text 27"/>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4</a:t>
            </a:r>
            <a:endParaRPr lang="en-US" sz="6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1557955"/>
            <a:ext cx="2159996" cy="0"/>
          </a:xfrm>
          <a:prstGeom prst="line">
            <a:avLst/>
          </a:prstGeom>
          <a:noFill/>
          <a:ln w="9525">
            <a:solidFill>
              <a:srgbClr val="7B1E2B"/>
            </a:solidFill>
            <a:prstDash val="solid"/>
          </a:ln>
        </p:spPr>
      </p:sp>
      <p:sp>
        <p:nvSpPr>
          <p:cNvPr id="5" name="Shape 3"/>
          <p:cNvSpPr/>
          <p:nvPr/>
        </p:nvSpPr>
        <p:spPr>
          <a:xfrm>
            <a:off x="405354" y="2744754"/>
            <a:ext cx="2159996" cy="0"/>
          </a:xfrm>
          <a:prstGeom prst="line">
            <a:avLst/>
          </a:prstGeom>
          <a:noFill/>
          <a:ln w="9525">
            <a:solidFill>
              <a:srgbClr val="7B1E2B"/>
            </a:solidFill>
            <a:prstDash val="solid"/>
          </a:ln>
        </p:spPr>
      </p:sp>
      <p:sp>
        <p:nvSpPr>
          <p:cNvPr id="6" name="Shape 4"/>
          <p:cNvSpPr/>
          <p:nvPr/>
        </p:nvSpPr>
        <p:spPr>
          <a:xfrm>
            <a:off x="405354" y="3968039"/>
            <a:ext cx="2159996" cy="0"/>
          </a:xfrm>
          <a:prstGeom prst="line">
            <a:avLst/>
          </a:prstGeom>
          <a:noFill/>
          <a:ln w="9525">
            <a:solidFill>
              <a:srgbClr val="7B1E2B"/>
            </a:solidFill>
            <a:prstDash val="solid"/>
          </a:ln>
        </p:spPr>
      </p:sp>
      <p:sp>
        <p:nvSpPr>
          <p:cNvPr id="7" name="Shape 5"/>
          <p:cNvSpPr/>
          <p:nvPr/>
        </p:nvSpPr>
        <p:spPr>
          <a:xfrm>
            <a:off x="405354" y="5383164"/>
            <a:ext cx="2159996" cy="0"/>
          </a:xfrm>
          <a:prstGeom prst="line">
            <a:avLst/>
          </a:prstGeom>
          <a:noFill/>
          <a:ln w="9525">
            <a:solidFill>
              <a:srgbClr val="7B1E2B"/>
            </a:solidFill>
            <a:prstDash val="solid"/>
          </a:ln>
        </p:spPr>
      </p:sp>
      <p:sp>
        <p:nvSpPr>
          <p:cNvPr id="8" name="Shape 6"/>
          <p:cNvSpPr/>
          <p:nvPr/>
        </p:nvSpPr>
        <p:spPr>
          <a:xfrm>
            <a:off x="405354" y="7481712"/>
            <a:ext cx="6749004" cy="0"/>
          </a:xfrm>
          <a:prstGeom prst="line">
            <a:avLst/>
          </a:prstGeom>
          <a:noFill/>
          <a:ln w="9525">
            <a:solidFill>
              <a:srgbClr val="7B1E2B"/>
            </a:solidFill>
            <a:prstDash val="solid"/>
          </a:ln>
        </p:spPr>
      </p:sp>
      <p:sp>
        <p:nvSpPr>
          <p:cNvPr id="9" name="Shape 7"/>
          <p:cNvSpPr/>
          <p:nvPr/>
        </p:nvSpPr>
        <p:spPr>
          <a:xfrm>
            <a:off x="405354" y="10369479"/>
            <a:ext cx="6749004" cy="0"/>
          </a:xfrm>
          <a:prstGeom prst="line">
            <a:avLst/>
          </a:prstGeom>
          <a:noFill/>
          <a:ln w="9525">
            <a:solidFill>
              <a:srgbClr val="BFBFB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05354" y="832287"/>
          <a:ext cx="2159996" cy="914400"/>
        </p:xfrm>
        <a:graphic>
          <a:graphicData uri="http://schemas.openxmlformats.org/drawingml/2006/table">
            <a:tbl>
              <a:tblPr/>
              <a:tblGrid>
                <a:gridCol w="734446"/>
                <a:gridCol w="475031"/>
                <a:gridCol w="475031"/>
                <a:gridCol w="47539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7650">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Tổng tài sản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20.547.789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27.423.353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31.917.540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Tài sản dài hạn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15.511.800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19.442.120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21.394.688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Nợ dài hạn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1.200.000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1.500.000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1.500.000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05354" y="1827246"/>
          <a:ext cx="2159996" cy="914400"/>
        </p:xfrm>
        <a:graphic>
          <a:graphicData uri="http://schemas.openxmlformats.org/drawingml/2006/table">
            <a:tbl>
              <a:tblPr/>
              <a:tblGrid>
                <a:gridCol w="734446"/>
                <a:gridCol w="475031"/>
                <a:gridCol w="475031"/>
                <a:gridCol w="47539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7650">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CAPEX</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(5.009.000)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(6.305.600)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(5.084.520)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CAPEX/Doanh thu (%)</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25,8%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20,4%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10,7%</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CAPEX/Khấu hao (lần)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2,65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1,62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405354" y="3014137"/>
          <a:ext cx="2159996" cy="914400"/>
        </p:xfrm>
        <a:graphic>
          <a:graphicData uri="http://schemas.openxmlformats.org/drawingml/2006/table">
            <a:tbl>
              <a:tblPr/>
              <a:tblGrid>
                <a:gridCol w="734446"/>
                <a:gridCol w="475031"/>
                <a:gridCol w="475031"/>
                <a:gridCol w="47539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7650">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Tổng tài sản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20.547.789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27.423.353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31.917.540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Tổng nợ phải trả</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1.492.800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1.871.640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1.945.332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Vốn chủ sở hữu</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19.054.989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25.551.713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29.972.208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Tỷ lệ Nợ/Vốn CSH (D/E)</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7,8%</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7,3%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21" name="Table 3"/>
          <p:cNvGraphicFramePr>
            <a:graphicFrameLocks noGrp="1"/>
          </p:cNvGraphicFramePr>
          <p:nvPr>
            <p:extLst>
              <p:ext uri="{D42A27DB-BD31-4B8C-83A1-F6EECF244321}">
                <p14:modId xmlns:p14="http://schemas.microsoft.com/office/powerpoint/2010/main" val="1579011935"/>
              </p:ext>
            </p:extLst>
          </p:nvPr>
        </p:nvGraphicFramePr>
        <p:xfrm>
          <a:off x="405354" y="4237512"/>
          <a:ext cx="2159996" cy="914400"/>
        </p:xfrm>
        <a:graphic>
          <a:graphicData uri="http://schemas.openxmlformats.org/drawingml/2006/table">
            <a:tbl>
              <a:tblPr/>
              <a:tblGrid>
                <a:gridCol w="734446"/>
                <a:gridCol w="475031"/>
                <a:gridCol w="475031"/>
                <a:gridCol w="47539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3571">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Lưu chuyển tiền thuần từ HĐKD</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(3.957.011)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697.144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6.282.469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97">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CAPEX</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(5.009.000)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(6.305.600)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(5.084.520)</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Dòng tiền tự do (FCF = OCF − CAPEX)</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(8.966.011)</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(5.608.456)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1.197.949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Số dư tiền mặt cuối kỳ</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43.989</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1.735.533</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2.933.482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26" name="Table 4"/>
          <p:cNvGraphicFramePr>
            <a:graphicFrameLocks noGrp="1"/>
          </p:cNvGraphicFramePr>
          <p:nvPr>
            <p:extLst>
              <p:ext uri="{D42A27DB-BD31-4B8C-83A1-F6EECF244321}">
                <p14:modId xmlns:p14="http://schemas.microsoft.com/office/powerpoint/2010/main" val="1579011935"/>
              </p:ext>
            </p:extLst>
          </p:nvPr>
        </p:nvGraphicFramePr>
        <p:xfrm>
          <a:off x="405354" y="5762092"/>
          <a:ext cx="2159996" cy="914400"/>
        </p:xfrm>
        <a:graphic>
          <a:graphicData uri="http://schemas.openxmlformats.org/drawingml/2006/table">
            <a:tbl>
              <a:tblPr/>
              <a:tblGrid>
                <a:gridCol w="734446"/>
                <a:gridCol w="475031"/>
                <a:gridCol w="475031"/>
                <a:gridCol w="475397"/>
              </a:tblGrid>
              <a:tr h="131582">
                <a:tc>
                  <a:txBody>
                    <a:bodyPr/>
                    <a:lstStyle/>
                    <a:p>
                      <a:pPr algn="l" indent="0" marL="0">
                        <a:buNone/>
                      </a:pPr>
                      <a:r>
                        <a:rPr lang="en-US" sz="614" b="1" dirty="0">
                          <a:solidFill>
                            <a:srgbClr val="FFFFFF"/>
                          </a:solidFill>
                          <a:latin typeface="Calibri" pitchFamily="34" charset="0"/>
                          <a:ea typeface="Calibri" pitchFamily="34" charset="-122"/>
                          <a:cs typeface="Calibri" pitchFamily="34" charset="-120"/>
                        </a:rPr>
                        <a:t>Chỉ tiêu</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2023</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2024</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14" b="1" dirty="0">
                          <a:solidFill>
                            <a:srgbClr val="FFFFFF"/>
                          </a:solidFill>
                          <a:latin typeface="Calibri" pitchFamily="34" charset="0"/>
                          <a:ea typeface="Calibri" pitchFamily="34" charset="-122"/>
                          <a:cs typeface="Calibri" pitchFamily="34" charset="-120"/>
                        </a:rPr>
                        <a:t>2025</a:t>
                      </a:r>
                      <a:endParaRPr lang="en-US" sz="61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3571">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Hệ số thanh toán hiện hành (lần)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17,2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21,5</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23,6</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26">
                <a:tc>
                  <a:txBody>
                    <a:bodyPr/>
                    <a:lstStyle/>
                    <a:p>
                      <a:pPr algn="l" indent="0" marL="0">
                        <a:buNone/>
                      </a:pPr>
                      <a:r>
                        <a:rPr lang="en-US" sz="614" dirty="0">
                          <a:solidFill>
                            <a:srgbClr val="1F1F1F"/>
                          </a:solidFill>
                          <a:latin typeface="Calibri" pitchFamily="34" charset="0"/>
                          <a:ea typeface="Calibri" pitchFamily="34" charset="-122"/>
                          <a:cs typeface="Calibri" pitchFamily="34" charset="-120"/>
                        </a:rPr>
                        <a:t>Hệ số thanh toán nhanh (lần)</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8,7</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13,4</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14" dirty="0">
                          <a:solidFill>
                            <a:srgbClr val="1F1F1F"/>
                          </a:solidFill>
                          <a:latin typeface="Calibri" pitchFamily="34" charset="0"/>
                          <a:ea typeface="Calibri" pitchFamily="34" charset="-122"/>
                          <a:cs typeface="Calibri" pitchFamily="34" charset="-120"/>
                        </a:rPr>
                        <a:t>15,2</a:t>
                      </a:r>
                      <a:endParaRPr lang="en-US" sz="61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31" name="Table 5"/>
          <p:cNvGraphicFramePr>
            <a:graphicFrameLocks noGrp="1"/>
          </p:cNvGraphicFramePr>
          <p:nvPr>
            <p:extLst>
              <p:ext uri="{D42A27DB-BD31-4B8C-83A1-F6EECF244321}">
                <p14:modId xmlns:p14="http://schemas.microsoft.com/office/powerpoint/2010/main" val="1579011935"/>
              </p:ext>
            </p:extLst>
          </p:nvPr>
        </p:nvGraphicFramePr>
        <p:xfrm>
          <a:off x="405354" y="7649870"/>
          <a:ext cx="6749004" cy="914400"/>
        </p:xfrm>
        <a:graphic>
          <a:graphicData uri="http://schemas.openxmlformats.org/drawingml/2006/table">
            <a:tbl>
              <a:tblPr/>
              <a:tblGrid>
                <a:gridCol w="1012332"/>
                <a:gridCol w="2834549"/>
                <a:gridCol w="2902123"/>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Tiêu chí</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Diễn giải từ BCTC 2023-2025</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Hàm ý về giai đoạn</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236007">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Quy mô tương đối so với ngành</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thu 2025 khoảng </a:t>
                      </a:r>
                      <a:pPr algn="l" indent="0" marL="0">
                        <a:buNone/>
                      </a:pPr>
                      <a:r>
                        <a:rPr lang="en-US" sz="634" b="1" dirty="0">
                          <a:solidFill>
                            <a:srgbClr val="1F1F1F"/>
                          </a:solidFill>
                          <a:latin typeface="Calibri" pitchFamily="34" charset="0"/>
                          <a:ea typeface="Calibri" pitchFamily="34" charset="-122"/>
                          <a:cs typeface="Calibri" pitchFamily="34" charset="-120"/>
                        </a:rPr>
                        <a:t>47,5 tỷ đồng</a:t>
                      </a:r>
                      <a:pPr algn="l" indent="0" marL="0">
                        <a:buNone/>
                      </a:pPr>
                      <a:r>
                        <a:rPr lang="en-US" sz="634" dirty="0">
                          <a:solidFill>
                            <a:srgbClr val="1F1F1F"/>
                          </a:solidFill>
                          <a:latin typeface="Calibri" pitchFamily="34" charset="0"/>
                          <a:ea typeface="Calibri" pitchFamily="34" charset="-122"/>
                          <a:cs typeface="Calibri" pitchFamily="34" charset="-120"/>
                        </a:rPr>
                        <a:t>, trong khi An Phát khoảng </a:t>
                      </a:r>
                      <a:pPr algn="l" indent="0" marL="0">
                        <a:buNone/>
                      </a:pPr>
                      <a:r>
                        <a:rPr lang="en-US" sz="634" b="1" dirty="0">
                          <a:solidFill>
                            <a:srgbClr val="1F1F1F"/>
                          </a:solidFill>
                          <a:latin typeface="Calibri" pitchFamily="34" charset="0"/>
                          <a:ea typeface="Calibri" pitchFamily="34" charset="-122"/>
                          <a:cs typeface="Calibri" pitchFamily="34" charset="-120"/>
                        </a:rPr>
                        <a:t>10.746 tỷ đồng</a:t>
                      </a:r>
                      <a:pPr algn="l" indent="0" marL="0">
                        <a:buNone/>
                      </a:pPr>
                      <a:r>
                        <a:rPr lang="en-US" sz="634" dirty="0">
                          <a:solidFill>
                            <a:srgbClr val="1F1F1F"/>
                          </a:solidFill>
                          <a:latin typeface="Calibri" pitchFamily="34" charset="0"/>
                          <a:ea typeface="Calibri" pitchFamily="34" charset="-122"/>
                          <a:cs typeface="Calibri" pitchFamily="34" charset="-120"/>
                        </a:rPr>
                        <a:t> và Đông Hải Bến Tre khoảng </a:t>
                      </a:r>
                      <a:pPr algn="l" indent="0" marL="0">
                        <a:buNone/>
                      </a:pPr>
                      <a:r>
                        <a:rPr lang="en-US" sz="634" b="1" dirty="0">
                          <a:solidFill>
                            <a:srgbClr val="1F1F1F"/>
                          </a:solidFill>
                          <a:latin typeface="Calibri" pitchFamily="34" charset="0"/>
                          <a:ea typeface="Calibri" pitchFamily="34" charset="-122"/>
                          <a:cs typeface="Calibri" pitchFamily="34" charset="-120"/>
                        </a:rPr>
                        <a:t>3.633 tỷ đồng</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vẫn đang ở quy mô nhỏ, còn nhiều dư địa mở rộng thị trường và công suất.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Tăng trưởng doanh thu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thu tăng từ </a:t>
                      </a:r>
                      <a:pPr algn="l" indent="0" marL="0">
                        <a:buNone/>
                      </a:pPr>
                      <a:r>
                        <a:rPr lang="en-US" sz="634" b="1" dirty="0">
                          <a:solidFill>
                            <a:srgbClr val="1F1F1F"/>
                          </a:solidFill>
                          <a:latin typeface="Calibri" pitchFamily="34" charset="0"/>
                          <a:ea typeface="Calibri" pitchFamily="34" charset="-122"/>
                          <a:cs typeface="Calibri" pitchFamily="34" charset="-120"/>
                        </a:rPr>
                        <a:t>19,4 tỷ đồng (2023) → 30,9 tỷ (2024) → 47,5 tỷ (2025)</a:t>
                      </a:r>
                      <a:pPr algn="l" indent="0" marL="0">
                        <a:buNone/>
                      </a:pPr>
                      <a:r>
                        <a:rPr lang="en-US" sz="634" dirty="0">
                          <a:solidFill>
                            <a:srgbClr val="1F1F1F"/>
                          </a:solidFill>
                          <a:latin typeface="Calibri" pitchFamily="34" charset="0"/>
                          <a:ea typeface="Calibri" pitchFamily="34" charset="-122"/>
                          <a:cs typeface="Calibri" pitchFamily="34" charset="-120"/>
                        </a:rPr>
                        <a:t>, tương ứng tăng </a:t>
                      </a:r>
                      <a:pPr algn="l" indent="0" marL="0">
                        <a:buNone/>
                      </a:pPr>
                      <a:r>
                        <a:rPr lang="en-US" sz="634" b="1" dirty="0">
                          <a:solidFill>
                            <a:srgbClr val="1F1F1F"/>
                          </a:solidFill>
                          <a:latin typeface="Calibri" pitchFamily="34" charset="0"/>
                          <a:ea typeface="Calibri" pitchFamily="34" charset="-122"/>
                          <a:cs typeface="Calibri" pitchFamily="34" charset="-120"/>
                        </a:rPr>
                        <a:t>59,1% và 53,7%</a:t>
                      </a:r>
                      <a:pPr algn="l" indent="0" marL="0">
                        <a:buNone/>
                      </a:pPr>
                      <a:r>
                        <a:rPr lang="en-US" sz="634" dirty="0">
                          <a:solidFill>
                            <a:srgbClr val="1F1F1F"/>
                          </a:solidFill>
                          <a:latin typeface="Calibri" pitchFamily="34" charset="0"/>
                          <a:ea typeface="Calibri" pitchFamily="34" charset="-122"/>
                          <a:cs typeface="Calibri" pitchFamily="34" charset="-120"/>
                        </a:rPr>
                        <a:t>, CAGR khoảng </a:t>
                      </a:r>
                      <a:pPr algn="l" indent="0" marL="0">
                        <a:buNone/>
                      </a:pPr>
                      <a:r>
                        <a:rPr lang="en-US" sz="634" b="1" dirty="0">
                          <a:solidFill>
                            <a:srgbClr val="1F1F1F"/>
                          </a:solidFill>
                          <a:latin typeface="Calibri" pitchFamily="34" charset="0"/>
                          <a:ea typeface="Calibri" pitchFamily="34" charset="-122"/>
                          <a:cs typeface="Calibri" pitchFamily="34" charset="-120"/>
                        </a:rPr>
                        <a:t>56,4%/năm</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Tốc độ tăng trưởng cao và duy trì, đang trong quá trình </a:t>
                      </a:r>
                      <a:pPr algn="l" indent="0" marL="0">
                        <a:buNone/>
                      </a:pPr>
                      <a:r>
                        <a:rPr lang="en-US" sz="634" b="1" dirty="0">
                          <a:solidFill>
                            <a:srgbClr val="1F1F1F"/>
                          </a:solidFill>
                          <a:latin typeface="Calibri" pitchFamily="34" charset="0"/>
                          <a:ea typeface="Calibri" pitchFamily="34" charset="-122"/>
                          <a:cs typeface="Calibri" pitchFamily="34" charset="-120"/>
                        </a:rPr>
                        <a:t>mở rộng thị trường</a:t>
                      </a:r>
                      <a:pPr algn="l" indent="0" marL="0">
                        <a:buNone/>
                      </a:pPr>
                      <a:r>
                        <a:rPr lang="en-US" sz="634" dirty="0">
                          <a:solidFill>
                            <a:srgbClr val="1F1F1F"/>
                          </a:solidFill>
                          <a:latin typeface="Calibri" pitchFamily="34" charset="0"/>
                          <a:ea typeface="Calibri" pitchFamily="34" charset="-122"/>
                          <a:cs typeface="Calibri" pitchFamily="34" charset="-120"/>
                        </a:rPr>
                        <a:t>, nhưng quy mô vẫn còn nhỏ so với các doanh nghiệp lớn cùng ngành, phù hợp với giai đoạn tăng trưởng.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Mức độ sinh lời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Biên gộp tăng </a:t>
                      </a:r>
                      <a:pPr algn="l" indent="0" marL="0">
                        <a:buNone/>
                      </a:pPr>
                      <a:r>
                        <a:rPr lang="en-US" sz="634" b="1" dirty="0">
                          <a:solidFill>
                            <a:srgbClr val="1F1F1F"/>
                          </a:solidFill>
                          <a:latin typeface="Calibri" pitchFamily="34" charset="0"/>
                          <a:ea typeface="Calibri" pitchFamily="34" charset="-122"/>
                          <a:cs typeface="Calibri" pitchFamily="34" charset="-120"/>
                        </a:rPr>
                        <a:t>69,1% → 71,2% → 72,8%</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LNST chuyển sang dương lần đầu năm 2025, đạt </a:t>
                      </a:r>
                      <a:pPr algn="l" indent="0" marL="0">
                        <a:buNone/>
                      </a:pPr>
                      <a:r>
                        <a:rPr lang="en-US" sz="634" b="1" dirty="0">
                          <a:solidFill>
                            <a:srgbClr val="1F1F1F"/>
                          </a:solidFill>
                          <a:latin typeface="Calibri" pitchFamily="34" charset="0"/>
                          <a:ea typeface="Calibri" pitchFamily="34" charset="-122"/>
                          <a:cs typeface="Calibri" pitchFamily="34" charset="-120"/>
                        </a:rPr>
                        <a:t>4,42 tỷ đồng</a:t>
                      </a:r>
                      <a:pPr algn="l" indent="0" marL="0">
                        <a:buNone/>
                      </a:pPr>
                      <a:r>
                        <a:rPr lang="en-US" sz="634" dirty="0">
                          <a:solidFill>
                            <a:srgbClr val="1F1F1F"/>
                          </a:solidFill>
                          <a:latin typeface="Calibri" pitchFamily="34" charset="0"/>
                          <a:ea typeface="Calibri" pitchFamily="34" charset="-122"/>
                          <a:cs typeface="Calibri" pitchFamily="34" charset="-120"/>
                        </a:rPr>
                        <a:t>, biên ròng </a:t>
                      </a:r>
                      <a:pPr algn="l" indent="0" marL="0">
                        <a:buNone/>
                      </a:pPr>
                      <a:r>
                        <a:rPr lang="en-US" sz="634" b="1" dirty="0">
                          <a:solidFill>
                            <a:srgbClr val="1F1F1F"/>
                          </a:solidFill>
                          <a:latin typeface="Calibri" pitchFamily="34" charset="0"/>
                          <a:ea typeface="Calibri" pitchFamily="34" charset="-122"/>
                          <a:cs typeface="Calibri" pitchFamily="34" charset="-120"/>
                        </a:rPr>
                        <a:t>9,3%</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Mô hình kinh doanh bắt đầu tạo lợi nhuận, nhưng lợi nhuận dương mới xuất hiện 1 năm, là dấu hiệu điển hình của </a:t>
                      </a:r>
                      <a:pPr algn="l" indent="0" marL="0">
                        <a:buNone/>
                      </a:pPr>
                      <a:r>
                        <a:rPr lang="en-US" sz="634" b="1" dirty="0">
                          <a:solidFill>
                            <a:srgbClr val="1F1F1F"/>
                          </a:solidFill>
                          <a:latin typeface="Calibri" pitchFamily="34" charset="0"/>
                          <a:ea typeface="Calibri" pitchFamily="34" charset="-122"/>
                          <a:cs typeface="Calibri" pitchFamily="34" charset="-120"/>
                        </a:rPr>
                        <a:t>đầu giai đoạn tăng trưởng</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Hiệu quả sử dụng tài sản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Vòng quay tổng tài sản tăng từ </a:t>
                      </a:r>
                      <a:pPr algn="l" indent="0" marL="0">
                        <a:buNone/>
                      </a:pPr>
                      <a:r>
                        <a:rPr lang="en-US" sz="634" b="1" dirty="0">
                          <a:solidFill>
                            <a:srgbClr val="1F1F1F"/>
                          </a:solidFill>
                          <a:latin typeface="Calibri" pitchFamily="34" charset="0"/>
                          <a:ea typeface="Calibri" pitchFamily="34" charset="-122"/>
                          <a:cs typeface="Calibri" pitchFamily="34" charset="-120"/>
                        </a:rPr>
                        <a:t>1,04 lần → 1,29 lần → 1,60 lần</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Tài sản sản xuất đã bắt đầu được khai thác hiệu quả hơn khi doanh thu tăng nhanh, phản ánh quá trình </a:t>
                      </a:r>
                      <a:pPr algn="l" indent="0" marL="0">
                        <a:buNone/>
                      </a:pPr>
                      <a:r>
                        <a:rPr lang="en-US" sz="634" b="1" dirty="0">
                          <a:solidFill>
                            <a:srgbClr val="1F1F1F"/>
                          </a:solidFill>
                          <a:latin typeface="Calibri" pitchFamily="34" charset="0"/>
                          <a:ea typeface="Calibri" pitchFamily="34" charset="-122"/>
                          <a:cs typeface="Calibri" pitchFamily="34" charset="-120"/>
                        </a:rPr>
                        <a:t>lấp đầy công suất</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Năng lực sản xuất và tài sản dài hạn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Tài sản dài hạn ròng tăng từ </a:t>
                      </a:r>
                      <a:pPr algn="l" indent="0" marL="0">
                        <a:buNone/>
                      </a:pPr>
                      <a:r>
                        <a:rPr lang="en-US" sz="634" b="1" dirty="0">
                          <a:solidFill>
                            <a:srgbClr val="1F1F1F"/>
                          </a:solidFill>
                          <a:latin typeface="Calibri" pitchFamily="34" charset="0"/>
                          <a:ea typeface="Calibri" pitchFamily="34" charset="-122"/>
                          <a:cs typeface="Calibri" pitchFamily="34" charset="-120"/>
                        </a:rPr>
                        <a:t>15,5 tỷ → 21,4 tỷ đồng</a:t>
                      </a:r>
                      <a:pPr algn="l" indent="0" marL="0">
                        <a:buNone/>
                      </a:pPr>
                      <a:r>
                        <a:rPr lang="en-US" sz="634" dirty="0">
                          <a:solidFill>
                            <a:srgbClr val="1F1F1F"/>
                          </a:solidFill>
                          <a:latin typeface="Calibri" pitchFamily="34" charset="0"/>
                          <a:ea typeface="Calibri" pitchFamily="34" charset="-122"/>
                          <a:cs typeface="Calibri" pitchFamily="34" charset="-120"/>
                        </a:rPr>
                        <a:t>, chiếm khoảng </a:t>
                      </a:r>
                      <a:pPr algn="l" indent="0" marL="0">
                        <a:buNone/>
                      </a:pPr>
                      <a:r>
                        <a:rPr lang="en-US" sz="634" b="1" dirty="0">
                          <a:solidFill>
                            <a:srgbClr val="1F1F1F"/>
                          </a:solidFill>
                          <a:latin typeface="Calibri" pitchFamily="34" charset="0"/>
                          <a:ea typeface="Calibri" pitchFamily="34" charset="-122"/>
                          <a:cs typeface="Calibri" pitchFamily="34" charset="-120"/>
                        </a:rPr>
                        <a:t>67-76% tổng tài sản</a:t>
                      </a:r>
                      <a:pPr algn="l" indent="0" marL="0">
                        <a:buNone/>
                      </a:pPr>
                      <a:r>
                        <a:rPr lang="en-US" sz="634" dirty="0">
                          <a:solidFill>
                            <a:srgbClr val="1F1F1F"/>
                          </a:solidFill>
                          <a:latin typeface="Calibri" pitchFamily="34" charset="0"/>
                          <a:ea typeface="Calibri" pitchFamily="34" charset="-122"/>
                          <a:cs typeface="Calibri" pitchFamily="34" charset="-120"/>
                        </a:rPr>
                        <a:t>. Doanh nghiệp đã sở hữu </a:t>
                      </a:r>
                      <a:pPr algn="l" indent="0" marL="0">
                        <a:buNone/>
                      </a:pPr>
                      <a:r>
                        <a:rPr lang="en-US" sz="634" b="1" dirty="0">
                          <a:solidFill>
                            <a:srgbClr val="1F1F1F"/>
                          </a:solidFill>
                          <a:latin typeface="Calibri" pitchFamily="34" charset="0"/>
                          <a:ea typeface="Calibri" pitchFamily="34" charset="-122"/>
                          <a:cs typeface="Calibri" pitchFamily="34" charset="-120"/>
                        </a:rPr>
                        <a:t>nhà máy, dây chuyền ép khuôn, xe tải và kho hàng</a:t>
                      </a:r>
                      <a:pPr algn="l" indent="0" marL="0">
                        <a:buNone/>
                      </a:pPr>
                      <a:r>
                        <a:rPr lang="en-US" sz="634" dirty="0">
                          <a:solidFill>
                            <a:srgbClr val="1F1F1F"/>
                          </a:solidFill>
                          <a:latin typeface="Calibri" pitchFamily="34" charset="0"/>
                          <a:ea typeface="Calibri" pitchFamily="34" charset="-122"/>
                          <a:cs typeface="Calibri" pitchFamily="34" charset="-120"/>
                        </a:rPr>
                        <a:t>, vận hành ổn định qua 3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đã </a:t>
                      </a:r>
                      <a:pPr algn="l" indent="0" marL="0">
                        <a:buNone/>
                      </a:pPr>
                      <a:r>
                        <a:rPr lang="en-US" sz="634" b="1" dirty="0">
                          <a:solidFill>
                            <a:srgbClr val="1F1F1F"/>
                          </a:solidFill>
                          <a:latin typeface="Calibri" pitchFamily="34" charset="0"/>
                          <a:ea typeface="Calibri" pitchFamily="34" charset="-122"/>
                          <a:cs typeface="Calibri" pitchFamily="34" charset="-120"/>
                        </a:rPr>
                        <a:t>vận hành và mở rộng trên nền năng lực sản xuất đã hình thành</a:t>
                      </a:r>
                      <a:pPr algn="l" indent="0" marL="0">
                        <a:buNone/>
                      </a:pPr>
                      <a:r>
                        <a:rPr lang="en-US" sz="634" dirty="0">
                          <a:solidFill>
                            <a:srgbClr val="1F1F1F"/>
                          </a:solidFill>
                          <a:latin typeface="Calibri" pitchFamily="34" charset="0"/>
                          <a:ea typeface="Calibri" pitchFamily="34" charset="-122"/>
                          <a:cs typeface="Calibri" pitchFamily="34" charset="-120"/>
                        </a:rPr>
                        <a:t>, không còn phụ thuộc chủ yếu vào đối tác ngoài như giai đoạn thử nghiệm.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Cường độ CAPEX</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CAPEX/Doanh thu giảm từ </a:t>
                      </a:r>
                      <a:pPr algn="l" indent="0" marL="0">
                        <a:buNone/>
                      </a:pPr>
                      <a:r>
                        <a:rPr lang="en-US" sz="634" b="1" dirty="0">
                          <a:solidFill>
                            <a:srgbClr val="1F1F1F"/>
                          </a:solidFill>
                          <a:latin typeface="Calibri" pitchFamily="34" charset="0"/>
                          <a:ea typeface="Calibri" pitchFamily="34" charset="-122"/>
                          <a:cs typeface="Calibri" pitchFamily="34" charset="-120"/>
                        </a:rPr>
                        <a:t>25,8% → 20,4% → 10,7%</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CAPEX/khấu hao giảm từ </a:t>
                      </a:r>
                      <a:pPr algn="l" indent="0" marL="0">
                        <a:buNone/>
                      </a:pPr>
                      <a:r>
                        <a:rPr lang="en-US" sz="634" b="1" dirty="0">
                          <a:solidFill>
                            <a:srgbClr val="1F1F1F"/>
                          </a:solidFill>
                          <a:latin typeface="Calibri" pitchFamily="34" charset="0"/>
                          <a:ea typeface="Calibri" pitchFamily="34" charset="-122"/>
                          <a:cs typeface="Calibri" pitchFamily="34" charset="-120"/>
                        </a:rPr>
                        <a:t>3,50x → 2,65x → 1,62x</a:t>
                      </a:r>
                      <a:pPr algn="l" indent="0" marL="0">
                        <a:buNone/>
                      </a:pPr>
                      <a:r>
                        <a:rPr lang="en-US" sz="634" dirty="0">
                          <a:solidFill>
                            <a:srgbClr val="1F1F1F"/>
                          </a:solidFill>
                          <a:latin typeface="Calibri" pitchFamily="34" charset="0"/>
                          <a:ea typeface="Calibri" pitchFamily="34" charset="-122"/>
                          <a:cs typeface="Calibri" pitchFamily="34" charset="-120"/>
                        </a:rPr>
                        <a:t>, nhưng vẫn &gt;1.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a:t>
                      </a:r>
                      <a:pPr algn="l" indent="0" marL="0">
                        <a:buNone/>
                      </a:pPr>
                      <a:r>
                        <a:rPr lang="en-US" sz="634" b="1" dirty="0">
                          <a:solidFill>
                            <a:srgbClr val="1F1F1F"/>
                          </a:solidFill>
                          <a:latin typeface="Calibri" pitchFamily="34" charset="0"/>
                          <a:ea typeface="Calibri" pitchFamily="34" charset="-122"/>
                          <a:cs typeface="Calibri" pitchFamily="34" charset="-120"/>
                        </a:rPr>
                        <a:t>đang mở rộng và khai thác tài sản thay vì duy trì tài sản hiện hữu như giai đoạn trưởng thành</a:t>
                      </a:r>
                      <a:pPr algn="l" indent="0" marL="0">
                        <a:buNone/>
                      </a:pPr>
                      <a:r>
                        <a:rPr lang="en-US" sz="634" dirty="0">
                          <a:solidFill>
                            <a:srgbClr val="1F1F1F"/>
                          </a:solidFill>
                          <a:latin typeface="Calibri" pitchFamily="34" charset="0"/>
                          <a:ea typeface="Calibri" pitchFamily="34" charset="-122"/>
                          <a:cs typeface="Calibri" pitchFamily="34" charset="-120"/>
                        </a:rPr>
                        <a:t>, phù hợp với đầu tăng trưởng.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6" name="Text 8"/>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7" name="Text 9"/>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8" name="Text 10"/>
          <p:cNvSpPr txBox="1"/>
          <p:nvPr/>
        </p:nvSpPr>
        <p:spPr>
          <a:xfrm>
            <a:off x="405354" y="589239"/>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Tài sản dài hạn chiếm 67–76% tổng tài sản</a:t>
            </a:r>
            <a:endParaRPr lang="en-US" sz="720" dirty="0"/>
          </a:p>
        </p:txBody>
      </p:sp>
      <p:sp>
        <p:nvSpPr>
          <p:cNvPr id="19" name="Text 11"/>
          <p:cNvSpPr txBox="1"/>
          <p:nvPr/>
        </p:nvSpPr>
        <p:spPr>
          <a:xfrm>
            <a:off x="405354" y="716798"/>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20" name="Text 12"/>
          <p:cNvSpPr txBox="1"/>
          <p:nvPr/>
        </p:nvSpPr>
        <p:spPr>
          <a:xfrm>
            <a:off x="405354" y="1379007"/>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a:t>
            </a:r>
            <a:endParaRPr lang="en-US" sz="600" dirty="0"/>
          </a:p>
        </p:txBody>
      </p:sp>
      <p:sp>
        <p:nvSpPr>
          <p:cNvPr id="21" name="Text 13"/>
          <p:cNvSpPr txBox="1"/>
          <p:nvPr/>
        </p:nvSpPr>
        <p:spPr>
          <a:xfrm>
            <a:off x="405354" y="1584289"/>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CAPEX/doanh thu giảm từ 25,8% xuống 10,7%</a:t>
            </a:r>
            <a:endParaRPr lang="en-US" sz="720" dirty="0"/>
          </a:p>
        </p:txBody>
      </p:sp>
      <p:sp>
        <p:nvSpPr>
          <p:cNvPr id="22" name="Text 14"/>
          <p:cNvSpPr txBox="1"/>
          <p:nvPr/>
        </p:nvSpPr>
        <p:spPr>
          <a:xfrm>
            <a:off x="405354" y="1711848"/>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23" name="Text 15"/>
          <p:cNvSpPr txBox="1"/>
          <p:nvPr/>
        </p:nvSpPr>
        <p:spPr>
          <a:xfrm>
            <a:off x="405354" y="256580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tính toán của nhóm</a:t>
            </a:r>
            <a:endParaRPr lang="en-US" sz="600" dirty="0"/>
          </a:p>
        </p:txBody>
      </p:sp>
      <p:sp>
        <p:nvSpPr>
          <p:cNvPr id="24" name="Text 16"/>
          <p:cNvSpPr txBox="1"/>
          <p:nvPr/>
        </p:nvSpPr>
        <p:spPr>
          <a:xfrm>
            <a:off x="405354" y="2770998"/>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D/E giảm từ 7,8% xuống 6,5%</a:t>
            </a:r>
            <a:endParaRPr lang="en-US" sz="720" dirty="0"/>
          </a:p>
        </p:txBody>
      </p:sp>
      <p:sp>
        <p:nvSpPr>
          <p:cNvPr id="25" name="Text 17"/>
          <p:cNvSpPr txBox="1"/>
          <p:nvPr/>
        </p:nvSpPr>
        <p:spPr>
          <a:xfrm>
            <a:off x="405354" y="2898557"/>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26" name="Text 18"/>
          <p:cNvSpPr txBox="1"/>
          <p:nvPr/>
        </p:nvSpPr>
        <p:spPr>
          <a:xfrm>
            <a:off x="405354" y="3789182"/>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tính toán của nhóm</a:t>
            </a:r>
            <a:endParaRPr lang="en-US" sz="600" dirty="0"/>
          </a:p>
        </p:txBody>
      </p:sp>
      <p:sp>
        <p:nvSpPr>
          <p:cNvPr id="27" name="Text 19"/>
          <p:cNvSpPr txBox="1"/>
          <p:nvPr/>
        </p:nvSpPr>
        <p:spPr>
          <a:xfrm>
            <a:off x="405354" y="3994374"/>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FCF chuyển dương lần đầu năm 2025</a:t>
            </a:r>
            <a:endParaRPr lang="en-US" sz="720" dirty="0"/>
          </a:p>
        </p:txBody>
      </p:sp>
      <p:sp>
        <p:nvSpPr>
          <p:cNvPr id="28" name="Text 20"/>
          <p:cNvSpPr txBox="1"/>
          <p:nvPr/>
        </p:nvSpPr>
        <p:spPr>
          <a:xfrm>
            <a:off x="405354" y="412193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Nghìn đồng</a:t>
            </a:r>
            <a:endParaRPr lang="en-US" sz="630" dirty="0"/>
          </a:p>
        </p:txBody>
      </p:sp>
      <p:sp>
        <p:nvSpPr>
          <p:cNvPr id="29" name="Text 21"/>
          <p:cNvSpPr txBox="1"/>
          <p:nvPr/>
        </p:nvSpPr>
        <p:spPr>
          <a:xfrm>
            <a:off x="405354" y="5204308"/>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a:t>
            </a:r>
            <a:endParaRPr lang="en-US" sz="600" dirty="0"/>
          </a:p>
        </p:txBody>
      </p:sp>
      <p:sp>
        <p:nvSpPr>
          <p:cNvPr id="30" name="Text 22"/>
          <p:cNvSpPr txBox="1"/>
          <p:nvPr/>
        </p:nvSpPr>
        <p:spPr>
          <a:xfrm>
            <a:off x="405354" y="5409408"/>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Thanh khoản cao do gần như không có nợ ngắn hạn</a:t>
            </a:r>
            <a:endParaRPr lang="en-US" sz="720" dirty="0"/>
          </a:p>
        </p:txBody>
      </p:sp>
      <p:sp>
        <p:nvSpPr>
          <p:cNvPr id="31" name="Text 23"/>
          <p:cNvSpPr txBox="1"/>
          <p:nvPr/>
        </p:nvSpPr>
        <p:spPr>
          <a:xfrm>
            <a:off x="405354" y="5646511"/>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Lần</a:t>
            </a:r>
            <a:endParaRPr lang="en-US" sz="630" dirty="0"/>
          </a:p>
        </p:txBody>
      </p:sp>
      <p:sp>
        <p:nvSpPr>
          <p:cNvPr id="32" name="Text 24"/>
          <p:cNvSpPr txBox="1"/>
          <p:nvPr/>
        </p:nvSpPr>
        <p:spPr>
          <a:xfrm>
            <a:off x="405354" y="6368064"/>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tính toán của nhóm</a:t>
            </a:r>
            <a:endParaRPr lang="en-US" sz="600" dirty="0"/>
          </a:p>
        </p:txBody>
      </p:sp>
      <p:sp>
        <p:nvSpPr>
          <p:cNvPr id="33" name="Text 25"/>
          <p:cNvSpPr txBox="1"/>
          <p:nvPr/>
        </p:nvSpPr>
        <p:spPr>
          <a:xfrm>
            <a:off x="2745303" y="572323"/>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2.3. Cấu trúc tài sản, vốn và cường độ đầu tư</a:t>
            </a:r>
            <a:endParaRPr lang="en-US" sz="900" dirty="0"/>
          </a:p>
        </p:txBody>
      </p:sp>
      <p:sp>
        <p:nvSpPr>
          <p:cNvPr id="34" name="Text 26"/>
          <p:cNvSpPr txBox="1"/>
          <p:nvPr/>
        </p:nvSpPr>
        <p:spPr>
          <a:xfrm>
            <a:off x="2745303" y="741761"/>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Tổng tài sản dài hạn ròng tăng từ 15,5 tỷ đồng (2023) lên 21,4 tỷ đồng (2025), luôn chiếm 67-76% tổng tài sản. Khoản đầu tư này không phải chi phí R&amp;D vô hình mà là tài sản vật chất cụ thể: nhà máy sản xuất, thiết bị sản xuất (ép khuôn), xe tải chở hàng, và kho hàng. Việc đã sở hữu nhà máy, dây chuyền ép khuôn và kho vận hành ổn định qua 3 năm liên tiếp là bằng chứng cho thấy AgriPack không còn ở giai đoạn thử nghiệm thường phụ thuộc đáng kể vào đối tác bên ngoài (Wagner và Zanger, 2023) mà đã vận hành ở quy mô bán công nghiệp/công nghiệp (Fig. 12).</a:t>
            </a:r>
            <a:endParaRPr lang="en-US" sz="850" dirty="0"/>
          </a:p>
        </p:txBody>
      </p:sp>
      <p:sp>
        <p:nvSpPr>
          <p:cNvPr id="35" name="Text 27"/>
          <p:cNvSpPr txBox="1"/>
          <p:nvPr/>
        </p:nvSpPr>
        <p:spPr>
          <a:xfrm>
            <a:off x="2745303" y="1568745"/>
            <a:ext cx="4409237" cy="1447221"/>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Tỷ lệ CAPEX/Doanh thu giảm liên tục: 25,8% (2023) → 20,4% (2024) → 10,7% (2025). Với ngành sản xuất bao bì công nghiệp nói chung và bao bì bền vững nói riêng, mức CAPEX/Doanh thu trên 20% trong năm 2023 và 2024 cho thấy AgriPack đang duy trì cường độ tái đầu tư cao để hình thành và mở rộng năng lực sản xuất; đây là đặc điểm phù hợp với giai đoạn tăng trưởng, khi doanh nghiệp phải đầu tư trước để tạo dư địa cho tăng trưởng doanh thu trong các kỳ tiếp theo (Damodaran, 2026). Việc tỷ lệ này giảm hơn một nửa vào năm 2025 (còn 10,7%) trong khi doanh thu vẫn tăng hơn 53% cho thấy công suất đã lắp đặt bắt đầu được khai thác hiệu quả hơn cùng với việc vòng quay tài sản cũng tăng từ 1,04 đến 1,6 lần cho thấy dấu hiệu chuyển tiếp từ giai đoạn xây dựng hạ tầng sang giai đoạn vận hành có lãi trên hạ tầng đã có. Bên cạnh đó, chỉ số CAPEX/khấu hao giảm từ 3,50 lần xuống 1,62 lần vẫn lớn hơn 1, cho thấy doanh nghiệp vẫn đang đầu tư mở rộng chứ chưa chuyển sang giai đoạn chỉ duy trì tài sản (Fig. 13).</a:t>
            </a:r>
            <a:endParaRPr lang="en-US" sz="850" dirty="0"/>
          </a:p>
        </p:txBody>
      </p:sp>
      <p:sp>
        <p:nvSpPr>
          <p:cNvPr id="36" name="Text 28"/>
          <p:cNvSpPr txBox="1"/>
          <p:nvPr/>
        </p:nvSpPr>
        <p:spPr>
          <a:xfrm>
            <a:off x="2745303" y="3053639"/>
            <a:ext cx="4409237" cy="105247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Tỷ lệ Nợ phải trả/Vốn chủ sở hữu duy trì cực thấp và còn giảm dần: 7,8% (2023) → 7,3% (2024) → 6,5% (2025). Nợ vay dài hạn gần như không đổi (1,2-1,5 tỷ đồng) trong khi vốn chủ sở hữu tăng từ 19,1 tỷ lên gần 30,0 tỷ đồng. Đối chiếu với dòng tiền tài chính: công ty nhận 8,1 tỷ đồng vốn góp năm 2023 và 7 tỷ đồng năm 2024 đều là vốn cổ phần tăng thêm. Điểm đáng chú ý nhất: năm 2025, dòng tiền tài chính bằng 0, công ty không cần huy động thêm vốn góp mà toàn bộ mức tăng vốn chủ sở hữu (4,42 tỷ đồng) đến từ lợi nhuận giữ lại. Điều này cho thấy AgriPack có cấu trúc tài chính an toàn, mức độ phụ thuộc vào nợ thấp và đang dần chuyển từ tăng vốn bên ngoài sang tích lũy vốn nội bộ từ lợi nhuận giữ lại, phản ánh khả năng tự tài trợ ngày càng tốt (Fig. 14).</a:t>
            </a:r>
            <a:endParaRPr lang="en-US" sz="850" dirty="0"/>
          </a:p>
        </p:txBody>
      </p:sp>
      <p:sp>
        <p:nvSpPr>
          <p:cNvPr id="37" name="Text 29"/>
          <p:cNvSpPr txBox="1"/>
          <p:nvPr/>
        </p:nvSpPr>
        <p:spPr>
          <a:xfrm>
            <a:off x="2745303" y="4143878"/>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2.4. Dòng tiền</a:t>
            </a:r>
            <a:endParaRPr lang="en-US" sz="900" dirty="0"/>
          </a:p>
        </p:txBody>
      </p:sp>
      <p:sp>
        <p:nvSpPr>
          <p:cNvPr id="38" name="Text 30"/>
          <p:cNvSpPr txBox="1"/>
          <p:nvPr/>
        </p:nvSpPr>
        <p:spPr>
          <a:xfrm>
            <a:off x="2745303" y="4313225"/>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Năm 2023: CFO âm 3,96 tỷ đồng, CFI âm 5,01 tỷ đồng (đầu tư nhà máy), được tài trợ bằng 8,1 tỷ đồng vốn mới; tiền cuối năm chỉ còn 44 triệu đồng, tức doanh nghiệp gần cạn tiền và phụ thuộc hoàn toàn vào vốn bên ngoài. Đây là giai đoạn “đốt tiền để xây nền tảng”. Năm 2024, CFO chuyển dương nhẹ (0,70 tỷ đồng) nhưng vẫn phải huy động 7,3 tỷ đồng để mở rộng. Năm 2025, CFO đạt 6,28 tỷ đồng, đủ trang trải CAPEX 5,08 tỷ đồng mà không cần vốn mới; FCF dương 1,20 tỷ đồng lần đầu tiên (Fig. 15).</a:t>
            </a:r>
            <a:endParaRPr lang="en-US" sz="850" dirty="0"/>
          </a:p>
        </p:txBody>
      </p:sp>
      <p:sp>
        <p:nvSpPr>
          <p:cNvPr id="39" name="Text 31"/>
          <p:cNvSpPr txBox="1"/>
          <p:nvPr/>
        </p:nvSpPr>
        <p:spPr>
          <a:xfrm>
            <a:off x="2745303" y="5140300"/>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Việc dòng tiền tự do chuyển từ âm liên tục hai năm (-8,97 tỷ và -5,61 tỷ đồng) sang dương (+1,20 tỷ đồng) là tín hiệu định lượng thường được giới đầu tư và ngân hàng dùng làm ranh giới thực tế giữa giai đoạn “cần vốn bên ngoài để tồn tại và mở rộng” và giai đoạn “tự chủ dòng tiền, có thể chọn giữa tái đầu tư hoặc chia lợi nhuận”.</a:t>
            </a:r>
            <a:endParaRPr lang="en-US" sz="850" dirty="0"/>
          </a:p>
        </p:txBody>
      </p:sp>
      <p:sp>
        <p:nvSpPr>
          <p:cNvPr id="40" name="Text 32"/>
          <p:cNvSpPr txBox="1"/>
          <p:nvPr/>
        </p:nvSpPr>
        <p:spPr>
          <a:xfrm>
            <a:off x="2745303" y="5704119"/>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2.5. Thanh khoản và vốn lưu động</a:t>
            </a:r>
            <a:endParaRPr lang="en-US" sz="900" dirty="0"/>
          </a:p>
        </p:txBody>
      </p:sp>
      <p:sp>
        <p:nvSpPr>
          <p:cNvPr id="41" name="Text 33"/>
          <p:cNvSpPr txBox="1"/>
          <p:nvPr/>
        </p:nvSpPr>
        <p:spPr>
          <a:xfrm>
            <a:off x="2745303" y="5873466"/>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Hệ số thanh toán hiện hành tăng từ 17,2 lần (2023) lên 23,6 lần (2025), hệ số thanh toán nhanh từ 8,7 lên 15,2 lần - vượt xa ngưỡng an toàn thông thường (1,5-2,0 lần đối với doanh nghiệp sản xuất theo Profectus (2025). Mức thanh khoản cực cao này không phản ánh một doanh nghiệp hiệu quả về vận hành, mà là hệ quả trực tiếp của cấu trúc vốn gần như không có nợ ngắn hạn (chỉ 292-445 triệu đồng nợ ngắn hạn mỗi năm tương đương từ 17,9-22,9% nợ phải trả), chủ yếu là phải trả người bán và vay ngắn hạn nhỏ) trong khi tài sản ngắn hạn (chủ yếu là hàng tồn kho, tiền mặt,...) lớn gấp nhiều lần (Fig. 16).</a:t>
            </a:r>
            <a:endParaRPr lang="en-US" sz="850" dirty="0"/>
          </a:p>
        </p:txBody>
      </p:sp>
      <p:sp>
        <p:nvSpPr>
          <p:cNvPr id="42" name="Text 34"/>
          <p:cNvSpPr txBox="1"/>
          <p:nvPr/>
        </p:nvSpPr>
        <p:spPr>
          <a:xfrm>
            <a:off x="2745303" y="6832122"/>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2.6. Kết luận: xác định giai đoạn phát triển</a:t>
            </a:r>
            <a:endParaRPr lang="en-US" sz="900" dirty="0"/>
          </a:p>
        </p:txBody>
      </p:sp>
      <p:sp>
        <p:nvSpPr>
          <p:cNvPr id="43" name="Text 35"/>
          <p:cNvSpPr txBox="1"/>
          <p:nvPr/>
        </p:nvSpPr>
        <p:spPr>
          <a:xfrm>
            <a:off x="2745303" y="7001469"/>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Nhóm sử dụng thang bốn giai đoạn: thử nghiệm, đầu tăng trưởng, cuối tăng trưởng và trưởng thành. Tuổi đời doanh nghiệp không phải tiêu chí phân loại; giai đoạn được xác định theo quy mô, tăng trưởng, khả năng sinh lời, dòng tiền và nhu cầu vốn (Fig. 17).</a:t>
            </a:r>
            <a:endParaRPr lang="en-US" sz="850" dirty="0"/>
          </a:p>
        </p:txBody>
      </p:sp>
      <p:sp>
        <p:nvSpPr>
          <p:cNvPr id="44" name="Text 36"/>
          <p:cNvSpPr txBox="1"/>
          <p:nvPr/>
        </p:nvSpPr>
        <p:spPr>
          <a:xfrm>
            <a:off x="405354" y="7508047"/>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Bảng xác định giai đoạn phát triển của AgriPack</a:t>
            </a:r>
            <a:endParaRPr lang="en-US" sz="720" dirty="0"/>
          </a:p>
        </p:txBody>
      </p:sp>
      <p:sp>
        <p:nvSpPr>
          <p:cNvPr id="45" name="Text 37"/>
          <p:cNvSpPr txBox="1"/>
          <p:nvPr/>
        </p:nvSpPr>
        <p:spPr>
          <a:xfrm>
            <a:off x="405354" y="9454622"/>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phân tích của nhóm</a:t>
            </a:r>
            <a:endParaRPr lang="en-US" sz="600" dirty="0"/>
          </a:p>
        </p:txBody>
      </p:sp>
      <p:sp>
        <p:nvSpPr>
          <p:cNvPr id="46" name="Text 38"/>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47" name="Text 39"/>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5</a:t>
            </a:r>
            <a:endParaRPr lang="en-US" sz="6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3462650"/>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562813"/>
            <a:ext cx="6749004" cy="0"/>
          </a:xfrm>
          <a:prstGeom prst="line">
            <a:avLst/>
          </a:prstGeom>
          <a:noFill/>
          <a:ln w="9525">
            <a:solidFill>
              <a:srgbClr val="7B1E2B"/>
            </a:solidFill>
            <a:prstDash val="solid"/>
          </a:ln>
        </p:spPr>
      </p:sp>
      <p:sp>
        <p:nvSpPr>
          <p:cNvPr id="5" name="Shape 3"/>
          <p:cNvSpPr/>
          <p:nvPr/>
        </p:nvSpPr>
        <p:spPr>
          <a:xfrm>
            <a:off x="405354" y="2185507"/>
            <a:ext cx="2159996" cy="0"/>
          </a:xfrm>
          <a:prstGeom prst="line">
            <a:avLst/>
          </a:prstGeom>
          <a:noFill/>
          <a:ln w="9525">
            <a:solidFill>
              <a:srgbClr val="7B1E2B"/>
            </a:solidFill>
            <a:prstDash val="solid"/>
          </a:ln>
        </p:spPr>
      </p:sp>
      <p:sp>
        <p:nvSpPr>
          <p:cNvPr id="6" name="Shape 4"/>
          <p:cNvSpPr/>
          <p:nvPr/>
        </p:nvSpPr>
        <p:spPr>
          <a:xfrm>
            <a:off x="405354" y="3740170"/>
            <a:ext cx="2159996" cy="0"/>
          </a:xfrm>
          <a:prstGeom prst="line">
            <a:avLst/>
          </a:prstGeom>
          <a:noFill/>
          <a:ln w="9525">
            <a:solidFill>
              <a:srgbClr val="7B1E2B"/>
            </a:solidFill>
            <a:prstDash val="solid"/>
          </a:ln>
        </p:spPr>
      </p:sp>
      <p:sp>
        <p:nvSpPr>
          <p:cNvPr id="7" name="Shape 5"/>
          <p:cNvSpPr/>
          <p:nvPr/>
        </p:nvSpPr>
        <p:spPr>
          <a:xfrm>
            <a:off x="405354" y="5310469"/>
            <a:ext cx="2159996" cy="0"/>
          </a:xfrm>
          <a:prstGeom prst="line">
            <a:avLst/>
          </a:prstGeom>
          <a:noFill/>
          <a:ln w="9525">
            <a:solidFill>
              <a:srgbClr val="7B1E2B"/>
            </a:solidFill>
            <a:prstDash val="solid"/>
          </a:ln>
        </p:spPr>
      </p:sp>
      <p:sp>
        <p:nvSpPr>
          <p:cNvPr id="8" name="Shape 6"/>
          <p:cNvSpPr/>
          <p:nvPr/>
        </p:nvSpPr>
        <p:spPr>
          <a:xfrm>
            <a:off x="405354" y="10369479"/>
            <a:ext cx="6749004" cy="0"/>
          </a:xfrm>
          <a:prstGeom prst="line">
            <a:avLst/>
          </a:prstGeom>
          <a:noFill/>
          <a:ln w="9525">
            <a:solidFill>
              <a:srgbClr val="BFBFB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6749004" cy="914400"/>
        </p:xfrm>
        <a:graphic>
          <a:graphicData uri="http://schemas.openxmlformats.org/drawingml/2006/table">
            <a:tbl>
              <a:tblPr/>
              <a:tblGrid>
                <a:gridCol w="1012332"/>
                <a:gridCol w="2834549"/>
                <a:gridCol w="2902123"/>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Tiêu chí</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Diễn giải từ BCTC 2023-2025</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Hàm ý về giai đoạn</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440192">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Khả năng tự tài trợ</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D/E giảm </a:t>
                      </a:r>
                      <a:pPr algn="l" indent="0" marL="0">
                        <a:buNone/>
                      </a:pPr>
                      <a:r>
                        <a:rPr lang="en-US" sz="634" b="1" dirty="0">
                          <a:solidFill>
                            <a:srgbClr val="1F1F1F"/>
                          </a:solidFill>
                          <a:latin typeface="Calibri" pitchFamily="34" charset="0"/>
                          <a:ea typeface="Calibri" pitchFamily="34" charset="-122"/>
                          <a:cs typeface="Calibri" pitchFamily="34" charset="-120"/>
                        </a:rPr>
                        <a:t>7,8% → 7,3% → 6,5%</a:t>
                      </a:r>
                      <a:pPr algn="l" indent="0" marL="0">
                        <a:buNone/>
                      </a:pPr>
                      <a:r>
                        <a:rPr lang="en-US" sz="634" dirty="0">
                          <a:solidFill>
                            <a:srgbClr val="1F1F1F"/>
                          </a:solidFill>
                          <a:latin typeface="Calibri" pitchFamily="34" charset="0"/>
                          <a:ea typeface="Calibri" pitchFamily="34" charset="-122"/>
                          <a:cs typeface="Calibri" pitchFamily="34" charset="-120"/>
                        </a:rPr>
                        <a:t>. Huy động 15,1 tỷ năm 2023, 2024, riêng năm 2025 dòng tiền tài chính bằng 0 và vốn chủ sở hữu tăng chủ yếu nhờ </a:t>
                      </a:r>
                      <a:pPr algn="l" indent="0" marL="0">
                        <a:buNone/>
                      </a:pPr>
                      <a:r>
                        <a:rPr lang="en-US" sz="634" b="1" dirty="0">
                          <a:solidFill>
                            <a:srgbClr val="1F1F1F"/>
                          </a:solidFill>
                          <a:latin typeface="Calibri" pitchFamily="34" charset="0"/>
                          <a:ea typeface="Calibri" pitchFamily="34" charset="-122"/>
                          <a:cs typeface="Calibri" pitchFamily="34" charset="-120"/>
                        </a:rPr>
                        <a:t>4,42 tỷ đồng lợi nhuận giữ lại</a:t>
                      </a:r>
                      <a:pPr algn="l"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bắt đầu chuyển từ </a:t>
                      </a:r>
                      <a:pPr algn="l" indent="0" marL="0">
                        <a:buNone/>
                      </a:pPr>
                      <a:r>
                        <a:rPr lang="en-US" sz="634" b="1" dirty="0">
                          <a:solidFill>
                            <a:srgbClr val="1F1F1F"/>
                          </a:solidFill>
                          <a:latin typeface="Calibri" pitchFamily="34" charset="0"/>
                          <a:ea typeface="Calibri" pitchFamily="34" charset="-122"/>
                          <a:cs typeface="Calibri" pitchFamily="34" charset="-120"/>
                        </a:rPr>
                        <a:t>phụ thuộc vốn bên ngoài</a:t>
                      </a:r>
                      <a:pPr algn="l" indent="0" marL="0">
                        <a:buNone/>
                      </a:pPr>
                      <a:r>
                        <a:rPr lang="en-US" sz="634" dirty="0">
                          <a:solidFill>
                            <a:srgbClr val="1F1F1F"/>
                          </a:solidFill>
                          <a:latin typeface="Calibri" pitchFamily="34" charset="0"/>
                          <a:ea typeface="Calibri" pitchFamily="34" charset="-122"/>
                          <a:cs typeface="Calibri" pitchFamily="34" charset="-120"/>
                        </a:rPr>
                        <a:t> sang tích lũy vốn nội bộ, cho thấy bước tiến rõ rệt trong chu kỳ tăng trưởng, quá trình chuyển đổi này mới thể hiện rõ ở năm 2025, chưa đủ thời gian chứng minh doanh nghiệp đã hoàn toàn tự chủ vốn.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Dòng tiền từ HĐKD và FCF</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CFO: </a:t>
                      </a:r>
                      <a:pPr algn="l" indent="0" marL="0">
                        <a:buNone/>
                      </a:pPr>
                      <a:r>
                        <a:rPr lang="en-US" sz="634" b="1" dirty="0">
                          <a:solidFill>
                            <a:srgbClr val="1F1F1F"/>
                          </a:solidFill>
                          <a:latin typeface="Calibri" pitchFamily="34" charset="0"/>
                          <a:ea typeface="Calibri" pitchFamily="34" charset="-122"/>
                          <a:cs typeface="Calibri" pitchFamily="34" charset="-120"/>
                        </a:rPr>
                        <a:t>-3,96 tỷ (2023) → 0,70 tỷ (2024) → 6,28 tỷ (2025)</a:t>
                      </a:r>
                      <a:pPr algn="l" indent="0" marL="0">
                        <a:buNone/>
                      </a:pPr>
                      <a:r>
                        <a:rPr lang="en-US" sz="634" dirty="0">
                          <a:solidFill>
                            <a:srgbClr val="1F1F1F"/>
                          </a:solidFill>
                          <a:latin typeface="Calibri" pitchFamily="34" charset="0"/>
                          <a:ea typeface="Calibri" pitchFamily="34" charset="-122"/>
                          <a:cs typeface="Calibri" pitchFamily="34" charset="-120"/>
                        </a:rPr>
                        <a:t>. FCF: </a:t>
                      </a:r>
                      <a:pPr algn="l" indent="0" marL="0">
                        <a:buNone/>
                      </a:pPr>
                      <a:r>
                        <a:rPr lang="en-US" sz="634" b="1" dirty="0">
                          <a:solidFill>
                            <a:srgbClr val="1F1F1F"/>
                          </a:solidFill>
                          <a:latin typeface="Calibri" pitchFamily="34" charset="0"/>
                          <a:ea typeface="Calibri" pitchFamily="34" charset="-122"/>
                          <a:cs typeface="Calibri" pitchFamily="34" charset="-120"/>
                        </a:rPr>
                        <a:t>-8,97 tỷ → -5,61 tỷ → +1,20 tỷ</a:t>
                      </a:r>
                      <a:pPr algn="l" indent="0" marL="0">
                        <a:buNone/>
                      </a:pPr>
                      <a:r>
                        <a:rPr lang="en-US" sz="634" dirty="0">
                          <a:solidFill>
                            <a:srgbClr val="1F1F1F"/>
                          </a:solidFill>
                          <a:latin typeface="Calibri" pitchFamily="34" charset="0"/>
                          <a:ea typeface="Calibri" pitchFamily="34" charset="-122"/>
                          <a:cs typeface="Calibri" pitchFamily="34" charset="-120"/>
                        </a:rPr>
                        <a:t>. Năm 2025 CFO đã đủ trang trải CAPEX mà không cần huy động vốn mới.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Đây là dấu hiệu rất quan trọng của </a:t>
                      </a:r>
                      <a:pPr algn="l" indent="0" marL="0">
                        <a:buNone/>
                      </a:pPr>
                      <a:r>
                        <a:rPr lang="en-US" sz="634" b="1" dirty="0">
                          <a:solidFill>
                            <a:srgbClr val="1F1F1F"/>
                          </a:solidFill>
                          <a:latin typeface="Calibri" pitchFamily="34" charset="0"/>
                          <a:ea typeface="Calibri" pitchFamily="34" charset="-122"/>
                          <a:cs typeface="Calibri" pitchFamily="34" charset="-120"/>
                        </a:rPr>
                        <a:t>điểm chuyển sang tăng trưởng thực chất</a:t>
                      </a:r>
                      <a:pPr algn="l" indent="0" marL="0">
                        <a:buNone/>
                      </a:pPr>
                      <a:r>
                        <a:rPr lang="en-US" sz="634" dirty="0">
                          <a:solidFill>
                            <a:srgbClr val="1F1F1F"/>
                          </a:solidFill>
                          <a:latin typeface="Calibri" pitchFamily="34" charset="0"/>
                          <a:ea typeface="Calibri" pitchFamily="34" charset="-122"/>
                          <a:cs typeface="Calibri" pitchFamily="34" charset="-120"/>
                        </a:rPr>
                        <a:t>: doanh nghiệp bắt đầu tạo tiền từ hoạt động và tạo FCF dương.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Thanh khoản và cơ cấu nợ</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Hệ số thanh toán hiện hành tăng </a:t>
                      </a:r>
                      <a:pPr algn="l" indent="0" marL="0">
                        <a:buNone/>
                      </a:pPr>
                      <a:r>
                        <a:rPr lang="en-US" sz="634" b="1" dirty="0">
                          <a:solidFill>
                            <a:srgbClr val="1F1F1F"/>
                          </a:solidFill>
                          <a:latin typeface="Calibri" pitchFamily="34" charset="0"/>
                          <a:ea typeface="Calibri" pitchFamily="34" charset="-122"/>
                          <a:cs typeface="Calibri" pitchFamily="34" charset="-120"/>
                        </a:rPr>
                        <a:t>17,2x → 21,5x → 23,6x</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Hệ số thanh toán nhanh </a:t>
                      </a:r>
                      <a:pPr algn="l" indent="0" marL="0">
                        <a:buNone/>
                      </a:pPr>
                      <a:r>
                        <a:rPr lang="en-US" sz="634" b="1" dirty="0">
                          <a:solidFill>
                            <a:srgbClr val="1F1F1F"/>
                          </a:solidFill>
                          <a:latin typeface="Calibri" pitchFamily="34" charset="0"/>
                          <a:ea typeface="Calibri" pitchFamily="34" charset="-122"/>
                          <a:cs typeface="Calibri" pitchFamily="34" charset="-120"/>
                        </a:rPr>
                        <a:t>8,7x → 13,4x → 15,2x</a:t>
                      </a:r>
                      <a:pPr algn="l" indent="0" marL="0">
                        <a:buNone/>
                      </a:pPr>
                      <a:r>
                        <a:rPr lang="en-US" sz="634" dirty="0">
                          <a:solidFill>
                            <a:srgbClr val="1F1F1F"/>
                          </a:solidFill>
                          <a:latin typeface="Calibri" pitchFamily="34" charset="0"/>
                          <a:ea typeface="Calibri" pitchFamily="34" charset="-122"/>
                          <a:cs typeface="Calibri" pitchFamily="34" charset="-120"/>
                        </a:rPr>
                        <a:t>; nợ ngắn hạn rất thấp và D/E chỉ 6,5% năm 2025.</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Cấu trúc tài chính rất an toàn, tạo dư địa cho doanh nghiệp tiếp tục mở rộng mà chưa chịu áp lực đòn bẩy cao. Tuy nhiên: thanh khoản cao chủ yếu xuất phát từ nợ thấp, không phải bằng chứng cho thấy doanh nghiệp đã trưởng thành</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pSp>
        <p:nvGrpSpPr>
          <p:cNvPr id="104" name="Fig. 18 – biểu đồ"/>
          <p:cNvGrpSpPr/>
          <p:nvPr/>
        </p:nvGrpSpPr>
        <p:grpSpPr>
          <a:xfrm>
            <a:off x="327995" y="2370765"/>
            <a:ext cx="2255276" cy="792053"/>
            <a:chOff x="327995" y="2370765"/>
            <a:chExt cx="2255276" cy="792053"/>
          </a:xfrm>
        </p:grpSpPr>
        <p:sp>
          <p:nvSpPr>
            <p:cNvPr id="10" name="svg0_0"/>
            <p:cNvSpPr/>
            <p:nvPr/>
          </p:nvSpPr>
          <p:spPr>
            <a:xfrm>
              <a:off x="994501" y="2471532"/>
              <a:ext cx="0" cy="579181"/>
            </a:xfrm>
            <a:prstGeom prst="line">
              <a:avLst/>
            </a:prstGeom>
            <a:noFill/>
            <a:ln w="4953">
              <a:solidFill>
                <a:srgbClr val="E4E4E4"/>
              </a:solidFill>
              <a:prstDash val="solid"/>
            </a:ln>
          </p:spPr>
        </p:sp>
        <p:sp>
          <p:nvSpPr>
            <p:cNvPr id="11" name="svg0_1"/>
            <p:cNvSpPr txBox="1"/>
            <p:nvPr/>
          </p:nvSpPr>
          <p:spPr>
            <a:xfrm>
              <a:off x="925830" y="3058028"/>
              <a:ext cx="143927"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0%</a:t>
              </a:r>
              <a:endParaRPr lang="en-US" sz="557" dirty="0"/>
            </a:p>
          </p:txBody>
        </p:sp>
        <p:sp>
          <p:nvSpPr>
            <p:cNvPr id="12" name="svg0_2"/>
            <p:cNvSpPr/>
            <p:nvPr/>
          </p:nvSpPr>
          <p:spPr>
            <a:xfrm>
              <a:off x="1362639" y="2471532"/>
              <a:ext cx="0" cy="579181"/>
            </a:xfrm>
            <a:prstGeom prst="line">
              <a:avLst/>
            </a:prstGeom>
            <a:noFill/>
            <a:ln w="4953">
              <a:solidFill>
                <a:srgbClr val="E4E4E4"/>
              </a:solidFill>
              <a:prstDash val="solid"/>
            </a:ln>
          </p:spPr>
        </p:sp>
        <p:sp>
          <p:nvSpPr>
            <p:cNvPr id="13" name="svg0_3"/>
            <p:cNvSpPr txBox="1"/>
            <p:nvPr/>
          </p:nvSpPr>
          <p:spPr>
            <a:xfrm>
              <a:off x="1273668" y="3058028"/>
              <a:ext cx="18480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25%</a:t>
              </a:r>
              <a:endParaRPr lang="en-US" sz="557" dirty="0"/>
            </a:p>
          </p:txBody>
        </p:sp>
        <p:sp>
          <p:nvSpPr>
            <p:cNvPr id="14" name="svg0_4"/>
            <p:cNvSpPr/>
            <p:nvPr/>
          </p:nvSpPr>
          <p:spPr>
            <a:xfrm>
              <a:off x="1730776" y="2471532"/>
              <a:ext cx="0" cy="579181"/>
            </a:xfrm>
            <a:prstGeom prst="line">
              <a:avLst/>
            </a:prstGeom>
            <a:noFill/>
            <a:ln w="4953">
              <a:solidFill>
                <a:srgbClr val="E4E4E4"/>
              </a:solidFill>
              <a:prstDash val="solid"/>
            </a:ln>
          </p:spPr>
        </p:sp>
        <p:sp>
          <p:nvSpPr>
            <p:cNvPr id="15" name="svg0_5"/>
            <p:cNvSpPr txBox="1"/>
            <p:nvPr/>
          </p:nvSpPr>
          <p:spPr>
            <a:xfrm>
              <a:off x="1641805" y="3058028"/>
              <a:ext cx="18480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50%</a:t>
              </a:r>
              <a:endParaRPr lang="en-US" sz="557" dirty="0"/>
            </a:p>
          </p:txBody>
        </p:sp>
        <p:sp>
          <p:nvSpPr>
            <p:cNvPr id="16" name="svg0_6"/>
            <p:cNvSpPr/>
            <p:nvPr/>
          </p:nvSpPr>
          <p:spPr>
            <a:xfrm>
              <a:off x="2099005" y="2471532"/>
              <a:ext cx="0" cy="579181"/>
            </a:xfrm>
            <a:prstGeom prst="line">
              <a:avLst/>
            </a:prstGeom>
            <a:noFill/>
            <a:ln w="4953">
              <a:solidFill>
                <a:srgbClr val="E4E4E4"/>
              </a:solidFill>
              <a:prstDash val="solid"/>
            </a:ln>
          </p:spPr>
        </p:sp>
        <p:sp>
          <p:nvSpPr>
            <p:cNvPr id="17" name="svg0_7"/>
            <p:cNvSpPr txBox="1"/>
            <p:nvPr/>
          </p:nvSpPr>
          <p:spPr>
            <a:xfrm>
              <a:off x="2009943" y="3058028"/>
              <a:ext cx="18480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75%</a:t>
              </a:r>
              <a:endParaRPr lang="en-US" sz="557" dirty="0"/>
            </a:p>
          </p:txBody>
        </p:sp>
        <p:sp>
          <p:nvSpPr>
            <p:cNvPr id="18" name="svg0_8"/>
            <p:cNvSpPr/>
            <p:nvPr/>
          </p:nvSpPr>
          <p:spPr>
            <a:xfrm>
              <a:off x="2467143" y="2471532"/>
              <a:ext cx="0" cy="579181"/>
            </a:xfrm>
            <a:prstGeom prst="line">
              <a:avLst/>
            </a:prstGeom>
            <a:noFill/>
            <a:ln w="4953">
              <a:solidFill>
                <a:srgbClr val="E4E4E4"/>
              </a:solidFill>
              <a:prstDash val="solid"/>
            </a:ln>
          </p:spPr>
        </p:sp>
        <p:sp>
          <p:nvSpPr>
            <p:cNvPr id="19" name="svg0_9"/>
            <p:cNvSpPr txBox="1"/>
            <p:nvPr/>
          </p:nvSpPr>
          <p:spPr>
            <a:xfrm>
              <a:off x="2357780" y="3058028"/>
              <a:ext cx="225491"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100%</a:t>
              </a:r>
              <a:endParaRPr lang="en-US" sz="557" dirty="0"/>
            </a:p>
          </p:txBody>
        </p:sp>
        <p:sp>
          <p:nvSpPr>
            <p:cNvPr id="20" name="svg0_10"/>
            <p:cNvSpPr txBox="1"/>
            <p:nvPr/>
          </p:nvSpPr>
          <p:spPr>
            <a:xfrm>
              <a:off x="546537" y="2487625"/>
              <a:ext cx="408737"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Ươm mầm</a:t>
              </a:r>
              <a:endParaRPr lang="en-US" sz="588" dirty="0"/>
            </a:p>
          </p:txBody>
        </p:sp>
        <p:sp>
          <p:nvSpPr>
            <p:cNvPr id="21" name="svg0_11"/>
            <p:cNvSpPr/>
            <p:nvPr/>
          </p:nvSpPr>
          <p:spPr>
            <a:xfrm>
              <a:off x="1951695" y="2500975"/>
              <a:ext cx="221010" cy="68763"/>
            </a:xfrm>
            <a:prstGeom prst="rect">
              <a:avLst/>
            </a:prstGeom>
            <a:solidFill>
              <a:srgbClr val="D0D0D0"/>
            </a:solidFill>
            <a:ln/>
          </p:spPr>
        </p:sp>
        <p:sp>
          <p:nvSpPr>
            <p:cNvPr id="22" name="svg0_12"/>
            <p:cNvSpPr txBox="1"/>
            <p:nvPr/>
          </p:nvSpPr>
          <p:spPr>
            <a:xfrm>
              <a:off x="1753911" y="2487625"/>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65%</a:t>
              </a:r>
              <a:endParaRPr lang="en-US" sz="557" dirty="0"/>
            </a:p>
          </p:txBody>
        </p:sp>
        <p:sp>
          <p:nvSpPr>
            <p:cNvPr id="23" name="svg0_13"/>
            <p:cNvSpPr txBox="1"/>
            <p:nvPr/>
          </p:nvSpPr>
          <p:spPr>
            <a:xfrm>
              <a:off x="2192274" y="2487625"/>
              <a:ext cx="184800"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80%</a:t>
              </a:r>
              <a:endParaRPr lang="en-US" sz="557" dirty="0"/>
            </a:p>
          </p:txBody>
        </p:sp>
        <p:sp>
          <p:nvSpPr>
            <p:cNvPr id="24" name="svg0_14"/>
            <p:cNvSpPr txBox="1"/>
            <p:nvPr/>
          </p:nvSpPr>
          <p:spPr>
            <a:xfrm>
              <a:off x="501457" y="2625060"/>
              <a:ext cx="453725"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Thử nghiệm</a:t>
              </a:r>
              <a:endParaRPr lang="en-US" sz="588" dirty="0"/>
            </a:p>
          </p:txBody>
        </p:sp>
        <p:sp>
          <p:nvSpPr>
            <p:cNvPr id="25" name="svg0_15"/>
            <p:cNvSpPr/>
            <p:nvPr/>
          </p:nvSpPr>
          <p:spPr>
            <a:xfrm>
              <a:off x="1730776" y="2638410"/>
              <a:ext cx="220919" cy="68763"/>
            </a:xfrm>
            <a:prstGeom prst="rect">
              <a:avLst/>
            </a:prstGeom>
            <a:solidFill>
              <a:srgbClr val="D0D0D0"/>
            </a:solidFill>
            <a:ln/>
          </p:spPr>
        </p:sp>
        <p:sp>
          <p:nvSpPr>
            <p:cNvPr id="26" name="svg0_16"/>
            <p:cNvSpPr txBox="1"/>
            <p:nvPr/>
          </p:nvSpPr>
          <p:spPr>
            <a:xfrm>
              <a:off x="1532992" y="2625060"/>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50%</a:t>
              </a:r>
              <a:endParaRPr lang="en-US" sz="557" dirty="0"/>
            </a:p>
          </p:txBody>
        </p:sp>
        <p:sp>
          <p:nvSpPr>
            <p:cNvPr id="27" name="svg0_17"/>
            <p:cNvSpPr txBox="1"/>
            <p:nvPr/>
          </p:nvSpPr>
          <p:spPr>
            <a:xfrm>
              <a:off x="1971355" y="2625060"/>
              <a:ext cx="184800"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65%</a:t>
              </a:r>
              <a:endParaRPr lang="en-US" sz="557" dirty="0"/>
            </a:p>
          </p:txBody>
        </p:sp>
        <p:sp>
          <p:nvSpPr>
            <p:cNvPr id="28" name="svg0_18"/>
            <p:cNvSpPr txBox="1"/>
            <p:nvPr/>
          </p:nvSpPr>
          <p:spPr>
            <a:xfrm>
              <a:off x="343723" y="2762494"/>
              <a:ext cx="614385"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Đầu tăng trưởng</a:t>
              </a:r>
              <a:endParaRPr lang="en-US" sz="588" dirty="0"/>
            </a:p>
          </p:txBody>
        </p:sp>
        <p:sp>
          <p:nvSpPr>
            <p:cNvPr id="29" name="svg0_19"/>
            <p:cNvSpPr/>
            <p:nvPr/>
          </p:nvSpPr>
          <p:spPr>
            <a:xfrm>
              <a:off x="1509949" y="2775844"/>
              <a:ext cx="147218" cy="68763"/>
            </a:xfrm>
            <a:prstGeom prst="rect">
              <a:avLst/>
            </a:prstGeom>
            <a:solidFill>
              <a:srgbClr val="7B1E2B"/>
            </a:solidFill>
            <a:ln/>
          </p:spPr>
        </p:sp>
        <p:sp>
          <p:nvSpPr>
            <p:cNvPr id="30" name="svg0_20"/>
            <p:cNvSpPr txBox="1"/>
            <p:nvPr/>
          </p:nvSpPr>
          <p:spPr>
            <a:xfrm>
              <a:off x="1312164" y="2762494"/>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35%</a:t>
              </a:r>
              <a:endParaRPr lang="en-US" sz="557" dirty="0"/>
            </a:p>
          </p:txBody>
        </p:sp>
        <p:sp>
          <p:nvSpPr>
            <p:cNvPr id="31" name="svg0_21"/>
            <p:cNvSpPr txBox="1"/>
            <p:nvPr/>
          </p:nvSpPr>
          <p:spPr>
            <a:xfrm>
              <a:off x="1676735" y="2762494"/>
              <a:ext cx="184800"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45%</a:t>
              </a:r>
              <a:endParaRPr lang="en-US" sz="557" dirty="0"/>
            </a:p>
          </p:txBody>
        </p:sp>
        <p:sp>
          <p:nvSpPr>
            <p:cNvPr id="32" name="svg0_22"/>
            <p:cNvSpPr txBox="1"/>
            <p:nvPr/>
          </p:nvSpPr>
          <p:spPr>
            <a:xfrm>
              <a:off x="327995" y="2900020"/>
              <a:ext cx="630204"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Cuối tăng trưởng</a:t>
              </a:r>
              <a:endParaRPr lang="en-US" sz="588" dirty="0"/>
            </a:p>
          </p:txBody>
        </p:sp>
        <p:sp>
          <p:nvSpPr>
            <p:cNvPr id="33" name="svg0_23"/>
            <p:cNvSpPr/>
            <p:nvPr/>
          </p:nvSpPr>
          <p:spPr>
            <a:xfrm>
              <a:off x="1289030" y="2913278"/>
              <a:ext cx="147218" cy="68763"/>
            </a:xfrm>
            <a:prstGeom prst="rect">
              <a:avLst/>
            </a:prstGeom>
            <a:solidFill>
              <a:srgbClr val="D0D0D0"/>
            </a:solidFill>
            <a:ln/>
          </p:spPr>
        </p:sp>
        <p:sp>
          <p:nvSpPr>
            <p:cNvPr id="34" name="svg0_24"/>
            <p:cNvSpPr txBox="1"/>
            <p:nvPr/>
          </p:nvSpPr>
          <p:spPr>
            <a:xfrm>
              <a:off x="1091245" y="2900020"/>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20%</a:t>
              </a:r>
              <a:endParaRPr lang="en-US" sz="557" dirty="0"/>
            </a:p>
          </p:txBody>
        </p:sp>
        <p:sp>
          <p:nvSpPr>
            <p:cNvPr id="35" name="svg0_25"/>
            <p:cNvSpPr txBox="1"/>
            <p:nvPr/>
          </p:nvSpPr>
          <p:spPr>
            <a:xfrm>
              <a:off x="1455908" y="2900020"/>
              <a:ext cx="184800" cy="104790"/>
            </a:xfrm>
            <a:prstGeom prst="rect">
              <a:avLst/>
            </a:prstGeom>
            <a:noFill/>
            <a:ln/>
          </p:spPr>
          <p:txBody>
            <a:bodyPr wrap="none" lIns="0" tIns="0" rIns="0" bIns="0" rtlCol="0" anchor="ctr"/>
            <a:lstStyle/>
            <a:p>
              <a:pPr algn="l" indent="0" marL="0">
                <a:buNone/>
              </a:pPr>
              <a:r>
                <a:rPr lang="en-US" sz="557" dirty="0">
                  <a:solidFill>
                    <a:srgbClr val="666666"/>
                  </a:solidFill>
                  <a:latin typeface="Calibri" pitchFamily="34" charset="0"/>
                  <a:ea typeface="Calibri" pitchFamily="34" charset="-122"/>
                  <a:cs typeface="Calibri" pitchFamily="34" charset="-120"/>
                </a:rPr>
                <a:t>30%</a:t>
              </a:r>
              <a:endParaRPr lang="en-US" sz="557" dirty="0"/>
            </a:p>
          </p:txBody>
        </p:sp>
        <p:sp>
          <p:nvSpPr>
            <p:cNvPr id="36" name="svg0_26"/>
            <p:cNvSpPr/>
            <p:nvPr/>
          </p:nvSpPr>
          <p:spPr>
            <a:xfrm>
              <a:off x="1583558" y="2451964"/>
              <a:ext cx="0" cy="598841"/>
            </a:xfrm>
            <a:prstGeom prst="line">
              <a:avLst/>
            </a:prstGeom>
            <a:noFill/>
            <a:ln w="8890">
              <a:solidFill>
                <a:srgbClr val="5C1520"/>
              </a:solidFill>
              <a:prstDash val="dash"/>
            </a:ln>
          </p:spPr>
        </p:sp>
        <p:sp>
          <p:nvSpPr>
            <p:cNvPr id="37" name="svg0_27"/>
            <p:cNvSpPr txBox="1"/>
            <p:nvPr/>
          </p:nvSpPr>
          <p:spPr>
            <a:xfrm>
              <a:off x="1603126" y="2370765"/>
              <a:ext cx="599664" cy="104790"/>
            </a:xfrm>
            <a:prstGeom prst="rect">
              <a:avLst/>
            </a:prstGeom>
            <a:noFill/>
            <a:ln/>
          </p:spPr>
          <p:txBody>
            <a:bodyPr wrap="none" lIns="0" tIns="0" rIns="0" bIns="0" rtlCol="0" anchor="ctr"/>
            <a:lstStyle/>
            <a:p>
              <a:pPr algn="l" indent="0" marL="0">
                <a:buNone/>
              </a:pPr>
              <a:r>
                <a:rPr lang="en-US" sz="557" b="1" dirty="0">
                  <a:solidFill>
                    <a:srgbClr val="5C1520"/>
                  </a:solidFill>
                  <a:latin typeface="Calibri" pitchFamily="34" charset="0"/>
                  <a:ea typeface="Calibri" pitchFamily="34" charset="-122"/>
                  <a:cs typeface="Calibri" pitchFamily="34" charset="-120"/>
                </a:rPr>
                <a:t>AgriPack z = 40%</a:t>
              </a:r>
              <a:endParaRPr lang="en-US" sz="557" dirty="0"/>
            </a:p>
          </p:txBody>
        </p:sp>
      </p:grpSp>
      <p:grpSp>
        <p:nvGrpSpPr>
          <p:cNvPr id="105" name="Fig. 19 – biểu đồ"/>
          <p:cNvGrpSpPr/>
          <p:nvPr/>
        </p:nvGrpSpPr>
        <p:grpSpPr>
          <a:xfrm>
            <a:off x="444764" y="4121475"/>
            <a:ext cx="2081266" cy="880384"/>
            <a:chOff x="444764" y="4121475"/>
            <a:chExt cx="2081266" cy="880384"/>
          </a:xfrm>
        </p:grpSpPr>
        <p:sp>
          <p:nvSpPr>
            <p:cNvPr id="38" name="svg1_28"/>
            <p:cNvSpPr/>
            <p:nvPr/>
          </p:nvSpPr>
          <p:spPr>
            <a:xfrm>
              <a:off x="506852" y="4426702"/>
              <a:ext cx="193213" cy="458114"/>
            </a:xfrm>
            <a:prstGeom prst="rect">
              <a:avLst/>
            </a:prstGeom>
            <a:solidFill>
              <a:srgbClr val="A3A3A3"/>
            </a:solidFill>
            <a:ln/>
          </p:spPr>
        </p:sp>
        <p:sp>
          <p:nvSpPr>
            <p:cNvPr id="39" name="svg1_29"/>
            <p:cNvSpPr txBox="1"/>
            <p:nvPr/>
          </p:nvSpPr>
          <p:spPr>
            <a:xfrm>
              <a:off x="515264" y="4330507"/>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7,63</a:t>
              </a:r>
              <a:endParaRPr lang="en-US" sz="541" dirty="0"/>
            </a:p>
          </p:txBody>
        </p:sp>
        <p:sp>
          <p:nvSpPr>
            <p:cNvPr id="40" name="svg1_30"/>
            <p:cNvSpPr/>
            <p:nvPr/>
          </p:nvSpPr>
          <p:spPr>
            <a:xfrm>
              <a:off x="709757" y="4393692"/>
              <a:ext cx="193030" cy="491216"/>
            </a:xfrm>
            <a:prstGeom prst="rect">
              <a:avLst/>
            </a:prstGeom>
            <a:solidFill>
              <a:srgbClr val="7B1E2B"/>
            </a:solidFill>
            <a:ln/>
          </p:spPr>
        </p:sp>
        <p:sp>
          <p:nvSpPr>
            <p:cNvPr id="41" name="svg1_31"/>
            <p:cNvSpPr txBox="1"/>
            <p:nvPr/>
          </p:nvSpPr>
          <p:spPr>
            <a:xfrm>
              <a:off x="717438" y="4298137"/>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8,18</a:t>
              </a:r>
              <a:endParaRPr lang="en-US" sz="541" dirty="0"/>
            </a:p>
          </p:txBody>
        </p:sp>
        <p:sp>
          <p:nvSpPr>
            <p:cNvPr id="42" name="svg1_32"/>
            <p:cNvSpPr txBox="1"/>
            <p:nvPr/>
          </p:nvSpPr>
          <p:spPr>
            <a:xfrm>
              <a:off x="609265" y="4897069"/>
              <a:ext cx="191110" cy="104790"/>
            </a:xfrm>
            <a:prstGeom prst="rect">
              <a:avLst/>
            </a:prstGeom>
            <a:noFill/>
            <a:ln/>
          </p:spPr>
          <p:txBody>
            <a:bodyPr wrap="none" lIns="0" tIns="0" rIns="0" bIns="0" rtlCol="0" anchor="ctr"/>
            <a:lstStyle/>
            <a:p>
              <a:pPr algn="ctr" indent="0" marL="0">
                <a:buNone/>
              </a:pPr>
              <a:r>
                <a:rPr lang="en-US" sz="588" b="1" dirty="0">
                  <a:solidFill>
                    <a:srgbClr val="666666"/>
                  </a:solidFill>
                  <a:latin typeface="Calibri" pitchFamily="34" charset="0"/>
                  <a:ea typeface="Calibri" pitchFamily="34" charset="-122"/>
                  <a:cs typeface="Calibri" pitchFamily="34" charset="-120"/>
                </a:rPr>
                <a:t>GDP</a:t>
              </a:r>
              <a:endParaRPr lang="en-US" sz="588" dirty="0"/>
            </a:p>
          </p:txBody>
        </p:sp>
        <p:sp>
          <p:nvSpPr>
            <p:cNvPr id="43" name="svg1_33"/>
            <p:cNvSpPr/>
            <p:nvPr/>
          </p:nvSpPr>
          <p:spPr>
            <a:xfrm>
              <a:off x="1027146" y="4651919"/>
              <a:ext cx="193213" cy="232989"/>
            </a:xfrm>
            <a:prstGeom prst="rect">
              <a:avLst/>
            </a:prstGeom>
            <a:solidFill>
              <a:srgbClr val="A3A3A3"/>
            </a:solidFill>
            <a:ln/>
          </p:spPr>
        </p:sp>
        <p:sp>
          <p:nvSpPr>
            <p:cNvPr id="44" name="svg1_34"/>
            <p:cNvSpPr txBox="1"/>
            <p:nvPr/>
          </p:nvSpPr>
          <p:spPr>
            <a:xfrm>
              <a:off x="1035558" y="4556364"/>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3,88</a:t>
              </a:r>
              <a:endParaRPr lang="en-US" sz="541" dirty="0"/>
            </a:p>
          </p:txBody>
        </p:sp>
        <p:sp>
          <p:nvSpPr>
            <p:cNvPr id="45" name="svg1_35"/>
            <p:cNvSpPr/>
            <p:nvPr/>
          </p:nvSpPr>
          <p:spPr>
            <a:xfrm>
              <a:off x="1230142" y="4652467"/>
              <a:ext cx="193030" cy="232440"/>
            </a:xfrm>
            <a:prstGeom prst="rect">
              <a:avLst/>
            </a:prstGeom>
            <a:solidFill>
              <a:srgbClr val="7B1E2B"/>
            </a:solidFill>
            <a:ln/>
          </p:spPr>
        </p:sp>
        <p:sp>
          <p:nvSpPr>
            <p:cNvPr id="46" name="svg1_36"/>
            <p:cNvSpPr txBox="1"/>
            <p:nvPr/>
          </p:nvSpPr>
          <p:spPr>
            <a:xfrm>
              <a:off x="1237823" y="4556364"/>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3,87</a:t>
              </a:r>
              <a:endParaRPr lang="en-US" sz="541" dirty="0"/>
            </a:p>
          </p:txBody>
        </p:sp>
        <p:sp>
          <p:nvSpPr>
            <p:cNvPr id="47" name="svg1_37"/>
            <p:cNvSpPr txBox="1"/>
            <p:nvPr/>
          </p:nvSpPr>
          <p:spPr>
            <a:xfrm>
              <a:off x="963412" y="4897069"/>
              <a:ext cx="526329" cy="104790"/>
            </a:xfrm>
            <a:prstGeom prst="rect">
              <a:avLst/>
            </a:prstGeom>
            <a:noFill/>
            <a:ln/>
          </p:spPr>
          <p:txBody>
            <a:bodyPr wrap="none" lIns="0" tIns="0" rIns="0" bIns="0" rtlCol="0" anchor="ctr"/>
            <a:lstStyle/>
            <a:p>
              <a:pPr algn="ctr" indent="0" marL="0">
                <a:buNone/>
              </a:pPr>
              <a:r>
                <a:rPr lang="en-US" sz="588" b="1" dirty="0">
                  <a:solidFill>
                    <a:srgbClr val="666666"/>
                  </a:solidFill>
                  <a:latin typeface="Calibri" pitchFamily="34" charset="0"/>
                  <a:ea typeface="Calibri" pitchFamily="34" charset="-122"/>
                  <a:cs typeface="Calibri" pitchFamily="34" charset="-120"/>
                </a:rPr>
                <a:t>Nông, lâm, TS</a:t>
              </a:r>
              <a:endParaRPr lang="en-US" sz="588" dirty="0"/>
            </a:p>
          </p:txBody>
        </p:sp>
        <p:sp>
          <p:nvSpPr>
            <p:cNvPr id="48" name="svg1_38"/>
            <p:cNvSpPr/>
            <p:nvPr/>
          </p:nvSpPr>
          <p:spPr>
            <a:xfrm>
              <a:off x="1547531" y="4378056"/>
              <a:ext cx="193030" cy="506852"/>
            </a:xfrm>
            <a:prstGeom prst="rect">
              <a:avLst/>
            </a:prstGeom>
            <a:solidFill>
              <a:srgbClr val="A3A3A3"/>
            </a:solidFill>
            <a:ln/>
          </p:spPr>
        </p:sp>
        <p:sp>
          <p:nvSpPr>
            <p:cNvPr id="49" name="svg1_39"/>
            <p:cNvSpPr txBox="1"/>
            <p:nvPr/>
          </p:nvSpPr>
          <p:spPr>
            <a:xfrm>
              <a:off x="1555943" y="4282410"/>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8,44</a:t>
              </a:r>
              <a:endParaRPr lang="en-US" sz="541" dirty="0"/>
            </a:p>
          </p:txBody>
        </p:sp>
        <p:sp>
          <p:nvSpPr>
            <p:cNvPr id="50" name="svg1_40"/>
            <p:cNvSpPr/>
            <p:nvPr/>
          </p:nvSpPr>
          <p:spPr>
            <a:xfrm>
              <a:off x="1750527" y="4295851"/>
              <a:ext cx="193030" cy="589056"/>
            </a:xfrm>
            <a:prstGeom prst="rect">
              <a:avLst/>
            </a:prstGeom>
            <a:solidFill>
              <a:srgbClr val="7B1E2B"/>
            </a:solidFill>
            <a:ln/>
          </p:spPr>
        </p:sp>
        <p:sp>
          <p:nvSpPr>
            <p:cNvPr id="51" name="svg1_41"/>
            <p:cNvSpPr txBox="1"/>
            <p:nvPr/>
          </p:nvSpPr>
          <p:spPr>
            <a:xfrm>
              <a:off x="1758117" y="4199931"/>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9,81</a:t>
              </a:r>
              <a:endParaRPr lang="en-US" sz="541" dirty="0"/>
            </a:p>
          </p:txBody>
        </p:sp>
        <p:sp>
          <p:nvSpPr>
            <p:cNvPr id="52" name="svg1_42"/>
            <p:cNvSpPr txBox="1"/>
            <p:nvPr/>
          </p:nvSpPr>
          <p:spPr>
            <a:xfrm>
              <a:off x="1493124" y="4897069"/>
              <a:ext cx="507492" cy="104790"/>
            </a:xfrm>
            <a:prstGeom prst="rect">
              <a:avLst/>
            </a:prstGeom>
            <a:noFill/>
            <a:ln/>
          </p:spPr>
          <p:txBody>
            <a:bodyPr wrap="none" lIns="0" tIns="0" rIns="0" bIns="0" rtlCol="0" anchor="ctr"/>
            <a:lstStyle/>
            <a:p>
              <a:pPr algn="ctr" indent="0" marL="0">
                <a:buNone/>
              </a:pPr>
              <a:r>
                <a:rPr lang="en-US" sz="588" b="1" dirty="0">
                  <a:solidFill>
                    <a:srgbClr val="666666"/>
                  </a:solidFill>
                  <a:latin typeface="Calibri" pitchFamily="34" charset="0"/>
                  <a:ea typeface="Calibri" pitchFamily="34" charset="-122"/>
                  <a:cs typeface="Calibri" pitchFamily="34" charset="-120"/>
                </a:rPr>
                <a:t>CN, xây dựng</a:t>
              </a:r>
              <a:endParaRPr lang="en-US" sz="588" dirty="0"/>
            </a:p>
          </p:txBody>
        </p:sp>
        <p:sp>
          <p:nvSpPr>
            <p:cNvPr id="53" name="svg1_43"/>
            <p:cNvSpPr/>
            <p:nvPr/>
          </p:nvSpPr>
          <p:spPr>
            <a:xfrm>
              <a:off x="2067916" y="4382902"/>
              <a:ext cx="193030" cy="502006"/>
            </a:xfrm>
            <a:prstGeom prst="rect">
              <a:avLst/>
            </a:prstGeom>
            <a:solidFill>
              <a:srgbClr val="A3A3A3"/>
            </a:solidFill>
            <a:ln/>
          </p:spPr>
        </p:sp>
        <p:sp>
          <p:nvSpPr>
            <p:cNvPr id="54" name="svg1_44"/>
            <p:cNvSpPr txBox="1"/>
            <p:nvPr/>
          </p:nvSpPr>
          <p:spPr>
            <a:xfrm>
              <a:off x="2076328" y="4287347"/>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8,36</a:t>
              </a:r>
              <a:endParaRPr lang="en-US" sz="541" dirty="0"/>
            </a:p>
          </p:txBody>
        </p:sp>
        <p:sp>
          <p:nvSpPr>
            <p:cNvPr id="55" name="svg1_45"/>
            <p:cNvSpPr/>
            <p:nvPr/>
          </p:nvSpPr>
          <p:spPr>
            <a:xfrm>
              <a:off x="2270730" y="4399087"/>
              <a:ext cx="193213" cy="485821"/>
            </a:xfrm>
            <a:prstGeom prst="rect">
              <a:avLst/>
            </a:prstGeom>
            <a:solidFill>
              <a:srgbClr val="7B1E2B"/>
            </a:solidFill>
            <a:ln/>
          </p:spPr>
        </p:sp>
        <p:sp>
          <p:nvSpPr>
            <p:cNvPr id="56" name="svg1_46"/>
            <p:cNvSpPr txBox="1"/>
            <p:nvPr/>
          </p:nvSpPr>
          <p:spPr>
            <a:xfrm>
              <a:off x="2278502" y="4303075"/>
              <a:ext cx="180320" cy="104790"/>
            </a:xfrm>
            <a:prstGeom prst="rect">
              <a:avLst/>
            </a:prstGeom>
            <a:noFill/>
            <a:ln/>
          </p:spPr>
          <p:txBody>
            <a:bodyPr wrap="none" lIns="0" tIns="0" rIns="0" bIns="0" rtlCol="0" anchor="ctr"/>
            <a:lstStyle/>
            <a:p>
              <a:pPr algn="ctr" indent="0" marL="0">
                <a:buNone/>
              </a:pPr>
              <a:r>
                <a:rPr lang="en-US" sz="541" dirty="0">
                  <a:solidFill>
                    <a:srgbClr val="262626"/>
                  </a:solidFill>
                  <a:latin typeface="Calibri" pitchFamily="34" charset="0"/>
                  <a:ea typeface="Calibri" pitchFamily="34" charset="-122"/>
                  <a:cs typeface="Calibri" pitchFamily="34" charset="-120"/>
                </a:rPr>
                <a:t>8,09</a:t>
              </a:r>
              <a:endParaRPr lang="en-US" sz="541" dirty="0"/>
            </a:p>
          </p:txBody>
        </p:sp>
        <p:sp>
          <p:nvSpPr>
            <p:cNvPr id="57" name="svg1_47"/>
            <p:cNvSpPr txBox="1"/>
            <p:nvPr/>
          </p:nvSpPr>
          <p:spPr>
            <a:xfrm>
              <a:off x="2116470" y="4897069"/>
              <a:ext cx="298917" cy="104790"/>
            </a:xfrm>
            <a:prstGeom prst="rect">
              <a:avLst/>
            </a:prstGeom>
            <a:noFill/>
            <a:ln/>
          </p:spPr>
          <p:txBody>
            <a:bodyPr wrap="none" lIns="0" tIns="0" rIns="0" bIns="0" rtlCol="0" anchor="ctr"/>
            <a:lstStyle/>
            <a:p>
              <a:pPr algn="ctr" indent="0" marL="0">
                <a:buNone/>
              </a:pPr>
              <a:r>
                <a:rPr lang="en-US" sz="588" b="1" dirty="0">
                  <a:solidFill>
                    <a:srgbClr val="666666"/>
                  </a:solidFill>
                  <a:latin typeface="Calibri" pitchFamily="34" charset="0"/>
                  <a:ea typeface="Calibri" pitchFamily="34" charset="-122"/>
                  <a:cs typeface="Calibri" pitchFamily="34" charset="-120"/>
                </a:rPr>
                <a:t>Dịch vụ</a:t>
              </a:r>
              <a:endParaRPr lang="en-US" sz="588" dirty="0"/>
            </a:p>
          </p:txBody>
        </p:sp>
        <p:sp>
          <p:nvSpPr>
            <p:cNvPr id="58" name="svg1_48"/>
            <p:cNvSpPr/>
            <p:nvPr/>
          </p:nvSpPr>
          <p:spPr>
            <a:xfrm>
              <a:off x="444764" y="4884908"/>
              <a:ext cx="2081266" cy="0"/>
            </a:xfrm>
            <a:prstGeom prst="line">
              <a:avLst/>
            </a:prstGeom>
            <a:noFill/>
            <a:ln w="6858">
              <a:solidFill>
                <a:srgbClr val="8C8C8C"/>
              </a:solidFill>
              <a:prstDash val="solid"/>
            </a:ln>
          </p:spPr>
        </p:sp>
        <p:sp>
          <p:nvSpPr>
            <p:cNvPr id="59" name="svg1_49"/>
            <p:cNvSpPr/>
            <p:nvPr/>
          </p:nvSpPr>
          <p:spPr>
            <a:xfrm>
              <a:off x="444764" y="4142689"/>
              <a:ext cx="60899" cy="60899"/>
            </a:xfrm>
            <a:prstGeom prst="rect">
              <a:avLst/>
            </a:prstGeom>
            <a:solidFill>
              <a:srgbClr val="A3A3A3"/>
            </a:solidFill>
            <a:ln/>
          </p:spPr>
        </p:sp>
        <p:sp>
          <p:nvSpPr>
            <p:cNvPr id="60" name="svg1_50"/>
            <p:cNvSpPr txBox="1"/>
            <p:nvPr/>
          </p:nvSpPr>
          <p:spPr>
            <a:xfrm>
              <a:off x="528157" y="4121475"/>
              <a:ext cx="490758" cy="104790"/>
            </a:xfrm>
            <a:prstGeom prst="rect">
              <a:avLst/>
            </a:prstGeom>
            <a:noFill/>
            <a:ln/>
          </p:spPr>
          <p:txBody>
            <a:bodyPr wrap="none" lIns="0" tIns="0" rIns="0" bIns="0" rtlCol="0" anchor="ctr"/>
            <a:lstStyle/>
            <a:p>
              <a:pPr algn="l" indent="0" marL="0">
                <a:buNone/>
              </a:pPr>
              <a:r>
                <a:rPr lang="en-US" sz="588" dirty="0">
                  <a:solidFill>
                    <a:srgbClr val="666666"/>
                  </a:solidFill>
                  <a:latin typeface="Calibri" pitchFamily="34" charset="0"/>
                  <a:ea typeface="Calibri" pitchFamily="34" charset="-122"/>
                  <a:cs typeface="Calibri" pitchFamily="34" charset="-120"/>
                </a:rPr>
                <a:t>6 tháng 2025</a:t>
              </a:r>
              <a:endParaRPr lang="en-US" sz="588" dirty="0"/>
            </a:p>
          </p:txBody>
        </p:sp>
        <p:sp>
          <p:nvSpPr>
            <p:cNvPr id="61" name="svg1_51"/>
            <p:cNvSpPr/>
            <p:nvPr/>
          </p:nvSpPr>
          <p:spPr>
            <a:xfrm>
              <a:off x="1037295" y="4142689"/>
              <a:ext cx="60899" cy="60899"/>
            </a:xfrm>
            <a:prstGeom prst="rect">
              <a:avLst/>
            </a:prstGeom>
            <a:solidFill>
              <a:srgbClr val="7B1E2B"/>
            </a:solidFill>
            <a:ln/>
          </p:spPr>
        </p:sp>
        <p:sp>
          <p:nvSpPr>
            <p:cNvPr id="62" name="svg1_52"/>
            <p:cNvSpPr txBox="1"/>
            <p:nvPr/>
          </p:nvSpPr>
          <p:spPr>
            <a:xfrm>
              <a:off x="1121054" y="4121475"/>
              <a:ext cx="490758" cy="104790"/>
            </a:xfrm>
            <a:prstGeom prst="rect">
              <a:avLst/>
            </a:prstGeom>
            <a:noFill/>
            <a:ln/>
          </p:spPr>
          <p:txBody>
            <a:bodyPr wrap="none" lIns="0" tIns="0" rIns="0" bIns="0" rtlCol="0" anchor="ctr"/>
            <a:lstStyle/>
            <a:p>
              <a:pPr algn="l" indent="0" marL="0">
                <a:buNone/>
              </a:pPr>
              <a:r>
                <a:rPr lang="en-US" sz="588" dirty="0">
                  <a:solidFill>
                    <a:srgbClr val="666666"/>
                  </a:solidFill>
                  <a:latin typeface="Calibri" pitchFamily="34" charset="0"/>
                  <a:ea typeface="Calibri" pitchFamily="34" charset="-122"/>
                  <a:cs typeface="Calibri" pitchFamily="34" charset="-120"/>
                </a:rPr>
                <a:t>6 tháng 2026</a:t>
              </a:r>
              <a:endParaRPr lang="en-US" sz="588" dirty="0"/>
            </a:p>
          </p:txBody>
        </p:sp>
      </p:grpSp>
      <p:grpSp>
        <p:nvGrpSpPr>
          <p:cNvPr id="106" name="Fig. 20 – biểu đồ"/>
          <p:cNvGrpSpPr/>
          <p:nvPr/>
        </p:nvGrpSpPr>
        <p:grpSpPr>
          <a:xfrm>
            <a:off x="167152" y="5708965"/>
            <a:ext cx="2434590" cy="467350"/>
            <a:chOff x="167152" y="5708965"/>
            <a:chExt cx="2434590" cy="467350"/>
          </a:xfrm>
        </p:grpSpPr>
        <p:sp>
          <p:nvSpPr>
            <p:cNvPr id="63" name="svg2_53"/>
            <p:cNvSpPr txBox="1"/>
            <p:nvPr/>
          </p:nvSpPr>
          <p:spPr>
            <a:xfrm>
              <a:off x="567294" y="5717286"/>
              <a:ext cx="820125"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CPI bình quân 8T/2026</a:t>
              </a:r>
              <a:endParaRPr lang="en-US" sz="588" dirty="0"/>
            </a:p>
          </p:txBody>
        </p:sp>
        <p:sp>
          <p:nvSpPr>
            <p:cNvPr id="64" name="svg2_54"/>
            <p:cNvSpPr/>
            <p:nvPr/>
          </p:nvSpPr>
          <p:spPr>
            <a:xfrm>
              <a:off x="1426464" y="5728716"/>
              <a:ext cx="625084" cy="72969"/>
            </a:xfrm>
            <a:prstGeom prst="rect">
              <a:avLst/>
            </a:prstGeom>
            <a:solidFill>
              <a:srgbClr val="A3A3A3"/>
            </a:solidFill>
            <a:ln/>
          </p:spPr>
        </p:sp>
        <p:sp>
          <p:nvSpPr>
            <p:cNvPr id="65" name="svg2_55"/>
            <p:cNvSpPr txBox="1"/>
            <p:nvPr/>
          </p:nvSpPr>
          <p:spPr>
            <a:xfrm>
              <a:off x="470459" y="5835152"/>
              <a:ext cx="916960"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Lạm phát cơ bản 8T/2026</a:t>
              </a:r>
              <a:endParaRPr lang="en-US" sz="588" dirty="0"/>
            </a:p>
          </p:txBody>
        </p:sp>
        <p:sp>
          <p:nvSpPr>
            <p:cNvPr id="66" name="svg2_56"/>
            <p:cNvSpPr/>
            <p:nvPr/>
          </p:nvSpPr>
          <p:spPr>
            <a:xfrm>
              <a:off x="1426464" y="5846399"/>
              <a:ext cx="595457" cy="73061"/>
            </a:xfrm>
            <a:prstGeom prst="rect">
              <a:avLst/>
            </a:prstGeom>
            <a:solidFill>
              <a:srgbClr val="A3A3A3"/>
            </a:solidFill>
            <a:ln/>
          </p:spPr>
        </p:sp>
        <p:sp>
          <p:nvSpPr>
            <p:cNvPr id="67" name="svg2_57"/>
            <p:cNvSpPr txBox="1"/>
            <p:nvPr/>
          </p:nvSpPr>
          <p:spPr>
            <a:xfrm>
              <a:off x="504292" y="5952927"/>
              <a:ext cx="884591"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Nhà ở, điện, nước, VLXD</a:t>
              </a:r>
              <a:endParaRPr lang="en-US" sz="588" dirty="0"/>
            </a:p>
          </p:txBody>
        </p:sp>
        <p:sp>
          <p:nvSpPr>
            <p:cNvPr id="68" name="svg2_58"/>
            <p:cNvSpPr/>
            <p:nvPr/>
          </p:nvSpPr>
          <p:spPr>
            <a:xfrm>
              <a:off x="1426464" y="5964265"/>
              <a:ext cx="942472" cy="73061"/>
            </a:xfrm>
            <a:prstGeom prst="rect">
              <a:avLst/>
            </a:prstGeom>
            <a:solidFill>
              <a:srgbClr val="404040"/>
            </a:solidFill>
            <a:ln/>
          </p:spPr>
        </p:sp>
        <p:sp>
          <p:nvSpPr>
            <p:cNvPr id="69" name="svg2_59"/>
            <p:cNvSpPr txBox="1"/>
            <p:nvPr/>
          </p:nvSpPr>
          <p:spPr>
            <a:xfrm>
              <a:off x="167152" y="6070702"/>
              <a:ext cx="1219901" cy="104790"/>
            </a:xfrm>
            <a:prstGeom prst="rect">
              <a:avLst/>
            </a:prstGeom>
            <a:noFill/>
            <a:ln/>
          </p:spPr>
          <p:txBody>
            <a:bodyPr wrap="none" lIns="0" tIns="0" rIns="0" bIns="0" rtlCol="0" anchor="ctr"/>
            <a:lstStyle/>
            <a:p>
              <a:pPr algn="r" indent="0" marL="0">
                <a:buNone/>
              </a:pPr>
              <a:r>
                <a:rPr lang="en-US" sz="588" b="1" dirty="0">
                  <a:solidFill>
                    <a:srgbClr val="262626"/>
                  </a:solidFill>
                  <a:latin typeface="Calibri" pitchFamily="34" charset="0"/>
                  <a:ea typeface="Calibri" pitchFamily="34" charset="-122"/>
                  <a:cs typeface="Calibri" pitchFamily="34" charset="-120"/>
                </a:rPr>
                <a:t>Giá bán AgriPack 2026E (giả định)</a:t>
              </a:r>
              <a:endParaRPr lang="en-US" sz="588" dirty="0"/>
            </a:p>
          </p:txBody>
        </p:sp>
        <p:sp>
          <p:nvSpPr>
            <p:cNvPr id="70" name="svg2_60"/>
            <p:cNvSpPr/>
            <p:nvPr/>
          </p:nvSpPr>
          <p:spPr>
            <a:xfrm>
              <a:off x="1426464" y="6082132"/>
              <a:ext cx="280904" cy="73061"/>
            </a:xfrm>
            <a:prstGeom prst="rect">
              <a:avLst/>
            </a:prstGeom>
            <a:solidFill>
              <a:srgbClr val="7B1E2B"/>
            </a:solidFill>
            <a:ln/>
          </p:spPr>
        </p:sp>
        <p:sp>
          <p:nvSpPr>
            <p:cNvPr id="71" name="svg2_61"/>
            <p:cNvSpPr/>
            <p:nvPr/>
          </p:nvSpPr>
          <p:spPr>
            <a:xfrm>
              <a:off x="1426464" y="5708965"/>
              <a:ext cx="0" cy="467350"/>
            </a:xfrm>
            <a:prstGeom prst="line">
              <a:avLst/>
            </a:prstGeom>
            <a:noFill/>
            <a:ln w="6858">
              <a:solidFill>
                <a:srgbClr val="8C8C8C"/>
              </a:solidFill>
              <a:prstDash val="solid"/>
            </a:ln>
          </p:spPr>
        </p:sp>
        <p:sp>
          <p:nvSpPr>
            <p:cNvPr id="72" name="svg2_62"/>
            <p:cNvSpPr txBox="1"/>
            <p:nvPr/>
          </p:nvSpPr>
          <p:spPr>
            <a:xfrm>
              <a:off x="2076328" y="5717286"/>
              <a:ext cx="208209"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4,45%</a:t>
              </a:r>
              <a:endParaRPr lang="en-US" sz="588" dirty="0"/>
            </a:p>
          </p:txBody>
        </p:sp>
        <p:sp>
          <p:nvSpPr>
            <p:cNvPr id="73" name="svg2_63"/>
            <p:cNvSpPr txBox="1"/>
            <p:nvPr/>
          </p:nvSpPr>
          <p:spPr>
            <a:xfrm>
              <a:off x="2046884" y="5835152"/>
              <a:ext cx="208209"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4,24%</a:t>
              </a:r>
              <a:endParaRPr lang="en-US" sz="588" dirty="0"/>
            </a:p>
          </p:txBody>
        </p:sp>
        <p:sp>
          <p:nvSpPr>
            <p:cNvPr id="74" name="svg2_64"/>
            <p:cNvSpPr txBox="1"/>
            <p:nvPr/>
          </p:nvSpPr>
          <p:spPr>
            <a:xfrm>
              <a:off x="2393533" y="5952927"/>
              <a:ext cx="208209"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6,71%</a:t>
              </a:r>
              <a:endParaRPr lang="en-US" sz="588" dirty="0"/>
            </a:p>
          </p:txBody>
        </p:sp>
        <p:sp>
          <p:nvSpPr>
            <p:cNvPr id="75" name="svg2_65"/>
            <p:cNvSpPr txBox="1"/>
            <p:nvPr/>
          </p:nvSpPr>
          <p:spPr>
            <a:xfrm>
              <a:off x="1731874" y="6070702"/>
              <a:ext cx="208758" cy="104790"/>
            </a:xfrm>
            <a:prstGeom prst="rect">
              <a:avLst/>
            </a:prstGeom>
            <a:solidFill>
              <a:srgbClr val="FFFFFF"/>
            </a:solidFill>
            <a:ln/>
          </p:spPr>
          <p:txBody>
            <a:bodyPr wrap="none" lIns="0" tIns="0" rIns="0" bIns="0" rtlCol="0" anchor="ctr"/>
            <a:lstStyle/>
            <a:p>
              <a:pPr algn="l" indent="0" marL="0">
                <a:buNone/>
              </a:pPr>
              <a:r>
                <a:rPr lang="en-US" sz="588" b="1" dirty="0">
                  <a:solidFill>
                    <a:srgbClr val="262626"/>
                  </a:solidFill>
                  <a:latin typeface="Calibri" pitchFamily="34" charset="0"/>
                  <a:ea typeface="Calibri" pitchFamily="34" charset="-122"/>
                  <a:cs typeface="Calibri" pitchFamily="34" charset="-120"/>
                </a:rPr>
                <a:t>2,00%</a:t>
              </a:r>
              <a:endParaRPr lang="en-US" sz="588" dirty="0"/>
            </a:p>
          </p:txBody>
        </p:sp>
      </p:grpSp>
      <p:sp>
        <p:nvSpPr>
          <p:cNvPr id="76" name="Text 7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77" name="Text 7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78" name="Text 75"/>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17 (tiếp):</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Bảng xác định giai đoạn phát triển của AgriPack</a:t>
            </a:r>
            <a:endParaRPr lang="en-US" sz="720" dirty="0"/>
          </a:p>
        </p:txBody>
      </p:sp>
      <p:sp>
        <p:nvSpPr>
          <p:cNvPr id="79" name="Text 76"/>
          <p:cNvSpPr txBox="1"/>
          <p:nvPr/>
        </p:nvSpPr>
        <p:spPr>
          <a:xfrm>
            <a:off x="405354" y="2017532"/>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phân tích của nhóm</a:t>
            </a:r>
            <a:endParaRPr lang="en-US" sz="600" dirty="0"/>
          </a:p>
        </p:txBody>
      </p:sp>
      <p:sp>
        <p:nvSpPr>
          <p:cNvPr id="80" name="Text 77"/>
          <p:cNvSpPr txBox="1"/>
          <p:nvPr/>
        </p:nvSpPr>
        <p:spPr>
          <a:xfrm>
            <a:off x="405354" y="2211934"/>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Giai đoạn đầu tăng trưởng: tỷ lệ thất bại 35–45%</a:t>
            </a:r>
            <a:endParaRPr lang="en-US" sz="720" dirty="0"/>
          </a:p>
        </p:txBody>
      </p:sp>
      <p:sp>
        <p:nvSpPr>
          <p:cNvPr id="81" name="Text 78"/>
          <p:cNvSpPr txBox="1"/>
          <p:nvPr/>
        </p:nvSpPr>
        <p:spPr>
          <a:xfrm>
            <a:off x="405354" y="3245388"/>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Đề bài (Mục III.1); kết luận giai đoạn của nhóm</a:t>
            </a:r>
            <a:endParaRPr lang="en-US" sz="600" dirty="0"/>
          </a:p>
        </p:txBody>
      </p:sp>
      <p:sp>
        <p:nvSpPr>
          <p:cNvPr id="82" name="Text 79"/>
          <p:cNvSpPr txBox="1"/>
          <p:nvPr/>
        </p:nvSpPr>
        <p:spPr>
          <a:xfrm>
            <a:off x="2745303" y="2180753"/>
            <a:ext cx="4409237" cy="920984"/>
          </a:xfrm>
          <a:prstGeom prst="rect">
            <a:avLst/>
          </a:prstGeom>
          <a:noFill/>
          <a:ln/>
        </p:spPr>
        <p:txBody>
          <a:bodyPr wrap="square" lIns="0" tIns="0" rIns="0" bIns="0" rtlCol="0" anchor="t"/>
          <a:lstStyle/>
          <a:p>
            <a:pPr algn="just" indent="0" marL="0">
              <a:lnSpc>
                <a:spcPts val="1037"/>
              </a:lnSpc>
              <a:buNone/>
            </a:pPr>
            <a:r>
              <a:rPr lang="en-US" sz="850" b="1" dirty="0">
                <a:solidFill>
                  <a:srgbClr val="1F1F1F"/>
                </a:solidFill>
                <a:latin typeface="Calibri" pitchFamily="34" charset="0"/>
                <a:ea typeface="Calibri" pitchFamily="34" charset="-122"/>
                <a:cs typeface="Calibri" pitchFamily="34" charset="-120"/>
              </a:rPr>
              <a:t>Kết luận. </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Dựa trên quy mô doanh thu còn nhỏ so với các doanh nghiệp dẫn đầu ngành, tốc độ tăng trưởng vượt xa thị trường, khả năng sinh lời mới đạt trong một năm với biên an toàn mỏng, và dòng tiền tự do vừa chuyển dương nhưng chưa đủ tài trợ đợt đầu tư mở rộng năm 2027, nhóm xác định AgriPack đang ở giai đoạn </a:t>
            </a:r>
            <a:pPr algn="just" indent="0" marL="0">
              <a:lnSpc>
                <a:spcPts val="1037"/>
              </a:lnSpc>
              <a:buNone/>
            </a:pPr>
            <a:r>
              <a:rPr lang="en-US" sz="850" b="1" dirty="0">
                <a:solidFill>
                  <a:srgbClr val="1F1F1F"/>
                </a:solidFill>
                <a:latin typeface="Calibri" pitchFamily="34" charset="0"/>
                <a:ea typeface="Calibri" pitchFamily="34" charset="-122"/>
                <a:cs typeface="Calibri" pitchFamily="34" charset="-120"/>
              </a:rPr>
              <a:t>đầu tăng trưởng</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tương ứng tỷ lệ thất bại 35–45%. Kết luận này là cơ sở cho giả định tăng trưởng giảm dần ở Mục 4, cho mức lợi suất yêu cầu trong phương pháp VC và mức WACC trong DCF ở Mục 5, và cho nhu cầu vốn bên ngoài – đầu vào của VC Method (Mục 5.4) (Fig. 18).</a:t>
            </a:r>
            <a:endParaRPr lang="en-US" sz="850" dirty="0"/>
          </a:p>
        </p:txBody>
      </p:sp>
      <p:sp>
        <p:nvSpPr>
          <p:cNvPr id="83" name="Text 80"/>
          <p:cNvSpPr txBox="1"/>
          <p:nvPr/>
        </p:nvSpPr>
        <p:spPr>
          <a:xfrm>
            <a:off x="484632" y="34950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3. PHÂN TÍCH VĨ MÔ VÀ PHÂN TÍCH NGÀNH</a:t>
            </a:r>
            <a:endParaRPr lang="en-US" sz="880" dirty="0"/>
          </a:p>
        </p:txBody>
      </p:sp>
      <p:sp>
        <p:nvSpPr>
          <p:cNvPr id="84" name="Text 81"/>
          <p:cNvSpPr txBox="1"/>
          <p:nvPr/>
        </p:nvSpPr>
        <p:spPr>
          <a:xfrm>
            <a:off x="405354" y="3766596"/>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19: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GDP 6 tháng 2026 tăng 8,18%; công nghiệp và xây dựng tăng 9,81%</a:t>
            </a:r>
            <a:endParaRPr lang="en-US" sz="720" dirty="0"/>
          </a:p>
        </p:txBody>
      </p:sp>
      <p:sp>
        <p:nvSpPr>
          <p:cNvPr id="85" name="Text 82"/>
          <p:cNvSpPr txBox="1"/>
          <p:nvPr/>
        </p:nvSpPr>
        <p:spPr>
          <a:xfrm>
            <a:off x="405354" y="4003609"/>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 so với cùng kỳ</a:t>
            </a:r>
            <a:endParaRPr lang="en-US" sz="630" dirty="0"/>
          </a:p>
        </p:txBody>
      </p:sp>
      <p:sp>
        <p:nvSpPr>
          <p:cNvPr id="86" name="Text 83"/>
          <p:cNvSpPr txBox="1"/>
          <p:nvPr/>
        </p:nvSpPr>
        <p:spPr>
          <a:xfrm>
            <a:off x="405354" y="5040264"/>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Cục Thống kê (2026), infographic tăng trưởng GDP 6 tháng đầu năm (bài của nhóm, Mục 3.1.1)</a:t>
            </a:r>
            <a:endParaRPr lang="en-US" sz="600" dirty="0"/>
          </a:p>
        </p:txBody>
      </p:sp>
      <p:sp>
        <p:nvSpPr>
          <p:cNvPr id="87" name="Text 84"/>
          <p:cNvSpPr txBox="1"/>
          <p:nvPr/>
        </p:nvSpPr>
        <p:spPr>
          <a:xfrm>
            <a:off x="405354" y="5336896"/>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20:</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Chi phí năng lượng, vận hành tăng nhanh hơn CPI; giá bán giả định chỉ tăng 2%</a:t>
            </a:r>
            <a:endParaRPr lang="en-US" sz="720" dirty="0"/>
          </a:p>
        </p:txBody>
      </p:sp>
      <p:sp>
        <p:nvSpPr>
          <p:cNvPr id="88" name="Text 85"/>
          <p:cNvSpPr txBox="1"/>
          <p:nvPr/>
        </p:nvSpPr>
        <p:spPr>
          <a:xfrm>
            <a:off x="405354" y="5573908"/>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 so với cùng kỳ; giả định giá bán: %/năm</a:t>
            </a:r>
            <a:endParaRPr lang="en-US" sz="630" dirty="0"/>
          </a:p>
        </p:txBody>
      </p:sp>
      <p:sp>
        <p:nvSpPr>
          <p:cNvPr id="89" name="Text 86"/>
          <p:cNvSpPr txBox="1"/>
          <p:nvPr/>
        </p:nvSpPr>
        <p:spPr>
          <a:xfrm>
            <a:off x="405354" y="627671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Cục Thống kê (2026); giả định giá bán hộp F&amp;B 2026E (Mục 4)</a:t>
            </a:r>
            <a:endParaRPr lang="en-US" sz="600" dirty="0"/>
          </a:p>
        </p:txBody>
      </p:sp>
      <p:sp>
        <p:nvSpPr>
          <p:cNvPr id="90" name="Text 87"/>
          <p:cNvSpPr txBox="1"/>
          <p:nvPr/>
        </p:nvSpPr>
        <p:spPr>
          <a:xfrm>
            <a:off x="2745303" y="374968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3.1. Phân tích vĩ mô</a:t>
            </a:r>
            <a:endParaRPr lang="en-US" sz="900" dirty="0"/>
          </a:p>
        </p:txBody>
      </p:sp>
      <p:sp>
        <p:nvSpPr>
          <p:cNvPr id="91" name="Text 88"/>
          <p:cNvSpPr txBox="1"/>
          <p:nvPr/>
        </p:nvSpPr>
        <p:spPr>
          <a:xfrm>
            <a:off x="2745303" y="3919027"/>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3.1.1. Tăng trưởng GDP</a:t>
            </a:r>
            <a:endParaRPr lang="en-US" sz="820" dirty="0"/>
          </a:p>
        </p:txBody>
      </p:sp>
      <p:sp>
        <p:nvSpPr>
          <p:cNvPr id="92" name="Text 89"/>
          <p:cNvSpPr txBox="1"/>
          <p:nvPr/>
        </p:nvSpPr>
        <p:spPr>
          <a:xfrm>
            <a:off x="2745303" y="4065697"/>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Cục Thống kê, GDP Việt Nam 6 tháng đầu năm 2026 tăng 8,18% so với cùng kỳ năm trước. Trong đó, khu vực công nghiệp và xây dựng tăng 9,81%, khu vực dịch vụ tăng 8,09%. Đây là những khu vực có liên quan trực tiếp đến nhu cầu bao bì thông qua hoạt động sản xuất, lưu thông và cung ứng hàng hóa, dịch vụ (Fig. 19).</a:t>
            </a:r>
            <a:endParaRPr lang="en-US" sz="850" dirty="0"/>
          </a:p>
        </p:txBody>
      </p:sp>
      <p:sp>
        <p:nvSpPr>
          <p:cNvPr id="93" name="Text 90"/>
          <p:cNvSpPr txBox="1"/>
          <p:nvPr/>
        </p:nvSpPr>
        <p:spPr>
          <a:xfrm>
            <a:off x="2745303" y="4629607"/>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startup sản xuất bao bì từ bã mía và vỏ trứng, tăng trưởng kinh tế tạo điều kiện mở rộng thị trường đầu ra. Khi các doanh nghiệp sản xuất, F&amp;B, bán lẻ và dịch vụ mở rộng hoạt động, nhu cầu đóng gói, bảo quản và vận chuyển sản phẩm cũng có cơ sở gia tăng, qua đó mở rộng nhóm khách hàng B2B tiềm năng.</a:t>
            </a:r>
            <a:endParaRPr lang="en-US" sz="850" dirty="0"/>
          </a:p>
        </p:txBody>
      </p:sp>
      <p:sp>
        <p:nvSpPr>
          <p:cNvPr id="94" name="Text 91"/>
          <p:cNvSpPr txBox="1"/>
          <p:nvPr/>
        </p:nvSpPr>
        <p:spPr>
          <a:xfrm>
            <a:off x="2745303" y="5193518"/>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Bên cạnh đó, tiêu dùng cuối cùng 6 tháng đầu năm 2026 tăng 8,15% so với cùng kỳ. Sự gia tăng tiêu dùng có thể thúc đẩy doanh nghiệp thực phẩm, đồ uống và hàng tiêu dùng mở rộng sản lượng, tạo thêm nhu cầu sử dụng bao bì thường xuyên.</a:t>
            </a:r>
            <a:endParaRPr lang="en-US" sz="850" dirty="0"/>
          </a:p>
        </p:txBody>
      </p:sp>
      <p:sp>
        <p:nvSpPr>
          <p:cNvPr id="95" name="Text 92"/>
          <p:cNvSpPr txBox="1"/>
          <p:nvPr/>
        </p:nvSpPr>
        <p:spPr>
          <a:xfrm>
            <a:off x="2745303" y="5625846"/>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Tuy nhiên, tăng trưởng nhu cầu cũng đặt ra yêu cầu cao hơn về sản lượng, chất lượng và thời gian giao hàng. Với nguyên liệu phụ thuộc vào thu gom và xử lý từ nhiều nguồn, startup cần xây dựng nguồn cung ổn định và công suất phù hợp để chuyển cơ hội từ tăng trưởng thị trường thành doanh thu thực tế.</a:t>
            </a:r>
            <a:endParaRPr lang="en-US" sz="850" dirty="0"/>
          </a:p>
        </p:txBody>
      </p:sp>
      <p:sp>
        <p:nvSpPr>
          <p:cNvPr id="96" name="Text 93"/>
          <p:cNvSpPr txBox="1"/>
          <p:nvPr/>
        </p:nvSpPr>
        <p:spPr>
          <a:xfrm>
            <a:off x="2745303" y="6189756"/>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Nhìn chung, tăng trưởng GDP năm 2026 tạo điều kiện thuận lợi cho startup thông qua việc mở rộng hoạt động sản xuất và tiêu dùng, từ đó làm tăng nhu cầu bao bì. Tuy nhiên, khả năng tận dụng cơ hội phụ thuộc vào năng lực cung ứng, chất lượng và giá thành sản phẩm.</a:t>
            </a:r>
            <a:endParaRPr lang="en-US" sz="850" dirty="0"/>
          </a:p>
        </p:txBody>
      </p:sp>
      <p:sp>
        <p:nvSpPr>
          <p:cNvPr id="97" name="Text 94"/>
          <p:cNvSpPr txBox="1"/>
          <p:nvPr/>
        </p:nvSpPr>
        <p:spPr>
          <a:xfrm>
            <a:off x="2745303" y="6622085"/>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3.1.2. Lạm phát</a:t>
            </a:r>
            <a:endParaRPr lang="en-US" sz="820" dirty="0"/>
          </a:p>
        </p:txBody>
      </p:sp>
      <p:sp>
        <p:nvSpPr>
          <p:cNvPr id="98" name="Text 95"/>
          <p:cNvSpPr txBox="1"/>
          <p:nvPr/>
        </p:nvSpPr>
        <p:spPr>
          <a:xfrm>
            <a:off x="2745303" y="6768755"/>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Cục Thống kê, CPI bình quân 8 tháng đầu năm 2026 tăng 4,45%, trong khi lạm phát cơ bản tăng 4,24% so với cùng kỳ năm trước. Trong đó, nhóm nhà ở, điện, nước, chất đốt và vật liệu xây dựng tăng 6,71%, đóng góp 1,52 điểm phần trăm vào mức tăng CPI. Điều này cho thấy mặt bằng chi phí trong nền kinh tế đang chịu áp lực tăng, đặc biệt ở các yếu tố liên quan đến năng lượng và vận hành (Fig. 20).</a:t>
            </a:r>
            <a:endParaRPr lang="en-US" sz="850" dirty="0"/>
          </a:p>
        </p:txBody>
      </p:sp>
      <p:sp>
        <p:nvSpPr>
          <p:cNvPr id="99" name="Text 96"/>
          <p:cNvSpPr txBox="1"/>
          <p:nvPr/>
        </p:nvSpPr>
        <p:spPr>
          <a:xfrm>
            <a:off x="2745303" y="7464156"/>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startup sản xuất bao bì từ bã mía và vỏ trứng, tác động của mức lạm phát 4,45% không nằm chủ yếu ở giá mua bã mía và vỏ trứng mà ở chi phí để thu gom và biến các phụ phẩm này thành nguyên liệu sản xuất. Bã mía và vỏ trứng được thu gom trong nước nên startup ít phụ thuộc trực tiếp vào biến động giá nguyên liệu nhập khẩu. Tuy nhiên, khi mặt bằng giá chung tăng, chi phí vận chuyển, nhân công, phân loại, sấy và xử lý nguyên liệu cũng có thể tăng theo, làm tăng giá thành sản phẩm.</a:t>
            </a:r>
            <a:endParaRPr lang="en-US" sz="850" dirty="0"/>
          </a:p>
        </p:txBody>
      </p:sp>
      <p:sp>
        <p:nvSpPr>
          <p:cNvPr id="100" name="Text 97"/>
          <p:cNvSpPr txBox="1"/>
          <p:nvPr/>
        </p:nvSpPr>
        <p:spPr>
          <a:xfrm>
            <a:off x="2745303" y="8291231"/>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Đáng chú ý, mức tăng 6,71% của nhóm nhà ở, điện, nước, chất đốt và vật liệu xây dựng cao hơn CPI chung cho thấy áp lực chi phí liên quan đến năng lượng và vận hành cần được quan tâm. Điều này có ý nghĩa trực tiếp với startup vì quy trình sản xuất bã mía và vỏ trứng có các công đoạn sấy, xử lý, nghiền và tạo hình, trong đó một số công đoạn tiêu thụ đáng kể năng lượng. Tuy nhiên, không thể đồng nhất mức tăng 6,71% của nhóm CPI này với mức tăng chi phí điện của doanh nghiệp, bởi giá điện sản xuất còn phụ thuộc vào nhóm khách hàng, cấp điện áp và thời điểm sử dụng.</a:t>
            </a:r>
            <a:endParaRPr lang="en-US" sz="850" dirty="0"/>
          </a:p>
        </p:txBody>
      </p:sp>
      <p:sp>
        <p:nvSpPr>
          <p:cNvPr id="101" name="Text 98"/>
          <p:cNvSpPr txBox="1"/>
          <p:nvPr/>
        </p:nvSpPr>
        <p:spPr>
          <a:xfrm>
            <a:off x="2745303" y="9118305"/>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Mặt khác, khả năng chuyển phần chi phí tăng thêm vào giá bán bị giới hạn. Trong bối cảnh CPI tăng 4,45%, các khách hàng B2B như doanh nghiệp F&amp;B, chế biến thực phẩm và bán lẻ cũng phải đối mặt với áp lực chi phí. Nếu startup tăng giá bao bì quá nhanh để bù đắp chi phí, khách hàng có thể chuyển sang loại bao bì khác hoặc nhà cung cấp khác. Vì vậy, nếu chi phí đầu vào tăng nhanh hơn giá bán, biên lợi nhuận của startup sẽ bị thu hẹp.</a:t>
            </a:r>
            <a:endParaRPr lang="en-US" sz="850" dirty="0"/>
          </a:p>
        </p:txBody>
      </p:sp>
      <p:sp>
        <p:nvSpPr>
          <p:cNvPr id="102" name="Text 99"/>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03" name="Text 100"/>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6</a:t>
            </a:r>
            <a:endParaRPr lang="en-US" sz="6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2223546"/>
            <a:ext cx="2159996" cy="0"/>
          </a:xfrm>
          <a:prstGeom prst="line">
            <a:avLst/>
          </a:prstGeom>
          <a:noFill/>
          <a:ln w="9525">
            <a:solidFill>
              <a:srgbClr val="7B1E2B"/>
            </a:solidFill>
            <a:prstDash val="solid"/>
          </a:ln>
        </p:spPr>
      </p:sp>
      <p:sp>
        <p:nvSpPr>
          <p:cNvPr id="5" name="Shape 3"/>
          <p:cNvSpPr/>
          <p:nvPr/>
        </p:nvSpPr>
        <p:spPr>
          <a:xfrm>
            <a:off x="405354" y="3783970"/>
            <a:ext cx="2159996" cy="0"/>
          </a:xfrm>
          <a:prstGeom prst="line">
            <a:avLst/>
          </a:prstGeom>
          <a:noFill/>
          <a:ln w="9525">
            <a:solidFill>
              <a:srgbClr val="7B1E2B"/>
            </a:solidFill>
            <a:prstDash val="solid"/>
          </a:ln>
        </p:spPr>
      </p:sp>
      <p:sp>
        <p:nvSpPr>
          <p:cNvPr id="6" name="Shape 4"/>
          <p:cNvSpPr/>
          <p:nvPr/>
        </p:nvSpPr>
        <p:spPr>
          <a:xfrm>
            <a:off x="405354" y="10369479"/>
            <a:ext cx="6749004" cy="0"/>
          </a:xfrm>
          <a:prstGeom prst="line">
            <a:avLst/>
          </a:prstGeom>
          <a:noFill/>
          <a:ln w="9525">
            <a:solidFill>
              <a:srgbClr val="BFBFBF"/>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5354" y="840608"/>
          <a:ext cx="2159996" cy="914400"/>
        </p:xfrm>
        <a:graphic>
          <a:graphicData uri="http://schemas.openxmlformats.org/drawingml/2006/table">
            <a:tbl>
              <a:tblPr/>
              <a:tblGrid>
                <a:gridCol w="1187988"/>
                <a:gridCol w="972007"/>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Chỉ báo</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Giá trị</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6497">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Lãi suất cho vay VND bình quân (6/2026)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8,1–10,5%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Dư nợ tín dụng DNNVV (28/8/2026)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&gt;4,1 triệu tỷ, +12,4%</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NATIF hỗ trợ lãi suất (2026)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50% lãi vay, ≤ 6%/năm, ≤ 5 năm</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Quy mô hỗ trợ đợt 1/2026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50 tỷ đồng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Kd trong mô hình (Mục 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10,0%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pSp>
        <p:nvGrpSpPr>
          <p:cNvPr id="84" name="Fig. 22 – biểu đồ"/>
          <p:cNvGrpSpPr/>
          <p:nvPr/>
        </p:nvGrpSpPr>
        <p:grpSpPr>
          <a:xfrm>
            <a:off x="261427" y="2631826"/>
            <a:ext cx="2215591" cy="833658"/>
            <a:chOff x="261427" y="2631826"/>
            <a:chExt cx="2215591" cy="833658"/>
          </a:xfrm>
        </p:grpSpPr>
        <p:sp>
          <p:nvSpPr>
            <p:cNvPr id="8" name="svg0_0"/>
            <p:cNvSpPr/>
            <p:nvPr/>
          </p:nvSpPr>
          <p:spPr>
            <a:xfrm>
              <a:off x="1357152" y="2631826"/>
              <a:ext cx="0" cy="726582"/>
            </a:xfrm>
            <a:prstGeom prst="line">
              <a:avLst/>
            </a:prstGeom>
            <a:noFill/>
            <a:ln w="4953">
              <a:solidFill>
                <a:srgbClr val="E4E4E4"/>
              </a:solidFill>
              <a:prstDash val="solid"/>
            </a:ln>
          </p:spPr>
        </p:sp>
        <p:sp>
          <p:nvSpPr>
            <p:cNvPr id="9" name="svg0_1"/>
            <p:cNvSpPr txBox="1"/>
            <p:nvPr/>
          </p:nvSpPr>
          <p:spPr>
            <a:xfrm>
              <a:off x="1228405" y="3360694"/>
              <a:ext cx="259872"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25.500</a:t>
              </a:r>
              <a:endParaRPr lang="en-US" sz="541" dirty="0"/>
            </a:p>
          </p:txBody>
        </p:sp>
        <p:sp>
          <p:nvSpPr>
            <p:cNvPr id="10" name="svg0_2"/>
            <p:cNvSpPr/>
            <p:nvPr/>
          </p:nvSpPr>
          <p:spPr>
            <a:xfrm>
              <a:off x="1645920" y="2631826"/>
              <a:ext cx="0" cy="726582"/>
            </a:xfrm>
            <a:prstGeom prst="line">
              <a:avLst/>
            </a:prstGeom>
            <a:noFill/>
            <a:ln w="4953">
              <a:solidFill>
                <a:srgbClr val="E4E4E4"/>
              </a:solidFill>
              <a:prstDash val="solid"/>
            </a:ln>
          </p:spPr>
        </p:sp>
        <p:sp>
          <p:nvSpPr>
            <p:cNvPr id="11" name="svg0_3"/>
            <p:cNvSpPr txBox="1"/>
            <p:nvPr/>
          </p:nvSpPr>
          <p:spPr>
            <a:xfrm>
              <a:off x="1518087" y="3360694"/>
              <a:ext cx="259872"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26.500</a:t>
              </a:r>
              <a:endParaRPr lang="en-US" sz="541" dirty="0"/>
            </a:p>
          </p:txBody>
        </p:sp>
        <p:sp>
          <p:nvSpPr>
            <p:cNvPr id="12" name="svg0_4"/>
            <p:cNvSpPr/>
            <p:nvPr/>
          </p:nvSpPr>
          <p:spPr>
            <a:xfrm>
              <a:off x="1934596" y="2631826"/>
              <a:ext cx="0" cy="726582"/>
            </a:xfrm>
            <a:prstGeom prst="line">
              <a:avLst/>
            </a:prstGeom>
            <a:noFill/>
            <a:ln w="4953">
              <a:solidFill>
                <a:srgbClr val="E4E4E4"/>
              </a:solidFill>
              <a:prstDash val="solid"/>
            </a:ln>
          </p:spPr>
        </p:sp>
        <p:sp>
          <p:nvSpPr>
            <p:cNvPr id="13" name="svg0_5"/>
            <p:cNvSpPr txBox="1"/>
            <p:nvPr/>
          </p:nvSpPr>
          <p:spPr>
            <a:xfrm>
              <a:off x="1806672" y="3360694"/>
              <a:ext cx="259872"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27.500</a:t>
              </a:r>
              <a:endParaRPr lang="en-US" sz="541" dirty="0"/>
            </a:p>
          </p:txBody>
        </p:sp>
        <p:sp>
          <p:nvSpPr>
            <p:cNvPr id="14" name="svg0_6"/>
            <p:cNvSpPr/>
            <p:nvPr/>
          </p:nvSpPr>
          <p:spPr>
            <a:xfrm>
              <a:off x="2223546" y="2631826"/>
              <a:ext cx="0" cy="726582"/>
            </a:xfrm>
            <a:prstGeom prst="line">
              <a:avLst/>
            </a:prstGeom>
            <a:noFill/>
            <a:ln w="4953">
              <a:solidFill>
                <a:srgbClr val="E4E4E4"/>
              </a:solidFill>
              <a:prstDash val="solid"/>
            </a:ln>
          </p:spPr>
        </p:sp>
        <p:sp>
          <p:nvSpPr>
            <p:cNvPr id="15" name="svg0_7"/>
            <p:cNvSpPr txBox="1"/>
            <p:nvPr/>
          </p:nvSpPr>
          <p:spPr>
            <a:xfrm>
              <a:off x="2095439" y="3360694"/>
              <a:ext cx="259872" cy="104790"/>
            </a:xfrm>
            <a:prstGeom prst="rect">
              <a:avLst/>
            </a:prstGeom>
            <a:noFill/>
            <a:ln/>
          </p:spPr>
          <p:txBody>
            <a:bodyPr wrap="none" lIns="0" tIns="0" rIns="0" bIns="0" rtlCol="0" anchor="ctr"/>
            <a:lstStyle/>
            <a:p>
              <a:pPr algn="ctr" indent="0" marL="0">
                <a:buNone/>
              </a:pPr>
              <a:r>
                <a:rPr lang="en-US" sz="541" dirty="0">
                  <a:solidFill>
                    <a:srgbClr val="666666"/>
                  </a:solidFill>
                  <a:latin typeface="Calibri" pitchFamily="34" charset="0"/>
                  <a:ea typeface="Calibri" pitchFamily="34" charset="-122"/>
                  <a:cs typeface="Calibri" pitchFamily="34" charset="-120"/>
                </a:rPr>
                <a:t>28.500</a:t>
              </a:r>
              <a:endParaRPr lang="en-US" sz="541" dirty="0"/>
            </a:p>
          </p:txBody>
        </p:sp>
        <p:sp>
          <p:nvSpPr>
            <p:cNvPr id="16" name="svg0_8"/>
            <p:cNvSpPr txBox="1"/>
            <p:nvPr/>
          </p:nvSpPr>
          <p:spPr>
            <a:xfrm>
              <a:off x="300106" y="2651851"/>
              <a:ext cx="989198"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Liên ngân hàng cuối 8/2026</a:t>
              </a:r>
              <a:endParaRPr lang="en-US" sz="588" dirty="0"/>
            </a:p>
          </p:txBody>
        </p:sp>
        <p:sp>
          <p:nvSpPr>
            <p:cNvPr id="17" name="svg0_9"/>
            <p:cNvSpPr/>
            <p:nvPr/>
          </p:nvSpPr>
          <p:spPr>
            <a:xfrm>
              <a:off x="1328257" y="2700589"/>
              <a:ext cx="981883" cy="0"/>
            </a:xfrm>
            <a:prstGeom prst="line">
              <a:avLst/>
            </a:prstGeom>
            <a:noFill/>
            <a:ln w="5842">
              <a:solidFill>
                <a:srgbClr val="F0F0F0"/>
              </a:solidFill>
              <a:prstDash val="solid"/>
            </a:ln>
          </p:spPr>
        </p:sp>
        <p:sp>
          <p:nvSpPr>
            <p:cNvPr id="18" name="svg0_10"/>
            <p:cNvSpPr/>
            <p:nvPr/>
          </p:nvSpPr>
          <p:spPr>
            <a:xfrm>
              <a:off x="1496050" y="2671237"/>
              <a:ext cx="58887" cy="58887"/>
            </a:xfrm>
            <a:prstGeom prst="ellipse">
              <a:avLst/>
            </a:prstGeom>
            <a:solidFill>
              <a:srgbClr val="A3A3A3"/>
            </a:solidFill>
            <a:ln w="7874">
              <a:solidFill>
                <a:srgbClr val="FFFFFF"/>
              </a:solidFill>
              <a:prstDash val="solid"/>
            </a:ln>
          </p:spPr>
        </p:sp>
        <p:sp>
          <p:nvSpPr>
            <p:cNvPr id="19" name="svg0_11"/>
            <p:cNvSpPr txBox="1"/>
            <p:nvPr/>
          </p:nvSpPr>
          <p:spPr>
            <a:xfrm>
              <a:off x="1569842" y="2651851"/>
              <a:ext cx="217902"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26.083</a:t>
              </a:r>
              <a:endParaRPr lang="en-US" sz="557" dirty="0"/>
            </a:p>
          </p:txBody>
        </p:sp>
        <p:sp>
          <p:nvSpPr>
            <p:cNvPr id="20" name="svg0_12"/>
            <p:cNvSpPr txBox="1"/>
            <p:nvPr/>
          </p:nvSpPr>
          <p:spPr>
            <a:xfrm>
              <a:off x="513984" y="2769718"/>
              <a:ext cx="775320"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Trung tâm 22/9/2026</a:t>
              </a:r>
              <a:endParaRPr lang="en-US" sz="588" dirty="0"/>
            </a:p>
          </p:txBody>
        </p:sp>
        <p:sp>
          <p:nvSpPr>
            <p:cNvPr id="21" name="svg0_13"/>
            <p:cNvSpPr/>
            <p:nvPr/>
          </p:nvSpPr>
          <p:spPr>
            <a:xfrm>
              <a:off x="1328257" y="2818364"/>
              <a:ext cx="981883" cy="0"/>
            </a:xfrm>
            <a:prstGeom prst="line">
              <a:avLst/>
            </a:prstGeom>
            <a:noFill/>
            <a:ln w="5842">
              <a:solidFill>
                <a:srgbClr val="F0F0F0"/>
              </a:solidFill>
              <a:prstDash val="solid"/>
            </a:ln>
          </p:spPr>
        </p:sp>
        <p:sp>
          <p:nvSpPr>
            <p:cNvPr id="22" name="svg0_14"/>
            <p:cNvSpPr/>
            <p:nvPr/>
          </p:nvSpPr>
          <p:spPr>
            <a:xfrm>
              <a:off x="1368125" y="2788920"/>
              <a:ext cx="58887" cy="58887"/>
            </a:xfrm>
            <a:prstGeom prst="ellipse">
              <a:avLst/>
            </a:prstGeom>
            <a:solidFill>
              <a:srgbClr val="A3A3A3"/>
            </a:solidFill>
            <a:ln w="7874">
              <a:solidFill>
                <a:srgbClr val="FFFFFF"/>
              </a:solidFill>
              <a:prstDash val="solid"/>
            </a:ln>
          </p:spPr>
        </p:sp>
        <p:sp>
          <p:nvSpPr>
            <p:cNvPr id="23" name="svg0_15"/>
            <p:cNvSpPr txBox="1"/>
            <p:nvPr/>
          </p:nvSpPr>
          <p:spPr>
            <a:xfrm>
              <a:off x="1442192" y="2769718"/>
              <a:ext cx="217902"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25.640</a:t>
              </a:r>
              <a:endParaRPr lang="en-US" sz="557" dirty="0"/>
            </a:p>
          </p:txBody>
        </p:sp>
        <p:sp>
          <p:nvSpPr>
            <p:cNvPr id="24" name="svg0_16"/>
            <p:cNvSpPr txBox="1"/>
            <p:nvPr/>
          </p:nvSpPr>
          <p:spPr>
            <a:xfrm>
              <a:off x="261427" y="2887492"/>
              <a:ext cx="1027877"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Vietcombank bán 22/9/2026</a:t>
              </a:r>
              <a:endParaRPr lang="en-US" sz="588" dirty="0"/>
            </a:p>
          </p:txBody>
        </p:sp>
        <p:sp>
          <p:nvSpPr>
            <p:cNvPr id="25" name="svg0_17"/>
            <p:cNvSpPr/>
            <p:nvPr/>
          </p:nvSpPr>
          <p:spPr>
            <a:xfrm>
              <a:off x="1328257" y="2936138"/>
              <a:ext cx="981883" cy="0"/>
            </a:xfrm>
            <a:prstGeom prst="line">
              <a:avLst/>
            </a:prstGeom>
            <a:noFill/>
            <a:ln w="5842">
              <a:solidFill>
                <a:srgbClr val="F0F0F0"/>
              </a:solidFill>
              <a:prstDash val="solid"/>
            </a:ln>
          </p:spPr>
        </p:sp>
        <p:sp>
          <p:nvSpPr>
            <p:cNvPr id="26" name="svg0_18"/>
            <p:cNvSpPr/>
            <p:nvPr/>
          </p:nvSpPr>
          <p:spPr>
            <a:xfrm>
              <a:off x="1532717" y="2906786"/>
              <a:ext cx="58887" cy="58887"/>
            </a:xfrm>
            <a:prstGeom prst="ellipse">
              <a:avLst/>
            </a:prstGeom>
            <a:solidFill>
              <a:srgbClr val="A3A3A3"/>
            </a:solidFill>
            <a:ln w="7874">
              <a:solidFill>
                <a:srgbClr val="FFFFFF"/>
              </a:solidFill>
              <a:prstDash val="solid"/>
            </a:ln>
          </p:spPr>
        </p:sp>
        <p:sp>
          <p:nvSpPr>
            <p:cNvPr id="27" name="svg0_19"/>
            <p:cNvSpPr txBox="1"/>
            <p:nvPr/>
          </p:nvSpPr>
          <p:spPr>
            <a:xfrm>
              <a:off x="1606144" y="2887492"/>
              <a:ext cx="217902"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26.210</a:t>
              </a:r>
              <a:endParaRPr lang="en-US" sz="557" dirty="0"/>
            </a:p>
          </p:txBody>
        </p:sp>
        <p:sp>
          <p:nvSpPr>
            <p:cNvPr id="28" name="svg0_20"/>
            <p:cNvSpPr txBox="1"/>
            <p:nvPr/>
          </p:nvSpPr>
          <p:spPr>
            <a:xfrm>
              <a:off x="472653" y="3005358"/>
              <a:ext cx="816651"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MBS dự báo cuối 2026</a:t>
              </a:r>
              <a:endParaRPr lang="en-US" sz="588" dirty="0"/>
            </a:p>
          </p:txBody>
        </p:sp>
        <p:sp>
          <p:nvSpPr>
            <p:cNvPr id="29" name="svg0_21"/>
            <p:cNvSpPr/>
            <p:nvPr/>
          </p:nvSpPr>
          <p:spPr>
            <a:xfrm>
              <a:off x="1328257" y="3054005"/>
              <a:ext cx="981883" cy="0"/>
            </a:xfrm>
            <a:prstGeom prst="line">
              <a:avLst/>
            </a:prstGeom>
            <a:noFill/>
            <a:ln w="5842">
              <a:solidFill>
                <a:srgbClr val="F0F0F0"/>
              </a:solidFill>
              <a:prstDash val="solid"/>
            </a:ln>
          </p:spPr>
        </p:sp>
        <p:sp>
          <p:nvSpPr>
            <p:cNvPr id="30" name="svg0_22"/>
            <p:cNvSpPr/>
            <p:nvPr/>
          </p:nvSpPr>
          <p:spPr>
            <a:xfrm>
              <a:off x="1732605" y="3054005"/>
              <a:ext cx="57699" cy="0"/>
            </a:xfrm>
            <a:prstGeom prst="line">
              <a:avLst/>
            </a:prstGeom>
            <a:noFill/>
            <a:ln w="31369">
              <a:solidFill>
                <a:srgbClr val="404040"/>
              </a:solidFill>
              <a:prstDash val="solid"/>
            </a:ln>
          </p:spPr>
        </p:sp>
        <p:sp>
          <p:nvSpPr>
            <p:cNvPr id="31" name="svg0_23"/>
            <p:cNvSpPr txBox="1"/>
            <p:nvPr/>
          </p:nvSpPr>
          <p:spPr>
            <a:xfrm>
              <a:off x="1820113" y="3005358"/>
              <a:ext cx="449702" cy="104790"/>
            </a:xfrm>
            <a:prstGeom prst="rect">
              <a:avLst/>
            </a:prstGeom>
            <a:solidFill>
              <a:srgbClr val="FFFFFF"/>
            </a:solidFill>
            <a:ln/>
          </p:spPr>
          <p:txBody>
            <a:bodyPr wrap="none" lIns="0" tIns="0" rIns="0" bIns="0" rtlCol="0" anchor="ctr"/>
            <a:lstStyle/>
            <a:p>
              <a:pPr algn="l" indent="0" marL="0">
                <a:buNone/>
              </a:pPr>
              <a:r>
                <a:rPr lang="en-US" sz="557" dirty="0">
                  <a:solidFill>
                    <a:srgbClr val="262626"/>
                  </a:solidFill>
                  <a:latin typeface="Calibri" pitchFamily="34" charset="0"/>
                  <a:ea typeface="Calibri" pitchFamily="34" charset="-122"/>
                  <a:cs typeface="Calibri" pitchFamily="34" charset="-120"/>
                </a:rPr>
                <a:t>26.800–27.000</a:t>
              </a:r>
              <a:endParaRPr lang="en-US" sz="557" dirty="0"/>
            </a:p>
          </p:txBody>
        </p:sp>
        <p:sp>
          <p:nvSpPr>
            <p:cNvPr id="32" name="svg0_24"/>
            <p:cNvSpPr txBox="1"/>
            <p:nvPr/>
          </p:nvSpPr>
          <p:spPr>
            <a:xfrm>
              <a:off x="322235" y="3123133"/>
              <a:ext cx="968441" cy="104790"/>
            </a:xfrm>
            <a:prstGeom prst="rect">
              <a:avLst/>
            </a:prstGeom>
            <a:noFill/>
            <a:ln/>
          </p:spPr>
          <p:txBody>
            <a:bodyPr wrap="none" lIns="0" tIns="0" rIns="0" bIns="0" rtlCol="0" anchor="ctr"/>
            <a:lstStyle/>
            <a:p>
              <a:pPr algn="r" indent="0" marL="0">
                <a:buNone/>
              </a:pPr>
              <a:r>
                <a:rPr lang="en-US" sz="588" b="1" dirty="0">
                  <a:solidFill>
                    <a:srgbClr val="262626"/>
                  </a:solidFill>
                  <a:latin typeface="Calibri" pitchFamily="34" charset="0"/>
                  <a:ea typeface="Calibri" pitchFamily="34" charset="-122"/>
                  <a:cs typeface="Calibri" pitchFamily="34" charset="-120"/>
                </a:rPr>
                <a:t>Mô hình: bình quân 2026E</a:t>
              </a:r>
              <a:endParaRPr lang="en-US" sz="588" dirty="0"/>
            </a:p>
          </p:txBody>
        </p:sp>
        <p:sp>
          <p:nvSpPr>
            <p:cNvPr id="33" name="svg0_25"/>
            <p:cNvSpPr/>
            <p:nvPr/>
          </p:nvSpPr>
          <p:spPr>
            <a:xfrm>
              <a:off x="1328257" y="3171871"/>
              <a:ext cx="981883" cy="0"/>
            </a:xfrm>
            <a:prstGeom prst="line">
              <a:avLst/>
            </a:prstGeom>
            <a:noFill/>
            <a:ln w="5842">
              <a:solidFill>
                <a:srgbClr val="F0F0F0"/>
              </a:solidFill>
              <a:prstDash val="solid"/>
            </a:ln>
          </p:spPr>
        </p:sp>
        <p:sp>
          <p:nvSpPr>
            <p:cNvPr id="34" name="svg0_26"/>
            <p:cNvSpPr/>
            <p:nvPr/>
          </p:nvSpPr>
          <p:spPr>
            <a:xfrm>
              <a:off x="1558778" y="3142427"/>
              <a:ext cx="58887" cy="58887"/>
            </a:xfrm>
            <a:prstGeom prst="ellipse">
              <a:avLst/>
            </a:prstGeom>
            <a:solidFill>
              <a:srgbClr val="7B1E2B"/>
            </a:solidFill>
            <a:ln w="7874">
              <a:solidFill>
                <a:srgbClr val="FFFFFF"/>
              </a:solidFill>
              <a:prstDash val="solid"/>
            </a:ln>
          </p:spPr>
        </p:sp>
        <p:sp>
          <p:nvSpPr>
            <p:cNvPr id="35" name="svg0_27"/>
            <p:cNvSpPr txBox="1"/>
            <p:nvPr/>
          </p:nvSpPr>
          <p:spPr>
            <a:xfrm>
              <a:off x="1632661" y="3123133"/>
              <a:ext cx="218999" cy="104790"/>
            </a:xfrm>
            <a:prstGeom prst="rect">
              <a:avLst/>
            </a:prstGeom>
            <a:solidFill>
              <a:srgbClr val="FFFFFF"/>
            </a:solidFill>
            <a:ln/>
          </p:spPr>
          <p:txBody>
            <a:bodyPr wrap="none" lIns="0" tIns="0" rIns="0" bIns="0" rtlCol="0" anchor="ctr"/>
            <a:lstStyle/>
            <a:p>
              <a:pPr algn="l" indent="0" marL="0">
                <a:buNone/>
              </a:pPr>
              <a:r>
                <a:rPr lang="en-US" sz="557" b="1" dirty="0">
                  <a:solidFill>
                    <a:srgbClr val="262626"/>
                  </a:solidFill>
                  <a:latin typeface="Calibri" pitchFamily="34" charset="0"/>
                  <a:ea typeface="Calibri" pitchFamily="34" charset="-122"/>
                  <a:cs typeface="Calibri" pitchFamily="34" charset="-120"/>
                </a:rPr>
                <a:t>26.300</a:t>
              </a:r>
              <a:endParaRPr lang="en-US" sz="557" dirty="0"/>
            </a:p>
          </p:txBody>
        </p:sp>
        <p:sp>
          <p:nvSpPr>
            <p:cNvPr id="36" name="svg0_28"/>
            <p:cNvSpPr txBox="1"/>
            <p:nvPr/>
          </p:nvSpPr>
          <p:spPr>
            <a:xfrm>
              <a:off x="322235" y="3240999"/>
              <a:ext cx="968441" cy="104790"/>
            </a:xfrm>
            <a:prstGeom prst="rect">
              <a:avLst/>
            </a:prstGeom>
            <a:noFill/>
            <a:ln/>
          </p:spPr>
          <p:txBody>
            <a:bodyPr wrap="none" lIns="0" tIns="0" rIns="0" bIns="0" rtlCol="0" anchor="ctr"/>
            <a:lstStyle/>
            <a:p>
              <a:pPr algn="r" indent="0" marL="0">
                <a:buNone/>
              </a:pPr>
              <a:r>
                <a:rPr lang="en-US" sz="588" b="1" dirty="0">
                  <a:solidFill>
                    <a:srgbClr val="262626"/>
                  </a:solidFill>
                  <a:latin typeface="Calibri" pitchFamily="34" charset="0"/>
                  <a:ea typeface="Calibri" pitchFamily="34" charset="-122"/>
                  <a:cs typeface="Calibri" pitchFamily="34" charset="-120"/>
                </a:rPr>
                <a:t>Mô hình: bình quân 2030E</a:t>
              </a:r>
              <a:endParaRPr lang="en-US" sz="588" dirty="0"/>
            </a:p>
          </p:txBody>
        </p:sp>
        <p:sp>
          <p:nvSpPr>
            <p:cNvPr id="37" name="svg0_29"/>
            <p:cNvSpPr/>
            <p:nvPr/>
          </p:nvSpPr>
          <p:spPr>
            <a:xfrm>
              <a:off x="1328257" y="3289645"/>
              <a:ext cx="981883" cy="0"/>
            </a:xfrm>
            <a:prstGeom prst="line">
              <a:avLst/>
            </a:prstGeom>
            <a:noFill/>
            <a:ln w="5842">
              <a:solidFill>
                <a:srgbClr val="F0F0F0"/>
              </a:solidFill>
              <a:prstDash val="solid"/>
            </a:ln>
          </p:spPr>
        </p:sp>
        <p:sp>
          <p:nvSpPr>
            <p:cNvPr id="38" name="svg0_30"/>
            <p:cNvSpPr/>
            <p:nvPr/>
          </p:nvSpPr>
          <p:spPr>
            <a:xfrm>
              <a:off x="2184776" y="3260202"/>
              <a:ext cx="58887" cy="58887"/>
            </a:xfrm>
            <a:prstGeom prst="ellipse">
              <a:avLst/>
            </a:prstGeom>
            <a:solidFill>
              <a:srgbClr val="7B1E2B"/>
            </a:solidFill>
            <a:ln w="7874">
              <a:solidFill>
                <a:srgbClr val="FFFFFF"/>
              </a:solidFill>
              <a:prstDash val="solid"/>
            </a:ln>
          </p:spPr>
        </p:sp>
        <p:sp>
          <p:nvSpPr>
            <p:cNvPr id="39" name="svg0_31"/>
            <p:cNvSpPr txBox="1"/>
            <p:nvPr/>
          </p:nvSpPr>
          <p:spPr>
            <a:xfrm>
              <a:off x="2258019" y="3240999"/>
              <a:ext cx="218999" cy="104790"/>
            </a:xfrm>
            <a:prstGeom prst="rect">
              <a:avLst/>
            </a:prstGeom>
            <a:solidFill>
              <a:srgbClr val="FFFFFF"/>
            </a:solidFill>
            <a:ln/>
          </p:spPr>
          <p:txBody>
            <a:bodyPr wrap="none" lIns="0" tIns="0" rIns="0" bIns="0" rtlCol="0" anchor="ctr"/>
            <a:lstStyle/>
            <a:p>
              <a:pPr algn="l" indent="0" marL="0">
                <a:buNone/>
              </a:pPr>
              <a:r>
                <a:rPr lang="en-US" sz="557" b="1" dirty="0">
                  <a:solidFill>
                    <a:srgbClr val="262626"/>
                  </a:solidFill>
                  <a:latin typeface="Calibri" pitchFamily="34" charset="0"/>
                  <a:ea typeface="Calibri" pitchFamily="34" charset="-122"/>
                  <a:cs typeface="Calibri" pitchFamily="34" charset="-120"/>
                </a:rPr>
                <a:t>28.468</a:t>
              </a:r>
              <a:endParaRPr lang="en-US" sz="557" dirty="0"/>
            </a:p>
          </p:txBody>
        </p:sp>
      </p:grpSp>
      <p:grpSp>
        <p:nvGrpSpPr>
          <p:cNvPr id="85" name="Fig. 23 – biểu đồ"/>
          <p:cNvGrpSpPr/>
          <p:nvPr/>
        </p:nvGrpSpPr>
        <p:grpSpPr>
          <a:xfrm>
            <a:off x="444856" y="4052072"/>
            <a:ext cx="2081083" cy="768096"/>
            <a:chOff x="444856" y="4052072"/>
            <a:chExt cx="2081083" cy="768096"/>
          </a:xfrm>
        </p:grpSpPr>
        <p:sp>
          <p:nvSpPr>
            <p:cNvPr id="40" name="svg1_32"/>
            <p:cNvSpPr/>
            <p:nvPr/>
          </p:nvSpPr>
          <p:spPr>
            <a:xfrm>
              <a:off x="543702" y="4161252"/>
              <a:ext cx="322509" cy="539953"/>
            </a:xfrm>
            <a:prstGeom prst="rect">
              <a:avLst/>
            </a:prstGeom>
            <a:solidFill>
              <a:srgbClr val="A3A3A3"/>
            </a:solidFill>
            <a:ln/>
          </p:spPr>
        </p:sp>
        <p:sp>
          <p:nvSpPr>
            <p:cNvPr id="41" name="svg1_33"/>
            <p:cNvSpPr txBox="1"/>
            <p:nvPr/>
          </p:nvSpPr>
          <p:spPr>
            <a:xfrm>
              <a:off x="614111" y="4052072"/>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634</a:t>
              </a:r>
              <a:endParaRPr lang="en-US" sz="649" dirty="0"/>
            </a:p>
          </p:txBody>
        </p:sp>
        <p:sp>
          <p:nvSpPr>
            <p:cNvPr id="42" name="svg1_34"/>
            <p:cNvSpPr txBox="1"/>
            <p:nvPr/>
          </p:nvSpPr>
          <p:spPr>
            <a:xfrm>
              <a:off x="599664" y="4715378"/>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2022</a:t>
              </a:r>
              <a:endParaRPr lang="en-US" sz="587" dirty="0"/>
            </a:p>
          </p:txBody>
        </p:sp>
        <p:sp>
          <p:nvSpPr>
            <p:cNvPr id="43" name="svg1_35"/>
            <p:cNvSpPr/>
            <p:nvPr/>
          </p:nvSpPr>
          <p:spPr>
            <a:xfrm>
              <a:off x="1063904" y="4250680"/>
              <a:ext cx="322600" cy="450525"/>
            </a:xfrm>
            <a:prstGeom prst="rect">
              <a:avLst/>
            </a:prstGeom>
            <a:solidFill>
              <a:srgbClr val="A3A3A3"/>
            </a:solidFill>
            <a:ln/>
          </p:spPr>
        </p:sp>
        <p:sp>
          <p:nvSpPr>
            <p:cNvPr id="44" name="svg1_36"/>
            <p:cNvSpPr txBox="1"/>
            <p:nvPr/>
          </p:nvSpPr>
          <p:spPr>
            <a:xfrm>
              <a:off x="1134405" y="4141409"/>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529</a:t>
              </a:r>
              <a:endParaRPr lang="en-US" sz="649" dirty="0"/>
            </a:p>
          </p:txBody>
        </p:sp>
        <p:sp>
          <p:nvSpPr>
            <p:cNvPr id="45" name="svg1_37"/>
            <p:cNvSpPr txBox="1"/>
            <p:nvPr/>
          </p:nvSpPr>
          <p:spPr>
            <a:xfrm>
              <a:off x="1120049" y="4715378"/>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2023</a:t>
              </a:r>
              <a:endParaRPr lang="en-US" sz="587" dirty="0"/>
            </a:p>
          </p:txBody>
        </p:sp>
        <p:sp>
          <p:nvSpPr>
            <p:cNvPr id="46" name="svg1_38"/>
            <p:cNvSpPr/>
            <p:nvPr/>
          </p:nvSpPr>
          <p:spPr>
            <a:xfrm>
              <a:off x="1584198" y="4362511"/>
              <a:ext cx="322600" cy="338694"/>
            </a:xfrm>
            <a:prstGeom prst="rect">
              <a:avLst/>
            </a:prstGeom>
            <a:solidFill>
              <a:srgbClr val="A3A3A3"/>
            </a:solidFill>
            <a:ln/>
          </p:spPr>
        </p:sp>
        <p:sp>
          <p:nvSpPr>
            <p:cNvPr id="47" name="svg1_39"/>
            <p:cNvSpPr txBox="1"/>
            <p:nvPr/>
          </p:nvSpPr>
          <p:spPr>
            <a:xfrm>
              <a:off x="1654790" y="4253332"/>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398</a:t>
              </a:r>
              <a:endParaRPr lang="en-US" sz="649" dirty="0"/>
            </a:p>
          </p:txBody>
        </p:sp>
        <p:sp>
          <p:nvSpPr>
            <p:cNvPr id="48" name="svg1_40"/>
            <p:cNvSpPr txBox="1"/>
            <p:nvPr/>
          </p:nvSpPr>
          <p:spPr>
            <a:xfrm>
              <a:off x="1640251" y="4715378"/>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2024</a:t>
              </a:r>
              <a:endParaRPr lang="en-US" sz="587" dirty="0"/>
            </a:p>
          </p:txBody>
        </p:sp>
        <p:sp>
          <p:nvSpPr>
            <p:cNvPr id="49" name="svg1_41"/>
            <p:cNvSpPr/>
            <p:nvPr/>
          </p:nvSpPr>
          <p:spPr>
            <a:xfrm>
              <a:off x="2104583" y="4267779"/>
              <a:ext cx="322600" cy="433517"/>
            </a:xfrm>
            <a:prstGeom prst="rect">
              <a:avLst/>
            </a:prstGeom>
            <a:solidFill>
              <a:srgbClr val="7B1E2B"/>
            </a:solidFill>
            <a:ln/>
          </p:spPr>
        </p:sp>
        <p:sp>
          <p:nvSpPr>
            <p:cNvPr id="50" name="svg1_42"/>
            <p:cNvSpPr txBox="1"/>
            <p:nvPr/>
          </p:nvSpPr>
          <p:spPr>
            <a:xfrm>
              <a:off x="2174992" y="4158051"/>
              <a:ext cx="18754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509</a:t>
              </a:r>
              <a:endParaRPr lang="en-US" sz="649" dirty="0"/>
            </a:p>
          </p:txBody>
        </p:sp>
        <p:sp>
          <p:nvSpPr>
            <p:cNvPr id="51" name="svg1_43"/>
            <p:cNvSpPr txBox="1"/>
            <p:nvPr/>
          </p:nvSpPr>
          <p:spPr>
            <a:xfrm>
              <a:off x="2160544" y="4715378"/>
              <a:ext cx="21076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2025</a:t>
              </a:r>
              <a:endParaRPr lang="en-US" sz="587" dirty="0"/>
            </a:p>
          </p:txBody>
        </p:sp>
        <p:sp>
          <p:nvSpPr>
            <p:cNvPr id="52" name="svg1_44"/>
            <p:cNvSpPr/>
            <p:nvPr/>
          </p:nvSpPr>
          <p:spPr>
            <a:xfrm>
              <a:off x="444856" y="4701296"/>
              <a:ext cx="2081083" cy="0"/>
            </a:xfrm>
            <a:prstGeom prst="line">
              <a:avLst/>
            </a:prstGeom>
            <a:noFill/>
            <a:ln w="6858">
              <a:solidFill>
                <a:srgbClr val="8C8C8C"/>
              </a:solidFill>
              <a:prstDash val="solid"/>
            </a:ln>
          </p:spPr>
        </p:sp>
      </p:grpSp>
      <p:sp>
        <p:nvSpPr>
          <p:cNvPr id="53" name="Text 50"/>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54" name="Text 51"/>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55" name="Text 52"/>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Lãi suất cho vay 8,1–10,5%: mô hình dùng chi phí nợ 10%</a:t>
            </a:r>
            <a:endParaRPr lang="en-US" sz="720" dirty="0"/>
          </a:p>
        </p:txBody>
      </p:sp>
      <p:sp>
        <p:nvSpPr>
          <p:cNvPr id="56" name="Text 53"/>
          <p:cNvSpPr txBox="1"/>
          <p:nvPr/>
        </p:nvSpPr>
        <p:spPr>
          <a:xfrm>
            <a:off x="405354" y="1953158"/>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NHNN (2026); Thanh tra (2026); NATIF (2026) – số liệu trong bài của nhóm; Kd: sheet Discount rate</a:t>
            </a:r>
            <a:endParaRPr lang="en-US" sz="600" dirty="0"/>
          </a:p>
        </p:txBody>
      </p:sp>
      <p:sp>
        <p:nvSpPr>
          <p:cNvPr id="57" name="Text 54"/>
          <p:cNvSpPr txBox="1"/>
          <p:nvPr/>
        </p:nvSpPr>
        <p:spPr>
          <a:xfrm>
            <a:off x="405354" y="2249881"/>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Tỷ giá dự báo 26.800–27.000 cuối 2026; mô hình giả định VND mất giá 2%/năm</a:t>
            </a:r>
            <a:endParaRPr lang="en-US" sz="720" dirty="0"/>
          </a:p>
        </p:txBody>
      </p:sp>
      <p:sp>
        <p:nvSpPr>
          <p:cNvPr id="58" name="Text 55"/>
          <p:cNvSpPr txBox="1"/>
          <p:nvPr/>
        </p:nvSpPr>
        <p:spPr>
          <a:xfrm>
            <a:off x="405354" y="2486894"/>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VND/USD</a:t>
            </a:r>
            <a:endParaRPr lang="en-US" sz="630" dirty="0"/>
          </a:p>
        </p:txBody>
      </p:sp>
      <p:sp>
        <p:nvSpPr>
          <p:cNvPr id="59" name="Text 56"/>
          <p:cNvSpPr txBox="1"/>
          <p:nvPr/>
        </p:nvSpPr>
        <p:spPr>
          <a:xfrm>
            <a:off x="405354" y="3513673"/>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Tạp chí Kinh tế – Tài chính (2026); Thời báo Tài chính Việt Nam (2026), MBS Research; mô hình (Drivers)</a:t>
            </a:r>
            <a:endParaRPr lang="en-US" sz="600" dirty="0"/>
          </a:p>
        </p:txBody>
      </p:sp>
      <p:sp>
        <p:nvSpPr>
          <p:cNvPr id="60" name="Text 57"/>
          <p:cNvSpPr txBox="1"/>
          <p:nvPr/>
        </p:nvSpPr>
        <p:spPr>
          <a:xfrm>
            <a:off x="405354" y="3810305"/>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Vốn VC phục hồi 28% năm 2025 sau ba năm giảm</a:t>
            </a:r>
            <a:endParaRPr lang="en-US" sz="720" dirty="0"/>
          </a:p>
        </p:txBody>
      </p:sp>
      <p:sp>
        <p:nvSpPr>
          <p:cNvPr id="61" name="Text 58"/>
          <p:cNvSpPr txBox="1"/>
          <p:nvPr/>
        </p:nvSpPr>
        <p:spPr>
          <a:xfrm>
            <a:off x="405354" y="3937864"/>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Triệu USD</a:t>
            </a:r>
            <a:endParaRPr lang="en-US" sz="630" dirty="0"/>
          </a:p>
        </p:txBody>
      </p:sp>
      <p:sp>
        <p:nvSpPr>
          <p:cNvPr id="62" name="Text 59"/>
          <p:cNvSpPr txBox="1"/>
          <p:nvPr/>
        </p:nvSpPr>
        <p:spPr>
          <a:xfrm>
            <a:off x="405354" y="4836902"/>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NIC &amp; DO Ventures (2023, 2024); BCG, NIC &amp; VPCA (2026); 2024 suy ra từ mức tăng 28%</a:t>
            </a:r>
            <a:endParaRPr lang="en-US" sz="600" dirty="0"/>
          </a:p>
        </p:txBody>
      </p:sp>
      <p:sp>
        <p:nvSpPr>
          <p:cNvPr id="63" name="Text 60"/>
          <p:cNvSpPr txBox="1"/>
          <p:nvPr/>
        </p:nvSpPr>
        <p:spPr>
          <a:xfrm>
            <a:off x="2745303" y="558058"/>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Tuy nhiên, việc sử dụng bã mía và vỏ trứng vẫn tạo ra một lợi thế nhất định trong bối cảnh lạm phát. Startup ít phụ thuộc vào các nguyên liệu nguyên sinh có giá chịu ảnh hưởng trực tiếp từ thị trường hàng hóa quốc tế, qua đó giảm một phần rủi ro biến động chi phí nguyên liệu. Do đó, áp lực lạm phát đối với startup năm 2026 tập trung nhiều hơn vào chi phí thu gom, vận chuyển, xử lý và năng lượng thay vì giá nguyên liệu chính.</a:t>
            </a:r>
            <a:endParaRPr lang="en-US" sz="850" dirty="0"/>
          </a:p>
        </p:txBody>
      </p:sp>
      <p:sp>
        <p:nvSpPr>
          <p:cNvPr id="64" name="Text 61"/>
          <p:cNvSpPr txBox="1"/>
          <p:nvPr/>
        </p:nvSpPr>
        <p:spPr>
          <a:xfrm>
            <a:off x="2745303" y="1253551"/>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3.1.3. Lãi suất</a:t>
            </a:r>
            <a:endParaRPr lang="en-US" sz="820" dirty="0"/>
          </a:p>
        </p:txBody>
      </p:sp>
      <p:sp>
        <p:nvSpPr>
          <p:cNvPr id="65" name="Text 62"/>
          <p:cNvSpPr txBox="1"/>
          <p:nvPr/>
        </p:nvSpPr>
        <p:spPr>
          <a:xfrm>
            <a:off x="2745303" y="1400221"/>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Trong 6 tháng đầu năm 2026, NHNN tiếp tục giữ nguyên các mức lãi suất điều hành và định hướng ổn định mặt bằng lãi suất cho vay. Tuy nhiên, chi phí huy động vốn của ngân hàng có xu hướng tăng do tăng trưởng huy động thấp hơn tăng trưởng tín dụng, trong khi lãi suất cho vay chưa tăng tương ứng. Theo NHNN, trong tháng 6/2026, lãi suất cho vay VND bình quân đối với các khoản vay mới và dư nợ hiện hữu khoảng 8,1–10,5%/năm (Fig. 21).</a:t>
            </a:r>
            <a:endParaRPr lang="en-US" sz="850" dirty="0"/>
          </a:p>
        </p:txBody>
      </p:sp>
      <p:sp>
        <p:nvSpPr>
          <p:cNvPr id="66" name="Text 63"/>
          <p:cNvSpPr txBox="1"/>
          <p:nvPr/>
        </p:nvSpPr>
        <p:spPr>
          <a:xfrm>
            <a:off x="2745303" y="2095713"/>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startup sản xuất bao bì từ bã mía và vỏ trứng, mức lãi suất này có tác động trực tiếp đến chi phí đầu tư ban đầu do mô hình cần vốn cho máy móc, hệ thống sấy, nghiền, ép và tạo hình. Nếu phải vay ngân hàng với lãi suất 8,1–10,5%/năm, startup sẽ phát sinh chi phí lãi vay ngay cả khi dây chuyền chưa hoạt động hết công suất, làm tăng áp lực lên dòng tiền và thời gian hoàn vốn. Vì vậy, tỷ trọng vốn vay càng cao thì mức độ nhạy cảm của startup với lãi suất càng lớn.</a:t>
            </a:r>
            <a:endParaRPr lang="en-US" sz="850" dirty="0"/>
          </a:p>
        </p:txBody>
      </p:sp>
      <p:sp>
        <p:nvSpPr>
          <p:cNvPr id="67" name="Text 64"/>
          <p:cNvSpPr txBox="1"/>
          <p:nvPr/>
        </p:nvSpPr>
        <p:spPr>
          <a:xfrm>
            <a:off x="2745303" y="2791115"/>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Tuy nhiên, mặt bằng lãi suất cho vay chưa tăng mạnh trong năm 2026 giúp startup hạn chế được áp lực chi phí vốn trong ngắn hạn. Đồng thời, tín dụng dành cho DNNVV đang tăng: đến 28/8/2026, dư nợ DNNVV đạt trên 4,1 triệu tỷ đồng, tăng 12,4% so với cuối năm 2025. Dù vậy, startup mới thành lập vẫn có thể khó tiếp cận tín dụng do thiếu lịch sử tín dụng, dòng tiền ổn định và tài sản bảo đảm. Do đó, không thể mặc định rằng môi trường tín dụng thuận lợi sẽ giúp startup dễ vay vốn.</a:t>
            </a:r>
            <a:endParaRPr lang="en-US" sz="850" dirty="0"/>
          </a:p>
        </p:txBody>
      </p:sp>
      <p:sp>
        <p:nvSpPr>
          <p:cNvPr id="68" name="Text 65"/>
          <p:cNvSpPr txBox="1"/>
          <p:nvPr/>
        </p:nvSpPr>
        <p:spPr>
          <a:xfrm>
            <a:off x="2745303" y="3486607"/>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Lãi suất cũng ảnh hưởng đến khả năng huy động vốn từ nhà đầu tư. Khi lãi suất và lợi suất của các tài sản ít rủi ro tăng, chi phí cơ hội của việc đầu tư vào startup cũng tăng. Với một mô hình cần vốn lớn cho máy móc nhưng mất thời gian để đạt công suất và doanh thu ổn định, nhà đầu tư có thể yêu cầu doanh nghiệp chứng minh rõ hơn về chi phí sản xuất, doanh thu, biên lợi nhuận và thời gian hoàn vốn.</a:t>
            </a:r>
            <a:endParaRPr lang="en-US" sz="850" dirty="0"/>
          </a:p>
        </p:txBody>
      </p:sp>
      <p:sp>
        <p:nvSpPr>
          <p:cNvPr id="69" name="Text 66"/>
          <p:cNvSpPr txBox="1"/>
          <p:nvPr/>
        </p:nvSpPr>
        <p:spPr>
          <a:xfrm>
            <a:off x="2745303" y="4182008"/>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3.1.4. Tỷ giá</a:t>
            </a:r>
            <a:endParaRPr lang="en-US" sz="820" dirty="0"/>
          </a:p>
        </p:txBody>
      </p:sp>
      <p:sp>
        <p:nvSpPr>
          <p:cNvPr id="70" name="Text 67"/>
          <p:cNvSpPr txBox="1"/>
          <p:nvPr/>
        </p:nvSpPr>
        <p:spPr>
          <a:xfrm>
            <a:off x="2745303" y="4328678"/>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startup, bã mía và vỏ trứng dự kiến được thu mua trong nước, sản phẩm tiêu thụ nội địa nên rủi ro tỷ giá đối với hoạt động thường xuyên tương đối thấp. Tác động đáng chú ý chủ yếu xuất hiện khi doanh nghiệp nhập khẩu máy móc, dây chuyền hoặc thiết bị chuyên dụng.</a:t>
            </a:r>
            <a:endParaRPr lang="en-US" sz="850" dirty="0"/>
          </a:p>
        </p:txBody>
      </p:sp>
      <p:sp>
        <p:nvSpPr>
          <p:cNvPr id="71" name="Text 68"/>
          <p:cNvSpPr txBox="1"/>
          <p:nvPr/>
        </p:nvSpPr>
        <p:spPr>
          <a:xfrm>
            <a:off x="2745303" y="4761006"/>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tạp chí kinh tế-tài chính, trong tháng 8/2026, tỷ giá liên ngân hàng cuối tháng ở khoảng 26.083 VND/USD, giảm 0,8% so với cuối tháng 7. Tuy nhiên, đến ngày 22/9, tỷ giá trung tâm tăng lên 25.640 VND/USD, trong khi tỷ giá bán USD tại Vietcombank ở mức 26.210 VND/USD, cho thấy áp lực tỷ giá vẫn tồn tại (Fig. 22).</a:t>
            </a:r>
            <a:endParaRPr lang="en-US" sz="850" dirty="0"/>
          </a:p>
        </p:txBody>
      </p:sp>
      <p:sp>
        <p:nvSpPr>
          <p:cNvPr id="72" name="Text 69"/>
          <p:cNvSpPr txBox="1"/>
          <p:nvPr/>
        </p:nvSpPr>
        <p:spPr>
          <a:xfrm>
            <a:off x="2745303" y="5324917"/>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Nếu máy móc khi nhập khẩu được định giá bằng USD, việc VND mất giá sẽ làm tăng số tiền VND cần thanh toán. Theo MBS Research, tỷ giá USD/VND có thể đạt 26.800–27.000 VND/USD vào cuối năm 2026, cho thấy startup vẫn cần tính đến rủi ro tăng chi phí thiết bị nhập khẩu.</a:t>
            </a:r>
            <a:endParaRPr lang="en-US" sz="850" dirty="0"/>
          </a:p>
        </p:txBody>
      </p:sp>
      <p:sp>
        <p:nvSpPr>
          <p:cNvPr id="73" name="Text 70"/>
          <p:cNvSpPr txBox="1"/>
          <p:nvPr/>
        </p:nvSpPr>
        <p:spPr>
          <a:xfrm>
            <a:off x="2745303" y="5757337"/>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Nhìn chung, tỷ giá không phải yếu tố ảnh hưởng lớn đến chi phí hoạt động thường xuyên mà chủ yếu tác động đến vốn đầu tư khi startup nhập khẩu máy móc. Mức độ ảnh hưởng phụ thuộc vào giá trị thiết bị và thời điểm thanh toán ngoại tệ. Vì vậy, để giảm rủi ro tỷ giá khi nhập khẩu máy móc, startup có thể sử dụng các công cụ phòng ngừa rủi ro như hợp đồng kỳ hạn ngoại tệ.</a:t>
            </a:r>
            <a:endParaRPr lang="en-US" sz="850" dirty="0"/>
          </a:p>
        </p:txBody>
      </p:sp>
      <p:sp>
        <p:nvSpPr>
          <p:cNvPr id="74" name="Text 71"/>
          <p:cNvSpPr txBox="1"/>
          <p:nvPr/>
        </p:nvSpPr>
        <p:spPr>
          <a:xfrm>
            <a:off x="2745303" y="6321156"/>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3.1.5. Môi trường đầu tư</a:t>
            </a:r>
            <a:endParaRPr lang="en-US" sz="820" dirty="0"/>
          </a:p>
        </p:txBody>
      </p:sp>
      <p:sp>
        <p:nvSpPr>
          <p:cNvPr id="75" name="Text 72"/>
          <p:cNvSpPr txBox="1"/>
          <p:nvPr/>
        </p:nvSpPr>
        <p:spPr>
          <a:xfrm>
            <a:off x="2745303" y="6467734"/>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Thị trường vốn cho startup tại Việt Nam có dấu hiệu phục hồi. Theo </a:t>
            </a:r>
            <a:pPr algn="just" indent="0" marL="0">
              <a:lnSpc>
                <a:spcPts val="1037"/>
              </a:lnSpc>
              <a:buNone/>
            </a:pPr>
            <a:r>
              <a:rPr lang="en-US" sz="850" i="1" dirty="0">
                <a:solidFill>
                  <a:srgbClr val="1F1F1F"/>
                </a:solidFill>
                <a:latin typeface="Calibri" pitchFamily="34" charset="0"/>
                <a:ea typeface="Calibri" pitchFamily="34" charset="-122"/>
                <a:cs typeface="Calibri" pitchFamily="34" charset="-120"/>
              </a:rPr>
              <a:t>Vietnam Innovation and Private Capital Report 2026</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của BCG, NIC và VPCA, tổng vốn đầu tư tư nhân vào Việt Nam năm 2025 đạt khoảng 4,5 tỷ USD qua 149 thương vụ, trong đó VC đạt 509 triệu USD, tăng 28% so với năm 2024. NIC cũng ghi nhận climate tech là một trong những xu hướng nổi bật của hoạt động đầu tư mạo hiểm (Fig. 23).</a:t>
            </a:r>
            <a:endParaRPr lang="en-US" sz="850" dirty="0"/>
          </a:p>
        </p:txBody>
      </p:sp>
      <p:sp>
        <p:nvSpPr>
          <p:cNvPr id="76" name="Text 73"/>
          <p:cNvSpPr txBox="1"/>
          <p:nvPr/>
        </p:nvSpPr>
        <p:spPr>
          <a:xfrm>
            <a:off x="2745303" y="7163318"/>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startup bao bì từ bã mía và vỏ trứng, xu hướng này tạo cơ hội tiếp cận các nhà đầu tư quan tâm đến vật liệu xanh và kinh tế tuần hoàn. Tuy nhiên, VC đang có xu hướng chọn lọc hơn, nên yếu tố “xanh” không đủ để bảo đảm khả năng huy động vốn. Startup cần chứng minh nguồn nguyên liệu ổn định, chi phí sản xuất, chất lượng sản phẩm, nhu cầu B2B và khả năng mở rộng.</a:t>
            </a:r>
            <a:endParaRPr lang="en-US" sz="850" dirty="0"/>
          </a:p>
        </p:txBody>
      </p:sp>
      <p:sp>
        <p:nvSpPr>
          <p:cNvPr id="77" name="Text 74"/>
          <p:cNvSpPr txBox="1"/>
          <p:nvPr/>
        </p:nvSpPr>
        <p:spPr>
          <a:xfrm>
            <a:off x="2745303" y="7727137"/>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Bên cạnh vốn tư nhân, năm 2026 Quỹ Đổi mới công nghệ quốc gia (NATIF) triển khai chương trình hỗ trợ lãi suất cho doanh nghiệp thực hiện dự án chuyển giao, ứng dụng hoặc đổi mới công nghệ. Mức hỗ trợ bằng 50% lãi suất vay nhưng không quá 6%/năm, tối đa 5 năm; đợt 1/2026 dự kiến hỗ trợ 50 tỷ đồng. Chính sách này có thể phù hợp với startup nếu đáp ứng điều kiện, đặc biệt khi doanh nghiệp đầu tư vào máy móc và công nghệ sạch, công nghệ xanh.</a:t>
            </a:r>
            <a:endParaRPr lang="en-US" sz="850" dirty="0"/>
          </a:p>
        </p:txBody>
      </p:sp>
      <p:sp>
        <p:nvSpPr>
          <p:cNvPr id="78" name="Text 75"/>
          <p:cNvSpPr txBox="1"/>
          <p:nvPr/>
        </p:nvSpPr>
        <p:spPr>
          <a:xfrm>
            <a:off x="2745303" y="8422630"/>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Nhìn chung, môi trường đầu tư năm 2026 tạo thêm cơ hội huy động vốn và hỗ trợ đổi mới công nghệ, nhưng startup vẫn phải chứng minh tính khả thi thương mại và hiệu quả tài chính thay vì chỉ dựa vào yếu tố bền vững.</a:t>
            </a:r>
            <a:endParaRPr lang="en-US" sz="850" dirty="0"/>
          </a:p>
        </p:txBody>
      </p:sp>
      <p:sp>
        <p:nvSpPr>
          <p:cNvPr id="79" name="Text 76"/>
          <p:cNvSpPr txBox="1"/>
          <p:nvPr/>
        </p:nvSpPr>
        <p:spPr>
          <a:xfrm>
            <a:off x="2745303" y="8855050"/>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3.1.6. Chính sách và pháp luật</a:t>
            </a:r>
            <a:endParaRPr lang="en-US" sz="820" dirty="0"/>
          </a:p>
        </p:txBody>
      </p:sp>
      <p:sp>
        <p:nvSpPr>
          <p:cNvPr id="80" name="Text 77"/>
          <p:cNvSpPr txBox="1"/>
          <p:nvPr/>
        </p:nvSpPr>
        <p:spPr>
          <a:xfrm>
            <a:off x="2745303" y="9001628"/>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3.1.6.1. Quy định liên quan trực tiếp đến ngành</a:t>
            </a:r>
            <a:endParaRPr lang="en-US" sz="820" dirty="0"/>
          </a:p>
        </p:txBody>
      </p:sp>
      <p:sp>
        <p:nvSpPr>
          <p:cNvPr id="81" name="Text 78"/>
          <p:cNvSpPr txBox="1"/>
          <p:nvPr/>
        </p:nvSpPr>
        <p:spPr>
          <a:xfrm>
            <a:off x="2745303" y="9148206"/>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Các quy định về an toàn sản phẩm và môi trường có ảnh hưởng trực tiếp đến startup sản xuất bao bì từ bã mía và vỏ trứng. Theo Thông tư 27/2026/TT-BYT, có hiệu lực từ 1/7/2026, bao bì tiếp xúc trực tiếp với thực phẩm thuộc nhóm sản phẩm do Bộ Y tế quản lý. Vì vậy, nếu startup hướng đến phân khúc bao bì thực phẩm, doanh nghiệp phải kiểm soát các tiêu chuẩn về an toàn vật liệu, độ bền và khả năng chống ẩm, đồng thời thực hiện kiểm nghiệm trước khi thương mại hóa. Điều này làm phát sinh chi phí R&amp;D, kiểm định và kiểm soát chất lượng nhưng cần thiết để sản phẩm có thể tiếp cận thị trường.</a:t>
            </a:r>
            <a:endParaRPr lang="en-US" sz="850" dirty="0"/>
          </a:p>
        </p:txBody>
      </p:sp>
      <p:sp>
        <p:nvSpPr>
          <p:cNvPr id="82" name="Text 79"/>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83" name="Text 80"/>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7</a:t>
            </a:r>
            <a:endParaRPr lang="en-US" sz="6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3062874"/>
            <a:ext cx="2159996" cy="0"/>
          </a:xfrm>
          <a:prstGeom prst="line">
            <a:avLst/>
          </a:prstGeom>
          <a:noFill/>
          <a:ln w="9525">
            <a:solidFill>
              <a:srgbClr val="7B1E2B"/>
            </a:solidFill>
            <a:prstDash val="solid"/>
          </a:ln>
        </p:spPr>
      </p:sp>
      <p:sp>
        <p:nvSpPr>
          <p:cNvPr id="5" name="Shape 3"/>
          <p:cNvSpPr/>
          <p:nvPr/>
        </p:nvSpPr>
        <p:spPr>
          <a:xfrm>
            <a:off x="405354" y="10369479"/>
            <a:ext cx="6749004" cy="0"/>
          </a:xfrm>
          <a:prstGeom prst="line">
            <a:avLst/>
          </a:prstGeom>
          <a:noFill/>
          <a:ln w="9525">
            <a:solidFill>
              <a:srgbClr val="BFBFBF"/>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05354" y="840608"/>
          <a:ext cx="2159996" cy="914400"/>
        </p:xfrm>
        <a:graphic>
          <a:graphicData uri="http://schemas.openxmlformats.org/drawingml/2006/table">
            <a:tbl>
              <a:tblPr/>
              <a:tblGrid>
                <a:gridCol w="669615"/>
                <a:gridCol w="820674"/>
                <a:gridCol w="669707"/>
              </a:tblGrid>
              <a:tr h="230429">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Văn bản</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Nội dung chính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Cách phản ánh trong mô hình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421173">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TT 27/2026/TT-BYT (1/7/2026)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Bao bì tiếp xúc trực tiếp thực phẩm do Bộ Y tế quản lý; phải kiểm nghiệm</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Chi phí kiểm nghiệm, chứng nhận &amp; R&amp;D 0,6% DT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5928">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NĐ 48/2026/NĐ-CP; NĐ 110/2026/NĐ-CP</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Sửa quy định bảo vệ môi trường; trách nhiệm tái chế, xử lý chất thải (EPR)</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Cầu chuyển đổi từ khách hàng; thủ tục môi trường cho nhà máy mới</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523311">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NQ 198/2025/QH15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Miễn thuế TNDN 2 năm, giảm 50% trong 4 năm cho DN khởi nghiệp sáng tạo đủ điều kiện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Không đưa vào mô hình (chưa chứng minh đủ điều kiện)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Luật Thuế TNDN 67/2025/QH15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15% (DT ≤ 3 tỷ), 17% (3–50 tỷ), 20% phổ thông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Thuế suất 17% năm 2026, 20% từ 2027</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pSp>
        <p:nvGrpSpPr>
          <p:cNvPr id="59" name="Fig. 25 – biểu đồ"/>
          <p:cNvGrpSpPr/>
          <p:nvPr/>
        </p:nvGrpSpPr>
        <p:grpSpPr>
          <a:xfrm>
            <a:off x="302758" y="3461461"/>
            <a:ext cx="2279782" cy="973927"/>
            <a:chOff x="302758" y="3461461"/>
            <a:chExt cx="2279782" cy="973927"/>
          </a:xfrm>
        </p:grpSpPr>
        <p:sp>
          <p:nvSpPr>
            <p:cNvPr id="7" name="svg0_0"/>
            <p:cNvSpPr txBox="1"/>
            <p:nvPr/>
          </p:nvSpPr>
          <p:spPr>
            <a:xfrm>
              <a:off x="526969" y="3466673"/>
              <a:ext cx="820857"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Nhựa sinh học (25–33)</a:t>
              </a:r>
              <a:endParaRPr lang="en-US" sz="587" dirty="0"/>
            </a:p>
          </p:txBody>
        </p:sp>
        <p:sp>
          <p:nvSpPr>
            <p:cNvPr id="8" name="svg0_1"/>
            <p:cNvSpPr/>
            <p:nvPr/>
          </p:nvSpPr>
          <p:spPr>
            <a:xfrm>
              <a:off x="1387236" y="3481121"/>
              <a:ext cx="416966" cy="66934"/>
            </a:xfrm>
            <a:prstGeom prst="rect">
              <a:avLst/>
            </a:prstGeom>
            <a:solidFill>
              <a:srgbClr val="A3A3A3"/>
            </a:solidFill>
            <a:ln/>
          </p:spPr>
        </p:sp>
        <p:sp>
          <p:nvSpPr>
            <p:cNvPr id="9" name="svg0_2"/>
            <p:cNvSpPr txBox="1"/>
            <p:nvPr/>
          </p:nvSpPr>
          <p:spPr>
            <a:xfrm>
              <a:off x="601675" y="3574755"/>
              <a:ext cx="74633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Bột giấy đúc (26–31)</a:t>
              </a:r>
              <a:endParaRPr lang="en-US" sz="587" dirty="0"/>
            </a:p>
          </p:txBody>
        </p:sp>
        <p:sp>
          <p:nvSpPr>
            <p:cNvPr id="10" name="svg0_3"/>
            <p:cNvSpPr/>
            <p:nvPr/>
          </p:nvSpPr>
          <p:spPr>
            <a:xfrm>
              <a:off x="1387236" y="3589020"/>
              <a:ext cx="389900" cy="66934"/>
            </a:xfrm>
            <a:prstGeom prst="rect">
              <a:avLst/>
            </a:prstGeom>
            <a:solidFill>
              <a:srgbClr val="A3A3A3"/>
            </a:solidFill>
            <a:ln/>
          </p:spPr>
        </p:sp>
        <p:sp>
          <p:nvSpPr>
            <p:cNvPr id="11" name="svg0_4"/>
            <p:cNvSpPr txBox="1"/>
            <p:nvPr/>
          </p:nvSpPr>
          <p:spPr>
            <a:xfrm>
              <a:off x="652973" y="3682655"/>
              <a:ext cx="695035"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Bao bì giấy (25–30)</a:t>
              </a:r>
              <a:endParaRPr lang="en-US" sz="587" dirty="0"/>
            </a:p>
          </p:txBody>
        </p:sp>
        <p:sp>
          <p:nvSpPr>
            <p:cNvPr id="12" name="svg0_5"/>
            <p:cNvSpPr/>
            <p:nvPr/>
          </p:nvSpPr>
          <p:spPr>
            <a:xfrm>
              <a:off x="1387236" y="3697011"/>
              <a:ext cx="321960" cy="66934"/>
            </a:xfrm>
            <a:prstGeom prst="rect">
              <a:avLst/>
            </a:prstGeom>
            <a:solidFill>
              <a:srgbClr val="A3A3A3"/>
            </a:solidFill>
            <a:ln/>
          </p:spPr>
        </p:sp>
        <p:sp>
          <p:nvSpPr>
            <p:cNvPr id="13" name="svg0_6"/>
            <p:cNvSpPr txBox="1"/>
            <p:nvPr/>
          </p:nvSpPr>
          <p:spPr>
            <a:xfrm>
              <a:off x="455463" y="3790645"/>
              <a:ext cx="892546"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Bao bì nhựa, tấn (23–28)</a:t>
              </a:r>
              <a:endParaRPr lang="en-US" sz="587" dirty="0"/>
            </a:p>
          </p:txBody>
        </p:sp>
        <p:sp>
          <p:nvSpPr>
            <p:cNvPr id="14" name="svg0_7"/>
            <p:cNvSpPr/>
            <p:nvPr/>
          </p:nvSpPr>
          <p:spPr>
            <a:xfrm>
              <a:off x="1387236" y="3805001"/>
              <a:ext cx="279258" cy="66934"/>
            </a:xfrm>
            <a:prstGeom prst="rect">
              <a:avLst/>
            </a:prstGeom>
            <a:solidFill>
              <a:srgbClr val="A3A3A3"/>
            </a:solidFill>
            <a:ln/>
          </p:spPr>
        </p:sp>
        <p:sp>
          <p:nvSpPr>
            <p:cNvPr id="15" name="svg0_8"/>
            <p:cNvSpPr txBox="1"/>
            <p:nvPr/>
          </p:nvSpPr>
          <p:spPr>
            <a:xfrm>
              <a:off x="302758" y="3898636"/>
              <a:ext cx="1045251"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Thị trường nhựa, tấn (26–31)</a:t>
              </a:r>
              <a:endParaRPr lang="en-US" sz="587" dirty="0"/>
            </a:p>
          </p:txBody>
        </p:sp>
        <p:sp>
          <p:nvSpPr>
            <p:cNvPr id="16" name="svg0_9"/>
            <p:cNvSpPr/>
            <p:nvPr/>
          </p:nvSpPr>
          <p:spPr>
            <a:xfrm>
              <a:off x="1387236" y="3913083"/>
              <a:ext cx="276332" cy="66934"/>
            </a:xfrm>
            <a:prstGeom prst="rect">
              <a:avLst/>
            </a:prstGeom>
            <a:solidFill>
              <a:srgbClr val="A3A3A3"/>
            </a:solidFill>
            <a:ln/>
          </p:spPr>
        </p:sp>
        <p:sp>
          <p:nvSpPr>
            <p:cNvPr id="17" name="svg0_10"/>
            <p:cNvSpPr txBox="1"/>
            <p:nvPr/>
          </p:nvSpPr>
          <p:spPr>
            <a:xfrm>
              <a:off x="360548" y="4006718"/>
              <a:ext cx="987369"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SAM F&amp;B phân hủy (26–34)</a:t>
              </a:r>
              <a:endParaRPr lang="en-US" sz="587" dirty="0"/>
            </a:p>
          </p:txBody>
        </p:sp>
        <p:sp>
          <p:nvSpPr>
            <p:cNvPr id="18" name="svg0_11"/>
            <p:cNvSpPr/>
            <p:nvPr/>
          </p:nvSpPr>
          <p:spPr>
            <a:xfrm>
              <a:off x="1387236" y="4020983"/>
              <a:ext cx="156637" cy="66934"/>
            </a:xfrm>
            <a:prstGeom prst="rect">
              <a:avLst/>
            </a:prstGeom>
            <a:solidFill>
              <a:srgbClr val="404040"/>
            </a:solidFill>
            <a:ln/>
          </p:spPr>
        </p:sp>
        <p:sp>
          <p:nvSpPr>
            <p:cNvPr id="19" name="svg0_12"/>
            <p:cNvSpPr txBox="1"/>
            <p:nvPr/>
          </p:nvSpPr>
          <p:spPr>
            <a:xfrm>
              <a:off x="450342" y="4114617"/>
              <a:ext cx="897666"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TAM bao bì xanh (26–34)</a:t>
              </a:r>
              <a:endParaRPr lang="en-US" sz="587" dirty="0"/>
            </a:p>
          </p:txBody>
        </p:sp>
        <p:sp>
          <p:nvSpPr>
            <p:cNvPr id="20" name="svg0_13"/>
            <p:cNvSpPr/>
            <p:nvPr/>
          </p:nvSpPr>
          <p:spPr>
            <a:xfrm>
              <a:off x="1387236" y="4128973"/>
              <a:ext cx="137343" cy="66934"/>
            </a:xfrm>
            <a:prstGeom prst="rect">
              <a:avLst/>
            </a:prstGeom>
            <a:solidFill>
              <a:srgbClr val="404040"/>
            </a:solidFill>
            <a:ln/>
          </p:spPr>
        </p:sp>
        <p:sp>
          <p:nvSpPr>
            <p:cNvPr id="21" name="svg0_14"/>
            <p:cNvSpPr txBox="1"/>
            <p:nvPr/>
          </p:nvSpPr>
          <p:spPr>
            <a:xfrm>
              <a:off x="520019" y="4222608"/>
              <a:ext cx="827806"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Bao bì kim loại (24–29)</a:t>
              </a:r>
              <a:endParaRPr lang="en-US" sz="587" dirty="0"/>
            </a:p>
          </p:txBody>
        </p:sp>
        <p:sp>
          <p:nvSpPr>
            <p:cNvPr id="22" name="svg0_15"/>
            <p:cNvSpPr/>
            <p:nvPr/>
          </p:nvSpPr>
          <p:spPr>
            <a:xfrm>
              <a:off x="1387236" y="4236964"/>
              <a:ext cx="101590" cy="66934"/>
            </a:xfrm>
            <a:prstGeom prst="rect">
              <a:avLst/>
            </a:prstGeom>
            <a:solidFill>
              <a:srgbClr val="A3A3A3"/>
            </a:solidFill>
            <a:ln/>
          </p:spPr>
        </p:sp>
        <p:sp>
          <p:nvSpPr>
            <p:cNvPr id="23" name="svg0_16"/>
            <p:cNvSpPr txBox="1"/>
            <p:nvPr/>
          </p:nvSpPr>
          <p:spPr>
            <a:xfrm>
              <a:off x="314828" y="4330598"/>
              <a:ext cx="1033181" cy="104790"/>
            </a:xfrm>
            <a:prstGeom prst="rect">
              <a:avLst/>
            </a:prstGeom>
            <a:noFill/>
            <a:ln/>
          </p:spPr>
          <p:txBody>
            <a:bodyPr wrap="none" lIns="0" tIns="0" rIns="0" bIns="0" rtlCol="0" anchor="ctr"/>
            <a:lstStyle/>
            <a:p>
              <a:pPr algn="r" indent="0" marL="0">
                <a:buNone/>
              </a:pPr>
              <a:r>
                <a:rPr lang="en-US" sz="587" b="1" dirty="0">
                  <a:solidFill>
                    <a:srgbClr val="262626"/>
                  </a:solidFill>
                  <a:latin typeface="Calibri" pitchFamily="34" charset="0"/>
                  <a:ea typeface="Calibri" pitchFamily="34" charset="-122"/>
                  <a:cs typeface="Calibri" pitchFamily="34" charset="-120"/>
                </a:rPr>
                <a:t>AgriPack dự phóng (25–30E)</a:t>
              </a:r>
              <a:endParaRPr lang="en-US" sz="587" dirty="0"/>
            </a:p>
          </p:txBody>
        </p:sp>
        <p:sp>
          <p:nvSpPr>
            <p:cNvPr id="24" name="svg0_17"/>
            <p:cNvSpPr/>
            <p:nvPr/>
          </p:nvSpPr>
          <p:spPr>
            <a:xfrm>
              <a:off x="1387236" y="4345046"/>
              <a:ext cx="962040" cy="66934"/>
            </a:xfrm>
            <a:prstGeom prst="rect">
              <a:avLst/>
            </a:prstGeom>
            <a:solidFill>
              <a:srgbClr val="7B1E2B"/>
            </a:solidFill>
            <a:ln/>
          </p:spPr>
        </p:sp>
        <p:sp>
          <p:nvSpPr>
            <p:cNvPr id="25" name="svg0_18"/>
            <p:cNvSpPr/>
            <p:nvPr/>
          </p:nvSpPr>
          <p:spPr>
            <a:xfrm>
              <a:off x="1387236" y="3461461"/>
              <a:ext cx="0" cy="969904"/>
            </a:xfrm>
            <a:prstGeom prst="line">
              <a:avLst/>
            </a:prstGeom>
            <a:noFill/>
            <a:ln w="6858">
              <a:solidFill>
                <a:srgbClr val="8C8C8C"/>
              </a:solidFill>
              <a:prstDash val="solid"/>
            </a:ln>
          </p:spPr>
        </p:sp>
        <p:sp>
          <p:nvSpPr>
            <p:cNvPr id="26" name="svg0_19"/>
            <p:cNvSpPr txBox="1"/>
            <p:nvPr/>
          </p:nvSpPr>
          <p:spPr>
            <a:xfrm>
              <a:off x="1828983" y="3466673"/>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12,6%</a:t>
              </a:r>
              <a:endParaRPr lang="en-US" sz="587" dirty="0"/>
            </a:p>
          </p:txBody>
        </p:sp>
        <p:sp>
          <p:nvSpPr>
            <p:cNvPr id="27" name="svg0_20"/>
            <p:cNvSpPr txBox="1"/>
            <p:nvPr/>
          </p:nvSpPr>
          <p:spPr>
            <a:xfrm>
              <a:off x="1801459" y="3574755"/>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11,8%</a:t>
              </a:r>
              <a:endParaRPr lang="en-US" sz="587" dirty="0"/>
            </a:p>
          </p:txBody>
        </p:sp>
        <p:sp>
          <p:nvSpPr>
            <p:cNvPr id="28" name="svg0_21"/>
            <p:cNvSpPr txBox="1"/>
            <p:nvPr/>
          </p:nvSpPr>
          <p:spPr>
            <a:xfrm>
              <a:off x="1733702" y="3682655"/>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9,7%</a:t>
              </a:r>
              <a:endParaRPr lang="en-US" sz="587" dirty="0"/>
            </a:p>
          </p:txBody>
        </p:sp>
        <p:sp>
          <p:nvSpPr>
            <p:cNvPr id="29" name="svg0_22"/>
            <p:cNvSpPr txBox="1"/>
            <p:nvPr/>
          </p:nvSpPr>
          <p:spPr>
            <a:xfrm>
              <a:off x="1691549" y="3790645"/>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8,4%</a:t>
              </a:r>
              <a:endParaRPr lang="en-US" sz="587" dirty="0"/>
            </a:p>
          </p:txBody>
        </p:sp>
        <p:sp>
          <p:nvSpPr>
            <p:cNvPr id="30" name="svg0_23"/>
            <p:cNvSpPr txBox="1"/>
            <p:nvPr/>
          </p:nvSpPr>
          <p:spPr>
            <a:xfrm>
              <a:off x="1687617" y="3898636"/>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8,3%</a:t>
              </a:r>
              <a:endParaRPr lang="en-US" sz="587" dirty="0"/>
            </a:p>
          </p:txBody>
        </p:sp>
        <p:sp>
          <p:nvSpPr>
            <p:cNvPr id="31" name="svg0_24"/>
            <p:cNvSpPr txBox="1"/>
            <p:nvPr/>
          </p:nvSpPr>
          <p:spPr>
            <a:xfrm>
              <a:off x="1567830" y="4006718"/>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4,7%</a:t>
              </a:r>
              <a:endParaRPr lang="en-US" sz="587" dirty="0"/>
            </a:p>
          </p:txBody>
        </p:sp>
        <p:sp>
          <p:nvSpPr>
            <p:cNvPr id="32" name="svg0_25"/>
            <p:cNvSpPr txBox="1"/>
            <p:nvPr/>
          </p:nvSpPr>
          <p:spPr>
            <a:xfrm>
              <a:off x="1549176" y="4114617"/>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4,2%</a:t>
              </a:r>
              <a:endParaRPr lang="en-US" sz="587" dirty="0"/>
            </a:p>
          </p:txBody>
        </p:sp>
        <p:sp>
          <p:nvSpPr>
            <p:cNvPr id="33" name="svg0_26"/>
            <p:cNvSpPr txBox="1"/>
            <p:nvPr/>
          </p:nvSpPr>
          <p:spPr>
            <a:xfrm>
              <a:off x="1512875" y="4222608"/>
              <a:ext cx="170444"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3,1%</a:t>
              </a:r>
              <a:endParaRPr lang="en-US" sz="587" dirty="0"/>
            </a:p>
          </p:txBody>
        </p:sp>
        <p:sp>
          <p:nvSpPr>
            <p:cNvPr id="34" name="svg0_27"/>
            <p:cNvSpPr txBox="1"/>
            <p:nvPr/>
          </p:nvSpPr>
          <p:spPr>
            <a:xfrm>
              <a:off x="2373782" y="4330598"/>
              <a:ext cx="208758" cy="104790"/>
            </a:xfrm>
            <a:prstGeom prst="rect">
              <a:avLst/>
            </a:prstGeom>
            <a:solidFill>
              <a:srgbClr val="FFFFFF"/>
            </a:solidFill>
            <a:ln/>
          </p:spPr>
          <p:txBody>
            <a:bodyPr wrap="none" lIns="0" tIns="0" rIns="0" bIns="0" rtlCol="0" anchor="ctr"/>
            <a:lstStyle/>
            <a:p>
              <a:pPr algn="l" indent="0" marL="0">
                <a:buNone/>
              </a:pPr>
              <a:r>
                <a:rPr lang="en-US" sz="587" b="1" dirty="0">
                  <a:solidFill>
                    <a:srgbClr val="262626"/>
                  </a:solidFill>
                  <a:latin typeface="Calibri" pitchFamily="34" charset="0"/>
                  <a:ea typeface="Calibri" pitchFamily="34" charset="-122"/>
                  <a:cs typeface="Calibri" pitchFamily="34" charset="-120"/>
                </a:rPr>
                <a:t>29,1%</a:t>
              </a:r>
              <a:endParaRPr lang="en-US" sz="587" dirty="0"/>
            </a:p>
          </p:txBody>
        </p:sp>
      </p:grpSp>
      <p:sp>
        <p:nvSpPr>
          <p:cNvPr id="35" name="Text 32"/>
          <p:cNvSpPr txBox="1"/>
          <p:nvPr/>
        </p:nvSpPr>
        <p:spPr>
          <a:xfrm>
            <a:off x="2745303" y="7651974"/>
            <a:ext cx="4409237" cy="553029"/>
          </a:xfrm>
          <a:prstGeom prst="rect">
            <a:avLst/>
          </a:prstGeom>
          <a:noFill/>
          <a:ln/>
        </p:spPr>
        <p:txBody>
          <a:bodyPr wrap="square" lIns="0" tIns="0" rIns="0" bIns="0" rtlCol="0" anchor="t"/>
          <a:lstStyle/>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giấy và bìa cứng</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nhựa</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kim loại, thuỷ tinh, gỗ</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Các loại bao bì dệt may và các vật liệu phù hợp khác.</a:t>
            </a:r>
            <a:endParaRPr lang="en-US" sz="850" dirty="0"/>
          </a:p>
        </p:txBody>
      </p:sp>
      <p:sp>
        <p:nvSpPr>
          <p:cNvPr id="36" name="Text 3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37" name="Text 3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38" name="Text 35"/>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Quy định mới tăng chi phí tuân thủ nhưng mở rộng cầu bao bì xanh</a:t>
            </a:r>
            <a:endParaRPr lang="en-US" sz="720" dirty="0"/>
          </a:p>
        </p:txBody>
      </p:sp>
      <p:sp>
        <p:nvSpPr>
          <p:cNvPr id="39" name="Text 36"/>
          <p:cNvSpPr txBox="1"/>
          <p:nvPr/>
        </p:nvSpPr>
        <p:spPr>
          <a:xfrm>
            <a:off x="405354" y="2792669"/>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Văn bản pháp luật trích trong bài của nhóm (Mục 3.1.6); cách phản ánh trong mô hình: Drivers</a:t>
            </a:r>
            <a:endParaRPr lang="en-US" sz="600" dirty="0"/>
          </a:p>
        </p:txBody>
      </p:sp>
      <p:sp>
        <p:nvSpPr>
          <p:cNvPr id="40" name="Text 37"/>
          <p:cNvSpPr txBox="1"/>
          <p:nvPr/>
        </p:nvSpPr>
        <p:spPr>
          <a:xfrm>
            <a:off x="405354" y="308920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AgriPack dự phóng tăng nhanh hơn mọi phân khúc: tăng trưởng phải đến từ giành thị phần</a:t>
            </a:r>
            <a:endParaRPr lang="en-US" sz="720" dirty="0"/>
          </a:p>
        </p:txBody>
      </p:sp>
      <p:sp>
        <p:nvSpPr>
          <p:cNvPr id="41" name="Text 38"/>
          <p:cNvSpPr txBox="1"/>
          <p:nvPr/>
        </p:nvSpPr>
        <p:spPr>
          <a:xfrm>
            <a:off x="405354" y="3326313"/>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CAGR, %/năm</a:t>
            </a:r>
            <a:endParaRPr lang="en-US" sz="630" dirty="0"/>
          </a:p>
        </p:txBody>
      </p:sp>
      <p:sp>
        <p:nvSpPr>
          <p:cNvPr id="42" name="Text 39"/>
          <p:cNvSpPr txBox="1"/>
          <p:nvPr/>
        </p:nvSpPr>
        <p:spPr>
          <a:xfrm>
            <a:off x="405354" y="4529755"/>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Mordor Intelligence; IMARC Group (2025); VPAS – số liệu trong bài của nhóm (Mục 1.1.1, 3.2.1); dự phóng: mô hình</a:t>
            </a:r>
            <a:endParaRPr lang="en-US" sz="600" dirty="0"/>
          </a:p>
        </p:txBody>
      </p:sp>
      <p:sp>
        <p:nvSpPr>
          <p:cNvPr id="43" name="Text 40"/>
          <p:cNvSpPr txBox="1"/>
          <p:nvPr/>
        </p:nvSpPr>
        <p:spPr>
          <a:xfrm>
            <a:off x="2745303" y="558058"/>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Bên cạnh đó, Nghị định 48/2026/NĐ-CP sửa đổi quy định về bảo vệ môi trường và Nghị định 110/2026/NĐ-CP quy định chi tiết trách nhiệm tái chế, xử lý chất thải. Đối với startup, các quy định này đòi hỏi doanh nghiệp phải xác định nghĩa vụ môi trường phù hợp với quy mô và loại hình sản xuất, đồng thời bố trí chi phí cho xử lý chất thải và tuân thủ môi trường. Tuy nhiên, do sản phẩm sử dụng phụ phẩm nông nghiệp làm nguyên liệu, startup có thể tạo lợi thế về định vị kinh tế tuần hoàn nếu chứng minh được hiệu quả giảm chất thải và sử dụng tài nguyên (Fig. 24).</a:t>
            </a:r>
            <a:endParaRPr lang="en-US" sz="850" dirty="0"/>
          </a:p>
        </p:txBody>
      </p:sp>
      <p:sp>
        <p:nvSpPr>
          <p:cNvPr id="44" name="Text 41"/>
          <p:cNvSpPr txBox="1"/>
          <p:nvPr/>
        </p:nvSpPr>
        <p:spPr>
          <a:xfrm>
            <a:off x="2745303" y="1385133"/>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3.1.6.2. Chính sách hỗ trợ startup</a:t>
            </a:r>
            <a:endParaRPr lang="en-US" sz="820" dirty="0"/>
          </a:p>
        </p:txBody>
      </p:sp>
      <p:sp>
        <p:nvSpPr>
          <p:cNvPr id="45" name="Text 42"/>
          <p:cNvSpPr txBox="1"/>
          <p:nvPr/>
        </p:nvSpPr>
        <p:spPr>
          <a:xfrm>
            <a:off x="2745303" y="1531711"/>
            <a:ext cx="4409237" cy="1447221"/>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Từ yêu cầu tuân thủ nói trên, startup đồng thời có thể hưởng lợi từ nhóm chính sách thúc đẩy doanh nghiệp đổi mới sáng tạo. Nghị quyết 198/2025/QH15 về một số cơ chế, chính sách đặc biệt phát triển kinh tế tư nhân quy định doanh nghiệp khởi nghiệp sáng tạo đáp ứng điều kiện được miễn thuế TNDN trong 2 năm và giảm 50% số thuế phải nộp trong 4 năm tiếp theo đối với thu nhập từ hoạt động khởi nghiệp đổi mới sáng tạo. Ngoài ra, chính sách còn có các cơ chế hỗ trợ hoạt động nghiên cứu, phát triển và đổi mới công nghệ. Đây là yếu tố có ý nghĩa đối với startup bao bì từ bã mía và vỏ trứng vì giai đoạn đầu doanh nghiệp phải dành nguồn lực cho nghiên cứu công thức vật liệu, thử nghiệm độ bền, khả năng chống ẩm, an toàn thực phẩm và hoàn thiện dây chuyền sản xuất. Nhờ các chính sách này, nếu đáp ứng đầy đủ điều kiện pháp luật, startup có thể giảm một phần áp lực tài chính trong giai đoạn đầu tư và có thêm nguồn lực để tái đầu tư vào R&amp;D và mở rộng sản xuất.</a:t>
            </a:r>
            <a:endParaRPr lang="en-US" sz="850" dirty="0"/>
          </a:p>
        </p:txBody>
      </p:sp>
      <p:sp>
        <p:nvSpPr>
          <p:cNvPr id="46" name="Text 43"/>
          <p:cNvSpPr txBox="1"/>
          <p:nvPr/>
        </p:nvSpPr>
        <p:spPr>
          <a:xfrm>
            <a:off x="2745303" y="3016606"/>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3.1.6.3. Thuế</a:t>
            </a:r>
            <a:endParaRPr lang="en-US" sz="820" dirty="0"/>
          </a:p>
        </p:txBody>
      </p:sp>
      <p:sp>
        <p:nvSpPr>
          <p:cNvPr id="47" name="Text 44"/>
          <p:cNvSpPr txBox="1"/>
          <p:nvPr/>
        </p:nvSpPr>
        <p:spPr>
          <a:xfrm>
            <a:off x="2745303" y="3163184"/>
            <a:ext cx="4409237" cy="118405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Chính sách thuế có tác động trực tiếp đến chi phí, lợi nhuận sau thuế và khả năng tái đầu tư của startup sản xuất bao bì từ bã mía và vỏ trứng. Theo Luật Thuế thu nhập doanh nghiệp số 67/2025/QH15, thuế suất 15% áp dụng đối với doanh nghiệp có tổng doanh thu năm không quá 3 tỷ đồng và 17% đối với doanh nghiệp có tổng doanh thu năm trên 3 tỷ đồng đến không quá 50 tỷ đồng; mức thuế suất phổ thông là 20%. Việc áp dụng mức thuế suất thấp hơn đối với doanh nghiệp có quy mô doanh thu nhỏ giúp startup có thể giữ lại nhiều lợi nhuận hơn để phục vụ hoạt động kinh doanh. Đối với mô hình sản xuất bao bì, nguồn vốn giữ lại này có thể được tái đầu tư vào dây chuyền xử lý bã mía và vỏ trứng, hệ thống sấy, máy nghiền, máy ép, kiểm nghiệm chất lượng và mở rộng công suất, qua đó giảm mức độ phụ thuộc vào nguồn vốn bên ngoài trong giai đoạn đầu.</a:t>
            </a:r>
            <a:endParaRPr lang="en-US" sz="850" dirty="0"/>
          </a:p>
        </p:txBody>
      </p:sp>
      <p:sp>
        <p:nvSpPr>
          <p:cNvPr id="48" name="Text 45"/>
          <p:cNvSpPr txBox="1"/>
          <p:nvPr/>
        </p:nvSpPr>
        <p:spPr>
          <a:xfrm>
            <a:off x="2745303" y="4384914"/>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Tác động này càng đáng chú ý khi đặt trong bối cảnh chi phí vốn của startup đang chịu áp lực từ mặt bằng lãi suất cho vay. Theo số liệu đã phân tích tại mục 3.1.3, lãi suất cho vay đang ở khoảng 8,1–10,5%/năm. Vì vậy, phần lợi nhuận được giữ lại nhờ ưu đãi thuế không chỉ có giá trị ở việc tăng lợi nhuận sau thuế mà còn giúp startup giảm nhu cầu vay ngân hàng để tài trợ cho vốn lưu động và đầu tư máy móc. Chẳng hạn, nếu startup giữ lại được một khoản vốn thay vì phải vay ngân hàng với lãi suất 8,1–10,5%/năm, doanh nghiệp đồng thời tránh được khoản chi phí lãi vay tương ứng trong những năm tiếp theo, qua đó cải thiện dòng tiền và giảm áp lực trả nợ trong giai đoạn đầu.</a:t>
            </a:r>
            <a:endParaRPr lang="en-US" sz="850" dirty="0"/>
          </a:p>
        </p:txBody>
      </p:sp>
      <p:sp>
        <p:nvSpPr>
          <p:cNvPr id="49" name="Text 46"/>
          <p:cNvSpPr txBox="1"/>
          <p:nvPr/>
        </p:nvSpPr>
        <p:spPr>
          <a:xfrm>
            <a:off x="2745303" y="5343571"/>
            <a:ext cx="4409237" cy="105247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Bên cạnh đó, nếu startup đáp ứng điều kiện của chính sách ưu đãi dành cho doanh nghiệp khởi nghiệp đổi mới sáng tạo, thời gian miễn, giảm thuế trong những năm đầu có ý nghĩa đặc biệt đối với mô hình này. Giai đoạn đầu của startup thường đồng thời phát sinh chi phí đầu tư máy móc, khấu hao tài sản cố định và chi phí nghiên cứu, hoàn thiện vật liệu từ bã mía và vỏ trứng. Chi phí khấu hao của máy móc, đặc biệt đối với thiết bị nhập khẩu, có thể tạo áp lực lên chi phí sản xuất trong những năm đầu. Việc được miễn thuế trong 2 năm đầu có phát sinh thu nhập chịu thuế và giảm thuế trong các năm tiếp theo, nếu startup đủ điều kiện, giúp doanh nghiệp có thêm nguồn lực tài chính để hấp thụ các khoản chi phí này và duy trì vốn cho hoạt động sản xuất</a:t>
            </a:r>
            <a:endParaRPr lang="en-US" sz="850" dirty="0"/>
          </a:p>
        </p:txBody>
      </p:sp>
      <p:sp>
        <p:nvSpPr>
          <p:cNvPr id="50" name="Text 47"/>
          <p:cNvSpPr txBox="1"/>
          <p:nvPr/>
        </p:nvSpPr>
        <p:spPr>
          <a:xfrm>
            <a:off x="2745303" y="6433627"/>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3.2. Phân tích ngành</a:t>
            </a:r>
            <a:endParaRPr lang="en-US" sz="900" dirty="0"/>
          </a:p>
        </p:txBody>
      </p:sp>
      <p:sp>
        <p:nvSpPr>
          <p:cNvPr id="51" name="Text 48"/>
          <p:cNvSpPr txBox="1"/>
          <p:nvPr/>
        </p:nvSpPr>
        <p:spPr>
          <a:xfrm>
            <a:off x="2745303" y="6602974"/>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3.2.1 Quy mô và tốc độ tăng trưởng ngành sản xuất bao bì</a:t>
            </a:r>
            <a:endParaRPr lang="en-US" sz="820" dirty="0"/>
          </a:p>
        </p:txBody>
      </p:sp>
      <p:sp>
        <p:nvSpPr>
          <p:cNvPr id="52" name="Text 49"/>
          <p:cNvSpPr txBox="1"/>
          <p:nvPr/>
        </p:nvSpPr>
        <p:spPr>
          <a:xfrm>
            <a:off x="2745303" y="6749735"/>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Ngành bao bì là một trong những ngành công nghiệp quan trọng, đóng vai trò trong việc bảo quản, vận chuyển, phân phối hàng hoá.</a:t>
            </a:r>
            <a:endParaRPr lang="en-US" sz="850" dirty="0"/>
          </a:p>
        </p:txBody>
      </p:sp>
      <p:sp>
        <p:nvSpPr>
          <p:cNvPr id="53" name="Text 50"/>
          <p:cNvSpPr txBox="1"/>
          <p:nvPr/>
        </p:nvSpPr>
        <p:spPr>
          <a:xfrm>
            <a:off x="2745303" y="7050390"/>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Tại Việt Nam, hiện đang có khoảng gần 14.000 doanh nghiệp, nhà máy hoạt động trong ngành bao bì với các doanh nghiệp tập trung ở các vùng kinh tế trọng điểm như TP. Hồ Chí Minh, Hà Nội, Đà Nẵng.</a:t>
            </a:r>
            <a:endParaRPr lang="en-US" sz="850" dirty="0"/>
          </a:p>
        </p:txBody>
      </p:sp>
      <p:sp>
        <p:nvSpPr>
          <p:cNvPr id="54" name="Text 51"/>
          <p:cNvSpPr txBox="1"/>
          <p:nvPr/>
        </p:nvSpPr>
        <p:spPr>
          <a:xfrm>
            <a:off x="2745303" y="7351227"/>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Thị trường ngành bao bì in ấn, đóng gói vật liệu được chia thành nhiều phân khúc với các phân khúc chủ yếu như sau:</a:t>
            </a:r>
            <a:endParaRPr lang="en-US" sz="850" dirty="0"/>
          </a:p>
        </p:txBody>
      </p:sp>
      <p:sp>
        <p:nvSpPr>
          <p:cNvPr id="55" name="Text 52"/>
          <p:cNvSpPr txBox="1"/>
          <p:nvPr/>
        </p:nvSpPr>
        <p:spPr>
          <a:xfrm>
            <a:off x="2745303" y="8257123"/>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các chuyên gia tại họp báo giới thiệu ProPak Việt Nam 2024 - Triển lãm Quốc tế lần thứ 17 về công nghệ chế biến và đóng gói bao bì tại Việt Nam thì ngành sản xuất bao bì là một trong những lĩnh vực có tốc độ tăng trưởng cao nhất tại Việt Nam, dự kiến tăng trưởng 15 -20% trong giai đoạn tới. Đồng thời, doanh thu bán hàng của doanh nghiệp thuộc phân khúc bao bì nhựa, giấy và carton chiếm tỷ lệ trên 80% tổng doanh thu trên toàn thị trường bao bì.</a:t>
            </a:r>
            <a:endParaRPr lang="en-US" sz="850" dirty="0"/>
          </a:p>
        </p:txBody>
      </p:sp>
      <p:sp>
        <p:nvSpPr>
          <p:cNvPr id="56" name="Text 53"/>
          <p:cNvSpPr txBox="1"/>
          <p:nvPr/>
        </p:nvSpPr>
        <p:spPr>
          <a:xfrm>
            <a:off x="2745303" y="8952616"/>
            <a:ext cx="4409237" cy="105247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Về thị trường bao bì giấy và carton, theo số liệu của Mordor Intelligence Inc công bố cho thấy thị trường bao bì giấy Việt Nam đạt khoảng 2,6 tỷ USD vào 2024, 2,85 tỷ USD vào 2025, dự đoán đạt 4,54 tỷ USD vào 2030 và CAGR là 9,73% giai đoạn 2025 - 2030. Bao bì giấy giữ vị trí chủ lực trong cơ cấu sản phẩm bao bì nhờ ưu thế thân thiện với môi trường, sử dụng rộng rãi trong trong nhiều ngành công nghiệp khác nhau từ thực phẩm, đồ uống, dược phẩm, thương mại điện tử. Hiện ngành bao bì giấy Việt Nam có khoảng 4.500 doanh nghiệp.Trong đó, phân khúc bột đúc giấy ( molded fiber and pulp) tại Việt Nam dự kiến tăng trưởng vượt trội trong sản xuất bao bì giấy với tốc độ 11,78% giai đoạn 2026 - 2031 (Fig. 25).</a:t>
            </a:r>
            <a:endParaRPr lang="en-US" sz="850" dirty="0"/>
          </a:p>
        </p:txBody>
      </p:sp>
      <p:sp>
        <p:nvSpPr>
          <p:cNvPr id="57" name="Text 54"/>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58" name="Text 55"/>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8</a:t>
            </a:r>
            <a:endParaRPr lang="en-US" sz="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10369479"/>
            <a:ext cx="6749004" cy="0"/>
          </a:xfrm>
          <a:prstGeom prst="line">
            <a:avLst/>
          </a:prstGeom>
          <a:noFill/>
          <a:ln w="9525">
            <a:solidFill>
              <a:srgbClr val="BFBFBF"/>
            </a:solidFill>
            <a:prstDash val="solid"/>
          </a:ln>
        </p:spPr>
      </p:sp>
      <p:grpSp>
        <p:nvGrpSpPr>
          <p:cNvPr id="45" name="Fig. 26 – biểu đồ"/>
          <p:cNvGrpSpPr/>
          <p:nvPr/>
        </p:nvGrpSpPr>
        <p:grpSpPr>
          <a:xfrm>
            <a:off x="211866" y="961492"/>
            <a:ext cx="2389785" cy="676472"/>
            <a:chOff x="211866" y="961492"/>
            <a:chExt cx="2389785" cy="676472"/>
          </a:xfrm>
        </p:grpSpPr>
        <p:sp>
          <p:nvSpPr>
            <p:cNvPr id="5" name="svg0_0"/>
            <p:cNvSpPr txBox="1"/>
            <p:nvPr/>
          </p:nvSpPr>
          <p:spPr>
            <a:xfrm>
              <a:off x="342260" y="968715"/>
              <a:ext cx="1125261"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Quan tâm bao bì thân thiện MT</a:t>
              </a:r>
              <a:endParaRPr lang="en-US" sz="587" dirty="0"/>
            </a:p>
          </p:txBody>
        </p:sp>
        <p:sp>
          <p:nvSpPr>
            <p:cNvPr id="6" name="svg0_1"/>
            <p:cNvSpPr/>
            <p:nvPr/>
          </p:nvSpPr>
          <p:spPr>
            <a:xfrm>
              <a:off x="1505011" y="981060"/>
              <a:ext cx="863834" cy="70043"/>
            </a:xfrm>
            <a:prstGeom prst="rect">
              <a:avLst/>
            </a:prstGeom>
            <a:solidFill>
              <a:srgbClr val="7B1E2B"/>
            </a:solidFill>
            <a:ln/>
          </p:spPr>
        </p:sp>
        <p:sp>
          <p:nvSpPr>
            <p:cNvPr id="7" name="svg0_2"/>
            <p:cNvSpPr txBox="1"/>
            <p:nvPr/>
          </p:nvSpPr>
          <p:spPr>
            <a:xfrm>
              <a:off x="211866" y="1081552"/>
              <a:ext cx="1253917"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Sẵn sàng trả cao hơn cho SP "xanh"</a:t>
              </a:r>
              <a:endParaRPr lang="en-US" sz="587" dirty="0"/>
            </a:p>
          </p:txBody>
        </p:sp>
        <p:sp>
          <p:nvSpPr>
            <p:cNvPr id="8" name="svg0_3"/>
            <p:cNvSpPr/>
            <p:nvPr/>
          </p:nvSpPr>
          <p:spPr>
            <a:xfrm>
              <a:off x="1505011" y="1093988"/>
              <a:ext cx="609722" cy="70043"/>
            </a:xfrm>
            <a:prstGeom prst="rect">
              <a:avLst/>
            </a:prstGeom>
            <a:solidFill>
              <a:srgbClr val="7B1E2B"/>
            </a:solidFill>
            <a:ln/>
          </p:spPr>
        </p:sp>
        <p:sp>
          <p:nvSpPr>
            <p:cNvPr id="9" name="svg0_4"/>
            <p:cNvSpPr txBox="1"/>
            <p:nvPr/>
          </p:nvSpPr>
          <p:spPr>
            <a:xfrm>
              <a:off x="477865" y="1194481"/>
              <a:ext cx="98791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Dân số mua sắm trực tuyến</a:t>
              </a:r>
              <a:endParaRPr lang="en-US" sz="587" dirty="0"/>
            </a:p>
          </p:txBody>
        </p:sp>
        <p:sp>
          <p:nvSpPr>
            <p:cNvPr id="10" name="svg0_5"/>
            <p:cNvSpPr/>
            <p:nvPr/>
          </p:nvSpPr>
          <p:spPr>
            <a:xfrm>
              <a:off x="1505011" y="1206825"/>
              <a:ext cx="562722" cy="70043"/>
            </a:xfrm>
            <a:prstGeom prst="rect">
              <a:avLst/>
            </a:prstGeom>
            <a:solidFill>
              <a:srgbClr val="A3A3A3"/>
            </a:solidFill>
            <a:ln/>
          </p:spPr>
        </p:sp>
        <p:sp>
          <p:nvSpPr>
            <p:cNvPr id="11" name="svg0_6"/>
            <p:cNvSpPr txBox="1"/>
            <p:nvPr/>
          </p:nvSpPr>
          <p:spPr>
            <a:xfrm>
              <a:off x="421721" y="1307318"/>
              <a:ext cx="1047720"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Sẵn sàng trả thêm tối đa 10%</a:t>
              </a:r>
              <a:endParaRPr lang="en-US" sz="587" dirty="0"/>
            </a:p>
          </p:txBody>
        </p:sp>
        <p:sp>
          <p:nvSpPr>
            <p:cNvPr id="12" name="svg0_7"/>
            <p:cNvSpPr/>
            <p:nvPr/>
          </p:nvSpPr>
          <p:spPr>
            <a:xfrm>
              <a:off x="1505011" y="1319754"/>
              <a:ext cx="538307" cy="69952"/>
            </a:xfrm>
            <a:prstGeom prst="rect">
              <a:avLst/>
            </a:prstGeom>
            <a:solidFill>
              <a:srgbClr val="7B1E2B"/>
            </a:solidFill>
            <a:ln/>
          </p:spPr>
        </p:sp>
        <p:sp>
          <p:nvSpPr>
            <p:cNvPr id="13" name="svg0_8"/>
            <p:cNvSpPr txBox="1"/>
            <p:nvPr/>
          </p:nvSpPr>
          <p:spPr>
            <a:xfrm>
              <a:off x="596463" y="1420246"/>
              <a:ext cx="869320"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Tăng trưởng TMĐT/năm</a:t>
              </a:r>
              <a:endParaRPr lang="en-US" sz="587" dirty="0"/>
            </a:p>
          </p:txBody>
        </p:sp>
        <p:sp>
          <p:nvSpPr>
            <p:cNvPr id="14" name="svg0_9"/>
            <p:cNvSpPr/>
            <p:nvPr/>
          </p:nvSpPr>
          <p:spPr>
            <a:xfrm>
              <a:off x="1505011" y="1432682"/>
              <a:ext cx="234544" cy="70043"/>
            </a:xfrm>
            <a:prstGeom prst="rect">
              <a:avLst/>
            </a:prstGeom>
            <a:solidFill>
              <a:srgbClr val="A3A3A3"/>
            </a:solidFill>
            <a:ln/>
          </p:spPr>
        </p:sp>
        <p:sp>
          <p:nvSpPr>
            <p:cNvPr id="15" name="svg0_10"/>
            <p:cNvSpPr txBox="1"/>
            <p:nvPr/>
          </p:nvSpPr>
          <p:spPr>
            <a:xfrm>
              <a:off x="457291" y="1533174"/>
              <a:ext cx="1008675"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Tăng trưởng xuất khẩu 2025</a:t>
              </a:r>
              <a:endParaRPr lang="en-US" sz="587" dirty="0"/>
            </a:p>
          </p:txBody>
        </p:sp>
        <p:sp>
          <p:nvSpPr>
            <p:cNvPr id="16" name="svg0_11"/>
            <p:cNvSpPr/>
            <p:nvPr/>
          </p:nvSpPr>
          <p:spPr>
            <a:xfrm>
              <a:off x="1505011" y="1545519"/>
              <a:ext cx="159654" cy="70043"/>
            </a:xfrm>
            <a:prstGeom prst="rect">
              <a:avLst/>
            </a:prstGeom>
            <a:solidFill>
              <a:srgbClr val="A3A3A3"/>
            </a:solidFill>
            <a:ln/>
          </p:spPr>
        </p:sp>
        <p:sp>
          <p:nvSpPr>
            <p:cNvPr id="17" name="svg0_12"/>
            <p:cNvSpPr/>
            <p:nvPr/>
          </p:nvSpPr>
          <p:spPr>
            <a:xfrm>
              <a:off x="1505011" y="961492"/>
              <a:ext cx="0" cy="674370"/>
            </a:xfrm>
            <a:prstGeom prst="line">
              <a:avLst/>
            </a:prstGeom>
            <a:noFill/>
            <a:ln w="6858">
              <a:solidFill>
                <a:srgbClr val="8C8C8C"/>
              </a:solidFill>
              <a:prstDash val="solid"/>
            </a:ln>
          </p:spPr>
        </p:sp>
        <p:sp>
          <p:nvSpPr>
            <p:cNvPr id="18" name="svg0_13"/>
            <p:cNvSpPr txBox="1"/>
            <p:nvPr/>
          </p:nvSpPr>
          <p:spPr>
            <a:xfrm>
              <a:off x="2393442" y="968715"/>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92,1%</a:t>
              </a:r>
              <a:endParaRPr lang="en-US" sz="587" dirty="0"/>
            </a:p>
          </p:txBody>
        </p:sp>
        <p:sp>
          <p:nvSpPr>
            <p:cNvPr id="19" name="svg0_14"/>
            <p:cNvSpPr txBox="1"/>
            <p:nvPr/>
          </p:nvSpPr>
          <p:spPr>
            <a:xfrm>
              <a:off x="2139239" y="1081552"/>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65,0%</a:t>
              </a:r>
              <a:endParaRPr lang="en-US" sz="587" dirty="0"/>
            </a:p>
          </p:txBody>
        </p:sp>
        <p:sp>
          <p:nvSpPr>
            <p:cNvPr id="20" name="svg0_15"/>
            <p:cNvSpPr txBox="1"/>
            <p:nvPr/>
          </p:nvSpPr>
          <p:spPr>
            <a:xfrm>
              <a:off x="2092056" y="1194481"/>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60,0%</a:t>
              </a:r>
              <a:endParaRPr lang="en-US" sz="587" dirty="0"/>
            </a:p>
          </p:txBody>
        </p:sp>
        <p:sp>
          <p:nvSpPr>
            <p:cNvPr id="21" name="svg0_16"/>
            <p:cNvSpPr txBox="1"/>
            <p:nvPr/>
          </p:nvSpPr>
          <p:spPr>
            <a:xfrm>
              <a:off x="2067458" y="1307318"/>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57,4%</a:t>
              </a:r>
              <a:endParaRPr lang="en-US" sz="587" dirty="0"/>
            </a:p>
          </p:txBody>
        </p:sp>
        <p:sp>
          <p:nvSpPr>
            <p:cNvPr id="22" name="svg0_17"/>
            <p:cNvSpPr txBox="1"/>
            <p:nvPr/>
          </p:nvSpPr>
          <p:spPr>
            <a:xfrm>
              <a:off x="1764243" y="1420246"/>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25,0%</a:t>
              </a:r>
              <a:endParaRPr lang="en-US" sz="587" dirty="0"/>
            </a:p>
          </p:txBody>
        </p:sp>
        <p:sp>
          <p:nvSpPr>
            <p:cNvPr id="23" name="svg0_18"/>
            <p:cNvSpPr txBox="1"/>
            <p:nvPr/>
          </p:nvSpPr>
          <p:spPr>
            <a:xfrm>
              <a:off x="1689537" y="1533174"/>
              <a:ext cx="20820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17,0%</a:t>
              </a:r>
              <a:endParaRPr lang="en-US" sz="587" dirty="0"/>
            </a:p>
          </p:txBody>
        </p:sp>
      </p:grpSp>
      <p:sp>
        <p:nvSpPr>
          <p:cNvPr id="24" name="Text 22"/>
          <p:cNvSpPr txBox="1"/>
          <p:nvPr/>
        </p:nvSpPr>
        <p:spPr>
          <a:xfrm>
            <a:off x="2745303" y="2734879"/>
            <a:ext cx="4409237" cy="1755008"/>
          </a:xfrm>
          <a:prstGeom prst="rect">
            <a:avLst/>
          </a:prstGeom>
          <a:noFill/>
          <a:ln/>
        </p:spPr>
        <p:txBody>
          <a:bodyPr wrap="square" lIns="0" tIns="0" rIns="0" bIns="0" rtlCol="0" anchor="t"/>
          <a:lstStyle/>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tái chế. Loại bao bì này được làm từ giấy, nhựa, kim loại, thuỷ tinh đã được sử dụng và được đem xử lý, phân loại và tái sử dụng làm bao bì mới. Với thị trường nhựa sinh học Việt Nam đạt kích thước đạt 69,5 triệu USD năm 2024, dự đoán đạt 227,7 triệu USD năm 2033, CAGR đạt 12,6% trong giai đoạn 2025 - 2033.</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có thể tái sử dụng là những bao bì được thu gom, xử lý và sử dụng lại mà không cần tạo hình, chỉnh sửa. Đây là hoạt động mà các doanh nghiệp thường sử dụng để “xanh hoá” bao bì.</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sinh học gồm một số loại bao bì từ các chất liệu như sau:</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PLA, Cellulose và phụ phẩm nông nghiệp( bao bì làm từ tinh bột - dễ tạo hình và nhanh phân huỷ, thường sử dụng cho ly, hộp thực phẩm, ống hút, màng bọc).</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PHA/ PHB ( bao bì từ vi sinh vật - có khả năng chịu nhiệt tốt, phân huỷ trong đất lẫn trong nước, sử dụng cho y tế, nông nghiệp, thực phẩm đông lạnh).</a:t>
            </a:r>
            <a:endParaRPr lang="en-US" sz="850" dirty="0"/>
          </a:p>
          <a:p>
            <a:pPr algn="just" marL="151003" indent="-151003">
              <a:lnSpc>
                <a:spcPts val="1037"/>
              </a:lnSpc>
              <a:spcAft>
                <a:spcPts val="71"/>
              </a:spcAft>
              <a:buSzPct val="100000"/>
              <a:buChar char="•"/>
            </a:pPr>
            <a:r>
              <a:rPr lang="en-US" sz="850" dirty="0">
                <a:solidFill>
                  <a:srgbClr val="1F1F1F"/>
                </a:solidFill>
                <a:latin typeface="Calibri" pitchFamily="34" charset="0"/>
                <a:ea typeface="Calibri" pitchFamily="34" charset="-122"/>
                <a:cs typeface="Calibri" pitchFamily="34" charset="-120"/>
              </a:rPr>
              <a:t>Bao bì Compostable: bao bì kết hợp nhiều loại vật liệu sinh học và có thể phân huỷ hoàn toàn trong đất hoặc nước chỉ sau vài tháng.</a:t>
            </a:r>
            <a:endParaRPr lang="en-US" sz="850" dirty="0"/>
          </a:p>
        </p:txBody>
      </p:sp>
      <p:sp>
        <p:nvSpPr>
          <p:cNvPr id="25" name="Text 2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26" name="Text 2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27" name="Text 25"/>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Người tiêu dùng ưu tiên bao bì xanh nhưng chỉ chấp nhận trả thêm ít</a:t>
            </a:r>
            <a:endParaRPr lang="en-US" sz="720" dirty="0"/>
          </a:p>
        </p:txBody>
      </p:sp>
      <p:sp>
        <p:nvSpPr>
          <p:cNvPr id="28" name="Text 26"/>
          <p:cNvSpPr txBox="1"/>
          <p:nvPr/>
        </p:nvSpPr>
        <p:spPr>
          <a:xfrm>
            <a:off x="405354" y="82625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a:t>
            </a:r>
            <a:endParaRPr lang="en-US" sz="630" dirty="0"/>
          </a:p>
        </p:txBody>
      </p:sp>
      <p:sp>
        <p:nvSpPr>
          <p:cNvPr id="29" name="Text 27"/>
          <p:cNvSpPr txBox="1"/>
          <p:nvPr/>
        </p:nvSpPr>
        <p:spPr>
          <a:xfrm>
            <a:off x="405354" y="1735165"/>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Vietnam Report (2024); Nielsen Việt Nam; PwC (2024); số liệu TMĐT, xuất khẩu trong bài của nhóm</a:t>
            </a:r>
            <a:endParaRPr lang="en-US" sz="600" dirty="0"/>
          </a:p>
        </p:txBody>
      </p:sp>
      <p:sp>
        <p:nvSpPr>
          <p:cNvPr id="30" name="Text 28"/>
          <p:cNvSpPr txBox="1"/>
          <p:nvPr/>
        </p:nvSpPr>
        <p:spPr>
          <a:xfrm>
            <a:off x="2745303" y="558058"/>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Về thị trường bao bì nhựa, theo báo cáo của VPAS, ngành nhựa bao bì chiếm 39% tỷ trọng toàn ngành công nghệ nhựa tại việt Nam. Thị trường bao bì nhựa Việt nam tăng từ 10,07 triệu tấn năm 2023 lên 15,09 triệu tấn năm 2028, với CAGR khoảng 8,44%. Bao bì nhựa vẫn chiếm tỷ trọng đáng kể trong ngành thực phẩm do khả năng bảo quản vượt trội, giá rẻ, nhu cầu tiêu thụ đồ ăn tiện lợi bùng nổ (bảng các nhóm sản phẩm nhựa ở Fig. A03).</a:t>
            </a:r>
            <a:endParaRPr lang="en-US" sz="850" dirty="0"/>
          </a:p>
        </p:txBody>
      </p:sp>
      <p:sp>
        <p:nvSpPr>
          <p:cNvPr id="31" name="Text 29"/>
          <p:cNvSpPr txBox="1"/>
          <p:nvPr/>
        </p:nvSpPr>
        <p:spPr>
          <a:xfrm>
            <a:off x="2745303" y="1253551"/>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Về thị trường bao bì hộp kim loại Việt nam đạt 2,11 tỷ USD vào 2024, dự kiến đạt 2,45 tỷ USD vào 2029, tốc độ tăng trưởng CAGR là 3,07% trong giai đoạn 2024 -2029.</a:t>
            </a:r>
            <a:endParaRPr lang="en-US" sz="850" dirty="0"/>
          </a:p>
        </p:txBody>
      </p:sp>
      <p:sp>
        <p:nvSpPr>
          <p:cNvPr id="32" name="Text 30"/>
          <p:cNvSpPr txBox="1"/>
          <p:nvPr/>
        </p:nvSpPr>
        <p:spPr>
          <a:xfrm>
            <a:off x="2745303" y="1554389"/>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3.2.1.1. Ngành bao bì xanh tại Việt Nam</a:t>
            </a:r>
            <a:endParaRPr lang="en-US" sz="820" dirty="0"/>
          </a:p>
        </p:txBody>
      </p:sp>
      <p:sp>
        <p:nvSpPr>
          <p:cNvPr id="33" name="Text 31"/>
          <p:cNvSpPr txBox="1"/>
          <p:nvPr/>
        </p:nvSpPr>
        <p:spPr>
          <a:xfrm>
            <a:off x="2745303" y="1700967"/>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Ngành bao bì xanh là một trong những bộ phận có sự chuyển dịch mang tính chiến lược và bền vững trong tổng thể ngành bao bì Việt Nam khi đặt trong bối cảnh nhu cầu chuyển đổi sang các vật liệu thân thiện với môi trường ngày càng mạnh mẽ.</a:t>
            </a:r>
            <a:endParaRPr lang="en-US" sz="850" dirty="0"/>
          </a:p>
        </p:txBody>
      </p:sp>
      <p:sp>
        <p:nvSpPr>
          <p:cNvPr id="34" name="Text 32"/>
          <p:cNvSpPr txBox="1"/>
          <p:nvPr/>
        </p:nvSpPr>
        <p:spPr>
          <a:xfrm>
            <a:off x="2745303" y="2133295"/>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thống kê từ IMARC Group quy mô thị trường bao bì xanh tại Việt Nam đạt 1.129,79 triệu USD vào năm 2025. Dự kiến đạt 1.628,64 triệu USD năm 2034, tốc độ tăng trưởng kép hằng năm ( CAGR) là 4,15% trong giai đoạn 2026 - 2034 và có xu hướng tăng trưởng dài hạn.</a:t>
            </a:r>
            <a:endParaRPr lang="en-US" sz="850" dirty="0"/>
          </a:p>
        </p:txBody>
      </p:sp>
      <p:sp>
        <p:nvSpPr>
          <p:cNvPr id="35" name="Text 33"/>
          <p:cNvSpPr txBox="1"/>
          <p:nvPr/>
        </p:nvSpPr>
        <p:spPr>
          <a:xfrm>
            <a:off x="2745303" y="2565624"/>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Thị trường bao bì xanh được chia thành các nhân tố như sau:</a:t>
            </a:r>
            <a:endParaRPr lang="en-US" sz="850" dirty="0"/>
          </a:p>
        </p:txBody>
      </p:sp>
      <p:sp>
        <p:nvSpPr>
          <p:cNvPr id="36" name="Text 34"/>
          <p:cNvSpPr txBox="1"/>
          <p:nvPr/>
        </p:nvSpPr>
        <p:spPr>
          <a:xfrm>
            <a:off x="2745303" y="4541916"/>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Theo thống kê từ IMARC Group, riêng thị trường bao bì dùng một lần phân hủy sinh học cho ngành dịch vụ ăn uống (F&amp;B) đạt khoảng 33,93 triệu USD vào năm 2025. Dự kiến đạt 51,45 triệu USD năm 2034, tốc độ tăng trưởng kép hằng năm (CAGR) là 4,73% trong giai đoạn 2026 - 2034 và có xu hướng tăng trưởng dài hạn.</a:t>
            </a:r>
            <a:endParaRPr lang="en-US" sz="850" dirty="0"/>
          </a:p>
        </p:txBody>
      </p:sp>
      <p:sp>
        <p:nvSpPr>
          <p:cNvPr id="37" name="Text 35"/>
          <p:cNvSpPr txBox="1"/>
          <p:nvPr/>
        </p:nvSpPr>
        <p:spPr>
          <a:xfrm>
            <a:off x="2745303" y="5105918"/>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Bao bì xanh được ứng dụng trong hầu hết các ngành sản xuất và kinh doanh như ngành công nghiệp thực phẩm, đồ uống, y tế, chăm sóc sức khoẻ và điện tử.</a:t>
            </a:r>
            <a:endParaRPr lang="en-US" sz="850" dirty="0"/>
          </a:p>
        </p:txBody>
      </p:sp>
      <p:sp>
        <p:nvSpPr>
          <p:cNvPr id="38" name="Text 36"/>
          <p:cNvSpPr txBox="1"/>
          <p:nvPr/>
        </p:nvSpPr>
        <p:spPr>
          <a:xfrm>
            <a:off x="2745303" y="5406664"/>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3.2.2. Động lực tăng trưởng chính</a:t>
            </a:r>
            <a:endParaRPr lang="en-US" sz="820" dirty="0"/>
          </a:p>
        </p:txBody>
      </p:sp>
      <p:sp>
        <p:nvSpPr>
          <p:cNvPr id="39" name="Text 37"/>
          <p:cNvSpPr txBox="1"/>
          <p:nvPr/>
        </p:nvSpPr>
        <p:spPr>
          <a:xfrm>
            <a:off x="2745303" y="5553243"/>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Ngành công nghiệp bao bì xanh của Việt Nam đang được các chuyên gia và nhà đầu tư kỳ vọng sẽ tăng trưởng mạnh do được thúc đẩy bởi các động lực rõ ràng như sau:</a:t>
            </a:r>
            <a:endParaRPr lang="en-US" sz="850" dirty="0"/>
          </a:p>
        </p:txBody>
      </p:sp>
      <p:sp>
        <p:nvSpPr>
          <p:cNvPr id="40" name="Text 38"/>
          <p:cNvSpPr txBox="1"/>
          <p:nvPr/>
        </p:nvSpPr>
        <p:spPr>
          <a:xfrm>
            <a:off x="2745303" y="5853989"/>
            <a:ext cx="4409237" cy="1447221"/>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đầu tiên là do sự thay đổi trong hành vi người tiêu dùng. Do sự phát triển nhanh chóng của thị trường Việt Nam, khi GDP tăng, thu nhập bình quân đầu người tăng, mức sống tăng đã thúc đẩy các nhu cầu tiêu thụ đối với sản phẩm thực phẩm và đồ uống đóng gói, dược phẩm, sản phẩm, hàng hoá đã thúc đẩy nhu cầu về các giải pháp đóng gói và bao bì. Bên cạnh đó, sự chú ý tới hoạt động bảo vệ môi trường đã tác động đến người tiêu dùng bắt đầu tìm kiếm và sử dụng các sản phẩm có bao bì thân thiện với môi trường khi dựa theo khảo sát của Vietnam Report 2024 có 92,1% người tiêu dùng quan tâm đến tính thân thiện môi trường của bao bì và theo khảo sát của Nielsen Việt Nam cho thấy 65% người tiêu dùng sẵn sàng chi trả cao hơn cho các sản phẩm có “tính xanh”, bền vững. Yếu tố này tác động gián tiếp đến AgriPack: người tiêu dùng của các doanh nghiệp chuyển sang ưa thích các dòng bao bì xanh thì buộc nhà sản xuất ( các doanh nghiệp F&amp;B, doanh nghiệp linh kiện điện tử) phải chuyển đổi dần sang nhà cung cấp bao bì xanh (Fig. 26).</a:t>
            </a:r>
            <a:endParaRPr lang="en-US" sz="850" dirty="0"/>
          </a:p>
        </p:txBody>
      </p:sp>
      <p:sp>
        <p:nvSpPr>
          <p:cNvPr id="41" name="Text 39"/>
          <p:cNvSpPr txBox="1"/>
          <p:nvPr/>
        </p:nvSpPr>
        <p:spPr>
          <a:xfrm>
            <a:off x="2745303" y="7338792"/>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hai là do sự bùng nổ của thương mại điện tử . Thị trường thương mại điện tử Việt Nam đang tăng trưởng mạnh mẽ kể từ giai đoạn 2021 - 2024, tăng trưởng đạt 18%/ năm, năm 2024 ghi nhận xếp hạng thứ ba về quy mô thị trường ở khu vực Đông Nam Á với doanh thu đạt 38,5 tỷ USD vào 2025 với khoảng 60% dân số tham gia mua sắm trực tuyến, tốc độ tăng trưởng trung bình của ngành này là 25%/ năm.Thị trường thương mại điện tử đang trở thành một loại hình bán lẻ quan trọng tại Việt Nam, điều này dẫn đến nhu cầu lớn hơn về bao bì vận chuyển, bao bì đẹp để thu hút khách hàng.</a:t>
            </a:r>
            <a:endParaRPr lang="en-US" sz="850" dirty="0"/>
          </a:p>
        </p:txBody>
      </p:sp>
      <p:sp>
        <p:nvSpPr>
          <p:cNvPr id="42" name="Text 40"/>
          <p:cNvSpPr txBox="1"/>
          <p:nvPr/>
        </p:nvSpPr>
        <p:spPr>
          <a:xfrm>
            <a:off x="2745303" y="8297540"/>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ba, yêu cầu chuỗi cung ứng xanh hoá từ xuất khẩu và FDI. Hoạt động xuất khẩu của Việt Nam năm 2024 đạt 405,94 tỷ USD, năm 2025 đạt 475,04 tỷ USD và khối doanh nghiệp FDI đóng vai trò chủ đạo với tỷ trọng 80% tổng kim ngạch xuất khẩu hàng hoá cả nước.Ngành bao bì là ngành công nghiệp hỗ trợ trực tiếp cho các lĩnh vực như dệt may, da giày, thuỷ sản, linh kiện điện tử, nông sản - những ngành xuất khẩu chủ lực của Việt Nam. Các doanh nghiệp FDI đầu tư vào Việt Nam và các doanh nghiệp Việt cũng đầu tư vào bao bì xanh để đáp ứng yêu cầu cao về môi trường tại các thị trường có tiêu chuẩn cao như EU, Mỹ, Nhật Bản.</a:t>
            </a:r>
            <a:endParaRPr lang="en-US" sz="850" dirty="0"/>
          </a:p>
        </p:txBody>
      </p:sp>
      <p:sp>
        <p:nvSpPr>
          <p:cNvPr id="43" name="Text 41"/>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44" name="Text 42"/>
          <p:cNvSpPr txBox="1"/>
          <p:nvPr/>
        </p:nvSpPr>
        <p:spPr>
          <a:xfrm>
            <a:off x="7114581" y="10406512"/>
            <a:ext cx="97018"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9</a:t>
            </a:r>
            <a:endParaRPr lang="en-US" sz="6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10369479"/>
            <a:ext cx="6749004" cy="0"/>
          </a:xfrm>
          <a:prstGeom prst="line">
            <a:avLst/>
          </a:prstGeom>
          <a:noFill/>
          <a:ln w="9525">
            <a:solidFill>
              <a:srgbClr val="BFBFBF"/>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05354" y="840608"/>
          <a:ext cx="2159996" cy="914400"/>
        </p:xfrm>
        <a:graphic>
          <a:graphicData uri="http://schemas.openxmlformats.org/drawingml/2006/table">
            <a:tbl>
              <a:tblPr/>
              <a:tblGrid>
                <a:gridCol w="734355"/>
                <a:gridCol w="475031"/>
                <a:gridCol w="950610"/>
              </a:tblGrid>
              <a:tr h="230429">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Lực lượng</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Mức độ (nhóm)</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Phản ánh trong mô hình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6497">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Cạnh tranh nội bộ ngành</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Giá bán tăng 2%/năm (&lt; CPI)</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Rào cản gia nhập</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Trung bình –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CAPEX 65% DT năm 2027 để đạt quy mô công nghiệp</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Nhà cung cấp</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Trung bình</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CP biến đổi 25,0% → 27,0% DT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Khách hàng (B2B)</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Rất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DSO 14 → 30 ngày; giá bám đối thủ</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Sản phẩm thay thế (2026–2030)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Kịch bản Bear: sản lượng 70% Base</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6" name="Text 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7" name="Text 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8" name="Text 5"/>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Sức mạnh khách hàng và sản phẩm thay thế là hai lực lượng mạnh nhất</a:t>
            </a:r>
            <a:endParaRPr lang="en-US" sz="720" dirty="0"/>
          </a:p>
        </p:txBody>
      </p:sp>
      <p:sp>
        <p:nvSpPr>
          <p:cNvPr id="9" name="Text 6"/>
          <p:cNvSpPr txBox="1"/>
          <p:nvPr/>
        </p:nvSpPr>
        <p:spPr>
          <a:xfrm>
            <a:off x="405354" y="2342601"/>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Đánh giá mức độ: bài của nhóm (Mục 3.2.3); cột cuối: cách phản ánh trong mô hình</a:t>
            </a:r>
            <a:endParaRPr lang="en-US" sz="600" dirty="0"/>
          </a:p>
        </p:txBody>
      </p:sp>
      <p:sp>
        <p:nvSpPr>
          <p:cNvPr id="10" name="Text 7"/>
          <p:cNvSpPr txBox="1"/>
          <p:nvPr/>
        </p:nvSpPr>
        <p:spPr>
          <a:xfrm>
            <a:off x="2745303" y="558058"/>
            <a:ext cx="4409237" cy="118405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tư, Chính sách EPR, ESG, Luật Bảo vệ Môi trường 2020 và cam kết Net Zero trước 2050 của nhà nước đề ra đã được cụ thể hoá và chuyển đổi dần. Đây là yếu tố trực tiếp thúc đẩy ngành bao bì xanh phát triển do việc chuyển đổi xanh - bảo vệ môi trường EPR làm tăng chi phí dùng bao bì nhựa của khách hàng, từ đó tạo động lực chuyển đổi sang bao bì xanh . Hiện nay, Việt nam đã triển khai các cơ chế trách nhiệm mở rộng của nhà sản xuất ( EPR), do đó, ngành bao bì cũng cần chịu trách nhiệm tái chế hoặc giảm sử dụng bao bì kém thân thiện với môi trường. Nghị định 110/2026/NĐ-CP đã tiếp tục cụ thể hóa trách nhiệm tái chế sản phẩm, bao bì, trách nhiệm xử lý chất thải công nghiệp. Các quy định của chính phủ đã tạo áp lực khiến các doanh nghiệp chuyển đổi sang vật liệu bao bì thân thiện với môi trường.</a:t>
            </a:r>
            <a:endParaRPr lang="en-US" sz="850" dirty="0"/>
          </a:p>
        </p:txBody>
      </p:sp>
      <p:sp>
        <p:nvSpPr>
          <p:cNvPr id="11" name="Text 8"/>
          <p:cNvSpPr txBox="1"/>
          <p:nvPr/>
        </p:nvSpPr>
        <p:spPr>
          <a:xfrm>
            <a:off x="2745303" y="1779880"/>
            <a:ext cx="4409237" cy="118405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năm, sự đột phá trong công nghệ sản xuất bao bì xanh. Hiện nay, đã có nhiều sự phát triển trong hoạt động xử lý và tách chiết vật liệu xanh hoá ( vật liệu nhựa sinh học từ bã cà phê, bao bì sinh học từ vỏ trái cây, nhựa sinh học PLA, nhựa sinh học từ tinh bột PHA/PHB), công nghệ ép khuôn (gia công ướt/ khô polyme từ vỏ giáp xác, ép khuôn bột bã mía, ép khuôn nhiệt ướt - wet press thermoforming), chống thấm ẩm mốc và tăng độ dẻo dai , lớp màng sản phẩm( lớp chống dầu/ nước không chưa PAFS, sử dụng vỏ trứng để tăng độ bền, màng nhựa từ bột sắn, BioResin, BioFilm,...).Việt Nam là một quốc gia nông nghiệp, phụ phẩm từ quá trình sản xuất nông nghiệp là rất lớn, do đó, sự đột phá trong công nghệ sản xuất bao bì từ phụ phẩm nông nghiệp đã được tái sử dụng và gia tăng vòng đời.</a:t>
            </a:r>
            <a:endParaRPr lang="en-US" sz="850" dirty="0"/>
          </a:p>
        </p:txBody>
      </p:sp>
      <p:sp>
        <p:nvSpPr>
          <p:cNvPr id="12" name="Text 9"/>
          <p:cNvSpPr txBox="1"/>
          <p:nvPr/>
        </p:nvSpPr>
        <p:spPr>
          <a:xfrm>
            <a:off x="2745303" y="3001609"/>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Chuyển đổi xanh trên thị trường bao bì đã không còn là sự lựa chọn mà đã trở thành yêu cầu bắt buộc với doanh nghiệp ngành bao bì.</a:t>
            </a:r>
            <a:endParaRPr lang="en-US" sz="850" dirty="0"/>
          </a:p>
        </p:txBody>
      </p:sp>
      <p:sp>
        <p:nvSpPr>
          <p:cNvPr id="13" name="Text 10"/>
          <p:cNvSpPr txBox="1"/>
          <p:nvPr/>
        </p:nvSpPr>
        <p:spPr>
          <a:xfrm>
            <a:off x="2745303" y="3302356"/>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3.2.3. Môi trường cạnh tranh</a:t>
            </a:r>
            <a:endParaRPr lang="en-US" sz="820" dirty="0"/>
          </a:p>
        </p:txBody>
      </p:sp>
      <p:sp>
        <p:nvSpPr>
          <p:cNvPr id="14" name="Text 11"/>
          <p:cNvSpPr txBox="1"/>
          <p:nvPr/>
        </p:nvSpPr>
        <p:spPr>
          <a:xfrm>
            <a:off x="2745303" y="3448934"/>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Dựa trên lý thuyết 5 lực lượng cạnh tranh của Porter, tổng quan về mức độ cạnh tranh của ngành bao bì xanh như sau: (Fig. 27)</a:t>
            </a:r>
            <a:endParaRPr lang="en-US" sz="850" dirty="0"/>
          </a:p>
        </p:txBody>
      </p:sp>
      <p:sp>
        <p:nvSpPr>
          <p:cNvPr id="15" name="Text 12"/>
          <p:cNvSpPr txBox="1"/>
          <p:nvPr/>
        </p:nvSpPr>
        <p:spPr>
          <a:xfrm>
            <a:off x="2745303" y="3749680"/>
            <a:ext cx="4409237" cy="1315730"/>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Cạnh tranh trong nội bộ ngành bao bì xanh ở mức độ cao. Ngành bao bì xanh cũng cạnh tranh cao ở các phân khúc chất liệu sản phẩm ( giấy, nhựa tái chế, nhựa sinh học, chất liệu phân huỷ sinh học). Và số doanh nghiệp tham gia thị trường này ngày càng tăng nhanh: một số doanh nghiệp lớn như An Phát Holdings ( AnEco - tiên phong về nhựa sinh học phân huỷ), Hapbio ( bao bì sinh học với chất liệu từ tinh bột ngô sắn); các doanh nghiệp khởi nghiệp sáng tạo tận dụng phụ phẩm nông nghiệp như BioWarps, Thành Long, cùng các nghiên cứu từ các trường đại học như Đại học Nguyễn Tất Thành. Cạnh tranh nội bộ ngành cao bởi một số doanh nghiệp lớn đã có kinh nghiệm lâu năm, quy mô sản xuất lớn, khách hàng doanh nghiệp (B2B) yêu cầu chất lượng ổn định, khả năng đầu tư vào công nghệ sản xuất và R&amp;D cao, tuy nhiên yếu tố giá vẫn là một trong những yếu tố cạnh tranh quan trọng.</a:t>
            </a:r>
            <a:endParaRPr lang="en-US" sz="850" dirty="0"/>
          </a:p>
        </p:txBody>
      </p:sp>
      <p:sp>
        <p:nvSpPr>
          <p:cNvPr id="16" name="Text 13"/>
          <p:cNvSpPr txBox="1"/>
          <p:nvPr/>
        </p:nvSpPr>
        <p:spPr>
          <a:xfrm>
            <a:off x="2745303" y="5102992"/>
            <a:ext cx="4409237" cy="1315730"/>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Rào cản gia nhập ở mức trung bình cao. Hiện tại, Chính Phủ đang khuyến khích các doanh nghiệp khởi nghiệp gia nhập ngành bao bì xanh thông qua các chính sách khuyến khích. Tuy nhiên, ngành bao bì xanh yêu cầu đầu tư nghiên cứu R&amp;D rất cao để đạt yêu cầu - đây là rào cản khá cao, vốn đầu tư lớn do cần xây dựng dây chuyền sản xuất, chứng chỉ xanh. Ở mức quy mô nhỏ, các doanh nghiệp khởi nghiệp có thể bắt đầu với thiết kế bao bì, thương mại, gia công và cung cấp giải pháp cho doanh nghiệp nhỏ - rào cản lúc này ở mức trung bình. Nhưng trong trường hợp doanh nghiệp tự sản xuất ở quy mô công nghiệp cao thì rào cản tương đối lớn do cần đầu tư vào dây chuyền sản xuất, máy móc, nhà xưởng, kiểm soát chất lượng, nguyên liệu, giấy chứng nhận sản phẩm, giấy sở hữu trí tuệ, hệ thống khách hàng. Do đó, rào cản gia nhập thấp hơn ở các doanh nghiệp nhỏ nhưng cao hơn ở tầng sản xuất quy mô lớn.</a:t>
            </a:r>
            <a:endParaRPr lang="en-US" sz="850" dirty="0"/>
          </a:p>
        </p:txBody>
      </p:sp>
      <p:sp>
        <p:nvSpPr>
          <p:cNvPr id="17" name="Text 14"/>
          <p:cNvSpPr txBox="1"/>
          <p:nvPr/>
        </p:nvSpPr>
        <p:spPr>
          <a:xfrm>
            <a:off x="2745303" y="6456304"/>
            <a:ext cx="4409237" cy="105247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Sự ảnh hưởng của nhà cung cấp ở mức trung bình. Nguyên liệu của ngành bao bì xanh - nếu đến từ nguyên liệu giấy tái chế hoặc các vật liệu nhựa sinh học thì sẽ bị phụ thuộc vào các nhà máy lớn, các bên phân phối, sản xuất các chất liệu này làm gia tăng rủi ro về giá và nguồn cung; nếu nguyên liệu đến từ phế phẩm nông nghiệp ( tre, bã mía, vỏ trấu,..) thì sức ảnh hưởng sẽ thấp hơn do Việt Nam là quốc gia nông nghiệp, nguồn nguyên liệu tại địa phương còn rất nhiều nên rủi ro về giá và nguồn cung sẽ thấp hơn, bên cạnh đó doanh nghiệp hoạt động trong lĩnh vực sản xuất bao bì vật liệu sinh học dễ phân huỷ thì cần thiết xây dựng quan hệ hợp tác dài hạn với các nông trại, nhà cung cấp tại địa phương ( nhà máy sản xuất thực phẩm) hoặc các đơn vị thu gom.</a:t>
            </a:r>
            <a:endParaRPr lang="en-US" sz="850" dirty="0"/>
          </a:p>
        </p:txBody>
      </p:sp>
      <p:sp>
        <p:nvSpPr>
          <p:cNvPr id="18" name="Text 15"/>
          <p:cNvSpPr txBox="1"/>
          <p:nvPr/>
        </p:nvSpPr>
        <p:spPr>
          <a:xfrm>
            <a:off x="2745303" y="7546452"/>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Sức mạnh của khách hàng trong ngành bao bì xanh là rất cao. Do ngành bao bì hoạt động kinh doanh theo mô hình B2B ( Business to Business), khách hàng thường là các doanh nghiệp sản xuất. Các khách hàng doanh nghiệp có nhiều lựa chọn từ bao bì giấy, nhựa, carton, các loại bao bì khác, có tính linh hoạt cao và chi phí rẻ hơn và nhiều ứng dụng hơn. Do vậy, khách hàng có nhiều khả năng gây sức ép về giá, yêu cầu về chất lượng, thời gian giao hàng, số lượng sản phẩm, khả năng cung cấp ổn định.</a:t>
            </a:r>
            <a:endParaRPr lang="en-US" sz="850" dirty="0"/>
          </a:p>
        </p:txBody>
      </p:sp>
      <p:sp>
        <p:nvSpPr>
          <p:cNvPr id="19" name="Text 16"/>
          <p:cNvSpPr txBox="1"/>
          <p:nvPr/>
        </p:nvSpPr>
        <p:spPr>
          <a:xfrm>
            <a:off x="2745303" y="8373527"/>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Sản phẩm thay thế có mức ảnh hưởng là cao trong giai đoạn 2026 -2030. Bao bì truyền thống ( nhựa, giấy, kim loại, carton ) đặc trưng là giá rẻ, đa dạng, dễ dàng sản xuất và thời gian nghiên cứu, sản xuất nhanh chóng, trong khi bao bì xanh có chi phí sản xuất cao, công nghệ mới khiến giá thành cao hơn, nhiều sản phẩm bao bì không đáp ứng đủ về mức độ cơ học, mức độ chịu nhiệt và độ bền và lượng cung ứng. Tuy nhiên, áp lực này có xu hướng thay đổi giảm xuống theo thời gian, do xu hướng chuyển dịch “xanh hoá” với các quy định cụ thể của Nhà nước và xã hội để giảm rác thải nhựa - bao bì nhựa dùng một lần.</a:t>
            </a:r>
            <a:endParaRPr lang="en-US" sz="850" dirty="0"/>
          </a:p>
        </p:txBody>
      </p:sp>
      <p:sp>
        <p:nvSpPr>
          <p:cNvPr id="20" name="Text 17"/>
          <p:cNvSpPr txBox="1"/>
          <p:nvPr/>
        </p:nvSpPr>
        <p:spPr>
          <a:xfrm>
            <a:off x="2745303" y="9332092"/>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3.2.4. Đối thủ cạnh tranh</a:t>
            </a:r>
            <a:endParaRPr lang="en-US" sz="820" dirty="0"/>
          </a:p>
        </p:txBody>
      </p:sp>
      <p:sp>
        <p:nvSpPr>
          <p:cNvPr id="21" name="Text 18"/>
          <p:cNvSpPr txBox="1"/>
          <p:nvPr/>
        </p:nvSpPr>
        <p:spPr>
          <a:xfrm>
            <a:off x="2745303" y="9478670"/>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Một số đối thủ cạnh tranh trực tiếp trong ngành bao bì xanh (Fig. A04)</a:t>
            </a:r>
            <a:endParaRPr lang="en-US" sz="850" dirty="0"/>
          </a:p>
        </p:txBody>
      </p:sp>
      <p:sp>
        <p:nvSpPr>
          <p:cNvPr id="22" name="Text 19"/>
          <p:cNvSpPr txBox="1"/>
          <p:nvPr/>
        </p:nvSpPr>
        <p:spPr>
          <a:xfrm>
            <a:off x="2745303" y="9647926"/>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AgriPack đối mặt với hai nhóm đối thủ lớn. Nhóm thứ nhất là các doanh nghiệp có quy mô lớn như AnEco (nội địa) và Tetra Pak (tập đoàn đa quốc gia) - những doanh nghiệp có lợi thế về vốn, công suất, hệ thống sản xuất và hệ thống khách hàng, được công nhận trên thị trường. Nhóm thứ hai là các doanh nghiệp khởi nghiệp trong cùng lĩnh vực bao bì xanh như BioWraps, AIRX Coffee - đều là những doanh nghiệp có định hướng sử dụng phụ phẩm nông nghiệp thành vật liệu xanh.</a:t>
            </a:r>
            <a:endParaRPr lang="en-US" sz="850" dirty="0"/>
          </a:p>
        </p:txBody>
      </p:sp>
      <p:sp>
        <p:nvSpPr>
          <p:cNvPr id="23" name="Text 20"/>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4" name="Text 21"/>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10</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2159996" cy="0"/>
          </a:xfrm>
          <a:prstGeom prst="line">
            <a:avLst/>
          </a:prstGeom>
          <a:noFill/>
          <a:ln w="9525">
            <a:solidFill>
              <a:srgbClr val="7B1E2B"/>
            </a:solidFill>
            <a:prstDash val="solid"/>
          </a:ln>
        </p:spPr>
      </p:sp>
      <p:sp>
        <p:nvSpPr>
          <p:cNvPr id="4" name="Shape 2"/>
          <p:cNvSpPr/>
          <p:nvPr/>
        </p:nvSpPr>
        <p:spPr>
          <a:xfrm>
            <a:off x="405354" y="10369479"/>
            <a:ext cx="6749004" cy="0"/>
          </a:xfrm>
          <a:prstGeom prst="line">
            <a:avLst/>
          </a:prstGeom>
          <a:noFill/>
          <a:ln w="9525">
            <a:solidFill>
              <a:srgbClr val="BFBFBF"/>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05354" y="840608"/>
          <a:ext cx="2159996" cy="914400"/>
        </p:xfrm>
        <a:graphic>
          <a:graphicData uri="http://schemas.openxmlformats.org/drawingml/2006/table">
            <a:tbl>
              <a:tblPr/>
              <a:tblGrid>
                <a:gridCol w="1511960"/>
                <a:gridCol w="648035"/>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Sản phẩm thay thế</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Áp lực</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Nhựa truyền thống, hộp xốp dùng một lần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Rất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Giấy, carton, kraf (giấy từ gỗ mềm)</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Nhựa sinh học</a:t>
                      </a:r>
                      <a:endParaRPr lang="en-US" sz="624" dirty="0">
                        <a:latin typeface="Calibri" charset="0"/>
                        <a:ea typeface="Calibri" charset="0"/>
                        <a:cs typeface="Calibri" charset="0"/>
                      </a:endParaRPr>
                    </a:p>
                    <a:p>
                      <a:pPr algn="l" indent="0" marL="0">
                        <a:buNone/>
                      </a:pPr>
                      <a:r>
                        <a:rPr lang="en-US" sz="624" dirty="0">
                          <a:solidFill>
                            <a:srgbClr val="1F1F1F"/>
                          </a:solidFill>
                          <a:latin typeface="Calibri" pitchFamily="34" charset="0"/>
                          <a:ea typeface="Calibri" pitchFamily="34" charset="-122"/>
                          <a:cs typeface="Calibri" pitchFamily="34" charset="-120"/>
                        </a:rPr>
                        <a:t>(PLA, PHA)</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Nhựa tái chế</a:t>
                      </a:r>
                      <a:endParaRPr lang="en-US" sz="624" dirty="0">
                        <a:latin typeface="Calibri" charset="0"/>
                        <a:ea typeface="Calibri" charset="0"/>
                        <a:cs typeface="Calibri" charset="0"/>
                      </a:endParaRPr>
                    </a:p>
                    <a:p>
                      <a:pPr algn="l" indent="0" marL="0">
                        <a:buNone/>
                      </a:pPr>
                      <a:r>
                        <a:rPr lang="en-US" sz="624" dirty="0">
                          <a:solidFill>
                            <a:srgbClr val="1F1F1F"/>
                          </a:solidFill>
                          <a:latin typeface="Calibri" pitchFamily="34" charset="0"/>
                          <a:ea typeface="Calibri" pitchFamily="34" charset="-122"/>
                          <a:cs typeface="Calibri" pitchFamily="34" charset="-120"/>
                        </a:rPr>
                        <a:t>( rPET, PCR)</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Trung bình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Bioplastic</a:t>
                      </a:r>
                      <a:endParaRPr lang="en-US" sz="624" dirty="0">
                        <a:latin typeface="Calibri" charset="0"/>
                        <a:ea typeface="Calibri" charset="0"/>
                        <a:cs typeface="Calibri" charset="0"/>
                      </a:endParaRPr>
                    </a:p>
                    <a:p>
                      <a:pPr algn="l" indent="0" marL="0">
                        <a:buNone/>
                      </a:pPr>
                      <a:r>
                        <a:rPr lang="en-US" sz="624" dirty="0">
                          <a:solidFill>
                            <a:srgbClr val="1F1F1F"/>
                          </a:solidFill>
                          <a:latin typeface="Calibri" pitchFamily="34" charset="0"/>
                          <a:ea typeface="Calibri" pitchFamily="34" charset="-122"/>
                          <a:cs typeface="Calibri" pitchFamily="34" charset="-120"/>
                        </a:rPr>
                        <a:t>(PLA/ PBAT, nhựa phối trộn với nguyên liệu sinh học)</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Bao bì vật liệu sinh học ( bã cà phê,trấu, rơm rạ, vỏ dừa,...)</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Đệm xốp bảo vệ (EPE/ PE Foam)</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Đệm xốp sinh học</a:t>
                      </a:r>
                      <a:endParaRPr lang="en-US" sz="624" dirty="0">
                        <a:latin typeface="Calibri" charset="0"/>
                        <a:ea typeface="Calibri" charset="0"/>
                        <a:cs typeface="Calibri" charset="0"/>
                      </a:endParaRPr>
                    </a:p>
                    <a:p>
                      <a:pPr algn="l" indent="0" marL="0">
                        <a:buNone/>
                      </a:pPr>
                      <a:r>
                        <a:rPr lang="en-US" sz="624" dirty="0">
                          <a:solidFill>
                            <a:srgbClr val="1F1F1F"/>
                          </a:solidFill>
                          <a:latin typeface="Calibri" pitchFamily="34" charset="0"/>
                          <a:ea typeface="Calibri" pitchFamily="34" charset="-122"/>
                          <a:cs typeface="Calibri" pitchFamily="34" charset="-120"/>
                        </a:rPr>
                        <a:t>(từ sợi nấm, tinh bột)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Trung bình -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Đệm giấy tổ ong/ giấy nhún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Trung bình - cao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6" name="Text 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7" name="Text 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8" name="Text 5"/>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Nhựa truyền thống, hộp xốp là sản phẩm thay thế có áp lực rất cao</a:t>
            </a:r>
            <a:endParaRPr lang="en-US" sz="720" dirty="0"/>
          </a:p>
        </p:txBody>
      </p:sp>
      <p:sp>
        <p:nvSpPr>
          <p:cNvPr id="9" name="Text 6"/>
          <p:cNvSpPr txBox="1"/>
          <p:nvPr/>
        </p:nvSpPr>
        <p:spPr>
          <a:xfrm>
            <a:off x="405354" y="278105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Bài của nhóm (Mục 3.2.6); ưu, nhược điểm chi tiết ở Fig. A05</a:t>
            </a:r>
            <a:endParaRPr lang="en-US" sz="600" dirty="0"/>
          </a:p>
        </p:txBody>
      </p:sp>
      <p:sp>
        <p:nvSpPr>
          <p:cNvPr id="10" name="Text 7"/>
          <p:cNvSpPr txBox="1"/>
          <p:nvPr/>
        </p:nvSpPr>
        <p:spPr>
          <a:xfrm>
            <a:off x="2745303" y="558058"/>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3.2.5. Rào cản gia nhập</a:t>
            </a:r>
            <a:endParaRPr lang="en-US" sz="820" dirty="0"/>
          </a:p>
        </p:txBody>
      </p:sp>
      <p:sp>
        <p:nvSpPr>
          <p:cNvPr id="11" name="Text 8"/>
          <p:cNvSpPr txBox="1"/>
          <p:nvPr/>
        </p:nvSpPr>
        <p:spPr>
          <a:xfrm>
            <a:off x="2745303" y="704637"/>
            <a:ext cx="4409237" cy="13158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Ngành sản xuất bao bì xanh có một số rào cản gia nhập rõ ràng như sau:</a:t>
            </a:r>
            <a:endParaRPr lang="en-US" sz="850" dirty="0"/>
          </a:p>
        </p:txBody>
      </p:sp>
      <p:sp>
        <p:nvSpPr>
          <p:cNvPr id="12" name="Text 9"/>
          <p:cNvSpPr txBox="1"/>
          <p:nvPr/>
        </p:nvSpPr>
        <p:spPr>
          <a:xfrm>
            <a:off x="2745303" y="873892"/>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đầu tiên là về vốn đầu tư. Sản xuất bao bì xanh từ phụ phẩm nông nghiệp yêu cầu hệ thống máy móc từ thu gom, hệ thống phân loại, xử lý và làm sạch , chuẩn hoá nguyên liệu, máy móc tạo hình, máy sấy nhiệt, hệ thống kiểm tra chất lượng, khuôn, màng lọc theo từng sản phẩm được đặt hàng. Với khách hàng doanh nghiệp ( B2B) còn phải có khả năng duy trì sản lượng ổn định. Do đó, vốn đầu tư ban đầu và vốn lưu động là rào cản lớn, đặc biệt trong giai đoạn startup.</a:t>
            </a:r>
            <a:endParaRPr lang="en-US" sz="850" dirty="0"/>
          </a:p>
        </p:txBody>
      </p:sp>
      <p:sp>
        <p:nvSpPr>
          <p:cNvPr id="13" name="Text 10"/>
          <p:cNvSpPr txBox="1"/>
          <p:nvPr/>
        </p:nvSpPr>
        <p:spPr>
          <a:xfrm>
            <a:off x="2745303" y="1569476"/>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hai là rào cản về công nghệ và hoạt động nghiên cứu R&amp;D. Phụ phẩm nông nghiệp có tính chất không đồng nhất, độ ẩm, thành phần có thể thay đổi theo mùa vụ, nguồn cung và quá trình xử lý. Vì vậy, doanh nghiệp phải nghiên cứu, thử nghiệm lâu dài, chuẩn bị các công nghệ, cách dây chuyền xử lý và chuẩn hoá nguyên liệu trước khi tạo hình, điều này yêu cầu hệ thống xử lý và phân loại có công nghệ cao.</a:t>
            </a:r>
            <a:endParaRPr lang="en-US" sz="850" dirty="0"/>
          </a:p>
        </p:txBody>
      </p:sp>
      <p:sp>
        <p:nvSpPr>
          <p:cNvPr id="14" name="Text 11"/>
          <p:cNvSpPr txBox="1"/>
          <p:nvPr/>
        </p:nvSpPr>
        <p:spPr>
          <a:xfrm>
            <a:off x="2745303" y="2264877"/>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sản phẩm của AgriPack, thì sản phẩm hộp/ khay F&amp;B phải đồng thời đáp ứng độ bền, độ chống thấm mốc, kích thước, khả năng chịu được thực phẩm và độ ổn định.</a:t>
            </a:r>
            <a:endParaRPr lang="en-US" sz="850" dirty="0"/>
          </a:p>
        </p:txBody>
      </p:sp>
      <p:sp>
        <p:nvSpPr>
          <p:cNvPr id="15" name="Text 12"/>
          <p:cNvSpPr txBox="1"/>
          <p:nvPr/>
        </p:nvSpPr>
        <p:spPr>
          <a:xfrm>
            <a:off x="2745303" y="2565624"/>
            <a:ext cx="4409237" cy="1447221"/>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ba là rào cản về chất lượng sản phẩm. Bao bì xanh không chỉ được yêu cầu làm từ vật liệu tự nhiên mà còn cần phải đáp ứng các tiêu chuẩn về an toàn khi đựng thực phẩm, có kích thước chính xác, chịu được quá trình vận chuyển, duy trì chất lượng ổn định. Điều này đặc biệt quan trọng với bao bì xanh trong ngành F&amp;B khi thực phẩm tiếp xúc trực tiếp với bao bì, các tiêu chuẩn về đảm bảo an toàn thực phẩm sẽ cao hơn và làm tăng yêu cầu kiểm nghiệm, tiêu chuẩn cao hơn về sản phẩm bao bì. Điển hình là doanh nghiệp HAPBIO đã có chứng nhận quốc tế như BPI và OK compost home/ industrial giúp doanh nghiệp có thể cung cấp sản phẩm bao bì tự phân huỷ tới cả các thị trường khó tính như Mỹ và Châu Âu. Bên cạnh các tiêu chuẩn về tính sinh học, phân huỷ trên còn có các tiêu chuẩn bao bì an toàn thực phẩm như FDA, BRC/IOP, ISO 9001:2026, VSATTP, … . Hoạt động chứng nhận sản phẩm thoả mãn các điều kiện trên là một rào cản thực tế đối với doanh nghiệp Startup.</a:t>
            </a:r>
            <a:endParaRPr lang="en-US" sz="850" dirty="0"/>
          </a:p>
        </p:txBody>
      </p:sp>
      <p:sp>
        <p:nvSpPr>
          <p:cNvPr id="16" name="Text 13"/>
          <p:cNvSpPr txBox="1"/>
          <p:nvPr/>
        </p:nvSpPr>
        <p:spPr>
          <a:xfrm>
            <a:off x="2745303" y="4050518"/>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Yếu tố thứ tư là rào cản về thương hiệu và mạng lưới khách hàng B2B. Các khách hàng doanh nghiệp lớn thường yêu cầu nhà cung cấp có khả năng giao hàng ổn định, số lượng lớn, chất lượng đồng nhất, giá cả cạnh tranh và hỗ trợ thiết kế theo yêu cầu và họ thường ưu tiên tìm đến các doanh nghiệp đã có tên tuổi hoặc đối tác lâu năm. Các doanh nghiệp nhỏ hoặc startup mới thành lập sẽ khó cạnh tranh với các nhà cung cấp đã có hợp đồng dài hạn.</a:t>
            </a:r>
            <a:endParaRPr lang="en-US" sz="850" dirty="0"/>
          </a:p>
        </p:txBody>
      </p:sp>
      <p:sp>
        <p:nvSpPr>
          <p:cNvPr id="17" name="Text 14"/>
          <p:cNvSpPr txBox="1"/>
          <p:nvPr/>
        </p:nvSpPr>
        <p:spPr>
          <a:xfrm>
            <a:off x="2745303" y="4746010"/>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Nhìn chung, rào cản gia nhập ngành là cao. Doanh nghiệp mới gia nhập thị trường có thể tạo mẫu thử, thiết kế ở quy mô nhỏ nhưng không thể đáp ứng được các yêu cầu về giá cạnh tranh - số lượng sản phẩm - chất lượng sản phẩm - chứng minh tiêu chuẩn một cách đồng thời.</a:t>
            </a:r>
            <a:endParaRPr lang="en-US" sz="850" dirty="0"/>
          </a:p>
        </p:txBody>
      </p:sp>
      <p:sp>
        <p:nvSpPr>
          <p:cNvPr id="18" name="Text 15"/>
          <p:cNvSpPr txBox="1"/>
          <p:nvPr/>
        </p:nvSpPr>
        <p:spPr>
          <a:xfrm>
            <a:off x="2745303" y="5178339"/>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3.2.6. Sản phẩm thay thế</a:t>
            </a:r>
            <a:endParaRPr lang="en-US" sz="820" dirty="0"/>
          </a:p>
        </p:txBody>
      </p:sp>
      <p:sp>
        <p:nvSpPr>
          <p:cNvPr id="19" name="Text 16"/>
          <p:cNvSpPr txBox="1"/>
          <p:nvPr/>
        </p:nvSpPr>
        <p:spPr>
          <a:xfrm>
            <a:off x="2745303" y="5324917"/>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Ngành bao bì xanh Việt Nam trong ngành F&amp;B, FCGM, đóng gói vận chuyển linh kiện điện tử có những sản phẩm thay thế chính như sau: (Fig. 28; ưu, nhược điểm ở Fig. A05)</a:t>
            </a:r>
            <a:endParaRPr lang="en-US" sz="850" dirty="0"/>
          </a:p>
        </p:txBody>
      </p:sp>
      <p:sp>
        <p:nvSpPr>
          <p:cNvPr id="20" name="Text 17"/>
          <p:cNvSpPr txBox="1"/>
          <p:nvPr/>
        </p:nvSpPr>
        <p:spPr>
          <a:xfrm>
            <a:off x="2745303" y="5625755"/>
            <a:ext cx="4673773" cy="125090"/>
          </a:xfrm>
          <a:prstGeom prst="rect">
            <a:avLst/>
          </a:prstGeom>
          <a:noFill/>
          <a:ln/>
        </p:spPr>
        <p:txBody>
          <a:bodyPr wrap="none" lIns="0" tIns="0" rIns="0" bIns="0" rtlCol="0" anchor="t"/>
          <a:lstStyle/>
          <a:p>
            <a:pPr algn="l" indent="0" marL="0">
              <a:lnSpc>
                <a:spcPts val="984"/>
              </a:lnSpc>
              <a:buNone/>
            </a:pPr>
            <a:r>
              <a:rPr lang="en-US" sz="820" b="1" i="1" dirty="0">
                <a:solidFill>
                  <a:srgbClr val="404040"/>
                </a:solidFill>
                <a:latin typeface="Calibri" pitchFamily="34" charset="0"/>
                <a:ea typeface="Calibri" pitchFamily="34" charset="-122"/>
                <a:cs typeface="Calibri" pitchFamily="34" charset="-120"/>
              </a:rPr>
              <a:t>3.2.7. Hành vi khách hàng.</a:t>
            </a:r>
            <a:endParaRPr lang="en-US" sz="820" dirty="0"/>
          </a:p>
        </p:txBody>
      </p:sp>
      <p:sp>
        <p:nvSpPr>
          <p:cNvPr id="21" name="Text 18"/>
          <p:cNvSpPr txBox="1"/>
          <p:nvPr/>
        </p:nvSpPr>
        <p:spPr>
          <a:xfrm>
            <a:off x="2745303" y="5772333"/>
            <a:ext cx="4409237" cy="26316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Khách hàng chính của ngành sản xuất bao bì xanh có thể phân loại chính gồm khách hàng doanh nghiệp và khách hàng cuối cùng ( người tiêu dùng).</a:t>
            </a:r>
            <a:endParaRPr lang="en-US" sz="850" dirty="0"/>
          </a:p>
        </p:txBody>
      </p:sp>
      <p:sp>
        <p:nvSpPr>
          <p:cNvPr id="22" name="Text 19"/>
          <p:cNvSpPr txBox="1"/>
          <p:nvPr/>
        </p:nvSpPr>
        <p:spPr>
          <a:xfrm>
            <a:off x="2745303" y="6073079"/>
            <a:ext cx="4409237" cy="1973458"/>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khách hàng doanh nghiệp. Khách hàng quan tâm trọng tâm tới yếu tố gồm giá và chất lượng sản phẩm, bên cạnh đó là yếu tố môi trường của sản phẩm. Tối ưu về chi phí là cơ sở đầu tiên của các doanh nghiệp, đặc biệt là trong ngành hàng F&amp;B, thực phẩm, thương mại điện tử. Theo khảo sát của PwC thực hiện vào 2024, cho thấy 57,4% người tiêu dùng Việt nam sẵn sàng trả cao hơn tối đa 10% sản phẩm làm từ vật liệu xanh/ bền vững. Điều này cho thấy yếu tố bền vững có khả năng ảnh hưởng tới hành vi mua hàng, tuy nhiên, mức giá sản phẩm cũng cần phải cân bằng với chi phí. Khách hàng B2B mua bao bì với tần suất thường xuyên và số lượng lớn nên doanh nghiệp quan tâm đến chất lượng sản phẩm phải đồng nhất, công suất của nhà cung cấp phải đáp ứng nhu cầu, thời gian giao hàng ổn định, sự biến động giá, thiết kế và sự đáp ứng yêu cầu kỹ thuật và an toàn cho sử dụng thông qua chứng nhận quốc tế. Đối với doanh nghiệp F&amp;B, doanh nghiệp thực phẩm, khách hàng sẽ yêu cầu giá và hình thức cùng sự an toàn, đáp ứng độ chống thấm, ẩm, mốc. Đối với doanh nghiệp sản xuất, điện tử, nội thất, thương mại điện tử, còn yêu cầu thêm cả yếu tố chống va đập tức độ bền , khả năng bảo vệ của bao bì. Do vậy, khách hàng có sẵn sàng chuyển đổi sang các sản phẩm thay thế có công năng tương đương và giá cạnh tranh. Tuy nhiên, nếu đáp ứng được các nhu cầu trên thì doanh nghiệp sản xuất bao bì sẽ có những hợp đồng dài hạn.</a:t>
            </a:r>
            <a:endParaRPr lang="en-US" sz="850" dirty="0"/>
          </a:p>
        </p:txBody>
      </p:sp>
      <p:sp>
        <p:nvSpPr>
          <p:cNvPr id="23" name="Text 20"/>
          <p:cNvSpPr txBox="1"/>
          <p:nvPr/>
        </p:nvSpPr>
        <p:spPr>
          <a:xfrm>
            <a:off x="2745303" y="8084119"/>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Đối với khách hàng cuối cùng tức người tiêu dùng cuối cùng, là khách hàng không trực tiếp của doanh nghiệp sản xuất bao bì. Theo các xu hướng tiêu dùng xanh, người tiêu dùng ( đặc biệt là gen Z và người trẻ) ngày càng có tiêu chuẩn khắt khe trong lựa chọn sản phẩm sử dụng - bao gồm cả bao bì và yêu cầu chứng minh về tính an toàn cũng như nguồn gốc vật liệu tự nhiên rõ ràng.</a:t>
            </a:r>
            <a:endParaRPr lang="en-US" sz="850" dirty="0"/>
          </a:p>
        </p:txBody>
      </p:sp>
      <p:sp>
        <p:nvSpPr>
          <p:cNvPr id="24" name="Text 21"/>
          <p:cNvSpPr txBox="1"/>
          <p:nvPr/>
        </p:nvSpPr>
        <p:spPr>
          <a:xfrm>
            <a:off x="2745303" y="8648121"/>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Khách hàng B2B là đối tượng trực tiếp tạo ra doanh thu và họ quan tâm đến sản phẩm đáp ứng xu hướng xanh hoá của người tiêu dùng cuối cùng và đáp ứng các quy định về bảo vệ môi trường, đồng thời yêu cầu cả và chất lượng ổn định. Người tiêu dùng cuối cùng tạo áp lực gián tiếp thông qua nhu cầu ngày càng cao với bao bì thân thiện với môi trường.</a:t>
            </a:r>
            <a:endParaRPr lang="en-US" sz="850" dirty="0"/>
          </a:p>
        </p:txBody>
      </p:sp>
      <p:sp>
        <p:nvSpPr>
          <p:cNvPr id="25" name="Text 22"/>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6" name="Text 23"/>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11</a:t>
            </a:r>
            <a:endParaRPr lang="en-US" sz="6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55805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1494861"/>
            <a:ext cx="6749004" cy="0"/>
          </a:xfrm>
          <a:prstGeom prst="line">
            <a:avLst/>
          </a:prstGeom>
          <a:noFill/>
          <a:ln w="9525">
            <a:solidFill>
              <a:srgbClr val="7B1E2B"/>
            </a:solidFill>
            <a:prstDash val="solid"/>
          </a:ln>
        </p:spPr>
      </p:sp>
      <p:sp>
        <p:nvSpPr>
          <p:cNvPr id="5" name="Shape 3"/>
          <p:cNvSpPr/>
          <p:nvPr/>
        </p:nvSpPr>
        <p:spPr>
          <a:xfrm>
            <a:off x="405354" y="3857122"/>
            <a:ext cx="2159996" cy="0"/>
          </a:xfrm>
          <a:prstGeom prst="line">
            <a:avLst/>
          </a:prstGeom>
          <a:noFill/>
          <a:ln w="9525">
            <a:solidFill>
              <a:srgbClr val="7B1E2B"/>
            </a:solidFill>
            <a:prstDash val="solid"/>
          </a:ln>
        </p:spPr>
      </p:sp>
      <p:sp>
        <p:nvSpPr>
          <p:cNvPr id="6" name="Shape 4"/>
          <p:cNvSpPr/>
          <p:nvPr/>
        </p:nvSpPr>
        <p:spPr>
          <a:xfrm>
            <a:off x="405354" y="5609112"/>
            <a:ext cx="2159996" cy="0"/>
          </a:xfrm>
          <a:prstGeom prst="line">
            <a:avLst/>
          </a:prstGeom>
          <a:noFill/>
          <a:ln w="9525">
            <a:solidFill>
              <a:srgbClr val="7B1E2B"/>
            </a:solidFill>
            <a:prstDash val="solid"/>
          </a:ln>
        </p:spPr>
      </p:sp>
      <p:sp>
        <p:nvSpPr>
          <p:cNvPr id="7" name="Shape 5"/>
          <p:cNvSpPr/>
          <p:nvPr/>
        </p:nvSpPr>
        <p:spPr>
          <a:xfrm>
            <a:off x="405354" y="7225314"/>
            <a:ext cx="2159996" cy="0"/>
          </a:xfrm>
          <a:prstGeom prst="line">
            <a:avLst/>
          </a:prstGeom>
          <a:noFill/>
          <a:ln w="9525">
            <a:solidFill>
              <a:srgbClr val="7B1E2B"/>
            </a:solidFill>
            <a:prstDash val="solid"/>
          </a:ln>
        </p:spPr>
      </p:sp>
      <p:sp>
        <p:nvSpPr>
          <p:cNvPr id="8" name="Shape 6"/>
          <p:cNvSpPr/>
          <p:nvPr/>
        </p:nvSpPr>
        <p:spPr>
          <a:xfrm>
            <a:off x="405354" y="10369479"/>
            <a:ext cx="6749004" cy="0"/>
          </a:xfrm>
          <a:prstGeom prst="line">
            <a:avLst/>
          </a:prstGeom>
          <a:noFill/>
          <a:ln w="9525">
            <a:solidFill>
              <a:srgbClr val="BFBFBF"/>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05354" y="1662928"/>
          <a:ext cx="6749004" cy="914400"/>
        </p:xfrm>
        <a:graphic>
          <a:graphicData uri="http://schemas.openxmlformats.org/drawingml/2006/table">
            <a:tbl>
              <a:tblPr/>
              <a:tblGrid>
                <a:gridCol w="3172145"/>
                <a:gridCol w="1957273"/>
                <a:gridCol w="539770"/>
                <a:gridCol w="539770"/>
                <a:gridCol w="540136"/>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Yếu tố vĩ mô/ngành (mục phân tích)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Giả định trong mô hình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2026E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2027E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2030E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GDP 6T/2026 +8,18%, tiêu dùng +8,15% (3.1.1); TMĐT +18–25%/năm (3.2.2)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trưởng sản lượng hộp/khay F&amp;B</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TMĐT, nội thất xuất khẩu (3.2.2)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trưởng diện tích đệm nội thất/TMĐT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CPI 8T/2026 +4,45%; khách hàng B2B có sức mạnh rất cao (3.1.2, 3.2.3)</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giá bán F&amp;B và khuôn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Chi phí thu gom, vận chuyển, sấy tăng; bã mía bị cạnh tranh (3.1.2, 3.2.3)</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Chi phí biến đổi / doanh thu</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27%</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Nhóm điện, nước +6,71%; giá điện +4,8% (3.1.2)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Điện, nước / doanh thu</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Lương tối thiểu vùng +7,2% từ 01/2026 (NĐ 293/2025)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Tiền lương / doanh thu</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TT 27/2026/TT-BYT; rào cản chất lượng, chứng nhận (3.1.6.1, 3.2.5)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Kiểm nghiệm, chứng nhận &amp; R&amp;D / DT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Rào cản vốn đầu tư (3.2.5); đề bài: đầu tư lớn 2027</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CAPEX / doanh thu (tái đầu tư)</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Lãi suất cho vay 8,1–10,5% (3.1.3)</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Lãi suất vay Kd</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Luật Thuế TNDN 67/2025/QH15 (3.1.6.3)</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Thuế suất TNDN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giá: MBS 26.800–27.000 cuối 2026 (3.1.4)</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giá bình quân USD/VND</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26.300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26.826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28.468</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VC chọn lọc hơn (3.1.5); giai đoạn đầu tăng trưởng (Mục 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lệ thất bại z trong VC Method</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Lợi suất TPCP 10 năm, bình quân 2016–2025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Lãi suất phi rủi ro Rf</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3,92%</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Bội số ngành bao bì (FiinX, 2026)</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EV/EBITDA thoái vốn (VC Method)</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8,0x</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05354" y="7503018"/>
          <a:ext cx="2159996" cy="914400"/>
        </p:xfrm>
        <a:graphic>
          <a:graphicData uri="http://schemas.openxmlformats.org/drawingml/2006/table">
            <a:tbl>
              <a:tblPr/>
              <a:tblGrid>
                <a:gridCol w="799277"/>
                <a:gridCol w="272034"/>
                <a:gridCol w="272034"/>
                <a:gridCol w="272034"/>
                <a:gridCol w="272034"/>
                <a:gridCol w="272491"/>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Giả định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26E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27E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28E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29E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30E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6497">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SL hộp/khay F&amp;B (tr. cái)</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24,5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33,1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41,4</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48,4</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SL F&amp;B</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số bộ khuôn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m² đệm NT/TMĐT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Tăng m² đệm điện tử</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Giá bán F&amp;B, khuôn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Giá đệm bảo vệ</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CP biến đổi/DT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26,5%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Tiền lương/DT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CAPEX/DT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65%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pSp>
        <p:nvGrpSpPr>
          <p:cNvPr id="123" name="Fig. 30 – biểu đồ"/>
          <p:cNvGrpSpPr/>
          <p:nvPr/>
        </p:nvGrpSpPr>
        <p:grpSpPr>
          <a:xfrm>
            <a:off x="309250" y="4228643"/>
            <a:ext cx="2151217" cy="1062898"/>
            <a:chOff x="309250" y="4228643"/>
            <a:chExt cx="2151217" cy="1062898"/>
          </a:xfrm>
        </p:grpSpPr>
        <p:sp>
          <p:nvSpPr>
            <p:cNvPr id="11" name="svg0_0"/>
            <p:cNvSpPr/>
            <p:nvPr/>
          </p:nvSpPr>
          <p:spPr>
            <a:xfrm>
              <a:off x="425105" y="4249857"/>
              <a:ext cx="60899" cy="60899"/>
            </a:xfrm>
            <a:prstGeom prst="rect">
              <a:avLst/>
            </a:prstGeom>
            <a:solidFill>
              <a:srgbClr val="A3A3A3"/>
            </a:solidFill>
            <a:ln/>
          </p:spPr>
        </p:sp>
        <p:sp>
          <p:nvSpPr>
            <p:cNvPr id="12" name="svg0_1"/>
            <p:cNvSpPr txBox="1"/>
            <p:nvPr/>
          </p:nvSpPr>
          <p:spPr>
            <a:xfrm>
              <a:off x="508498" y="4228643"/>
              <a:ext cx="262341"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Bất lợi</a:t>
              </a:r>
              <a:endParaRPr lang="en-US" sz="587" dirty="0"/>
            </a:p>
          </p:txBody>
        </p:sp>
        <p:sp>
          <p:nvSpPr>
            <p:cNvPr id="13" name="svg0_2"/>
            <p:cNvSpPr/>
            <p:nvPr/>
          </p:nvSpPr>
          <p:spPr>
            <a:xfrm>
              <a:off x="842437" y="4249857"/>
              <a:ext cx="60899" cy="60899"/>
            </a:xfrm>
            <a:prstGeom prst="rect">
              <a:avLst/>
            </a:prstGeom>
            <a:solidFill>
              <a:srgbClr val="7B1E2B"/>
            </a:solidFill>
            <a:ln/>
          </p:spPr>
        </p:sp>
        <p:sp>
          <p:nvSpPr>
            <p:cNvPr id="14" name="svg0_3"/>
            <p:cNvSpPr txBox="1"/>
            <p:nvPr/>
          </p:nvSpPr>
          <p:spPr>
            <a:xfrm>
              <a:off x="925830" y="4228643"/>
              <a:ext cx="363748"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Thuận lợi</a:t>
              </a:r>
              <a:endParaRPr lang="en-US" sz="587" dirty="0"/>
            </a:p>
          </p:txBody>
        </p:sp>
        <p:sp>
          <p:nvSpPr>
            <p:cNvPr id="15" name="svg0_4"/>
            <p:cNvSpPr txBox="1"/>
            <p:nvPr/>
          </p:nvSpPr>
          <p:spPr>
            <a:xfrm>
              <a:off x="453817" y="4391589"/>
              <a:ext cx="77650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Sản lượng ×0,8 / ×1,2</a:t>
              </a:r>
              <a:endParaRPr lang="en-US" sz="587" dirty="0"/>
            </a:p>
          </p:txBody>
        </p:sp>
        <p:sp>
          <p:nvSpPr>
            <p:cNvPr id="16" name="svg0_5"/>
            <p:cNvSpPr/>
            <p:nvPr/>
          </p:nvSpPr>
          <p:spPr>
            <a:xfrm>
              <a:off x="1396197" y="4403019"/>
              <a:ext cx="491673" cy="72238"/>
            </a:xfrm>
            <a:prstGeom prst="rect">
              <a:avLst/>
            </a:prstGeom>
            <a:solidFill>
              <a:srgbClr val="A3A3A3"/>
            </a:solidFill>
            <a:ln w="4953">
              <a:solidFill>
                <a:srgbClr val="FFFFFF"/>
              </a:solidFill>
              <a:prstDash val="solid"/>
            </a:ln>
          </p:spPr>
        </p:sp>
        <p:sp>
          <p:nvSpPr>
            <p:cNvPr id="17" name="svg0_6"/>
            <p:cNvSpPr/>
            <p:nvPr/>
          </p:nvSpPr>
          <p:spPr>
            <a:xfrm>
              <a:off x="1887870" y="4403019"/>
              <a:ext cx="572597" cy="72238"/>
            </a:xfrm>
            <a:prstGeom prst="rect">
              <a:avLst/>
            </a:prstGeom>
            <a:solidFill>
              <a:srgbClr val="7B1E2B"/>
            </a:solidFill>
            <a:ln w="4953">
              <a:solidFill>
                <a:srgbClr val="FFFFFF"/>
              </a:solidFill>
              <a:prstDash val="solid"/>
            </a:ln>
          </p:spPr>
        </p:sp>
        <p:sp>
          <p:nvSpPr>
            <p:cNvPr id="18" name="svg0_7"/>
            <p:cNvSpPr txBox="1"/>
            <p:nvPr/>
          </p:nvSpPr>
          <p:spPr>
            <a:xfrm>
              <a:off x="312359" y="4504426"/>
              <a:ext cx="91933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CP nhân sự ±1 điểm % DT</a:t>
              </a:r>
              <a:endParaRPr lang="en-US" sz="587" dirty="0"/>
            </a:p>
          </p:txBody>
        </p:sp>
        <p:sp>
          <p:nvSpPr>
            <p:cNvPr id="19" name="svg0_8"/>
            <p:cNvSpPr/>
            <p:nvPr/>
          </p:nvSpPr>
          <p:spPr>
            <a:xfrm>
              <a:off x="1699961" y="4515856"/>
              <a:ext cx="187909" cy="72238"/>
            </a:xfrm>
            <a:prstGeom prst="rect">
              <a:avLst/>
            </a:prstGeom>
            <a:solidFill>
              <a:srgbClr val="A3A3A3"/>
            </a:solidFill>
            <a:ln w="4953">
              <a:solidFill>
                <a:srgbClr val="FFFFFF"/>
              </a:solidFill>
              <a:prstDash val="solid"/>
            </a:ln>
          </p:spPr>
        </p:sp>
        <p:sp>
          <p:nvSpPr>
            <p:cNvPr id="20" name="svg0_9"/>
            <p:cNvSpPr/>
            <p:nvPr/>
          </p:nvSpPr>
          <p:spPr>
            <a:xfrm>
              <a:off x="1887870" y="4515856"/>
              <a:ext cx="181234" cy="72238"/>
            </a:xfrm>
            <a:prstGeom prst="rect">
              <a:avLst/>
            </a:prstGeom>
            <a:solidFill>
              <a:srgbClr val="7B1E2B"/>
            </a:solidFill>
            <a:ln w="4953">
              <a:solidFill>
                <a:srgbClr val="FFFFFF"/>
              </a:solidFill>
              <a:prstDash val="solid"/>
            </a:ln>
          </p:spPr>
        </p:sp>
        <p:sp>
          <p:nvSpPr>
            <p:cNvPr id="21" name="svg0_10"/>
            <p:cNvSpPr txBox="1"/>
            <p:nvPr/>
          </p:nvSpPr>
          <p:spPr>
            <a:xfrm>
              <a:off x="309250" y="4617354"/>
              <a:ext cx="92253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CP biến đổi ±1 điểm % DT</a:t>
              </a:r>
              <a:endParaRPr lang="en-US" sz="587" dirty="0"/>
            </a:p>
          </p:txBody>
        </p:sp>
        <p:sp>
          <p:nvSpPr>
            <p:cNvPr id="22" name="svg0_11"/>
            <p:cNvSpPr/>
            <p:nvPr/>
          </p:nvSpPr>
          <p:spPr>
            <a:xfrm>
              <a:off x="1735714" y="4628784"/>
              <a:ext cx="152156" cy="72329"/>
            </a:xfrm>
            <a:prstGeom prst="rect">
              <a:avLst/>
            </a:prstGeom>
            <a:solidFill>
              <a:srgbClr val="A3A3A3"/>
            </a:solidFill>
            <a:ln w="4953">
              <a:solidFill>
                <a:srgbClr val="FFFFFF"/>
              </a:solidFill>
              <a:prstDash val="solid"/>
            </a:ln>
          </p:spPr>
        </p:sp>
        <p:sp>
          <p:nvSpPr>
            <p:cNvPr id="23" name="svg0_12"/>
            <p:cNvSpPr/>
            <p:nvPr/>
          </p:nvSpPr>
          <p:spPr>
            <a:xfrm>
              <a:off x="1887870" y="4628784"/>
              <a:ext cx="147950" cy="72329"/>
            </a:xfrm>
            <a:prstGeom prst="rect">
              <a:avLst/>
            </a:prstGeom>
            <a:solidFill>
              <a:srgbClr val="7B1E2B"/>
            </a:solidFill>
            <a:ln w="4953">
              <a:solidFill>
                <a:srgbClr val="FFFFFF"/>
              </a:solidFill>
              <a:prstDash val="solid"/>
            </a:ln>
          </p:spPr>
        </p:sp>
        <p:sp>
          <p:nvSpPr>
            <p:cNvPr id="24" name="svg0_13"/>
            <p:cNvSpPr txBox="1"/>
            <p:nvPr/>
          </p:nvSpPr>
          <p:spPr>
            <a:xfrm>
              <a:off x="362377" y="4730283"/>
              <a:ext cx="867766"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Giá bán ±1 điểm %/năm</a:t>
              </a:r>
              <a:endParaRPr lang="en-US" sz="587" dirty="0"/>
            </a:p>
          </p:txBody>
        </p:sp>
        <p:sp>
          <p:nvSpPr>
            <p:cNvPr id="25" name="svg0_14"/>
            <p:cNvSpPr/>
            <p:nvPr/>
          </p:nvSpPr>
          <p:spPr>
            <a:xfrm>
              <a:off x="1766529" y="4741621"/>
              <a:ext cx="121341" cy="72329"/>
            </a:xfrm>
            <a:prstGeom prst="rect">
              <a:avLst/>
            </a:prstGeom>
            <a:solidFill>
              <a:srgbClr val="A3A3A3"/>
            </a:solidFill>
            <a:ln w="4953">
              <a:solidFill>
                <a:srgbClr val="FFFFFF"/>
              </a:solidFill>
              <a:prstDash val="solid"/>
            </a:ln>
          </p:spPr>
        </p:sp>
        <p:sp>
          <p:nvSpPr>
            <p:cNvPr id="26" name="svg0_15"/>
            <p:cNvSpPr/>
            <p:nvPr/>
          </p:nvSpPr>
          <p:spPr>
            <a:xfrm>
              <a:off x="1887870" y="4741621"/>
              <a:ext cx="126187" cy="72329"/>
            </a:xfrm>
            <a:prstGeom prst="rect">
              <a:avLst/>
            </a:prstGeom>
            <a:solidFill>
              <a:srgbClr val="7B1E2B"/>
            </a:solidFill>
            <a:ln w="4953">
              <a:solidFill>
                <a:srgbClr val="FFFFFF"/>
              </a:solidFill>
              <a:prstDash val="solid"/>
            </a:ln>
          </p:spPr>
        </p:sp>
        <p:sp>
          <p:nvSpPr>
            <p:cNvPr id="27" name="svg0_16"/>
            <p:cNvSpPr txBox="1"/>
            <p:nvPr/>
          </p:nvSpPr>
          <p:spPr>
            <a:xfrm>
              <a:off x="675559" y="4843211"/>
              <a:ext cx="55833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CRP ±1 điểm %</a:t>
              </a:r>
              <a:endParaRPr lang="en-US" sz="587" dirty="0"/>
            </a:p>
          </p:txBody>
        </p:sp>
        <p:sp>
          <p:nvSpPr>
            <p:cNvPr id="28" name="svg0_17"/>
            <p:cNvSpPr/>
            <p:nvPr/>
          </p:nvSpPr>
          <p:spPr>
            <a:xfrm>
              <a:off x="1780794" y="4854641"/>
              <a:ext cx="107076" cy="72238"/>
            </a:xfrm>
            <a:prstGeom prst="rect">
              <a:avLst/>
            </a:prstGeom>
            <a:solidFill>
              <a:srgbClr val="A3A3A3"/>
            </a:solidFill>
            <a:ln w="4953">
              <a:solidFill>
                <a:srgbClr val="FFFFFF"/>
              </a:solidFill>
              <a:prstDash val="solid"/>
            </a:ln>
          </p:spPr>
        </p:sp>
        <p:sp>
          <p:nvSpPr>
            <p:cNvPr id="29" name="svg0_18"/>
            <p:cNvSpPr/>
            <p:nvPr/>
          </p:nvSpPr>
          <p:spPr>
            <a:xfrm>
              <a:off x="1887870" y="4854641"/>
              <a:ext cx="134417" cy="72238"/>
            </a:xfrm>
            <a:prstGeom prst="rect">
              <a:avLst/>
            </a:prstGeom>
            <a:solidFill>
              <a:srgbClr val="7B1E2B"/>
            </a:solidFill>
            <a:ln w="4953">
              <a:solidFill>
                <a:srgbClr val="FFFFFF"/>
              </a:solidFill>
              <a:prstDash val="solid"/>
            </a:ln>
          </p:spPr>
        </p:sp>
        <p:sp>
          <p:nvSpPr>
            <p:cNvPr id="30" name="svg0_19"/>
            <p:cNvSpPr txBox="1"/>
            <p:nvPr/>
          </p:nvSpPr>
          <p:spPr>
            <a:xfrm>
              <a:off x="335585" y="4956048"/>
              <a:ext cx="898307"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Lãi suất Rf, Kd ±1 điểm %</a:t>
              </a:r>
              <a:endParaRPr lang="en-US" sz="587" dirty="0"/>
            </a:p>
          </p:txBody>
        </p:sp>
        <p:sp>
          <p:nvSpPr>
            <p:cNvPr id="31" name="svg0_20"/>
            <p:cNvSpPr/>
            <p:nvPr/>
          </p:nvSpPr>
          <p:spPr>
            <a:xfrm>
              <a:off x="1781526" y="4967478"/>
              <a:ext cx="106345" cy="72329"/>
            </a:xfrm>
            <a:prstGeom prst="rect">
              <a:avLst/>
            </a:prstGeom>
            <a:solidFill>
              <a:srgbClr val="A3A3A3"/>
            </a:solidFill>
            <a:ln w="4953">
              <a:solidFill>
                <a:srgbClr val="FFFFFF"/>
              </a:solidFill>
              <a:prstDash val="solid"/>
            </a:ln>
          </p:spPr>
        </p:sp>
        <p:sp>
          <p:nvSpPr>
            <p:cNvPr id="32" name="svg0_21"/>
            <p:cNvSpPr/>
            <p:nvPr/>
          </p:nvSpPr>
          <p:spPr>
            <a:xfrm>
              <a:off x="1887870" y="4967478"/>
              <a:ext cx="128016" cy="72329"/>
            </a:xfrm>
            <a:prstGeom prst="rect">
              <a:avLst/>
            </a:prstGeom>
            <a:solidFill>
              <a:srgbClr val="7B1E2B"/>
            </a:solidFill>
            <a:ln w="4953">
              <a:solidFill>
                <a:srgbClr val="FFFFFF"/>
              </a:solidFill>
              <a:prstDash val="solid"/>
            </a:ln>
          </p:spPr>
        </p:sp>
        <p:sp>
          <p:nvSpPr>
            <p:cNvPr id="33" name="svg0_22"/>
            <p:cNvSpPr txBox="1"/>
            <p:nvPr/>
          </p:nvSpPr>
          <p:spPr>
            <a:xfrm>
              <a:off x="503469" y="5068976"/>
              <a:ext cx="72694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Ưu đãi thuế NQ 198</a:t>
              </a:r>
              <a:endParaRPr lang="en-US" sz="587" dirty="0"/>
            </a:p>
          </p:txBody>
        </p:sp>
        <p:sp>
          <p:nvSpPr>
            <p:cNvPr id="34" name="svg0_23"/>
            <p:cNvSpPr/>
            <p:nvPr/>
          </p:nvSpPr>
          <p:spPr>
            <a:xfrm>
              <a:off x="1887870" y="5080315"/>
              <a:ext cx="59893" cy="72329"/>
            </a:xfrm>
            <a:prstGeom prst="rect">
              <a:avLst/>
            </a:prstGeom>
            <a:solidFill>
              <a:srgbClr val="7B1E2B"/>
            </a:solidFill>
            <a:ln w="4953">
              <a:solidFill>
                <a:srgbClr val="FFFFFF"/>
              </a:solidFill>
              <a:prstDash val="solid"/>
            </a:ln>
          </p:spPr>
        </p:sp>
        <p:sp>
          <p:nvSpPr>
            <p:cNvPr id="35" name="svg0_24"/>
            <p:cNvSpPr/>
            <p:nvPr/>
          </p:nvSpPr>
          <p:spPr>
            <a:xfrm>
              <a:off x="1887870" y="4373484"/>
              <a:ext cx="0" cy="811164"/>
            </a:xfrm>
            <a:prstGeom prst="line">
              <a:avLst/>
            </a:prstGeom>
            <a:noFill/>
            <a:ln w="7874">
              <a:solidFill>
                <a:srgbClr val="404040"/>
              </a:solidFill>
              <a:prstDash val="solid"/>
            </a:ln>
          </p:spPr>
        </p:sp>
        <p:sp>
          <p:nvSpPr>
            <p:cNvPr id="36" name="svg0_25"/>
            <p:cNvSpPr txBox="1"/>
            <p:nvPr/>
          </p:nvSpPr>
          <p:spPr>
            <a:xfrm>
              <a:off x="1378824" y="5186751"/>
              <a:ext cx="1022848" cy="104790"/>
            </a:xfrm>
            <a:prstGeom prst="rect">
              <a:avLst/>
            </a:prstGeom>
            <a:noFill/>
            <a:ln/>
          </p:spPr>
          <p:txBody>
            <a:bodyPr wrap="none" lIns="0" tIns="0" rIns="0" bIns="0" rtlCol="0" anchor="ctr"/>
            <a:lstStyle/>
            <a:p>
              <a:pPr algn="ctr" indent="0" marL="0">
                <a:buNone/>
              </a:pPr>
              <a:r>
                <a:rPr lang="en-US" sz="557" dirty="0">
                  <a:solidFill>
                    <a:srgbClr val="404040"/>
                  </a:solidFill>
                  <a:latin typeface="Calibri" pitchFamily="34" charset="0"/>
                  <a:ea typeface="Calibri" pitchFamily="34" charset="-122"/>
                  <a:cs typeface="Calibri" pitchFamily="34" charset="-120"/>
                </a:rPr>
                <a:t>Pre-money cơ sở 32,1 tỷ đồng</a:t>
              </a:r>
              <a:endParaRPr lang="en-US" sz="557" dirty="0"/>
            </a:p>
          </p:txBody>
        </p:sp>
        <p:sp>
          <p:nvSpPr>
            <p:cNvPr id="37" name="svg0_26"/>
            <p:cNvSpPr txBox="1"/>
            <p:nvPr/>
          </p:nvSpPr>
          <p:spPr>
            <a:xfrm>
              <a:off x="1425550" y="4390674"/>
              <a:ext cx="227777" cy="104790"/>
            </a:xfrm>
            <a:prstGeom prst="rect">
              <a:avLst/>
            </a:prstGeom>
            <a:noFill/>
            <a:ln/>
          </p:spPr>
          <p:txBody>
            <a:bodyPr wrap="none" lIns="0" tIns="0" rIns="0" bIns="0" rtlCol="0" anchor="ctr"/>
            <a:lstStyle/>
            <a:p>
              <a:pPr algn="l" indent="0" marL="0">
                <a:buNone/>
              </a:pPr>
              <a:r>
                <a:rPr lang="en-US" sz="572" b="1" dirty="0">
                  <a:solidFill>
                    <a:srgbClr val="262626"/>
                  </a:solidFill>
                  <a:latin typeface="Calibri" pitchFamily="34" charset="0"/>
                  <a:ea typeface="Calibri" pitchFamily="34" charset="-122"/>
                  <a:cs typeface="Calibri" pitchFamily="34" charset="-120"/>
                </a:rPr>
                <a:t>−24,3</a:t>
              </a:r>
              <a:endParaRPr lang="en-US" sz="572" dirty="0"/>
            </a:p>
          </p:txBody>
        </p:sp>
        <p:sp>
          <p:nvSpPr>
            <p:cNvPr id="38" name="svg0_27"/>
            <p:cNvSpPr txBox="1"/>
            <p:nvPr/>
          </p:nvSpPr>
          <p:spPr>
            <a:xfrm>
              <a:off x="2204344" y="4390674"/>
              <a:ext cx="227777" cy="104790"/>
            </a:xfrm>
            <a:prstGeom prst="rect">
              <a:avLst/>
            </a:prstGeom>
            <a:noFill/>
            <a:ln/>
          </p:spPr>
          <p:txBody>
            <a:bodyPr wrap="none" lIns="0" tIns="0" rIns="0" bIns="0" rtlCol="0" anchor="ctr"/>
            <a:lstStyle/>
            <a:p>
              <a:pPr algn="r" indent="0" marL="0">
                <a:buNone/>
              </a:pPr>
              <a:r>
                <a:rPr lang="en-US" sz="572" b="1" dirty="0">
                  <a:solidFill>
                    <a:srgbClr val="FFFFFF"/>
                  </a:solidFill>
                  <a:latin typeface="Calibri" pitchFamily="34" charset="0"/>
                  <a:ea typeface="Calibri" pitchFamily="34" charset="-122"/>
                  <a:cs typeface="Calibri" pitchFamily="34" charset="-120"/>
                </a:rPr>
                <a:t>+28,3</a:t>
              </a:r>
              <a:endParaRPr lang="en-US" sz="572" dirty="0"/>
            </a:p>
          </p:txBody>
        </p:sp>
        <p:sp>
          <p:nvSpPr>
            <p:cNvPr id="39" name="svg0_28"/>
            <p:cNvSpPr txBox="1"/>
            <p:nvPr/>
          </p:nvSpPr>
          <p:spPr>
            <a:xfrm>
              <a:off x="1528054" y="4503511"/>
              <a:ext cx="148133" cy="104790"/>
            </a:xfrm>
            <a:prstGeom prst="rect">
              <a:avLst/>
            </a:prstGeom>
            <a:solidFill>
              <a:srgbClr val="FFFFFF"/>
            </a:solidFill>
            <a:ln/>
          </p:spPr>
          <p:txBody>
            <a:bodyPr wrap="none" lIns="0" tIns="0" rIns="0" bIns="0" rtlCol="0" anchor="ctr"/>
            <a:lstStyle/>
            <a:p>
              <a:pPr algn="r" indent="0" marL="0">
                <a:buNone/>
              </a:pPr>
              <a:r>
                <a:rPr lang="en-US" sz="572" dirty="0">
                  <a:solidFill>
                    <a:srgbClr val="262626"/>
                  </a:solidFill>
                  <a:latin typeface="Calibri" pitchFamily="34" charset="0"/>
                  <a:ea typeface="Calibri" pitchFamily="34" charset="-122"/>
                  <a:cs typeface="Calibri" pitchFamily="34" charset="-120"/>
                </a:rPr>
                <a:t>−9,3</a:t>
              </a:r>
              <a:endParaRPr lang="en-US" sz="572" dirty="0"/>
            </a:p>
          </p:txBody>
        </p:sp>
        <p:sp>
          <p:nvSpPr>
            <p:cNvPr id="40" name="svg0_29"/>
            <p:cNvSpPr txBox="1"/>
            <p:nvPr/>
          </p:nvSpPr>
          <p:spPr>
            <a:xfrm>
              <a:off x="2094067" y="4503511"/>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+8,9</a:t>
              </a:r>
              <a:endParaRPr lang="en-US" sz="572" dirty="0"/>
            </a:p>
          </p:txBody>
        </p:sp>
        <p:sp>
          <p:nvSpPr>
            <p:cNvPr id="41" name="svg0_30"/>
            <p:cNvSpPr txBox="1"/>
            <p:nvPr/>
          </p:nvSpPr>
          <p:spPr>
            <a:xfrm>
              <a:off x="1564356" y="4616348"/>
              <a:ext cx="148133" cy="104790"/>
            </a:xfrm>
            <a:prstGeom prst="rect">
              <a:avLst/>
            </a:prstGeom>
            <a:solidFill>
              <a:srgbClr val="FFFFFF"/>
            </a:solidFill>
            <a:ln/>
          </p:spPr>
          <p:txBody>
            <a:bodyPr wrap="none" lIns="0" tIns="0" rIns="0" bIns="0" rtlCol="0" anchor="ctr"/>
            <a:lstStyle/>
            <a:p>
              <a:pPr algn="r" indent="0" marL="0">
                <a:buNone/>
              </a:pPr>
              <a:r>
                <a:rPr lang="en-US" sz="572" dirty="0">
                  <a:solidFill>
                    <a:srgbClr val="262626"/>
                  </a:solidFill>
                  <a:latin typeface="Calibri" pitchFamily="34" charset="0"/>
                  <a:ea typeface="Calibri" pitchFamily="34" charset="-122"/>
                  <a:cs typeface="Calibri" pitchFamily="34" charset="-120"/>
                </a:rPr>
                <a:t>−7,5</a:t>
              </a:r>
              <a:endParaRPr lang="en-US" sz="572" dirty="0"/>
            </a:p>
          </p:txBody>
        </p:sp>
        <p:sp>
          <p:nvSpPr>
            <p:cNvPr id="42" name="svg0_31"/>
            <p:cNvSpPr txBox="1"/>
            <p:nvPr/>
          </p:nvSpPr>
          <p:spPr>
            <a:xfrm>
              <a:off x="2060600" y="4616348"/>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+7,3</a:t>
              </a:r>
              <a:endParaRPr lang="en-US" sz="572" dirty="0"/>
            </a:p>
          </p:txBody>
        </p:sp>
        <p:sp>
          <p:nvSpPr>
            <p:cNvPr id="43" name="svg0_32"/>
            <p:cNvSpPr txBox="1"/>
            <p:nvPr/>
          </p:nvSpPr>
          <p:spPr>
            <a:xfrm>
              <a:off x="1594896" y="4729277"/>
              <a:ext cx="148133" cy="104790"/>
            </a:xfrm>
            <a:prstGeom prst="rect">
              <a:avLst/>
            </a:prstGeom>
            <a:solidFill>
              <a:srgbClr val="FFFFFF"/>
            </a:solidFill>
            <a:ln/>
          </p:spPr>
          <p:txBody>
            <a:bodyPr wrap="none" lIns="0" tIns="0" rIns="0" bIns="0" rtlCol="0" anchor="ctr"/>
            <a:lstStyle/>
            <a:p>
              <a:pPr algn="r" indent="0" marL="0">
                <a:buNone/>
              </a:pPr>
              <a:r>
                <a:rPr lang="en-US" sz="572" dirty="0">
                  <a:solidFill>
                    <a:srgbClr val="262626"/>
                  </a:solidFill>
                  <a:latin typeface="Calibri" pitchFamily="34" charset="0"/>
                  <a:ea typeface="Calibri" pitchFamily="34" charset="-122"/>
                  <a:cs typeface="Calibri" pitchFamily="34" charset="-120"/>
                </a:rPr>
                <a:t>−6,0</a:t>
              </a:r>
              <a:endParaRPr lang="en-US" sz="572" dirty="0"/>
            </a:p>
          </p:txBody>
        </p:sp>
        <p:sp>
          <p:nvSpPr>
            <p:cNvPr id="44" name="svg0_33"/>
            <p:cNvSpPr txBox="1"/>
            <p:nvPr/>
          </p:nvSpPr>
          <p:spPr>
            <a:xfrm>
              <a:off x="2039112" y="4729277"/>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+6,2</a:t>
              </a:r>
              <a:endParaRPr lang="en-US" sz="572" dirty="0"/>
            </a:p>
          </p:txBody>
        </p:sp>
        <p:sp>
          <p:nvSpPr>
            <p:cNvPr id="45" name="svg0_34"/>
            <p:cNvSpPr txBox="1"/>
            <p:nvPr/>
          </p:nvSpPr>
          <p:spPr>
            <a:xfrm>
              <a:off x="1609618" y="4842205"/>
              <a:ext cx="148133" cy="104790"/>
            </a:xfrm>
            <a:prstGeom prst="rect">
              <a:avLst/>
            </a:prstGeom>
            <a:solidFill>
              <a:srgbClr val="FFFFFF"/>
            </a:solidFill>
            <a:ln/>
          </p:spPr>
          <p:txBody>
            <a:bodyPr wrap="none" lIns="0" tIns="0" rIns="0" bIns="0" rtlCol="0" anchor="ctr"/>
            <a:lstStyle/>
            <a:p>
              <a:pPr algn="r" indent="0" marL="0">
                <a:buNone/>
              </a:pPr>
              <a:r>
                <a:rPr lang="en-US" sz="572" dirty="0">
                  <a:solidFill>
                    <a:srgbClr val="262626"/>
                  </a:solidFill>
                  <a:latin typeface="Calibri" pitchFamily="34" charset="0"/>
                  <a:ea typeface="Calibri" pitchFamily="34" charset="-122"/>
                  <a:cs typeface="Calibri" pitchFamily="34" charset="-120"/>
                </a:rPr>
                <a:t>−5,3</a:t>
              </a:r>
              <a:endParaRPr lang="en-US" sz="572" dirty="0"/>
            </a:p>
          </p:txBody>
        </p:sp>
        <p:sp>
          <p:nvSpPr>
            <p:cNvPr id="46" name="svg0_35"/>
            <p:cNvSpPr txBox="1"/>
            <p:nvPr/>
          </p:nvSpPr>
          <p:spPr>
            <a:xfrm>
              <a:off x="2046884" y="4842205"/>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+6,6</a:t>
              </a:r>
              <a:endParaRPr lang="en-US" sz="572" dirty="0"/>
            </a:p>
          </p:txBody>
        </p:sp>
        <p:sp>
          <p:nvSpPr>
            <p:cNvPr id="47" name="svg0_36"/>
            <p:cNvSpPr txBox="1"/>
            <p:nvPr/>
          </p:nvSpPr>
          <p:spPr>
            <a:xfrm>
              <a:off x="1610624" y="4955134"/>
              <a:ext cx="148133" cy="104790"/>
            </a:xfrm>
            <a:prstGeom prst="rect">
              <a:avLst/>
            </a:prstGeom>
            <a:solidFill>
              <a:srgbClr val="FFFFFF"/>
            </a:solidFill>
            <a:ln/>
          </p:spPr>
          <p:txBody>
            <a:bodyPr wrap="none" lIns="0" tIns="0" rIns="0" bIns="0" rtlCol="0" anchor="ctr"/>
            <a:lstStyle/>
            <a:p>
              <a:pPr algn="r" indent="0" marL="0">
                <a:buNone/>
              </a:pPr>
              <a:r>
                <a:rPr lang="en-US" sz="572" dirty="0">
                  <a:solidFill>
                    <a:srgbClr val="262626"/>
                  </a:solidFill>
                  <a:latin typeface="Calibri" pitchFamily="34" charset="0"/>
                  <a:ea typeface="Calibri" pitchFamily="34" charset="-122"/>
                  <a:cs typeface="Calibri" pitchFamily="34" charset="-120"/>
                </a:rPr>
                <a:t>−5,2</a:t>
              </a:r>
              <a:endParaRPr lang="en-US" sz="572" dirty="0"/>
            </a:p>
          </p:txBody>
        </p:sp>
        <p:sp>
          <p:nvSpPr>
            <p:cNvPr id="48" name="svg0_37"/>
            <p:cNvSpPr txBox="1"/>
            <p:nvPr/>
          </p:nvSpPr>
          <p:spPr>
            <a:xfrm>
              <a:off x="2040026" y="4955134"/>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+6,3</a:t>
              </a:r>
              <a:endParaRPr lang="en-US" sz="572" dirty="0"/>
            </a:p>
          </p:txBody>
        </p:sp>
        <p:sp>
          <p:nvSpPr>
            <p:cNvPr id="49" name="svg0_38"/>
            <p:cNvSpPr txBox="1"/>
            <p:nvPr/>
          </p:nvSpPr>
          <p:spPr>
            <a:xfrm>
              <a:off x="1972361" y="5067971"/>
              <a:ext cx="148133" cy="104790"/>
            </a:xfrm>
            <a:prstGeom prst="rect">
              <a:avLst/>
            </a:prstGeom>
            <a:solidFill>
              <a:srgbClr val="FFFFFF"/>
            </a:solidFill>
            <a:ln/>
          </p:spPr>
          <p:txBody>
            <a:bodyPr wrap="none" lIns="0" tIns="0" rIns="0" bIns="0" rtlCol="0" anchor="ctr"/>
            <a:lstStyle/>
            <a:p>
              <a:pPr algn="l" indent="0" marL="0">
                <a:buNone/>
              </a:pPr>
              <a:r>
                <a:rPr lang="en-US" sz="572" dirty="0">
                  <a:solidFill>
                    <a:srgbClr val="262626"/>
                  </a:solidFill>
                  <a:latin typeface="Calibri" pitchFamily="34" charset="0"/>
                  <a:ea typeface="Calibri" pitchFamily="34" charset="-122"/>
                  <a:cs typeface="Calibri" pitchFamily="34" charset="-120"/>
                </a:rPr>
                <a:t>+3,0</a:t>
              </a:r>
              <a:endParaRPr lang="en-US" sz="572" dirty="0"/>
            </a:p>
          </p:txBody>
        </p:sp>
      </p:grpSp>
      <p:grpSp>
        <p:nvGrpSpPr>
          <p:cNvPr id="124" name="Fig. 31 – biểu đồ"/>
          <p:cNvGrpSpPr/>
          <p:nvPr/>
        </p:nvGrpSpPr>
        <p:grpSpPr>
          <a:xfrm>
            <a:off x="444856" y="5990234"/>
            <a:ext cx="2081174" cy="1039399"/>
            <a:chOff x="444856" y="5990234"/>
            <a:chExt cx="2081174" cy="1039399"/>
          </a:xfrm>
        </p:grpSpPr>
        <p:sp>
          <p:nvSpPr>
            <p:cNvPr id="50" name="svg1_39"/>
            <p:cNvSpPr/>
            <p:nvPr/>
          </p:nvSpPr>
          <p:spPr>
            <a:xfrm>
              <a:off x="791596" y="6135258"/>
              <a:ext cx="1734434" cy="775503"/>
            </a:xfrm>
            <a:prstGeom prst="rect">
              <a:avLst/>
            </a:prstGeom>
            <a:solidFill>
              <a:srgbClr val="F3F1F1"/>
            </a:solidFill>
            <a:ln/>
          </p:spPr>
        </p:sp>
        <p:sp>
          <p:nvSpPr>
            <p:cNvPr id="51" name="svg1_40"/>
            <p:cNvSpPr/>
            <p:nvPr/>
          </p:nvSpPr>
          <p:spPr>
            <a:xfrm>
              <a:off x="510601" y="6761256"/>
              <a:ext cx="215067" cy="149504"/>
            </a:xfrm>
            <a:prstGeom prst="rect">
              <a:avLst/>
            </a:prstGeom>
            <a:solidFill>
              <a:srgbClr val="7B1E2B"/>
            </a:solidFill>
            <a:ln w="6858">
              <a:solidFill>
                <a:srgbClr val="FFFFFF"/>
              </a:solidFill>
              <a:prstDash val="solid"/>
            </a:ln>
          </p:spPr>
        </p:sp>
        <p:sp>
          <p:nvSpPr>
            <p:cNvPr id="52" name="svg1_41"/>
            <p:cNvSpPr/>
            <p:nvPr/>
          </p:nvSpPr>
          <p:spPr>
            <a:xfrm>
              <a:off x="510601" y="6738122"/>
              <a:ext cx="215067" cy="23134"/>
            </a:xfrm>
            <a:prstGeom prst="rect">
              <a:avLst/>
            </a:prstGeom>
            <a:solidFill>
              <a:srgbClr val="A3A3A3"/>
            </a:solidFill>
            <a:ln w="6858">
              <a:solidFill>
                <a:srgbClr val="FFFFFF"/>
              </a:solidFill>
              <a:prstDash val="solid"/>
            </a:ln>
          </p:spPr>
        </p:sp>
        <p:sp>
          <p:nvSpPr>
            <p:cNvPr id="53" name="svg1_42"/>
            <p:cNvSpPr/>
            <p:nvPr/>
          </p:nvSpPr>
          <p:spPr>
            <a:xfrm>
              <a:off x="510601" y="6727424"/>
              <a:ext cx="215067" cy="10698"/>
            </a:xfrm>
            <a:prstGeom prst="rect">
              <a:avLst/>
            </a:prstGeom>
            <a:solidFill>
              <a:srgbClr val="404040"/>
            </a:solidFill>
            <a:ln w="6858">
              <a:solidFill>
                <a:srgbClr val="FFFFFF"/>
              </a:solidFill>
              <a:prstDash val="solid"/>
            </a:ln>
          </p:spPr>
        </p:sp>
        <p:sp>
          <p:nvSpPr>
            <p:cNvPr id="54" name="svg1_43"/>
            <p:cNvSpPr/>
            <p:nvPr/>
          </p:nvSpPr>
          <p:spPr>
            <a:xfrm>
              <a:off x="510601" y="6722669"/>
              <a:ext cx="215067" cy="4755"/>
            </a:xfrm>
            <a:prstGeom prst="rect">
              <a:avLst/>
            </a:prstGeom>
            <a:solidFill>
              <a:srgbClr val="D0D0D0"/>
            </a:solidFill>
            <a:ln w="6858">
              <a:solidFill>
                <a:srgbClr val="FFFFFF"/>
              </a:solidFill>
              <a:prstDash val="solid"/>
            </a:ln>
          </p:spPr>
        </p:sp>
        <p:sp>
          <p:nvSpPr>
            <p:cNvPr id="55" name="svg1_44"/>
            <p:cNvSpPr txBox="1"/>
            <p:nvPr/>
          </p:nvSpPr>
          <p:spPr>
            <a:xfrm>
              <a:off x="551566" y="6613032"/>
              <a:ext cx="139995"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48</a:t>
              </a:r>
              <a:endParaRPr lang="en-US" sz="649" dirty="0"/>
            </a:p>
          </p:txBody>
        </p:sp>
        <p:sp>
          <p:nvSpPr>
            <p:cNvPr id="56" name="svg1_45"/>
            <p:cNvSpPr txBox="1"/>
            <p:nvPr/>
          </p:nvSpPr>
          <p:spPr>
            <a:xfrm>
              <a:off x="488381" y="6924843"/>
              <a:ext cx="264719"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2025A</a:t>
              </a:r>
              <a:endParaRPr lang="en-US" sz="587" dirty="0"/>
            </a:p>
          </p:txBody>
        </p:sp>
        <p:sp>
          <p:nvSpPr>
            <p:cNvPr id="57" name="svg1_46"/>
            <p:cNvSpPr/>
            <p:nvPr/>
          </p:nvSpPr>
          <p:spPr>
            <a:xfrm>
              <a:off x="857524" y="6709501"/>
              <a:ext cx="215158" cy="201259"/>
            </a:xfrm>
            <a:prstGeom prst="rect">
              <a:avLst/>
            </a:prstGeom>
            <a:solidFill>
              <a:srgbClr val="7B1E2B"/>
            </a:solidFill>
            <a:ln w="6858">
              <a:solidFill>
                <a:srgbClr val="FFFFFF"/>
              </a:solidFill>
              <a:prstDash val="solid"/>
            </a:ln>
          </p:spPr>
        </p:sp>
        <p:sp>
          <p:nvSpPr>
            <p:cNvPr id="58" name="svg1_47"/>
            <p:cNvSpPr/>
            <p:nvPr/>
          </p:nvSpPr>
          <p:spPr>
            <a:xfrm>
              <a:off x="857524" y="6680606"/>
              <a:ext cx="215158" cy="28895"/>
            </a:xfrm>
            <a:prstGeom prst="rect">
              <a:avLst/>
            </a:prstGeom>
            <a:solidFill>
              <a:srgbClr val="A3A3A3"/>
            </a:solidFill>
            <a:ln w="6858">
              <a:solidFill>
                <a:srgbClr val="FFFFFF"/>
              </a:solidFill>
              <a:prstDash val="solid"/>
            </a:ln>
          </p:spPr>
        </p:sp>
        <p:sp>
          <p:nvSpPr>
            <p:cNvPr id="59" name="svg1_48"/>
            <p:cNvSpPr/>
            <p:nvPr/>
          </p:nvSpPr>
          <p:spPr>
            <a:xfrm>
              <a:off x="857524" y="6666525"/>
              <a:ext cx="215158" cy="14082"/>
            </a:xfrm>
            <a:prstGeom prst="rect">
              <a:avLst/>
            </a:prstGeom>
            <a:solidFill>
              <a:srgbClr val="404040"/>
            </a:solidFill>
            <a:ln w="6858">
              <a:solidFill>
                <a:srgbClr val="FFFFFF"/>
              </a:solidFill>
              <a:prstDash val="solid"/>
            </a:ln>
          </p:spPr>
        </p:sp>
        <p:sp>
          <p:nvSpPr>
            <p:cNvPr id="60" name="svg1_49"/>
            <p:cNvSpPr/>
            <p:nvPr/>
          </p:nvSpPr>
          <p:spPr>
            <a:xfrm>
              <a:off x="857524" y="6658844"/>
              <a:ext cx="215158" cy="7590"/>
            </a:xfrm>
            <a:prstGeom prst="rect">
              <a:avLst/>
            </a:prstGeom>
            <a:solidFill>
              <a:srgbClr val="D0D0D0"/>
            </a:solidFill>
            <a:ln w="6858">
              <a:solidFill>
                <a:srgbClr val="FFFFFF"/>
              </a:solidFill>
              <a:prstDash val="solid"/>
            </a:ln>
          </p:spPr>
        </p:sp>
        <p:sp>
          <p:nvSpPr>
            <p:cNvPr id="61" name="svg1_50"/>
            <p:cNvSpPr txBox="1"/>
            <p:nvPr/>
          </p:nvSpPr>
          <p:spPr>
            <a:xfrm>
              <a:off x="898032" y="6549207"/>
              <a:ext cx="139995"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64</a:t>
              </a:r>
              <a:endParaRPr lang="en-US" sz="649" dirty="0"/>
            </a:p>
          </p:txBody>
        </p:sp>
        <p:sp>
          <p:nvSpPr>
            <p:cNvPr id="62" name="svg1_51"/>
            <p:cNvSpPr txBox="1"/>
            <p:nvPr/>
          </p:nvSpPr>
          <p:spPr>
            <a:xfrm>
              <a:off x="882030" y="6924843"/>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26E</a:t>
              </a:r>
              <a:endParaRPr lang="en-US" sz="587" dirty="0"/>
            </a:p>
          </p:txBody>
        </p:sp>
        <p:sp>
          <p:nvSpPr>
            <p:cNvPr id="63" name="svg1_52"/>
            <p:cNvSpPr/>
            <p:nvPr/>
          </p:nvSpPr>
          <p:spPr>
            <a:xfrm>
              <a:off x="1204448" y="6660398"/>
              <a:ext cx="215067" cy="250454"/>
            </a:xfrm>
            <a:prstGeom prst="rect">
              <a:avLst/>
            </a:prstGeom>
            <a:solidFill>
              <a:srgbClr val="7B1E2B"/>
            </a:solidFill>
            <a:ln w="6858">
              <a:solidFill>
                <a:srgbClr val="FFFFFF"/>
              </a:solidFill>
              <a:prstDash val="solid"/>
            </a:ln>
          </p:spPr>
        </p:sp>
        <p:sp>
          <p:nvSpPr>
            <p:cNvPr id="64" name="svg1_53"/>
            <p:cNvSpPr/>
            <p:nvPr/>
          </p:nvSpPr>
          <p:spPr>
            <a:xfrm>
              <a:off x="1204448" y="6625560"/>
              <a:ext cx="215067" cy="34656"/>
            </a:xfrm>
            <a:prstGeom prst="rect">
              <a:avLst/>
            </a:prstGeom>
            <a:solidFill>
              <a:srgbClr val="A3A3A3"/>
            </a:solidFill>
            <a:ln w="6858">
              <a:solidFill>
                <a:srgbClr val="FFFFFF"/>
              </a:solidFill>
              <a:prstDash val="solid"/>
            </a:ln>
          </p:spPr>
        </p:sp>
        <p:sp>
          <p:nvSpPr>
            <p:cNvPr id="65" name="svg1_54"/>
            <p:cNvSpPr/>
            <p:nvPr/>
          </p:nvSpPr>
          <p:spPr>
            <a:xfrm>
              <a:off x="1204448" y="6606906"/>
              <a:ext cx="215067" cy="18745"/>
            </a:xfrm>
            <a:prstGeom prst="rect">
              <a:avLst/>
            </a:prstGeom>
            <a:solidFill>
              <a:srgbClr val="404040"/>
            </a:solidFill>
            <a:ln w="6858">
              <a:solidFill>
                <a:srgbClr val="FFFFFF"/>
              </a:solidFill>
              <a:prstDash val="solid"/>
            </a:ln>
          </p:spPr>
        </p:sp>
        <p:sp>
          <p:nvSpPr>
            <p:cNvPr id="66" name="svg1_55"/>
            <p:cNvSpPr/>
            <p:nvPr/>
          </p:nvSpPr>
          <p:spPr>
            <a:xfrm>
              <a:off x="1204448" y="6595293"/>
              <a:ext cx="215067" cy="11613"/>
            </a:xfrm>
            <a:prstGeom prst="rect">
              <a:avLst/>
            </a:prstGeom>
            <a:solidFill>
              <a:srgbClr val="D0D0D0"/>
            </a:solidFill>
            <a:ln w="6858">
              <a:solidFill>
                <a:srgbClr val="FFFFFF"/>
              </a:solidFill>
              <a:prstDash val="solid"/>
            </a:ln>
          </p:spPr>
        </p:sp>
        <p:sp>
          <p:nvSpPr>
            <p:cNvPr id="67" name="svg1_56"/>
            <p:cNvSpPr txBox="1"/>
            <p:nvPr/>
          </p:nvSpPr>
          <p:spPr>
            <a:xfrm>
              <a:off x="1244590" y="6486296"/>
              <a:ext cx="139995"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80</a:t>
              </a:r>
              <a:endParaRPr lang="en-US" sz="649" dirty="0"/>
            </a:p>
          </p:txBody>
        </p:sp>
        <p:sp>
          <p:nvSpPr>
            <p:cNvPr id="68" name="svg1_57"/>
            <p:cNvSpPr txBox="1"/>
            <p:nvPr/>
          </p:nvSpPr>
          <p:spPr>
            <a:xfrm>
              <a:off x="1228588" y="6924843"/>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27E</a:t>
              </a:r>
              <a:endParaRPr lang="en-US" sz="587" dirty="0"/>
            </a:p>
          </p:txBody>
        </p:sp>
        <p:sp>
          <p:nvSpPr>
            <p:cNvPr id="69" name="svg1_58"/>
            <p:cNvSpPr/>
            <p:nvPr/>
          </p:nvSpPr>
          <p:spPr>
            <a:xfrm>
              <a:off x="1551280" y="6565849"/>
              <a:ext cx="215067" cy="344912"/>
            </a:xfrm>
            <a:prstGeom prst="rect">
              <a:avLst/>
            </a:prstGeom>
            <a:solidFill>
              <a:srgbClr val="7B1E2B"/>
            </a:solidFill>
            <a:ln w="6858">
              <a:solidFill>
                <a:srgbClr val="FFFFFF"/>
              </a:solidFill>
              <a:prstDash val="solid"/>
            </a:ln>
          </p:spPr>
        </p:sp>
        <p:sp>
          <p:nvSpPr>
            <p:cNvPr id="70" name="svg1_59"/>
            <p:cNvSpPr/>
            <p:nvPr/>
          </p:nvSpPr>
          <p:spPr>
            <a:xfrm>
              <a:off x="1551280" y="6520495"/>
              <a:ext cx="215067" cy="45263"/>
            </a:xfrm>
            <a:prstGeom prst="rect">
              <a:avLst/>
            </a:prstGeom>
            <a:solidFill>
              <a:srgbClr val="A3A3A3"/>
            </a:solidFill>
            <a:ln w="6858">
              <a:solidFill>
                <a:srgbClr val="FFFFFF"/>
              </a:solidFill>
              <a:prstDash val="solid"/>
            </a:ln>
          </p:spPr>
        </p:sp>
        <p:sp>
          <p:nvSpPr>
            <p:cNvPr id="71" name="svg1_60"/>
            <p:cNvSpPr/>
            <p:nvPr/>
          </p:nvSpPr>
          <p:spPr>
            <a:xfrm>
              <a:off x="1551280" y="6493977"/>
              <a:ext cx="215067" cy="26609"/>
            </a:xfrm>
            <a:prstGeom prst="rect">
              <a:avLst/>
            </a:prstGeom>
            <a:solidFill>
              <a:srgbClr val="404040"/>
            </a:solidFill>
            <a:ln w="6858">
              <a:solidFill>
                <a:srgbClr val="FFFFFF"/>
              </a:solidFill>
              <a:prstDash val="solid"/>
            </a:ln>
          </p:spPr>
        </p:sp>
        <p:sp>
          <p:nvSpPr>
            <p:cNvPr id="72" name="svg1_61"/>
            <p:cNvSpPr/>
            <p:nvPr/>
          </p:nvSpPr>
          <p:spPr>
            <a:xfrm>
              <a:off x="1551280" y="6474043"/>
              <a:ext cx="215067" cy="20025"/>
            </a:xfrm>
            <a:prstGeom prst="rect">
              <a:avLst/>
            </a:prstGeom>
            <a:solidFill>
              <a:srgbClr val="D0D0D0"/>
            </a:solidFill>
            <a:ln w="6858">
              <a:solidFill>
                <a:srgbClr val="FFFFFF"/>
              </a:solidFill>
              <a:prstDash val="solid"/>
            </a:ln>
          </p:spPr>
        </p:sp>
        <p:sp>
          <p:nvSpPr>
            <p:cNvPr id="73" name="svg1_62"/>
            <p:cNvSpPr txBox="1"/>
            <p:nvPr/>
          </p:nvSpPr>
          <p:spPr>
            <a:xfrm>
              <a:off x="1568379" y="6364590"/>
              <a:ext cx="187543"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111</a:t>
              </a:r>
              <a:endParaRPr lang="en-US" sz="649" dirty="0"/>
            </a:p>
          </p:txBody>
        </p:sp>
        <p:sp>
          <p:nvSpPr>
            <p:cNvPr id="74" name="svg1_63"/>
            <p:cNvSpPr txBox="1"/>
            <p:nvPr/>
          </p:nvSpPr>
          <p:spPr>
            <a:xfrm>
              <a:off x="1576151" y="6924843"/>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28E</a:t>
              </a:r>
              <a:endParaRPr lang="en-US" sz="587" dirty="0"/>
            </a:p>
          </p:txBody>
        </p:sp>
        <p:sp>
          <p:nvSpPr>
            <p:cNvPr id="75" name="svg1_64"/>
            <p:cNvSpPr/>
            <p:nvPr/>
          </p:nvSpPr>
          <p:spPr>
            <a:xfrm>
              <a:off x="1898112" y="6471117"/>
              <a:ext cx="215158" cy="439644"/>
            </a:xfrm>
            <a:prstGeom prst="rect">
              <a:avLst/>
            </a:prstGeom>
            <a:solidFill>
              <a:srgbClr val="7B1E2B"/>
            </a:solidFill>
            <a:ln w="6858">
              <a:solidFill>
                <a:srgbClr val="FFFFFF"/>
              </a:solidFill>
              <a:prstDash val="solid"/>
            </a:ln>
          </p:spPr>
        </p:sp>
        <p:sp>
          <p:nvSpPr>
            <p:cNvPr id="76" name="svg1_65"/>
            <p:cNvSpPr/>
            <p:nvPr/>
          </p:nvSpPr>
          <p:spPr>
            <a:xfrm>
              <a:off x="1898112" y="6415522"/>
              <a:ext cx="215158" cy="55504"/>
            </a:xfrm>
            <a:prstGeom prst="rect">
              <a:avLst/>
            </a:prstGeom>
            <a:solidFill>
              <a:srgbClr val="A3A3A3"/>
            </a:solidFill>
            <a:ln w="6858">
              <a:solidFill>
                <a:srgbClr val="FFFFFF"/>
              </a:solidFill>
              <a:prstDash val="solid"/>
            </a:ln>
          </p:spPr>
        </p:sp>
        <p:sp>
          <p:nvSpPr>
            <p:cNvPr id="77" name="svg1_66"/>
            <p:cNvSpPr/>
            <p:nvPr/>
          </p:nvSpPr>
          <p:spPr>
            <a:xfrm>
              <a:off x="1898112" y="6379952"/>
              <a:ext cx="215158" cy="35662"/>
            </a:xfrm>
            <a:prstGeom prst="rect">
              <a:avLst/>
            </a:prstGeom>
            <a:solidFill>
              <a:srgbClr val="404040"/>
            </a:solidFill>
            <a:ln w="6858">
              <a:solidFill>
                <a:srgbClr val="FFFFFF"/>
              </a:solidFill>
              <a:prstDash val="solid"/>
            </a:ln>
          </p:spPr>
        </p:sp>
        <p:sp>
          <p:nvSpPr>
            <p:cNvPr id="78" name="svg1_67"/>
            <p:cNvSpPr/>
            <p:nvPr/>
          </p:nvSpPr>
          <p:spPr>
            <a:xfrm>
              <a:off x="1898112" y="6350599"/>
              <a:ext cx="215158" cy="29352"/>
            </a:xfrm>
            <a:prstGeom prst="rect">
              <a:avLst/>
            </a:prstGeom>
            <a:solidFill>
              <a:srgbClr val="D0D0D0"/>
            </a:solidFill>
            <a:ln w="6858">
              <a:solidFill>
                <a:srgbClr val="FFFFFF"/>
              </a:solidFill>
              <a:prstDash val="solid"/>
            </a:ln>
          </p:spPr>
        </p:sp>
        <p:sp>
          <p:nvSpPr>
            <p:cNvPr id="79" name="svg1_68"/>
            <p:cNvSpPr txBox="1"/>
            <p:nvPr/>
          </p:nvSpPr>
          <p:spPr>
            <a:xfrm>
              <a:off x="1914845" y="6240871"/>
              <a:ext cx="187543"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143</a:t>
              </a:r>
              <a:endParaRPr lang="en-US" sz="649" dirty="0"/>
            </a:p>
          </p:txBody>
        </p:sp>
        <p:sp>
          <p:nvSpPr>
            <p:cNvPr id="80" name="svg1_69"/>
            <p:cNvSpPr txBox="1"/>
            <p:nvPr/>
          </p:nvSpPr>
          <p:spPr>
            <a:xfrm>
              <a:off x="1922617" y="6924843"/>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29E</a:t>
              </a:r>
              <a:endParaRPr lang="en-US" sz="587" dirty="0"/>
            </a:p>
          </p:txBody>
        </p:sp>
        <p:sp>
          <p:nvSpPr>
            <p:cNvPr id="81" name="svg1_70"/>
            <p:cNvSpPr/>
            <p:nvPr/>
          </p:nvSpPr>
          <p:spPr>
            <a:xfrm>
              <a:off x="2245035" y="6385987"/>
              <a:ext cx="215067" cy="524866"/>
            </a:xfrm>
            <a:prstGeom prst="rect">
              <a:avLst/>
            </a:prstGeom>
            <a:solidFill>
              <a:srgbClr val="7B1E2B"/>
            </a:solidFill>
            <a:ln w="6858">
              <a:solidFill>
                <a:srgbClr val="FFFFFF"/>
              </a:solidFill>
              <a:prstDash val="solid"/>
            </a:ln>
          </p:spPr>
        </p:sp>
        <p:sp>
          <p:nvSpPr>
            <p:cNvPr id="82" name="svg1_71"/>
            <p:cNvSpPr/>
            <p:nvPr/>
          </p:nvSpPr>
          <p:spPr>
            <a:xfrm>
              <a:off x="2245035" y="6320973"/>
              <a:ext cx="215067" cy="65014"/>
            </a:xfrm>
            <a:prstGeom prst="rect">
              <a:avLst/>
            </a:prstGeom>
            <a:solidFill>
              <a:srgbClr val="A3A3A3"/>
            </a:solidFill>
            <a:ln w="6858">
              <a:solidFill>
                <a:srgbClr val="FFFFFF"/>
              </a:solidFill>
              <a:prstDash val="solid"/>
            </a:ln>
          </p:spPr>
        </p:sp>
        <p:sp>
          <p:nvSpPr>
            <p:cNvPr id="83" name="svg1_72"/>
            <p:cNvSpPr/>
            <p:nvPr/>
          </p:nvSpPr>
          <p:spPr>
            <a:xfrm>
              <a:off x="2245035" y="6275619"/>
              <a:ext cx="215067" cy="45263"/>
            </a:xfrm>
            <a:prstGeom prst="rect">
              <a:avLst/>
            </a:prstGeom>
            <a:solidFill>
              <a:srgbClr val="404040"/>
            </a:solidFill>
            <a:ln w="6858">
              <a:solidFill>
                <a:srgbClr val="FFFFFF"/>
              </a:solidFill>
              <a:prstDash val="solid"/>
            </a:ln>
          </p:spPr>
        </p:sp>
        <p:sp>
          <p:nvSpPr>
            <p:cNvPr id="84" name="svg1_73"/>
            <p:cNvSpPr/>
            <p:nvPr/>
          </p:nvSpPr>
          <p:spPr>
            <a:xfrm>
              <a:off x="2245035" y="6236940"/>
              <a:ext cx="215067" cy="38679"/>
            </a:xfrm>
            <a:prstGeom prst="rect">
              <a:avLst/>
            </a:prstGeom>
            <a:solidFill>
              <a:srgbClr val="D0D0D0"/>
            </a:solidFill>
            <a:ln w="6858">
              <a:solidFill>
                <a:srgbClr val="FFFFFF"/>
              </a:solidFill>
              <a:prstDash val="solid"/>
            </a:ln>
          </p:spPr>
        </p:sp>
        <p:sp>
          <p:nvSpPr>
            <p:cNvPr id="85" name="svg1_74"/>
            <p:cNvSpPr txBox="1"/>
            <p:nvPr/>
          </p:nvSpPr>
          <p:spPr>
            <a:xfrm>
              <a:off x="2261403" y="6128034"/>
              <a:ext cx="187543"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172</a:t>
              </a:r>
              <a:endParaRPr lang="en-US" sz="649" dirty="0"/>
            </a:p>
          </p:txBody>
        </p:sp>
        <p:sp>
          <p:nvSpPr>
            <p:cNvPr id="86" name="svg1_75"/>
            <p:cNvSpPr txBox="1"/>
            <p:nvPr/>
          </p:nvSpPr>
          <p:spPr>
            <a:xfrm>
              <a:off x="2269175" y="6924843"/>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30E</a:t>
              </a:r>
              <a:endParaRPr lang="en-US" sz="587" dirty="0"/>
            </a:p>
          </p:txBody>
        </p:sp>
        <p:sp>
          <p:nvSpPr>
            <p:cNvPr id="87" name="svg1_76"/>
            <p:cNvSpPr/>
            <p:nvPr/>
          </p:nvSpPr>
          <p:spPr>
            <a:xfrm>
              <a:off x="444856" y="6910761"/>
              <a:ext cx="2081174" cy="0"/>
            </a:xfrm>
            <a:prstGeom prst="line">
              <a:avLst/>
            </a:prstGeom>
            <a:noFill/>
            <a:ln w="6858">
              <a:solidFill>
                <a:srgbClr val="8C8C8C"/>
              </a:solidFill>
              <a:prstDash val="solid"/>
            </a:ln>
          </p:spPr>
        </p:sp>
        <p:sp>
          <p:nvSpPr>
            <p:cNvPr id="88" name="svg1_77"/>
            <p:cNvSpPr/>
            <p:nvPr/>
          </p:nvSpPr>
          <p:spPr>
            <a:xfrm>
              <a:off x="444856" y="6011540"/>
              <a:ext cx="60899" cy="60899"/>
            </a:xfrm>
            <a:prstGeom prst="rect">
              <a:avLst/>
            </a:prstGeom>
            <a:solidFill>
              <a:srgbClr val="7B1E2B"/>
            </a:solidFill>
            <a:ln/>
          </p:spPr>
        </p:sp>
        <p:sp>
          <p:nvSpPr>
            <p:cNvPr id="89" name="svg1_78"/>
            <p:cNvSpPr txBox="1"/>
            <p:nvPr/>
          </p:nvSpPr>
          <p:spPr>
            <a:xfrm>
              <a:off x="528249" y="5990234"/>
              <a:ext cx="424739"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F&amp;B/FMCG</a:t>
              </a:r>
              <a:endParaRPr lang="en-US" sz="587" dirty="0"/>
            </a:p>
          </p:txBody>
        </p:sp>
        <p:sp>
          <p:nvSpPr>
            <p:cNvPr id="90" name="svg1_79"/>
            <p:cNvSpPr/>
            <p:nvPr/>
          </p:nvSpPr>
          <p:spPr>
            <a:xfrm>
              <a:off x="897118" y="6011540"/>
              <a:ext cx="60899" cy="60899"/>
            </a:xfrm>
            <a:prstGeom prst="rect">
              <a:avLst/>
            </a:prstGeom>
            <a:solidFill>
              <a:srgbClr val="A3A3A3"/>
            </a:solidFill>
            <a:ln/>
          </p:spPr>
        </p:sp>
        <p:sp>
          <p:nvSpPr>
            <p:cNvPr id="91" name="svg1_80"/>
            <p:cNvSpPr txBox="1"/>
            <p:nvPr/>
          </p:nvSpPr>
          <p:spPr>
            <a:xfrm>
              <a:off x="980785" y="5990234"/>
              <a:ext cx="261244"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Khuôn</a:t>
              </a:r>
              <a:endParaRPr lang="en-US" sz="587" dirty="0"/>
            </a:p>
          </p:txBody>
        </p:sp>
        <p:sp>
          <p:nvSpPr>
            <p:cNvPr id="92" name="svg1_81"/>
            <p:cNvSpPr/>
            <p:nvPr/>
          </p:nvSpPr>
          <p:spPr>
            <a:xfrm>
              <a:off x="1244224" y="6011540"/>
              <a:ext cx="60899" cy="60899"/>
            </a:xfrm>
            <a:prstGeom prst="rect">
              <a:avLst/>
            </a:prstGeom>
            <a:solidFill>
              <a:srgbClr val="404040"/>
            </a:solidFill>
            <a:ln/>
          </p:spPr>
        </p:sp>
        <p:sp>
          <p:nvSpPr>
            <p:cNvPr id="93" name="svg1_82"/>
            <p:cNvSpPr txBox="1"/>
            <p:nvPr/>
          </p:nvSpPr>
          <p:spPr>
            <a:xfrm>
              <a:off x="1327343" y="5990234"/>
              <a:ext cx="560527"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Nội thất/TMĐT</a:t>
              </a:r>
              <a:endParaRPr lang="en-US" sz="587" dirty="0"/>
            </a:p>
          </p:txBody>
        </p:sp>
        <p:sp>
          <p:nvSpPr>
            <p:cNvPr id="94" name="svg1_83"/>
            <p:cNvSpPr/>
            <p:nvPr/>
          </p:nvSpPr>
          <p:spPr>
            <a:xfrm>
              <a:off x="1871868" y="6011540"/>
              <a:ext cx="60899" cy="60899"/>
            </a:xfrm>
            <a:prstGeom prst="rect">
              <a:avLst/>
            </a:prstGeom>
            <a:solidFill>
              <a:srgbClr val="D0D0D0"/>
            </a:solidFill>
            <a:ln/>
          </p:spPr>
        </p:sp>
        <p:sp>
          <p:nvSpPr>
            <p:cNvPr id="95" name="svg1_84"/>
            <p:cNvSpPr txBox="1"/>
            <p:nvPr/>
          </p:nvSpPr>
          <p:spPr>
            <a:xfrm>
              <a:off x="1955536" y="5990234"/>
              <a:ext cx="299557"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Điện tử</a:t>
              </a:r>
              <a:endParaRPr lang="en-US" sz="587" dirty="0"/>
            </a:p>
          </p:txBody>
        </p:sp>
      </p:grpSp>
      <p:sp>
        <p:nvSpPr>
          <p:cNvPr id="96" name="Text 92"/>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97" name="Text 93"/>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98" name="Text 94"/>
          <p:cNvSpPr txBox="1"/>
          <p:nvPr/>
        </p:nvSpPr>
        <p:spPr>
          <a:xfrm>
            <a:off x="484632" y="5905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4. LẬP DỰ PHÓNG PRO FORMA 5 NĂM (2026E–2030E)</a:t>
            </a:r>
            <a:endParaRPr lang="en-US" sz="880" dirty="0"/>
          </a:p>
        </p:txBody>
      </p:sp>
      <p:sp>
        <p:nvSpPr>
          <p:cNvPr id="99" name="Text 95"/>
          <p:cNvSpPr txBox="1"/>
          <p:nvPr/>
        </p:nvSpPr>
        <p:spPr>
          <a:xfrm>
            <a:off x="2745303" y="84518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4.1. Từ phân tích vĩ mô, ngành đến giả định dự phóng</a:t>
            </a:r>
            <a:endParaRPr lang="en-US" sz="900" dirty="0"/>
          </a:p>
        </p:txBody>
      </p:sp>
      <p:sp>
        <p:nvSpPr>
          <p:cNvPr id="100" name="Text 96"/>
          <p:cNvSpPr txBox="1"/>
          <p:nvPr/>
        </p:nvSpPr>
        <p:spPr>
          <a:xfrm>
            <a:off x="2745303" y="1014618"/>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Mỗi kết luận ở Mục 1–3 được chuyển thành một giả định theo chuỗi điều kiện vĩ mô → bối cảnh ngành → tác động đến AgriPack → giả định trong mô hình (Fig. 29). Lý do và nguồn của mọi giả định ghi ngay cạnh ô giả định trong model, tổng hợp ở Fig. A09, A11.</a:t>
            </a:r>
            <a:endParaRPr lang="en-US" sz="850" dirty="0"/>
          </a:p>
        </p:txBody>
      </p:sp>
      <p:sp>
        <p:nvSpPr>
          <p:cNvPr id="101" name="Text 97"/>
          <p:cNvSpPr txBox="1"/>
          <p:nvPr/>
        </p:nvSpPr>
        <p:spPr>
          <a:xfrm>
            <a:off x="405354" y="1521196"/>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29: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Phân tích vĩ mô, ngành được chuyển thành giả định trong mô hình</a:t>
            </a:r>
            <a:endParaRPr lang="en-US" sz="720" dirty="0"/>
          </a:p>
        </p:txBody>
      </p:sp>
      <p:sp>
        <p:nvSpPr>
          <p:cNvPr id="102" name="Text 98"/>
          <p:cNvSpPr txBox="1"/>
          <p:nvPr/>
        </p:nvSpPr>
        <p:spPr>
          <a:xfrm>
            <a:off x="405354" y="3689147"/>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Phân tích Mục 1–3; giá trị giả định: model (Drivers, VCM, Discount rate)</a:t>
            </a:r>
            <a:endParaRPr lang="en-US" sz="600" dirty="0"/>
          </a:p>
        </p:txBody>
      </p:sp>
      <p:sp>
        <p:nvSpPr>
          <p:cNvPr id="103" name="Text 99"/>
          <p:cNvSpPr txBox="1"/>
          <p:nvPr/>
        </p:nvSpPr>
        <p:spPr>
          <a:xfrm>
            <a:off x="405354" y="3883548"/>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30:</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Cầu là nhân tố vĩ mô – ngành tác động mạnh nhất đến pre-money</a:t>
            </a:r>
            <a:endParaRPr lang="en-US" sz="720" dirty="0"/>
          </a:p>
        </p:txBody>
      </p:sp>
      <p:sp>
        <p:nvSpPr>
          <p:cNvPr id="104" name="Text 100"/>
          <p:cNvSpPr txBox="1"/>
          <p:nvPr/>
        </p:nvSpPr>
        <p:spPr>
          <a:xfrm>
            <a:off x="405354" y="412065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Chênh lệch pre-money so với cơ sở 32,1 tỷ đồng (tỷ đồng)</a:t>
            </a:r>
            <a:endParaRPr lang="en-US" sz="630" dirty="0"/>
          </a:p>
        </p:txBody>
      </p:sp>
      <p:sp>
        <p:nvSpPr>
          <p:cNvPr id="105" name="Text 101"/>
          <p:cNvSpPr txBox="1"/>
          <p:nvPr/>
        </p:nvSpPr>
        <p:spPr>
          <a:xfrm>
            <a:off x="405354" y="5338724"/>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(Summary): chạy lại toàn bộ mô hình với từng nhân tố ở mức bất lợi/thuận lợi, các giả định khác giữ nguyên</a:t>
            </a:r>
            <a:endParaRPr lang="en-US" sz="600" dirty="0"/>
          </a:p>
        </p:txBody>
      </p:sp>
      <p:sp>
        <p:nvSpPr>
          <p:cNvPr id="106" name="Text 102"/>
          <p:cNvSpPr txBox="1"/>
          <p:nvPr/>
        </p:nvSpPr>
        <p:spPr>
          <a:xfrm>
            <a:off x="405354" y="5635356"/>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Doanh thu 2030E đạt 170 tỷ đồng; F&amp;B/FMCG vẫn chiếm gần 80%</a:t>
            </a:r>
            <a:endParaRPr lang="en-US" sz="720" dirty="0"/>
          </a:p>
        </p:txBody>
      </p:sp>
      <p:sp>
        <p:nvSpPr>
          <p:cNvPr id="107" name="Text 103"/>
          <p:cNvSpPr txBox="1"/>
          <p:nvPr/>
        </p:nvSpPr>
        <p:spPr>
          <a:xfrm>
            <a:off x="405354" y="5872460"/>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08" name="Text 104"/>
          <p:cNvSpPr txBox="1"/>
          <p:nvPr/>
        </p:nvSpPr>
        <p:spPr>
          <a:xfrm>
            <a:off x="405354" y="704636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Dự phóng của nhóm (Drivers)</a:t>
            </a:r>
            <a:endParaRPr lang="en-US" sz="600" dirty="0"/>
          </a:p>
        </p:txBody>
      </p:sp>
      <p:sp>
        <p:nvSpPr>
          <p:cNvPr id="109" name="Text 105"/>
          <p:cNvSpPr txBox="1"/>
          <p:nvPr/>
        </p:nvSpPr>
        <p:spPr>
          <a:xfrm>
            <a:off x="405354" y="725164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Giả định sản lượng, giá và chi phí (kịch bản cơ sở)</a:t>
            </a:r>
            <a:endParaRPr lang="en-US" sz="720" dirty="0"/>
          </a:p>
        </p:txBody>
      </p:sp>
      <p:sp>
        <p:nvSpPr>
          <p:cNvPr id="110" name="Text 106"/>
          <p:cNvSpPr txBox="1"/>
          <p:nvPr/>
        </p:nvSpPr>
        <p:spPr>
          <a:xfrm>
            <a:off x="405354" y="9188074"/>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Drivers (kịch bản Base)</a:t>
            </a:r>
            <a:endParaRPr lang="en-US" sz="600" dirty="0"/>
          </a:p>
        </p:txBody>
      </p:sp>
      <p:sp>
        <p:nvSpPr>
          <p:cNvPr id="111" name="Text 107"/>
          <p:cNvSpPr txBox="1"/>
          <p:nvPr/>
        </p:nvSpPr>
        <p:spPr>
          <a:xfrm>
            <a:off x="2745303" y="3852367"/>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Cầu.</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GDP, tiêu dùng và TMĐT tăng nhanh (Mục 3.1.1, 3.2.2) nhưng SAM chỉ tăng 4,73%/năm, nên tăng trưởng vượt thị trường phải đến từ giành thị phần (4,3% → 11,0% SAM năm 2030) và bị giới hạn bởi công suất; đây cũng là nhân tố tác động mạnh nhất đến giá trị (Fig. 30).</a:t>
            </a:r>
            <a:endParaRPr lang="en-US" sz="850" dirty="0"/>
          </a:p>
        </p:txBody>
      </p:sp>
      <p:sp>
        <p:nvSpPr>
          <p:cNvPr id="112" name="Text 108"/>
          <p:cNvSpPr txBox="1"/>
          <p:nvPr/>
        </p:nvSpPr>
        <p:spPr>
          <a:xfrm>
            <a:off x="2745303" y="4284696"/>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Giá và chi phí.</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CPI +4,45%, nhóm nhà ở – điện – nước +6,71%, khách hàng B2B có sức mạnh đàm phán rất cao, bao bì nhựa rẻ hơn nhiều lần (Mục 3.1.2, 3.2.3): giá bán chỉ tăng 2%/năm, chi phí biến đổi lên 25,0–27,0% doanh thu – biên lợi nhuận bị ép thay vì chuyển chi phí sang khách hàng.</a:t>
            </a:r>
            <a:endParaRPr lang="en-US" sz="850" dirty="0"/>
          </a:p>
        </p:txBody>
      </p:sp>
      <p:sp>
        <p:nvSpPr>
          <p:cNvPr id="113" name="Text 109"/>
          <p:cNvSpPr txBox="1"/>
          <p:nvPr/>
        </p:nvSpPr>
        <p:spPr>
          <a:xfrm>
            <a:off x="2745303" y="4717024"/>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Vốn và rủi ro.</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Lãi suất cho vay 8,1–10,5% → chi phí nợ 10%; VC chọn lọc hơn và giai đoạn đầu tăng trưởng → z = 40%, total beta với ρ = 0,7; Rf 3,92% (TPCP 10 năm, bình quân 2016–2025). </a:t>
            </a:r>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Pháp lý.</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TT 27/2026/TT-BYT → chi phí kiểm nghiệm, chứng nhận, R&amp;D 0,6% doanh thu; Luật Thuế TNDN 67/2025/QH15 → thuế suất 17% (2026), 20% (từ 2027); không đưa ưu đãi NQ 198/2025/QH15 vào vì chưa chứng minh đủ điều kiện.</a:t>
            </a:r>
            <a:endParaRPr lang="en-US" sz="850" dirty="0"/>
          </a:p>
        </p:txBody>
      </p:sp>
      <p:sp>
        <p:nvSpPr>
          <p:cNvPr id="114" name="Text 110"/>
          <p:cNvSpPr txBox="1"/>
          <p:nvPr/>
        </p:nvSpPr>
        <p:spPr>
          <a:xfrm>
            <a:off x="2745303" y="5412608"/>
            <a:ext cx="4409237" cy="118405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Tác động lên dự phóng và định giá.</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Chạy lại toàn bộ mô hình khi đưa từng nhân tố về mức bất lợi hoặc thuận lợi, các giả định khác giữ nguyên, cho thấy cầu chi phối kết quả: tốc độ tăng sản lượng thấp hơn 20% làm doanh thu 2030E còn 137,3 tỷ, LNST 2030E còn 6,6 tỷ và pre-money giảm 24,3 tỷ (Fig. 30), vì chi phí cố định và khấu hao nhà máy mới không giảm theo sản lượng trong khi giá trị cuối kỳ dựa trên lợi nhuận 2030. Chi phí nhân sự và chi phí biến đổi ±1 điểm % doanh thu làm pre-money thay đổi 7,3–9,3 tỷ, nhiều hơn giá bán ±1 điểm %/năm, lãi suất hay CRP ±1 điểm % (5,2–6,6 tỷ). Ưu đãi thuế NQ 198/2025/QH15, nếu đủ điều kiện, chỉ thêm 3,0 tỷ vì lợi nhuận 2026–2029 còn thấp. Chỉ báo cần theo dõi trước hết vì vậy là sản lượng hộp/khay F&amp;B và mức lấp đầy nhà máy mới (biên độ, lý do và kết quả chi tiết ở Fig. A15).</a:t>
            </a:r>
            <a:endParaRPr lang="en-US" sz="850" dirty="0"/>
          </a:p>
        </p:txBody>
      </p:sp>
      <p:sp>
        <p:nvSpPr>
          <p:cNvPr id="115" name="Text 111"/>
          <p:cNvSpPr txBox="1"/>
          <p:nvPr/>
        </p:nvSpPr>
        <p:spPr>
          <a:xfrm>
            <a:off x="2745303" y="6634338"/>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4.2. Doanh thu: sản lượng × giá bán theo phân khúc</a:t>
            </a:r>
            <a:endParaRPr lang="en-US" sz="900" dirty="0"/>
          </a:p>
        </p:txBody>
      </p:sp>
      <p:sp>
        <p:nvSpPr>
          <p:cNvPr id="116" name="Text 112"/>
          <p:cNvSpPr txBox="1"/>
          <p:nvPr/>
        </p:nvSpPr>
        <p:spPr>
          <a:xfrm>
            <a:off x="2745303" y="6803685"/>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Doanh thu thuần đạt 170,3 tỷ đồng năm 2030, CAGR 29,1% (Fig. 31), dự phóng bằng sản lượng × giá bán cho từng phân khúc (Fig. 32). Sản lượng hộp/khay F&amp;B quy đổi năm 2025 là 15,2 triệu cái (doanh thu chia giá 2.500 đồng – cận dưới khung giá ở Fig. 06); tăng 32% năm 2026 nhờ máy ép bổ sung, 22% năm 2027 khi nhà máy mới đang xây, 35% năm 2028 khi hai dây chuyền mới chạy, rồi giảm dần về 17% năm 2030 (48,4 triệu cái). Mảng khuôn tăng theo số SKU mới; đệm nội thất/TMĐT và đệm điện tử tăng 25–70%/năm từ nền nhỏ.</a:t>
            </a:r>
            <a:endParaRPr lang="en-US" sz="850" dirty="0"/>
          </a:p>
        </p:txBody>
      </p:sp>
      <p:sp>
        <p:nvSpPr>
          <p:cNvPr id="117" name="Text 113"/>
          <p:cNvSpPr txBox="1"/>
          <p:nvPr/>
        </p:nvSpPr>
        <p:spPr>
          <a:xfrm>
            <a:off x="2745303" y="7630759"/>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Tăng trưởng thấp hơn nhiều mức 54–59% của 2024–2025 vì nền lớn hơn và SAM chỉ tăng 4–5%/năm; giữ nhịp 40–50%/năm sẽ đòi hỏi 15–18% SAM toàn quốc, khó bảo vệ với một doanh nghiệp một nhà máy.</a:t>
            </a:r>
            <a:endParaRPr lang="en-US" sz="850" dirty="0"/>
          </a:p>
        </p:txBody>
      </p:sp>
      <p:sp>
        <p:nvSpPr>
          <p:cNvPr id="118" name="Text 114"/>
          <p:cNvSpPr txBox="1"/>
          <p:nvPr/>
        </p:nvSpPr>
        <p:spPr>
          <a:xfrm>
            <a:off x="2745303" y="8063088"/>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4.3. Chi phí và biên lợi nhuận: BCKQKD theo chức năng</a:t>
            </a:r>
            <a:endParaRPr lang="en-US" sz="900" dirty="0"/>
          </a:p>
        </p:txBody>
      </p:sp>
      <p:sp>
        <p:nvSpPr>
          <p:cNvPr id="119" name="Text 115"/>
          <p:cNvSpPr txBox="1"/>
          <p:nvPr/>
        </p:nvSpPr>
        <p:spPr>
          <a:xfrm>
            <a:off x="2745303" y="8232435"/>
            <a:ext cx="4409237" cy="657819"/>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BCKQKD trình bày theo chức năng (VAS, Fig. 33): 70% tiền lương (công nhân ép, sấy, QC, quản đốc) và 90% khấu hao (máy ép, hệ thống sấy, nhà xưởng) vào giá vốn; 30% tiền lương và 10% khấu hao vào chi phí bán hàng và quản lý doanh nghiệp. Số liệu 2023–2025 được trình bày lại theo cùng cách: biên gộp 2025 là 51,0% (Fig. 34), thay vì 72,8% trên BCTC gốc (Mục 2.2). Việc phân bổ không đổi EBIT, LNST và dòng tiền; EBITDA là dòng ghi nhớ.</a:t>
            </a:r>
            <a:endParaRPr lang="en-US" sz="850" dirty="0"/>
          </a:p>
        </p:txBody>
      </p:sp>
      <p:sp>
        <p:nvSpPr>
          <p:cNvPr id="120" name="Text 116"/>
          <p:cNvSpPr txBox="1"/>
          <p:nvPr/>
        </p:nvSpPr>
        <p:spPr>
          <a:xfrm>
            <a:off x="2745303" y="8927836"/>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Biên gộp giảm từ 51,8% (2026) xuống 44,8% năm 2028 (Fig. 34) vì khấu hao nhà máy mới tăng từ 5,3 lên 11,5 tỷ và chi phí biến đổi lên 27,0% khi chạy thử, rồi hồi lên 47,6% năm 2030. Biên EBITDA đi từ 16,2% lên 20,2% nhờ tiền thuê, tiền lương tăng chậm hơn doanh thu. LNST giảm còn 2,4 tỷ năm 2028 – năm khấu hao và lãi vay cùng đạt đỉnh – rồi lên 13,9 tỷ năm 2030.</a:t>
            </a:r>
            <a:endParaRPr lang="en-US" sz="850" dirty="0"/>
          </a:p>
        </p:txBody>
      </p:sp>
      <p:sp>
        <p:nvSpPr>
          <p:cNvPr id="121" name="Text 117"/>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22" name="Text 118"/>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12</a:t>
            </a:r>
            <a:endParaRPr lang="en-US" sz="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3093415"/>
            <a:ext cx="2159996" cy="0"/>
          </a:xfrm>
          <a:prstGeom prst="line">
            <a:avLst/>
          </a:prstGeom>
          <a:noFill/>
          <a:ln w="9525">
            <a:solidFill>
              <a:srgbClr val="7B1E2B"/>
            </a:solidFill>
            <a:prstDash val="solid"/>
          </a:ln>
        </p:spPr>
      </p:sp>
      <p:sp>
        <p:nvSpPr>
          <p:cNvPr id="5" name="Shape 3"/>
          <p:cNvSpPr/>
          <p:nvPr/>
        </p:nvSpPr>
        <p:spPr>
          <a:xfrm>
            <a:off x="405354" y="4781398"/>
            <a:ext cx="2159996" cy="0"/>
          </a:xfrm>
          <a:prstGeom prst="line">
            <a:avLst/>
          </a:prstGeom>
          <a:noFill/>
          <a:ln w="9525">
            <a:solidFill>
              <a:srgbClr val="7B1E2B"/>
            </a:solidFill>
            <a:prstDash val="solid"/>
          </a:ln>
        </p:spPr>
      </p:sp>
      <p:sp>
        <p:nvSpPr>
          <p:cNvPr id="6" name="Shape 4"/>
          <p:cNvSpPr/>
          <p:nvPr/>
        </p:nvSpPr>
        <p:spPr>
          <a:xfrm>
            <a:off x="405354" y="6371356"/>
            <a:ext cx="2159996" cy="0"/>
          </a:xfrm>
          <a:prstGeom prst="line">
            <a:avLst/>
          </a:prstGeom>
          <a:noFill/>
          <a:ln w="9525">
            <a:solidFill>
              <a:srgbClr val="7B1E2B"/>
            </a:solidFill>
            <a:prstDash val="solid"/>
          </a:ln>
        </p:spPr>
      </p:sp>
      <p:sp>
        <p:nvSpPr>
          <p:cNvPr id="7" name="Shape 5"/>
          <p:cNvSpPr/>
          <p:nvPr/>
        </p:nvSpPr>
        <p:spPr>
          <a:xfrm>
            <a:off x="405354" y="8525408"/>
            <a:ext cx="2159996" cy="0"/>
          </a:xfrm>
          <a:prstGeom prst="line">
            <a:avLst/>
          </a:prstGeom>
          <a:noFill/>
          <a:ln w="9525">
            <a:solidFill>
              <a:srgbClr val="7B1E2B"/>
            </a:solidFill>
            <a:prstDash val="solid"/>
          </a:ln>
        </p:spPr>
      </p:sp>
      <p:sp>
        <p:nvSpPr>
          <p:cNvPr id="8" name="Shape 6"/>
          <p:cNvSpPr/>
          <p:nvPr/>
        </p:nvSpPr>
        <p:spPr>
          <a:xfrm>
            <a:off x="2745303" y="6397600"/>
            <a:ext cx="4409237" cy="0"/>
          </a:xfrm>
          <a:prstGeom prst="line">
            <a:avLst/>
          </a:prstGeom>
          <a:noFill/>
          <a:ln w="9525">
            <a:solidFill>
              <a:srgbClr val="7B1E2B"/>
            </a:solidFill>
            <a:prstDash val="solid"/>
          </a:ln>
        </p:spPr>
      </p:sp>
      <p:sp>
        <p:nvSpPr>
          <p:cNvPr id="9" name="Shape 7"/>
          <p:cNvSpPr/>
          <p:nvPr/>
        </p:nvSpPr>
        <p:spPr>
          <a:xfrm>
            <a:off x="405354" y="10369479"/>
            <a:ext cx="6749004" cy="0"/>
          </a:xfrm>
          <a:prstGeom prst="line">
            <a:avLst/>
          </a:prstGeom>
          <a:noFill/>
          <a:ln w="9525">
            <a:solidFill>
              <a:srgbClr val="BFBFBF"/>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05354" y="832287"/>
          <a:ext cx="6749004" cy="914400"/>
        </p:xfrm>
        <a:graphic>
          <a:graphicData uri="http://schemas.openxmlformats.org/drawingml/2006/table">
            <a:tbl>
              <a:tblPr/>
              <a:tblGrid>
                <a:gridCol w="1889790"/>
                <a:gridCol w="809793"/>
                <a:gridCol w="809793"/>
                <a:gridCol w="809793"/>
                <a:gridCol w="809793"/>
                <a:gridCol w="809793"/>
                <a:gridCol w="810341"/>
              </a:tblGrid>
              <a:tr h="137526">
                <a:tc>
                  <a:txBody>
                    <a:bodyPr/>
                    <a:lstStyle/>
                    <a:p>
                      <a:pPr algn="l" indent="0" marL="0">
                        <a:buNone/>
                      </a:pPr>
                      <a:r>
                        <a:rPr lang="en-US" sz="653" b="1" dirty="0">
                          <a:solidFill>
                            <a:srgbClr val="FFFFFF"/>
                          </a:solidFill>
                          <a:latin typeface="Calibri" pitchFamily="34" charset="0"/>
                          <a:ea typeface="Calibri" pitchFamily="34" charset="-122"/>
                          <a:cs typeface="Calibri" pitchFamily="34" charset="-120"/>
                        </a:rPr>
                        <a:t>Tỷ đồng</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2025A</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2026E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2027E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2028E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2029E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2030E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3685">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Doanh thu thuần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47,5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63,7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79,7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110,4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141,6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170,3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Tăng trưởng</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33,9%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25,2%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38,5%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28,3%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Giá vốn hàng bán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(23,3)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(30,7)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(39,5)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(60,9)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(75,0)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(89,3)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Lợi nhuận gộp</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24,3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33,0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49,5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66,7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81,1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Biên gộp</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51,0%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51,8%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50,5%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44,8%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47,1%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47,6%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CPBH &amp; QLDN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(19,7)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(25,3)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(31,3)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(43,2)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(52,8)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(61,4)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EBIT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7,6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9,0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6,3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13,8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19,7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Chi phí lãi vay</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(0,1)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(0,2)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Lợi nhuận trước thuế</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10,9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17,3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Thuế TNDN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(0,9)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(0,6)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LNST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4,4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6,6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5,8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2,4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8,7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13,9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Biên LNST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9,3%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7,3%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6,2%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8,1%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Ghi nhớ: EBITDA</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7,7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11,4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14,3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17,8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26,9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34,4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Biên EBITDA</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16,2%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17,9%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17,9%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16,1%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19,0%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20,2%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2745303" y="6666890"/>
          <a:ext cx="4409237" cy="914400"/>
        </p:xfrm>
        <a:graphic>
          <a:graphicData uri="http://schemas.openxmlformats.org/drawingml/2006/table">
            <a:tbl>
              <a:tblPr/>
              <a:tblGrid>
                <a:gridCol w="1234531"/>
                <a:gridCol w="529072"/>
                <a:gridCol w="529072"/>
                <a:gridCol w="529072"/>
                <a:gridCol w="529072"/>
                <a:gridCol w="529072"/>
                <a:gridCol w="529255"/>
              </a:tblGrid>
              <a:tr h="137526">
                <a:tc>
                  <a:txBody>
                    <a:bodyPr/>
                    <a:lstStyle/>
                    <a:p>
                      <a:pPr algn="l" indent="0" marL="0">
                        <a:buNone/>
                      </a:pPr>
                      <a:r>
                        <a:rPr lang="en-US" sz="653" b="1" dirty="0">
                          <a:solidFill>
                            <a:srgbClr val="FFFFFF"/>
                          </a:solidFill>
                          <a:latin typeface="Calibri" pitchFamily="34" charset="0"/>
                          <a:ea typeface="Calibri" pitchFamily="34" charset="-122"/>
                          <a:cs typeface="Calibri" pitchFamily="34" charset="-120"/>
                        </a:rPr>
                        <a:t>Tỷ đồng</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2025A</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2026E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2027E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2028E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2029E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53" b="1" dirty="0">
                          <a:solidFill>
                            <a:srgbClr val="FFFFFF"/>
                          </a:solidFill>
                          <a:latin typeface="Calibri" pitchFamily="34" charset="0"/>
                          <a:ea typeface="Calibri" pitchFamily="34" charset="-122"/>
                          <a:cs typeface="Calibri" pitchFamily="34" charset="-120"/>
                        </a:rPr>
                        <a:t>2030E</a:t>
                      </a:r>
                      <a:endParaRPr lang="en-US" sz="653"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48864">
                <a:tc gridSpan="7">
                  <a:txBody>
                    <a:bodyPr/>
                    <a:lstStyle/>
                    <a:p>
                      <a:pPr algn="l" indent="0" marL="0">
                        <a:buNone/>
                      </a:pPr>
                      <a:r>
                        <a:rPr lang="en-US" sz="653" dirty="0">
                          <a:solidFill>
                            <a:srgbClr val="7B1E2B"/>
                          </a:solidFill>
                          <a:latin typeface="Calibri" pitchFamily="34" charset="0"/>
                          <a:ea typeface="Calibri" pitchFamily="34" charset="-122"/>
                          <a:cs typeface="Calibri" pitchFamily="34" charset="-120"/>
                        </a:rPr>
                        <a:t>Bảng cân đối (cuối kỳ)</a:t>
                      </a:r>
                      <a:endParaRPr lang="en-US" sz="653" dirty="0">
                        <a:latin typeface="Calibri" charset="0"/>
                        <a:ea typeface="Calibri" charset="0"/>
                        <a:cs typeface="Calibri" charset="0"/>
                      </a:endParaRPr>
                    </a:p>
                  </a:txBody>
                  <a:tcPr marL="28804" marR="28804" marT="28804" marB="13716" anchor="ctr">
                    <a:lnL w="0" cap="flat" cmpd="sng" algn="ctr">
                      <a:noFill/>
                    </a:lnL>
                    <a:lnR w="0" cap="flat" cmpd="sng" algn="ctr">
                      <a:noFill/>
                    </a:lnR>
                    <a:lnT w="0" cap="flat" cmpd="sng" algn="ctr">
                      <a:noFill/>
                    </a:lnT>
                    <a:lnB w="9525" cap="flat" cmpd="sng" algn="ctr">
                      <a:solidFill>
                        <a:srgbClr val="7B1E2B"/>
                      </a:solidFill>
                      <a:prstDash val="solid"/>
                      <a:round/>
                      <a:headEnd type="none" w="med" len="med"/>
                      <a:tailEnd type="none" w="med" len="med"/>
                    </a:lnB>
                  </a:tcPr>
                </a:tc>
                <a:tc hMerge="1">
                  <a:tcPr/>
                </a:tc>
                <a:tc hMerge="1">
                  <a:tcPr/>
                </a:tc>
                <a:tc hMerge="1">
                  <a:tcPr/>
                </a:tc>
                <a:tc hMerge="1">
                  <a:tcPr/>
                </a:tc>
                <a:tc hMerge="1">
                  <a:tcPr/>
                </a:tc>
                <a:tc hMerge="1">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Tiền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35,5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22,6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11,4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11,9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Phải thu khách hàng</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14,0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Hàng tồn kho</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4,7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9,3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12,8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Tài sản dài hạn ròng</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21,4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30,4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76,9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78,7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79,8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82,0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Tổng tài sản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31,9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76,4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113,6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116,6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119,5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127,6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Nợ vay (ngắn + dài hạn)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26,5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20,3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b="1" dirty="0">
                          <a:solidFill>
                            <a:srgbClr val="1F1F1F"/>
                          </a:solidFill>
                          <a:latin typeface="Calibri" pitchFamily="34" charset="0"/>
                          <a:ea typeface="Calibri" pitchFamily="34" charset="-122"/>
                          <a:cs typeface="Calibri" pitchFamily="34" charset="-120"/>
                        </a:rPr>
                        <a:t>Vốn chủ sở hữu</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30,0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74,2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80,0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82,4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91,1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b="1" dirty="0">
                          <a:solidFill>
                            <a:srgbClr val="1F1F1F"/>
                          </a:solidFill>
                          <a:latin typeface="Calibri" pitchFamily="34" charset="0"/>
                          <a:ea typeface="Calibri" pitchFamily="34" charset="-122"/>
                          <a:cs typeface="Calibri" pitchFamily="34" charset="-120"/>
                        </a:rPr>
                        <a:t>105,0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i="1" dirty="0">
                          <a:solidFill>
                            <a:srgbClr val="555555"/>
                          </a:solidFill>
                          <a:latin typeface="Calibri" pitchFamily="34" charset="0"/>
                          <a:ea typeface="Calibri" pitchFamily="34" charset="-122"/>
                          <a:cs typeface="Calibri" pitchFamily="34" charset="-120"/>
                        </a:rPr>
                        <a:t>Nợ vay / VCSH</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5%</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40%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29%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i="1" dirty="0">
                          <a:solidFill>
                            <a:srgbClr val="555555"/>
                          </a:solidFill>
                          <a:latin typeface="Calibri" pitchFamily="34" charset="0"/>
                          <a:ea typeface="Calibri" pitchFamily="34" charset="-122"/>
                          <a:cs typeface="Calibri" pitchFamily="34" charset="-120"/>
                        </a:rPr>
                        <a:t>19%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53619">
                <a:tc gridSpan="7">
                  <a:txBody>
                    <a:bodyPr/>
                    <a:lstStyle/>
                    <a:p>
                      <a:pPr algn="l" indent="0" marL="0">
                        <a:buNone/>
                      </a:pPr>
                      <a:r>
                        <a:rPr lang="en-US" sz="653" dirty="0">
                          <a:solidFill>
                            <a:srgbClr val="7B1E2B"/>
                          </a:solidFill>
                          <a:latin typeface="Calibri" pitchFamily="34" charset="0"/>
                          <a:ea typeface="Calibri" pitchFamily="34" charset="-122"/>
                          <a:cs typeface="Calibri" pitchFamily="34" charset="-120"/>
                        </a:rPr>
                        <a:t>Lưu chuyển tiền tệ</a:t>
                      </a:r>
                      <a:endParaRPr lang="en-US" sz="653" dirty="0">
                        <a:latin typeface="Calibri" charset="0"/>
                        <a:ea typeface="Calibri" charset="0"/>
                        <a:cs typeface="Calibri" charset="0"/>
                      </a:endParaRPr>
                    </a:p>
                  </a:txBody>
                  <a:tcPr marL="28804" marR="28804" marT="28804" marB="13716" anchor="ctr">
                    <a:lnL w="0" cap="flat" cmpd="sng" algn="ctr">
                      <a:noFill/>
                    </a:lnL>
                    <a:lnR w="0" cap="flat" cmpd="sng" algn="ctr">
                      <a:noFill/>
                    </a:lnR>
                    <a:lnT w="0" cap="flat" cmpd="sng" algn="ctr">
                      <a:noFill/>
                    </a:lnT>
                    <a:lnB w="9525" cap="flat" cmpd="sng" algn="ctr">
                      <a:solidFill>
                        <a:srgbClr val="7B1E2B"/>
                      </a:solidFill>
                      <a:prstDash val="solid"/>
                      <a:round/>
                      <a:headEnd type="none" w="med" len="med"/>
                      <a:tailEnd type="none" w="med" len="med"/>
                    </a:lnB>
                  </a:tcPr>
                </a:tc>
                <a:tc hMerge="1">
                  <a:tcPr/>
                </a:tc>
                <a:tc hMerge="1">
                  <a:tcPr/>
                </a:tc>
                <a:tc hMerge="1">
                  <a:tcPr/>
                </a:tc>
                <a:tc hMerge="1">
                  <a:tcPr/>
                </a:tc>
                <a:tc hMerge="1">
                  <a:tcPr/>
                </a:tc>
                <a:tc hMerge="1">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CFO</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6,3</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7,8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6,9</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15,4</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23,8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CAPEX</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(5,1)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(12,7)</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(51,8)</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(13,2)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(14,2)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(17,0)</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Vốn góp cổ phần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37,6</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40">
                <a:tc>
                  <a:txBody>
                    <a:bodyPr/>
                    <a:lstStyle/>
                    <a:p>
                      <a:pPr algn="l" indent="0" marL="0">
                        <a:buNone/>
                      </a:pPr>
                      <a:r>
                        <a:rPr lang="en-US" sz="653" dirty="0">
                          <a:solidFill>
                            <a:srgbClr val="1F1F1F"/>
                          </a:solidFill>
                          <a:latin typeface="Calibri" pitchFamily="34" charset="0"/>
                          <a:ea typeface="Calibri" pitchFamily="34" charset="-122"/>
                          <a:cs typeface="Calibri" pitchFamily="34" charset="-120"/>
                        </a:rPr>
                        <a:t>Vay (trả) nợ dài hạn</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31,1</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53" dirty="0">
                          <a:solidFill>
                            <a:srgbClr val="1F1F1F"/>
                          </a:solidFill>
                          <a:latin typeface="Calibri" pitchFamily="34" charset="0"/>
                          <a:ea typeface="Calibri" pitchFamily="34" charset="-122"/>
                          <a:cs typeface="Calibri" pitchFamily="34" charset="-120"/>
                        </a:rPr>
                        <a:t>(6,2)</a:t>
                      </a:r>
                      <a:endParaRPr lang="en-US" sz="653"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grpSp>
        <p:nvGrpSpPr>
          <p:cNvPr id="219" name="Fig. 34 – biểu đồ"/>
          <p:cNvGrpSpPr/>
          <p:nvPr/>
        </p:nvGrpSpPr>
        <p:grpSpPr>
          <a:xfrm>
            <a:off x="423642" y="3517880"/>
            <a:ext cx="2189164" cy="974476"/>
            <a:chOff x="423642" y="3517880"/>
            <a:chExt cx="2189164" cy="974476"/>
          </a:xfrm>
        </p:grpSpPr>
        <p:sp>
          <p:nvSpPr>
            <p:cNvPr id="12" name="svg0_0"/>
            <p:cNvSpPr/>
            <p:nvPr/>
          </p:nvSpPr>
          <p:spPr>
            <a:xfrm>
              <a:off x="1223193" y="3531230"/>
              <a:ext cx="1086764" cy="844266"/>
            </a:xfrm>
            <a:prstGeom prst="rect">
              <a:avLst/>
            </a:prstGeom>
            <a:solidFill>
              <a:srgbClr val="F3F1F1"/>
            </a:solidFill>
            <a:ln/>
          </p:spPr>
        </p:sp>
        <p:sp>
          <p:nvSpPr>
            <p:cNvPr id="13" name="svg0_1"/>
            <p:cNvSpPr/>
            <p:nvPr/>
          </p:nvSpPr>
          <p:spPr>
            <a:xfrm>
              <a:off x="621518" y="4100627"/>
              <a:ext cx="1668871" cy="0"/>
            </a:xfrm>
            <a:prstGeom prst="line">
              <a:avLst/>
            </a:prstGeom>
            <a:noFill/>
            <a:ln w="4953">
              <a:solidFill>
                <a:srgbClr val="E4E4E4"/>
              </a:solidFill>
              <a:prstDash val="solid"/>
            </a:ln>
          </p:spPr>
        </p:sp>
        <p:sp>
          <p:nvSpPr>
            <p:cNvPr id="14" name="svg0_2"/>
            <p:cNvSpPr txBox="1"/>
            <p:nvPr/>
          </p:nvSpPr>
          <p:spPr>
            <a:xfrm>
              <a:off x="464424" y="4049969"/>
              <a:ext cx="143927"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0%</a:t>
              </a:r>
              <a:endParaRPr lang="en-US" sz="557" dirty="0"/>
            </a:p>
          </p:txBody>
        </p:sp>
        <p:sp>
          <p:nvSpPr>
            <p:cNvPr id="15" name="svg0_3"/>
            <p:cNvSpPr/>
            <p:nvPr/>
          </p:nvSpPr>
          <p:spPr>
            <a:xfrm>
              <a:off x="621518" y="3642421"/>
              <a:ext cx="1668871" cy="0"/>
            </a:xfrm>
            <a:prstGeom prst="line">
              <a:avLst/>
            </a:prstGeom>
            <a:noFill/>
            <a:ln w="4953">
              <a:solidFill>
                <a:srgbClr val="E4E4E4"/>
              </a:solidFill>
              <a:prstDash val="solid"/>
            </a:ln>
          </p:spPr>
        </p:sp>
        <p:sp>
          <p:nvSpPr>
            <p:cNvPr id="16" name="svg0_4"/>
            <p:cNvSpPr txBox="1"/>
            <p:nvPr/>
          </p:nvSpPr>
          <p:spPr>
            <a:xfrm>
              <a:off x="423642" y="3591489"/>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50%</a:t>
              </a:r>
              <a:endParaRPr lang="en-US" sz="557" dirty="0"/>
            </a:p>
          </p:txBody>
        </p:sp>
        <p:sp>
          <p:nvSpPr>
            <p:cNvPr id="17" name="svg0_5"/>
            <p:cNvSpPr/>
            <p:nvPr/>
          </p:nvSpPr>
          <p:spPr>
            <a:xfrm>
              <a:off x="621518" y="4100627"/>
              <a:ext cx="1668871" cy="0"/>
            </a:xfrm>
            <a:prstGeom prst="line">
              <a:avLst/>
            </a:prstGeom>
            <a:noFill/>
            <a:ln w="6858">
              <a:solidFill>
                <a:srgbClr val="8C8C8C"/>
              </a:solidFill>
              <a:prstDash val="solid"/>
            </a:ln>
          </p:spPr>
        </p:sp>
        <p:sp>
          <p:nvSpPr>
            <p:cNvPr id="18" name="svg0_6"/>
            <p:cNvSpPr txBox="1"/>
            <p:nvPr/>
          </p:nvSpPr>
          <p:spPr>
            <a:xfrm>
              <a:off x="554126" y="4387566"/>
              <a:ext cx="17858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23A</a:t>
              </a:r>
              <a:endParaRPr lang="en-US" sz="587" dirty="0"/>
            </a:p>
          </p:txBody>
        </p:sp>
        <p:sp>
          <p:nvSpPr>
            <p:cNvPr id="19" name="svg0_7"/>
            <p:cNvSpPr txBox="1"/>
            <p:nvPr/>
          </p:nvSpPr>
          <p:spPr>
            <a:xfrm>
              <a:off x="786750" y="4387566"/>
              <a:ext cx="17858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24A</a:t>
              </a:r>
              <a:endParaRPr lang="en-US" sz="587" dirty="0"/>
            </a:p>
          </p:txBody>
        </p:sp>
        <p:sp>
          <p:nvSpPr>
            <p:cNvPr id="20" name="svg0_8"/>
            <p:cNvSpPr txBox="1"/>
            <p:nvPr/>
          </p:nvSpPr>
          <p:spPr>
            <a:xfrm>
              <a:off x="1019373" y="4387566"/>
              <a:ext cx="17858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25A</a:t>
              </a:r>
              <a:endParaRPr lang="en-US" sz="587" dirty="0"/>
            </a:p>
          </p:txBody>
        </p:sp>
        <p:sp>
          <p:nvSpPr>
            <p:cNvPr id="21" name="svg0_9"/>
            <p:cNvSpPr txBox="1"/>
            <p:nvPr/>
          </p:nvSpPr>
          <p:spPr>
            <a:xfrm>
              <a:off x="1256111" y="4387566"/>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26E</a:t>
              </a:r>
              <a:endParaRPr lang="en-US" sz="587" dirty="0"/>
            </a:p>
          </p:txBody>
        </p:sp>
        <p:sp>
          <p:nvSpPr>
            <p:cNvPr id="22" name="svg0_10"/>
            <p:cNvSpPr txBox="1"/>
            <p:nvPr/>
          </p:nvSpPr>
          <p:spPr>
            <a:xfrm>
              <a:off x="1489740" y="4387566"/>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27E</a:t>
              </a:r>
              <a:endParaRPr lang="en-US" sz="587" dirty="0"/>
            </a:p>
          </p:txBody>
        </p:sp>
        <p:sp>
          <p:nvSpPr>
            <p:cNvPr id="23" name="svg0_11"/>
            <p:cNvSpPr txBox="1"/>
            <p:nvPr/>
          </p:nvSpPr>
          <p:spPr>
            <a:xfrm>
              <a:off x="1722364" y="4387566"/>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28E</a:t>
              </a:r>
              <a:endParaRPr lang="en-US" sz="587" dirty="0"/>
            </a:p>
          </p:txBody>
        </p:sp>
        <p:sp>
          <p:nvSpPr>
            <p:cNvPr id="24" name="svg0_12"/>
            <p:cNvSpPr txBox="1"/>
            <p:nvPr/>
          </p:nvSpPr>
          <p:spPr>
            <a:xfrm>
              <a:off x="1955079" y="4387566"/>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29E</a:t>
              </a:r>
              <a:endParaRPr lang="en-US" sz="587" dirty="0"/>
            </a:p>
          </p:txBody>
        </p:sp>
        <p:sp>
          <p:nvSpPr>
            <p:cNvPr id="25" name="svg0_13"/>
            <p:cNvSpPr txBox="1"/>
            <p:nvPr/>
          </p:nvSpPr>
          <p:spPr>
            <a:xfrm>
              <a:off x="2187611" y="4387566"/>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30E</a:t>
              </a:r>
              <a:endParaRPr lang="en-US" sz="587" dirty="0"/>
            </a:p>
          </p:txBody>
        </p:sp>
        <p:sp>
          <p:nvSpPr>
            <p:cNvPr id="26" name="svg0_14"/>
            <p:cNvSpPr/>
            <p:nvPr/>
          </p:nvSpPr>
          <p:spPr>
            <a:xfrm>
              <a:off x="641086" y="3626328"/>
              <a:ext cx="1629644" cy="132771"/>
            </a:xfrm>
            <a:custGeom>
              <a:avLst/>
              <a:gdLst/>
              <a:ahLst/>
              <a:cxnLst/>
              <a:rect l="l" t="t" r="r" b="b"/>
              <a:pathLst>
                <a:path w="1629644" h="132771">
                  <a:moveTo>
                    <a:pt x="0" y="132771"/>
                  </a:moveTo>
                  <a:lnTo>
                    <a:pt x="232806" y="44257"/>
                  </a:lnTo>
                  <a:lnTo>
                    <a:pt x="465612" y="6675"/>
                  </a:lnTo>
                  <a:lnTo>
                    <a:pt x="698327" y="0"/>
                  </a:lnTo>
                  <a:lnTo>
                    <a:pt x="931225" y="11339"/>
                  </a:lnTo>
                  <a:lnTo>
                    <a:pt x="1163940" y="63551"/>
                  </a:lnTo>
                  <a:lnTo>
                    <a:pt x="1396837" y="42977"/>
                  </a:lnTo>
                  <a:lnTo>
                    <a:pt x="1629644" y="38222"/>
                  </a:lnTo>
                </a:path>
              </a:pathLst>
            </a:custGeom>
            <a:noFill/>
            <a:ln w="15748">
              <a:solidFill>
                <a:srgbClr val="404040"/>
              </a:solidFill>
              <a:prstDash val="solid"/>
            </a:ln>
          </p:spPr>
        </p:sp>
        <p:sp>
          <p:nvSpPr>
            <p:cNvPr id="27" name="svg0_15"/>
            <p:cNvSpPr/>
            <p:nvPr/>
          </p:nvSpPr>
          <p:spPr>
            <a:xfrm>
              <a:off x="620512" y="3738524"/>
              <a:ext cx="41239" cy="41239"/>
            </a:xfrm>
            <a:prstGeom prst="ellipse">
              <a:avLst/>
            </a:prstGeom>
            <a:solidFill>
              <a:srgbClr val="404040"/>
            </a:solidFill>
            <a:ln w="7874">
              <a:solidFill>
                <a:srgbClr val="FFFFFF"/>
              </a:solidFill>
              <a:prstDash val="solid"/>
            </a:ln>
          </p:spPr>
        </p:sp>
        <p:sp>
          <p:nvSpPr>
            <p:cNvPr id="28" name="svg0_16"/>
            <p:cNvSpPr/>
            <p:nvPr/>
          </p:nvSpPr>
          <p:spPr>
            <a:xfrm>
              <a:off x="853318" y="3650102"/>
              <a:ext cx="41239" cy="41239"/>
            </a:xfrm>
            <a:prstGeom prst="ellipse">
              <a:avLst/>
            </a:prstGeom>
            <a:solidFill>
              <a:srgbClr val="404040"/>
            </a:solidFill>
            <a:ln w="7874">
              <a:solidFill>
                <a:srgbClr val="FFFFFF"/>
              </a:solidFill>
              <a:prstDash val="solid"/>
            </a:ln>
          </p:spPr>
        </p:sp>
        <p:sp>
          <p:nvSpPr>
            <p:cNvPr id="29" name="svg0_17"/>
            <p:cNvSpPr/>
            <p:nvPr/>
          </p:nvSpPr>
          <p:spPr>
            <a:xfrm>
              <a:off x="1086124" y="3612429"/>
              <a:ext cx="41239" cy="41239"/>
            </a:xfrm>
            <a:prstGeom prst="ellipse">
              <a:avLst/>
            </a:prstGeom>
            <a:solidFill>
              <a:srgbClr val="404040"/>
            </a:solidFill>
            <a:ln w="7874">
              <a:solidFill>
                <a:srgbClr val="FFFFFF"/>
              </a:solidFill>
              <a:prstDash val="solid"/>
            </a:ln>
          </p:spPr>
        </p:sp>
        <p:sp>
          <p:nvSpPr>
            <p:cNvPr id="30" name="svg0_18"/>
            <p:cNvSpPr/>
            <p:nvPr/>
          </p:nvSpPr>
          <p:spPr>
            <a:xfrm>
              <a:off x="1318931" y="3605754"/>
              <a:ext cx="41239" cy="41239"/>
            </a:xfrm>
            <a:prstGeom prst="ellipse">
              <a:avLst/>
            </a:prstGeom>
            <a:solidFill>
              <a:srgbClr val="404040"/>
            </a:solidFill>
            <a:ln w="7874">
              <a:solidFill>
                <a:srgbClr val="FFFFFF"/>
              </a:solidFill>
              <a:prstDash val="solid"/>
            </a:ln>
          </p:spPr>
        </p:sp>
        <p:sp>
          <p:nvSpPr>
            <p:cNvPr id="31" name="svg0_19"/>
            <p:cNvSpPr/>
            <p:nvPr/>
          </p:nvSpPr>
          <p:spPr>
            <a:xfrm>
              <a:off x="1551828" y="3617092"/>
              <a:ext cx="41239" cy="41239"/>
            </a:xfrm>
            <a:prstGeom prst="ellipse">
              <a:avLst/>
            </a:prstGeom>
            <a:solidFill>
              <a:srgbClr val="404040"/>
            </a:solidFill>
            <a:ln w="7874">
              <a:solidFill>
                <a:srgbClr val="FFFFFF"/>
              </a:solidFill>
              <a:prstDash val="solid"/>
            </a:ln>
          </p:spPr>
        </p:sp>
        <p:sp>
          <p:nvSpPr>
            <p:cNvPr id="32" name="svg0_20"/>
            <p:cNvSpPr/>
            <p:nvPr/>
          </p:nvSpPr>
          <p:spPr>
            <a:xfrm>
              <a:off x="1784543" y="3669304"/>
              <a:ext cx="41239" cy="41239"/>
            </a:xfrm>
            <a:prstGeom prst="ellipse">
              <a:avLst/>
            </a:prstGeom>
            <a:solidFill>
              <a:srgbClr val="404040"/>
            </a:solidFill>
            <a:ln w="7874">
              <a:solidFill>
                <a:srgbClr val="FFFFFF"/>
              </a:solidFill>
              <a:prstDash val="solid"/>
            </a:ln>
          </p:spPr>
        </p:sp>
        <p:sp>
          <p:nvSpPr>
            <p:cNvPr id="33" name="svg0_21"/>
            <p:cNvSpPr/>
            <p:nvPr/>
          </p:nvSpPr>
          <p:spPr>
            <a:xfrm>
              <a:off x="2017441" y="3648730"/>
              <a:ext cx="41239" cy="41239"/>
            </a:xfrm>
            <a:prstGeom prst="ellipse">
              <a:avLst/>
            </a:prstGeom>
            <a:solidFill>
              <a:srgbClr val="404040"/>
            </a:solidFill>
            <a:ln w="7874">
              <a:solidFill>
                <a:srgbClr val="FFFFFF"/>
              </a:solidFill>
              <a:prstDash val="solid"/>
            </a:ln>
          </p:spPr>
        </p:sp>
        <p:sp>
          <p:nvSpPr>
            <p:cNvPr id="34" name="svg0_22"/>
            <p:cNvSpPr/>
            <p:nvPr/>
          </p:nvSpPr>
          <p:spPr>
            <a:xfrm>
              <a:off x="2250156" y="3643975"/>
              <a:ext cx="41239" cy="41239"/>
            </a:xfrm>
            <a:prstGeom prst="ellipse">
              <a:avLst/>
            </a:prstGeom>
            <a:solidFill>
              <a:srgbClr val="404040"/>
            </a:solidFill>
            <a:ln w="7874">
              <a:solidFill>
                <a:srgbClr val="FFFFFF"/>
              </a:solidFill>
              <a:prstDash val="solid"/>
            </a:ln>
          </p:spPr>
        </p:sp>
        <p:sp>
          <p:nvSpPr>
            <p:cNvPr id="35" name="svg0_23"/>
            <p:cNvSpPr txBox="1"/>
            <p:nvPr/>
          </p:nvSpPr>
          <p:spPr>
            <a:xfrm>
              <a:off x="1013704" y="3517880"/>
              <a:ext cx="189464" cy="104790"/>
            </a:xfrm>
            <a:prstGeom prst="rect">
              <a:avLst/>
            </a:prstGeom>
            <a:noFill/>
            <a:ln/>
          </p:spPr>
          <p:txBody>
            <a:bodyPr wrap="none" lIns="0" tIns="0" rIns="0" bIns="0" rtlCol="0" anchor="ctr"/>
            <a:lstStyle/>
            <a:p>
              <a:pPr algn="ctr" indent="0" marL="0">
                <a:buNone/>
              </a:pPr>
              <a:r>
                <a:rPr lang="en-US" sz="587" dirty="0">
                  <a:solidFill>
                    <a:srgbClr val="262626"/>
                  </a:solidFill>
                  <a:latin typeface="Calibri" pitchFamily="34" charset="0"/>
                  <a:ea typeface="Calibri" pitchFamily="34" charset="-122"/>
                  <a:cs typeface="Calibri" pitchFamily="34" charset="-120"/>
                </a:rPr>
                <a:t>51%</a:t>
              </a:r>
              <a:endParaRPr lang="en-US" sz="587" dirty="0"/>
            </a:p>
          </p:txBody>
        </p:sp>
        <p:sp>
          <p:nvSpPr>
            <p:cNvPr id="36" name="svg0_24"/>
            <p:cNvSpPr txBox="1"/>
            <p:nvPr/>
          </p:nvSpPr>
          <p:spPr>
            <a:xfrm>
              <a:off x="1712671" y="3707343"/>
              <a:ext cx="189464" cy="104790"/>
            </a:xfrm>
            <a:prstGeom prst="rect">
              <a:avLst/>
            </a:prstGeom>
            <a:noFill/>
            <a:ln/>
          </p:spPr>
          <p:txBody>
            <a:bodyPr wrap="none" lIns="0" tIns="0" rIns="0" bIns="0" rtlCol="0" anchor="ctr"/>
            <a:lstStyle/>
            <a:p>
              <a:pPr algn="ctr" indent="0" marL="0">
                <a:buNone/>
              </a:pPr>
              <a:r>
                <a:rPr lang="en-US" sz="587" dirty="0">
                  <a:solidFill>
                    <a:srgbClr val="262626"/>
                  </a:solidFill>
                  <a:latin typeface="Calibri" pitchFamily="34" charset="0"/>
                  <a:ea typeface="Calibri" pitchFamily="34" charset="-122"/>
                  <a:cs typeface="Calibri" pitchFamily="34" charset="-120"/>
                </a:rPr>
                <a:t>45%</a:t>
              </a:r>
              <a:endParaRPr lang="en-US" sz="587" dirty="0"/>
            </a:p>
          </p:txBody>
        </p:sp>
        <p:sp>
          <p:nvSpPr>
            <p:cNvPr id="37" name="svg0_25"/>
            <p:cNvSpPr txBox="1"/>
            <p:nvPr/>
          </p:nvSpPr>
          <p:spPr>
            <a:xfrm>
              <a:off x="2099828" y="3549335"/>
              <a:ext cx="189464"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48%</a:t>
              </a:r>
              <a:endParaRPr lang="en-US" sz="587" dirty="0"/>
            </a:p>
          </p:txBody>
        </p:sp>
        <p:sp>
          <p:nvSpPr>
            <p:cNvPr id="38" name="svg0_26"/>
            <p:cNvSpPr/>
            <p:nvPr/>
          </p:nvSpPr>
          <p:spPr>
            <a:xfrm>
              <a:off x="641086" y="3915369"/>
              <a:ext cx="1629644" cy="315377"/>
            </a:xfrm>
            <a:custGeom>
              <a:avLst/>
              <a:gdLst/>
              <a:ahLst/>
              <a:cxnLst/>
              <a:rect l="l" t="t" r="r" b="b"/>
              <a:pathLst>
                <a:path w="1629644" h="315377">
                  <a:moveTo>
                    <a:pt x="0" y="315377"/>
                  </a:moveTo>
                  <a:lnTo>
                    <a:pt x="232806" y="125547"/>
                  </a:lnTo>
                  <a:lnTo>
                    <a:pt x="465612" y="37033"/>
                  </a:lnTo>
                  <a:lnTo>
                    <a:pt x="698327" y="21397"/>
                  </a:lnTo>
                  <a:lnTo>
                    <a:pt x="931225" y="21306"/>
                  </a:lnTo>
                  <a:lnTo>
                    <a:pt x="1163940" y="37948"/>
                  </a:lnTo>
                  <a:lnTo>
                    <a:pt x="1396837" y="10973"/>
                  </a:lnTo>
                  <a:lnTo>
                    <a:pt x="1629644" y="0"/>
                  </a:lnTo>
                </a:path>
              </a:pathLst>
            </a:custGeom>
            <a:noFill/>
            <a:ln w="15748">
              <a:solidFill>
                <a:srgbClr val="7B1E2B"/>
              </a:solidFill>
              <a:prstDash val="solid"/>
            </a:ln>
          </p:spPr>
        </p:sp>
        <p:sp>
          <p:nvSpPr>
            <p:cNvPr id="39" name="svg0_27"/>
            <p:cNvSpPr/>
            <p:nvPr/>
          </p:nvSpPr>
          <p:spPr>
            <a:xfrm>
              <a:off x="620512" y="4210172"/>
              <a:ext cx="41239" cy="41239"/>
            </a:xfrm>
            <a:prstGeom prst="ellipse">
              <a:avLst/>
            </a:prstGeom>
            <a:solidFill>
              <a:srgbClr val="7B1E2B"/>
            </a:solidFill>
            <a:ln w="7874">
              <a:solidFill>
                <a:srgbClr val="FFFFFF"/>
              </a:solidFill>
              <a:prstDash val="solid"/>
            </a:ln>
          </p:spPr>
        </p:sp>
        <p:sp>
          <p:nvSpPr>
            <p:cNvPr id="40" name="svg0_28"/>
            <p:cNvSpPr/>
            <p:nvPr/>
          </p:nvSpPr>
          <p:spPr>
            <a:xfrm>
              <a:off x="853318" y="4020342"/>
              <a:ext cx="41239" cy="41239"/>
            </a:xfrm>
            <a:prstGeom prst="ellipse">
              <a:avLst/>
            </a:prstGeom>
            <a:solidFill>
              <a:srgbClr val="7B1E2B"/>
            </a:solidFill>
            <a:ln w="7874">
              <a:solidFill>
                <a:srgbClr val="FFFFFF"/>
              </a:solidFill>
              <a:prstDash val="solid"/>
            </a:ln>
          </p:spPr>
        </p:sp>
        <p:sp>
          <p:nvSpPr>
            <p:cNvPr id="41" name="svg0_29"/>
            <p:cNvSpPr/>
            <p:nvPr/>
          </p:nvSpPr>
          <p:spPr>
            <a:xfrm>
              <a:off x="1086124" y="3931829"/>
              <a:ext cx="41239" cy="41239"/>
            </a:xfrm>
            <a:prstGeom prst="ellipse">
              <a:avLst/>
            </a:prstGeom>
            <a:solidFill>
              <a:srgbClr val="7B1E2B"/>
            </a:solidFill>
            <a:ln w="7874">
              <a:solidFill>
                <a:srgbClr val="FFFFFF"/>
              </a:solidFill>
              <a:prstDash val="solid"/>
            </a:ln>
          </p:spPr>
        </p:sp>
        <p:sp>
          <p:nvSpPr>
            <p:cNvPr id="42" name="svg0_30"/>
            <p:cNvSpPr/>
            <p:nvPr/>
          </p:nvSpPr>
          <p:spPr>
            <a:xfrm>
              <a:off x="1318931" y="3916192"/>
              <a:ext cx="41239" cy="41239"/>
            </a:xfrm>
            <a:prstGeom prst="ellipse">
              <a:avLst/>
            </a:prstGeom>
            <a:solidFill>
              <a:srgbClr val="7B1E2B"/>
            </a:solidFill>
            <a:ln w="7874">
              <a:solidFill>
                <a:srgbClr val="FFFFFF"/>
              </a:solidFill>
              <a:prstDash val="solid"/>
            </a:ln>
          </p:spPr>
        </p:sp>
        <p:sp>
          <p:nvSpPr>
            <p:cNvPr id="43" name="svg0_31"/>
            <p:cNvSpPr/>
            <p:nvPr/>
          </p:nvSpPr>
          <p:spPr>
            <a:xfrm>
              <a:off x="1551828" y="3916101"/>
              <a:ext cx="41239" cy="41239"/>
            </a:xfrm>
            <a:prstGeom prst="ellipse">
              <a:avLst/>
            </a:prstGeom>
            <a:solidFill>
              <a:srgbClr val="7B1E2B"/>
            </a:solidFill>
            <a:ln w="7874">
              <a:solidFill>
                <a:srgbClr val="FFFFFF"/>
              </a:solidFill>
              <a:prstDash val="solid"/>
            </a:ln>
          </p:spPr>
        </p:sp>
        <p:sp>
          <p:nvSpPr>
            <p:cNvPr id="44" name="svg0_32"/>
            <p:cNvSpPr/>
            <p:nvPr/>
          </p:nvSpPr>
          <p:spPr>
            <a:xfrm>
              <a:off x="1784543" y="3932652"/>
              <a:ext cx="41239" cy="41239"/>
            </a:xfrm>
            <a:prstGeom prst="ellipse">
              <a:avLst/>
            </a:prstGeom>
            <a:solidFill>
              <a:srgbClr val="7B1E2B"/>
            </a:solidFill>
            <a:ln w="7874">
              <a:solidFill>
                <a:srgbClr val="FFFFFF"/>
              </a:solidFill>
              <a:prstDash val="solid"/>
            </a:ln>
          </p:spPr>
        </p:sp>
        <p:sp>
          <p:nvSpPr>
            <p:cNvPr id="45" name="svg0_33"/>
            <p:cNvSpPr/>
            <p:nvPr/>
          </p:nvSpPr>
          <p:spPr>
            <a:xfrm>
              <a:off x="2017441" y="3905768"/>
              <a:ext cx="41239" cy="41239"/>
            </a:xfrm>
            <a:prstGeom prst="ellipse">
              <a:avLst/>
            </a:prstGeom>
            <a:solidFill>
              <a:srgbClr val="7B1E2B"/>
            </a:solidFill>
            <a:ln w="7874">
              <a:solidFill>
                <a:srgbClr val="FFFFFF"/>
              </a:solidFill>
              <a:prstDash val="solid"/>
            </a:ln>
          </p:spPr>
        </p:sp>
        <p:sp>
          <p:nvSpPr>
            <p:cNvPr id="46" name="svg0_34"/>
            <p:cNvSpPr/>
            <p:nvPr/>
          </p:nvSpPr>
          <p:spPr>
            <a:xfrm>
              <a:off x="2250156" y="3894795"/>
              <a:ext cx="41239" cy="41239"/>
            </a:xfrm>
            <a:prstGeom prst="ellipse">
              <a:avLst/>
            </a:prstGeom>
            <a:solidFill>
              <a:srgbClr val="7B1E2B"/>
            </a:solidFill>
            <a:ln w="7874">
              <a:solidFill>
                <a:srgbClr val="FFFFFF"/>
              </a:solidFill>
              <a:prstDash val="solid"/>
            </a:ln>
          </p:spPr>
        </p:sp>
        <p:sp>
          <p:nvSpPr>
            <p:cNvPr id="47" name="svg0_35"/>
            <p:cNvSpPr txBox="1"/>
            <p:nvPr/>
          </p:nvSpPr>
          <p:spPr>
            <a:xfrm>
              <a:off x="1013704" y="3836822"/>
              <a:ext cx="189464" cy="104790"/>
            </a:xfrm>
            <a:prstGeom prst="rect">
              <a:avLst/>
            </a:prstGeom>
            <a:noFill/>
            <a:ln/>
          </p:spPr>
          <p:txBody>
            <a:bodyPr wrap="none" lIns="0" tIns="0" rIns="0" bIns="0" rtlCol="0" anchor="ctr"/>
            <a:lstStyle/>
            <a:p>
              <a:pPr algn="ctr" indent="0" marL="0">
                <a:buNone/>
              </a:pPr>
              <a:r>
                <a:rPr lang="en-US" sz="587" dirty="0">
                  <a:solidFill>
                    <a:srgbClr val="262626"/>
                  </a:solidFill>
                  <a:latin typeface="Calibri" pitchFamily="34" charset="0"/>
                  <a:ea typeface="Calibri" pitchFamily="34" charset="-122"/>
                  <a:cs typeface="Calibri" pitchFamily="34" charset="-120"/>
                </a:rPr>
                <a:t>16%</a:t>
              </a:r>
              <a:endParaRPr lang="en-US" sz="587" dirty="0"/>
            </a:p>
          </p:txBody>
        </p:sp>
        <p:sp>
          <p:nvSpPr>
            <p:cNvPr id="48" name="svg0_36"/>
            <p:cNvSpPr txBox="1"/>
            <p:nvPr/>
          </p:nvSpPr>
          <p:spPr>
            <a:xfrm>
              <a:off x="2099828" y="3799606"/>
              <a:ext cx="189464"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20%</a:t>
              </a:r>
              <a:endParaRPr lang="en-US" sz="587" dirty="0"/>
            </a:p>
          </p:txBody>
        </p:sp>
        <p:sp>
          <p:nvSpPr>
            <p:cNvPr id="49" name="svg0_37"/>
            <p:cNvSpPr/>
            <p:nvPr/>
          </p:nvSpPr>
          <p:spPr>
            <a:xfrm>
              <a:off x="641086" y="3990716"/>
              <a:ext cx="1629644" cy="307696"/>
            </a:xfrm>
            <a:custGeom>
              <a:avLst/>
              <a:gdLst/>
              <a:ahLst/>
              <a:cxnLst/>
              <a:rect l="l" t="t" r="r" b="b"/>
              <a:pathLst>
                <a:path w="1629644" h="307696">
                  <a:moveTo>
                    <a:pt x="0" y="307696"/>
                  </a:moveTo>
                  <a:lnTo>
                    <a:pt x="232806" y="120609"/>
                  </a:lnTo>
                  <a:lnTo>
                    <a:pt x="465612" y="21946"/>
                  </a:lnTo>
                  <a:lnTo>
                    <a:pt x="698327" y="0"/>
                  </a:lnTo>
                  <a:lnTo>
                    <a:pt x="931225" y="6584"/>
                  </a:lnTo>
                  <a:lnTo>
                    <a:pt x="1163940" y="57882"/>
                  </a:lnTo>
                  <a:lnTo>
                    <a:pt x="1396837" y="20300"/>
                  </a:lnTo>
                  <a:lnTo>
                    <a:pt x="1629644" y="4206"/>
                  </a:lnTo>
                </a:path>
              </a:pathLst>
            </a:custGeom>
            <a:noFill/>
            <a:ln w="15748">
              <a:solidFill>
                <a:srgbClr val="A3A3A3"/>
              </a:solidFill>
              <a:prstDash val="solid"/>
            </a:ln>
          </p:spPr>
        </p:sp>
        <p:sp>
          <p:nvSpPr>
            <p:cNvPr id="50" name="svg0_38"/>
            <p:cNvSpPr/>
            <p:nvPr/>
          </p:nvSpPr>
          <p:spPr>
            <a:xfrm>
              <a:off x="620512" y="4277746"/>
              <a:ext cx="41239" cy="41239"/>
            </a:xfrm>
            <a:prstGeom prst="ellipse">
              <a:avLst/>
            </a:prstGeom>
            <a:solidFill>
              <a:srgbClr val="A3A3A3"/>
            </a:solidFill>
            <a:ln w="7874">
              <a:solidFill>
                <a:srgbClr val="FFFFFF"/>
              </a:solidFill>
              <a:prstDash val="solid"/>
            </a:ln>
          </p:spPr>
        </p:sp>
        <p:sp>
          <p:nvSpPr>
            <p:cNvPr id="51" name="svg0_39"/>
            <p:cNvSpPr/>
            <p:nvPr/>
          </p:nvSpPr>
          <p:spPr>
            <a:xfrm>
              <a:off x="853318" y="4090660"/>
              <a:ext cx="41239" cy="41239"/>
            </a:xfrm>
            <a:prstGeom prst="ellipse">
              <a:avLst/>
            </a:prstGeom>
            <a:solidFill>
              <a:srgbClr val="A3A3A3"/>
            </a:solidFill>
            <a:ln w="7874">
              <a:solidFill>
                <a:srgbClr val="FFFFFF"/>
              </a:solidFill>
              <a:prstDash val="solid"/>
            </a:ln>
          </p:spPr>
        </p:sp>
        <p:sp>
          <p:nvSpPr>
            <p:cNvPr id="52" name="svg0_40"/>
            <p:cNvSpPr/>
            <p:nvPr/>
          </p:nvSpPr>
          <p:spPr>
            <a:xfrm>
              <a:off x="1086124" y="3991996"/>
              <a:ext cx="41239" cy="41239"/>
            </a:xfrm>
            <a:prstGeom prst="ellipse">
              <a:avLst/>
            </a:prstGeom>
            <a:solidFill>
              <a:srgbClr val="A3A3A3"/>
            </a:solidFill>
            <a:ln w="7874">
              <a:solidFill>
                <a:srgbClr val="FFFFFF"/>
              </a:solidFill>
              <a:prstDash val="solid"/>
            </a:ln>
          </p:spPr>
        </p:sp>
        <p:sp>
          <p:nvSpPr>
            <p:cNvPr id="53" name="svg0_41"/>
            <p:cNvSpPr/>
            <p:nvPr/>
          </p:nvSpPr>
          <p:spPr>
            <a:xfrm>
              <a:off x="1318931" y="3970142"/>
              <a:ext cx="41239" cy="41239"/>
            </a:xfrm>
            <a:prstGeom prst="ellipse">
              <a:avLst/>
            </a:prstGeom>
            <a:solidFill>
              <a:srgbClr val="A3A3A3"/>
            </a:solidFill>
            <a:ln w="7874">
              <a:solidFill>
                <a:srgbClr val="FFFFFF"/>
              </a:solidFill>
              <a:prstDash val="solid"/>
            </a:ln>
          </p:spPr>
        </p:sp>
        <p:sp>
          <p:nvSpPr>
            <p:cNvPr id="54" name="svg0_42"/>
            <p:cNvSpPr/>
            <p:nvPr/>
          </p:nvSpPr>
          <p:spPr>
            <a:xfrm>
              <a:off x="1551828" y="3976726"/>
              <a:ext cx="41239" cy="41239"/>
            </a:xfrm>
            <a:prstGeom prst="ellipse">
              <a:avLst/>
            </a:prstGeom>
            <a:solidFill>
              <a:srgbClr val="A3A3A3"/>
            </a:solidFill>
            <a:ln w="7874">
              <a:solidFill>
                <a:srgbClr val="FFFFFF"/>
              </a:solidFill>
              <a:prstDash val="solid"/>
            </a:ln>
          </p:spPr>
        </p:sp>
        <p:sp>
          <p:nvSpPr>
            <p:cNvPr id="55" name="svg0_43"/>
            <p:cNvSpPr/>
            <p:nvPr/>
          </p:nvSpPr>
          <p:spPr>
            <a:xfrm>
              <a:off x="1784543" y="4028023"/>
              <a:ext cx="41239" cy="41239"/>
            </a:xfrm>
            <a:prstGeom prst="ellipse">
              <a:avLst/>
            </a:prstGeom>
            <a:solidFill>
              <a:srgbClr val="A3A3A3"/>
            </a:solidFill>
            <a:ln w="7874">
              <a:solidFill>
                <a:srgbClr val="FFFFFF"/>
              </a:solidFill>
              <a:prstDash val="solid"/>
            </a:ln>
          </p:spPr>
        </p:sp>
        <p:sp>
          <p:nvSpPr>
            <p:cNvPr id="56" name="svg0_44"/>
            <p:cNvSpPr/>
            <p:nvPr/>
          </p:nvSpPr>
          <p:spPr>
            <a:xfrm>
              <a:off x="2017441" y="3990442"/>
              <a:ext cx="41239" cy="41239"/>
            </a:xfrm>
            <a:prstGeom prst="ellipse">
              <a:avLst/>
            </a:prstGeom>
            <a:solidFill>
              <a:srgbClr val="A3A3A3"/>
            </a:solidFill>
            <a:ln w="7874">
              <a:solidFill>
                <a:srgbClr val="FFFFFF"/>
              </a:solidFill>
              <a:prstDash val="solid"/>
            </a:ln>
          </p:spPr>
        </p:sp>
        <p:sp>
          <p:nvSpPr>
            <p:cNvPr id="57" name="svg0_45"/>
            <p:cNvSpPr/>
            <p:nvPr/>
          </p:nvSpPr>
          <p:spPr>
            <a:xfrm>
              <a:off x="2250156" y="3974348"/>
              <a:ext cx="41239" cy="41239"/>
            </a:xfrm>
            <a:prstGeom prst="ellipse">
              <a:avLst/>
            </a:prstGeom>
            <a:solidFill>
              <a:srgbClr val="A3A3A3"/>
            </a:solidFill>
            <a:ln w="7874">
              <a:solidFill>
                <a:srgbClr val="FFFFFF"/>
              </a:solidFill>
              <a:prstDash val="solid"/>
            </a:ln>
          </p:spPr>
        </p:sp>
        <p:sp>
          <p:nvSpPr>
            <p:cNvPr id="58" name="svg0_46"/>
            <p:cNvSpPr/>
            <p:nvPr/>
          </p:nvSpPr>
          <p:spPr>
            <a:xfrm>
              <a:off x="641086" y="4005895"/>
              <a:ext cx="1629644" cy="297729"/>
            </a:xfrm>
            <a:custGeom>
              <a:avLst/>
              <a:gdLst/>
              <a:ahLst/>
              <a:cxnLst/>
              <a:rect l="l" t="t" r="r" b="b"/>
              <a:pathLst>
                <a:path w="1629644" h="297729">
                  <a:moveTo>
                    <a:pt x="0" y="297729"/>
                  </a:moveTo>
                  <a:lnTo>
                    <a:pt x="232806" y="109637"/>
                  </a:lnTo>
                  <a:lnTo>
                    <a:pt x="465612" y="9418"/>
                  </a:lnTo>
                  <a:lnTo>
                    <a:pt x="698327" y="0"/>
                  </a:lnTo>
                  <a:lnTo>
                    <a:pt x="931225" y="27706"/>
                  </a:lnTo>
                  <a:lnTo>
                    <a:pt x="1163940" y="74798"/>
                  </a:lnTo>
                  <a:lnTo>
                    <a:pt x="1396837" y="38313"/>
                  </a:lnTo>
                  <a:lnTo>
                    <a:pt x="1629644" y="20208"/>
                  </a:lnTo>
                </a:path>
              </a:pathLst>
            </a:custGeom>
            <a:noFill/>
            <a:ln w="15748">
              <a:solidFill>
                <a:srgbClr val="D0D0D0"/>
              </a:solidFill>
              <a:prstDash val="solid"/>
            </a:ln>
          </p:spPr>
        </p:sp>
        <p:sp>
          <p:nvSpPr>
            <p:cNvPr id="59" name="svg0_47"/>
            <p:cNvSpPr/>
            <p:nvPr/>
          </p:nvSpPr>
          <p:spPr>
            <a:xfrm>
              <a:off x="620512" y="4283141"/>
              <a:ext cx="41239" cy="41239"/>
            </a:xfrm>
            <a:prstGeom prst="ellipse">
              <a:avLst/>
            </a:prstGeom>
            <a:solidFill>
              <a:srgbClr val="D0D0D0"/>
            </a:solidFill>
            <a:ln w="7874">
              <a:solidFill>
                <a:srgbClr val="FFFFFF"/>
              </a:solidFill>
              <a:prstDash val="solid"/>
            </a:ln>
          </p:spPr>
        </p:sp>
        <p:sp>
          <p:nvSpPr>
            <p:cNvPr id="60" name="svg0_48"/>
            <p:cNvSpPr/>
            <p:nvPr/>
          </p:nvSpPr>
          <p:spPr>
            <a:xfrm>
              <a:off x="853318" y="4094958"/>
              <a:ext cx="41239" cy="41239"/>
            </a:xfrm>
            <a:prstGeom prst="ellipse">
              <a:avLst/>
            </a:prstGeom>
            <a:solidFill>
              <a:srgbClr val="D0D0D0"/>
            </a:solidFill>
            <a:ln w="7874">
              <a:solidFill>
                <a:srgbClr val="FFFFFF"/>
              </a:solidFill>
              <a:prstDash val="solid"/>
            </a:ln>
          </p:spPr>
        </p:sp>
        <p:sp>
          <p:nvSpPr>
            <p:cNvPr id="61" name="svg0_49"/>
            <p:cNvSpPr/>
            <p:nvPr/>
          </p:nvSpPr>
          <p:spPr>
            <a:xfrm>
              <a:off x="1086124" y="3994739"/>
              <a:ext cx="41239" cy="41239"/>
            </a:xfrm>
            <a:prstGeom prst="ellipse">
              <a:avLst/>
            </a:prstGeom>
            <a:solidFill>
              <a:srgbClr val="D0D0D0"/>
            </a:solidFill>
            <a:ln w="7874">
              <a:solidFill>
                <a:srgbClr val="FFFFFF"/>
              </a:solidFill>
              <a:prstDash val="solid"/>
            </a:ln>
          </p:spPr>
        </p:sp>
        <p:sp>
          <p:nvSpPr>
            <p:cNvPr id="62" name="svg0_50"/>
            <p:cNvSpPr/>
            <p:nvPr/>
          </p:nvSpPr>
          <p:spPr>
            <a:xfrm>
              <a:off x="1318931" y="3985321"/>
              <a:ext cx="41239" cy="41239"/>
            </a:xfrm>
            <a:prstGeom prst="ellipse">
              <a:avLst/>
            </a:prstGeom>
            <a:solidFill>
              <a:srgbClr val="D0D0D0"/>
            </a:solidFill>
            <a:ln w="7874">
              <a:solidFill>
                <a:srgbClr val="FFFFFF"/>
              </a:solidFill>
              <a:prstDash val="solid"/>
            </a:ln>
          </p:spPr>
        </p:sp>
        <p:sp>
          <p:nvSpPr>
            <p:cNvPr id="63" name="svg0_51"/>
            <p:cNvSpPr/>
            <p:nvPr/>
          </p:nvSpPr>
          <p:spPr>
            <a:xfrm>
              <a:off x="1551828" y="4013027"/>
              <a:ext cx="41239" cy="41239"/>
            </a:xfrm>
            <a:prstGeom prst="ellipse">
              <a:avLst/>
            </a:prstGeom>
            <a:solidFill>
              <a:srgbClr val="D0D0D0"/>
            </a:solidFill>
            <a:ln w="7874">
              <a:solidFill>
                <a:srgbClr val="FFFFFF"/>
              </a:solidFill>
              <a:prstDash val="solid"/>
            </a:ln>
          </p:spPr>
        </p:sp>
        <p:sp>
          <p:nvSpPr>
            <p:cNvPr id="64" name="svg0_52"/>
            <p:cNvSpPr/>
            <p:nvPr/>
          </p:nvSpPr>
          <p:spPr>
            <a:xfrm>
              <a:off x="1784543" y="4060119"/>
              <a:ext cx="41239" cy="41239"/>
            </a:xfrm>
            <a:prstGeom prst="ellipse">
              <a:avLst/>
            </a:prstGeom>
            <a:solidFill>
              <a:srgbClr val="D0D0D0"/>
            </a:solidFill>
            <a:ln w="7874">
              <a:solidFill>
                <a:srgbClr val="FFFFFF"/>
              </a:solidFill>
              <a:prstDash val="solid"/>
            </a:ln>
          </p:spPr>
        </p:sp>
        <p:sp>
          <p:nvSpPr>
            <p:cNvPr id="65" name="svg0_53"/>
            <p:cNvSpPr/>
            <p:nvPr/>
          </p:nvSpPr>
          <p:spPr>
            <a:xfrm>
              <a:off x="2017441" y="4023634"/>
              <a:ext cx="41239" cy="41239"/>
            </a:xfrm>
            <a:prstGeom prst="ellipse">
              <a:avLst/>
            </a:prstGeom>
            <a:solidFill>
              <a:srgbClr val="D0D0D0"/>
            </a:solidFill>
            <a:ln w="7874">
              <a:solidFill>
                <a:srgbClr val="FFFFFF"/>
              </a:solidFill>
              <a:prstDash val="solid"/>
            </a:ln>
          </p:spPr>
        </p:sp>
        <p:sp>
          <p:nvSpPr>
            <p:cNvPr id="66" name="svg0_54"/>
            <p:cNvSpPr/>
            <p:nvPr/>
          </p:nvSpPr>
          <p:spPr>
            <a:xfrm>
              <a:off x="2250156" y="4005529"/>
              <a:ext cx="41239" cy="41239"/>
            </a:xfrm>
            <a:prstGeom prst="ellipse">
              <a:avLst/>
            </a:prstGeom>
            <a:solidFill>
              <a:srgbClr val="D0D0D0"/>
            </a:solidFill>
            <a:ln w="7874">
              <a:solidFill>
                <a:srgbClr val="FFFFFF"/>
              </a:solidFill>
              <a:prstDash val="solid"/>
            </a:ln>
          </p:spPr>
        </p:sp>
        <p:sp>
          <p:nvSpPr>
            <p:cNvPr id="67" name="svg0_55"/>
            <p:cNvSpPr txBox="1"/>
            <p:nvPr/>
          </p:nvSpPr>
          <p:spPr>
            <a:xfrm>
              <a:off x="2314986" y="3615995"/>
              <a:ext cx="183703" cy="104790"/>
            </a:xfrm>
            <a:prstGeom prst="rect">
              <a:avLst/>
            </a:prstGeom>
            <a:noFill/>
            <a:ln/>
          </p:spPr>
          <p:txBody>
            <a:bodyPr wrap="none" lIns="0" tIns="0" rIns="0" bIns="0" rtlCol="0" anchor="ctr"/>
            <a:lstStyle/>
            <a:p>
              <a:pPr algn="l" indent="0" marL="0">
                <a:buNone/>
              </a:pPr>
              <a:r>
                <a:rPr lang="en-US" sz="587" b="1" dirty="0">
                  <a:solidFill>
                    <a:srgbClr val="404040"/>
                  </a:solidFill>
                  <a:latin typeface="Calibri" pitchFamily="34" charset="0"/>
                  <a:ea typeface="Calibri" pitchFamily="34" charset="-122"/>
                  <a:cs typeface="Calibri" pitchFamily="34" charset="-120"/>
                </a:rPr>
                <a:t>Gộp</a:t>
              </a:r>
              <a:endParaRPr lang="en-US" sz="587" dirty="0"/>
            </a:p>
          </p:txBody>
        </p:sp>
        <p:sp>
          <p:nvSpPr>
            <p:cNvPr id="68" name="svg0_56"/>
            <p:cNvSpPr txBox="1"/>
            <p:nvPr/>
          </p:nvSpPr>
          <p:spPr>
            <a:xfrm>
              <a:off x="2314986" y="3866358"/>
              <a:ext cx="297820" cy="104790"/>
            </a:xfrm>
            <a:prstGeom prst="rect">
              <a:avLst/>
            </a:prstGeom>
            <a:noFill/>
            <a:ln/>
          </p:spPr>
          <p:txBody>
            <a:bodyPr wrap="none" lIns="0" tIns="0" rIns="0" bIns="0" rtlCol="0" anchor="ctr"/>
            <a:lstStyle/>
            <a:p>
              <a:pPr algn="l" indent="0" marL="0">
                <a:buNone/>
              </a:pPr>
              <a:r>
                <a:rPr lang="en-US" sz="587" b="1" dirty="0">
                  <a:solidFill>
                    <a:srgbClr val="7B1E2B"/>
                  </a:solidFill>
                  <a:latin typeface="Calibri" pitchFamily="34" charset="0"/>
                  <a:ea typeface="Calibri" pitchFamily="34" charset="-122"/>
                  <a:cs typeface="Calibri" pitchFamily="34" charset="-120"/>
                </a:rPr>
                <a:t>EBITDA</a:t>
              </a:r>
              <a:endParaRPr lang="en-US" sz="587" dirty="0"/>
            </a:p>
          </p:txBody>
        </p:sp>
        <p:sp>
          <p:nvSpPr>
            <p:cNvPr id="69" name="svg0_57"/>
            <p:cNvSpPr txBox="1"/>
            <p:nvPr/>
          </p:nvSpPr>
          <p:spPr>
            <a:xfrm>
              <a:off x="2314986" y="3945819"/>
              <a:ext cx="193304" cy="104790"/>
            </a:xfrm>
            <a:prstGeom prst="rect">
              <a:avLst/>
            </a:prstGeom>
            <a:noFill/>
            <a:ln/>
          </p:spPr>
          <p:txBody>
            <a:bodyPr wrap="none" lIns="0" tIns="0" rIns="0" bIns="0" rtlCol="0" anchor="ctr"/>
            <a:lstStyle/>
            <a:p>
              <a:pPr algn="l" indent="0" marL="0">
                <a:buNone/>
              </a:pPr>
              <a:r>
                <a:rPr lang="en-US" sz="587" b="1" dirty="0">
                  <a:solidFill>
                    <a:srgbClr val="666666"/>
                  </a:solidFill>
                  <a:latin typeface="Calibri" pitchFamily="34" charset="0"/>
                  <a:ea typeface="Calibri" pitchFamily="34" charset="-122"/>
                  <a:cs typeface="Calibri" pitchFamily="34" charset="-120"/>
                </a:rPr>
                <a:t>EBIT</a:t>
              </a:r>
              <a:endParaRPr lang="en-US" sz="587" dirty="0"/>
            </a:p>
          </p:txBody>
        </p:sp>
        <p:sp>
          <p:nvSpPr>
            <p:cNvPr id="70" name="svg0_58"/>
            <p:cNvSpPr txBox="1"/>
            <p:nvPr/>
          </p:nvSpPr>
          <p:spPr>
            <a:xfrm>
              <a:off x="2314986" y="4024366"/>
              <a:ext cx="212781" cy="104790"/>
            </a:xfrm>
            <a:prstGeom prst="rect">
              <a:avLst/>
            </a:prstGeom>
            <a:noFill/>
            <a:ln/>
          </p:spPr>
          <p:txBody>
            <a:bodyPr wrap="none" lIns="0" tIns="0" rIns="0" bIns="0" rtlCol="0" anchor="ctr"/>
            <a:lstStyle/>
            <a:p>
              <a:pPr algn="l" indent="0" marL="0">
                <a:buNone/>
              </a:pPr>
              <a:r>
                <a:rPr lang="en-US" sz="587" b="1" dirty="0">
                  <a:solidFill>
                    <a:srgbClr val="666666"/>
                  </a:solidFill>
                  <a:latin typeface="Calibri" pitchFamily="34" charset="0"/>
                  <a:ea typeface="Calibri" pitchFamily="34" charset="-122"/>
                  <a:cs typeface="Calibri" pitchFamily="34" charset="-120"/>
                </a:rPr>
                <a:t>LNST</a:t>
              </a:r>
              <a:endParaRPr lang="en-US" sz="587" dirty="0"/>
            </a:p>
          </p:txBody>
        </p:sp>
      </p:grpSp>
      <p:grpSp>
        <p:nvGrpSpPr>
          <p:cNvPr id="220" name="Fig. 35 – biểu đồ"/>
          <p:cNvGrpSpPr/>
          <p:nvPr/>
        </p:nvGrpSpPr>
        <p:grpSpPr>
          <a:xfrm>
            <a:off x="444764" y="5170200"/>
            <a:ext cx="2081266" cy="904250"/>
            <a:chOff x="444764" y="5170200"/>
            <a:chExt cx="2081266" cy="904250"/>
          </a:xfrm>
        </p:grpSpPr>
        <p:sp>
          <p:nvSpPr>
            <p:cNvPr id="71" name="svg1_59"/>
            <p:cNvSpPr/>
            <p:nvPr/>
          </p:nvSpPr>
          <p:spPr>
            <a:xfrm>
              <a:off x="1225205" y="5170200"/>
              <a:ext cx="1300825" cy="785470"/>
            </a:xfrm>
            <a:prstGeom prst="rect">
              <a:avLst/>
            </a:prstGeom>
            <a:solidFill>
              <a:srgbClr val="F3F1F1"/>
            </a:solidFill>
            <a:ln/>
          </p:spPr>
        </p:sp>
        <p:sp>
          <p:nvSpPr>
            <p:cNvPr id="72" name="svg1_60"/>
            <p:cNvSpPr/>
            <p:nvPr/>
          </p:nvSpPr>
          <p:spPr>
            <a:xfrm>
              <a:off x="496702" y="5713080"/>
              <a:ext cx="156088" cy="242499"/>
            </a:xfrm>
            <a:prstGeom prst="rect">
              <a:avLst/>
            </a:prstGeom>
            <a:solidFill>
              <a:srgbClr val="7B1E2B"/>
            </a:solidFill>
            <a:ln/>
          </p:spPr>
        </p:sp>
        <p:sp>
          <p:nvSpPr>
            <p:cNvPr id="73" name="svg1_61"/>
            <p:cNvSpPr txBox="1"/>
            <p:nvPr/>
          </p:nvSpPr>
          <p:spPr>
            <a:xfrm>
              <a:off x="481523" y="5613319"/>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26%</a:t>
              </a:r>
              <a:endParaRPr lang="en-US" sz="588" dirty="0"/>
            </a:p>
          </p:txBody>
        </p:sp>
        <p:sp>
          <p:nvSpPr>
            <p:cNvPr id="74" name="svg1_62"/>
            <p:cNvSpPr txBox="1"/>
            <p:nvPr/>
          </p:nvSpPr>
          <p:spPr>
            <a:xfrm>
              <a:off x="487284" y="5969660"/>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23A</a:t>
              </a:r>
              <a:endParaRPr lang="en-US" sz="588" dirty="0"/>
            </a:p>
          </p:txBody>
        </p:sp>
        <p:sp>
          <p:nvSpPr>
            <p:cNvPr id="75" name="svg1_63"/>
            <p:cNvSpPr/>
            <p:nvPr/>
          </p:nvSpPr>
          <p:spPr>
            <a:xfrm>
              <a:off x="756849" y="5763738"/>
              <a:ext cx="156088" cy="191841"/>
            </a:xfrm>
            <a:prstGeom prst="rect">
              <a:avLst/>
            </a:prstGeom>
            <a:solidFill>
              <a:srgbClr val="7B1E2B"/>
            </a:solidFill>
            <a:ln/>
          </p:spPr>
        </p:sp>
        <p:sp>
          <p:nvSpPr>
            <p:cNvPr id="76" name="svg1_64"/>
            <p:cNvSpPr txBox="1"/>
            <p:nvPr/>
          </p:nvSpPr>
          <p:spPr>
            <a:xfrm>
              <a:off x="742584" y="5664342"/>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20%</a:t>
              </a:r>
              <a:endParaRPr lang="en-US" sz="588" dirty="0"/>
            </a:p>
          </p:txBody>
        </p:sp>
        <p:sp>
          <p:nvSpPr>
            <p:cNvPr id="77" name="svg1_65"/>
            <p:cNvSpPr txBox="1"/>
            <p:nvPr/>
          </p:nvSpPr>
          <p:spPr>
            <a:xfrm>
              <a:off x="748436" y="5969660"/>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24A</a:t>
              </a:r>
              <a:endParaRPr lang="en-US" sz="588" dirty="0"/>
            </a:p>
          </p:txBody>
        </p:sp>
        <p:sp>
          <p:nvSpPr>
            <p:cNvPr id="78" name="svg1_66"/>
            <p:cNvSpPr/>
            <p:nvPr/>
          </p:nvSpPr>
          <p:spPr>
            <a:xfrm>
              <a:off x="1017087" y="5854903"/>
              <a:ext cx="156088" cy="100675"/>
            </a:xfrm>
            <a:prstGeom prst="rect">
              <a:avLst/>
            </a:prstGeom>
            <a:solidFill>
              <a:srgbClr val="7B1E2B"/>
            </a:solidFill>
            <a:ln/>
          </p:spPr>
        </p:sp>
        <p:sp>
          <p:nvSpPr>
            <p:cNvPr id="79" name="svg1_67"/>
            <p:cNvSpPr txBox="1"/>
            <p:nvPr/>
          </p:nvSpPr>
          <p:spPr>
            <a:xfrm>
              <a:off x="1001908" y="5755691"/>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11%</a:t>
              </a:r>
              <a:endParaRPr lang="en-US" sz="588" dirty="0"/>
            </a:p>
          </p:txBody>
        </p:sp>
        <p:sp>
          <p:nvSpPr>
            <p:cNvPr id="80" name="svg1_68"/>
            <p:cNvSpPr txBox="1"/>
            <p:nvPr/>
          </p:nvSpPr>
          <p:spPr>
            <a:xfrm>
              <a:off x="1007577" y="5969660"/>
              <a:ext cx="17858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25A</a:t>
              </a:r>
              <a:endParaRPr lang="en-US" sz="588" dirty="0"/>
            </a:p>
          </p:txBody>
        </p:sp>
        <p:sp>
          <p:nvSpPr>
            <p:cNvPr id="81" name="svg1_69"/>
            <p:cNvSpPr/>
            <p:nvPr/>
          </p:nvSpPr>
          <p:spPr>
            <a:xfrm>
              <a:off x="1277234" y="5767395"/>
              <a:ext cx="156088" cy="188184"/>
            </a:xfrm>
            <a:prstGeom prst="rect">
              <a:avLst/>
            </a:prstGeom>
            <a:pattFill prst="wdUpDiag">
              <a:fgClr>
                <a:srgbClr val="7B1E2B"/>
              </a:fgClr>
              <a:bgClr>
                <a:srgbClr val="FFFFFF"/>
              </a:bgClr>
            </a:pattFill>
            <a:ln w="7874">
              <a:solidFill>
                <a:srgbClr val="7B1E2B"/>
              </a:solidFill>
              <a:prstDash val="solid"/>
            </a:ln>
          </p:spPr>
        </p:sp>
        <p:sp>
          <p:nvSpPr>
            <p:cNvPr id="82" name="svg1_70"/>
            <p:cNvSpPr txBox="1"/>
            <p:nvPr/>
          </p:nvSpPr>
          <p:spPr>
            <a:xfrm>
              <a:off x="1262969" y="5667268"/>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20%</a:t>
              </a:r>
              <a:endParaRPr lang="en-US" sz="588" dirty="0"/>
            </a:p>
          </p:txBody>
        </p:sp>
        <p:sp>
          <p:nvSpPr>
            <p:cNvPr id="83" name="svg1_71"/>
            <p:cNvSpPr txBox="1"/>
            <p:nvPr/>
          </p:nvSpPr>
          <p:spPr>
            <a:xfrm>
              <a:off x="1272753" y="5969660"/>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26E</a:t>
              </a:r>
              <a:endParaRPr lang="en-US" sz="588" dirty="0"/>
            </a:p>
          </p:txBody>
        </p:sp>
        <p:sp>
          <p:nvSpPr>
            <p:cNvPr id="84" name="svg1_72"/>
            <p:cNvSpPr/>
            <p:nvPr/>
          </p:nvSpPr>
          <p:spPr>
            <a:xfrm>
              <a:off x="1537472" y="5344028"/>
              <a:ext cx="156088" cy="611642"/>
            </a:xfrm>
            <a:prstGeom prst="rect">
              <a:avLst/>
            </a:prstGeom>
            <a:pattFill prst="wdUpDiag">
              <a:fgClr>
                <a:srgbClr val="7B1E2B"/>
              </a:fgClr>
              <a:bgClr>
                <a:srgbClr val="FFFFFF"/>
              </a:bgClr>
            </a:pattFill>
            <a:ln w="7874">
              <a:solidFill>
                <a:srgbClr val="7B1E2B"/>
              </a:solidFill>
              <a:prstDash val="solid"/>
            </a:ln>
          </p:spPr>
        </p:sp>
        <p:sp>
          <p:nvSpPr>
            <p:cNvPr id="85" name="svg1_73"/>
            <p:cNvSpPr txBox="1"/>
            <p:nvPr/>
          </p:nvSpPr>
          <p:spPr>
            <a:xfrm>
              <a:off x="1522202" y="5244175"/>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65%</a:t>
              </a:r>
              <a:endParaRPr lang="en-US" sz="588" dirty="0"/>
            </a:p>
          </p:txBody>
        </p:sp>
        <p:sp>
          <p:nvSpPr>
            <p:cNvPr id="86" name="svg1_74"/>
            <p:cNvSpPr txBox="1"/>
            <p:nvPr/>
          </p:nvSpPr>
          <p:spPr>
            <a:xfrm>
              <a:off x="1531986" y="5969660"/>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27E</a:t>
              </a:r>
              <a:endParaRPr lang="en-US" sz="588" dirty="0"/>
            </a:p>
          </p:txBody>
        </p:sp>
        <p:sp>
          <p:nvSpPr>
            <p:cNvPr id="87" name="svg1_75"/>
            <p:cNvSpPr/>
            <p:nvPr/>
          </p:nvSpPr>
          <p:spPr>
            <a:xfrm>
              <a:off x="1797528" y="5842650"/>
              <a:ext cx="156088" cy="112928"/>
            </a:xfrm>
            <a:prstGeom prst="rect">
              <a:avLst/>
            </a:prstGeom>
            <a:pattFill prst="wdUpDiag">
              <a:fgClr>
                <a:srgbClr val="7B1E2B"/>
              </a:fgClr>
              <a:bgClr>
                <a:srgbClr val="FFFFFF"/>
              </a:bgClr>
            </a:pattFill>
            <a:ln w="7874">
              <a:solidFill>
                <a:srgbClr val="7B1E2B"/>
              </a:solidFill>
              <a:prstDash val="solid"/>
            </a:ln>
          </p:spPr>
        </p:sp>
        <p:sp>
          <p:nvSpPr>
            <p:cNvPr id="88" name="svg1_76"/>
            <p:cNvSpPr txBox="1"/>
            <p:nvPr/>
          </p:nvSpPr>
          <p:spPr>
            <a:xfrm>
              <a:off x="1783354" y="5742889"/>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12%</a:t>
              </a:r>
              <a:endParaRPr lang="en-US" sz="588" dirty="0"/>
            </a:p>
          </p:txBody>
        </p:sp>
        <p:sp>
          <p:nvSpPr>
            <p:cNvPr id="89" name="svg1_77"/>
            <p:cNvSpPr txBox="1"/>
            <p:nvPr/>
          </p:nvSpPr>
          <p:spPr>
            <a:xfrm>
              <a:off x="1793138" y="5969660"/>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28E</a:t>
              </a:r>
              <a:endParaRPr lang="en-US" sz="588" dirty="0"/>
            </a:p>
          </p:txBody>
        </p:sp>
        <p:sp>
          <p:nvSpPr>
            <p:cNvPr id="90" name="svg1_78"/>
            <p:cNvSpPr/>
            <p:nvPr/>
          </p:nvSpPr>
          <p:spPr>
            <a:xfrm>
              <a:off x="2057766" y="5861487"/>
              <a:ext cx="156088" cy="94092"/>
            </a:xfrm>
            <a:prstGeom prst="rect">
              <a:avLst/>
            </a:prstGeom>
            <a:pattFill prst="wdUpDiag">
              <a:fgClr>
                <a:srgbClr val="7B1E2B"/>
              </a:fgClr>
              <a:bgClr>
                <a:srgbClr val="FFFFFF"/>
              </a:bgClr>
            </a:pattFill>
            <a:ln w="7874">
              <a:solidFill>
                <a:srgbClr val="7B1E2B"/>
              </a:solidFill>
              <a:prstDash val="solid"/>
            </a:ln>
          </p:spPr>
        </p:sp>
        <p:sp>
          <p:nvSpPr>
            <p:cNvPr id="91" name="svg1_79"/>
            <p:cNvSpPr txBox="1"/>
            <p:nvPr/>
          </p:nvSpPr>
          <p:spPr>
            <a:xfrm>
              <a:off x="2042587" y="5761543"/>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10%</a:t>
              </a:r>
              <a:endParaRPr lang="en-US" sz="588" dirty="0"/>
            </a:p>
          </p:txBody>
        </p:sp>
        <p:sp>
          <p:nvSpPr>
            <p:cNvPr id="92" name="svg1_80"/>
            <p:cNvSpPr txBox="1"/>
            <p:nvPr/>
          </p:nvSpPr>
          <p:spPr>
            <a:xfrm>
              <a:off x="2052279" y="5969660"/>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29E</a:t>
              </a:r>
              <a:endParaRPr lang="en-US" sz="588" dirty="0"/>
            </a:p>
          </p:txBody>
        </p:sp>
        <p:sp>
          <p:nvSpPr>
            <p:cNvPr id="93" name="svg1_81"/>
            <p:cNvSpPr/>
            <p:nvPr/>
          </p:nvSpPr>
          <p:spPr>
            <a:xfrm>
              <a:off x="2317913" y="5861487"/>
              <a:ext cx="156088" cy="94092"/>
            </a:xfrm>
            <a:prstGeom prst="rect">
              <a:avLst/>
            </a:prstGeom>
            <a:pattFill prst="wdUpDiag">
              <a:fgClr>
                <a:srgbClr val="7B1E2B"/>
              </a:fgClr>
              <a:bgClr>
                <a:srgbClr val="FFFFFF"/>
              </a:bgClr>
            </a:pattFill>
            <a:ln w="7874">
              <a:solidFill>
                <a:srgbClr val="7B1E2B"/>
              </a:solidFill>
              <a:prstDash val="solid"/>
            </a:ln>
          </p:spPr>
        </p:sp>
        <p:sp>
          <p:nvSpPr>
            <p:cNvPr id="94" name="svg1_82"/>
            <p:cNvSpPr txBox="1"/>
            <p:nvPr/>
          </p:nvSpPr>
          <p:spPr>
            <a:xfrm>
              <a:off x="2303648" y="5761543"/>
              <a:ext cx="189464" cy="104790"/>
            </a:xfrm>
            <a:prstGeom prst="rect">
              <a:avLst/>
            </a:prstGeom>
            <a:noFill/>
            <a:ln/>
          </p:spPr>
          <p:txBody>
            <a:bodyPr wrap="none" lIns="0" tIns="0" rIns="0" bIns="0" rtlCol="0" anchor="ctr"/>
            <a:lstStyle/>
            <a:p>
              <a:pPr algn="ctr" indent="0" marL="0">
                <a:buNone/>
              </a:pPr>
              <a:r>
                <a:rPr lang="en-US" sz="588" dirty="0">
                  <a:solidFill>
                    <a:srgbClr val="262626"/>
                  </a:solidFill>
                  <a:latin typeface="Calibri" pitchFamily="34" charset="0"/>
                  <a:ea typeface="Calibri" pitchFamily="34" charset="-122"/>
                  <a:cs typeface="Calibri" pitchFamily="34" charset="-120"/>
                </a:rPr>
                <a:t>10%</a:t>
              </a:r>
              <a:endParaRPr lang="en-US" sz="588" dirty="0"/>
            </a:p>
          </p:txBody>
        </p:sp>
        <p:sp>
          <p:nvSpPr>
            <p:cNvPr id="95" name="svg1_83"/>
            <p:cNvSpPr txBox="1"/>
            <p:nvPr/>
          </p:nvSpPr>
          <p:spPr>
            <a:xfrm>
              <a:off x="2313432" y="5969660"/>
              <a:ext cx="167792" cy="104790"/>
            </a:xfrm>
            <a:prstGeom prst="rect">
              <a:avLst/>
            </a:prstGeom>
            <a:noFill/>
            <a:ln/>
          </p:spPr>
          <p:txBody>
            <a:bodyPr wrap="none" lIns="0" tIns="0" rIns="0" bIns="0" rtlCol="0" anchor="ctr"/>
            <a:lstStyle/>
            <a:p>
              <a:pPr algn="ctr" indent="0" marL="0">
                <a:buNone/>
              </a:pPr>
              <a:r>
                <a:rPr lang="en-US" sz="588" dirty="0">
                  <a:solidFill>
                    <a:srgbClr val="666666"/>
                  </a:solidFill>
                  <a:latin typeface="Calibri" pitchFamily="34" charset="0"/>
                  <a:ea typeface="Calibri" pitchFamily="34" charset="-122"/>
                  <a:cs typeface="Calibri" pitchFamily="34" charset="-120"/>
                </a:rPr>
                <a:t>30E</a:t>
              </a:r>
              <a:endParaRPr lang="en-US" sz="588" dirty="0"/>
            </a:p>
          </p:txBody>
        </p:sp>
        <p:sp>
          <p:nvSpPr>
            <p:cNvPr id="96" name="svg1_84"/>
            <p:cNvSpPr/>
            <p:nvPr/>
          </p:nvSpPr>
          <p:spPr>
            <a:xfrm>
              <a:off x="444764" y="5955579"/>
              <a:ext cx="2081266" cy="0"/>
            </a:xfrm>
            <a:prstGeom prst="line">
              <a:avLst/>
            </a:prstGeom>
            <a:noFill/>
            <a:ln w="6858">
              <a:solidFill>
                <a:srgbClr val="8C8C8C"/>
              </a:solidFill>
              <a:prstDash val="solid"/>
            </a:ln>
          </p:spPr>
        </p:sp>
        <p:sp>
          <p:nvSpPr>
            <p:cNvPr id="97" name="svg1_85"/>
            <p:cNvSpPr/>
            <p:nvPr/>
          </p:nvSpPr>
          <p:spPr>
            <a:xfrm>
              <a:off x="444764" y="5877855"/>
              <a:ext cx="2081266" cy="0"/>
            </a:xfrm>
            <a:prstGeom prst="line">
              <a:avLst/>
            </a:prstGeom>
            <a:noFill/>
            <a:ln w="8890">
              <a:solidFill>
                <a:srgbClr val="404040"/>
              </a:solidFill>
              <a:prstDash val="dash"/>
            </a:ln>
          </p:spPr>
        </p:sp>
        <p:sp>
          <p:nvSpPr>
            <p:cNvPr id="98" name="svg1_86"/>
            <p:cNvSpPr/>
            <p:nvPr/>
          </p:nvSpPr>
          <p:spPr>
            <a:xfrm>
              <a:off x="464332" y="5273253"/>
              <a:ext cx="98115" cy="0"/>
            </a:xfrm>
            <a:prstGeom prst="line">
              <a:avLst/>
            </a:prstGeom>
            <a:noFill/>
            <a:ln w="9779">
              <a:solidFill>
                <a:srgbClr val="404040"/>
              </a:solidFill>
              <a:prstDash val="dash"/>
            </a:ln>
          </p:spPr>
        </p:sp>
        <p:sp>
          <p:nvSpPr>
            <p:cNvPr id="99" name="svg1_87"/>
            <p:cNvSpPr txBox="1"/>
            <p:nvPr/>
          </p:nvSpPr>
          <p:spPr>
            <a:xfrm>
              <a:off x="591983" y="5221590"/>
              <a:ext cx="572140" cy="104790"/>
            </a:xfrm>
            <a:prstGeom prst="rect">
              <a:avLst/>
            </a:prstGeom>
            <a:noFill/>
            <a:ln/>
          </p:spPr>
          <p:txBody>
            <a:bodyPr wrap="none" lIns="0" tIns="0" rIns="0" bIns="0" rtlCol="0" anchor="ctr"/>
            <a:lstStyle/>
            <a:p>
              <a:pPr algn="l" indent="0" marL="0">
                <a:buNone/>
              </a:pPr>
              <a:r>
                <a:rPr lang="en-US" sz="557" b="1" dirty="0">
                  <a:solidFill>
                    <a:srgbClr val="404040"/>
                  </a:solidFill>
                  <a:latin typeface="Calibri" pitchFamily="34" charset="0"/>
                  <a:ea typeface="Calibri" pitchFamily="34" charset="-122"/>
                  <a:cs typeface="Calibri" pitchFamily="34" charset="-120"/>
                </a:rPr>
                <a:t>P75 ngành 8,3%</a:t>
              </a:r>
              <a:endParaRPr lang="en-US" sz="557" dirty="0"/>
            </a:p>
          </p:txBody>
        </p:sp>
        <p:sp>
          <p:nvSpPr>
            <p:cNvPr id="100" name="svg1_88"/>
            <p:cNvSpPr/>
            <p:nvPr/>
          </p:nvSpPr>
          <p:spPr>
            <a:xfrm>
              <a:off x="444764" y="5925952"/>
              <a:ext cx="2081266" cy="0"/>
            </a:xfrm>
            <a:prstGeom prst="line">
              <a:avLst/>
            </a:prstGeom>
            <a:noFill/>
            <a:ln w="8890">
              <a:solidFill>
                <a:srgbClr val="A3A3A3"/>
              </a:solidFill>
              <a:prstDash val="dash"/>
            </a:ln>
          </p:spPr>
        </p:sp>
        <p:sp>
          <p:nvSpPr>
            <p:cNvPr id="101" name="svg1_89"/>
            <p:cNvSpPr/>
            <p:nvPr/>
          </p:nvSpPr>
          <p:spPr>
            <a:xfrm>
              <a:off x="464332" y="5361584"/>
              <a:ext cx="98115" cy="0"/>
            </a:xfrm>
            <a:prstGeom prst="line">
              <a:avLst/>
            </a:prstGeom>
            <a:noFill/>
            <a:ln w="9779">
              <a:solidFill>
                <a:srgbClr val="A3A3A3"/>
              </a:solidFill>
              <a:prstDash val="dash"/>
            </a:ln>
          </p:spPr>
        </p:sp>
        <p:sp>
          <p:nvSpPr>
            <p:cNvPr id="102" name="svg1_90"/>
            <p:cNvSpPr txBox="1"/>
            <p:nvPr/>
          </p:nvSpPr>
          <p:spPr>
            <a:xfrm>
              <a:off x="591983" y="5309921"/>
              <a:ext cx="712500" cy="104790"/>
            </a:xfrm>
            <a:prstGeom prst="rect">
              <a:avLst/>
            </a:prstGeom>
            <a:noFill/>
            <a:ln/>
          </p:spPr>
          <p:txBody>
            <a:bodyPr wrap="none" lIns="0" tIns="0" rIns="0" bIns="0" rtlCol="0" anchor="ctr"/>
            <a:lstStyle/>
            <a:p>
              <a:pPr algn="l" indent="0" marL="0">
                <a:buNone/>
              </a:pPr>
              <a:r>
                <a:rPr lang="en-US" sz="557" b="1" dirty="0">
                  <a:solidFill>
                    <a:srgbClr val="A3A3A3"/>
                  </a:solidFill>
                  <a:latin typeface="Calibri" pitchFamily="34" charset="0"/>
                  <a:ea typeface="Calibri" pitchFamily="34" charset="-122"/>
                  <a:cs typeface="Calibri" pitchFamily="34" charset="-120"/>
                </a:rPr>
                <a:t>Trung vị ngành 3,1%</a:t>
              </a:r>
              <a:endParaRPr lang="en-US" sz="557" dirty="0"/>
            </a:p>
          </p:txBody>
        </p:sp>
      </p:grpSp>
      <p:grpSp>
        <p:nvGrpSpPr>
          <p:cNvPr id="221" name="Fig. 36 – biểu đồ"/>
          <p:cNvGrpSpPr/>
          <p:nvPr/>
        </p:nvGrpSpPr>
        <p:grpSpPr>
          <a:xfrm>
            <a:off x="444856" y="6757599"/>
            <a:ext cx="2081083" cy="742950"/>
            <a:chOff x="444856" y="6757599"/>
            <a:chExt cx="2081083" cy="742950"/>
          </a:xfrm>
        </p:grpSpPr>
        <p:sp>
          <p:nvSpPr>
            <p:cNvPr id="103" name="svg2_91"/>
            <p:cNvSpPr/>
            <p:nvPr/>
          </p:nvSpPr>
          <p:spPr>
            <a:xfrm>
              <a:off x="487832" y="7339340"/>
              <a:ext cx="125456" cy="44257"/>
            </a:xfrm>
            <a:prstGeom prst="rect">
              <a:avLst/>
            </a:prstGeom>
            <a:solidFill>
              <a:srgbClr val="7B1E2B"/>
            </a:solidFill>
            <a:ln/>
          </p:spPr>
        </p:sp>
        <p:sp>
          <p:nvSpPr>
            <p:cNvPr id="104" name="svg2_92"/>
            <p:cNvSpPr txBox="1"/>
            <p:nvPr/>
          </p:nvSpPr>
          <p:spPr>
            <a:xfrm>
              <a:off x="480792" y="7243602"/>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5,1</a:t>
              </a:r>
              <a:endParaRPr lang="en-US" sz="557" dirty="0"/>
            </a:p>
          </p:txBody>
        </p:sp>
        <p:sp>
          <p:nvSpPr>
            <p:cNvPr id="105" name="svg2_93"/>
            <p:cNvSpPr/>
            <p:nvPr/>
          </p:nvSpPr>
          <p:spPr>
            <a:xfrm>
              <a:off x="623164" y="7356348"/>
              <a:ext cx="125547" cy="27249"/>
            </a:xfrm>
            <a:prstGeom prst="rect">
              <a:avLst/>
            </a:prstGeom>
            <a:solidFill>
              <a:srgbClr val="A3A3A3"/>
            </a:solidFill>
            <a:ln/>
          </p:spPr>
        </p:sp>
        <p:sp>
          <p:nvSpPr>
            <p:cNvPr id="106" name="svg2_94"/>
            <p:cNvSpPr txBox="1"/>
            <p:nvPr/>
          </p:nvSpPr>
          <p:spPr>
            <a:xfrm>
              <a:off x="616214" y="7260245"/>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3,1</a:t>
              </a:r>
              <a:endParaRPr lang="en-US" sz="557" dirty="0"/>
            </a:p>
          </p:txBody>
        </p:sp>
        <p:sp>
          <p:nvSpPr>
            <p:cNvPr id="107" name="svg2_95"/>
            <p:cNvSpPr txBox="1"/>
            <p:nvPr/>
          </p:nvSpPr>
          <p:spPr>
            <a:xfrm>
              <a:off x="530443" y="7395759"/>
              <a:ext cx="17858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25A</a:t>
              </a:r>
              <a:endParaRPr lang="en-US" sz="587" dirty="0"/>
            </a:p>
          </p:txBody>
        </p:sp>
        <p:sp>
          <p:nvSpPr>
            <p:cNvPr id="108" name="svg2_96"/>
            <p:cNvSpPr/>
            <p:nvPr/>
          </p:nvSpPr>
          <p:spPr>
            <a:xfrm>
              <a:off x="834664" y="7272589"/>
              <a:ext cx="125547" cy="111008"/>
            </a:xfrm>
            <a:prstGeom prst="rect">
              <a:avLst/>
            </a:prstGeom>
            <a:solidFill>
              <a:srgbClr val="7B1E2B"/>
            </a:solidFill>
            <a:ln/>
          </p:spPr>
        </p:sp>
        <p:sp>
          <p:nvSpPr>
            <p:cNvPr id="109" name="svg2_97"/>
            <p:cNvSpPr txBox="1"/>
            <p:nvPr/>
          </p:nvSpPr>
          <p:spPr>
            <a:xfrm>
              <a:off x="806867" y="7176760"/>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12,7</a:t>
              </a:r>
              <a:endParaRPr lang="en-US" sz="557" dirty="0"/>
            </a:p>
          </p:txBody>
        </p:sp>
        <p:sp>
          <p:nvSpPr>
            <p:cNvPr id="110" name="svg2_98"/>
            <p:cNvSpPr/>
            <p:nvPr/>
          </p:nvSpPr>
          <p:spPr>
            <a:xfrm>
              <a:off x="969996" y="7351044"/>
              <a:ext cx="125456" cy="32553"/>
            </a:xfrm>
            <a:prstGeom prst="rect">
              <a:avLst/>
            </a:prstGeom>
            <a:solidFill>
              <a:srgbClr val="A3A3A3"/>
            </a:solidFill>
            <a:ln/>
          </p:spPr>
        </p:sp>
        <p:sp>
          <p:nvSpPr>
            <p:cNvPr id="111" name="svg2_99"/>
            <p:cNvSpPr txBox="1"/>
            <p:nvPr/>
          </p:nvSpPr>
          <p:spPr>
            <a:xfrm>
              <a:off x="962772" y="7255398"/>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3,7</a:t>
              </a:r>
              <a:endParaRPr lang="en-US" sz="557" dirty="0"/>
            </a:p>
          </p:txBody>
        </p:sp>
        <p:sp>
          <p:nvSpPr>
            <p:cNvPr id="112" name="svg2_100"/>
            <p:cNvSpPr txBox="1"/>
            <p:nvPr/>
          </p:nvSpPr>
          <p:spPr>
            <a:xfrm>
              <a:off x="882030" y="7395759"/>
              <a:ext cx="16779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26E</a:t>
              </a:r>
              <a:endParaRPr lang="en-US" sz="587" dirty="0"/>
            </a:p>
          </p:txBody>
        </p:sp>
        <p:sp>
          <p:nvSpPr>
            <p:cNvPr id="113" name="svg2_101"/>
            <p:cNvSpPr/>
            <p:nvPr/>
          </p:nvSpPr>
          <p:spPr>
            <a:xfrm>
              <a:off x="1181588" y="6931975"/>
              <a:ext cx="125456" cy="451622"/>
            </a:xfrm>
            <a:prstGeom prst="rect">
              <a:avLst/>
            </a:prstGeom>
            <a:solidFill>
              <a:srgbClr val="7B1E2B"/>
            </a:solidFill>
            <a:ln/>
          </p:spPr>
        </p:sp>
        <p:sp>
          <p:nvSpPr>
            <p:cNvPr id="114" name="svg2_102"/>
            <p:cNvSpPr txBox="1"/>
            <p:nvPr/>
          </p:nvSpPr>
          <p:spPr>
            <a:xfrm>
              <a:off x="1153516" y="6836146"/>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51,8</a:t>
              </a:r>
              <a:endParaRPr lang="en-US" sz="557" dirty="0"/>
            </a:p>
          </p:txBody>
        </p:sp>
        <p:sp>
          <p:nvSpPr>
            <p:cNvPr id="115" name="svg2_103"/>
            <p:cNvSpPr/>
            <p:nvPr/>
          </p:nvSpPr>
          <p:spPr>
            <a:xfrm>
              <a:off x="1316827" y="7337694"/>
              <a:ext cx="125456" cy="45903"/>
            </a:xfrm>
            <a:prstGeom prst="rect">
              <a:avLst/>
            </a:prstGeom>
            <a:solidFill>
              <a:srgbClr val="A3A3A3"/>
            </a:solidFill>
            <a:ln/>
          </p:spPr>
        </p:sp>
        <p:sp>
          <p:nvSpPr>
            <p:cNvPr id="116" name="svg2_104"/>
            <p:cNvSpPr txBox="1"/>
            <p:nvPr/>
          </p:nvSpPr>
          <p:spPr>
            <a:xfrm>
              <a:off x="1309329" y="7241682"/>
              <a:ext cx="142372"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5,3</a:t>
              </a:r>
              <a:endParaRPr lang="en-US" sz="557" dirty="0"/>
            </a:p>
          </p:txBody>
        </p:sp>
        <p:sp>
          <p:nvSpPr>
            <p:cNvPr id="117" name="svg2_105"/>
            <p:cNvSpPr txBox="1"/>
            <p:nvPr/>
          </p:nvSpPr>
          <p:spPr>
            <a:xfrm>
              <a:off x="1228588" y="7395759"/>
              <a:ext cx="16779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27E</a:t>
              </a:r>
              <a:endParaRPr lang="en-US" sz="587" dirty="0"/>
            </a:p>
          </p:txBody>
        </p:sp>
        <p:sp>
          <p:nvSpPr>
            <p:cNvPr id="118" name="svg2_106"/>
            <p:cNvSpPr/>
            <p:nvPr/>
          </p:nvSpPr>
          <p:spPr>
            <a:xfrm>
              <a:off x="1528511" y="7268108"/>
              <a:ext cx="125456" cy="115489"/>
            </a:xfrm>
            <a:prstGeom prst="rect">
              <a:avLst/>
            </a:prstGeom>
            <a:solidFill>
              <a:srgbClr val="7B1E2B"/>
            </a:solidFill>
            <a:ln/>
          </p:spPr>
        </p:sp>
        <p:sp>
          <p:nvSpPr>
            <p:cNvPr id="119" name="svg2_107"/>
            <p:cNvSpPr txBox="1"/>
            <p:nvPr/>
          </p:nvSpPr>
          <p:spPr>
            <a:xfrm>
              <a:off x="1500988" y="7171914"/>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13,2</a:t>
              </a:r>
              <a:endParaRPr lang="en-US" sz="557" dirty="0"/>
            </a:p>
          </p:txBody>
        </p:sp>
        <p:sp>
          <p:nvSpPr>
            <p:cNvPr id="120" name="svg2_108"/>
            <p:cNvSpPr/>
            <p:nvPr/>
          </p:nvSpPr>
          <p:spPr>
            <a:xfrm>
              <a:off x="1663751" y="7283470"/>
              <a:ext cx="125456" cy="100127"/>
            </a:xfrm>
            <a:prstGeom prst="rect">
              <a:avLst/>
            </a:prstGeom>
            <a:solidFill>
              <a:srgbClr val="A3A3A3"/>
            </a:solidFill>
            <a:ln/>
          </p:spPr>
        </p:sp>
        <p:sp>
          <p:nvSpPr>
            <p:cNvPr id="121" name="svg2_109"/>
            <p:cNvSpPr txBox="1"/>
            <p:nvPr/>
          </p:nvSpPr>
          <p:spPr>
            <a:xfrm>
              <a:off x="1636410" y="7187641"/>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11,5</a:t>
              </a:r>
              <a:endParaRPr lang="en-US" sz="557" dirty="0"/>
            </a:p>
          </p:txBody>
        </p:sp>
        <p:sp>
          <p:nvSpPr>
            <p:cNvPr id="122" name="svg2_110"/>
            <p:cNvSpPr txBox="1"/>
            <p:nvPr/>
          </p:nvSpPr>
          <p:spPr>
            <a:xfrm>
              <a:off x="1576060" y="7395759"/>
              <a:ext cx="16779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28E</a:t>
              </a:r>
              <a:endParaRPr lang="en-US" sz="587" dirty="0"/>
            </a:p>
          </p:txBody>
        </p:sp>
        <p:sp>
          <p:nvSpPr>
            <p:cNvPr id="123" name="svg2_111"/>
            <p:cNvSpPr/>
            <p:nvPr/>
          </p:nvSpPr>
          <p:spPr>
            <a:xfrm>
              <a:off x="1875252" y="7260245"/>
              <a:ext cx="125456" cy="123353"/>
            </a:xfrm>
            <a:prstGeom prst="rect">
              <a:avLst/>
            </a:prstGeom>
            <a:solidFill>
              <a:srgbClr val="7B1E2B"/>
            </a:solidFill>
            <a:ln/>
          </p:spPr>
        </p:sp>
        <p:sp>
          <p:nvSpPr>
            <p:cNvPr id="124" name="svg2_112"/>
            <p:cNvSpPr txBox="1"/>
            <p:nvPr/>
          </p:nvSpPr>
          <p:spPr>
            <a:xfrm>
              <a:off x="1847545" y="7164050"/>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14,2</a:t>
              </a:r>
              <a:endParaRPr lang="en-US" sz="557" dirty="0"/>
            </a:p>
          </p:txBody>
        </p:sp>
        <p:sp>
          <p:nvSpPr>
            <p:cNvPr id="125" name="svg2_113"/>
            <p:cNvSpPr/>
            <p:nvPr/>
          </p:nvSpPr>
          <p:spPr>
            <a:xfrm>
              <a:off x="2010674" y="7269571"/>
              <a:ext cx="125456" cy="114026"/>
            </a:xfrm>
            <a:prstGeom prst="rect">
              <a:avLst/>
            </a:prstGeom>
            <a:solidFill>
              <a:srgbClr val="A3A3A3"/>
            </a:solidFill>
            <a:ln/>
          </p:spPr>
        </p:sp>
        <p:sp>
          <p:nvSpPr>
            <p:cNvPr id="126" name="svg2_114"/>
            <p:cNvSpPr txBox="1"/>
            <p:nvPr/>
          </p:nvSpPr>
          <p:spPr>
            <a:xfrm>
              <a:off x="1983059" y="7173834"/>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13,1</a:t>
              </a:r>
              <a:endParaRPr lang="en-US" sz="557" dirty="0"/>
            </a:p>
          </p:txBody>
        </p:sp>
        <p:sp>
          <p:nvSpPr>
            <p:cNvPr id="127" name="svg2_115"/>
            <p:cNvSpPr txBox="1"/>
            <p:nvPr/>
          </p:nvSpPr>
          <p:spPr>
            <a:xfrm>
              <a:off x="1922617" y="7395759"/>
              <a:ext cx="16779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29E</a:t>
              </a:r>
              <a:endParaRPr lang="en-US" sz="587" dirty="0"/>
            </a:p>
          </p:txBody>
        </p:sp>
        <p:sp>
          <p:nvSpPr>
            <p:cNvPr id="128" name="svg2_116"/>
            <p:cNvSpPr/>
            <p:nvPr/>
          </p:nvSpPr>
          <p:spPr>
            <a:xfrm>
              <a:off x="2222175" y="7235190"/>
              <a:ext cx="125456" cy="148407"/>
            </a:xfrm>
            <a:prstGeom prst="rect">
              <a:avLst/>
            </a:prstGeom>
            <a:solidFill>
              <a:srgbClr val="7B1E2B"/>
            </a:solidFill>
            <a:ln/>
          </p:spPr>
        </p:sp>
        <p:sp>
          <p:nvSpPr>
            <p:cNvPr id="129" name="svg2_117"/>
            <p:cNvSpPr txBox="1"/>
            <p:nvPr/>
          </p:nvSpPr>
          <p:spPr>
            <a:xfrm>
              <a:off x="2194103" y="7139544"/>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17,0</a:t>
              </a:r>
              <a:endParaRPr lang="en-US" sz="557" dirty="0"/>
            </a:p>
          </p:txBody>
        </p:sp>
        <p:sp>
          <p:nvSpPr>
            <p:cNvPr id="130" name="svg2_118"/>
            <p:cNvSpPr/>
            <p:nvPr/>
          </p:nvSpPr>
          <p:spPr>
            <a:xfrm>
              <a:off x="2357415" y="7254850"/>
              <a:ext cx="125456" cy="128748"/>
            </a:xfrm>
            <a:prstGeom prst="rect">
              <a:avLst/>
            </a:prstGeom>
            <a:solidFill>
              <a:srgbClr val="A3A3A3"/>
            </a:solidFill>
            <a:ln/>
          </p:spPr>
        </p:sp>
        <p:sp>
          <p:nvSpPr>
            <p:cNvPr id="131" name="svg2_119"/>
            <p:cNvSpPr txBox="1"/>
            <p:nvPr/>
          </p:nvSpPr>
          <p:spPr>
            <a:xfrm>
              <a:off x="2329617" y="7159203"/>
              <a:ext cx="183154" cy="104790"/>
            </a:xfrm>
            <a:prstGeom prst="rect">
              <a:avLst/>
            </a:prstGeom>
            <a:noFill/>
            <a:ln/>
          </p:spPr>
          <p:txBody>
            <a:bodyPr wrap="none" lIns="0" tIns="0" rIns="0" bIns="0" rtlCol="0" anchor="ctr"/>
            <a:lstStyle/>
            <a:p>
              <a:pPr algn="ctr" indent="0" marL="0">
                <a:buNone/>
              </a:pPr>
              <a:r>
                <a:rPr lang="en-US" sz="557" dirty="0">
                  <a:solidFill>
                    <a:srgbClr val="262626"/>
                  </a:solidFill>
                  <a:latin typeface="Calibri" pitchFamily="34" charset="0"/>
                  <a:ea typeface="Calibri" pitchFamily="34" charset="-122"/>
                  <a:cs typeface="Calibri" pitchFamily="34" charset="-120"/>
                </a:rPr>
                <a:t>14,8</a:t>
              </a:r>
              <a:endParaRPr lang="en-US" sz="557" dirty="0"/>
            </a:p>
          </p:txBody>
        </p:sp>
        <p:sp>
          <p:nvSpPr>
            <p:cNvPr id="132" name="svg2_120"/>
            <p:cNvSpPr txBox="1"/>
            <p:nvPr/>
          </p:nvSpPr>
          <p:spPr>
            <a:xfrm>
              <a:off x="2269175" y="7395759"/>
              <a:ext cx="167792" cy="104790"/>
            </a:xfrm>
            <a:prstGeom prst="rect">
              <a:avLst/>
            </a:prstGeom>
            <a:noFill/>
            <a:ln/>
          </p:spPr>
          <p:txBody>
            <a:bodyPr wrap="none" lIns="0" tIns="0" rIns="0" bIns="0" rtlCol="0" anchor="ctr"/>
            <a:lstStyle/>
            <a:p>
              <a:pPr algn="ctr" indent="0" marL="0">
                <a:buNone/>
              </a:pPr>
              <a:r>
                <a:rPr lang="en-US" sz="587" b="1" dirty="0">
                  <a:solidFill>
                    <a:srgbClr val="666666"/>
                  </a:solidFill>
                  <a:latin typeface="Calibri" pitchFamily="34" charset="0"/>
                  <a:ea typeface="Calibri" pitchFamily="34" charset="-122"/>
                  <a:cs typeface="Calibri" pitchFamily="34" charset="-120"/>
                </a:rPr>
                <a:t>30E</a:t>
              </a:r>
              <a:endParaRPr lang="en-US" sz="587" dirty="0"/>
            </a:p>
          </p:txBody>
        </p:sp>
        <p:sp>
          <p:nvSpPr>
            <p:cNvPr id="133" name="svg2_121"/>
            <p:cNvSpPr/>
            <p:nvPr/>
          </p:nvSpPr>
          <p:spPr>
            <a:xfrm>
              <a:off x="444856" y="7383597"/>
              <a:ext cx="2081083" cy="0"/>
            </a:xfrm>
            <a:prstGeom prst="line">
              <a:avLst/>
            </a:prstGeom>
            <a:noFill/>
            <a:ln w="6858">
              <a:solidFill>
                <a:srgbClr val="8C8C8C"/>
              </a:solidFill>
              <a:prstDash val="solid"/>
            </a:ln>
          </p:spPr>
        </p:sp>
        <p:sp>
          <p:nvSpPr>
            <p:cNvPr id="134" name="svg2_122"/>
            <p:cNvSpPr/>
            <p:nvPr/>
          </p:nvSpPr>
          <p:spPr>
            <a:xfrm>
              <a:off x="444856" y="6778813"/>
              <a:ext cx="60899" cy="60899"/>
            </a:xfrm>
            <a:prstGeom prst="rect">
              <a:avLst/>
            </a:prstGeom>
            <a:solidFill>
              <a:srgbClr val="7B1E2B"/>
            </a:solidFill>
            <a:ln/>
          </p:spPr>
        </p:sp>
        <p:sp>
          <p:nvSpPr>
            <p:cNvPr id="135" name="svg2_123"/>
            <p:cNvSpPr txBox="1"/>
            <p:nvPr/>
          </p:nvSpPr>
          <p:spPr>
            <a:xfrm>
              <a:off x="528249" y="6757599"/>
              <a:ext cx="272308"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CAPEX</a:t>
              </a:r>
              <a:endParaRPr lang="en-US" sz="587" dirty="0"/>
            </a:p>
          </p:txBody>
        </p:sp>
        <p:sp>
          <p:nvSpPr>
            <p:cNvPr id="136" name="svg2_124"/>
            <p:cNvSpPr/>
            <p:nvPr/>
          </p:nvSpPr>
          <p:spPr>
            <a:xfrm>
              <a:off x="791870" y="6778813"/>
              <a:ext cx="60899" cy="60899"/>
            </a:xfrm>
            <a:prstGeom prst="rect">
              <a:avLst/>
            </a:prstGeom>
            <a:solidFill>
              <a:srgbClr val="A3A3A3"/>
            </a:solidFill>
            <a:ln/>
          </p:spPr>
        </p:sp>
        <p:sp>
          <p:nvSpPr>
            <p:cNvPr id="137" name="svg2_125"/>
            <p:cNvSpPr txBox="1"/>
            <p:nvPr/>
          </p:nvSpPr>
          <p:spPr>
            <a:xfrm>
              <a:off x="875721" y="6757599"/>
              <a:ext cx="361828" cy="104790"/>
            </a:xfrm>
            <a:prstGeom prst="rect">
              <a:avLst/>
            </a:prstGeom>
            <a:noFill/>
            <a:ln/>
          </p:spPr>
          <p:txBody>
            <a:bodyPr wrap="none" lIns="0" tIns="0" rIns="0" bIns="0" rtlCol="0" anchor="ctr"/>
            <a:lstStyle/>
            <a:p>
              <a:pPr algn="l" indent="0" marL="0">
                <a:buNone/>
              </a:pPr>
              <a:r>
                <a:rPr lang="en-US" sz="587" dirty="0">
                  <a:solidFill>
                    <a:srgbClr val="666666"/>
                  </a:solidFill>
                  <a:latin typeface="Calibri" pitchFamily="34" charset="0"/>
                  <a:ea typeface="Calibri" pitchFamily="34" charset="-122"/>
                  <a:cs typeface="Calibri" pitchFamily="34" charset="-120"/>
                </a:rPr>
                <a:t>Khấu hao</a:t>
              </a:r>
              <a:endParaRPr lang="en-US" sz="587" dirty="0"/>
            </a:p>
          </p:txBody>
        </p:sp>
      </p:grpSp>
      <p:grpSp>
        <p:nvGrpSpPr>
          <p:cNvPr id="222" name="Fig. 36 – biểu đồ"/>
          <p:cNvGrpSpPr/>
          <p:nvPr/>
        </p:nvGrpSpPr>
        <p:grpSpPr>
          <a:xfrm>
            <a:off x="444856" y="7620701"/>
            <a:ext cx="2081083" cy="709117"/>
            <a:chOff x="444856" y="7620701"/>
            <a:chExt cx="2081083" cy="709117"/>
          </a:xfrm>
        </p:grpSpPr>
        <p:sp>
          <p:nvSpPr>
            <p:cNvPr id="138" name="svg3_126"/>
            <p:cNvSpPr/>
            <p:nvPr/>
          </p:nvSpPr>
          <p:spPr>
            <a:xfrm>
              <a:off x="791596" y="7651425"/>
              <a:ext cx="1734342" cy="559521"/>
            </a:xfrm>
            <a:prstGeom prst="rect">
              <a:avLst/>
            </a:prstGeom>
            <a:solidFill>
              <a:srgbClr val="F3F1F1"/>
            </a:solidFill>
            <a:ln/>
          </p:spPr>
        </p:sp>
        <p:sp>
          <p:nvSpPr>
            <p:cNvPr id="139" name="svg3_127"/>
            <p:cNvSpPr/>
            <p:nvPr/>
          </p:nvSpPr>
          <p:spPr>
            <a:xfrm>
              <a:off x="510692" y="7785567"/>
              <a:ext cx="215067" cy="8961"/>
            </a:xfrm>
            <a:prstGeom prst="rect">
              <a:avLst/>
            </a:prstGeom>
            <a:solidFill>
              <a:srgbClr val="7B1E2B"/>
            </a:solidFill>
            <a:ln/>
          </p:spPr>
        </p:sp>
        <p:sp>
          <p:nvSpPr>
            <p:cNvPr id="140" name="svg3_128"/>
            <p:cNvSpPr txBox="1"/>
            <p:nvPr/>
          </p:nvSpPr>
          <p:spPr>
            <a:xfrm>
              <a:off x="539770" y="7676571"/>
              <a:ext cx="16340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1,2</a:t>
              </a:r>
              <a:endParaRPr lang="en-US" sz="649" dirty="0"/>
            </a:p>
          </p:txBody>
        </p:sp>
        <p:sp>
          <p:nvSpPr>
            <p:cNvPr id="141" name="svg3_129"/>
            <p:cNvSpPr txBox="1"/>
            <p:nvPr/>
          </p:nvSpPr>
          <p:spPr>
            <a:xfrm>
              <a:off x="531541" y="8225028"/>
              <a:ext cx="17858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25A</a:t>
              </a:r>
              <a:endParaRPr lang="en-US" sz="587" dirty="0"/>
            </a:p>
          </p:txBody>
        </p:sp>
        <p:sp>
          <p:nvSpPr>
            <p:cNvPr id="142" name="svg3_130"/>
            <p:cNvSpPr/>
            <p:nvPr/>
          </p:nvSpPr>
          <p:spPr>
            <a:xfrm>
              <a:off x="857616" y="7794528"/>
              <a:ext cx="215067" cy="36393"/>
            </a:xfrm>
            <a:prstGeom prst="rect">
              <a:avLst/>
            </a:prstGeom>
            <a:solidFill>
              <a:srgbClr val="404040"/>
            </a:solidFill>
            <a:ln/>
          </p:spPr>
        </p:sp>
        <p:sp>
          <p:nvSpPr>
            <p:cNvPr id="143" name="svg3_131"/>
            <p:cNvSpPr txBox="1"/>
            <p:nvPr/>
          </p:nvSpPr>
          <p:spPr>
            <a:xfrm>
              <a:off x="863102" y="7833665"/>
              <a:ext cx="210129"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−4,9</a:t>
              </a:r>
              <a:endParaRPr lang="en-US" sz="649" dirty="0"/>
            </a:p>
          </p:txBody>
        </p:sp>
        <p:sp>
          <p:nvSpPr>
            <p:cNvPr id="144" name="svg3_132"/>
            <p:cNvSpPr txBox="1"/>
            <p:nvPr/>
          </p:nvSpPr>
          <p:spPr>
            <a:xfrm>
              <a:off x="882030" y="8225028"/>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26E</a:t>
              </a:r>
              <a:endParaRPr lang="en-US" sz="587" dirty="0"/>
            </a:p>
          </p:txBody>
        </p:sp>
        <p:sp>
          <p:nvSpPr>
            <p:cNvPr id="145" name="svg3_133"/>
            <p:cNvSpPr/>
            <p:nvPr/>
          </p:nvSpPr>
          <p:spPr>
            <a:xfrm>
              <a:off x="1204448" y="7794528"/>
              <a:ext cx="215067" cy="318211"/>
            </a:xfrm>
            <a:prstGeom prst="rect">
              <a:avLst/>
            </a:prstGeom>
            <a:solidFill>
              <a:srgbClr val="404040"/>
            </a:solidFill>
            <a:ln/>
          </p:spPr>
        </p:sp>
        <p:sp>
          <p:nvSpPr>
            <p:cNvPr id="146" name="svg3_134"/>
            <p:cNvSpPr txBox="1"/>
            <p:nvPr/>
          </p:nvSpPr>
          <p:spPr>
            <a:xfrm>
              <a:off x="1185702" y="8115391"/>
              <a:ext cx="257678"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−42,6</a:t>
              </a:r>
              <a:endParaRPr lang="en-US" sz="649" dirty="0"/>
            </a:p>
          </p:txBody>
        </p:sp>
        <p:sp>
          <p:nvSpPr>
            <p:cNvPr id="147" name="svg3_135"/>
            <p:cNvSpPr txBox="1"/>
            <p:nvPr/>
          </p:nvSpPr>
          <p:spPr>
            <a:xfrm>
              <a:off x="1228588" y="8225028"/>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27E</a:t>
              </a:r>
              <a:endParaRPr lang="en-US" sz="587" dirty="0"/>
            </a:p>
          </p:txBody>
        </p:sp>
        <p:sp>
          <p:nvSpPr>
            <p:cNvPr id="148" name="svg3_136"/>
            <p:cNvSpPr/>
            <p:nvPr/>
          </p:nvSpPr>
          <p:spPr>
            <a:xfrm>
              <a:off x="1551280" y="7794528"/>
              <a:ext cx="215067" cy="27523"/>
            </a:xfrm>
            <a:prstGeom prst="rect">
              <a:avLst/>
            </a:prstGeom>
            <a:solidFill>
              <a:srgbClr val="404040"/>
            </a:solidFill>
            <a:ln/>
          </p:spPr>
        </p:sp>
        <p:sp>
          <p:nvSpPr>
            <p:cNvPr id="149" name="svg3_137"/>
            <p:cNvSpPr txBox="1"/>
            <p:nvPr/>
          </p:nvSpPr>
          <p:spPr>
            <a:xfrm>
              <a:off x="1557040" y="7824795"/>
              <a:ext cx="210129"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−3,7</a:t>
              </a:r>
              <a:endParaRPr lang="en-US" sz="649" dirty="0"/>
            </a:p>
          </p:txBody>
        </p:sp>
        <p:sp>
          <p:nvSpPr>
            <p:cNvPr id="150" name="svg3_138"/>
            <p:cNvSpPr txBox="1"/>
            <p:nvPr/>
          </p:nvSpPr>
          <p:spPr>
            <a:xfrm>
              <a:off x="1576060" y="8225028"/>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28E</a:t>
              </a:r>
              <a:endParaRPr lang="en-US" sz="587" dirty="0"/>
            </a:p>
          </p:txBody>
        </p:sp>
        <p:sp>
          <p:nvSpPr>
            <p:cNvPr id="151" name="svg3_139"/>
            <p:cNvSpPr/>
            <p:nvPr/>
          </p:nvSpPr>
          <p:spPr>
            <a:xfrm>
              <a:off x="1898112" y="7767554"/>
              <a:ext cx="215067" cy="26975"/>
            </a:xfrm>
            <a:prstGeom prst="rect">
              <a:avLst/>
            </a:prstGeom>
            <a:pattFill prst="wdUpDiag">
              <a:fgClr>
                <a:srgbClr val="7B1E2B"/>
              </a:fgClr>
              <a:bgClr>
                <a:srgbClr val="FFFFFF"/>
              </a:bgClr>
            </a:pattFill>
            <a:ln w="7874">
              <a:solidFill>
                <a:srgbClr val="7B1E2B"/>
              </a:solidFill>
              <a:prstDash val="solid"/>
            </a:ln>
          </p:spPr>
        </p:sp>
        <p:sp>
          <p:nvSpPr>
            <p:cNvPr id="152" name="svg3_140"/>
            <p:cNvSpPr txBox="1"/>
            <p:nvPr/>
          </p:nvSpPr>
          <p:spPr>
            <a:xfrm>
              <a:off x="1926915" y="7657917"/>
              <a:ext cx="16340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3,6</a:t>
              </a:r>
              <a:endParaRPr lang="en-US" sz="649" dirty="0"/>
            </a:p>
          </p:txBody>
        </p:sp>
        <p:sp>
          <p:nvSpPr>
            <p:cNvPr id="153" name="svg3_141"/>
            <p:cNvSpPr txBox="1"/>
            <p:nvPr/>
          </p:nvSpPr>
          <p:spPr>
            <a:xfrm>
              <a:off x="1922526" y="8225028"/>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29E</a:t>
              </a:r>
              <a:endParaRPr lang="en-US" sz="587" dirty="0"/>
            </a:p>
          </p:txBody>
        </p:sp>
        <p:sp>
          <p:nvSpPr>
            <p:cNvPr id="154" name="svg3_142"/>
            <p:cNvSpPr/>
            <p:nvPr/>
          </p:nvSpPr>
          <p:spPr>
            <a:xfrm>
              <a:off x="2244943" y="7729880"/>
              <a:ext cx="215067" cy="64557"/>
            </a:xfrm>
            <a:prstGeom prst="rect">
              <a:avLst/>
            </a:prstGeom>
            <a:pattFill prst="wdUpDiag">
              <a:fgClr>
                <a:srgbClr val="7B1E2B"/>
              </a:fgClr>
              <a:bgClr>
                <a:srgbClr val="FFFFFF"/>
              </a:bgClr>
            </a:pattFill>
            <a:ln w="7874">
              <a:solidFill>
                <a:srgbClr val="7B1E2B"/>
              </a:solidFill>
              <a:prstDash val="solid"/>
            </a:ln>
          </p:spPr>
        </p:sp>
        <p:sp>
          <p:nvSpPr>
            <p:cNvPr id="155" name="svg3_143"/>
            <p:cNvSpPr txBox="1"/>
            <p:nvPr/>
          </p:nvSpPr>
          <p:spPr>
            <a:xfrm>
              <a:off x="2273381" y="7620701"/>
              <a:ext cx="16340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8,7</a:t>
              </a:r>
              <a:endParaRPr lang="en-US" sz="649" dirty="0"/>
            </a:p>
          </p:txBody>
        </p:sp>
        <p:sp>
          <p:nvSpPr>
            <p:cNvPr id="156" name="svg3_144"/>
            <p:cNvSpPr txBox="1"/>
            <p:nvPr/>
          </p:nvSpPr>
          <p:spPr>
            <a:xfrm>
              <a:off x="2269084" y="8225028"/>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30E</a:t>
              </a:r>
              <a:endParaRPr lang="en-US" sz="587" dirty="0"/>
            </a:p>
          </p:txBody>
        </p:sp>
        <p:sp>
          <p:nvSpPr>
            <p:cNvPr id="157" name="svg3_145"/>
            <p:cNvSpPr/>
            <p:nvPr/>
          </p:nvSpPr>
          <p:spPr>
            <a:xfrm>
              <a:off x="444856" y="7794528"/>
              <a:ext cx="2081083" cy="0"/>
            </a:xfrm>
            <a:prstGeom prst="line">
              <a:avLst/>
            </a:prstGeom>
            <a:noFill/>
            <a:ln w="6858">
              <a:solidFill>
                <a:srgbClr val="8C8C8C"/>
              </a:solidFill>
              <a:prstDash val="solid"/>
            </a:ln>
          </p:spPr>
        </p:sp>
      </p:grpSp>
      <p:grpSp>
        <p:nvGrpSpPr>
          <p:cNvPr id="223" name="Fig. 38 – biểu đồ"/>
          <p:cNvGrpSpPr/>
          <p:nvPr/>
        </p:nvGrpSpPr>
        <p:grpSpPr>
          <a:xfrm>
            <a:off x="404073" y="8932225"/>
            <a:ext cx="2171791" cy="756757"/>
            <a:chOff x="404073" y="8932225"/>
            <a:chExt cx="2171791" cy="756757"/>
          </a:xfrm>
        </p:grpSpPr>
        <p:sp>
          <p:nvSpPr>
            <p:cNvPr id="158" name="svg4_146"/>
            <p:cNvSpPr/>
            <p:nvPr/>
          </p:nvSpPr>
          <p:spPr>
            <a:xfrm>
              <a:off x="786384" y="8963315"/>
              <a:ext cx="1523665" cy="608625"/>
            </a:xfrm>
            <a:prstGeom prst="rect">
              <a:avLst/>
            </a:prstGeom>
            <a:solidFill>
              <a:srgbClr val="F3F1F1"/>
            </a:solidFill>
            <a:ln/>
          </p:spPr>
        </p:sp>
        <p:sp>
          <p:nvSpPr>
            <p:cNvPr id="159" name="svg4_147"/>
            <p:cNvSpPr/>
            <p:nvPr/>
          </p:nvSpPr>
          <p:spPr>
            <a:xfrm>
              <a:off x="601858" y="9571939"/>
              <a:ext cx="1688531" cy="0"/>
            </a:xfrm>
            <a:prstGeom prst="line">
              <a:avLst/>
            </a:prstGeom>
            <a:noFill/>
            <a:ln w="4953">
              <a:solidFill>
                <a:srgbClr val="E4E4E4"/>
              </a:solidFill>
              <a:prstDash val="solid"/>
            </a:ln>
          </p:spPr>
        </p:sp>
        <p:sp>
          <p:nvSpPr>
            <p:cNvPr id="160" name="svg4_148"/>
            <p:cNvSpPr txBox="1"/>
            <p:nvPr/>
          </p:nvSpPr>
          <p:spPr>
            <a:xfrm>
              <a:off x="444764" y="9521281"/>
              <a:ext cx="143927"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0%</a:t>
              </a:r>
              <a:endParaRPr lang="en-US" sz="557" dirty="0"/>
            </a:p>
          </p:txBody>
        </p:sp>
        <p:sp>
          <p:nvSpPr>
            <p:cNvPr id="161" name="svg4_149"/>
            <p:cNvSpPr/>
            <p:nvPr/>
          </p:nvSpPr>
          <p:spPr>
            <a:xfrm>
              <a:off x="601858" y="9424721"/>
              <a:ext cx="1688531" cy="0"/>
            </a:xfrm>
            <a:prstGeom prst="line">
              <a:avLst/>
            </a:prstGeom>
            <a:noFill/>
            <a:ln w="4953">
              <a:solidFill>
                <a:srgbClr val="E4E4E4"/>
              </a:solidFill>
              <a:prstDash val="solid"/>
            </a:ln>
          </p:spPr>
        </p:sp>
        <p:sp>
          <p:nvSpPr>
            <p:cNvPr id="162" name="svg4_150"/>
            <p:cNvSpPr txBox="1"/>
            <p:nvPr/>
          </p:nvSpPr>
          <p:spPr>
            <a:xfrm>
              <a:off x="444764" y="9374063"/>
              <a:ext cx="143927"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5%</a:t>
              </a:r>
              <a:endParaRPr lang="en-US" sz="557" dirty="0"/>
            </a:p>
          </p:txBody>
        </p:sp>
        <p:sp>
          <p:nvSpPr>
            <p:cNvPr id="163" name="svg4_151"/>
            <p:cNvSpPr/>
            <p:nvPr/>
          </p:nvSpPr>
          <p:spPr>
            <a:xfrm>
              <a:off x="601858" y="9277411"/>
              <a:ext cx="1688531" cy="0"/>
            </a:xfrm>
            <a:prstGeom prst="line">
              <a:avLst/>
            </a:prstGeom>
            <a:noFill/>
            <a:ln w="4953">
              <a:solidFill>
                <a:srgbClr val="E4E4E4"/>
              </a:solidFill>
              <a:prstDash val="solid"/>
            </a:ln>
          </p:spPr>
        </p:sp>
        <p:sp>
          <p:nvSpPr>
            <p:cNvPr id="164" name="svg4_152"/>
            <p:cNvSpPr txBox="1"/>
            <p:nvPr/>
          </p:nvSpPr>
          <p:spPr>
            <a:xfrm>
              <a:off x="404073" y="9226753"/>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10%</a:t>
              </a:r>
              <a:endParaRPr lang="en-US" sz="557" dirty="0"/>
            </a:p>
          </p:txBody>
        </p:sp>
        <p:sp>
          <p:nvSpPr>
            <p:cNvPr id="165" name="svg4_153"/>
            <p:cNvSpPr/>
            <p:nvPr/>
          </p:nvSpPr>
          <p:spPr>
            <a:xfrm>
              <a:off x="601858" y="9130193"/>
              <a:ext cx="1688531" cy="0"/>
            </a:xfrm>
            <a:prstGeom prst="line">
              <a:avLst/>
            </a:prstGeom>
            <a:noFill/>
            <a:ln w="4953">
              <a:solidFill>
                <a:srgbClr val="E4E4E4"/>
              </a:solidFill>
              <a:prstDash val="solid"/>
            </a:ln>
          </p:spPr>
        </p:sp>
        <p:sp>
          <p:nvSpPr>
            <p:cNvPr id="166" name="svg4_154"/>
            <p:cNvSpPr txBox="1"/>
            <p:nvPr/>
          </p:nvSpPr>
          <p:spPr>
            <a:xfrm>
              <a:off x="404073" y="9079535"/>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15%</a:t>
              </a:r>
              <a:endParaRPr lang="en-US" sz="557" dirty="0"/>
            </a:p>
          </p:txBody>
        </p:sp>
        <p:sp>
          <p:nvSpPr>
            <p:cNvPr id="167" name="svg4_155"/>
            <p:cNvSpPr/>
            <p:nvPr/>
          </p:nvSpPr>
          <p:spPr>
            <a:xfrm>
              <a:off x="601858" y="8982974"/>
              <a:ext cx="1688531" cy="0"/>
            </a:xfrm>
            <a:prstGeom prst="line">
              <a:avLst/>
            </a:prstGeom>
            <a:noFill/>
            <a:ln w="4953">
              <a:solidFill>
                <a:srgbClr val="E4E4E4"/>
              </a:solidFill>
              <a:prstDash val="solid"/>
            </a:ln>
          </p:spPr>
        </p:sp>
        <p:sp>
          <p:nvSpPr>
            <p:cNvPr id="168" name="svg4_156"/>
            <p:cNvSpPr txBox="1"/>
            <p:nvPr/>
          </p:nvSpPr>
          <p:spPr>
            <a:xfrm>
              <a:off x="404073" y="8932225"/>
              <a:ext cx="184800" cy="104790"/>
            </a:xfrm>
            <a:prstGeom prst="rect">
              <a:avLst/>
            </a:prstGeom>
            <a:noFill/>
            <a:ln/>
          </p:spPr>
          <p:txBody>
            <a:bodyPr wrap="none" lIns="0" tIns="0" rIns="0" bIns="0" rtlCol="0" anchor="ctr"/>
            <a:lstStyle/>
            <a:p>
              <a:pPr algn="r" indent="0" marL="0">
                <a:buNone/>
              </a:pPr>
              <a:r>
                <a:rPr lang="en-US" sz="557" dirty="0">
                  <a:solidFill>
                    <a:srgbClr val="666666"/>
                  </a:solidFill>
                  <a:latin typeface="Calibri" pitchFamily="34" charset="0"/>
                  <a:ea typeface="Calibri" pitchFamily="34" charset="-122"/>
                  <a:cs typeface="Calibri" pitchFamily="34" charset="-120"/>
                </a:rPr>
                <a:t>20%</a:t>
              </a:r>
              <a:endParaRPr lang="en-US" sz="557" dirty="0"/>
            </a:p>
          </p:txBody>
        </p:sp>
        <p:sp>
          <p:nvSpPr>
            <p:cNvPr id="169" name="svg4_157"/>
            <p:cNvSpPr txBox="1"/>
            <p:nvPr/>
          </p:nvSpPr>
          <p:spPr>
            <a:xfrm>
              <a:off x="534375" y="9584192"/>
              <a:ext cx="17858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25A</a:t>
              </a:r>
              <a:endParaRPr lang="en-US" sz="587" dirty="0"/>
            </a:p>
          </p:txBody>
        </p:sp>
        <p:sp>
          <p:nvSpPr>
            <p:cNvPr id="170" name="svg4_158"/>
            <p:cNvSpPr txBox="1"/>
            <p:nvPr/>
          </p:nvSpPr>
          <p:spPr>
            <a:xfrm>
              <a:off x="868223" y="9584192"/>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26E</a:t>
              </a:r>
              <a:endParaRPr lang="en-US" sz="587" dirty="0"/>
            </a:p>
          </p:txBody>
        </p:sp>
        <p:sp>
          <p:nvSpPr>
            <p:cNvPr id="171" name="svg4_159"/>
            <p:cNvSpPr txBox="1"/>
            <p:nvPr/>
          </p:nvSpPr>
          <p:spPr>
            <a:xfrm>
              <a:off x="1198138" y="9584192"/>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27E</a:t>
              </a:r>
              <a:endParaRPr lang="en-US" sz="587" dirty="0"/>
            </a:p>
          </p:txBody>
        </p:sp>
        <p:sp>
          <p:nvSpPr>
            <p:cNvPr id="172" name="svg4_160"/>
            <p:cNvSpPr txBox="1"/>
            <p:nvPr/>
          </p:nvSpPr>
          <p:spPr>
            <a:xfrm>
              <a:off x="1528054" y="9584192"/>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28E</a:t>
              </a:r>
              <a:endParaRPr lang="en-US" sz="587" dirty="0"/>
            </a:p>
          </p:txBody>
        </p:sp>
        <p:sp>
          <p:nvSpPr>
            <p:cNvPr id="173" name="svg4_161"/>
            <p:cNvSpPr txBox="1"/>
            <p:nvPr/>
          </p:nvSpPr>
          <p:spPr>
            <a:xfrm>
              <a:off x="1857878" y="9584192"/>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29E</a:t>
              </a:r>
              <a:endParaRPr lang="en-US" sz="587" dirty="0"/>
            </a:p>
          </p:txBody>
        </p:sp>
        <p:sp>
          <p:nvSpPr>
            <p:cNvPr id="174" name="svg4_162"/>
            <p:cNvSpPr txBox="1"/>
            <p:nvPr/>
          </p:nvSpPr>
          <p:spPr>
            <a:xfrm>
              <a:off x="2187702" y="9584192"/>
              <a:ext cx="167792"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30E</a:t>
              </a:r>
              <a:endParaRPr lang="en-US" sz="587" dirty="0"/>
            </a:p>
          </p:txBody>
        </p:sp>
        <p:sp>
          <p:nvSpPr>
            <p:cNvPr id="175" name="svg4_163"/>
            <p:cNvSpPr/>
            <p:nvPr/>
          </p:nvSpPr>
          <p:spPr>
            <a:xfrm>
              <a:off x="621518" y="9080358"/>
              <a:ext cx="1649212" cy="342077"/>
            </a:xfrm>
            <a:custGeom>
              <a:avLst/>
              <a:gdLst/>
              <a:ahLst/>
              <a:cxnLst/>
              <a:rect l="l" t="t" r="r" b="b"/>
              <a:pathLst>
                <a:path w="1649212" h="342077">
                  <a:moveTo>
                    <a:pt x="0" y="116312"/>
                  </a:moveTo>
                  <a:lnTo>
                    <a:pt x="329824" y="0"/>
                  </a:lnTo>
                  <a:lnTo>
                    <a:pt x="659740" y="256123"/>
                  </a:lnTo>
                  <a:lnTo>
                    <a:pt x="989564" y="342077"/>
                  </a:lnTo>
                  <a:lnTo>
                    <a:pt x="1319388" y="184434"/>
                  </a:lnTo>
                  <a:lnTo>
                    <a:pt x="1649212" y="82753"/>
                  </a:lnTo>
                </a:path>
              </a:pathLst>
            </a:custGeom>
            <a:noFill/>
            <a:ln w="15748">
              <a:solidFill>
                <a:srgbClr val="7B1E2B"/>
              </a:solidFill>
              <a:prstDash val="solid"/>
            </a:ln>
          </p:spPr>
        </p:sp>
        <p:sp>
          <p:nvSpPr>
            <p:cNvPr id="176" name="svg4_164"/>
            <p:cNvSpPr/>
            <p:nvPr/>
          </p:nvSpPr>
          <p:spPr>
            <a:xfrm>
              <a:off x="600944" y="9176095"/>
              <a:ext cx="41239" cy="41239"/>
            </a:xfrm>
            <a:prstGeom prst="ellipse">
              <a:avLst/>
            </a:prstGeom>
            <a:solidFill>
              <a:srgbClr val="7B1E2B"/>
            </a:solidFill>
            <a:ln w="7874">
              <a:solidFill>
                <a:srgbClr val="FFFFFF"/>
              </a:solidFill>
              <a:prstDash val="solid"/>
            </a:ln>
          </p:spPr>
        </p:sp>
        <p:sp>
          <p:nvSpPr>
            <p:cNvPr id="177" name="svg4_165"/>
            <p:cNvSpPr/>
            <p:nvPr/>
          </p:nvSpPr>
          <p:spPr>
            <a:xfrm>
              <a:off x="930768" y="9059784"/>
              <a:ext cx="41239" cy="41239"/>
            </a:xfrm>
            <a:prstGeom prst="ellipse">
              <a:avLst/>
            </a:prstGeom>
            <a:solidFill>
              <a:srgbClr val="7B1E2B"/>
            </a:solidFill>
            <a:ln w="7874">
              <a:solidFill>
                <a:srgbClr val="FFFFFF"/>
              </a:solidFill>
              <a:prstDash val="solid"/>
            </a:ln>
          </p:spPr>
        </p:sp>
        <p:sp>
          <p:nvSpPr>
            <p:cNvPr id="178" name="svg4_166"/>
            <p:cNvSpPr/>
            <p:nvPr/>
          </p:nvSpPr>
          <p:spPr>
            <a:xfrm>
              <a:off x="1260592" y="9315907"/>
              <a:ext cx="41239" cy="41239"/>
            </a:xfrm>
            <a:prstGeom prst="ellipse">
              <a:avLst/>
            </a:prstGeom>
            <a:solidFill>
              <a:srgbClr val="7B1E2B"/>
            </a:solidFill>
            <a:ln w="7874">
              <a:solidFill>
                <a:srgbClr val="FFFFFF"/>
              </a:solidFill>
              <a:prstDash val="solid"/>
            </a:ln>
          </p:spPr>
        </p:sp>
        <p:sp>
          <p:nvSpPr>
            <p:cNvPr id="179" name="svg4_167"/>
            <p:cNvSpPr/>
            <p:nvPr/>
          </p:nvSpPr>
          <p:spPr>
            <a:xfrm>
              <a:off x="1590507" y="9401861"/>
              <a:ext cx="41239" cy="41239"/>
            </a:xfrm>
            <a:prstGeom prst="ellipse">
              <a:avLst/>
            </a:prstGeom>
            <a:solidFill>
              <a:srgbClr val="7B1E2B"/>
            </a:solidFill>
            <a:ln w="7874">
              <a:solidFill>
                <a:srgbClr val="FFFFFF"/>
              </a:solidFill>
              <a:prstDash val="solid"/>
            </a:ln>
          </p:spPr>
        </p:sp>
        <p:sp>
          <p:nvSpPr>
            <p:cNvPr id="180" name="svg4_168"/>
            <p:cNvSpPr/>
            <p:nvPr/>
          </p:nvSpPr>
          <p:spPr>
            <a:xfrm>
              <a:off x="1920331" y="9244218"/>
              <a:ext cx="41239" cy="41239"/>
            </a:xfrm>
            <a:prstGeom prst="ellipse">
              <a:avLst/>
            </a:prstGeom>
            <a:solidFill>
              <a:srgbClr val="7B1E2B"/>
            </a:solidFill>
            <a:ln w="7874">
              <a:solidFill>
                <a:srgbClr val="FFFFFF"/>
              </a:solidFill>
              <a:prstDash val="solid"/>
            </a:ln>
          </p:spPr>
        </p:sp>
        <p:sp>
          <p:nvSpPr>
            <p:cNvPr id="181" name="svg4_169"/>
            <p:cNvSpPr/>
            <p:nvPr/>
          </p:nvSpPr>
          <p:spPr>
            <a:xfrm>
              <a:off x="2250156" y="9142537"/>
              <a:ext cx="41239" cy="41239"/>
            </a:xfrm>
            <a:prstGeom prst="ellipse">
              <a:avLst/>
            </a:prstGeom>
            <a:solidFill>
              <a:srgbClr val="7B1E2B"/>
            </a:solidFill>
            <a:ln w="7874">
              <a:solidFill>
                <a:srgbClr val="FFFFFF"/>
              </a:solidFill>
              <a:prstDash val="solid"/>
            </a:ln>
          </p:spPr>
        </p:sp>
        <p:sp>
          <p:nvSpPr>
            <p:cNvPr id="182" name="svg4_170"/>
            <p:cNvSpPr txBox="1"/>
            <p:nvPr/>
          </p:nvSpPr>
          <p:spPr>
            <a:xfrm>
              <a:off x="858530" y="8964686"/>
              <a:ext cx="189464" cy="104790"/>
            </a:xfrm>
            <a:prstGeom prst="rect">
              <a:avLst/>
            </a:prstGeom>
            <a:noFill/>
            <a:ln/>
          </p:spPr>
          <p:txBody>
            <a:bodyPr wrap="none" lIns="0" tIns="0" rIns="0" bIns="0" rtlCol="0" anchor="ctr"/>
            <a:lstStyle/>
            <a:p>
              <a:pPr algn="ctr" indent="0" marL="0">
                <a:buNone/>
              </a:pPr>
              <a:r>
                <a:rPr lang="en-US" sz="587" dirty="0">
                  <a:solidFill>
                    <a:srgbClr val="262626"/>
                  </a:solidFill>
                  <a:latin typeface="Calibri" pitchFamily="34" charset="0"/>
                  <a:ea typeface="Calibri" pitchFamily="34" charset="-122"/>
                  <a:cs typeface="Calibri" pitchFamily="34" charset="-120"/>
                </a:rPr>
                <a:t>17%</a:t>
              </a:r>
              <a:endParaRPr lang="en-US" sz="587" dirty="0"/>
            </a:p>
          </p:txBody>
        </p:sp>
        <p:sp>
          <p:nvSpPr>
            <p:cNvPr id="183" name="svg4_171"/>
            <p:cNvSpPr txBox="1"/>
            <p:nvPr/>
          </p:nvSpPr>
          <p:spPr>
            <a:xfrm>
              <a:off x="1539758" y="9439717"/>
              <a:ext cx="146395" cy="104790"/>
            </a:xfrm>
            <a:prstGeom prst="rect">
              <a:avLst/>
            </a:prstGeom>
            <a:noFill/>
            <a:ln/>
          </p:spPr>
          <p:txBody>
            <a:bodyPr wrap="none" lIns="0" tIns="0" rIns="0" bIns="0" rtlCol="0" anchor="ctr"/>
            <a:lstStyle/>
            <a:p>
              <a:pPr algn="ctr" indent="0" marL="0">
                <a:buNone/>
              </a:pPr>
              <a:r>
                <a:rPr lang="en-US" sz="587" dirty="0">
                  <a:solidFill>
                    <a:srgbClr val="262626"/>
                  </a:solidFill>
                  <a:latin typeface="Calibri" pitchFamily="34" charset="0"/>
                  <a:ea typeface="Calibri" pitchFamily="34" charset="-122"/>
                  <a:cs typeface="Calibri" pitchFamily="34" charset="-120"/>
                </a:rPr>
                <a:t>5%</a:t>
              </a:r>
              <a:endParaRPr lang="en-US" sz="587" dirty="0"/>
            </a:p>
          </p:txBody>
        </p:sp>
        <p:sp>
          <p:nvSpPr>
            <p:cNvPr id="184" name="svg4_172"/>
            <p:cNvSpPr txBox="1"/>
            <p:nvPr/>
          </p:nvSpPr>
          <p:spPr>
            <a:xfrm>
              <a:off x="2099828" y="9048079"/>
              <a:ext cx="189464"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14%</a:t>
              </a:r>
              <a:endParaRPr lang="en-US" sz="587" dirty="0"/>
            </a:p>
          </p:txBody>
        </p:sp>
        <p:sp>
          <p:nvSpPr>
            <p:cNvPr id="185" name="svg4_173"/>
            <p:cNvSpPr/>
            <p:nvPr/>
          </p:nvSpPr>
          <p:spPr>
            <a:xfrm>
              <a:off x="621518" y="9170335"/>
              <a:ext cx="1649212" cy="4755"/>
            </a:xfrm>
            <a:custGeom>
              <a:avLst/>
              <a:gdLst/>
              <a:ahLst/>
              <a:cxnLst/>
              <a:rect l="l" t="t" r="r" b="b"/>
              <a:pathLst>
                <a:path w="1649212" h="4755">
                  <a:moveTo>
                    <a:pt x="0" y="0"/>
                  </a:moveTo>
                  <a:lnTo>
                    <a:pt x="329824" y="0"/>
                  </a:lnTo>
                  <a:lnTo>
                    <a:pt x="659740" y="0"/>
                  </a:lnTo>
                  <a:lnTo>
                    <a:pt x="989564" y="0"/>
                  </a:lnTo>
                  <a:lnTo>
                    <a:pt x="1319388" y="0"/>
                  </a:lnTo>
                  <a:lnTo>
                    <a:pt x="1649212" y="0"/>
                  </a:lnTo>
                </a:path>
              </a:pathLst>
            </a:custGeom>
            <a:noFill/>
            <a:ln w="8890">
              <a:solidFill>
                <a:srgbClr val="404040"/>
              </a:solidFill>
              <a:prstDash val="dash"/>
            </a:ln>
          </p:spPr>
        </p:sp>
        <p:sp>
          <p:nvSpPr>
            <p:cNvPr id="186" name="svg4_174"/>
            <p:cNvSpPr txBox="1"/>
            <p:nvPr/>
          </p:nvSpPr>
          <p:spPr>
            <a:xfrm>
              <a:off x="2314986" y="9114831"/>
              <a:ext cx="219547" cy="104790"/>
            </a:xfrm>
            <a:prstGeom prst="rect">
              <a:avLst/>
            </a:prstGeom>
            <a:noFill/>
            <a:ln/>
          </p:spPr>
          <p:txBody>
            <a:bodyPr wrap="none" lIns="0" tIns="0" rIns="0" bIns="0" rtlCol="0" anchor="ctr"/>
            <a:lstStyle/>
            <a:p>
              <a:pPr algn="l" indent="0" marL="0">
                <a:buNone/>
              </a:pPr>
              <a:r>
                <a:rPr lang="en-US" sz="587" b="1" dirty="0">
                  <a:solidFill>
                    <a:srgbClr val="7B1E2B"/>
                  </a:solidFill>
                  <a:latin typeface="Calibri" pitchFamily="34" charset="0"/>
                  <a:ea typeface="Calibri" pitchFamily="34" charset="-122"/>
                  <a:cs typeface="Calibri" pitchFamily="34" charset="-120"/>
                </a:rPr>
                <a:t>ROIC</a:t>
              </a:r>
              <a:endParaRPr lang="en-US" sz="587" dirty="0"/>
            </a:p>
          </p:txBody>
        </p:sp>
        <p:sp>
          <p:nvSpPr>
            <p:cNvPr id="187" name="svg4_175"/>
            <p:cNvSpPr txBox="1"/>
            <p:nvPr/>
          </p:nvSpPr>
          <p:spPr>
            <a:xfrm>
              <a:off x="2314986" y="9193378"/>
              <a:ext cx="260878" cy="104790"/>
            </a:xfrm>
            <a:prstGeom prst="rect">
              <a:avLst/>
            </a:prstGeom>
            <a:noFill/>
            <a:ln/>
          </p:spPr>
          <p:txBody>
            <a:bodyPr wrap="none" lIns="0" tIns="0" rIns="0" bIns="0" rtlCol="0" anchor="ctr"/>
            <a:lstStyle/>
            <a:p>
              <a:pPr algn="l" indent="0" marL="0">
                <a:buNone/>
              </a:pPr>
              <a:r>
                <a:rPr lang="en-US" sz="587" b="1" dirty="0">
                  <a:solidFill>
                    <a:srgbClr val="404040"/>
                  </a:solidFill>
                  <a:latin typeface="Calibri" pitchFamily="34" charset="0"/>
                  <a:ea typeface="Calibri" pitchFamily="34" charset="-122"/>
                  <a:cs typeface="Calibri" pitchFamily="34" charset="-120"/>
                </a:rPr>
                <a:t>WACC</a:t>
              </a:r>
              <a:endParaRPr lang="en-US" sz="587" dirty="0"/>
            </a:p>
          </p:txBody>
        </p:sp>
      </p:grpSp>
      <p:sp>
        <p:nvSpPr>
          <p:cNvPr id="188" name="Text 184"/>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89" name="Text 185"/>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90" name="Text 186"/>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Dự phóng kết quả kinh doanh (BCKQKD theo chức năng)</a:t>
            </a:r>
            <a:endParaRPr lang="en-US" sz="720" dirty="0"/>
          </a:p>
        </p:txBody>
      </p:sp>
      <p:sp>
        <p:nvSpPr>
          <p:cNvPr id="191" name="Text 187"/>
          <p:cNvSpPr txBox="1"/>
          <p:nvPr/>
        </p:nvSpPr>
        <p:spPr>
          <a:xfrm>
            <a:off x="405354" y="716798"/>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92" name="Text 188"/>
          <p:cNvSpPr txBox="1"/>
          <p:nvPr/>
        </p:nvSpPr>
        <p:spPr>
          <a:xfrm>
            <a:off x="405354" y="2925440"/>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2025 (đề bài, trình bày lại theo chức năng); dự phóng (Income Statement)</a:t>
            </a:r>
            <a:endParaRPr lang="en-US" sz="600" dirty="0"/>
          </a:p>
        </p:txBody>
      </p:sp>
      <p:sp>
        <p:nvSpPr>
          <p:cNvPr id="193" name="Text 189"/>
          <p:cNvSpPr txBox="1"/>
          <p:nvPr/>
        </p:nvSpPr>
        <p:spPr>
          <a:xfrm>
            <a:off x="405354" y="3119750"/>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Biên gộp giảm năm 2028 khi khấu hao nhà máy mới vào giá vốn</a:t>
            </a:r>
            <a:endParaRPr lang="en-US" sz="720" dirty="0"/>
          </a:p>
        </p:txBody>
      </p:sp>
      <p:sp>
        <p:nvSpPr>
          <p:cNvPr id="194" name="Text 190"/>
          <p:cNvSpPr txBox="1"/>
          <p:nvPr/>
        </p:nvSpPr>
        <p:spPr>
          <a:xfrm>
            <a:off x="405354" y="335676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 doanh thu thuần</a:t>
            </a:r>
            <a:endParaRPr lang="en-US" sz="630" dirty="0"/>
          </a:p>
        </p:txBody>
      </p:sp>
      <p:sp>
        <p:nvSpPr>
          <p:cNvPr id="195" name="Text 191"/>
          <p:cNvSpPr txBox="1"/>
          <p:nvPr/>
        </p:nvSpPr>
        <p:spPr>
          <a:xfrm>
            <a:off x="405354" y="4511101"/>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(trình bày lại theo chức năng); dự phóng (Drivers, Income Statement)</a:t>
            </a:r>
            <a:endParaRPr lang="en-US" sz="600" dirty="0"/>
          </a:p>
        </p:txBody>
      </p:sp>
      <p:sp>
        <p:nvSpPr>
          <p:cNvPr id="196" name="Text 192"/>
          <p:cNvSpPr txBox="1"/>
          <p:nvPr/>
        </p:nvSpPr>
        <p:spPr>
          <a:xfrm>
            <a:off x="405354" y="4807732"/>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Tỷ lệ tái đầu tư cao hơn ngành vì AgriPack còn đang xây công suất</a:t>
            </a:r>
            <a:endParaRPr lang="en-US" sz="720" dirty="0"/>
          </a:p>
        </p:txBody>
      </p:sp>
      <p:sp>
        <p:nvSpPr>
          <p:cNvPr id="197" name="Text 193"/>
          <p:cNvSpPr txBox="1"/>
          <p:nvPr/>
        </p:nvSpPr>
        <p:spPr>
          <a:xfrm>
            <a:off x="405354" y="5044836"/>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CAPEX / doanh thu thuần</a:t>
            </a:r>
            <a:endParaRPr lang="en-US" sz="630" dirty="0"/>
          </a:p>
        </p:txBody>
      </p:sp>
      <p:sp>
        <p:nvSpPr>
          <p:cNvPr id="198" name="Text 194"/>
          <p:cNvSpPr txBox="1"/>
          <p:nvPr/>
        </p:nvSpPr>
        <p:spPr>
          <a:xfrm>
            <a:off x="405354" y="6101060"/>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(Drivers); FiinX – 16 DN bao bì niêm yết, bình quân 2023–2025 (Fig. A10)</a:t>
            </a:r>
            <a:endParaRPr lang="en-US" sz="600" dirty="0"/>
          </a:p>
        </p:txBody>
      </p:sp>
      <p:sp>
        <p:nvSpPr>
          <p:cNvPr id="199" name="Text 195"/>
          <p:cNvSpPr txBox="1"/>
          <p:nvPr/>
        </p:nvSpPr>
        <p:spPr>
          <a:xfrm>
            <a:off x="405354" y="6397691"/>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CAPEX 65% doanh thu năm 2027 kéo FCFF âm ba năm liên tiếp</a:t>
            </a:r>
            <a:endParaRPr lang="en-US" sz="720" dirty="0"/>
          </a:p>
        </p:txBody>
      </p:sp>
      <p:sp>
        <p:nvSpPr>
          <p:cNvPr id="200" name="Text 196"/>
          <p:cNvSpPr txBox="1"/>
          <p:nvPr/>
        </p:nvSpPr>
        <p:spPr>
          <a:xfrm>
            <a:off x="405354" y="6649060"/>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CAPEX và khấu hao (tỷ đồng)</a:t>
            </a:r>
            <a:endParaRPr lang="en-US" sz="640" dirty="0"/>
          </a:p>
        </p:txBody>
      </p:sp>
      <p:sp>
        <p:nvSpPr>
          <p:cNvPr id="201" name="Text 197"/>
          <p:cNvSpPr txBox="1"/>
          <p:nvPr/>
        </p:nvSpPr>
        <p:spPr>
          <a:xfrm>
            <a:off x="405354" y="7535296"/>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FCFF (tỷ đồng; 2025A = CFO − CAPEX)</a:t>
            </a:r>
            <a:endParaRPr lang="en-US" sz="640" dirty="0"/>
          </a:p>
        </p:txBody>
      </p:sp>
      <p:sp>
        <p:nvSpPr>
          <p:cNvPr id="202" name="Text 198"/>
          <p:cNvSpPr txBox="1"/>
          <p:nvPr/>
        </p:nvSpPr>
        <p:spPr>
          <a:xfrm>
            <a:off x="405354" y="8346552"/>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(DCF, Drivers)</a:t>
            </a:r>
            <a:endParaRPr lang="en-US" sz="600" dirty="0"/>
          </a:p>
        </p:txBody>
      </p:sp>
      <p:sp>
        <p:nvSpPr>
          <p:cNvPr id="203" name="Text 199"/>
          <p:cNvSpPr txBox="1"/>
          <p:nvPr/>
        </p:nvSpPr>
        <p:spPr>
          <a:xfrm>
            <a:off x="405354" y="8551835"/>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ROIC giảm về 5% năm 2028, đến 2030 mới xấp xỉ WACC</a:t>
            </a:r>
            <a:endParaRPr lang="en-US" sz="720" dirty="0"/>
          </a:p>
        </p:txBody>
      </p:sp>
      <p:sp>
        <p:nvSpPr>
          <p:cNvPr id="204" name="Text 200"/>
          <p:cNvSpPr txBox="1"/>
          <p:nvPr/>
        </p:nvSpPr>
        <p:spPr>
          <a:xfrm>
            <a:off x="405354" y="8788938"/>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a:t>
            </a:r>
            <a:endParaRPr lang="en-US" sz="630" dirty="0"/>
          </a:p>
        </p:txBody>
      </p:sp>
      <p:sp>
        <p:nvSpPr>
          <p:cNvPr id="205" name="Text 201"/>
          <p:cNvSpPr txBox="1"/>
          <p:nvPr/>
        </p:nvSpPr>
        <p:spPr>
          <a:xfrm>
            <a:off x="405354" y="970763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a:t>
            </a:r>
            <a:endParaRPr lang="en-US" sz="600" dirty="0"/>
          </a:p>
        </p:txBody>
      </p:sp>
      <p:sp>
        <p:nvSpPr>
          <p:cNvPr id="206" name="Text 202"/>
          <p:cNvSpPr txBox="1"/>
          <p:nvPr/>
        </p:nvSpPr>
        <p:spPr>
          <a:xfrm>
            <a:off x="2745303" y="3102925"/>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4.4. CAPEX và tỷ lệ tái đầu tư</a:t>
            </a:r>
            <a:endParaRPr lang="en-US" sz="900" dirty="0"/>
          </a:p>
        </p:txBody>
      </p:sp>
      <p:sp>
        <p:nvSpPr>
          <p:cNvPr id="207" name="Text 203"/>
          <p:cNvSpPr txBox="1"/>
          <p:nvPr/>
        </p:nvSpPr>
        <p:spPr>
          <a:xfrm>
            <a:off x="2745303" y="3272272"/>
            <a:ext cx="4409237" cy="526237"/>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Startup phải tái đầu tư liên tục để duy trì tăng trưởng; tỷ lệ tái đầu tư mỗi năm được giả định bằng CAPEX/doanh thu: 20% năm 2026 (máy ép bổ sung, xe tải, kho – bằng mức 2024), 65% năm 2027 theo đề bài (hai dây chuyền ép khuôn – sấy, kho bã mía, phòng kiểm nghiệm), 12% năm 2028 (hoàn thiện, chạy thử) và 10% năm 2029–2030 (Fig. 35).</a:t>
            </a:r>
            <a:endParaRPr lang="en-US" sz="850" dirty="0"/>
          </a:p>
        </p:txBody>
      </p:sp>
      <p:sp>
        <p:nvSpPr>
          <p:cNvPr id="208" name="Text 204"/>
          <p:cNvSpPr txBox="1"/>
          <p:nvPr/>
        </p:nvSpPr>
        <p:spPr>
          <a:xfrm>
            <a:off x="2745303" y="3836182"/>
            <a:ext cx="4409237" cy="789402"/>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Điều chỉnh theo ngành.</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Trung vị CAPEX/doanh thu 2023–2025 của 16 doanh nghiệp bao bì niêm yết là 3,1%, tứ phân vị trên 8,3%; doanh nghiệp đang mở rộng cao hơn nhiều (AAA, APH năm 2025: 13,3%; HHP: 20–42%) (Fig. A10). Mức 10% của AgriPack cao hơn trung vị vì doanh nghiệp còn tăng 17–28%/năm và cường độ tài sản cao hơn – khấu hao 8,7–10,4% doanh thu năm 2028–2030 so với 3,0% của ngành – nên 10% chỉ vừa đủ thay thế và mở rộng (CAPEX/khấu hao ~1,1 lần). Sau 2030, tỷ lệ tái đầu tư trong giá trị cuối kỳ là g/RONIC = 27,8% NOPAT.</a:t>
            </a:r>
            <a:endParaRPr lang="en-US" sz="850" dirty="0"/>
          </a:p>
        </p:txBody>
      </p:sp>
      <p:sp>
        <p:nvSpPr>
          <p:cNvPr id="209" name="Text 205"/>
          <p:cNvSpPr txBox="1"/>
          <p:nvPr/>
        </p:nvSpPr>
        <p:spPr>
          <a:xfrm>
            <a:off x="2745303" y="4663257"/>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FCFF âm ba năm.</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FCFF âm 4,9, 42,6 và 3,7 tỷ trong 2026–2028, dương từ 2029 và đạt 8,7 tỷ năm 2030 (Fig. 36); tổng 2026–2030 âm 38,9 tỷ – đúng với lưu ý của đề bài rằng startup hiếm khi có FCF dương mạnh ở giai đoạn đầu.</a:t>
            </a:r>
            <a:endParaRPr lang="en-US" sz="850" dirty="0"/>
          </a:p>
        </p:txBody>
      </p:sp>
      <p:sp>
        <p:nvSpPr>
          <p:cNvPr id="210" name="Text 206"/>
          <p:cNvSpPr txBox="1"/>
          <p:nvPr/>
        </p:nvSpPr>
        <p:spPr>
          <a:xfrm>
            <a:off x="2745303" y="5095585"/>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4.5. Vốn lưu động, bảng cân đối, dòng tiền và ROIC</a:t>
            </a:r>
            <a:endParaRPr lang="en-US" sz="900" dirty="0"/>
          </a:p>
        </p:txBody>
      </p:sp>
      <p:sp>
        <p:nvSpPr>
          <p:cNvPr id="211" name="Text 207"/>
          <p:cNvSpPr txBox="1"/>
          <p:nvPr/>
        </p:nvSpPr>
        <p:spPr>
          <a:xfrm>
            <a:off x="2745303" y="5264932"/>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Vốn lưu động.</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Tồn kho giữ 95–105 ngày (tích trữ bã mía theo vụ ép tháng 11–4); kỳ thu tiền tăng từ 14 lên 30 ngày khi khách hàng là chuỗi F&amp;B, FMCG, FDI; kỳ trả tiền lên 15 ngày. Vốn lưu động tăng từ 15% lên 18% doanh thu, hút 24 tỷ đồng trong 5 năm.</a:t>
            </a:r>
            <a:endParaRPr lang="en-US" sz="850" dirty="0"/>
          </a:p>
        </p:txBody>
      </p:sp>
      <p:sp>
        <p:nvSpPr>
          <p:cNvPr id="212" name="Text 208"/>
          <p:cNvSpPr txBox="1"/>
          <p:nvPr/>
        </p:nvSpPr>
        <p:spPr>
          <a:xfrm>
            <a:off x="2745303" y="5697261"/>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Tài trợ và dòng tiền.</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Mô hình bù thiếu hụt tiền bằng 37,6 tỷ vốn cổ phần đầu năm 2026 và 31,1 tỷ vay trung hạn năm 2027 (60% CAPEX nhà máy); số vốn cổ phần là đầu vào của VC Method (Mục 5.4), còn kế hoạch huy động vốn chi tiết thuộc Mục 6. Tổng tài sản tăng từ 31,9 lên 127,6 tỷ; CFO tăng từ 7,7 lên 23,8 tỷ nhưng chỉ vượt CAPEX từ 2029 (Fig. 37; BCTC dự phóng đầy đủ ở Fig. A06–A08). Nợ vay/VCSH lên 41% năm 2027 rồi giảm khi trả gốc từ 2029.</a:t>
            </a:r>
            <a:endParaRPr lang="en-US" sz="850" dirty="0"/>
          </a:p>
        </p:txBody>
      </p:sp>
      <p:sp>
        <p:nvSpPr>
          <p:cNvPr id="213" name="Text 209"/>
          <p:cNvSpPr txBox="1"/>
          <p:nvPr/>
        </p:nvSpPr>
        <p:spPr>
          <a:xfrm>
            <a:off x="2745303" y="6423843"/>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Vốn cổ phần 2026 và vay 2027 tài trợ nhà máy; tiền mặt luôn dương</a:t>
            </a:r>
            <a:endParaRPr lang="en-US" sz="720" dirty="0"/>
          </a:p>
        </p:txBody>
      </p:sp>
      <p:sp>
        <p:nvSpPr>
          <p:cNvPr id="214" name="Text 210"/>
          <p:cNvSpPr txBox="1"/>
          <p:nvPr/>
        </p:nvSpPr>
        <p:spPr>
          <a:xfrm>
            <a:off x="2745303" y="6551402"/>
            <a:ext cx="4673773"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215" name="Text 211"/>
          <p:cNvSpPr txBox="1"/>
          <p:nvPr/>
        </p:nvSpPr>
        <p:spPr>
          <a:xfrm>
            <a:off x="2745303" y="8790402"/>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2025 (đề bài); dự phóng (Balance Sheet, Cash Flow Statement)</a:t>
            </a:r>
            <a:endParaRPr lang="en-US" sz="600" dirty="0"/>
          </a:p>
        </p:txBody>
      </p:sp>
      <p:sp>
        <p:nvSpPr>
          <p:cNvPr id="216" name="Text 212"/>
          <p:cNvSpPr txBox="1"/>
          <p:nvPr/>
        </p:nvSpPr>
        <p:spPr>
          <a:xfrm>
            <a:off x="2745303" y="8964503"/>
            <a:ext cx="4409237" cy="52623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Hiệu quả vốn.</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ROIC giảm từ 16,7% (2026) về 5,1% năm 2028 khi công suất mới chưa được lấp đầy (vòng quay nguyên giá TSCĐ 1,08 lần so với 1,66 lần năm 2025) và chỉ xấp xỉ WACC 13,6% năm 2030 (Fig. 38): khoản đầu tư 2027 chỉ vừa bù chi phí vốn trong 5 năm dự phóng; giá trị của nó nằm ở tăng trưởng sau 2030.</a:t>
            </a:r>
            <a:endParaRPr lang="en-US" sz="850" dirty="0"/>
          </a:p>
        </p:txBody>
      </p:sp>
      <p:sp>
        <p:nvSpPr>
          <p:cNvPr id="217" name="Text 213"/>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18" name="Text 214"/>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13</a:t>
            </a:r>
            <a:endParaRPr lang="en-US" sz="6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55805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835670"/>
            <a:ext cx="2159996" cy="0"/>
          </a:xfrm>
          <a:prstGeom prst="line">
            <a:avLst/>
          </a:prstGeom>
          <a:noFill/>
          <a:ln w="9525">
            <a:solidFill>
              <a:srgbClr val="7B1E2B"/>
            </a:solidFill>
            <a:prstDash val="solid"/>
          </a:ln>
        </p:spPr>
      </p:sp>
      <p:sp>
        <p:nvSpPr>
          <p:cNvPr id="5" name="Shape 3"/>
          <p:cNvSpPr/>
          <p:nvPr/>
        </p:nvSpPr>
        <p:spPr>
          <a:xfrm>
            <a:off x="405354" y="3275838"/>
            <a:ext cx="2159996" cy="0"/>
          </a:xfrm>
          <a:prstGeom prst="line">
            <a:avLst/>
          </a:prstGeom>
          <a:noFill/>
          <a:ln w="9525">
            <a:solidFill>
              <a:srgbClr val="7B1E2B"/>
            </a:solidFill>
            <a:prstDash val="solid"/>
          </a:ln>
        </p:spPr>
      </p:sp>
      <p:sp>
        <p:nvSpPr>
          <p:cNvPr id="6" name="Shape 4"/>
          <p:cNvSpPr/>
          <p:nvPr/>
        </p:nvSpPr>
        <p:spPr>
          <a:xfrm>
            <a:off x="405354" y="4833153"/>
            <a:ext cx="2159996" cy="0"/>
          </a:xfrm>
          <a:prstGeom prst="line">
            <a:avLst/>
          </a:prstGeom>
          <a:noFill/>
          <a:ln w="9525">
            <a:solidFill>
              <a:srgbClr val="7B1E2B"/>
            </a:solidFill>
            <a:prstDash val="solid"/>
          </a:ln>
        </p:spPr>
      </p:sp>
      <p:sp>
        <p:nvSpPr>
          <p:cNvPr id="7" name="Shape 5"/>
          <p:cNvSpPr/>
          <p:nvPr/>
        </p:nvSpPr>
        <p:spPr>
          <a:xfrm>
            <a:off x="405354" y="6729252"/>
            <a:ext cx="2159996" cy="0"/>
          </a:xfrm>
          <a:prstGeom prst="line">
            <a:avLst/>
          </a:prstGeom>
          <a:noFill/>
          <a:ln w="9525">
            <a:solidFill>
              <a:srgbClr val="7B1E2B"/>
            </a:solidFill>
            <a:prstDash val="solid"/>
          </a:ln>
        </p:spPr>
      </p:sp>
      <p:sp>
        <p:nvSpPr>
          <p:cNvPr id="8" name="Shape 6"/>
          <p:cNvSpPr/>
          <p:nvPr/>
        </p:nvSpPr>
        <p:spPr>
          <a:xfrm>
            <a:off x="2745303" y="4102364"/>
            <a:ext cx="4409237" cy="0"/>
          </a:xfrm>
          <a:prstGeom prst="line">
            <a:avLst/>
          </a:prstGeom>
          <a:noFill/>
          <a:ln w="9525">
            <a:solidFill>
              <a:srgbClr val="7B1E2B"/>
            </a:solidFill>
            <a:prstDash val="solid"/>
          </a:ln>
        </p:spPr>
      </p:sp>
      <p:sp>
        <p:nvSpPr>
          <p:cNvPr id="9" name="Shape 7"/>
          <p:cNvSpPr/>
          <p:nvPr/>
        </p:nvSpPr>
        <p:spPr>
          <a:xfrm>
            <a:off x="2745303" y="7631948"/>
            <a:ext cx="4409237" cy="0"/>
          </a:xfrm>
          <a:prstGeom prst="line">
            <a:avLst/>
          </a:prstGeom>
          <a:noFill/>
          <a:ln w="9525">
            <a:solidFill>
              <a:srgbClr val="7B1E2B"/>
            </a:solidFill>
            <a:prstDash val="solid"/>
          </a:ln>
        </p:spPr>
      </p:sp>
      <p:sp>
        <p:nvSpPr>
          <p:cNvPr id="10" name="Shape 8"/>
          <p:cNvSpPr/>
          <p:nvPr/>
        </p:nvSpPr>
        <p:spPr>
          <a:xfrm>
            <a:off x="405354" y="10369479"/>
            <a:ext cx="6749004" cy="0"/>
          </a:xfrm>
          <a:prstGeom prst="line">
            <a:avLst/>
          </a:prstGeom>
          <a:noFill/>
          <a:ln w="9525">
            <a:solidFill>
              <a:srgbClr val="BFBFBF"/>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05354" y="1113373"/>
          <a:ext cx="2159996" cy="914400"/>
        </p:xfrm>
        <a:graphic>
          <a:graphicData uri="http://schemas.openxmlformats.org/drawingml/2006/table">
            <a:tbl>
              <a:tblPr/>
              <a:tblGrid>
                <a:gridCol w="1511960"/>
                <a:gridCol w="648035"/>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Thành phần</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Giá trị</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Rf – TPCP 10 năm, bình quân 2016–2025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3,92%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ERP thị trường phát triển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4,23%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CRP Việt Nam (ước tính)</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3,90%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 ERP Việt Nam</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8,13%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βu ngành bao bì (Damodaran)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0,78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D/E mục tiêu (2027E)</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β có đòn bẩy</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1,04</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ρ (đa dạng hóa một phần)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 Total beta</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1,48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Ke = Rf + β × ERP</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15,9%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Kd trước / sau thuế</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 / 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trọng E / D</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71% / 29%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WACC</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13,6%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05354" y="5102535"/>
          <a:ext cx="2159996" cy="914400"/>
        </p:xfrm>
        <a:graphic>
          <a:graphicData uri="http://schemas.openxmlformats.org/drawingml/2006/table">
            <a:tbl>
              <a:tblPr/>
              <a:tblGrid>
                <a:gridCol w="1598280"/>
                <a:gridCol w="561716"/>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Bước</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Tỷ đồng</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LNST 2030E × P/E 9,4x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130,2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EBITDA 2030E × EV/EBITDA 8,0x + tiền − nợ</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267,2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Giá trị thoái vốn 2030 (bình quân)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198,7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lệ thất bại tích lũy z (5 năm)</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Quy đổi theo năm p = 1 − (1 − z)^(1/5)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9,7%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Tỷ suất yêu cầu khi thành công</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Post-money = Exit × (1 − z)/(1 + WACC)^5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62,9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Vốn cổ phần cần huy động</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37,6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Pre-money</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25,3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aphicFrame>
        <p:nvGraphicFramePr>
          <p:cNvPr id="43" name="Table 2"/>
          <p:cNvGraphicFramePr>
            <a:graphicFrameLocks noGrp="1"/>
          </p:cNvGraphicFramePr>
          <p:nvPr>
            <p:extLst>
              <p:ext uri="{D42A27DB-BD31-4B8C-83A1-F6EECF244321}">
                <p14:modId xmlns:p14="http://schemas.microsoft.com/office/powerpoint/2010/main" val="1579011935"/>
              </p:ext>
            </p:extLst>
          </p:nvPr>
        </p:nvGraphicFramePr>
        <p:xfrm>
          <a:off x="2745303" y="4371655"/>
          <a:ext cx="4409237" cy="914400"/>
        </p:xfrm>
        <a:graphic>
          <a:graphicData uri="http://schemas.openxmlformats.org/drawingml/2006/table">
            <a:tbl>
              <a:tblPr/>
              <a:tblGrid>
                <a:gridCol w="1234531"/>
                <a:gridCol w="529072"/>
                <a:gridCol w="529072"/>
                <a:gridCol w="529072"/>
                <a:gridCol w="529072"/>
                <a:gridCol w="529072"/>
                <a:gridCol w="529255"/>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Tỷ đồng</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26E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27E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28E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29E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30E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TV</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NOPAT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7,2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11,1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15,7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Khấu hao</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11,5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14,8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Tăng vốn lưu động</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(6,4)</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 CAPEX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(12,7)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(51,8)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(14,2)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FCFF</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(4,9)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(42,6)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(3,7)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3,6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8,7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138,0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Hệ số chiết khấu</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0,880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0,774</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0,681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0,600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0,528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0,528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Giá trị hiện tại</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(4,3)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(33,0)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4,6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72,8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bl>
          </a:graphicData>
        </a:graphic>
      </p:graphicFrame>
      <p:graphicFrame>
        <p:nvGraphicFramePr>
          <p:cNvPr id="57" name="Table 3"/>
          <p:cNvGraphicFramePr>
            <a:graphicFrameLocks noGrp="1"/>
          </p:cNvGraphicFramePr>
          <p:nvPr>
            <p:extLst>
              <p:ext uri="{D42A27DB-BD31-4B8C-83A1-F6EECF244321}">
                <p14:modId xmlns:p14="http://schemas.microsoft.com/office/powerpoint/2010/main" val="1579011935"/>
              </p:ext>
            </p:extLst>
          </p:nvPr>
        </p:nvGraphicFramePr>
        <p:xfrm>
          <a:off x="2745303" y="7901239"/>
          <a:ext cx="4409237" cy="914400"/>
        </p:xfrm>
        <a:graphic>
          <a:graphicData uri="http://schemas.openxmlformats.org/drawingml/2006/table">
            <a:tbl>
              <a:tblPr/>
              <a:tblGrid>
                <a:gridCol w="2028231"/>
                <a:gridCol w="705460"/>
                <a:gridCol w="837590"/>
                <a:gridCol w="837865"/>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Cách tính (chỉ tiêu 2025A)</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Bội số</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Trước DLOM</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Sau DLOM</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EV/EBITDA × trung vị mẫu</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4,63x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37,0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EV/EBITDA × bình quân ngành</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7,99x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62,8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44,0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P/E × trung vị mẫu</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7,13x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P/E × bình quân ngành</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9,43x</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33,3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Bình quân 4 cách (pre-money)</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27,7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pSp>
        <p:nvGrpSpPr>
          <p:cNvPr id="122" name="Fig. 40 – biểu đồ"/>
          <p:cNvGrpSpPr/>
          <p:nvPr/>
        </p:nvGrpSpPr>
        <p:grpSpPr>
          <a:xfrm>
            <a:off x="444856" y="3643701"/>
            <a:ext cx="2111990" cy="963412"/>
            <a:chOff x="444856" y="3643701"/>
            <a:chExt cx="2111990" cy="963412"/>
          </a:xfrm>
        </p:grpSpPr>
        <p:sp>
          <p:nvSpPr>
            <p:cNvPr id="15" name="svg0_0"/>
            <p:cNvSpPr/>
            <p:nvPr/>
          </p:nvSpPr>
          <p:spPr>
            <a:xfrm>
              <a:off x="514259" y="4129065"/>
              <a:ext cx="208026" cy="291328"/>
            </a:xfrm>
            <a:prstGeom prst="rect">
              <a:avLst/>
            </a:prstGeom>
            <a:solidFill>
              <a:srgbClr val="A3A3A3"/>
            </a:solidFill>
            <a:ln/>
          </p:spPr>
        </p:sp>
        <p:sp>
          <p:nvSpPr>
            <p:cNvPr id="16" name="svg0_1"/>
            <p:cNvSpPr txBox="1"/>
            <p:nvPr/>
          </p:nvSpPr>
          <p:spPr>
            <a:xfrm>
              <a:off x="493044" y="4019611"/>
              <a:ext cx="251003"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−33,1</a:t>
              </a:r>
              <a:endParaRPr lang="en-US" sz="649" dirty="0"/>
            </a:p>
          </p:txBody>
        </p:sp>
        <p:sp>
          <p:nvSpPr>
            <p:cNvPr id="17" name="svg0_2"/>
            <p:cNvSpPr txBox="1"/>
            <p:nvPr/>
          </p:nvSpPr>
          <p:spPr>
            <a:xfrm>
              <a:off x="470093" y="4427708"/>
              <a:ext cx="30257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PV FCFF</a:t>
              </a:r>
              <a:endParaRPr lang="en-US" sz="557" dirty="0"/>
            </a:p>
          </p:txBody>
        </p:sp>
        <p:sp>
          <p:nvSpPr>
            <p:cNvPr id="18" name="svg0_3"/>
            <p:cNvSpPr txBox="1"/>
            <p:nvPr/>
          </p:nvSpPr>
          <p:spPr>
            <a:xfrm>
              <a:off x="457017" y="4502323"/>
              <a:ext cx="325435"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2026–30</a:t>
              </a:r>
              <a:endParaRPr lang="en-US" sz="557" dirty="0"/>
            </a:p>
          </p:txBody>
        </p:sp>
        <p:sp>
          <p:nvSpPr>
            <p:cNvPr id="19" name="svg0_4"/>
            <p:cNvSpPr/>
            <p:nvPr/>
          </p:nvSpPr>
          <p:spPr>
            <a:xfrm>
              <a:off x="861090" y="3778758"/>
              <a:ext cx="208117" cy="641726"/>
            </a:xfrm>
            <a:prstGeom prst="rect">
              <a:avLst/>
            </a:prstGeom>
            <a:solidFill>
              <a:srgbClr val="404040"/>
            </a:solidFill>
            <a:ln/>
          </p:spPr>
        </p:sp>
        <p:sp>
          <p:nvSpPr>
            <p:cNvPr id="20" name="svg0_5"/>
            <p:cNvSpPr/>
            <p:nvPr/>
          </p:nvSpPr>
          <p:spPr>
            <a:xfrm>
              <a:off x="722285" y="4420484"/>
              <a:ext cx="138806" cy="0"/>
            </a:xfrm>
            <a:prstGeom prst="line">
              <a:avLst/>
            </a:prstGeom>
            <a:noFill/>
            <a:ln w="4953">
              <a:solidFill>
                <a:srgbClr val="8C8C8C"/>
              </a:solidFill>
              <a:prstDash val="dash"/>
            </a:ln>
          </p:spPr>
        </p:sp>
        <p:sp>
          <p:nvSpPr>
            <p:cNvPr id="21" name="svg0_6"/>
            <p:cNvSpPr txBox="1"/>
            <p:nvPr/>
          </p:nvSpPr>
          <p:spPr>
            <a:xfrm>
              <a:off x="839236" y="3669213"/>
              <a:ext cx="257678"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+72,8</a:t>
              </a:r>
              <a:endParaRPr lang="en-US" sz="649" dirty="0"/>
            </a:p>
          </p:txBody>
        </p:sp>
        <p:sp>
          <p:nvSpPr>
            <p:cNvPr id="22" name="svg0_7"/>
            <p:cNvSpPr txBox="1"/>
            <p:nvPr/>
          </p:nvSpPr>
          <p:spPr>
            <a:xfrm>
              <a:off x="800100" y="4427708"/>
              <a:ext cx="332842"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PV giá trị</a:t>
              </a:r>
              <a:endParaRPr lang="en-US" sz="557" dirty="0"/>
            </a:p>
          </p:txBody>
        </p:sp>
        <p:sp>
          <p:nvSpPr>
            <p:cNvPr id="23" name="svg0_8"/>
            <p:cNvSpPr txBox="1"/>
            <p:nvPr/>
          </p:nvSpPr>
          <p:spPr>
            <a:xfrm>
              <a:off x="831464" y="4502323"/>
              <a:ext cx="273406"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cuối kỳ</a:t>
              </a:r>
              <a:endParaRPr lang="en-US" sz="557" dirty="0"/>
            </a:p>
          </p:txBody>
        </p:sp>
        <p:sp>
          <p:nvSpPr>
            <p:cNvPr id="24" name="svg0_9"/>
            <p:cNvSpPr/>
            <p:nvPr/>
          </p:nvSpPr>
          <p:spPr>
            <a:xfrm>
              <a:off x="1207831" y="3778758"/>
              <a:ext cx="208117" cy="350307"/>
            </a:xfrm>
            <a:prstGeom prst="rect">
              <a:avLst/>
            </a:prstGeom>
            <a:solidFill>
              <a:srgbClr val="7B1E2B"/>
            </a:solidFill>
            <a:ln/>
          </p:spPr>
        </p:sp>
        <p:sp>
          <p:nvSpPr>
            <p:cNvPr id="25" name="svg0_10"/>
            <p:cNvSpPr/>
            <p:nvPr/>
          </p:nvSpPr>
          <p:spPr>
            <a:xfrm>
              <a:off x="1069208" y="3778758"/>
              <a:ext cx="138714" cy="0"/>
            </a:xfrm>
            <a:prstGeom prst="line">
              <a:avLst/>
            </a:prstGeom>
            <a:noFill/>
            <a:ln w="4953">
              <a:solidFill>
                <a:srgbClr val="8C8C8C"/>
              </a:solidFill>
              <a:prstDash val="dash"/>
            </a:ln>
          </p:spPr>
        </p:sp>
        <p:sp>
          <p:nvSpPr>
            <p:cNvPr id="26" name="svg0_11"/>
            <p:cNvSpPr txBox="1"/>
            <p:nvPr/>
          </p:nvSpPr>
          <p:spPr>
            <a:xfrm>
              <a:off x="1208745" y="3669213"/>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39,8</a:t>
              </a:r>
              <a:endParaRPr lang="en-US" sz="649" dirty="0"/>
            </a:p>
          </p:txBody>
        </p:sp>
        <p:sp>
          <p:nvSpPr>
            <p:cNvPr id="27" name="svg0_12"/>
            <p:cNvSpPr txBox="1"/>
            <p:nvPr/>
          </p:nvSpPr>
          <p:spPr>
            <a:xfrm>
              <a:off x="1249528" y="4427708"/>
              <a:ext cx="131674"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EV</a:t>
              </a:r>
              <a:endParaRPr lang="en-US" sz="557" dirty="0"/>
            </a:p>
          </p:txBody>
        </p:sp>
        <p:sp>
          <p:nvSpPr>
            <p:cNvPr id="28" name="svg0_13"/>
            <p:cNvSpPr/>
            <p:nvPr/>
          </p:nvSpPr>
          <p:spPr>
            <a:xfrm>
              <a:off x="1554754" y="3752972"/>
              <a:ext cx="208117" cy="25786"/>
            </a:xfrm>
            <a:prstGeom prst="rect">
              <a:avLst/>
            </a:prstGeom>
            <a:solidFill>
              <a:srgbClr val="404040"/>
            </a:solidFill>
            <a:ln/>
          </p:spPr>
        </p:sp>
        <p:sp>
          <p:nvSpPr>
            <p:cNvPr id="29" name="svg0_14"/>
            <p:cNvSpPr/>
            <p:nvPr/>
          </p:nvSpPr>
          <p:spPr>
            <a:xfrm>
              <a:off x="1415948" y="3778758"/>
              <a:ext cx="138806" cy="0"/>
            </a:xfrm>
            <a:prstGeom prst="line">
              <a:avLst/>
            </a:prstGeom>
            <a:noFill/>
            <a:ln w="4953">
              <a:solidFill>
                <a:srgbClr val="8C8C8C"/>
              </a:solidFill>
              <a:prstDash val="dash"/>
            </a:ln>
          </p:spPr>
        </p:sp>
        <p:sp>
          <p:nvSpPr>
            <p:cNvPr id="30" name="svg0_15"/>
            <p:cNvSpPr txBox="1"/>
            <p:nvPr/>
          </p:nvSpPr>
          <p:spPr>
            <a:xfrm>
              <a:off x="1557040" y="3643701"/>
              <a:ext cx="210129"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+2,9</a:t>
              </a:r>
              <a:endParaRPr lang="en-US" sz="649" dirty="0"/>
            </a:p>
          </p:txBody>
        </p:sp>
        <p:sp>
          <p:nvSpPr>
            <p:cNvPr id="31" name="svg0_16"/>
            <p:cNvSpPr txBox="1"/>
            <p:nvPr/>
          </p:nvSpPr>
          <p:spPr>
            <a:xfrm>
              <a:off x="1540947" y="4427708"/>
              <a:ext cx="23747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 Tiền</a:t>
              </a:r>
              <a:endParaRPr lang="en-US" sz="557" dirty="0"/>
            </a:p>
          </p:txBody>
        </p:sp>
        <p:sp>
          <p:nvSpPr>
            <p:cNvPr id="32" name="svg0_17"/>
            <p:cNvSpPr txBox="1"/>
            <p:nvPr/>
          </p:nvSpPr>
          <p:spPr>
            <a:xfrm>
              <a:off x="1558412" y="4502323"/>
              <a:ext cx="20382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2025</a:t>
              </a:r>
              <a:endParaRPr lang="en-US" sz="557" dirty="0"/>
            </a:p>
          </p:txBody>
        </p:sp>
        <p:sp>
          <p:nvSpPr>
            <p:cNvPr id="33" name="svg0_18"/>
            <p:cNvSpPr/>
            <p:nvPr/>
          </p:nvSpPr>
          <p:spPr>
            <a:xfrm>
              <a:off x="1901586" y="3752972"/>
              <a:ext cx="208117" cy="14082"/>
            </a:xfrm>
            <a:prstGeom prst="rect">
              <a:avLst/>
            </a:prstGeom>
            <a:solidFill>
              <a:srgbClr val="A3A3A3"/>
            </a:solidFill>
            <a:ln/>
          </p:spPr>
        </p:sp>
        <p:sp>
          <p:nvSpPr>
            <p:cNvPr id="34" name="svg0_19"/>
            <p:cNvSpPr/>
            <p:nvPr/>
          </p:nvSpPr>
          <p:spPr>
            <a:xfrm>
              <a:off x="1762872" y="3752972"/>
              <a:ext cx="138714" cy="0"/>
            </a:xfrm>
            <a:prstGeom prst="line">
              <a:avLst/>
            </a:prstGeom>
            <a:noFill/>
            <a:ln w="4953">
              <a:solidFill>
                <a:srgbClr val="8C8C8C"/>
              </a:solidFill>
              <a:prstDash val="dash"/>
            </a:ln>
          </p:spPr>
        </p:sp>
        <p:sp>
          <p:nvSpPr>
            <p:cNvPr id="35" name="svg0_20"/>
            <p:cNvSpPr txBox="1"/>
            <p:nvPr/>
          </p:nvSpPr>
          <p:spPr>
            <a:xfrm>
              <a:off x="1903598" y="3643701"/>
              <a:ext cx="210129"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−1,6</a:t>
              </a:r>
              <a:endParaRPr lang="en-US" sz="649" dirty="0"/>
            </a:p>
          </p:txBody>
        </p:sp>
        <p:sp>
          <p:nvSpPr>
            <p:cNvPr id="36" name="svg0_21"/>
            <p:cNvSpPr txBox="1"/>
            <p:nvPr/>
          </p:nvSpPr>
          <p:spPr>
            <a:xfrm>
              <a:off x="1844436" y="4427708"/>
              <a:ext cx="328544"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 Nợ vay</a:t>
              </a:r>
              <a:endParaRPr lang="en-US" sz="557" dirty="0"/>
            </a:p>
          </p:txBody>
        </p:sp>
        <p:sp>
          <p:nvSpPr>
            <p:cNvPr id="37" name="svg0_22"/>
            <p:cNvSpPr txBox="1"/>
            <p:nvPr/>
          </p:nvSpPr>
          <p:spPr>
            <a:xfrm>
              <a:off x="1904878" y="4502323"/>
              <a:ext cx="203820"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2025</a:t>
              </a:r>
              <a:endParaRPr lang="en-US" sz="557" dirty="0"/>
            </a:p>
          </p:txBody>
        </p:sp>
        <p:sp>
          <p:nvSpPr>
            <p:cNvPr id="38" name="svg0_23"/>
            <p:cNvSpPr/>
            <p:nvPr/>
          </p:nvSpPr>
          <p:spPr>
            <a:xfrm>
              <a:off x="2248510" y="3767054"/>
              <a:ext cx="208117" cy="362102"/>
            </a:xfrm>
            <a:prstGeom prst="rect">
              <a:avLst/>
            </a:prstGeom>
            <a:solidFill>
              <a:srgbClr val="7B1E2B"/>
            </a:solidFill>
            <a:ln/>
          </p:spPr>
        </p:sp>
        <p:sp>
          <p:nvSpPr>
            <p:cNvPr id="39" name="svg0_24"/>
            <p:cNvSpPr/>
            <p:nvPr/>
          </p:nvSpPr>
          <p:spPr>
            <a:xfrm>
              <a:off x="2109704" y="3767054"/>
              <a:ext cx="138806" cy="0"/>
            </a:xfrm>
            <a:prstGeom prst="line">
              <a:avLst/>
            </a:prstGeom>
            <a:noFill/>
            <a:ln w="4953">
              <a:solidFill>
                <a:srgbClr val="8C8C8C"/>
              </a:solidFill>
              <a:prstDash val="dash"/>
            </a:ln>
          </p:spPr>
        </p:sp>
        <p:sp>
          <p:nvSpPr>
            <p:cNvPr id="40" name="svg0_25"/>
            <p:cNvSpPr txBox="1"/>
            <p:nvPr/>
          </p:nvSpPr>
          <p:spPr>
            <a:xfrm>
              <a:off x="2249241" y="3657417"/>
              <a:ext cx="211684" cy="114300"/>
            </a:xfrm>
            <a:prstGeom prst="rect">
              <a:avLst/>
            </a:prstGeom>
            <a:noFill/>
            <a:ln/>
          </p:spPr>
          <p:txBody>
            <a:bodyPr wrap="none" lIns="0" tIns="0" rIns="0" bIns="0" rtlCol="0" anchor="ctr"/>
            <a:lstStyle/>
            <a:p>
              <a:pPr algn="ctr" indent="0" marL="0">
                <a:buNone/>
              </a:pPr>
              <a:r>
                <a:rPr lang="en-US" sz="649" b="1" dirty="0">
                  <a:solidFill>
                    <a:srgbClr val="262626"/>
                  </a:solidFill>
                  <a:latin typeface="Calibri" pitchFamily="34" charset="0"/>
                  <a:ea typeface="Calibri" pitchFamily="34" charset="-122"/>
                  <a:cs typeface="Calibri" pitchFamily="34" charset="-120"/>
                </a:rPr>
                <a:t>41,1</a:t>
              </a:r>
              <a:endParaRPr lang="en-US" sz="649" dirty="0"/>
            </a:p>
          </p:txBody>
        </p:sp>
        <p:sp>
          <p:nvSpPr>
            <p:cNvPr id="41" name="svg0_26"/>
            <p:cNvSpPr txBox="1"/>
            <p:nvPr/>
          </p:nvSpPr>
          <p:spPr>
            <a:xfrm>
              <a:off x="2153778" y="4427708"/>
              <a:ext cx="403068"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Pre-money</a:t>
              </a:r>
              <a:endParaRPr lang="en-US" sz="557" dirty="0"/>
            </a:p>
          </p:txBody>
        </p:sp>
        <p:sp>
          <p:nvSpPr>
            <p:cNvPr id="42" name="svg0_27"/>
            <p:cNvSpPr/>
            <p:nvPr/>
          </p:nvSpPr>
          <p:spPr>
            <a:xfrm>
              <a:off x="444856" y="4129065"/>
              <a:ext cx="2081083" cy="0"/>
            </a:xfrm>
            <a:prstGeom prst="line">
              <a:avLst/>
            </a:prstGeom>
            <a:noFill/>
            <a:ln w="6858">
              <a:solidFill>
                <a:srgbClr val="8C8C8C"/>
              </a:solidFill>
              <a:prstDash val="solid"/>
            </a:ln>
          </p:spPr>
        </p:sp>
      </p:grpSp>
      <p:grpSp>
        <p:nvGrpSpPr>
          <p:cNvPr id="123" name="Fig. 43 – biểu đồ"/>
          <p:cNvGrpSpPr/>
          <p:nvPr/>
        </p:nvGrpSpPr>
        <p:grpSpPr>
          <a:xfrm>
            <a:off x="422819" y="7127839"/>
            <a:ext cx="2022378" cy="1437346"/>
            <a:chOff x="422819" y="7127839"/>
            <a:chExt cx="2022378" cy="1437346"/>
          </a:xfrm>
        </p:grpSpPr>
        <p:sp>
          <p:nvSpPr>
            <p:cNvPr id="43" name="svg1_28"/>
            <p:cNvSpPr txBox="1"/>
            <p:nvPr/>
          </p:nvSpPr>
          <p:spPr>
            <a:xfrm>
              <a:off x="433334" y="7129211"/>
              <a:ext cx="188092"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HHP</a:t>
              </a:r>
              <a:endParaRPr lang="en-US" sz="587" dirty="0"/>
            </a:p>
          </p:txBody>
        </p:sp>
        <p:sp>
          <p:nvSpPr>
            <p:cNvPr id="44" name="svg1_29"/>
            <p:cNvSpPr/>
            <p:nvPr/>
          </p:nvSpPr>
          <p:spPr>
            <a:xfrm>
              <a:off x="660745" y="7147499"/>
              <a:ext cx="1570756" cy="58430"/>
            </a:xfrm>
            <a:prstGeom prst="rect">
              <a:avLst/>
            </a:prstGeom>
            <a:solidFill>
              <a:srgbClr val="A3A3A3"/>
            </a:solidFill>
            <a:ln/>
          </p:spPr>
        </p:sp>
        <p:sp>
          <p:nvSpPr>
            <p:cNvPr id="45" name="svg1_30"/>
            <p:cNvSpPr txBox="1"/>
            <p:nvPr/>
          </p:nvSpPr>
          <p:spPr>
            <a:xfrm>
              <a:off x="486461" y="7223394"/>
              <a:ext cx="13862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ILS</a:t>
              </a:r>
              <a:endParaRPr lang="en-US" sz="587" dirty="0"/>
            </a:p>
          </p:txBody>
        </p:sp>
        <p:sp>
          <p:nvSpPr>
            <p:cNvPr id="46" name="svg1_31"/>
            <p:cNvSpPr/>
            <p:nvPr/>
          </p:nvSpPr>
          <p:spPr>
            <a:xfrm>
              <a:off x="660745" y="7241682"/>
              <a:ext cx="1527231" cy="58522"/>
            </a:xfrm>
            <a:prstGeom prst="rect">
              <a:avLst/>
            </a:prstGeom>
            <a:solidFill>
              <a:srgbClr val="A3A3A3"/>
            </a:solidFill>
            <a:ln/>
          </p:spPr>
        </p:sp>
        <p:sp>
          <p:nvSpPr>
            <p:cNvPr id="47" name="svg1_32"/>
            <p:cNvSpPr txBox="1"/>
            <p:nvPr/>
          </p:nvSpPr>
          <p:spPr>
            <a:xfrm>
              <a:off x="445587" y="7317669"/>
              <a:ext cx="175931"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TDP</a:t>
              </a:r>
              <a:endParaRPr lang="en-US" sz="587" dirty="0"/>
            </a:p>
          </p:txBody>
        </p:sp>
        <p:sp>
          <p:nvSpPr>
            <p:cNvPr id="48" name="svg1_33"/>
            <p:cNvSpPr/>
            <p:nvPr/>
          </p:nvSpPr>
          <p:spPr>
            <a:xfrm>
              <a:off x="660745" y="7335957"/>
              <a:ext cx="1028791" cy="58430"/>
            </a:xfrm>
            <a:prstGeom prst="rect">
              <a:avLst/>
            </a:prstGeom>
            <a:solidFill>
              <a:srgbClr val="A3A3A3"/>
            </a:solidFill>
            <a:ln/>
          </p:spPr>
        </p:sp>
        <p:sp>
          <p:nvSpPr>
            <p:cNvPr id="49" name="svg1_34"/>
            <p:cNvSpPr txBox="1"/>
            <p:nvPr/>
          </p:nvSpPr>
          <p:spPr>
            <a:xfrm>
              <a:off x="431597" y="7411852"/>
              <a:ext cx="197602"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DHC</a:t>
              </a:r>
              <a:endParaRPr lang="en-US" sz="587" dirty="0"/>
            </a:p>
          </p:txBody>
        </p:sp>
        <p:sp>
          <p:nvSpPr>
            <p:cNvPr id="50" name="svg1_35"/>
            <p:cNvSpPr/>
            <p:nvPr/>
          </p:nvSpPr>
          <p:spPr>
            <a:xfrm>
              <a:off x="660745" y="7430140"/>
              <a:ext cx="727497" cy="58522"/>
            </a:xfrm>
            <a:prstGeom prst="rect">
              <a:avLst/>
            </a:prstGeom>
            <a:solidFill>
              <a:srgbClr val="A3A3A3"/>
            </a:solidFill>
            <a:ln/>
          </p:spPr>
        </p:sp>
        <p:sp>
          <p:nvSpPr>
            <p:cNvPr id="51" name="svg1_36"/>
            <p:cNvSpPr txBox="1"/>
            <p:nvPr/>
          </p:nvSpPr>
          <p:spPr>
            <a:xfrm>
              <a:off x="451165" y="7506218"/>
              <a:ext cx="174010"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BBS</a:t>
              </a:r>
              <a:endParaRPr lang="en-US" sz="587" dirty="0"/>
            </a:p>
          </p:txBody>
        </p:sp>
        <p:sp>
          <p:nvSpPr>
            <p:cNvPr id="52" name="svg1_37"/>
            <p:cNvSpPr/>
            <p:nvPr/>
          </p:nvSpPr>
          <p:spPr>
            <a:xfrm>
              <a:off x="660745" y="7524506"/>
              <a:ext cx="630204" cy="58430"/>
            </a:xfrm>
            <a:prstGeom prst="rect">
              <a:avLst/>
            </a:prstGeom>
            <a:solidFill>
              <a:srgbClr val="A3A3A3"/>
            </a:solidFill>
            <a:ln/>
          </p:spPr>
        </p:sp>
        <p:sp>
          <p:nvSpPr>
            <p:cNvPr id="53" name="svg1_38"/>
            <p:cNvSpPr txBox="1"/>
            <p:nvPr/>
          </p:nvSpPr>
          <p:spPr>
            <a:xfrm>
              <a:off x="422819" y="7600401"/>
              <a:ext cx="198608"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PMP</a:t>
              </a:r>
              <a:endParaRPr lang="en-US" sz="587" dirty="0"/>
            </a:p>
          </p:txBody>
        </p:sp>
        <p:sp>
          <p:nvSpPr>
            <p:cNvPr id="54" name="svg1_39"/>
            <p:cNvSpPr/>
            <p:nvPr/>
          </p:nvSpPr>
          <p:spPr>
            <a:xfrm>
              <a:off x="660745" y="7618689"/>
              <a:ext cx="618683" cy="58430"/>
            </a:xfrm>
            <a:prstGeom prst="rect">
              <a:avLst/>
            </a:prstGeom>
            <a:solidFill>
              <a:srgbClr val="A3A3A3"/>
            </a:solidFill>
            <a:ln/>
          </p:spPr>
        </p:sp>
        <p:sp>
          <p:nvSpPr>
            <p:cNvPr id="55" name="svg1_40"/>
            <p:cNvSpPr txBox="1"/>
            <p:nvPr/>
          </p:nvSpPr>
          <p:spPr>
            <a:xfrm>
              <a:off x="437083" y="7694676"/>
              <a:ext cx="185440"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APH</a:t>
              </a:r>
              <a:endParaRPr lang="en-US" sz="587" dirty="0"/>
            </a:p>
          </p:txBody>
        </p:sp>
        <p:sp>
          <p:nvSpPr>
            <p:cNvPr id="56" name="svg1_41"/>
            <p:cNvSpPr/>
            <p:nvPr/>
          </p:nvSpPr>
          <p:spPr>
            <a:xfrm>
              <a:off x="660745" y="7712964"/>
              <a:ext cx="578632" cy="58430"/>
            </a:xfrm>
            <a:prstGeom prst="rect">
              <a:avLst/>
            </a:prstGeom>
            <a:solidFill>
              <a:srgbClr val="A3A3A3"/>
            </a:solidFill>
            <a:ln/>
          </p:spPr>
        </p:sp>
        <p:sp>
          <p:nvSpPr>
            <p:cNvPr id="57" name="svg1_42"/>
            <p:cNvSpPr txBox="1"/>
            <p:nvPr/>
          </p:nvSpPr>
          <p:spPr>
            <a:xfrm>
              <a:off x="451439" y="7788859"/>
              <a:ext cx="177759"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TPC</a:t>
              </a:r>
              <a:endParaRPr lang="en-US" sz="587" dirty="0"/>
            </a:p>
          </p:txBody>
        </p:sp>
        <p:sp>
          <p:nvSpPr>
            <p:cNvPr id="58" name="svg1_43"/>
            <p:cNvSpPr/>
            <p:nvPr/>
          </p:nvSpPr>
          <p:spPr>
            <a:xfrm>
              <a:off x="660745" y="7807147"/>
              <a:ext cx="482255" cy="58430"/>
            </a:xfrm>
            <a:prstGeom prst="rect">
              <a:avLst/>
            </a:prstGeom>
            <a:solidFill>
              <a:srgbClr val="A3A3A3"/>
            </a:solidFill>
            <a:ln/>
          </p:spPr>
        </p:sp>
        <p:sp>
          <p:nvSpPr>
            <p:cNvPr id="59" name="svg1_44"/>
            <p:cNvSpPr txBox="1"/>
            <p:nvPr/>
          </p:nvSpPr>
          <p:spPr>
            <a:xfrm>
              <a:off x="442478" y="7883134"/>
              <a:ext cx="18690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VBC</a:t>
              </a:r>
              <a:endParaRPr lang="en-US" sz="587" dirty="0"/>
            </a:p>
          </p:txBody>
        </p:sp>
        <p:sp>
          <p:nvSpPr>
            <p:cNvPr id="60" name="svg1_45"/>
            <p:cNvSpPr/>
            <p:nvPr/>
          </p:nvSpPr>
          <p:spPr>
            <a:xfrm>
              <a:off x="660745" y="7901422"/>
              <a:ext cx="477774" cy="58430"/>
            </a:xfrm>
            <a:prstGeom prst="rect">
              <a:avLst/>
            </a:prstGeom>
            <a:solidFill>
              <a:srgbClr val="A3A3A3"/>
            </a:solidFill>
            <a:ln/>
          </p:spPr>
        </p:sp>
        <p:sp>
          <p:nvSpPr>
            <p:cNvPr id="61" name="svg1_46"/>
            <p:cNvSpPr txBox="1"/>
            <p:nvPr/>
          </p:nvSpPr>
          <p:spPr>
            <a:xfrm>
              <a:off x="435072" y="7977408"/>
              <a:ext cx="190744"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AAA</a:t>
              </a:r>
              <a:endParaRPr lang="en-US" sz="587" dirty="0"/>
            </a:p>
          </p:txBody>
        </p:sp>
        <p:sp>
          <p:nvSpPr>
            <p:cNvPr id="62" name="svg1_47"/>
            <p:cNvSpPr/>
            <p:nvPr/>
          </p:nvSpPr>
          <p:spPr>
            <a:xfrm>
              <a:off x="660745" y="7995696"/>
              <a:ext cx="441107" cy="58430"/>
            </a:xfrm>
            <a:prstGeom prst="rect">
              <a:avLst/>
            </a:prstGeom>
            <a:solidFill>
              <a:srgbClr val="A3A3A3"/>
            </a:solidFill>
            <a:ln/>
          </p:spPr>
        </p:sp>
        <p:sp>
          <p:nvSpPr>
            <p:cNvPr id="63" name="svg1_48"/>
            <p:cNvSpPr txBox="1"/>
            <p:nvPr/>
          </p:nvSpPr>
          <p:spPr>
            <a:xfrm>
              <a:off x="454091" y="8071683"/>
              <a:ext cx="167427"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TPP</a:t>
              </a:r>
              <a:endParaRPr lang="en-US" sz="587" dirty="0"/>
            </a:p>
          </p:txBody>
        </p:sp>
        <p:sp>
          <p:nvSpPr>
            <p:cNvPr id="64" name="svg1_49"/>
            <p:cNvSpPr/>
            <p:nvPr/>
          </p:nvSpPr>
          <p:spPr>
            <a:xfrm>
              <a:off x="660745" y="8089971"/>
              <a:ext cx="375727" cy="58430"/>
            </a:xfrm>
            <a:prstGeom prst="rect">
              <a:avLst/>
            </a:prstGeom>
            <a:solidFill>
              <a:srgbClr val="A3A3A3"/>
            </a:solidFill>
            <a:ln/>
          </p:spPr>
        </p:sp>
        <p:sp>
          <p:nvSpPr>
            <p:cNvPr id="65" name="svg1_50"/>
            <p:cNvSpPr txBox="1"/>
            <p:nvPr/>
          </p:nvSpPr>
          <p:spPr>
            <a:xfrm>
              <a:off x="459486" y="8165866"/>
              <a:ext cx="162032"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STP</a:t>
              </a:r>
              <a:endParaRPr lang="en-US" sz="587" dirty="0"/>
            </a:p>
          </p:txBody>
        </p:sp>
        <p:sp>
          <p:nvSpPr>
            <p:cNvPr id="66" name="svg1_51"/>
            <p:cNvSpPr/>
            <p:nvPr/>
          </p:nvSpPr>
          <p:spPr>
            <a:xfrm>
              <a:off x="660745" y="8184154"/>
              <a:ext cx="339060" cy="58430"/>
            </a:xfrm>
            <a:prstGeom prst="rect">
              <a:avLst/>
            </a:prstGeom>
            <a:solidFill>
              <a:srgbClr val="A3A3A3"/>
            </a:solidFill>
            <a:ln/>
          </p:spPr>
        </p:sp>
        <p:sp>
          <p:nvSpPr>
            <p:cNvPr id="67" name="svg1_52"/>
            <p:cNvSpPr txBox="1"/>
            <p:nvPr/>
          </p:nvSpPr>
          <p:spPr>
            <a:xfrm>
              <a:off x="451988" y="8260141"/>
              <a:ext cx="169347"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INN</a:t>
              </a:r>
              <a:endParaRPr lang="en-US" sz="587" dirty="0"/>
            </a:p>
          </p:txBody>
        </p:sp>
        <p:sp>
          <p:nvSpPr>
            <p:cNvPr id="68" name="svg1_53"/>
            <p:cNvSpPr/>
            <p:nvPr/>
          </p:nvSpPr>
          <p:spPr>
            <a:xfrm>
              <a:off x="660745" y="8278338"/>
              <a:ext cx="304678" cy="58522"/>
            </a:xfrm>
            <a:prstGeom prst="rect">
              <a:avLst/>
            </a:prstGeom>
            <a:solidFill>
              <a:srgbClr val="A3A3A3"/>
            </a:solidFill>
            <a:ln/>
          </p:spPr>
        </p:sp>
        <p:sp>
          <p:nvSpPr>
            <p:cNvPr id="69" name="svg1_54"/>
            <p:cNvSpPr txBox="1"/>
            <p:nvPr/>
          </p:nvSpPr>
          <p:spPr>
            <a:xfrm>
              <a:off x="449062" y="8354416"/>
              <a:ext cx="172273" cy="104790"/>
            </a:xfrm>
            <a:prstGeom prst="rect">
              <a:avLst/>
            </a:prstGeom>
            <a:noFill/>
            <a:ln/>
          </p:spPr>
          <p:txBody>
            <a:bodyPr wrap="none" lIns="0" tIns="0" rIns="0" bIns="0" rtlCol="0" anchor="ctr"/>
            <a:lstStyle/>
            <a:p>
              <a:pPr algn="r" indent="0" marL="0">
                <a:buNone/>
              </a:pPr>
              <a:r>
                <a:rPr lang="en-US" sz="587" dirty="0">
                  <a:solidFill>
                    <a:srgbClr val="262626"/>
                  </a:solidFill>
                  <a:latin typeface="Calibri" pitchFamily="34" charset="0"/>
                  <a:ea typeface="Calibri" pitchFamily="34" charset="-122"/>
                  <a:cs typeface="Calibri" pitchFamily="34" charset="-120"/>
                </a:rPr>
                <a:t>PBP</a:t>
              </a:r>
              <a:endParaRPr lang="en-US" sz="587" dirty="0"/>
            </a:p>
          </p:txBody>
        </p:sp>
        <p:sp>
          <p:nvSpPr>
            <p:cNvPr id="70" name="svg1_55"/>
            <p:cNvSpPr/>
            <p:nvPr/>
          </p:nvSpPr>
          <p:spPr>
            <a:xfrm>
              <a:off x="660745" y="8372704"/>
              <a:ext cx="235915" cy="58430"/>
            </a:xfrm>
            <a:prstGeom prst="rect">
              <a:avLst/>
            </a:prstGeom>
            <a:solidFill>
              <a:srgbClr val="A3A3A3"/>
            </a:solidFill>
            <a:ln/>
          </p:spPr>
        </p:sp>
        <p:sp>
          <p:nvSpPr>
            <p:cNvPr id="71" name="svg1_56"/>
            <p:cNvSpPr/>
            <p:nvPr/>
          </p:nvSpPr>
          <p:spPr>
            <a:xfrm>
              <a:off x="660745" y="7127839"/>
              <a:ext cx="0" cy="1320302"/>
            </a:xfrm>
            <a:prstGeom prst="line">
              <a:avLst/>
            </a:prstGeom>
            <a:noFill/>
            <a:ln w="6858">
              <a:solidFill>
                <a:srgbClr val="8C8C8C"/>
              </a:solidFill>
              <a:prstDash val="solid"/>
            </a:ln>
          </p:spPr>
        </p:sp>
        <p:sp>
          <p:nvSpPr>
            <p:cNvPr id="72" name="svg1_57"/>
            <p:cNvSpPr/>
            <p:nvPr/>
          </p:nvSpPr>
          <p:spPr>
            <a:xfrm>
              <a:off x="1191189" y="7127839"/>
              <a:ext cx="0" cy="1339870"/>
            </a:xfrm>
            <a:prstGeom prst="line">
              <a:avLst/>
            </a:prstGeom>
            <a:noFill/>
            <a:ln w="7874">
              <a:solidFill>
                <a:srgbClr val="404040"/>
              </a:solidFill>
              <a:prstDash val="dash"/>
            </a:ln>
          </p:spPr>
        </p:sp>
        <p:sp>
          <p:nvSpPr>
            <p:cNvPr id="73" name="svg1_58"/>
            <p:cNvSpPr txBox="1"/>
            <p:nvPr/>
          </p:nvSpPr>
          <p:spPr>
            <a:xfrm>
              <a:off x="627370" y="8460395"/>
              <a:ext cx="1134496" cy="104790"/>
            </a:xfrm>
            <a:prstGeom prst="rect">
              <a:avLst/>
            </a:prstGeom>
            <a:noFill/>
            <a:ln/>
          </p:spPr>
          <p:txBody>
            <a:bodyPr wrap="none" lIns="0" tIns="0" rIns="0" bIns="0" rtlCol="0" anchor="ctr"/>
            <a:lstStyle/>
            <a:p>
              <a:pPr algn="ctr" indent="0" marL="0">
                <a:buNone/>
              </a:pPr>
              <a:r>
                <a:rPr lang="en-US" sz="557" dirty="0">
                  <a:solidFill>
                    <a:srgbClr val="404040"/>
                  </a:solidFill>
                  <a:latin typeface="Calibri" pitchFamily="34" charset="0"/>
                  <a:ea typeface="Calibri" pitchFamily="34" charset="-122"/>
                  <a:cs typeface="Calibri" pitchFamily="34" charset="-120"/>
                </a:rPr>
                <a:t>Trung vị 4,63x · ngành 2026 7,99x</a:t>
              </a:r>
              <a:endParaRPr lang="en-US" sz="557" dirty="0"/>
            </a:p>
          </p:txBody>
        </p:sp>
        <p:sp>
          <p:nvSpPr>
            <p:cNvPr id="74" name="svg1_59"/>
            <p:cNvSpPr txBox="1"/>
            <p:nvPr/>
          </p:nvSpPr>
          <p:spPr>
            <a:xfrm>
              <a:off x="2256008" y="7129211"/>
              <a:ext cx="18918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13,7x</a:t>
              </a:r>
              <a:endParaRPr lang="en-US" sz="587" dirty="0"/>
            </a:p>
          </p:txBody>
        </p:sp>
        <p:sp>
          <p:nvSpPr>
            <p:cNvPr id="75" name="svg1_60"/>
            <p:cNvSpPr txBox="1"/>
            <p:nvPr/>
          </p:nvSpPr>
          <p:spPr>
            <a:xfrm>
              <a:off x="2212848" y="7223394"/>
              <a:ext cx="189189"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13,3x</a:t>
              </a:r>
              <a:endParaRPr lang="en-US" sz="587" dirty="0"/>
            </a:p>
          </p:txBody>
        </p:sp>
        <p:sp>
          <p:nvSpPr>
            <p:cNvPr id="76" name="svg1_61"/>
            <p:cNvSpPr txBox="1"/>
            <p:nvPr/>
          </p:nvSpPr>
          <p:spPr>
            <a:xfrm>
              <a:off x="1714134" y="7317669"/>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9,0x</a:t>
              </a:r>
              <a:endParaRPr lang="en-US" sz="587" dirty="0"/>
            </a:p>
          </p:txBody>
        </p:sp>
        <p:sp>
          <p:nvSpPr>
            <p:cNvPr id="77" name="svg1_62"/>
            <p:cNvSpPr txBox="1"/>
            <p:nvPr/>
          </p:nvSpPr>
          <p:spPr>
            <a:xfrm>
              <a:off x="1412748" y="7411852"/>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6,3x</a:t>
              </a:r>
              <a:endParaRPr lang="en-US" sz="587" dirty="0"/>
            </a:p>
          </p:txBody>
        </p:sp>
        <p:sp>
          <p:nvSpPr>
            <p:cNvPr id="78" name="svg1_63"/>
            <p:cNvSpPr txBox="1"/>
            <p:nvPr/>
          </p:nvSpPr>
          <p:spPr>
            <a:xfrm>
              <a:off x="1315456" y="7506218"/>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5,5x</a:t>
              </a:r>
              <a:endParaRPr lang="en-US" sz="587" dirty="0"/>
            </a:p>
          </p:txBody>
        </p:sp>
        <p:sp>
          <p:nvSpPr>
            <p:cNvPr id="79" name="svg1_64"/>
            <p:cNvSpPr txBox="1"/>
            <p:nvPr/>
          </p:nvSpPr>
          <p:spPr>
            <a:xfrm>
              <a:off x="1303752" y="7600401"/>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5,4x</a:t>
              </a:r>
              <a:endParaRPr lang="en-US" sz="587" dirty="0"/>
            </a:p>
          </p:txBody>
        </p:sp>
        <p:sp>
          <p:nvSpPr>
            <p:cNvPr id="80" name="svg1_65"/>
            <p:cNvSpPr txBox="1"/>
            <p:nvPr/>
          </p:nvSpPr>
          <p:spPr>
            <a:xfrm>
              <a:off x="1263518" y="7694676"/>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5,0x</a:t>
              </a:r>
              <a:endParaRPr lang="en-US" sz="587" dirty="0"/>
            </a:p>
          </p:txBody>
        </p:sp>
        <p:sp>
          <p:nvSpPr>
            <p:cNvPr id="81" name="svg1_66"/>
            <p:cNvSpPr txBox="1"/>
            <p:nvPr/>
          </p:nvSpPr>
          <p:spPr>
            <a:xfrm>
              <a:off x="1167323" y="7788859"/>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4,2x</a:t>
              </a:r>
              <a:endParaRPr lang="en-US" sz="587" dirty="0"/>
            </a:p>
          </p:txBody>
        </p:sp>
        <p:sp>
          <p:nvSpPr>
            <p:cNvPr id="82" name="svg1_67"/>
            <p:cNvSpPr txBox="1"/>
            <p:nvPr/>
          </p:nvSpPr>
          <p:spPr>
            <a:xfrm>
              <a:off x="1163391" y="7883134"/>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4,2x</a:t>
              </a:r>
              <a:endParaRPr lang="en-US" sz="587" dirty="0"/>
            </a:p>
          </p:txBody>
        </p:sp>
        <p:sp>
          <p:nvSpPr>
            <p:cNvPr id="83" name="svg1_68"/>
            <p:cNvSpPr txBox="1"/>
            <p:nvPr/>
          </p:nvSpPr>
          <p:spPr>
            <a:xfrm>
              <a:off x="1126084" y="7977408"/>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3,9x</a:t>
              </a:r>
              <a:endParaRPr lang="en-US" sz="587" dirty="0"/>
            </a:p>
          </p:txBody>
        </p:sp>
        <p:sp>
          <p:nvSpPr>
            <p:cNvPr id="84" name="svg1_69"/>
            <p:cNvSpPr txBox="1"/>
            <p:nvPr/>
          </p:nvSpPr>
          <p:spPr>
            <a:xfrm>
              <a:off x="1061253" y="8071683"/>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3,3x</a:t>
              </a:r>
              <a:endParaRPr lang="en-US" sz="587" dirty="0"/>
            </a:p>
          </p:txBody>
        </p:sp>
        <p:sp>
          <p:nvSpPr>
            <p:cNvPr id="85" name="svg1_70"/>
            <p:cNvSpPr txBox="1"/>
            <p:nvPr/>
          </p:nvSpPr>
          <p:spPr>
            <a:xfrm>
              <a:off x="1023945" y="8165866"/>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3,0x</a:t>
              </a:r>
              <a:endParaRPr lang="en-US" sz="587" dirty="0"/>
            </a:p>
          </p:txBody>
        </p:sp>
        <p:sp>
          <p:nvSpPr>
            <p:cNvPr id="86" name="svg1_71"/>
            <p:cNvSpPr txBox="1"/>
            <p:nvPr/>
          </p:nvSpPr>
          <p:spPr>
            <a:xfrm>
              <a:off x="989655" y="8260141"/>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2,7x</a:t>
              </a:r>
              <a:endParaRPr lang="en-US" sz="587" dirty="0"/>
            </a:p>
          </p:txBody>
        </p:sp>
        <p:sp>
          <p:nvSpPr>
            <p:cNvPr id="87" name="svg1_72"/>
            <p:cNvSpPr txBox="1"/>
            <p:nvPr/>
          </p:nvSpPr>
          <p:spPr>
            <a:xfrm>
              <a:off x="920892" y="8354416"/>
              <a:ext cx="151333" cy="104790"/>
            </a:xfrm>
            <a:prstGeom prst="rect">
              <a:avLst/>
            </a:prstGeom>
            <a:solidFill>
              <a:srgbClr val="FFFFFF"/>
            </a:solidFill>
            <a:ln/>
          </p:spPr>
          <p:txBody>
            <a:bodyPr wrap="none" lIns="0" tIns="0" rIns="0" bIns="0" rtlCol="0" anchor="ctr"/>
            <a:lstStyle/>
            <a:p>
              <a:pPr algn="l" indent="0" marL="0">
                <a:buNone/>
              </a:pPr>
              <a:r>
                <a:rPr lang="en-US" sz="587" dirty="0">
                  <a:solidFill>
                    <a:srgbClr val="262626"/>
                  </a:solidFill>
                  <a:latin typeface="Calibri" pitchFamily="34" charset="0"/>
                  <a:ea typeface="Calibri" pitchFamily="34" charset="-122"/>
                  <a:cs typeface="Calibri" pitchFamily="34" charset="-120"/>
                </a:rPr>
                <a:t>2,1x</a:t>
              </a:r>
              <a:endParaRPr lang="en-US" sz="587" dirty="0"/>
            </a:p>
          </p:txBody>
        </p:sp>
      </p:grpSp>
      <p:sp>
        <p:nvSpPr>
          <p:cNvPr id="88" name="Text 82"/>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89" name="Text 83"/>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90" name="Text 84"/>
          <p:cNvSpPr txBox="1"/>
          <p:nvPr/>
        </p:nvSpPr>
        <p:spPr>
          <a:xfrm>
            <a:off x="484632" y="5905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5. ĐỊNH GIÁ</a:t>
            </a:r>
            <a:endParaRPr lang="en-US" sz="880" dirty="0"/>
          </a:p>
        </p:txBody>
      </p:sp>
      <p:sp>
        <p:nvSpPr>
          <p:cNvPr id="91" name="Text 85"/>
          <p:cNvSpPr txBox="1"/>
          <p:nvPr/>
        </p:nvSpPr>
        <p:spPr>
          <a:xfrm>
            <a:off x="405354" y="862005"/>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39: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WACC 13,6%: Rf là bình quân 10 năm, total beta 1,48</a:t>
            </a:r>
            <a:endParaRPr lang="en-US" sz="720" dirty="0"/>
          </a:p>
        </p:txBody>
      </p:sp>
      <p:sp>
        <p:nvSpPr>
          <p:cNvPr id="92" name="Text 86"/>
          <p:cNvSpPr txBox="1"/>
          <p:nvPr/>
        </p:nvSpPr>
        <p:spPr>
          <a:xfrm>
            <a:off x="405354" y="3005633"/>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(Discount rate: nguồn ghi ở cột C cạnh từng giả định); chi tiết ở Fig. A11, A12</a:t>
            </a:r>
            <a:endParaRPr lang="en-US" sz="600" dirty="0"/>
          </a:p>
        </p:txBody>
      </p:sp>
      <p:sp>
        <p:nvSpPr>
          <p:cNvPr id="93" name="Text 87"/>
          <p:cNvSpPr txBox="1"/>
          <p:nvPr/>
        </p:nvSpPr>
        <p:spPr>
          <a:xfrm>
            <a:off x="405354" y="3302264"/>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40:</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Giá trị cuối kỳ lớn hơn toàn bộ EV do FCFF 2026–2028 âm</a:t>
            </a:r>
            <a:endParaRPr lang="en-US" sz="720" dirty="0"/>
          </a:p>
        </p:txBody>
      </p:sp>
      <p:sp>
        <p:nvSpPr>
          <p:cNvPr id="94" name="Text 88"/>
          <p:cNvSpPr txBox="1"/>
          <p:nvPr/>
        </p:nvSpPr>
        <p:spPr>
          <a:xfrm>
            <a:off x="405354" y="3539277"/>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95" name="Text 89"/>
          <p:cNvSpPr txBox="1"/>
          <p:nvPr/>
        </p:nvSpPr>
        <p:spPr>
          <a:xfrm>
            <a:off x="405354" y="4654296"/>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(DCF)</a:t>
            </a:r>
            <a:endParaRPr lang="en-US" sz="600" dirty="0"/>
          </a:p>
        </p:txBody>
      </p:sp>
      <p:sp>
        <p:nvSpPr>
          <p:cNvPr id="96" name="Text 90"/>
          <p:cNvSpPr txBox="1"/>
          <p:nvPr/>
        </p:nvSpPr>
        <p:spPr>
          <a:xfrm>
            <a:off x="405354" y="4859579"/>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VC Method: pre-money 25,3 tỷ đồng</a:t>
            </a:r>
            <a:endParaRPr lang="en-US" sz="720" dirty="0"/>
          </a:p>
        </p:txBody>
      </p:sp>
      <p:sp>
        <p:nvSpPr>
          <p:cNvPr id="97" name="Text 91"/>
          <p:cNvSpPr txBox="1"/>
          <p:nvPr/>
        </p:nvSpPr>
        <p:spPr>
          <a:xfrm>
            <a:off x="405354" y="4987138"/>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98" name="Text 92"/>
          <p:cNvSpPr txBox="1"/>
          <p:nvPr/>
        </p:nvSpPr>
        <p:spPr>
          <a:xfrm>
            <a:off x="405354" y="6458956"/>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(VCM); bội số ngành Containers &amp; Packaging (FiinX, 2026)</a:t>
            </a:r>
            <a:endParaRPr lang="en-US" sz="600" dirty="0"/>
          </a:p>
        </p:txBody>
      </p:sp>
      <p:sp>
        <p:nvSpPr>
          <p:cNvPr id="99" name="Text 93"/>
          <p:cNvSpPr txBox="1"/>
          <p:nvPr/>
        </p:nvSpPr>
        <p:spPr>
          <a:xfrm>
            <a:off x="405354" y="6755587"/>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EV/EBITDA của 14 DN bao bì niêm yết: trung vị 4,6 lần</a:t>
            </a:r>
            <a:endParaRPr lang="en-US" sz="720" dirty="0"/>
          </a:p>
        </p:txBody>
      </p:sp>
      <p:sp>
        <p:nvSpPr>
          <p:cNvPr id="100" name="Text 94"/>
          <p:cNvSpPr txBox="1"/>
          <p:nvPr/>
        </p:nvSpPr>
        <p:spPr>
          <a:xfrm>
            <a:off x="405354" y="6992691"/>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Lần (4 quý gần nhất)</a:t>
            </a:r>
            <a:endParaRPr lang="en-US" sz="630" dirty="0"/>
          </a:p>
        </p:txBody>
      </p:sp>
      <p:sp>
        <p:nvSpPr>
          <p:cNvPr id="101" name="Text 95"/>
          <p:cNvSpPr txBox="1"/>
          <p:nvPr/>
        </p:nvSpPr>
        <p:spPr>
          <a:xfrm>
            <a:off x="405354" y="8622243"/>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FiinX (giá đóng cửa 28/9/2026; BCTC 4 quý gần nhất đến Q2/2026); đủ 16 DN ở Fig. A13</a:t>
            </a:r>
            <a:endParaRPr lang="en-US" sz="600" dirty="0"/>
          </a:p>
        </p:txBody>
      </p:sp>
      <p:sp>
        <p:nvSpPr>
          <p:cNvPr id="102" name="Text 96"/>
          <p:cNvSpPr txBox="1"/>
          <p:nvPr/>
        </p:nvSpPr>
        <p:spPr>
          <a:xfrm>
            <a:off x="2745303" y="84518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5.1. Lựa chọn phương pháp</a:t>
            </a:r>
            <a:endParaRPr lang="en-US" sz="900" dirty="0"/>
          </a:p>
        </p:txBody>
      </p:sp>
      <p:sp>
        <p:nvSpPr>
          <p:cNvPr id="103" name="Text 97"/>
          <p:cNvSpPr txBox="1"/>
          <p:nvPr/>
        </p:nvSpPr>
        <p:spPr>
          <a:xfrm>
            <a:off x="2745303" y="1014618"/>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Nhóm dùng cả ba phương pháp đề bài cho phép; mỗi phương pháp trả lời một câu hỏi khác nhau. </a:t>
            </a:r>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DCF (FCFF)</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phù hợp vì AgriPack đã có ba năm doanh thu, EBITDA dương và kế hoạch đầu tư cụ thể: DCF đo giá trị khi doanh nghiệp tiếp tục hoạt động như dự phóng. </a:t>
            </a:r>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VC Method</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hợp với giai đoạn đầu tăng trưởng vì dùng trực tiếp tỷ lệ thất bại 35–45% của đề bài và góc nhìn của nhà đầu tư mạo hiểm. </a:t>
            </a:r>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Multiples</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neo kết quả vào giá thị trường của 14 doanh nghiệp bao bì niêm yết. Trọng số 40/40/20: Multiples chỉ 20% vì mẫu là doanh nghiệp lớn, trưởng thành và bội số trên chỉ tiêu 2025A chỉ phản ánh bộ máy hiện tại (so sánh ưu, nhược điểm ở Mục 5.6).</a:t>
            </a:r>
            <a:endParaRPr lang="en-US" sz="850" dirty="0"/>
          </a:p>
        </p:txBody>
      </p:sp>
      <p:sp>
        <p:nvSpPr>
          <p:cNvPr id="104" name="Text 98"/>
          <p:cNvSpPr txBox="1"/>
          <p:nvPr/>
        </p:nvSpPr>
        <p:spPr>
          <a:xfrm>
            <a:off x="2745303" y="1973184"/>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5.2. Chi phí vốn</a:t>
            </a:r>
            <a:endParaRPr lang="en-US" sz="900" dirty="0"/>
          </a:p>
        </p:txBody>
      </p:sp>
      <p:sp>
        <p:nvSpPr>
          <p:cNvPr id="105" name="Text 99"/>
          <p:cNvSpPr txBox="1"/>
          <p:nvPr/>
        </p:nvSpPr>
        <p:spPr>
          <a:xfrm>
            <a:off x="2745303" y="2142531"/>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WACC 13,6% (Fig. 39). Rf là bình quân lợi suất TPCP kỳ hạn 10 năm của 10 năm 2016–2025 (3,92%) thay vì một quan sát tại thời điểm định giá (~4,47% đầu 6/2026), để chi phí vốn dài hạn không phụ thuộc đỉnh hay đáy của chu kỳ lãi suất – lợi suất dao động từ 2,1% (2021) đến 6,9% (2016) (Fig. A12). ERP Việt Nam 8,13% (4,23% thị trường phát triển + 3,9% rủi ro quốc gia); beta không đòn bẩy ngành bao bì 0,78 (Damodaran) điều chỉnh theo D/E mục tiêu 41% và chia cho ρ = 0,7 vì quỹ VC chỉ đa dạng hóa một phần, cho total beta 1,48 và Ke 15,9%. Chi phí nợ 10% trước thuế. Rủi ro thất bại không cộng vào WACC mà xử lý riêng trong VC Method để tránh tính trùng.</a:t>
            </a:r>
            <a:endParaRPr lang="en-US" sz="850" dirty="0"/>
          </a:p>
        </p:txBody>
      </p:sp>
      <p:sp>
        <p:nvSpPr>
          <p:cNvPr id="106" name="Text 100"/>
          <p:cNvSpPr txBox="1"/>
          <p:nvPr/>
        </p:nvSpPr>
        <p:spPr>
          <a:xfrm>
            <a:off x="2745303" y="3101188"/>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5.3. DCF</a:t>
            </a:r>
            <a:endParaRPr lang="en-US" sz="900" dirty="0"/>
          </a:p>
        </p:txBody>
      </p:sp>
      <p:sp>
        <p:nvSpPr>
          <p:cNvPr id="107" name="Text 101"/>
          <p:cNvSpPr txBox="1"/>
          <p:nvPr/>
        </p:nvSpPr>
        <p:spPr>
          <a:xfrm>
            <a:off x="2745303" y="3270534"/>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DCF cho pre-money 41,1 tỷ đồng (Fig. 40, Fig. 41). PV của FCFF 2026–2030 âm 33,1 tỷ vì nhà máy 2027; giá trị cuối kỳ (138,0 tỷ năm 2030, hiện giá 72,8 tỷ) bằng 183% EV. Giá trị cuối kỳ dùng FCFF chuẩn hóa NOPAT 2031 × (1 − g/RONIC), g = 5% (lạm phát mục tiêu cộng tăng trưởng thực thấp) và RONIC 18% (cao hơn ROIC 2030 vì còn công suất dư). WACC ±1 điểm % và g ±1 điểm % cho 29,1–60,2 tỷ (Fig. A14). Kết quả tương đương EV/EBITDA 2025A 5,2 lần, gần trung vị 4,6 lần của ngành: DCF không trả thêm nhiều cho tăng trưởng vì khoản đầu tư 2027 chỉ vừa bù chi phí vốn.</a:t>
            </a:r>
            <a:endParaRPr lang="en-US" sz="850" dirty="0"/>
          </a:p>
        </p:txBody>
      </p:sp>
      <p:sp>
        <p:nvSpPr>
          <p:cNvPr id="108" name="Text 102"/>
          <p:cNvSpPr txBox="1"/>
          <p:nvPr/>
        </p:nvSpPr>
        <p:spPr>
          <a:xfrm>
            <a:off x="2745303" y="4128699"/>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Bảng tính DCF: FCFF, hệ số chiết khấu và giá trị hiện tại</a:t>
            </a:r>
            <a:endParaRPr lang="en-US" sz="720" dirty="0"/>
          </a:p>
        </p:txBody>
      </p:sp>
      <p:sp>
        <p:nvSpPr>
          <p:cNvPr id="109" name="Text 103"/>
          <p:cNvSpPr txBox="1"/>
          <p:nvPr/>
        </p:nvSpPr>
        <p:spPr>
          <a:xfrm>
            <a:off x="2745303" y="4256166"/>
            <a:ext cx="4673773"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10" name="Text 104"/>
          <p:cNvSpPr txBox="1"/>
          <p:nvPr/>
        </p:nvSpPr>
        <p:spPr>
          <a:xfrm>
            <a:off x="2745303" y="5460248"/>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(DCF, Discount rate); chiết khấu cuối năm, t0 = 01/01/2026; cột "Cuối kỳ" = giá trị cuối kỳ tại 2030</a:t>
            </a:r>
            <a:endParaRPr lang="en-US" sz="600" dirty="0"/>
          </a:p>
        </p:txBody>
      </p:sp>
      <p:sp>
        <p:nvSpPr>
          <p:cNvPr id="111" name="Text 105"/>
          <p:cNvSpPr txBox="1"/>
          <p:nvPr/>
        </p:nvSpPr>
        <p:spPr>
          <a:xfrm>
            <a:off x="2745303" y="5634350"/>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5.4. VC Method</a:t>
            </a:r>
            <a:endParaRPr lang="en-US" sz="900" dirty="0"/>
          </a:p>
        </p:txBody>
      </p:sp>
      <p:sp>
        <p:nvSpPr>
          <p:cNvPr id="112" name="Text 106"/>
          <p:cNvSpPr txBox="1"/>
          <p:nvPr/>
        </p:nvSpPr>
        <p:spPr>
          <a:xfrm>
            <a:off x="2745303" y="5803697"/>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VC Method cho pre-money 25,3 tỷ đồng (Fig. 42). Giá trị thoái vốn cuối 2030 là bình quân P/E 9,4 lần × LNST 2030E (130,2 tỷ) và EV/EBITDA 8,0 lần × EBITDA 2030E cộng tiền trừ nợ (267,2 tỷ), tức 198,7 tỷ (bội số bình quân ngành Containers &amp; Packaging 2026, FiinX). Tỷ lệ thất bại 40% là xác suất tích lũy trong 5 năm (trung điểm 35–45%, Mục 2): quy đổi ra 9,7%/năm, tỷ suất yêu cầu khi thành công 25,9%. Post-money = 198,7 × (1 − 40%)/(1 + 13,6%)</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⁵</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 62,9 tỷ; trừ 37,6 tỷ vốn cổ phần cần huy động, pre-money là 25,3 tỷ. Nếu dùng nhầm 40% như xác suất mỗi năm, post-money chỉ còn 8,2 tỷ.</a:t>
            </a:r>
            <a:endParaRPr lang="en-US" sz="850" dirty="0"/>
          </a:p>
        </p:txBody>
      </p:sp>
      <p:sp>
        <p:nvSpPr>
          <p:cNvPr id="113" name="Text 107"/>
          <p:cNvSpPr txBox="1"/>
          <p:nvPr/>
        </p:nvSpPr>
        <p:spPr>
          <a:xfrm>
            <a:off x="2745303" y="6630772"/>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5.5. Multiples</a:t>
            </a:r>
            <a:endParaRPr lang="en-US" sz="900" dirty="0"/>
          </a:p>
        </p:txBody>
      </p:sp>
      <p:sp>
        <p:nvSpPr>
          <p:cNvPr id="114" name="Text 108"/>
          <p:cNvSpPr txBox="1"/>
          <p:nvPr/>
        </p:nvSpPr>
        <p:spPr>
          <a:xfrm>
            <a:off x="2745303" y="6800118"/>
            <a:ext cx="4409237" cy="789402"/>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Multiples cho pre-money 27,7 tỷ đồng (Fig. 43, Fig. 44). Mẫu gồm 14 doanh nghiệp bao bì niêm yết (loại MCP vì P/E 84 lần do lợi nhuận quá thấp, PBT vì là doanh nghiệp thương mại); trung vị EV/EBITDA 4,63 lần, P/E 7,1 lần; bình quân ngành 2026 theo FiinX 7,99 lần và 9,43 lần. Bội số được áp lên chỉ tiêu 2025A – EBITDA 7,7 tỷ và LNST chuẩn hóa thuế 20% là 3,54 tỷ (năm 2025 không nộp thuế nhờ chuyển lỗ) – rồi chiết khấu 30% cho thiếu thanh khoản và quy mô nhỏ. Nhóm không áp bội số lên chỉ tiêu 2026E (54,0 tỷ trước chiết khấu) vì EBITDA 2026E cần chính khoản vốn mới để tạo ra.</a:t>
            </a:r>
            <a:endParaRPr lang="en-US" sz="850" dirty="0"/>
          </a:p>
        </p:txBody>
      </p:sp>
      <p:sp>
        <p:nvSpPr>
          <p:cNvPr id="115" name="Text 109"/>
          <p:cNvSpPr txBox="1"/>
          <p:nvPr/>
        </p:nvSpPr>
        <p:spPr>
          <a:xfrm>
            <a:off x="2745303" y="7658283"/>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Multiples trên chỉ tiêu 2025A: pre-money 27,7 tỷ sau DLOM 30%</a:t>
            </a:r>
            <a:endParaRPr lang="en-US" sz="720" dirty="0"/>
          </a:p>
        </p:txBody>
      </p:sp>
      <p:sp>
        <p:nvSpPr>
          <p:cNvPr id="116" name="Text 110"/>
          <p:cNvSpPr txBox="1"/>
          <p:nvPr/>
        </p:nvSpPr>
        <p:spPr>
          <a:xfrm>
            <a:off x="2745303" y="7785842"/>
            <a:ext cx="4673773"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17" name="Text 111"/>
          <p:cNvSpPr txBox="1"/>
          <p:nvPr/>
        </p:nvSpPr>
        <p:spPr>
          <a:xfrm>
            <a:off x="2745303" y="8721913"/>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Sheet Multiples; FiinX (28/9/2026)</a:t>
            </a:r>
            <a:endParaRPr lang="en-US" sz="600" dirty="0"/>
          </a:p>
        </p:txBody>
      </p:sp>
      <p:sp>
        <p:nvSpPr>
          <p:cNvPr id="118" name="Text 112"/>
          <p:cNvSpPr txBox="1"/>
          <p:nvPr/>
        </p:nvSpPr>
        <p:spPr>
          <a:xfrm>
            <a:off x="2745303" y="8896106"/>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5.6. So sánh, diễn giải kết quả và hạn chế của từng phương pháp</a:t>
            </a:r>
            <a:endParaRPr lang="en-US" sz="900" dirty="0"/>
          </a:p>
        </p:txBody>
      </p:sp>
      <p:sp>
        <p:nvSpPr>
          <p:cNvPr id="119" name="Text 113"/>
          <p:cNvSpPr txBox="1"/>
          <p:nvPr/>
        </p:nvSpPr>
        <p:spPr>
          <a:xfrm>
            <a:off x="2745303" y="9065453"/>
            <a:ext cx="4409237" cy="920984"/>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Ba phương pháp cho 25,3–41,1 tỷ; pre-money bình quân gia quyền 32,1 tỷ đồng, khoảng 19,7–49,2 tỷ (Fig. 45). </a:t>
            </a:r>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Vì sao DCF cao hơn VC Method 15,8 tỷ.</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VC Method tính xác suất thất bại còn DCF thì không: DCF điều chỉnh xác suất sống sót (60% × 41,1 + 40% × giá trị thanh lý 15,0 tỷ) cho 30,7 tỷ, gần VC Method và Multiples. Phần còn lại đến từ giá trị năm 2030: DCF dựa trên dòng tiền sau 2030 (138,0 tỷ), VC Method dùng bội số ngành (198,7 tỷ) – riêng EV/EBITDA 8 lần cho 267 tỷ vì biên EBITDA 2030 (20%) cao hơn nhiều biên EBIT (11,5%) khi khấu hao lớn. Multiples thấp hơn DCF vì chỉ định giá bộ máy 2025.</a:t>
            </a:r>
            <a:endParaRPr lang="en-US" sz="850" dirty="0"/>
          </a:p>
        </p:txBody>
      </p:sp>
      <p:sp>
        <p:nvSpPr>
          <p:cNvPr id="120" name="Text 114"/>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21" name="Text 115"/>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14</a:t>
            </a:r>
            <a:endParaRPr lang="en-US" sz="6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44041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562813"/>
            <a:ext cx="2159996" cy="0"/>
          </a:xfrm>
          <a:prstGeom prst="line">
            <a:avLst/>
          </a:prstGeom>
          <a:noFill/>
          <a:ln w="9525">
            <a:solidFill>
              <a:srgbClr val="7B1E2B"/>
            </a:solidFill>
            <a:prstDash val="solid"/>
          </a:ln>
        </p:spPr>
      </p:sp>
      <p:sp>
        <p:nvSpPr>
          <p:cNvPr id="5" name="Shape 3"/>
          <p:cNvSpPr/>
          <p:nvPr/>
        </p:nvSpPr>
        <p:spPr>
          <a:xfrm>
            <a:off x="2745303" y="1258306"/>
            <a:ext cx="4409237" cy="0"/>
          </a:xfrm>
          <a:prstGeom prst="line">
            <a:avLst/>
          </a:prstGeom>
          <a:noFill/>
          <a:ln w="9525">
            <a:solidFill>
              <a:srgbClr val="7B1E2B"/>
            </a:solidFill>
            <a:prstDash val="solid"/>
          </a:ln>
        </p:spPr>
      </p:sp>
      <p:sp>
        <p:nvSpPr>
          <p:cNvPr id="6" name="Shape 4"/>
          <p:cNvSpPr/>
          <p:nvPr/>
        </p:nvSpPr>
        <p:spPr>
          <a:xfrm>
            <a:off x="405354" y="2972257"/>
            <a:ext cx="6749004" cy="0"/>
          </a:xfrm>
          <a:prstGeom prst="line">
            <a:avLst/>
          </a:prstGeom>
          <a:noFill/>
          <a:ln w="9525">
            <a:solidFill>
              <a:srgbClr val="7B1E2B"/>
            </a:solidFill>
            <a:prstDash val="solid"/>
          </a:ln>
        </p:spPr>
      </p:sp>
      <p:sp>
        <p:nvSpPr>
          <p:cNvPr id="7" name="Shape 5"/>
          <p:cNvSpPr/>
          <p:nvPr/>
        </p:nvSpPr>
        <p:spPr>
          <a:xfrm>
            <a:off x="405354" y="4718030"/>
            <a:ext cx="2159996" cy="0"/>
          </a:xfrm>
          <a:prstGeom prst="line">
            <a:avLst/>
          </a:prstGeom>
          <a:noFill/>
          <a:ln w="9525">
            <a:solidFill>
              <a:srgbClr val="7B1E2B"/>
            </a:solidFill>
            <a:prstDash val="solid"/>
          </a:ln>
        </p:spPr>
      </p:sp>
      <p:sp>
        <p:nvSpPr>
          <p:cNvPr id="8" name="Shape 6"/>
          <p:cNvSpPr/>
          <p:nvPr/>
        </p:nvSpPr>
        <p:spPr>
          <a:xfrm>
            <a:off x="2745303" y="6278179"/>
            <a:ext cx="4409237" cy="0"/>
          </a:xfrm>
          <a:prstGeom prst="line">
            <a:avLst/>
          </a:prstGeom>
          <a:noFill/>
          <a:ln w="9525">
            <a:solidFill>
              <a:srgbClr val="7B1E2B"/>
            </a:solidFill>
            <a:prstDash val="solid"/>
          </a:ln>
        </p:spPr>
      </p:sp>
      <p:sp>
        <p:nvSpPr>
          <p:cNvPr id="9" name="Shape 7"/>
          <p:cNvSpPr/>
          <p:nvPr/>
        </p:nvSpPr>
        <p:spPr>
          <a:xfrm>
            <a:off x="405354" y="10369479"/>
            <a:ext cx="6749004" cy="0"/>
          </a:xfrm>
          <a:prstGeom prst="line">
            <a:avLst/>
          </a:prstGeom>
          <a:noFill/>
          <a:ln w="9525">
            <a:solidFill>
              <a:srgbClr val="BFBFBF"/>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5303" y="1527688"/>
          <a:ext cx="4409237" cy="914400"/>
        </p:xfrm>
        <a:graphic>
          <a:graphicData uri="http://schemas.openxmlformats.org/drawingml/2006/table">
            <a:tbl>
              <a:tblPr/>
              <a:tblGrid>
                <a:gridCol w="1587216"/>
                <a:gridCol w="705460"/>
                <a:gridCol w="705460"/>
                <a:gridCol w="705460"/>
                <a:gridCol w="705551"/>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Tỷ đồng</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Base</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Bear</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Bull</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24" b="1" dirty="0">
                          <a:solidFill>
                            <a:srgbClr val="FFFFFF"/>
                          </a:solidFill>
                          <a:latin typeface="Calibri" pitchFamily="34" charset="0"/>
                          <a:ea typeface="Calibri" pitchFamily="34" charset="-122"/>
                          <a:cs typeface="Calibri" pitchFamily="34" charset="-120"/>
                        </a:rPr>
                        <a:t>Trễ 2028</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12920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DT 2030E</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170,3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116,9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214,8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174,7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CAGR DT 2025–30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29,1%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19,7%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35,2%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29,7%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Biên EBITDA 2030E</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20,2%</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13,5%</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23,7%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20,6%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LNST 2030E</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13,9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0,7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12,1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Tổng FCFF 2026–30</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(38,9)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(48,9)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(29,3)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(58,6)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DCF</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41,1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(25,7)</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101,1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35,1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VC Method</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25,3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(28,3)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68,9</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dirty="0">
                          <a:solidFill>
                            <a:srgbClr val="1F1F1F"/>
                          </a:solidFill>
                          <a:latin typeface="Calibri" pitchFamily="34" charset="0"/>
                          <a:ea typeface="Calibri" pitchFamily="34" charset="-122"/>
                          <a:cs typeface="Calibri" pitchFamily="34" charset="-120"/>
                        </a:rPr>
                        <a:t>16,8</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6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Bình quân gia quyền*</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32,1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(16,1)</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73,6</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24" b="1" dirty="0">
                          <a:solidFill>
                            <a:srgbClr val="1F1F1F"/>
                          </a:solidFill>
                          <a:latin typeface="Calibri" pitchFamily="34" charset="0"/>
                          <a:ea typeface="Calibri" pitchFamily="34" charset="-122"/>
                          <a:cs typeface="Calibri" pitchFamily="34" charset="-120"/>
                        </a:rPr>
                        <a:t>26,3</a:t>
                      </a:r>
                      <a:endParaRPr lang="en-US" sz="62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05354" y="3140415"/>
          <a:ext cx="6749004" cy="914400"/>
        </p:xfrm>
        <a:graphic>
          <a:graphicData uri="http://schemas.openxmlformats.org/drawingml/2006/table">
            <a:tbl>
              <a:tblPr/>
              <a:tblGrid>
                <a:gridCol w="809793"/>
                <a:gridCol w="1687251"/>
                <a:gridCol w="2227021"/>
                <a:gridCol w="1552285"/>
                <a:gridCol w="472653"/>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Phương pháp</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Vì sao phù hợp với AgriPack</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Hạn chế trong bối cảnh AgriPack</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Cách xử lý trong mô hình</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Trọng số</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323880">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DCF (FCFF)</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Có 3 năm doanh thu, EBITDA dương, kế hoạch CAPEX cụ thể; đo giá trị khi DN tiếp tục hoạt động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Giá trị cuối kỳ bằng 183% EV vì FCFF 2026–28 âm; nhạy với WACC, g, RONIC; kịch bản đơn không tính xác suất thất bại</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FCFF cuối kỳ chuẩn hóa (g/RONIC); total beta; đối chiếu DCF × xác suất sống sót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40%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VC Method</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Góc nhìn NĐT VC của giai đoạn đầu tăng trưởng; dùng trực tiếp tỷ lệ thất bại của đề bài</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Phụ thuộc bội số thoái vốn của DN niêm yết trưởng thành và năm thoái vốn 2030; P/E và EV/EBITDA cho giá trị thoái vốn chênh gấp đôi (130 và 267 tỷ)</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Bình quân hai bội số; z quy đổi theo năm; độ nhạy z 35–45%, giá trị thoái vốn ±15%</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40%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b="1" dirty="0">
                          <a:solidFill>
                            <a:srgbClr val="1F1F1F"/>
                          </a:solidFill>
                          <a:latin typeface="Calibri" pitchFamily="34" charset="0"/>
                          <a:ea typeface="Calibri" pitchFamily="34" charset="-122"/>
                          <a:cs typeface="Calibri" pitchFamily="34" charset="-120"/>
                        </a:rPr>
                        <a:t>Multiples</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Neo vào giá thị trường hiện tại của DN bao bì niêm yết; dễ kiểm chứng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Mẫu là DN lớn, trưởng thành (trung vị DT ~1.400 tỷ); bội số quá khứ bỏ qua tăng trưởng; LNST 2025 được hưởng chuyển lỗ; DLOM 30% là ước lượng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Dùng chỉ tiêu 2025A (không trả trước cho tăng trưởng cần vốn mới); chuẩn hóa thuế 20%; loại MCP, PBT</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20%</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46" name="Table 2"/>
          <p:cNvGraphicFramePr>
            <a:graphicFrameLocks noGrp="1"/>
          </p:cNvGraphicFramePr>
          <p:nvPr>
            <p:extLst>
              <p:ext uri="{D42A27DB-BD31-4B8C-83A1-F6EECF244321}">
                <p14:modId xmlns:p14="http://schemas.microsoft.com/office/powerpoint/2010/main" val="1579011935"/>
              </p:ext>
            </p:extLst>
          </p:nvPr>
        </p:nvGraphicFramePr>
        <p:xfrm>
          <a:off x="2745303" y="6446337"/>
          <a:ext cx="4409237" cy="914400"/>
        </p:xfrm>
        <a:graphic>
          <a:graphicData uri="http://schemas.openxmlformats.org/drawingml/2006/table">
            <a:tbl>
              <a:tblPr/>
              <a:tblGrid>
                <a:gridCol w="1322680"/>
                <a:gridCol w="2028048"/>
                <a:gridCol w="1058509"/>
              </a:tblGrid>
              <a:tr h="133045">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Phương pháp</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Giả định cần có</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24" b="1" dirty="0">
                          <a:solidFill>
                            <a:srgbClr val="FFFFFF"/>
                          </a:solidFill>
                          <a:latin typeface="Calibri" pitchFamily="34" charset="0"/>
                          <a:ea typeface="Calibri" pitchFamily="34" charset="-122"/>
                          <a:cs typeface="Calibri" pitchFamily="34" charset="-120"/>
                        </a:rPr>
                        <a:t>Ghi chú</a:t>
                      </a:r>
                      <a:endParaRPr lang="en-US" sz="624" dirty="0">
                        <a:latin typeface="Calibri" charset="0"/>
                        <a:ea typeface="Calibri" charset="0"/>
                        <a:cs typeface="Calibri" charset="0"/>
                      </a:endParaRPr>
                    </a:p>
                  </a:txBody>
                  <a:tcPr marL="28804" marR="28804" marT="18014" marB="18014" anchor="b">
                    <a:lnL w="0" cap="flat" cmpd="sng" algn="ctr">
                      <a:noFill/>
                    </a:lnL>
                    <a:lnR w="0" cap="flat" cmpd="sng" algn="ctr">
                      <a:noFill/>
                    </a:lnR>
                    <a:lnT w="0" cap="flat" cmpd="sng" algn="ctr">
                      <a:noFill/>
                    </a:lnT>
                    <a:lnB w="0" cap="flat" cmpd="sng" algn="ctr">
                      <a:noFill/>
                    </a:lnB>
                    <a:solidFill>
                      <a:srgbClr val="7B1E2B"/>
                    </a:solidFill>
                  </a:tcPr>
                </a:tc>
              </a:tr>
              <a:tr h="226497">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VC Method (z của giai đoạn Ươm mầm/Thử nghiệm)</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Giá trị thoái vốn 2030; z 57,5–72,5%; WACC</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Mô hình VCM hiện có, chỉ đổi z</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35">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Scorecard (Payne)</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Pre-money trung vị các vòng hạt giống GreenTech/bao bì; trọng số đội ngũ, thị trường, sản phẩm, cạnh tranh, kênh bán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Chưa có dữ liệu vòng gọi vốn VN công khai đủ tin cậy</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Berkus</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Mức trần cho 5 cột mốc: ý tưởng, mẫu thử, đội ngũ, quan hệ chiến lược, đơn hàng đầu tiên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Phù hợp để kiểm tra chéo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Risk factor summation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Cộng/trừ theo 12 nhóm rủi ro (công nghệ, pháp lý, cạnh tranh, nguồn cung…)</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Dùng rủi ro Mục 3 làm đầu vào</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52">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Chi phí tái tạo (cost-to-duplicate)</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Chi phí R&amp;D công thức, khuôn mẫu, dây chuyền thử, chứng nhận</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24" dirty="0">
                          <a:solidFill>
                            <a:srgbClr val="1F1F1F"/>
                          </a:solidFill>
                          <a:latin typeface="Calibri" pitchFamily="34" charset="0"/>
                          <a:ea typeface="Calibri" pitchFamily="34" charset="-122"/>
                          <a:cs typeface="Calibri" pitchFamily="34" charset="-120"/>
                        </a:rPr>
                        <a:t>Cận dưới giá trị</a:t>
                      </a:r>
                      <a:endParaRPr lang="en-US" sz="62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pSp>
        <p:nvGrpSpPr>
          <p:cNvPr id="70" name="Fig. 45 – biểu đồ"/>
          <p:cNvGrpSpPr/>
          <p:nvPr/>
        </p:nvGrpSpPr>
        <p:grpSpPr>
          <a:xfrm>
            <a:off x="349575" y="961492"/>
            <a:ext cx="1960565" cy="757946"/>
            <a:chOff x="349575" y="961492"/>
            <a:chExt cx="1960565" cy="757946"/>
          </a:xfrm>
        </p:grpSpPr>
        <p:sp>
          <p:nvSpPr>
            <p:cNvPr id="13" name="svg0_0"/>
            <p:cNvSpPr txBox="1"/>
            <p:nvPr/>
          </p:nvSpPr>
          <p:spPr>
            <a:xfrm>
              <a:off x="1015441" y="966704"/>
              <a:ext cx="179131"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DCF</a:t>
              </a:r>
              <a:endParaRPr lang="en-US" sz="588" dirty="0"/>
            </a:p>
          </p:txBody>
        </p:sp>
        <p:sp>
          <p:nvSpPr>
            <p:cNvPr id="14" name="svg0_1"/>
            <p:cNvSpPr/>
            <p:nvPr/>
          </p:nvSpPr>
          <p:spPr>
            <a:xfrm>
              <a:off x="1230142" y="981060"/>
              <a:ext cx="903884" cy="66934"/>
            </a:xfrm>
            <a:prstGeom prst="rect">
              <a:avLst/>
            </a:prstGeom>
            <a:solidFill>
              <a:srgbClr val="404040"/>
            </a:solidFill>
            <a:ln/>
          </p:spPr>
        </p:sp>
        <p:sp>
          <p:nvSpPr>
            <p:cNvPr id="15" name="svg0_2"/>
            <p:cNvSpPr txBox="1"/>
            <p:nvPr/>
          </p:nvSpPr>
          <p:spPr>
            <a:xfrm>
              <a:off x="587411" y="1074694"/>
              <a:ext cx="607802"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Multiples 2025A</a:t>
              </a:r>
              <a:endParaRPr lang="en-US" sz="588" dirty="0"/>
            </a:p>
          </p:txBody>
        </p:sp>
        <p:sp>
          <p:nvSpPr>
            <p:cNvPr id="16" name="svg0_3"/>
            <p:cNvSpPr/>
            <p:nvPr/>
          </p:nvSpPr>
          <p:spPr>
            <a:xfrm>
              <a:off x="1230142" y="1089050"/>
              <a:ext cx="609356" cy="66934"/>
            </a:xfrm>
            <a:prstGeom prst="rect">
              <a:avLst/>
            </a:prstGeom>
            <a:solidFill>
              <a:srgbClr val="A3A3A3"/>
            </a:solidFill>
            <a:ln/>
          </p:spPr>
        </p:sp>
        <p:sp>
          <p:nvSpPr>
            <p:cNvPr id="17" name="svg0_4"/>
            <p:cNvSpPr txBox="1"/>
            <p:nvPr/>
          </p:nvSpPr>
          <p:spPr>
            <a:xfrm>
              <a:off x="763524" y="1182685"/>
              <a:ext cx="427299"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VC Method</a:t>
              </a:r>
              <a:endParaRPr lang="en-US" sz="588" dirty="0"/>
            </a:p>
          </p:txBody>
        </p:sp>
        <p:sp>
          <p:nvSpPr>
            <p:cNvPr id="18" name="svg0_5"/>
            <p:cNvSpPr/>
            <p:nvPr/>
          </p:nvSpPr>
          <p:spPr>
            <a:xfrm>
              <a:off x="1230142" y="1197041"/>
              <a:ext cx="556321" cy="66934"/>
            </a:xfrm>
            <a:prstGeom prst="rect">
              <a:avLst/>
            </a:prstGeom>
            <a:solidFill>
              <a:srgbClr val="A3A3A3"/>
            </a:solidFill>
            <a:ln/>
          </p:spPr>
        </p:sp>
        <p:sp>
          <p:nvSpPr>
            <p:cNvPr id="19" name="svg0_6"/>
            <p:cNvSpPr txBox="1"/>
            <p:nvPr/>
          </p:nvSpPr>
          <p:spPr>
            <a:xfrm>
              <a:off x="444033" y="1290676"/>
              <a:ext cx="746973" cy="104790"/>
            </a:xfrm>
            <a:prstGeom prst="rect">
              <a:avLst/>
            </a:prstGeom>
            <a:noFill/>
            <a:ln/>
          </p:spPr>
          <p:txBody>
            <a:bodyPr wrap="none" lIns="0" tIns="0" rIns="0" bIns="0" rtlCol="0" anchor="ctr"/>
            <a:lstStyle/>
            <a:p>
              <a:pPr algn="r" indent="0" marL="0">
                <a:buNone/>
              </a:pPr>
              <a:r>
                <a:rPr lang="en-US" sz="588" b="1" dirty="0">
                  <a:solidFill>
                    <a:srgbClr val="262626"/>
                  </a:solidFill>
                  <a:latin typeface="Calibri" pitchFamily="34" charset="0"/>
                  <a:ea typeface="Calibri" pitchFamily="34" charset="-122"/>
                  <a:cs typeface="Calibri" pitchFamily="34" charset="-120"/>
                </a:rPr>
                <a:t>Bình quân 40/40/20</a:t>
              </a:r>
              <a:endParaRPr lang="en-US" sz="588" dirty="0"/>
            </a:p>
          </p:txBody>
        </p:sp>
        <p:sp>
          <p:nvSpPr>
            <p:cNvPr id="20" name="svg0_7"/>
            <p:cNvSpPr/>
            <p:nvPr/>
          </p:nvSpPr>
          <p:spPr>
            <a:xfrm>
              <a:off x="1230142" y="1305032"/>
              <a:ext cx="706008" cy="66934"/>
            </a:xfrm>
            <a:prstGeom prst="rect">
              <a:avLst/>
            </a:prstGeom>
            <a:solidFill>
              <a:srgbClr val="7B1E2B"/>
            </a:solidFill>
            <a:ln/>
          </p:spPr>
        </p:sp>
        <p:sp>
          <p:nvSpPr>
            <p:cNvPr id="21" name="svg0_8"/>
            <p:cNvSpPr txBox="1"/>
            <p:nvPr/>
          </p:nvSpPr>
          <p:spPr>
            <a:xfrm>
              <a:off x="349575" y="1398666"/>
              <a:ext cx="844814"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DCF × xác suất sống sót</a:t>
              </a:r>
              <a:endParaRPr lang="en-US" sz="588" dirty="0"/>
            </a:p>
          </p:txBody>
        </p:sp>
        <p:sp>
          <p:nvSpPr>
            <p:cNvPr id="22" name="svg0_9"/>
            <p:cNvSpPr/>
            <p:nvPr/>
          </p:nvSpPr>
          <p:spPr>
            <a:xfrm>
              <a:off x="1230142" y="1413022"/>
              <a:ext cx="674279" cy="66934"/>
            </a:xfrm>
            <a:prstGeom prst="rect">
              <a:avLst/>
            </a:prstGeom>
            <a:solidFill>
              <a:srgbClr val="D0D0D0"/>
            </a:solidFill>
            <a:ln/>
          </p:spPr>
        </p:sp>
        <p:sp>
          <p:nvSpPr>
            <p:cNvPr id="23" name="svg0_10"/>
            <p:cNvSpPr txBox="1"/>
            <p:nvPr/>
          </p:nvSpPr>
          <p:spPr>
            <a:xfrm>
              <a:off x="505297" y="1506657"/>
              <a:ext cx="685891"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VCSH sổ sách 2025</a:t>
              </a:r>
              <a:endParaRPr lang="en-US" sz="588" dirty="0"/>
            </a:p>
          </p:txBody>
        </p:sp>
        <p:sp>
          <p:nvSpPr>
            <p:cNvPr id="24" name="svg0_11"/>
            <p:cNvSpPr/>
            <p:nvPr/>
          </p:nvSpPr>
          <p:spPr>
            <a:xfrm>
              <a:off x="1230142" y="1521013"/>
              <a:ext cx="659100" cy="66934"/>
            </a:xfrm>
            <a:prstGeom prst="rect">
              <a:avLst/>
            </a:prstGeom>
            <a:solidFill>
              <a:srgbClr val="D0D0D0"/>
            </a:solidFill>
            <a:ln/>
          </p:spPr>
        </p:sp>
        <p:sp>
          <p:nvSpPr>
            <p:cNvPr id="25" name="svg0_12"/>
            <p:cNvSpPr txBox="1"/>
            <p:nvPr/>
          </p:nvSpPr>
          <p:spPr>
            <a:xfrm>
              <a:off x="641726" y="1614648"/>
              <a:ext cx="553303" cy="104790"/>
            </a:xfrm>
            <a:prstGeom prst="rect">
              <a:avLst/>
            </a:prstGeom>
            <a:noFill/>
            <a:ln/>
          </p:spPr>
          <p:txBody>
            <a:bodyPr wrap="none" lIns="0" tIns="0" rIns="0" bIns="0" rtlCol="0" anchor="ctr"/>
            <a:lstStyle/>
            <a:p>
              <a:pPr algn="r" indent="0" marL="0">
                <a:buNone/>
              </a:pPr>
              <a:r>
                <a:rPr lang="en-US" sz="588" dirty="0">
                  <a:solidFill>
                    <a:srgbClr val="262626"/>
                  </a:solidFill>
                  <a:latin typeface="Calibri" pitchFamily="34" charset="0"/>
                  <a:ea typeface="Calibri" pitchFamily="34" charset="-122"/>
                  <a:cs typeface="Calibri" pitchFamily="34" charset="-120"/>
                </a:rPr>
                <a:t>Giá trị thanh lý</a:t>
              </a:r>
              <a:endParaRPr lang="en-US" sz="588" dirty="0"/>
            </a:p>
          </p:txBody>
        </p:sp>
        <p:sp>
          <p:nvSpPr>
            <p:cNvPr id="26" name="svg0_13"/>
            <p:cNvSpPr/>
            <p:nvPr/>
          </p:nvSpPr>
          <p:spPr>
            <a:xfrm>
              <a:off x="1230142" y="1629004"/>
              <a:ext cx="329550" cy="66934"/>
            </a:xfrm>
            <a:prstGeom prst="rect">
              <a:avLst/>
            </a:prstGeom>
            <a:solidFill>
              <a:srgbClr val="D0D0D0"/>
            </a:solidFill>
            <a:ln/>
          </p:spPr>
        </p:sp>
        <p:sp>
          <p:nvSpPr>
            <p:cNvPr id="27" name="svg0_14"/>
            <p:cNvSpPr/>
            <p:nvPr/>
          </p:nvSpPr>
          <p:spPr>
            <a:xfrm>
              <a:off x="1230142" y="961492"/>
              <a:ext cx="0" cy="754014"/>
            </a:xfrm>
            <a:prstGeom prst="line">
              <a:avLst/>
            </a:prstGeom>
            <a:noFill/>
            <a:ln w="6858">
              <a:solidFill>
                <a:srgbClr val="8C8C8C"/>
              </a:solidFill>
              <a:prstDash val="solid"/>
            </a:ln>
          </p:spPr>
        </p:sp>
        <p:sp>
          <p:nvSpPr>
            <p:cNvPr id="28" name="svg0_15"/>
            <p:cNvSpPr txBox="1"/>
            <p:nvPr/>
          </p:nvSpPr>
          <p:spPr>
            <a:xfrm>
              <a:off x="2158807" y="966704"/>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41,1</a:t>
              </a:r>
              <a:endParaRPr lang="en-US" sz="588" dirty="0"/>
            </a:p>
          </p:txBody>
        </p:sp>
        <p:sp>
          <p:nvSpPr>
            <p:cNvPr id="29" name="svg0_16"/>
            <p:cNvSpPr txBox="1"/>
            <p:nvPr/>
          </p:nvSpPr>
          <p:spPr>
            <a:xfrm>
              <a:off x="1864370" y="1074694"/>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27,7</a:t>
              </a:r>
              <a:endParaRPr lang="en-US" sz="588" dirty="0"/>
            </a:p>
          </p:txBody>
        </p:sp>
        <p:sp>
          <p:nvSpPr>
            <p:cNvPr id="30" name="svg0_17"/>
            <p:cNvSpPr txBox="1"/>
            <p:nvPr/>
          </p:nvSpPr>
          <p:spPr>
            <a:xfrm>
              <a:off x="1811244" y="1182685"/>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25,3</a:t>
              </a:r>
              <a:endParaRPr lang="en-US" sz="588" dirty="0"/>
            </a:p>
          </p:txBody>
        </p:sp>
        <p:sp>
          <p:nvSpPr>
            <p:cNvPr id="31" name="svg0_18"/>
            <p:cNvSpPr txBox="1"/>
            <p:nvPr/>
          </p:nvSpPr>
          <p:spPr>
            <a:xfrm>
              <a:off x="1960565" y="1290676"/>
              <a:ext cx="151882" cy="104790"/>
            </a:xfrm>
            <a:prstGeom prst="rect">
              <a:avLst/>
            </a:prstGeom>
            <a:solidFill>
              <a:srgbClr val="FFFFFF"/>
            </a:solidFill>
            <a:ln/>
          </p:spPr>
          <p:txBody>
            <a:bodyPr wrap="none" lIns="0" tIns="0" rIns="0" bIns="0" rtlCol="0" anchor="ctr"/>
            <a:lstStyle/>
            <a:p>
              <a:pPr algn="l" indent="0" marL="0">
                <a:buNone/>
              </a:pPr>
              <a:r>
                <a:rPr lang="en-US" sz="588" b="1" dirty="0">
                  <a:solidFill>
                    <a:srgbClr val="262626"/>
                  </a:solidFill>
                  <a:latin typeface="Calibri" pitchFamily="34" charset="0"/>
                  <a:ea typeface="Calibri" pitchFamily="34" charset="-122"/>
                  <a:cs typeface="Calibri" pitchFamily="34" charset="-120"/>
                </a:rPr>
                <a:t>32,1</a:t>
              </a:r>
              <a:endParaRPr lang="en-US" sz="588" dirty="0"/>
            </a:p>
          </p:txBody>
        </p:sp>
        <p:sp>
          <p:nvSpPr>
            <p:cNvPr id="32" name="svg0_19"/>
            <p:cNvSpPr txBox="1"/>
            <p:nvPr/>
          </p:nvSpPr>
          <p:spPr>
            <a:xfrm>
              <a:off x="1929110" y="1398666"/>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30,7</a:t>
              </a:r>
              <a:endParaRPr lang="en-US" sz="588" dirty="0"/>
            </a:p>
          </p:txBody>
        </p:sp>
        <p:sp>
          <p:nvSpPr>
            <p:cNvPr id="33" name="svg0_20"/>
            <p:cNvSpPr txBox="1"/>
            <p:nvPr/>
          </p:nvSpPr>
          <p:spPr>
            <a:xfrm>
              <a:off x="1913382" y="1506657"/>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30,0</a:t>
              </a:r>
              <a:endParaRPr lang="en-US" sz="588" dirty="0"/>
            </a:p>
          </p:txBody>
        </p:sp>
        <p:sp>
          <p:nvSpPr>
            <p:cNvPr id="34" name="svg0_21"/>
            <p:cNvSpPr txBox="1"/>
            <p:nvPr/>
          </p:nvSpPr>
          <p:spPr>
            <a:xfrm>
              <a:off x="1584564" y="1614648"/>
              <a:ext cx="151333" cy="104790"/>
            </a:xfrm>
            <a:prstGeom prst="rect">
              <a:avLst/>
            </a:prstGeom>
            <a:solidFill>
              <a:srgbClr val="FFFFFF"/>
            </a:solidFill>
            <a:ln/>
          </p:spPr>
          <p:txBody>
            <a:bodyPr wrap="none" lIns="0" tIns="0" rIns="0" bIns="0" rtlCol="0" anchor="ctr"/>
            <a:lstStyle/>
            <a:p>
              <a:pPr algn="l" indent="0" marL="0">
                <a:buNone/>
              </a:pPr>
              <a:r>
                <a:rPr lang="en-US" sz="588" dirty="0">
                  <a:solidFill>
                    <a:srgbClr val="262626"/>
                  </a:solidFill>
                  <a:latin typeface="Calibri" pitchFamily="34" charset="0"/>
                  <a:ea typeface="Calibri" pitchFamily="34" charset="-122"/>
                  <a:cs typeface="Calibri" pitchFamily="34" charset="-120"/>
                </a:rPr>
                <a:t>15,0</a:t>
              </a:r>
              <a:endParaRPr lang="en-US" sz="588" dirty="0"/>
            </a:p>
          </p:txBody>
        </p:sp>
      </p:grpSp>
      <p:grpSp>
        <p:nvGrpSpPr>
          <p:cNvPr id="71" name="Fig. 48 – biểu đồ"/>
          <p:cNvGrpSpPr/>
          <p:nvPr/>
        </p:nvGrpSpPr>
        <p:grpSpPr>
          <a:xfrm>
            <a:off x="444764" y="5095585"/>
            <a:ext cx="2081266" cy="789767"/>
            <a:chOff x="444764" y="5095585"/>
            <a:chExt cx="2081266" cy="789767"/>
          </a:xfrm>
        </p:grpSpPr>
        <p:sp>
          <p:nvSpPr>
            <p:cNvPr id="35" name="svg1_22"/>
            <p:cNvSpPr/>
            <p:nvPr/>
          </p:nvSpPr>
          <p:spPr>
            <a:xfrm>
              <a:off x="576621" y="5204948"/>
              <a:ext cx="430042" cy="490850"/>
            </a:xfrm>
            <a:prstGeom prst="rect">
              <a:avLst/>
            </a:prstGeom>
            <a:solidFill>
              <a:srgbClr val="7B1E2B"/>
            </a:solidFill>
            <a:ln/>
          </p:spPr>
        </p:sp>
        <p:sp>
          <p:nvSpPr>
            <p:cNvPr id="36" name="svg1_23"/>
            <p:cNvSpPr txBox="1"/>
            <p:nvPr/>
          </p:nvSpPr>
          <p:spPr>
            <a:xfrm>
              <a:off x="688818" y="5095585"/>
              <a:ext cx="210861"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62,9</a:t>
              </a:r>
              <a:endParaRPr lang="en-US" sz="649" dirty="0"/>
            </a:p>
          </p:txBody>
        </p:sp>
        <p:sp>
          <p:nvSpPr>
            <p:cNvPr id="37" name="svg1_24"/>
            <p:cNvSpPr txBox="1"/>
            <p:nvPr/>
          </p:nvSpPr>
          <p:spPr>
            <a:xfrm>
              <a:off x="485546" y="5709879"/>
              <a:ext cx="614385"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Đầu tăng trưởng</a:t>
              </a:r>
              <a:endParaRPr lang="en-US" sz="587" dirty="0"/>
            </a:p>
          </p:txBody>
        </p:sp>
        <p:sp>
          <p:nvSpPr>
            <p:cNvPr id="38" name="svg1_25"/>
            <p:cNvSpPr txBox="1"/>
            <p:nvPr/>
          </p:nvSpPr>
          <p:spPr>
            <a:xfrm>
              <a:off x="648127" y="5780562"/>
              <a:ext cx="292974"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z = 40%</a:t>
              </a:r>
              <a:endParaRPr lang="en-US" sz="557" dirty="0"/>
            </a:p>
          </p:txBody>
        </p:sp>
        <p:sp>
          <p:nvSpPr>
            <p:cNvPr id="39" name="svg1_26"/>
            <p:cNvSpPr/>
            <p:nvPr/>
          </p:nvSpPr>
          <p:spPr>
            <a:xfrm>
              <a:off x="1270284" y="5347960"/>
              <a:ext cx="430134" cy="347746"/>
            </a:xfrm>
            <a:prstGeom prst="rect">
              <a:avLst/>
            </a:prstGeom>
            <a:solidFill>
              <a:srgbClr val="A3A3A3"/>
            </a:solidFill>
            <a:ln/>
          </p:spPr>
        </p:sp>
        <p:sp>
          <p:nvSpPr>
            <p:cNvPr id="40" name="svg1_27"/>
            <p:cNvSpPr txBox="1"/>
            <p:nvPr/>
          </p:nvSpPr>
          <p:spPr>
            <a:xfrm>
              <a:off x="1382939" y="5238963"/>
              <a:ext cx="210861"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44,6</a:t>
              </a:r>
              <a:endParaRPr lang="en-US" sz="649" dirty="0"/>
            </a:p>
          </p:txBody>
        </p:sp>
        <p:sp>
          <p:nvSpPr>
            <p:cNvPr id="41" name="svg1_28"/>
            <p:cNvSpPr txBox="1"/>
            <p:nvPr/>
          </p:nvSpPr>
          <p:spPr>
            <a:xfrm>
              <a:off x="1258489" y="5709879"/>
              <a:ext cx="453725"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Thử nghiệm</a:t>
              </a:r>
              <a:endParaRPr lang="en-US" sz="587" dirty="0"/>
            </a:p>
          </p:txBody>
        </p:sp>
        <p:sp>
          <p:nvSpPr>
            <p:cNvPr id="42" name="svg1_29"/>
            <p:cNvSpPr txBox="1"/>
            <p:nvPr/>
          </p:nvSpPr>
          <p:spPr>
            <a:xfrm>
              <a:off x="1311798" y="5780562"/>
              <a:ext cx="353781"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z = 57,5%</a:t>
              </a:r>
              <a:endParaRPr lang="en-US" sz="557" dirty="0"/>
            </a:p>
          </p:txBody>
        </p:sp>
        <p:sp>
          <p:nvSpPr>
            <p:cNvPr id="43" name="svg1_30"/>
            <p:cNvSpPr/>
            <p:nvPr/>
          </p:nvSpPr>
          <p:spPr>
            <a:xfrm>
              <a:off x="1964040" y="5470764"/>
              <a:ext cx="430042" cy="224942"/>
            </a:xfrm>
            <a:prstGeom prst="rect">
              <a:avLst/>
            </a:prstGeom>
            <a:solidFill>
              <a:srgbClr val="D0D0D0"/>
            </a:solidFill>
            <a:ln/>
          </p:spPr>
        </p:sp>
        <p:sp>
          <p:nvSpPr>
            <p:cNvPr id="44" name="svg1_31"/>
            <p:cNvSpPr txBox="1"/>
            <p:nvPr/>
          </p:nvSpPr>
          <p:spPr>
            <a:xfrm>
              <a:off x="2076877" y="5361584"/>
              <a:ext cx="210861" cy="114300"/>
            </a:xfrm>
            <a:prstGeom prst="rect">
              <a:avLst/>
            </a:prstGeom>
            <a:noFill/>
            <a:ln/>
          </p:spPr>
          <p:txBody>
            <a:bodyPr wrap="none" lIns="0" tIns="0" rIns="0" bIns="0" rtlCol="0" anchor="ctr"/>
            <a:lstStyle/>
            <a:p>
              <a:pPr algn="ctr" indent="0" marL="0">
                <a:buNone/>
              </a:pPr>
              <a:r>
                <a:rPr lang="en-US" sz="649" dirty="0">
                  <a:solidFill>
                    <a:srgbClr val="262626"/>
                  </a:solidFill>
                  <a:latin typeface="Calibri" pitchFamily="34" charset="0"/>
                  <a:ea typeface="Calibri" pitchFamily="34" charset="-122"/>
                  <a:cs typeface="Calibri" pitchFamily="34" charset="-120"/>
                </a:rPr>
                <a:t>28,8</a:t>
              </a:r>
              <a:endParaRPr lang="en-US" sz="649" dirty="0"/>
            </a:p>
          </p:txBody>
        </p:sp>
        <p:sp>
          <p:nvSpPr>
            <p:cNvPr id="45" name="svg1_32"/>
            <p:cNvSpPr txBox="1"/>
            <p:nvPr/>
          </p:nvSpPr>
          <p:spPr>
            <a:xfrm>
              <a:off x="1975104" y="5709879"/>
              <a:ext cx="408737" cy="104790"/>
            </a:xfrm>
            <a:prstGeom prst="rect">
              <a:avLst/>
            </a:prstGeom>
            <a:noFill/>
            <a:ln/>
          </p:spPr>
          <p:txBody>
            <a:bodyPr wrap="none" lIns="0" tIns="0" rIns="0" bIns="0" rtlCol="0" anchor="ctr"/>
            <a:lstStyle/>
            <a:p>
              <a:pPr algn="ctr" indent="0" marL="0">
                <a:buNone/>
              </a:pPr>
              <a:r>
                <a:rPr lang="en-US" sz="587" dirty="0">
                  <a:solidFill>
                    <a:srgbClr val="666666"/>
                  </a:solidFill>
                  <a:latin typeface="Calibri" pitchFamily="34" charset="0"/>
                  <a:ea typeface="Calibri" pitchFamily="34" charset="-122"/>
                  <a:cs typeface="Calibri" pitchFamily="34" charset="-120"/>
                </a:rPr>
                <a:t>Ươm mầm</a:t>
              </a:r>
              <a:endParaRPr lang="en-US" sz="587" dirty="0"/>
            </a:p>
          </p:txBody>
        </p:sp>
        <p:sp>
          <p:nvSpPr>
            <p:cNvPr id="46" name="svg1_33"/>
            <p:cNvSpPr txBox="1"/>
            <p:nvPr/>
          </p:nvSpPr>
          <p:spPr>
            <a:xfrm>
              <a:off x="2005919" y="5780562"/>
              <a:ext cx="353781" cy="104790"/>
            </a:xfrm>
            <a:prstGeom prst="rect">
              <a:avLst/>
            </a:prstGeom>
            <a:noFill/>
            <a:ln/>
          </p:spPr>
          <p:txBody>
            <a:bodyPr wrap="none" lIns="0" tIns="0" rIns="0" bIns="0" rtlCol="0" anchor="ctr"/>
            <a:lstStyle/>
            <a:p>
              <a:pPr algn="ctr" indent="0" marL="0">
                <a:buNone/>
              </a:pPr>
              <a:r>
                <a:rPr lang="en-US" sz="557" dirty="0">
                  <a:solidFill>
                    <a:srgbClr val="666666"/>
                  </a:solidFill>
                  <a:latin typeface="Calibri" pitchFamily="34" charset="0"/>
                  <a:ea typeface="Calibri" pitchFamily="34" charset="-122"/>
                  <a:cs typeface="Calibri" pitchFamily="34" charset="-120"/>
                </a:rPr>
                <a:t>z = 72,5%</a:t>
              </a:r>
              <a:endParaRPr lang="en-US" sz="557" dirty="0"/>
            </a:p>
          </p:txBody>
        </p:sp>
        <p:sp>
          <p:nvSpPr>
            <p:cNvPr id="47" name="svg1_34"/>
            <p:cNvSpPr/>
            <p:nvPr/>
          </p:nvSpPr>
          <p:spPr>
            <a:xfrm>
              <a:off x="444764" y="5695798"/>
              <a:ext cx="2081266" cy="0"/>
            </a:xfrm>
            <a:prstGeom prst="line">
              <a:avLst/>
            </a:prstGeom>
            <a:noFill/>
            <a:ln w="6858">
              <a:solidFill>
                <a:srgbClr val="8C8C8C"/>
              </a:solidFill>
              <a:prstDash val="solid"/>
            </a:ln>
          </p:spPr>
        </p:sp>
      </p:grpSp>
      <p:sp>
        <p:nvSpPr>
          <p:cNvPr id="48" name="Text 4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49" name="Text 4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50" name="Text 45"/>
          <p:cNvSpPr txBox="1"/>
          <p:nvPr/>
        </p:nvSpPr>
        <p:spPr>
          <a:xfrm>
            <a:off x="405354" y="589239"/>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Ba phương pháp hội tụ quanh 25–31 tỷ khi cùng tính rủi ro thất bại</a:t>
            </a:r>
            <a:endParaRPr lang="en-US" sz="720" dirty="0"/>
          </a:p>
        </p:txBody>
      </p:sp>
      <p:sp>
        <p:nvSpPr>
          <p:cNvPr id="51" name="Text 46"/>
          <p:cNvSpPr txBox="1"/>
          <p:nvPr/>
        </p:nvSpPr>
        <p:spPr>
          <a:xfrm>
            <a:off x="405354" y="826252"/>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Pre-money, tỷ đồng</a:t>
            </a:r>
            <a:endParaRPr lang="en-US" sz="630" dirty="0"/>
          </a:p>
        </p:txBody>
      </p:sp>
      <p:sp>
        <p:nvSpPr>
          <p:cNvPr id="52" name="Text 47"/>
          <p:cNvSpPr txBox="1"/>
          <p:nvPr/>
        </p:nvSpPr>
        <p:spPr>
          <a:xfrm>
            <a:off x="405354" y="1813712"/>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(Summary)</a:t>
            </a:r>
            <a:endParaRPr lang="en-US" sz="600" dirty="0"/>
          </a:p>
        </p:txBody>
      </p:sp>
      <p:sp>
        <p:nvSpPr>
          <p:cNvPr id="53" name="Text 48"/>
          <p:cNvSpPr txBox="1"/>
          <p:nvPr/>
        </p:nvSpPr>
        <p:spPr>
          <a:xfrm>
            <a:off x="2745303" y="558058"/>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Diễn giải.</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32,1 tỷ chỉ bằng 1,07 lần VCSH sổ sách, tương đương P/E 2025A 9,1 lần và EV/EBITDA 4,0 lần: nhà đầu tư trả rất ít cho tăng trưởng vì tăng trưởng đó cần gần 69 tỷ vốn bên ngoài và ROIC 2027–2029 thấp hơn WACC. Kết quả nhạy nhất với sản lượng: kịch bản Bear (sản lượng 70% cơ sở) cho giá trị âm, Bull 73,6 tỷ, nhà máy trễ sang 2028 cho 26,3 tỷ (Fig. 46). Hạn chế của từng phương pháp ở Fig. 47; diễn giải chi tiết và độ nhạy ở Phụ lục (Fig. A14).</a:t>
            </a:r>
            <a:endParaRPr lang="en-US" sz="850" dirty="0"/>
          </a:p>
        </p:txBody>
      </p:sp>
      <p:sp>
        <p:nvSpPr>
          <p:cNvPr id="54" name="Text 49"/>
          <p:cNvSpPr txBox="1"/>
          <p:nvPr/>
        </p:nvSpPr>
        <p:spPr>
          <a:xfrm>
            <a:off x="2745303" y="1284732"/>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Kịch bản Bear cho giá trị vốn chủ âm</a:t>
            </a:r>
            <a:endParaRPr lang="en-US" sz="720" dirty="0"/>
          </a:p>
        </p:txBody>
      </p:sp>
      <p:sp>
        <p:nvSpPr>
          <p:cNvPr id="55" name="Text 50"/>
          <p:cNvSpPr txBox="1"/>
          <p:nvPr/>
        </p:nvSpPr>
        <p:spPr>
          <a:xfrm>
            <a:off x="2745303" y="1412291"/>
            <a:ext cx="4673773"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56" name="Text 51"/>
          <p:cNvSpPr txBox="1"/>
          <p:nvPr/>
        </p:nvSpPr>
        <p:spPr>
          <a:xfrm>
            <a:off x="2745303" y="2750149"/>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(Summary); *DCF 40%, VC Method 40%, Multiples 20% (Multiples không đổi giữa các kịch bản)</a:t>
            </a:r>
            <a:endParaRPr lang="en-US" sz="600" dirty="0"/>
          </a:p>
        </p:txBody>
      </p:sp>
      <p:sp>
        <p:nvSpPr>
          <p:cNvPr id="57" name="Text 52"/>
          <p:cNvSpPr txBox="1"/>
          <p:nvPr/>
        </p:nvSpPr>
        <p:spPr>
          <a:xfrm>
            <a:off x="405354" y="2998592"/>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Phù hợp và hạn chế của từng phương pháp trong bối cảnh AgriPack</a:t>
            </a:r>
            <a:endParaRPr lang="en-US" sz="720" dirty="0"/>
          </a:p>
        </p:txBody>
      </p:sp>
      <p:sp>
        <p:nvSpPr>
          <p:cNvPr id="58" name="Text 53"/>
          <p:cNvSpPr txBox="1"/>
          <p:nvPr/>
        </p:nvSpPr>
        <p:spPr>
          <a:xfrm>
            <a:off x="405354" y="4277197"/>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Phân tích của nhóm; số liệu: model (DCF, VCM, Multiples)</a:t>
            </a:r>
            <a:endParaRPr lang="en-US" sz="600" dirty="0"/>
          </a:p>
        </p:txBody>
      </p:sp>
      <p:sp>
        <p:nvSpPr>
          <p:cNvPr id="59" name="Text 54"/>
          <p:cNvSpPr txBox="1"/>
          <p:nvPr/>
        </p:nvSpPr>
        <p:spPr>
          <a:xfrm>
            <a:off x="484632" y="4472879"/>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8. CÂU HỎI BONUS: ĐỊNH GIÁ KHI CHƯA CÓ DOANH THU</a:t>
            </a:r>
            <a:endParaRPr lang="en-US" sz="880" dirty="0"/>
          </a:p>
        </p:txBody>
      </p:sp>
      <p:sp>
        <p:nvSpPr>
          <p:cNvPr id="60" name="Text 55"/>
          <p:cNvSpPr txBox="1"/>
          <p:nvPr/>
        </p:nvSpPr>
        <p:spPr>
          <a:xfrm>
            <a:off x="405354" y="4744364"/>
            <a:ext cx="2213945" cy="219090"/>
          </a:xfrm>
          <a:prstGeom prst="rect">
            <a:avLst/>
          </a:prstGeom>
          <a:noFill/>
          <a:ln/>
        </p:spPr>
        <p:txBody>
          <a:bodyPr wrap="squar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Cùng giá trị thoái vốn, z cao làm post-money giảm hơn một nửa</a:t>
            </a:r>
            <a:endParaRPr lang="en-US" sz="720" dirty="0"/>
          </a:p>
        </p:txBody>
      </p:sp>
      <p:sp>
        <p:nvSpPr>
          <p:cNvPr id="61" name="Text 56"/>
          <p:cNvSpPr txBox="1"/>
          <p:nvPr/>
        </p:nvSpPr>
        <p:spPr>
          <a:xfrm>
            <a:off x="405354" y="4981377"/>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Post-money, tỷ đồng</a:t>
            </a:r>
            <a:endParaRPr lang="en-US" sz="630" dirty="0"/>
          </a:p>
        </p:txBody>
      </p:sp>
      <p:sp>
        <p:nvSpPr>
          <p:cNvPr id="62" name="Text 57"/>
          <p:cNvSpPr txBox="1"/>
          <p:nvPr/>
        </p:nvSpPr>
        <p:spPr>
          <a:xfrm>
            <a:off x="405354" y="5900166"/>
            <a:ext cx="2213945" cy="182789"/>
          </a:xfrm>
          <a:prstGeom prst="rect">
            <a:avLst/>
          </a:prstGeom>
          <a:noFill/>
          <a:ln/>
        </p:spPr>
        <p:txBody>
          <a:bodyPr wrap="squar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Minh họa trên mô hình (VCM): giữ nguyên giá trị thoái vốn và WACC, chỉ đổi z theo giai đoạn</a:t>
            </a:r>
            <a:endParaRPr lang="en-US" sz="600" dirty="0"/>
          </a:p>
        </p:txBody>
      </p:sp>
      <p:sp>
        <p:nvSpPr>
          <p:cNvPr id="63" name="Text 58"/>
          <p:cNvSpPr txBox="1"/>
          <p:nvPr/>
        </p:nvSpPr>
        <p:spPr>
          <a:xfrm>
            <a:off x="2745303" y="4713275"/>
            <a:ext cx="4409237" cy="394746"/>
          </a:xfrm>
          <a:prstGeom prst="rect">
            <a:avLst/>
          </a:prstGeom>
          <a:noFill/>
          <a:ln/>
        </p:spPr>
        <p:txBody>
          <a:bodyPr wrap="square" lIns="0" tIns="0" rIns="0" bIns="0" rtlCol="0" anchor="t"/>
          <a:lstStyle/>
          <a:p>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Nếu AgriPack chưa có doanh thu, DCF mất cơ sở vì dòng tiền dự phóng gần như hoàn toàn là giả định, còn Multiples trên doanh thu, lợi nhuận không áp dụng được. Nhóm sẽ dùng VC Method làm phương pháp chính (Fig. 48), kiểm tra chéo bằng Scorecard, Berkus và chi phí tái tạo (Fig. 49).</a:t>
            </a:r>
            <a:endParaRPr lang="en-US" sz="850" dirty="0"/>
          </a:p>
        </p:txBody>
      </p:sp>
      <p:sp>
        <p:nvSpPr>
          <p:cNvPr id="64" name="Text 59"/>
          <p:cNvSpPr txBox="1"/>
          <p:nvPr/>
        </p:nvSpPr>
        <p:spPr>
          <a:xfrm>
            <a:off x="2745303" y="5145603"/>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VC Method với tỷ lệ thất bại cao hơn.</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Giữ nguyên giá trị thoái vốn 2030 và WACC, chỉ nâng z lên 57,5% (Thử nghiệm) hoặc 72,5% (Ươm mầm), post-money giảm từ 62,9 tỷ xuống 44,6 và 28,8 tỷ. Giá trị thoái vốn cũng kém chắc chắn hơn, nên cần một khoảng rộng và giải ngân theo mốc.</a:t>
            </a:r>
            <a:endParaRPr lang="en-US" sz="850" dirty="0"/>
          </a:p>
        </p:txBody>
      </p:sp>
      <p:sp>
        <p:nvSpPr>
          <p:cNvPr id="65" name="Text 60"/>
          <p:cNvSpPr txBox="1"/>
          <p:nvPr/>
        </p:nvSpPr>
        <p:spPr>
          <a:xfrm>
            <a:off x="2745303" y="5577931"/>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Giả định cần có.</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(i) TAM/SAM theo IMARC và thị phần mục tiêu kiểm chứng được; (ii) mẫu sản phẩm đạt kiểm nghiệm vật liệu tiếp xúc thực phẩm (TT 27/2026/TT-BYT); (iii) thư ý định mua (LOI) của chuỗi F&amp;B; (iv) chi phí dây chuyền thử, hợp đồng thu mua bã mía; (v) đội ngũ có kinh nghiệm sản xuất bột giấy đúc; (vi) bội số và năm thoái vốn. Mỗi mốc đạt được là căn cứ để giảm z và tăng giá trị ở vòng sau.</a:t>
            </a:r>
            <a:endParaRPr lang="en-US" sz="850" dirty="0"/>
          </a:p>
        </p:txBody>
      </p:sp>
      <p:sp>
        <p:nvSpPr>
          <p:cNvPr id="66" name="Text 61"/>
          <p:cNvSpPr txBox="1"/>
          <p:nvPr/>
        </p:nvSpPr>
        <p:spPr>
          <a:xfrm>
            <a:off x="2745303" y="6304514"/>
            <a:ext cx="4673773"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49: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Phương pháp và giả định khi chưa có doanh thu</a:t>
            </a:r>
            <a:endParaRPr lang="en-US" sz="720" dirty="0"/>
          </a:p>
        </p:txBody>
      </p:sp>
      <p:sp>
        <p:nvSpPr>
          <p:cNvPr id="67" name="Text 62"/>
          <p:cNvSpPr txBox="1"/>
          <p:nvPr/>
        </p:nvSpPr>
        <p:spPr>
          <a:xfrm>
            <a:off x="2745303" y="7850947"/>
            <a:ext cx="4673773"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Tổng hợp của nhóm (Damodaran, 2009; Payne, 2011; Berkus, 2016)</a:t>
            </a:r>
            <a:endParaRPr lang="en-US" sz="600" dirty="0"/>
          </a:p>
        </p:txBody>
      </p:sp>
      <p:sp>
        <p:nvSpPr>
          <p:cNvPr id="68" name="Text 63"/>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69" name="Text 64"/>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15</a:t>
            </a:r>
            <a:endParaRPr lang="en-US" sz="6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558058"/>
            <a:ext cx="6749004" cy="200894"/>
          </a:xfrm>
          <a:prstGeom prst="rect">
            <a:avLst/>
          </a:prstGeom>
          <a:solidFill>
            <a:srgbClr val="7B1E2B"/>
          </a:solidFill>
          <a:ln/>
        </p:spPr>
      </p:sp>
      <p:sp>
        <p:nvSpPr>
          <p:cNvPr id="3" name="Shape 1"/>
          <p:cNvSpPr/>
          <p:nvPr/>
        </p:nvSpPr>
        <p:spPr>
          <a:xfrm>
            <a:off x="405354" y="467076"/>
            <a:ext cx="6749004" cy="0"/>
          </a:xfrm>
          <a:prstGeom prst="line">
            <a:avLst/>
          </a:prstGeom>
          <a:noFill/>
          <a:ln w="9525">
            <a:solidFill>
              <a:srgbClr val="7B1E2B"/>
            </a:solidFill>
            <a:prstDash val="solid"/>
          </a:ln>
        </p:spPr>
      </p:sp>
      <p:sp>
        <p:nvSpPr>
          <p:cNvPr id="4" name="Shape 2"/>
          <p:cNvSpPr/>
          <p:nvPr/>
        </p:nvSpPr>
        <p:spPr>
          <a:xfrm>
            <a:off x="405354" y="835670"/>
            <a:ext cx="6749004" cy="0"/>
          </a:xfrm>
          <a:prstGeom prst="line">
            <a:avLst/>
          </a:prstGeom>
          <a:noFill/>
          <a:ln w="9525">
            <a:solidFill>
              <a:srgbClr val="7B1E2B"/>
            </a:solidFill>
            <a:prstDash val="solid"/>
          </a:ln>
        </p:spPr>
      </p:sp>
      <p:sp>
        <p:nvSpPr>
          <p:cNvPr id="5" name="Shape 3"/>
          <p:cNvSpPr/>
          <p:nvPr/>
        </p:nvSpPr>
        <p:spPr>
          <a:xfrm>
            <a:off x="405354" y="3078693"/>
            <a:ext cx="6749004" cy="0"/>
          </a:xfrm>
          <a:prstGeom prst="line">
            <a:avLst/>
          </a:prstGeom>
          <a:noFill/>
          <a:ln w="9525">
            <a:solidFill>
              <a:srgbClr val="7B1E2B"/>
            </a:solidFill>
            <a:prstDash val="solid"/>
          </a:ln>
        </p:spPr>
      </p:sp>
      <p:sp>
        <p:nvSpPr>
          <p:cNvPr id="6" name="Shape 4"/>
          <p:cNvSpPr/>
          <p:nvPr/>
        </p:nvSpPr>
        <p:spPr>
          <a:xfrm>
            <a:off x="405354" y="3251606"/>
            <a:ext cx="6749004" cy="0"/>
          </a:xfrm>
          <a:prstGeom prst="line">
            <a:avLst/>
          </a:prstGeom>
          <a:noFill/>
          <a:ln w="9525">
            <a:solidFill>
              <a:srgbClr val="E3E3E3"/>
            </a:solidFill>
            <a:prstDash val="solid"/>
          </a:ln>
        </p:spPr>
      </p:sp>
      <p:sp>
        <p:nvSpPr>
          <p:cNvPr id="7" name="Shape 5"/>
          <p:cNvSpPr/>
          <p:nvPr/>
        </p:nvSpPr>
        <p:spPr>
          <a:xfrm>
            <a:off x="7149694" y="3246852"/>
            <a:ext cx="0" cy="3613709"/>
          </a:xfrm>
          <a:prstGeom prst="line">
            <a:avLst/>
          </a:prstGeom>
          <a:noFill/>
          <a:ln w="9525">
            <a:solidFill>
              <a:srgbClr val="E3E3E3"/>
            </a:solidFill>
            <a:prstDash val="solid"/>
          </a:ln>
        </p:spPr>
      </p:sp>
      <p:sp>
        <p:nvSpPr>
          <p:cNvPr id="8" name="Shape 6"/>
          <p:cNvSpPr/>
          <p:nvPr/>
        </p:nvSpPr>
        <p:spPr>
          <a:xfrm>
            <a:off x="405354" y="6855805"/>
            <a:ext cx="6749004" cy="0"/>
          </a:xfrm>
          <a:prstGeom prst="line">
            <a:avLst/>
          </a:prstGeom>
          <a:noFill/>
          <a:ln w="9525">
            <a:solidFill>
              <a:srgbClr val="E3E3E3"/>
            </a:solidFill>
            <a:prstDash val="solid"/>
          </a:ln>
        </p:spPr>
      </p:sp>
      <p:sp>
        <p:nvSpPr>
          <p:cNvPr id="9" name="Shape 7"/>
          <p:cNvSpPr/>
          <p:nvPr/>
        </p:nvSpPr>
        <p:spPr>
          <a:xfrm>
            <a:off x="410108" y="3246852"/>
            <a:ext cx="0" cy="3613709"/>
          </a:xfrm>
          <a:prstGeom prst="line">
            <a:avLst/>
          </a:prstGeom>
          <a:noFill/>
          <a:ln w="9525">
            <a:solidFill>
              <a:srgbClr val="E3E3E3"/>
            </a:solidFill>
            <a:prstDash val="solid"/>
          </a:ln>
        </p:spPr>
      </p:sp>
      <p:sp>
        <p:nvSpPr>
          <p:cNvPr id="10" name="Shape 8"/>
          <p:cNvSpPr/>
          <p:nvPr/>
        </p:nvSpPr>
        <p:spPr>
          <a:xfrm>
            <a:off x="405354" y="7046366"/>
            <a:ext cx="6749004" cy="0"/>
          </a:xfrm>
          <a:prstGeom prst="line">
            <a:avLst/>
          </a:prstGeom>
          <a:noFill/>
          <a:ln w="9525">
            <a:solidFill>
              <a:srgbClr val="7B1E2B"/>
            </a:solidFill>
            <a:prstDash val="solid"/>
          </a:ln>
        </p:spPr>
      </p:sp>
      <p:sp>
        <p:nvSpPr>
          <p:cNvPr id="11" name="Shape 9"/>
          <p:cNvSpPr/>
          <p:nvPr/>
        </p:nvSpPr>
        <p:spPr>
          <a:xfrm>
            <a:off x="405354" y="10369479"/>
            <a:ext cx="6749004" cy="0"/>
          </a:xfrm>
          <a:prstGeom prst="line">
            <a:avLst/>
          </a:prstGeom>
          <a:noFill/>
          <a:ln w="9525">
            <a:solidFill>
              <a:srgbClr val="BFBFBF"/>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05354" y="1003828"/>
          <a:ext cx="6749004" cy="914400"/>
        </p:xfrm>
        <a:graphic>
          <a:graphicData uri="http://schemas.openxmlformats.org/drawingml/2006/table">
            <a:tbl>
              <a:tblPr/>
              <a:tblGrid>
                <a:gridCol w="944758"/>
                <a:gridCol w="5804245"/>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Tiêu chí</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Khách hàng mục tiêu</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236007">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Ngành</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 Hiện tại F&amp;B là ngành được tập trung: nhà hàng, cà phê, chuỗi F&amp;B, các tiệm bánh, nhà máy sản xuất thực phẩm chế biến, các bên cung cấp suất ăn, tiệc lưu động.</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Các bên sản xuất hoặc vận chuyển linh kiện/ thiết bị điện tử, đồ đạc nội thất/ e-commerce và yêu cầu thiết kế theo mẫu sản phẩm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8714">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Quy mô</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Các doanh nghiệp lớn, vừa và nhỏ</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503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Nhu cầu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 Bao bì, hộp, khay đóng gói, chứa đựng thực phẩm và FMCG</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Đệm bảo vệ, chống sốc cho linh kiện, thiết bị điện tử, nội thất</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Đệm bảo vệ, chống sốc cho sản phẩm e-commerce</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Đóng gói theo khuôn mẫu của sản phẩm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8714">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Sản lượng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Tần suất sử dụng thường xuyên, số lượng lớn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Khu vực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 Các tỉnh/thành thuộc khu vực Tây Nguyên và miền Trung như Gia Lai, Đà Nẵng.</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Các tỉnh/thành có thị trường tiêu thụ lớn ở miền Nam như Đồng Nai, Hồ Chí Minh.</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Trong tương lai sẽ mở rộng ra Hà Nội, miền Bắc và về lâu dài mở rộng trên toàn quốc.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503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Nỗi đau và Nhu cầu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 Áp lực chuyển đổi từ chính sách Nhà nước về EPR</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Muốn giảm nhựa và sản phẩm thay thế cùng công năng</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Số lượng và chất lượng nguồn cung cùng giá cả ổn định</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=&gt; Sản phẩm thay thế thân thiện với môi trường, số lượng, chất lượng và giá cả ổn định và đáp ứng quy mô khách hàng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05354" y="7214616"/>
          <a:ext cx="6749004" cy="914400"/>
        </p:xfrm>
        <a:graphic>
          <a:graphicData uri="http://schemas.openxmlformats.org/drawingml/2006/table">
            <a:tbl>
              <a:tblPr/>
              <a:tblGrid>
                <a:gridCol w="877367"/>
                <a:gridCol w="539770"/>
                <a:gridCol w="1012332"/>
                <a:gridCol w="877367"/>
                <a:gridCol w="1619677"/>
                <a:gridCol w="1822582"/>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Sản phẩm</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Tỷ trọng</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Công nghệ chính</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Nguyên liệu chính</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Sản phẩm chủ yếu</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Đầu ra chính</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229514">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bao bì</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Công nghệ đùn thổi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PE, PP, PET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màng mỏng, túi ni lông, chai nhựa PET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chế biến thực phẩm, đồ uống và các hệ thống bán lẻ, siêu thị</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gia dụng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Công nghệ ép đúc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PP, PS, ABS</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Các sản phẩm đồ gia dụng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Người tiêu dùng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4269">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xây dựng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Công nghệ ép đùn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PE, PVC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Ống nhựa xây dựng, nhựa vật liệu xây dựng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bất động sản, xây dựng Người tiêu dùng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kỹ thuật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Công nghệ phun ép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PVC, PP, PU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Các loại linh phụ kiện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Các doanh nghiệp điện tử, điện lực, ô tô xe máy</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pic>
        <p:nvPicPr>
          <p:cNvPr id="14" name="Image 0" descr="image0">    </p:cNvPr>
          <p:cNvPicPr>
            <a:picLocks noChangeAspect="1"/>
          </p:cNvPicPr>
          <p:nvPr/>
        </p:nvPicPr>
        <p:blipFill>
          <a:blip r:embed="rId1"/>
          <a:stretch>
            <a:fillRect/>
          </a:stretch>
        </p:blipFill>
        <p:spPr>
          <a:xfrm>
            <a:off x="405354" y="3246852"/>
            <a:ext cx="6749004" cy="3613709"/>
          </a:xfrm>
          <a:prstGeom prst="rect">
            <a:avLst/>
          </a:prstGeom>
        </p:spPr>
      </p:pic>
      <p:sp>
        <p:nvSpPr>
          <p:cNvPr id="15" name="Text 10"/>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6" name="Text 11"/>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7" name="Text 12"/>
          <p:cNvSpPr txBox="1"/>
          <p:nvPr/>
        </p:nvSpPr>
        <p:spPr>
          <a:xfrm>
            <a:off x="484632" y="590520"/>
            <a:ext cx="6986107" cy="136154"/>
          </a:xfrm>
          <a:prstGeom prst="rect">
            <a:avLst/>
          </a:prstGeom>
          <a:noFill/>
          <a:ln/>
        </p:spPr>
        <p:txBody>
          <a:bodyPr wrap="none" lIns="0" tIns="0" rIns="0" bIns="0" rtlCol="0" anchor="t"/>
          <a:lstStyle/>
          <a:p>
            <a:pPr algn="l" indent="0" marL="0">
              <a:lnSpc>
                <a:spcPts val="1074"/>
              </a:lnSpc>
              <a:buNone/>
            </a:pPr>
            <a:r>
              <a:rPr lang="en-US" sz="880" b="1" spc="35" kern="0" dirty="0">
                <a:solidFill>
                  <a:srgbClr val="FFFFFF"/>
                </a:solidFill>
                <a:latin typeface="Calibri" pitchFamily="34" charset="0"/>
                <a:ea typeface="Calibri" pitchFamily="34" charset="-122"/>
                <a:cs typeface="Calibri" pitchFamily="34" charset="-120"/>
              </a:rPr>
              <a:t>PHỤ LỤC</a:t>
            </a:r>
            <a:endParaRPr lang="en-US" sz="880" dirty="0"/>
          </a:p>
        </p:txBody>
      </p:sp>
      <p:sp>
        <p:nvSpPr>
          <p:cNvPr id="18" name="Text 13"/>
          <p:cNvSpPr txBox="1"/>
          <p:nvPr/>
        </p:nvSpPr>
        <p:spPr>
          <a:xfrm>
            <a:off x="405354" y="862005"/>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Tiêu chí lựa chọn khách hàng mục tiêu (bảng của nhóm, Mục 1.2.1)</a:t>
            </a:r>
            <a:endParaRPr lang="en-US" sz="720" dirty="0"/>
          </a:p>
        </p:txBody>
      </p:sp>
      <p:sp>
        <p:nvSpPr>
          <p:cNvPr id="19" name="Text 14"/>
          <p:cNvSpPr txBox="1"/>
          <p:nvPr/>
        </p:nvSpPr>
        <p:spPr>
          <a:xfrm>
            <a:off x="405354" y="2910627"/>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Bài của nhóm (TTKN_2)</a:t>
            </a:r>
            <a:endParaRPr lang="en-US" sz="600" dirty="0"/>
          </a:p>
        </p:txBody>
      </p:sp>
      <p:sp>
        <p:nvSpPr>
          <p:cNvPr id="20" name="Text 15"/>
          <p:cNvSpPr txBox="1"/>
          <p:nvPr/>
        </p:nvSpPr>
        <p:spPr>
          <a:xfrm>
            <a:off x="405354" y="3105028"/>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Chuỗi giá trị AgriPack: nhà máy, nguồn nguyên liệu và khách hàng lớn (minh họa)</a:t>
            </a:r>
            <a:endParaRPr lang="en-US" sz="720" dirty="0"/>
          </a:p>
        </p:txBody>
      </p:sp>
      <p:sp>
        <p:nvSpPr>
          <p:cNvPr id="21" name="Text 16"/>
          <p:cNvSpPr txBox="1"/>
          <p:nvPr/>
        </p:nvSpPr>
        <p:spPr>
          <a:xfrm>
            <a:off x="405354" y="6878391"/>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Quy trình 7 hoạt động theo bài của nhóm (Mục 1.3.2); cơ cấu doanh thu 2025: BCTC. Địa điểm nhà máy, nhà máy mới năm 2027 và tên khách hàng là </a:t>
            </a:r>
            <a:pPr algn="l" indent="0" marL="0">
              <a:lnSpc>
                <a:spcPts val="720"/>
              </a:lnSpc>
              <a:buNone/>
            </a:pPr>
            <a:r>
              <a:rPr lang="en-US" sz="600" b="1" i="1" dirty="0">
                <a:solidFill>
                  <a:srgbClr val="666666"/>
                </a:solidFill>
                <a:latin typeface="Calibri" pitchFamily="34" charset="0"/>
                <a:ea typeface="Calibri" pitchFamily="34" charset="-122"/>
                <a:cs typeface="Calibri" pitchFamily="34" charset="-120"/>
              </a:rPr>
              <a:t>giả định minh họa</a:t>
            </a:r>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 không phải số liệu thực tế</a:t>
            </a:r>
            <a:endParaRPr lang="en-US" sz="600" dirty="0"/>
          </a:p>
        </p:txBody>
      </p:sp>
      <p:sp>
        <p:nvSpPr>
          <p:cNvPr id="22" name="Text 17"/>
          <p:cNvSpPr txBox="1"/>
          <p:nvPr/>
        </p:nvSpPr>
        <p:spPr>
          <a:xfrm>
            <a:off x="405354" y="7072793"/>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Các nhóm sản phẩm nhựa chính do Việt Nam sản xuất (bảng của nhóm, Mục 3.2.1)</a:t>
            </a:r>
            <a:endParaRPr lang="en-US" sz="720" dirty="0"/>
          </a:p>
        </p:txBody>
      </p:sp>
      <p:sp>
        <p:nvSpPr>
          <p:cNvPr id="23" name="Text 18"/>
          <p:cNvSpPr txBox="1"/>
          <p:nvPr/>
        </p:nvSpPr>
        <p:spPr>
          <a:xfrm>
            <a:off x="405354" y="8106339"/>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Tổng hợp báo cáo VPAS (bảng của nhóm)</a:t>
            </a:r>
            <a:endParaRPr lang="en-US" sz="600" dirty="0"/>
          </a:p>
        </p:txBody>
      </p:sp>
      <p:sp>
        <p:nvSpPr>
          <p:cNvPr id="24" name="Text 19"/>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5" name="Text 20"/>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16</a:t>
            </a:r>
            <a:endParaRPr lang="en-US" sz="6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5256154"/>
            <a:ext cx="6749004" cy="0"/>
          </a:xfrm>
          <a:prstGeom prst="line">
            <a:avLst/>
          </a:prstGeom>
          <a:noFill/>
          <a:ln w="9525">
            <a:solidFill>
              <a:srgbClr val="7B1E2B"/>
            </a:solidFill>
            <a:prstDash val="solid"/>
          </a:ln>
        </p:spPr>
      </p:sp>
      <p:sp>
        <p:nvSpPr>
          <p:cNvPr id="5" name="Shape 3"/>
          <p:cNvSpPr/>
          <p:nvPr/>
        </p:nvSpPr>
        <p:spPr>
          <a:xfrm>
            <a:off x="405354" y="10369479"/>
            <a:ext cx="6749004" cy="0"/>
          </a:xfrm>
          <a:prstGeom prst="line">
            <a:avLst/>
          </a:prstGeom>
          <a:noFill/>
          <a:ln w="9525">
            <a:solidFill>
              <a:srgbClr val="BFBFBF"/>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6749004" cy="914400"/>
        </p:xfrm>
        <a:graphic>
          <a:graphicData uri="http://schemas.openxmlformats.org/drawingml/2006/table">
            <a:tbl>
              <a:tblPr/>
              <a:tblGrid>
                <a:gridCol w="742310"/>
                <a:gridCol w="1147298"/>
                <a:gridCol w="1147298"/>
                <a:gridCol w="1012332"/>
                <a:gridCol w="1619677"/>
                <a:gridCol w="1080089"/>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Đối thủ</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Sản phẩm</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Giá tham khảo</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Khách hàng</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Điểm mạnh</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Điểm yếu</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95070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An Phát Holdings</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An Phát Eco)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Túi sinh học tự phân huỷ</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Cốc/ly, bát đĩa, khay, dao thìa nĩa sinh học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Màng bọc thực phẩm, hạt nhựa sinh học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Tất cả sản phẩm trên sử dụng nguyên liệu PLA/ PBAT/ PBS ( tinh bột ngô với nguyên liệu sinh học) và bã mía</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Túi đựng thực phẩm sinh học: 60.000 - 115.000 VNĐ/ hộp</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Túi rác sinh học : 105.000 - 190.000 VNĐ/ hộp.</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Dao, thìa, nĩa, ống hút sinh học: 38.000 VNĐ/ 30 chiếc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Găng tay sinh học : 170.000 - 190.000 VNĐ/ hộp.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Người tiêu dùng, siêu thị, F&amp;B, doanh nghiệp trong và ngoài nước.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Là doanh nghiệp tiên phong về nhựa sinh học phân huỷ hoàn toàn, sở hữu công nghệ/ sáng chế được công nhận bởi tiêu chuẩn quốc tế, chuối sản xuất khép kín, hệ thống khách hàng rộng rãi.</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Doanh nghiệp có quy mô TTS: 11,953 tỷ vào 2025.</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Doanh thu 2025 là: 10.741,29 tỷ đồng.</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Công suất: 9.000 tấn/ tháng.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Cơ cấu sản phẩm rộng, quy mô lớn nên chi phí vận hành cao.</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Các sản phẩm sinh học từ doanh nghiệp này có giá cao hơn nhựa thông thường.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955457">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HAPBIO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Túi và bao bì tự phân huỷ từ bột ngô, sắn, PBAT và phụ gia nguồn gốc thực vật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dòng bao bì sinh học cao 2,5 lần bao bì nhựa thông thường.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trong nước và xuất khẩu sang Mỹ và Châu Âu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Hoạt động từ 2024 là một startup thuộc tập đoàn Haplast nên kế thừa kinh nghiệm xuất khẩu bao bì 20 năm của tập đoàn này.</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Đáp ứng 30% nhu cầu của thị trường Việt Nam.</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Hệ thống nhà máy cung ứng 54.000 tấn sản phẩm mỗi năm.</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2025, xuất khẩu 600 tấn sản phẩm, doanh thu 2 triệu USD</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Gía cao do chi phí nguyên liệu - ngô/ sắn, tinh bột. Điều này là do ngô , sắn được sử dụng ở dạng tinh bột nguyên liệu - không phải phế phẩm.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503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BioWraps Việt Nam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sinh học từ vỏ trái cây ( vỏ cam), vật liệu sinh học, hạt nhựa sinh học, kháng khuẩn ( nano bạc)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Chưa công khai giá</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F&amp;B, bán lẻ, thực phẩm đóng gói, nông nghiệp, logistic, thương mại điện tử.</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Ra mắt thị trường từ 2025.</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Doanh nghiệp có hơn 21 nhân sự, hơn 70 đối tác, hơn 15 quốc gia và hơn 250 sản phẩm.</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Doanh thu và công suất chưa công khai.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Gía cao hơn nhựa tái chế.</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Quy mô sản xuất và tài chính còn hạn chế so với các doanh nghiệp lớn.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751271">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AIRX Coffee</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thương hiệu con của Veritas Việt Nam)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Cốc thìa dĩa bằng bã cà phê</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Ly cốc trung bình: 109.000 - 139.000 VND</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Ly vỏ lụa: 139.000 VND</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Ly giữ nhiệt: 319.000 - 349.000 VNĐ</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Các sản phẩm dành cho doanh nghiệp không công khai giá.</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Đối tác của nhiều doanh nghiệp lớn, doanh nghiệp đa quốc gia theo hoạt động Co-brand</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Thành lập 2019</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1 triệu ly bán ra</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50% sản phẩm xuất khẩu.</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Nhà máy tại Tây Ninh và Bình Dương có tổng công suất: 3.000 - 4.000 tấn vật liệu/ mỗi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Công nghệ sản phẩm phụ thuộc vào khả năng thu gom, xử lý và ổn định nguồn phụ phẩm.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503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Thành Long Bioplastic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từ bỏ trấu, cà phê, ngô sắn, phụ phẩm nông nghiệp.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Không công khai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FDI, doanh nghiệp xuất khẩu tại Việt Nam và quốc tế</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Tận dụng trực tiếp phụ phẩm nông nghiệp, quy mô nhà máy lớn.</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Công suất nhà máy tại Bắc Ninh: 20.000 tấn/ năm. Kế hoạch mở rộng 43.000 tấn/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chưa có quy mô lớn, nghiên cứu R&amp;D cần được mở rộng.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649224">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Hapobe</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Khay, hộp bã mía , dao/ thìa/ dĩa/đĩa, đũa gỗ và màng phân huỷ sinh học với bã mía, mo cau, xơ thực vật, nhựa sinh học.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Cung cấp giải pháp thiết kế bao bì.</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Không công khai giá</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F&amp;B, nhà hàng, thực phẩm- đồ uống, thương mại điện tử, logictics và các doanh nghiệp khác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Sản phẩm với danh mục phụ phẩm nông nghiệp đa dạng từ bã mía, mo cau đến rơm rạ, có khả năng thiết kế giải pháp bao bì theo nhu cầu khách hàng.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nghiệp quy mô nhỏ.</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Danh mục sản phẩm rộng nên chưa chuyên môn hoá vào một loại phụ phẩm cụ thể.</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05354" y="5424312"/>
          <a:ext cx="6749004" cy="914400"/>
        </p:xfrm>
        <a:graphic>
          <a:graphicData uri="http://schemas.openxmlformats.org/drawingml/2006/table">
            <a:tbl>
              <a:tblPr/>
              <a:tblGrid>
                <a:gridCol w="1147298"/>
                <a:gridCol w="742310"/>
                <a:gridCol w="2429652"/>
                <a:gridCol w="2429744"/>
              </a:tblGrid>
              <a:tr h="137800">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Sản phẩm thay thế</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Áp lực thay thế</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Ưu điểm</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Nhược điểm</a:t>
                      </a:r>
                      <a:endParaRPr lang="en-US" sz="634" dirty="0">
                        <a:latin typeface="Calibri" charset="0"/>
                        <a:ea typeface="Calibri" charset="0"/>
                        <a:cs typeface="Calibri" charset="0"/>
                      </a:endParaRPr>
                    </a:p>
                  </a:txBody>
                  <a:tcPr marL="28804" marR="28804" marT="18014" marB="18014" anchor="t">
                    <a:lnL w="0" cap="flat" cmpd="sng" algn="ctr">
                      <a:noFill/>
                    </a:lnL>
                    <a:lnR w="0" cap="flat" cmpd="sng" algn="ctr">
                      <a:noFill/>
                    </a:lnR>
                    <a:lnT w="0" cap="flat" cmpd="sng" algn="ctr">
                      <a:noFill/>
                    </a:lnT>
                    <a:lnB w="0" cap="flat" cmpd="sng" algn="ctr">
                      <a:noFill/>
                    </a:lnB>
                    <a:solidFill>
                      <a:srgbClr val="7B1E2B"/>
                    </a:solidFill>
                  </a:tcPr>
                </a:tc>
              </a:tr>
              <a:tr h="338145">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truyền thống, hộp xốp dùng một lần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Rất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thấp, nhẹ, nguồn cung lớn, công nghệ sản xuất phổ biến, bảo quản tốt, độ bền cơ học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Bị hạn chế mạnh bởi các chính sách từ Chính Phủ trong cam kết NET ZERO đến 2050, nên đang có xu hướng giảm dần.</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Khó phân huỷ</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503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Giấy, carton, kraf (giấy từ gỗ mềm)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Dễ dàng in, phổ biến, phù hợp cho ngành F&amp;B và FMCG (ngành hàng tiêu dùng nhanh). Đồng thời do làm từ giấy nên dễ phân huỷ hơn so với nhựa truyền thống. Giá cạnh tranh, nhẹ và dễ vận chuyển, có thể tái chế.</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Khả năng chống nước/ dầu phụ thuộc vào cấu trúc và lớp phủ bề mặt, tuỳ thuộc vào lớp phù mà thời gian phân huỷ có thể kéo dài, độ bền nhiệt/cơ học thấp, không phù hợp với sản phẩm cần độ cứng và khả năng chịu nhiệt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sinh học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(PLA, PHA)</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Phân huỷ sinh học, hình thức đẹp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cao hơn các sản phẩm phía trên, hạ tầng công nghệ sản xuất và tái chế tại Việt Nam còn hạn chế.</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tái chế</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 rPET, PCR)</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Trung bình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Tận dụng nhựa sau sử dụng, giảm nhựa nguyên sinh, phù hợp với kinh tế tuần hoàn, có đặc tính cơ học của nhựa.</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Vẫn là chất liệu nhựa, khó phân huỷ, chất lượng phụ thuộc vào nguồn nguyên liệu và quy trình tái chế, hệ thống thu gom.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Bioplastic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(PLA/ PBAT, nhựa phối trộn với nguyên liệu sinh học)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Có khả năng phối trộn và phân huỷ tuỳ theo công thức và điều kiện thực tế của môi trường phân huỷ, phù hợp với định vị xanh.</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cao, yêu cầu cơ sở xử lý và công nghệ phù hợp.</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Về tính chất nhiệt/ cơ học sẽ tuỳ thuộc vào từng loại chất liệu, cách phối trộn.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vật liệu sinh học ( bã cà phê,trấu, rơm rạ, vỏ dừa,...)</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Tận dụng được phụ phẩm nông nghiệp để tái sử dụng, phân huỷ sinh học tốt, tạo hình.</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Khả năng chống thấm/ ẩm/ mốc/ nhiệt còn hạn chế nếu không xử lý bằng lớp phủ, giá cao hơn và yêu cầu công nghệ hạ tầng kỹ thuật xử lý, phân loại.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Đệm xốp bảo vệ (EPE/ PE Foam)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rẻ, chống va đập tốt, đàn hồi cao, giá cạnh tranh, phù hợp trong nhóm đồ điện tử, nội thất, thương mại điện tử</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Nguồn gốc chất liệu từ dầu mỏ, khó phân huỷ và không bảo vệ môi trường.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Đệm xốp sinh học</a:t>
                      </a:r>
                      <a:endParaRPr lang="en-US" sz="634" dirty="0">
                        <a:latin typeface="Calibri" charset="0"/>
                        <a:ea typeface="Calibri" charset="0"/>
                        <a:cs typeface="Calibri" charset="0"/>
                      </a:endParaRPr>
                    </a:p>
                    <a:p>
                      <a:pPr algn="l" indent="0" marL="0">
                        <a:buNone/>
                      </a:pPr>
                      <a:r>
                        <a:rPr lang="en-US" sz="634" dirty="0">
                          <a:solidFill>
                            <a:srgbClr val="1F1F1F"/>
                          </a:solidFill>
                          <a:latin typeface="Calibri" pitchFamily="34" charset="0"/>
                          <a:ea typeface="Calibri" pitchFamily="34" charset="-122"/>
                          <a:cs typeface="Calibri" pitchFamily="34" charset="-120"/>
                        </a:rPr>
                        <a:t>(từ sợi nấm, tinh bột)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Trung bình -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Được làm hoàn toàn từ chất liệu sinh học, dễ phân huỷ</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cao, độ bền/ khả năng chịu ẩm thường thấp hơn đệm xốp bao vệ EPE/ PE Foarm, hạn chế về công nghệ sản xuất.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762">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Đệm giấy tổ ong/ giấy nhún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Trung bình - cao</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Nhẹ, có thể tái chế, bảo vệ môi trường, phân huỷ nhanh chóng, phù hợp đóng gói thương mại điện tử</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Khả năng chống nước, chống va đập phụ thuộc vào cấu trúc, không phù hợp với mọi sản phẩm.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8" name="Text 4"/>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9" name="Text 5"/>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0" name="Text 6"/>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Một số đối thủ cạnh tranh trực tiếp trong ngành bao bì xanh (bảng của nhóm, Mục 3.2.4)</a:t>
            </a:r>
            <a:endParaRPr lang="en-US" sz="720" dirty="0"/>
          </a:p>
        </p:txBody>
      </p:sp>
      <p:sp>
        <p:nvSpPr>
          <p:cNvPr id="11" name="Text 7"/>
          <p:cNvSpPr txBox="1"/>
          <p:nvPr/>
        </p:nvSpPr>
        <p:spPr>
          <a:xfrm>
            <a:off x="405354" y="5088179"/>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Bài của nhóm (TTKN_2)</a:t>
            </a:r>
            <a:endParaRPr lang="en-US" sz="600" dirty="0"/>
          </a:p>
        </p:txBody>
      </p:sp>
      <p:sp>
        <p:nvSpPr>
          <p:cNvPr id="12" name="Text 8"/>
          <p:cNvSpPr txBox="1"/>
          <p:nvPr/>
        </p:nvSpPr>
        <p:spPr>
          <a:xfrm>
            <a:off x="405354" y="5282580"/>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Sản phẩm thay thế: áp lực, ưu điểm và nhược điểm (bảng của nhóm, Mục 3.2.6)</a:t>
            </a:r>
            <a:endParaRPr lang="en-US" sz="720" dirty="0"/>
          </a:p>
        </p:txBody>
      </p:sp>
      <p:sp>
        <p:nvSpPr>
          <p:cNvPr id="13" name="Text 9"/>
          <p:cNvSpPr txBox="1"/>
          <p:nvPr/>
        </p:nvSpPr>
        <p:spPr>
          <a:xfrm>
            <a:off x="405354" y="8257672"/>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Bài của nhóm (TTKN_2)</a:t>
            </a:r>
            <a:endParaRPr lang="en-US" sz="600" dirty="0"/>
          </a:p>
        </p:txBody>
      </p:sp>
      <p:sp>
        <p:nvSpPr>
          <p:cNvPr id="14" name="Text 10"/>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5" name="Text 11"/>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17</a:t>
            </a:r>
            <a:endParaRPr lang="en-US" sz="6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4809378"/>
            <a:ext cx="6749004" cy="0"/>
          </a:xfrm>
          <a:prstGeom prst="line">
            <a:avLst/>
          </a:prstGeom>
          <a:noFill/>
          <a:ln w="9525">
            <a:solidFill>
              <a:srgbClr val="7B1E2B"/>
            </a:solidFill>
            <a:prstDash val="solid"/>
          </a:ln>
        </p:spPr>
      </p:sp>
      <p:sp>
        <p:nvSpPr>
          <p:cNvPr id="5" name="Shape 3"/>
          <p:cNvSpPr/>
          <p:nvPr/>
        </p:nvSpPr>
        <p:spPr>
          <a:xfrm>
            <a:off x="405354" y="7836957"/>
            <a:ext cx="6749004" cy="0"/>
          </a:xfrm>
          <a:prstGeom prst="line">
            <a:avLst/>
          </a:prstGeom>
          <a:noFill/>
          <a:ln w="9525">
            <a:solidFill>
              <a:srgbClr val="7B1E2B"/>
            </a:solidFill>
            <a:prstDash val="solid"/>
          </a:ln>
        </p:spPr>
      </p:sp>
      <p:sp>
        <p:nvSpPr>
          <p:cNvPr id="6" name="Shape 4"/>
          <p:cNvSpPr/>
          <p:nvPr/>
        </p:nvSpPr>
        <p:spPr>
          <a:xfrm>
            <a:off x="405354" y="10369479"/>
            <a:ext cx="6749004" cy="0"/>
          </a:xfrm>
          <a:prstGeom prst="line">
            <a:avLst/>
          </a:prstGeom>
          <a:noFill/>
          <a:ln w="9525">
            <a:solidFill>
              <a:srgbClr val="BFBFBF"/>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05354" y="832287"/>
          <a:ext cx="6749004" cy="914400"/>
        </p:xfrm>
        <a:graphic>
          <a:graphicData uri="http://schemas.openxmlformats.org/drawingml/2006/table">
            <a:tbl>
              <a:tblPr/>
              <a:tblGrid>
                <a:gridCol w="1889699"/>
                <a:gridCol w="607344"/>
                <a:gridCol w="607344"/>
                <a:gridCol w="607344"/>
                <a:gridCol w="607344"/>
                <a:gridCol w="607344"/>
                <a:gridCol w="607344"/>
                <a:gridCol w="607344"/>
                <a:gridCol w="607802"/>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Tỷ đồng</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2023A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2024A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2025A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2026E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2027E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2028E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2029E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2030E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Doanh thu bán hàng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Các khoản giảm trừ</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Doanh thu thuần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63,7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141,6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nguyên liệu, nhân công theo sản lượng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sản xuất cố định</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Tiền lương bộ phận sản xuất (70%)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Khấu hao TSCĐ sản xuất (90%)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Giá vốn hàng bán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(39,5)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(89,3)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Lợi nhuận gộp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14,5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49,5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66,7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Biên lợi nhuận gộp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37,3%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46,9%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51,0%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51,8%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50,5%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44,8%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47,1%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47,6%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Tiền lương bán hàng &amp; quản lý (30%)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Thuê mặt bằng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Khấu hao TSCĐ bán hàng &amp; quản lý (10%)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Sửa chữa, bảo dưỡng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Điện, nước, dịch vụ chung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Hỗ trợ tiền ăn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Kiểm nghiệm, chứng nhận &amp; R&amp;D</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Marketing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Chi phí bán hàng &amp; QLDN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(52,8)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EBIT (lợi nhuận thuần từ HĐKD trước lãi vay)</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lãi vay</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Lợi nhuận trước thuế</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Thuế TNDN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Lợi nhuận sau thuế</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Ghi nhớ: khấu hao</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3,7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Ghi nhớ: EBITDA = EBIT + khấu hao</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7,7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34,4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Biên EBITDA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05354" y="5078760"/>
          <a:ext cx="6749004" cy="914400"/>
        </p:xfrm>
        <a:graphic>
          <a:graphicData uri="http://schemas.openxmlformats.org/drawingml/2006/table">
            <a:tbl>
              <a:tblPr/>
              <a:tblGrid>
                <a:gridCol w="1889699"/>
                <a:gridCol w="607344"/>
                <a:gridCol w="607344"/>
                <a:gridCol w="607344"/>
                <a:gridCol w="607344"/>
                <a:gridCol w="607344"/>
                <a:gridCol w="607344"/>
                <a:gridCol w="607344"/>
                <a:gridCol w="607802"/>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Tỷ đồng</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2023A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2024A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2025A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2026E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2027E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2028E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2029E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2030E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Tiền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Phải thu khách hàng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Hàng tồn kho</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Tài sản ngắn hạn khác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Tổng tài sản ngắn hạn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46,0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Nguyên giá TSCĐ (hữu hình + vô hình)</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Khấu hao lũy kế</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(58,2)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Tài sản dài hạn ròng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78,7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Tổng tài sản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27,4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119,5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127,6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Phải trả người bán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Vay ngắn hạn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Nợ ngắn hạn khác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Vay dài hạn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Tổng nợ phải trả</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28,4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Vốn góp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Lợi nhuận giữ lại</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Vốn chủ sở hữu</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91,1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105,0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Tổng nguồn vốn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27,4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119,5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127,6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bl>
          </a:graphicData>
        </a:graphic>
      </p:graphicFrame>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405354" y="8106339"/>
          <a:ext cx="6749004" cy="914400"/>
        </p:xfrm>
        <a:graphic>
          <a:graphicData uri="http://schemas.openxmlformats.org/drawingml/2006/table">
            <a:tbl>
              <a:tblPr/>
              <a:tblGrid>
                <a:gridCol w="1889699"/>
                <a:gridCol w="607344"/>
                <a:gridCol w="607344"/>
                <a:gridCol w="607344"/>
                <a:gridCol w="607344"/>
                <a:gridCol w="607344"/>
                <a:gridCol w="607344"/>
                <a:gridCol w="607344"/>
                <a:gridCol w="607802"/>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Tỷ đồng</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2023A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2024A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2025A</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2026E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2027E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2028E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2029E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2030E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Lợi nhuận sau thuế</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Khấu hao</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Thay đổi vốn lưu động và khác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Lưu chuyển tiền thuần từ HĐKD (CFO)</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CAPEX (CFI)</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(51,8)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Vốn góp cổ phần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Vay (trả) nợ dài hạn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Lưu chuyển tiền thuần từ HĐTC (CFF)</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Tiền cuối kỳ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FCFF (2023–25A: CFO − CAPEX)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10" name="Text 5"/>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1" name="Text 6"/>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2" name="Text 7"/>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A06:</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Báo cáo kết quả kinh doanh 2023A–2030E (theo chức năng: 70% tiền lương, 90% khấu hao vào giá vốn)</a:t>
            </a:r>
            <a:endParaRPr lang="en-US" sz="720" dirty="0"/>
          </a:p>
        </p:txBody>
      </p:sp>
      <p:sp>
        <p:nvSpPr>
          <p:cNvPr id="13" name="Text 8"/>
          <p:cNvSpPr txBox="1"/>
          <p:nvPr/>
        </p:nvSpPr>
        <p:spPr>
          <a:xfrm>
            <a:off x="405354" y="716798"/>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4" name="Text 9"/>
          <p:cNvSpPr txBox="1"/>
          <p:nvPr/>
        </p:nvSpPr>
        <p:spPr>
          <a:xfrm>
            <a:off x="405354" y="4641312"/>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trình bày lại theo chức năng); dự phóng (Income Statement)</a:t>
            </a:r>
            <a:endParaRPr lang="en-US" sz="600" dirty="0"/>
          </a:p>
        </p:txBody>
      </p:sp>
      <p:sp>
        <p:nvSpPr>
          <p:cNvPr id="15" name="Text 10"/>
          <p:cNvSpPr txBox="1"/>
          <p:nvPr/>
        </p:nvSpPr>
        <p:spPr>
          <a:xfrm>
            <a:off x="405354" y="4835713"/>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A07:</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Bảng cân đối kế toán 2023A–2030E</a:t>
            </a:r>
            <a:endParaRPr lang="en-US" sz="720" dirty="0"/>
          </a:p>
        </p:txBody>
      </p:sp>
      <p:sp>
        <p:nvSpPr>
          <p:cNvPr id="16" name="Text 11"/>
          <p:cNvSpPr txBox="1"/>
          <p:nvPr/>
        </p:nvSpPr>
        <p:spPr>
          <a:xfrm>
            <a:off x="405354" y="4963272"/>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7" name="Text 12"/>
          <p:cNvSpPr txBox="1"/>
          <p:nvPr/>
        </p:nvSpPr>
        <p:spPr>
          <a:xfrm>
            <a:off x="405354" y="7668981"/>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dự phóng (Balance Sheet)</a:t>
            </a:r>
            <a:endParaRPr lang="en-US" sz="600" dirty="0"/>
          </a:p>
        </p:txBody>
      </p:sp>
      <p:sp>
        <p:nvSpPr>
          <p:cNvPr id="18" name="Text 13"/>
          <p:cNvSpPr txBox="1"/>
          <p:nvPr/>
        </p:nvSpPr>
        <p:spPr>
          <a:xfrm>
            <a:off x="405354" y="7863383"/>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A08:</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Báo cáo lưu chuyển tiền tệ 2023A–2030E</a:t>
            </a:r>
            <a:endParaRPr lang="en-US" sz="720" dirty="0"/>
          </a:p>
        </p:txBody>
      </p:sp>
      <p:sp>
        <p:nvSpPr>
          <p:cNvPr id="19" name="Text 14"/>
          <p:cNvSpPr txBox="1"/>
          <p:nvPr/>
        </p:nvSpPr>
        <p:spPr>
          <a:xfrm>
            <a:off x="405354" y="7990942"/>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20" name="Text 15"/>
          <p:cNvSpPr txBox="1"/>
          <p:nvPr/>
        </p:nvSpPr>
        <p:spPr>
          <a:xfrm>
            <a:off x="405354" y="9613087"/>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BCTC 2023–2025 (đề bài); dự phóng (Cash Flow Statement, DCF)</a:t>
            </a:r>
            <a:endParaRPr lang="en-US" sz="600" dirty="0"/>
          </a:p>
        </p:txBody>
      </p:sp>
      <p:sp>
        <p:nvSpPr>
          <p:cNvPr id="21" name="Text 16"/>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2" name="Text 17"/>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18</a:t>
            </a:r>
            <a:endParaRPr lang="en-US" sz="6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10369479"/>
            <a:ext cx="6749004" cy="0"/>
          </a:xfrm>
          <a:prstGeom prst="line">
            <a:avLst/>
          </a:prstGeom>
          <a:noFill/>
          <a:ln w="9525">
            <a:solidFill>
              <a:srgbClr val="BFBFBF"/>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6749004" cy="914400"/>
        </p:xfrm>
        <a:graphic>
          <a:graphicData uri="http://schemas.openxmlformats.org/drawingml/2006/table">
            <a:tbl>
              <a:tblPr/>
              <a:tblGrid>
                <a:gridCol w="1147298"/>
                <a:gridCol w="364297"/>
                <a:gridCol w="364297"/>
                <a:gridCol w="364297"/>
                <a:gridCol w="364297"/>
                <a:gridCol w="364297"/>
                <a:gridCol w="3780221"/>
              </a:tblGrid>
              <a:tr h="131674">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Giả định</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26E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27E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28E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29E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30E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415869">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trưởng sản lượng hộp/khay F&amp;B</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sản lượng bị giới hạn bởi công suất: 2026 +32% nhờ máy ép bổ sung (CAPEX 20% DT); 2027 +22% do nhà máy mới đang xây; 2028 +35% khi 2 nhà máy mới chạy; giảm dần về +17% năm 2030. Lịch sử +60% (2024), +58% (2025). Đối chiếu: thị phần SAM tăng từ 4,3% lên ~11% năm 2030. Nguồn: BCTC 2023–2025 (đề bài); IMARC Group (2025);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Giá bán bình quân hộp/khay F&amp;B (nghìn đ/cái)</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giá 2025 lấy cận dưới khung giá hộp/khay 2.500–4.000đ/cái của nhóm vì doanh thu gồm cả khay nhỏ và đơn hàng sỉ; cao hơn hộp bã mía 500 ml bán lẻ 1.900–2.700đ nhờ ép khuôn theo mẫu. Nguồn: bảng chiến lược giá (Mục 1.2.2; ecoeshop.com), bảng giá hộp 500 ml (Mục 1.1.1; QueenPack.com, baobixanh.com).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giá bán F&amp;B và khuôn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Base +2%/năm, thấp hơn CPI 8T/2026 (+4,45%) vì khách hàng B2B có sức mạnh đàm phán rất cao và bao bì nhựa rẻ hơn nhiều lần (Mục 3.1.2, 3.2.3); Bear +1%, Bull +2,5%. Nguồn: Cục Thống kê (2026); phân tích ngành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trưởng số bộ khuôn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số bộ khuôn gắn với số SKU/khách hàng mới; tăng nhanh năm 2028 khi mở thị trường miền Bắc, sau đó chậm dần. Lịch sử +40% (2024), +39,5% (2025). Nguồn: BCTC 2023–2025;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Giá bình quân bộ khuôn (nghìn đ)</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20.400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20.808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21.224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21.649</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22.082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~20 triệu đồng/bộ khuôn, bằng giá tham chiếu khuôn ép bã mía/tre. Nguồn: bảng chiến lược giá (Mục 1.2.2; HTAECO.com).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trưởng diện tích đệm nội thất/TMĐT</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bám theo tăng trưởng TMĐT 18–25%/năm và khách hàng nội thất xuất khẩu; năm 2028 +40% nhờ công suất mới. Nguồn: Mục 3.2.2 (VECOM; Bộ Công Thương);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Giá đệm nội thất/TMĐT (nghìn đ/m²)</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23,9</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24,2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trung điểm khung 15.000–30.000đ/m² của vật liệu đệm định hình (PE foam) mà sản phẩm thay thế. Nguồn: báo giá PE foam định hình trên thị trường (2026); Mục 3.2.6.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trưởng diện tích đệm điện tử</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nền nhỏ (1,2 tỷ đồng năm 2025); thay thế khay EPS/EPE cho khách hàng FDI điện tử khi chuỗi cung ứng xuất khẩu yêu cầu xanh hóa. Nguồn: Mục 3.2.2 (xuất khẩu 475 tỷ USD năm 2025, FDI chiếm 80%); BCTC 2024–2025.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Giá đệm điện tử (nghìn đ/m²)</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41,8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43,1</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trung điểm khung 25.000–55.000đ/m² của khay EPE/EPE chống tĩnh điện mà sản phẩm thay thế. Nguồn: báo giá khay EPE trên thị trường (2026); Mục 3.2.6.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giá đệm bảo vệ</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đệm bảo vệ cạnh tranh trực tiếp với EPE/PE foam giá rẻ (áp lực thay thế cao, Mục 3.2.6) nên chỉ tăng 1,5%/năm (Base); Bear 0,5%, Bull 2%. Nguồn: phân tích ngành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Khoản giảm trừ / doanh thu gộp</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giữ mức 2025 (0,70% doanh thu gộp), xu hướng giảm từ 0,80% (2023). Nguồn: BCTC 2023–2025 (đề bài).</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0624">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Chi phí biến đổi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25,5%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26,5%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25,5% → 25,0% → 24,5% (2023–25). Tăng lên 25,0–27,0% vì lạm phát tác động chủ yếu vào chi phí thu gom, vận chuyển, sấy và năng lượng (Mục 3.1.2), bã mía bị cạnh tranh bởi lò hơi nhà máy đường và các nhà sản xuất bao bì sợi trước mốc dừng nhựa dùng một lần 2030; năm đầu chạy nhà máy mới hao hụt cao. Nguồn: BCTC 2023–2025; Cục Thống kê (CPI 8T/2026 +4,45%, nhóm nhà ở-điện-nước +6,71%).</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chi phí cố định sản xuất</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giữ mức tăng 10%/năm như 2024–2025. Nguồn: BCTC 2023–2025 (đề bài).</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Chi phí cố định tăng thêm của nhà máy mới (tỷ)</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0,9</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bước nhảy chi phí cố định (phòng QC, bảo trì, quản đốc) 0,9 tỷ đồng/năm khi 2 nhà máy mới vận hành. Nguồn: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Tiền lương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36,0% → 24,9% → 22,6% (2023–25). Giảm chậm lại (22,5–23,5%) vì lương tối thiểu vùng tăng 7,2% từ 01/01/2026 và nhà máy mới phải tuyển trước khi đạt công suất. Nguồn: BCTC 2023–2025; Nghị định 293/2025/NĐ-CP.</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Tiền lương phân bổ vào giá vốn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70% quỹ lương là lao động trực tiếp và quản lý phân xưởng (công nhân ép, sấy, QC, quản đốc) → giá vốn; 30% là bán hàng và quản lý DN → CPBH &amp; QLDN. Nguồn: giả định phân bổ của nhóm theo đặc thù DN sản xuất (BCTC gốc hạch toán tiền lương ngoài giá vốn).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Khấu hao phân bổ vào giá vốn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~90% nguyên giá TSCĐ là máy ép khuôn, hệ thống sấy, nhà xưởng, kho nguyên liệu → giá vốn; ~10% là văn phòng, xe giao hàng, thiết bị quản lý → CPBH &amp; QLDN. Nguồn: giả định phân bổ của nhóm theo cơ cấu tài sản (Mục 2: TS dài hạn là nhà máy, dây chuyền ép, xe, kho).</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Hỗ trợ tiền ăn / tiền lương</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giữ ~mức 2025 (28,8% quỹ lương). Nguồn: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tiền thuê mặt bằng</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tiền thuê tăng 35%, 41% (2024–25) khi thuê thêm kho, xưởng. Sau đó tăng chậm (12%/năm) vì nhà máy mới là tài sản tự đầu tư; năm sau đầu tư lớn +30% do thuê kho vệ tinh gần khách hàng. Nguồn: BCTC 2023–2025;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Sửa chữa, bảo dưỡng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giữ ~mức 2025 (4,4% DT; 2023–24: 4,9%, 5,2%). Nguồn: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Điện, nước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6,2% → 5,8% → 4,7% (2023–25). Nâng lên 5,0% vì sấy, ép nhiệt tốn điện và giá bán lẻ điện bình quân tăng 4,8% ngày 11/10/2024 và 4,8% ngày 10/5/2025 (2.204,07 đ/kWh). Nguồn: BCTC 2023–2025; Quyết định 1279/QĐ-BCT (2025); Mục 3.1.2.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Marketing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4,7% → 3,1% → 2,4% (2023–25). Tăng lại 2,8–3,0% khi mở rộng ra miền Bắc và khách hàng FDI (hội chợ, mẫu thử). Nguồn: BCTC 2023–2025; Mục 1.2.1.</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Kiểm nghiệm, chứng nhận &amp; R&amp;D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dòng chi phí mới 0,6% DT cho kiểm nghiệm bao bì tiếp xúc trực tiếp với thực phẩm, chứng nhận phân hủy (BPI, OK compost) và R&amp;D lớp chống thấm không PFAS. Nguồn: Thông tư 27/2026/TT-BYT (hiệu lực 01/7/2026); Mục 3.1.6.1, 3.2.5.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0624">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CAPEX / doanh thu (tỷ lệ tái đầu tư)</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tỷ lệ tái đầu tư = CAPEX/DT từng năm: 2026 20%, 2027 65% (đầu tư lớn theo đề bài), 2028 12% (hoàn thiện, chạy thử), 2029–30 10%. Ngành: trung vị CAPEX/DT của 16 DN bao bì niêm yết 2023–25 là 3,1%, tứ phân vị trên 8,3%, DN đang mở rộng 13–30% (Fig. A10); AgriPack cao hơn vì còn tăng trưởng 17–35%/năm và khấu hao chiếm 9–10% DT. Nguồn: đề bài (Mục III.2); FiinX (2026);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Tỷ lệ khấu hao (% nguyên giá đầu kỳ)</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12% nguyên giá đầu kỳ, khớp số liệu 2024–2025. Nguồn: file Excel mẫu (Assumption!D17); BCTC 2024–2025.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Số ngày tồn kho (DIO)</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152 → 123 → 106 ngày (2023–25), cao do tích trữ bã mía theo vụ ép (khoảng tháng 11–4). Giữ ~100 ngày; 2028 tăng lên 105 ngày để tích trữ cho 2 nhà máy mới. Nguồn: BCTC 2023–2025; lịch vụ ép mía.</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Số ngày phải thu (DSO)</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24 → 18 → 14 ngày (2023–25), rất ngắn cho B2B vì nhiều khách F&amp;B nhỏ trả ngay. Khi phục vụ chuỗi F&amp;B, FMCG, FDI điện tử (điều khoản 30–45 ngày), DSO tăng dần lên 30 ngày. Nguồn: BCTC 2023–2025; Mục 3.2.7 (khách hàng B2B có sức mạnh cao).</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Số ngày phải trả (DPO)</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9 → 8 → 7 ngày (2023–25). Quy mô lớn hơn giúp đàm phán kỳ hạn 15 ngày với nhà máy đường và đơn vị thu gom. Nguồn: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TSNH khác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6,3% → 5,5% → 4,4% (2023–25); giữ 4,0%. Nguồn: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Nợ ngắn hạn khác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giữ ~mức 2023–2025 (0,17–0,24% DT). Nguồn: BCTC 2023–2025.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Tiền mặt tối thiểu / doanh thu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5% DT ≈ 18 ngày chi phí tiền mặt, đệm cho vụ ép bã mía và kỳ thu tiền dài hơn. Nguồn: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6" name="Text 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7" name="Text 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8" name="Text 5"/>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A09:</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Giả định dự phóng: giá trị, lý do và nguồn (kịch bản cơ sở) – phần 1</a:t>
            </a:r>
            <a:endParaRPr lang="en-US" sz="720" dirty="0"/>
          </a:p>
        </p:txBody>
      </p:sp>
      <p:sp>
        <p:nvSpPr>
          <p:cNvPr id="9" name="Text 6"/>
          <p:cNvSpPr txBox="1"/>
          <p:nvPr/>
        </p:nvSpPr>
        <p:spPr>
          <a:xfrm>
            <a:off x="405354" y="8831184"/>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(Drivers): giá trị theo năm và nội dung ô ghi chú ngay cạnh từng giả định (cột K)</a:t>
            </a:r>
            <a:endParaRPr lang="en-US" sz="600" dirty="0"/>
          </a:p>
        </p:txBody>
      </p:sp>
      <p:sp>
        <p:nvSpPr>
          <p:cNvPr id="10" name="Text 7"/>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1" name="Text 8"/>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19</a:t>
            </a:r>
            <a:endParaRPr lang="en-US" sz="6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2155058"/>
            <a:ext cx="6749004" cy="0"/>
          </a:xfrm>
          <a:prstGeom prst="line">
            <a:avLst/>
          </a:prstGeom>
          <a:noFill/>
          <a:ln w="9525">
            <a:solidFill>
              <a:srgbClr val="7B1E2B"/>
            </a:solidFill>
            <a:prstDash val="solid"/>
          </a:ln>
        </p:spPr>
      </p:sp>
      <p:sp>
        <p:nvSpPr>
          <p:cNvPr id="5" name="Shape 3"/>
          <p:cNvSpPr/>
          <p:nvPr/>
        </p:nvSpPr>
        <p:spPr>
          <a:xfrm>
            <a:off x="405354" y="5281392"/>
            <a:ext cx="6749004" cy="0"/>
          </a:xfrm>
          <a:prstGeom prst="line">
            <a:avLst/>
          </a:prstGeom>
          <a:noFill/>
          <a:ln w="9525">
            <a:solidFill>
              <a:srgbClr val="7B1E2B"/>
            </a:solidFill>
            <a:prstDash val="solid"/>
          </a:ln>
        </p:spPr>
      </p:sp>
      <p:sp>
        <p:nvSpPr>
          <p:cNvPr id="6" name="Shape 4"/>
          <p:cNvSpPr/>
          <p:nvPr/>
        </p:nvSpPr>
        <p:spPr>
          <a:xfrm>
            <a:off x="405354" y="10369479"/>
            <a:ext cx="6749004" cy="0"/>
          </a:xfrm>
          <a:prstGeom prst="line">
            <a:avLst/>
          </a:prstGeom>
          <a:noFill/>
          <a:ln w="9525">
            <a:solidFill>
              <a:srgbClr val="BFBFBF"/>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6749004" cy="914400"/>
        </p:xfrm>
        <a:graphic>
          <a:graphicData uri="http://schemas.openxmlformats.org/drawingml/2006/table">
            <a:tbl>
              <a:tblPr/>
              <a:tblGrid>
                <a:gridCol w="1147298"/>
                <a:gridCol w="364297"/>
                <a:gridCol w="364297"/>
                <a:gridCol w="364297"/>
                <a:gridCol w="364297"/>
                <a:gridCol w="364297"/>
                <a:gridCol w="3780221"/>
              </a:tblGrid>
              <a:tr h="131674">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Giả định</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26E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27E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28E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29E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30E</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223845">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Tỷ lệ CAPEX 2027 tài trợ bằng vay trung hạn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60%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60% CAPEX nhà máy mới vay trung hạn có tài sản bảo đảm (nhà xưởng, máy); lãi suất cho vay 8,1–10,5% (Mục 3.1.3), có thể xin hỗ trợ lãi suất NATIF (Mục 3.1.5). Nguồn: NHNN (2026); NATIF (2026); giả định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Lãi suất vay</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lãi suất cho vay VND 8,1–10,5%/năm (6/2026); DN nhỏ vay ở nửa trên khung → 10%. Nguồn: NHNN (2026), Mục 3.1.3.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Thuế suất TNDN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17%</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17% nếu tổng DT năm trước ≤ 50 tỷ đồng (2026: DT 2025 = 47,5 tỷ), 20% từ 2027. Không giả định miễn, giảm thuế khởi nghiệp sáng tạo (NQ 198/2025/QH15) vì chưa chứng minh đủ điều kiện. Nguồn: Luật Thuế TNDN 67/2025/QH15; Mục 3.1.6.3.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Tỷ giá USD/VND bình quân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26.300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26.826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27.363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27.910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28.468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dùng để quy đổi doanh thu sang USD khi so với TAM/SAM của IMARC. 2025: 26.000; 2026: 26.300; sau đó VND mất giá 2%/năm. Nguồn: Vietcombank (tỷ giá bán ra); MBS Research dự báo 26.800–27.000 cuối 2026 (Mục 3.1.4).</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05354" y="2424440"/>
          <a:ext cx="6749004" cy="914400"/>
        </p:xfrm>
        <a:graphic>
          <a:graphicData uri="http://schemas.openxmlformats.org/drawingml/2006/table">
            <a:tbl>
              <a:tblPr/>
              <a:tblGrid>
                <a:gridCol w="578632"/>
                <a:gridCol w="600395"/>
                <a:gridCol w="600395"/>
                <a:gridCol w="600395"/>
                <a:gridCol w="600395"/>
                <a:gridCol w="600395"/>
                <a:gridCol w="600395"/>
                <a:gridCol w="600395"/>
                <a:gridCol w="723290"/>
                <a:gridCol w="621975"/>
                <a:gridCol w="622524"/>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DN</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CAPEX 23</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CAPEX 24</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CAPEX 25</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DT 23</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DT 24</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DT 25</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KH 23–25</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CAPEX/DT</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KH/DT</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CAPEX/KH</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HHP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462,7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706,7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637,1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1.109,3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1.870,5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3.123,9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SVI</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1.505,5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1.506,0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1.522,1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AAA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643,2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1.038,1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12.621,5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12.782,2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10.728,1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1.236,1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APH</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686,1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1.165,9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14.521,9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14.192,6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10.741,3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1.529,1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ILS</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INN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148,6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1.532,2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1.767,1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1.804,1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TPC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567,0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476,3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DHC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3.258,9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3.596,5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3.631,0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318,4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TPP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2.506,9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3.174,4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3.153,3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274,1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PMP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538,0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613,9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682,4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PBP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420,6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STP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195,2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0,88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BBS</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450,5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VBC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874,5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822,0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844,4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TDP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27,4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3.819,7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4.379,1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4.763,8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MCP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418,1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Trung vị</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1,02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r h="234269">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Tứ phân vị trên (P75)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8,3%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3,4%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2,26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405354" y="5449641"/>
          <a:ext cx="6749004" cy="914400"/>
        </p:xfrm>
        <a:graphic>
          <a:graphicData uri="http://schemas.openxmlformats.org/drawingml/2006/table">
            <a:tbl>
              <a:tblPr/>
              <a:tblGrid>
                <a:gridCol w="1282263"/>
                <a:gridCol w="742310"/>
                <a:gridCol w="4724430"/>
              </a:tblGrid>
              <a:tr h="131674">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Giả định định giá</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Giá trị</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05"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en-US" sz="605"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319857">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Lãi suất phi rủi ro Rf</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3,92%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bình quân lợi suất TPCP kỳ hạn 10 năm của 10 năm 2016–2025 (bảng A28:D40) để không đưa đỉnh/đáy chu kỳ lãi suất vào chi phí vốn dài hạn; lợi suất hiện hành đầu 06/2026 ~4,47%. Nguồn: VBMA, HNX (CEIC), ADB AsianBondsOnline, Vietnam News, VNDirect (xem cột D bảng dưới).</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ERP thị trường phát triển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4,23%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Nguồn: Damodaran (01/2026) – ERP thị trường trưởng thành (Aaa) 4,23%; bản 07/2026: 4,20%.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Phần bù rủi ro quốc gia (CRP)</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3,90%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ƯỚC TÍNH: Moody's Ba2 (triển vọng tích cực từ 5/2026); chênh lệch vỡ nợ Ba2 ~2,9% × hệ số biến động cổ phiếu/trái phiếu ~1,35 (phương pháp Damodaran). Nguồn: Moody's (2026); Damodaran (2026). Cần đối chiếu bảng CRP 01/2026.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Beta không đòn bẩy βu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Nguồn: Damodaran (01/2026) – beta không đòn bẩy ngành Packaging &amp; Container 0,78 (hiệu chỉnh tiền mặt 0,81). Beta 2 năm của DN bao bì niêm yết VN thấp (~0,6) do thanh khoản mỏng nên không dùng.</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Hệ số tương quan ρ</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0,70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quỹ VC nắm 20–30 khoản đầu tư nên đa dạng hóa một phần → ρ = 0,7; total beta = β/ρ. Nguồn: Damodaran (2009), Valuing Young, Start-up and Growth Companies.</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Chi phí nợ trước thuế Kd</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lãi suất cho vay VND 8,1–10,5%/năm (6/2026); DN nhỏ vay ở nửa trên khung → 10%. Nguồn: NHNN (2026), Mục 3.1.3.</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D/E mục tiêu</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40,9%</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Công thức: D/E theo BCĐKT dự phóng cuối 2027 (sau huy động vốn cổ phần và khoản vay trung hạn).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Thuế suất dài hạn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Nguồn: Luật Thuế TNDN 67/2025/QH15 – thuế suất phổ thông 20% (dùng cho NOPAT dài hạn và P/E chuẩn hóa).</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Tăng trưởng dài hạn g</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5%</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tăng trưởng dài hạn danh nghĩa VND 5%: lạm phát mục tiêu ~4–4,5% cộng tăng trưởng thực thấp; thấp hơn GDP danh nghĩa VN (~10–12%) và thấp hơn Rf + tăng trưởng thực. Nguồn: NHNN, Quốc hội (mục tiêu CPI 2026 ~4,5%); Damodaran (2026).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612">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RONIC sau 2030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18%</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RONIC 18% &gt; ROIC 2030E (~14%) vì năm 2030 còn công suất trống (vòng quay NG TSCĐ ~1,3x so với 1,66x năm 2025), tăng trưởng sau 2030 cần ít CAPEX mới; cao hơn WACC ~4 điểm % (lợi thế nguyên liệu phụ phẩm). Tỷ lệ tái đầu tư cuối kỳ = g/RONIC = 27,8% NOPAT. Nguồn: tính toán của nhóm; Damodaran (2026).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Tỷ lệ thất bại z (VC Method)</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Nguồn: đề bài (Mục III.1 – tỷ lệ thất bại tại mỗi giai đoạn đầu tư của VC).</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Giai đoạn phát triển</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Đầu tăng trưởng</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doanh thu 47,5 tỷ, tăng 54–59%/năm, LNST và FCF vừa dương năm 2025, D/E 6,5%. Nguồn: kết luận Mục 2.</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P/E thoái vốn 2030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9,40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P/E ngành Containers &amp; Packaging (ICB cấp 4) năm 2026: 9,43x; trung vị mẫu 14 DN: xem Multiples!G22. Nguồn: FiinX (giá đóng cửa 28/9/2026).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EV/EBITDA thoái vốn 2030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8,00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EV/EBITDA ngành Containers &amp; Packaging 2026: 7,99x (2025: 7,5x). Nguồn: FiinX (giá đóng cửa 28/9/2026).</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Chiết khấu thanh khoản &amp; quy mô (DLOM)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30%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DN tư nhân, cổ phần không giao dịch, doanh thu 47,5 tỷ (trung vị mẫu ~1.400 tỷ), phụ thuộc đội ngũ sáng lập → 30% (khoảng 20–35% theo nghiên cứu chiết khấu DN tư nhân). Nguồn: Damodaran (2026); Koeplin, Sarin &amp; Shapiro (2000).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Trọng số DCF</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DCF 40% – phản ánh dự phóng dòng tiền và công suất; chưa trừ rủi ro thất bại. Nguồn: lựa chọn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588">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Trọng số VC Method</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40%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VCM 40% – góc nhìn NĐT, có tỷ lệ thất bại 40% của giai đoạn đầu tăng trưởng (đề bài). Nguồn: lựa chọn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Trọng số Multiples</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05" dirty="0">
                          <a:solidFill>
                            <a:srgbClr val="1F1F1F"/>
                          </a:solidFill>
                          <a:latin typeface="Calibri" pitchFamily="34" charset="0"/>
                          <a:ea typeface="Calibri" pitchFamily="34" charset="-122"/>
                          <a:cs typeface="Calibri" pitchFamily="34" charset="-120"/>
                        </a:rPr>
                        <a:t>20%</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05" dirty="0">
                          <a:solidFill>
                            <a:srgbClr val="1F1F1F"/>
                          </a:solidFill>
                          <a:latin typeface="Calibri" pitchFamily="34" charset="0"/>
                          <a:ea typeface="Calibri" pitchFamily="34" charset="-122"/>
                          <a:cs typeface="Calibri" pitchFamily="34" charset="-120"/>
                        </a:rPr>
                        <a:t>Lý do: Multiples 20% – mẫu so sánh là DN niêm yết lớn, trưởng thành; chỉ phản ánh bộ máy 2025A nên chỉ dùng làm neo thị trường. Nguồn: lựa chọn của nhóm.</a:t>
                      </a:r>
                      <a:endParaRPr lang="en-US" sz="605"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0" name="Text 5"/>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1" name="Text 6"/>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2" name="Text 7"/>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A09 (tiếp):</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Giả định dự phóng: giá trị, lý do và nguồn (kịch bản cơ sở) – phần 2</a:t>
            </a:r>
            <a:endParaRPr lang="en-US" sz="720" dirty="0"/>
          </a:p>
        </p:txBody>
      </p:sp>
      <p:sp>
        <p:nvSpPr>
          <p:cNvPr id="13" name="Text 8"/>
          <p:cNvSpPr txBox="1"/>
          <p:nvPr/>
        </p:nvSpPr>
        <p:spPr>
          <a:xfrm>
            <a:off x="405354" y="1986991"/>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(Drivers): giá trị theo năm và nội dung ô ghi chú ngay cạnh từng giả định (cột K)</a:t>
            </a:r>
            <a:endParaRPr lang="en-US" sz="600" dirty="0"/>
          </a:p>
        </p:txBody>
      </p:sp>
      <p:sp>
        <p:nvSpPr>
          <p:cNvPr id="14" name="Text 9"/>
          <p:cNvSpPr txBox="1"/>
          <p:nvPr/>
        </p:nvSpPr>
        <p:spPr>
          <a:xfrm>
            <a:off x="405354" y="2181393"/>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A10:</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CAPEX/doanh thu của 16 DN bao bì niêm yết 2023–2025: cơ sở điều chỉnh tỷ lệ tái đầu tư theo ngành</a:t>
            </a:r>
            <a:endParaRPr lang="en-US" sz="720" dirty="0"/>
          </a:p>
        </p:txBody>
      </p:sp>
      <p:sp>
        <p:nvSpPr>
          <p:cNvPr id="15" name="Text 10"/>
          <p:cNvSpPr txBox="1"/>
          <p:nvPr/>
        </p:nvSpPr>
        <p:spPr>
          <a:xfrm>
            <a:off x="405354" y="2308951"/>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 tỷ lệ bình quân gia quyền 3 năm</a:t>
            </a:r>
            <a:endParaRPr lang="en-US" sz="630" dirty="0"/>
          </a:p>
        </p:txBody>
      </p:sp>
      <p:sp>
        <p:nvSpPr>
          <p:cNvPr id="16" name="Text 11"/>
          <p:cNvSpPr txBox="1"/>
          <p:nvPr/>
        </p:nvSpPr>
        <p:spPr>
          <a:xfrm>
            <a:off x="405354" y="5113416"/>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FiinX – BCTC hợp nhất năm 2023–2025 (lưu chuyển tiền: tiền chi mua sắm TSCĐ; khấu hao; doanh thu thuần), tỷ đồng; tính toán của nhóm</a:t>
            </a:r>
            <a:endParaRPr lang="en-US" sz="600" dirty="0"/>
          </a:p>
        </p:txBody>
      </p:sp>
      <p:sp>
        <p:nvSpPr>
          <p:cNvPr id="17" name="Text 12"/>
          <p:cNvSpPr txBox="1"/>
          <p:nvPr/>
        </p:nvSpPr>
        <p:spPr>
          <a:xfrm>
            <a:off x="405354" y="5307818"/>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A11:</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Giả định định giá: giá trị, lý do và nguồn</a:t>
            </a:r>
            <a:endParaRPr lang="en-US" sz="720" dirty="0"/>
          </a:p>
        </p:txBody>
      </p:sp>
      <p:sp>
        <p:nvSpPr>
          <p:cNvPr id="18" name="Text 13"/>
          <p:cNvSpPr txBox="1"/>
          <p:nvPr/>
        </p:nvSpPr>
        <p:spPr>
          <a:xfrm>
            <a:off x="405354" y="9042044"/>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Discount rate (cột C), Assumption (cột E), VCM, Multiples, Summary (cột G) – ô ghi chú ngay cạnh giả định</a:t>
            </a:r>
            <a:endParaRPr lang="en-US" sz="600" dirty="0"/>
          </a:p>
        </p:txBody>
      </p:sp>
      <p:sp>
        <p:nvSpPr>
          <p:cNvPr id="19" name="Text 14"/>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20" name="Text 15"/>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20</a:t>
            </a:r>
            <a:endParaRPr lang="en-US" sz="6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2640056"/>
            <a:ext cx="6749004" cy="0"/>
          </a:xfrm>
          <a:prstGeom prst="line">
            <a:avLst/>
          </a:prstGeom>
          <a:noFill/>
          <a:ln w="9525">
            <a:solidFill>
              <a:srgbClr val="7B1E2B"/>
            </a:solidFill>
            <a:prstDash val="solid"/>
          </a:ln>
        </p:spPr>
      </p:sp>
      <p:sp>
        <p:nvSpPr>
          <p:cNvPr id="5" name="Shape 3"/>
          <p:cNvSpPr/>
          <p:nvPr/>
        </p:nvSpPr>
        <p:spPr>
          <a:xfrm>
            <a:off x="405354" y="5764103"/>
            <a:ext cx="2159996" cy="0"/>
          </a:xfrm>
          <a:prstGeom prst="line">
            <a:avLst/>
          </a:prstGeom>
          <a:noFill/>
          <a:ln w="9525">
            <a:solidFill>
              <a:srgbClr val="7B1E2B"/>
            </a:solidFill>
            <a:prstDash val="solid"/>
          </a:ln>
        </p:spPr>
      </p:sp>
      <p:sp>
        <p:nvSpPr>
          <p:cNvPr id="6" name="Shape 4"/>
          <p:cNvSpPr/>
          <p:nvPr/>
        </p:nvSpPr>
        <p:spPr>
          <a:xfrm>
            <a:off x="405354" y="10369479"/>
            <a:ext cx="6749004" cy="0"/>
          </a:xfrm>
          <a:prstGeom prst="line">
            <a:avLst/>
          </a:prstGeom>
          <a:noFill/>
          <a:ln w="9525">
            <a:solidFill>
              <a:srgbClr val="BFBFBF"/>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05354" y="731063"/>
          <a:ext cx="6749004" cy="914400"/>
        </p:xfrm>
        <a:graphic>
          <a:graphicData uri="http://schemas.openxmlformats.org/drawingml/2006/table">
            <a:tbl>
              <a:tblPr/>
              <a:tblGrid>
                <a:gridCol w="1079724"/>
                <a:gridCol w="539770"/>
                <a:gridCol w="2092056"/>
                <a:gridCol w="3037454"/>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Năm</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Lợi suất</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Thời điểm quan sát</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Nguồn</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2016</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6,95%</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Q1/2016 – lãi suất phát hành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Oxford Business Group (2017). The Report: Vietnam 2017 – Attractive yields (bonds)</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2017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5,42%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10/2017 – lãi suất trúng thầu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Vietnam News (2017), tin đấu thầu TPCP tháng 10/2017; tháng 11/2017: 5,41–5,91%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2018</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5,00%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03/12/2018 – lợi suất spot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CEIC Data (dữ liệu HNX), Vietnam Government Bond Yield: Spot</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2019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3,42%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12/2019 – thị trường thứ cấp (mức thấp kỷ lục)</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Vietnam News (2020). Gov't bond yields hit record low</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2,24%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12/2020 – thị trường thứ cấp (−34 bps so với 11/2020)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VBMA (2021). Bond Market Report 12/2020; MBS Fixed Income 01/2021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12/2021 – thị trường thứ cấp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VBMA (2022). Bond Market Monthly Highlights 12/2021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4,80%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31/12/2022 – thị trường thứ cấp</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ADB AsianBondsOnline (2023); VBMA Monthly Bond Market Report 12/2022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2,28%</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29/11/2023 – lãi suất trúng thầu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VBMA (2023). Kết quả đấu thầu TPCP ngày 29/11/2023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4269">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2,97%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Cuối năm 2024 – lợi suất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Thị trường Tài chính Tiền tệ (2025). Thị trường TPCP: kỳ hạn 10 năm tiếp tục chi phối nhu cầu</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2025</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4,04%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Cuối năm 2025 – lợi suất kỳ hạn 10 năm</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VNDirect (2025). La bàn thị trường; Thị trường Tài chính Tiền tệ (2026)</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Bình quân 2016–2025 (Rf)</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3,92%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05354" y="2808214"/>
          <a:ext cx="6749004" cy="914400"/>
        </p:xfrm>
        <a:graphic>
          <a:graphicData uri="http://schemas.openxmlformats.org/drawingml/2006/table">
            <a:tbl>
              <a:tblPr/>
              <a:tblGrid>
                <a:gridCol w="539770"/>
                <a:gridCol w="607344"/>
                <a:gridCol w="1822216"/>
                <a:gridCol w="742310"/>
                <a:gridCol w="809793"/>
                <a:gridCol w="809793"/>
                <a:gridCol w="674827"/>
                <a:gridCol w="742950"/>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Mã</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Sàn</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Phân khúc</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DT TTM (tỷ)</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Biên EBITDA (%)</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EV/EBITDA (x)</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P/E (x)</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Trong mẫu</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DHC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Giấy, bao bì carton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3.938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18,9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TDP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nhựa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5.488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AAA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Nhựa, nhựa sinh học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9.243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3,85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APH</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nhựa (holding)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9.252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HHP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Giấy bao bì</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INN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giấy, in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1.921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ILS</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UPCoM</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khác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16,64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TPP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nhựa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MCP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Bao bì kim loại, in</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431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36,45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84,23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Loại</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PBT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UPCoM</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i="1" dirty="0">
                          <a:solidFill>
                            <a:srgbClr val="555555"/>
                          </a:solidFill>
                          <a:latin typeface="Calibri" pitchFamily="34" charset="0"/>
                          <a:ea typeface="Calibri" pitchFamily="34" charset="-122"/>
                          <a:cs typeface="Calibri" pitchFamily="34" charset="-120"/>
                        </a:rPr>
                        <a:t>Thương mại vật tư bao bì</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2.042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0,04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9,97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i="1" dirty="0">
                          <a:solidFill>
                            <a:srgbClr val="555555"/>
                          </a:solidFill>
                          <a:latin typeface="Calibri" pitchFamily="34" charset="0"/>
                          <a:ea typeface="Calibri" pitchFamily="34" charset="-122"/>
                          <a:cs typeface="Calibri" pitchFamily="34" charset="-120"/>
                        </a:rPr>
                        <a:t>Loại</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TPC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HOSE</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Màng, túi nhựa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4,21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20,41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VBC</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nhựa</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4,17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4,85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BBS</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giấy, bao xi măng</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484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STP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giấy</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6,65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PBP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PP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PMP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HNX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Bao bì PP</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Có</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Trung vị mẫu</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4,63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7,13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Bình quân ngành 2026 (FiinX)</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7,99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1F1F1F"/>
                          </a:solidFill>
                          <a:latin typeface="Calibri" pitchFamily="34" charset="0"/>
                          <a:ea typeface="Calibri" pitchFamily="34" charset="-122"/>
                          <a:cs typeface="Calibri" pitchFamily="34" charset="-120"/>
                        </a:rPr>
                        <a:t>9,43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buNone/>
                      </a:pP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405354" y="6033486"/>
          <a:ext cx="2159996" cy="914400"/>
        </p:xfrm>
        <a:graphic>
          <a:graphicData uri="http://schemas.openxmlformats.org/drawingml/2006/table">
            <a:tbl>
              <a:tblPr/>
              <a:tblGrid>
                <a:gridCol w="604876"/>
                <a:gridCol w="310896"/>
                <a:gridCol w="310896"/>
                <a:gridCol w="310896"/>
                <a:gridCol w="310896"/>
                <a:gridCol w="311536"/>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WACC \ g</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5,0%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6,0%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7,0%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81,1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95,3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45,1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60,2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68,4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41,1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27,2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29,1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36,7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21,9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26,6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85" name="Table 3"/>
          <p:cNvGraphicFramePr>
            <a:graphicFrameLocks noGrp="1"/>
          </p:cNvGraphicFramePr>
          <p:nvPr>
            <p:extLst>
              <p:ext uri="{D42A27DB-BD31-4B8C-83A1-F6EECF244321}">
                <p14:modId xmlns:p14="http://schemas.microsoft.com/office/powerpoint/2010/main" val="1579011935"/>
              </p:ext>
            </p:extLst>
          </p:nvPr>
        </p:nvGraphicFramePr>
        <p:xfrm>
          <a:off x="405354" y="6994611"/>
          <a:ext cx="2159996" cy="914400"/>
        </p:xfrm>
        <a:graphic>
          <a:graphicData uri="http://schemas.openxmlformats.org/drawingml/2006/table">
            <a:tbl>
              <a:tblPr/>
              <a:tblGrid>
                <a:gridCol w="431871"/>
                <a:gridCol w="345552"/>
                <a:gridCol w="345552"/>
                <a:gridCol w="345552"/>
                <a:gridCol w="345552"/>
                <a:gridCol w="345735"/>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z \ Exit</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+15%</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13,8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40,8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15,9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25,3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34,7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45%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11,4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(0,9)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14,8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22,7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30,5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graphicFrame>
        <p:nvGraphicFramePr>
          <p:cNvPr id="106" name="Table 4"/>
          <p:cNvGraphicFramePr>
            <a:graphicFrameLocks noGrp="1"/>
          </p:cNvGraphicFramePr>
          <p:nvPr>
            <p:extLst>
              <p:ext uri="{D42A27DB-BD31-4B8C-83A1-F6EECF244321}">
                <p14:modId xmlns:p14="http://schemas.microsoft.com/office/powerpoint/2010/main" val="1579011935"/>
              </p:ext>
            </p:extLst>
          </p:nvPr>
        </p:nvGraphicFramePr>
        <p:xfrm>
          <a:off x="405354" y="7955737"/>
          <a:ext cx="2159996" cy="914400"/>
        </p:xfrm>
        <a:graphic>
          <a:graphicData uri="http://schemas.openxmlformats.org/drawingml/2006/table">
            <a:tbl>
              <a:tblPr/>
              <a:tblGrid>
                <a:gridCol w="604876"/>
                <a:gridCol w="310896"/>
                <a:gridCol w="310896"/>
                <a:gridCol w="310896"/>
                <a:gridCol w="310896"/>
                <a:gridCol w="311536"/>
              </a:tblGrid>
              <a:tr h="134508">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WACC\RONIC</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14%</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16%</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18%</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20%</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22%</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11,6%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59,6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66,1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71,0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75,0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78,3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44,5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49,8</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54,0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57,3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60,0</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37,6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b="1" dirty="0">
                          <a:solidFill>
                            <a:srgbClr val="FFFFFF"/>
                          </a:solidFill>
                          <a:latin typeface="Calibri" pitchFamily="34" charset="0"/>
                          <a:ea typeface="Calibri" pitchFamily="34" charset="-122"/>
                          <a:cs typeface="Calibri" pitchFamily="34" charset="-120"/>
                        </a:rPr>
                        <a:t>41,1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43,9</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46,2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14,6%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24,3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28,2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31,2</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33,6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35,5</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23">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15,6%</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17,3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20,7</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23,3</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25,4</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buNone/>
                      </a:pPr>
                      <a:r>
                        <a:rPr lang="en-US" sz="634" dirty="0">
                          <a:solidFill>
                            <a:srgbClr val="1F1F1F"/>
                          </a:solidFill>
                          <a:latin typeface="Calibri" pitchFamily="34" charset="0"/>
                          <a:ea typeface="Calibri" pitchFamily="34" charset="-122"/>
                          <a:cs typeface="Calibri" pitchFamily="34" charset="-120"/>
                        </a:rPr>
                        <a:t>27,1</a:t>
                      </a:r>
                      <a:endParaRPr lang="en-US" sz="634" dirty="0">
                        <a:latin typeface="Calibri" charset="0"/>
                        <a:ea typeface="Calibri" charset="0"/>
                        <a:cs typeface="Calibri" charset="0"/>
                      </a:endParaRPr>
                    </a:p>
                  </a:txBody>
                  <a:tcPr marL="28804" marR="28804"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2" name="Text 5"/>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13" name="Text 6"/>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14" name="Text 7"/>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A12:</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Lợi suất TPCP kỳ hạn 10 năm 2016–2025: bình quân 3,92% là Rf trong CAPM</a:t>
            </a:r>
            <a:endParaRPr lang="en-US" sz="720" dirty="0"/>
          </a:p>
        </p:txBody>
      </p:sp>
      <p:sp>
        <p:nvSpPr>
          <p:cNvPr id="15" name="Text 8"/>
          <p:cNvSpPr txBox="1"/>
          <p:nvPr/>
        </p:nvSpPr>
        <p:spPr>
          <a:xfrm>
            <a:off x="405354" y="2471989"/>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Model (Discount rate, A28:D40). 2016–2017, 2023 dùng quan sát phát hành/đấu thầu gần cuối năm nhất có nguồn</a:t>
            </a:r>
            <a:endParaRPr lang="en-US" sz="600" dirty="0"/>
          </a:p>
        </p:txBody>
      </p:sp>
      <p:sp>
        <p:nvSpPr>
          <p:cNvPr id="16" name="Text 9"/>
          <p:cNvSpPr txBox="1"/>
          <p:nvPr/>
        </p:nvSpPr>
        <p:spPr>
          <a:xfrm>
            <a:off x="405354" y="2666390"/>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A13:</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Mẫu DN so sánh cho phương pháp Multiples (16 DN; loại MCP, PBT)</a:t>
            </a:r>
            <a:endParaRPr lang="en-US" sz="720" dirty="0"/>
          </a:p>
        </p:txBody>
      </p:sp>
      <p:sp>
        <p:nvSpPr>
          <p:cNvPr id="17" name="Text 10"/>
          <p:cNvSpPr txBox="1"/>
          <p:nvPr/>
        </p:nvSpPr>
        <p:spPr>
          <a:xfrm>
            <a:off x="405354" y="5596128"/>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FiinX (giá đóng cửa 28/9/2026; BCTC 4 quý gần nhất đến Q2/2026); sheet Multiples</a:t>
            </a:r>
            <a:endParaRPr lang="en-US" sz="600" dirty="0"/>
          </a:p>
        </p:txBody>
      </p:sp>
      <p:sp>
        <p:nvSpPr>
          <p:cNvPr id="18" name="Text 11"/>
          <p:cNvSpPr txBox="1"/>
          <p:nvPr/>
        </p:nvSpPr>
        <p:spPr>
          <a:xfrm>
            <a:off x="405354" y="5790438"/>
            <a:ext cx="2289566"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A14:</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Độ nhạy DCF: WACC × g</a:t>
            </a:r>
            <a:endParaRPr lang="en-US" sz="720" dirty="0"/>
          </a:p>
        </p:txBody>
      </p:sp>
      <p:sp>
        <p:nvSpPr>
          <p:cNvPr id="19" name="Text 12"/>
          <p:cNvSpPr txBox="1"/>
          <p:nvPr/>
        </p:nvSpPr>
        <p:spPr>
          <a:xfrm>
            <a:off x="405354" y="5917997"/>
            <a:ext cx="2289566"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Pre-money, tỷ đồng</a:t>
            </a:r>
            <a:endParaRPr lang="en-US" sz="630" dirty="0"/>
          </a:p>
        </p:txBody>
      </p:sp>
      <p:sp>
        <p:nvSpPr>
          <p:cNvPr id="20" name="Text 13"/>
          <p:cNvSpPr txBox="1"/>
          <p:nvPr/>
        </p:nvSpPr>
        <p:spPr>
          <a:xfrm>
            <a:off x="405354" y="6888358"/>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VC Method: z × thay đổi giá trị thoái vốn</a:t>
            </a:r>
            <a:endParaRPr lang="en-US" sz="640" dirty="0"/>
          </a:p>
        </p:txBody>
      </p:sp>
      <p:sp>
        <p:nvSpPr>
          <p:cNvPr id="21" name="Text 14"/>
          <p:cNvSpPr txBox="1"/>
          <p:nvPr/>
        </p:nvSpPr>
        <p:spPr>
          <a:xfrm>
            <a:off x="405354" y="7849484"/>
            <a:ext cx="2289566" cy="99121"/>
          </a:xfrm>
          <a:prstGeom prst="rect">
            <a:avLst/>
          </a:prstGeom>
          <a:noFill/>
          <a:ln/>
        </p:spPr>
        <p:txBody>
          <a:bodyPr wrap="none" lIns="0" tIns="0" rIns="0" bIns="0" rtlCol="0" anchor="t"/>
          <a:lstStyle/>
          <a:p>
            <a:pPr algn="l" indent="0" marL="0">
              <a:lnSpc>
                <a:spcPts val="781"/>
              </a:lnSpc>
              <a:buNone/>
            </a:pPr>
            <a:r>
              <a:rPr lang="en-US" sz="640" b="1" dirty="0">
                <a:solidFill>
                  <a:srgbClr val="666666"/>
                </a:solidFill>
                <a:latin typeface="Calibri" pitchFamily="34" charset="0"/>
                <a:ea typeface="Calibri" pitchFamily="34" charset="-122"/>
                <a:cs typeface="Calibri" pitchFamily="34" charset="-120"/>
              </a:rPr>
              <a:t>DCF: WACC × RONIC</a:t>
            </a:r>
            <a:endParaRPr lang="en-US" sz="640" dirty="0"/>
          </a:p>
        </p:txBody>
      </p:sp>
      <p:sp>
        <p:nvSpPr>
          <p:cNvPr id="22" name="Text 15"/>
          <p:cNvSpPr txBox="1"/>
          <p:nvPr/>
        </p:nvSpPr>
        <p:spPr>
          <a:xfrm>
            <a:off x="405354" y="8785281"/>
            <a:ext cx="2289566"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Mô hình (Sensitivity – mỗi ô tính lại toàn bộ DCF/VCM)</a:t>
            </a:r>
            <a:endParaRPr lang="en-US" sz="600" dirty="0"/>
          </a:p>
        </p:txBody>
      </p:sp>
      <p:sp>
        <p:nvSpPr>
          <p:cNvPr id="23" name="Text 16"/>
          <p:cNvSpPr txBox="1"/>
          <p:nvPr/>
        </p:nvSpPr>
        <p:spPr>
          <a:xfrm>
            <a:off x="2745303" y="5773704"/>
            <a:ext cx="4673773"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Diễn giải kết quả định giá</a:t>
            </a:r>
            <a:endParaRPr lang="en-US" sz="900" dirty="0"/>
          </a:p>
        </p:txBody>
      </p:sp>
      <p:sp>
        <p:nvSpPr>
          <p:cNvPr id="24" name="Text 17"/>
          <p:cNvSpPr txBox="1"/>
          <p:nvPr/>
        </p:nvSpPr>
        <p:spPr>
          <a:xfrm>
            <a:off x="2745303" y="5943051"/>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Giá trị khi thành công và giá trị kỳ vọng.</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DCF (41,1 tỷ; độ nhạy ở Fig. A14) là giá trị nếu kế hoạch được thực hiện: nhà máy 2027 đúng tiến độ và sản lượng đạt dự phóng. Nhà đầu tư VC không trả mức này vì 40% khả năng doanh nghiệp thất bại: nhân với xác suất sống sót và cộng giá trị thanh lý, DCF còn 30,7 tỷ – gần VC Method (25,3 tỷ) và Multiples (27,7 tỷ). Khoảng 25,3–30,7 tỷ vì vậy là vùng giá trị có tính rủi ro; DCF là cận trên khi rủi ro đã giảm.</a:t>
            </a:r>
            <a:endParaRPr lang="en-US" sz="850" dirty="0"/>
          </a:p>
        </p:txBody>
      </p:sp>
      <p:sp>
        <p:nvSpPr>
          <p:cNvPr id="25" name="Text 18"/>
          <p:cNvSpPr txBox="1"/>
          <p:nvPr/>
        </p:nvSpPr>
        <p:spPr>
          <a:xfrm>
            <a:off x="2745303" y="6638453"/>
            <a:ext cx="4409237" cy="52623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Tăng trưởng chưa tạo giá trị trong 5 năm.</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PV của FCFF 2026–2030 âm 33,1 tỷ, ROIC 2027–2029 thấp hơn WACC; toàn bộ giá trị đến từ sau 2030 (giá trị cuối kỳ bằng 183% EV). Pre-money 32,1 tỷ chỉ bằng 1,07 lần VCSH sổ sách và 4,0 lần EBITDA 2025A: thị trường sẽ không trả thêm cho tăng trưởng cho đến khi nhà máy mới chứng minh được công suất.</a:t>
            </a:r>
            <a:endParaRPr lang="en-US" sz="850" dirty="0"/>
          </a:p>
        </p:txBody>
      </p:sp>
      <p:sp>
        <p:nvSpPr>
          <p:cNvPr id="26" name="Text 19"/>
          <p:cNvSpPr txBox="1"/>
          <p:nvPr/>
        </p:nvSpPr>
        <p:spPr>
          <a:xfrm>
            <a:off x="2745303" y="7202454"/>
            <a:ext cx="4409237" cy="394746"/>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Giá trị thoái vốn là biến số lớn nhất của VC Method.</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P/E 9,4 lần cho 130 tỷ, EV/EBITDA 8 lần cho 267 tỷ; giá trị thoái vốn ±15% làm pre-money theo VC Method dao động khoảng ±9 tỷ. Với z = 45% (cận trên của giai đoạn đầu tăng trưởng), pre-money còn khoảng 20,1 tỷ.</a:t>
            </a:r>
            <a:endParaRPr lang="en-US" sz="850" dirty="0"/>
          </a:p>
        </p:txBody>
      </p:sp>
      <p:sp>
        <p:nvSpPr>
          <p:cNvPr id="27" name="Text 20"/>
          <p:cNvSpPr txBox="1"/>
          <p:nvPr/>
        </p:nvSpPr>
        <p:spPr>
          <a:xfrm>
            <a:off x="2745303" y="7634783"/>
            <a:ext cx="4409237" cy="263164"/>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DCF nhạy với WACC hơn với g.</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Dòng tiền dương đến muộn nên WACC ±1 điểm % làm pre-money thay đổi mạnh hơn g ±1 điểm %; RONIC 14% thay vì 18% làm giá trị giảm 8,0 tỷ.</a:t>
            </a:r>
            <a:endParaRPr lang="en-US" sz="850" dirty="0"/>
          </a:p>
        </p:txBody>
      </p:sp>
      <p:sp>
        <p:nvSpPr>
          <p:cNvPr id="28" name="Text 21"/>
          <p:cNvSpPr txBox="1"/>
          <p:nvPr/>
        </p:nvSpPr>
        <p:spPr>
          <a:xfrm>
            <a:off x="2745303" y="7935529"/>
            <a:ext cx="4409237" cy="657819"/>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Cách dùng khoảng giá trị.</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Khoảng 19,7–49,2 tỷ phản ánh ba nguồn bất định: chi phí vốn, giá trị thoái vốn và xác suất thất bại. Cận dưới gần giá trị sổ sách và giá trị theo P/E trung vị ngành (17,7 tỷ); cận trên đòi hỏi nhà máy đúng tiến độ và bội số thoái vốn ngang bình quân ngành. Giá trị tăng chủ yếu khi sản lượng F&amp;B đạt kế hoạch (kịch bản Bull cho 73,6 tỷ) và giảm mạnh nếu cầu yếu (kịch bản Bear âm).</a:t>
            </a:r>
            <a:endParaRPr lang="en-US" sz="850" dirty="0"/>
          </a:p>
        </p:txBody>
      </p:sp>
      <p:sp>
        <p:nvSpPr>
          <p:cNvPr id="29" name="Text 22"/>
          <p:cNvSpPr txBox="1"/>
          <p:nvPr/>
        </p:nvSpPr>
        <p:spPr>
          <a:xfrm>
            <a:off x="2745303" y="8631022"/>
            <a:ext cx="4409237" cy="526237"/>
          </a:xfrm>
          <a:prstGeom prst="rect">
            <a:avLst/>
          </a:prstGeom>
          <a:noFill/>
          <a:ln/>
        </p:spPr>
        <p:txBody>
          <a:bodyPr wrap="square" lIns="0" tIns="0" rIns="0" bIns="0" rtlCol="0" anchor="t"/>
          <a:lstStyle/>
          <a:p>
            <a:pPr algn="just" indent="0" marL="0">
              <a:lnSpc>
                <a:spcPts val="1037"/>
              </a:lnSpc>
              <a:buNone/>
            </a:pPr>
            <a:r>
              <a:rPr lang="en-US" sz="850" b="1" dirty="0">
                <a:solidFill>
                  <a:srgbClr val="7B1E2B"/>
                </a:solidFill>
                <a:latin typeface="Calibri" pitchFamily="34" charset="0"/>
                <a:ea typeface="Calibri" pitchFamily="34" charset="-122"/>
                <a:cs typeface="Calibri" pitchFamily="34" charset="-120"/>
              </a:rPr>
              <a:t>Cầu quyết định giá trị nhiều hơn chi phí vốn.</a:t>
            </a:r>
            <a:pPr algn="just" indent="0" marL="0">
              <a:lnSpc>
                <a:spcPts val="1037"/>
              </a:lnSpc>
              <a:buNone/>
            </a:pPr>
            <a:r>
              <a:rPr lang="en-US" sz="850" dirty="0">
                <a:solidFill>
                  <a:srgbClr val="1F1F1F"/>
                </a:solidFill>
                <a:latin typeface="Calibri" pitchFamily="34" charset="0"/>
                <a:ea typeface="Calibri" pitchFamily="34" charset="-122"/>
                <a:cs typeface="Calibri" pitchFamily="34" charset="-120"/>
              </a:rPr>
              <a:t> Khi từng nhân tố ở Mục 3 được đưa về mức bất lợi hoặc thuận lợi và chạy lại toàn bộ mô hình (Fig. A15), sản lượng ×0,8/×1,2 làm pre-money đi từ 7,8 đến 60,4 tỷ, còn lãi suất hay CRP ±1 điểm % chỉ làm pre-money thay đổi 5–7 tỷ. Theo dõi đơn hàng F&amp;B và tiến độ nhà máy 2027 vì vậy quan trọng hơn dự báo lãi suất.</a:t>
            </a:r>
            <a:endParaRPr lang="en-US" sz="850" dirty="0"/>
          </a:p>
        </p:txBody>
      </p:sp>
      <p:sp>
        <p:nvSpPr>
          <p:cNvPr id="30" name="Text 23"/>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31" name="Text 24"/>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21</a:t>
            </a:r>
            <a:endParaRPr lang="en-US" sz="6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562813"/>
            <a:ext cx="6749004" cy="0"/>
          </a:xfrm>
          <a:prstGeom prst="line">
            <a:avLst/>
          </a:prstGeom>
          <a:noFill/>
          <a:ln w="9525">
            <a:solidFill>
              <a:srgbClr val="7B1E2B"/>
            </a:solidFill>
            <a:prstDash val="solid"/>
          </a:ln>
        </p:spPr>
      </p:sp>
      <p:sp>
        <p:nvSpPr>
          <p:cNvPr id="4" name="Shape 2"/>
          <p:cNvSpPr/>
          <p:nvPr/>
        </p:nvSpPr>
        <p:spPr>
          <a:xfrm>
            <a:off x="405354" y="10369479"/>
            <a:ext cx="6749004" cy="0"/>
          </a:xfrm>
          <a:prstGeom prst="line">
            <a:avLst/>
          </a:prstGeom>
          <a:noFill/>
          <a:ln w="9525">
            <a:solidFill>
              <a:srgbClr val="BFBFBF"/>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05354" y="832287"/>
          <a:ext cx="6749004" cy="914400"/>
        </p:xfrm>
        <a:graphic>
          <a:graphicData uri="http://schemas.openxmlformats.org/drawingml/2006/table">
            <a:tbl>
              <a:tblPr/>
              <a:tblGrid>
                <a:gridCol w="1417320"/>
                <a:gridCol w="512887"/>
                <a:gridCol w="512887"/>
                <a:gridCol w="512887"/>
                <a:gridCol w="512887"/>
                <a:gridCol w="512887"/>
                <a:gridCol w="2767340"/>
              </a:tblGrid>
              <a:tr h="233355">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Nhân tố → giả định thay đổi (bất lợi / thuận lợi)</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Pre-money</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DCF</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VCM</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DT 2030E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LNST 2030E</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buNone/>
                      </a:pPr>
                      <a:r>
                        <a:rPr lang="en-US" sz="634" b="1" dirty="0">
                          <a:solidFill>
                            <a:srgbClr val="FFFFFF"/>
                          </a:solidFill>
                          <a:latin typeface="Calibri" pitchFamily="34" charset="0"/>
                          <a:ea typeface="Calibri" pitchFamily="34" charset="-122"/>
                          <a:cs typeface="Calibri" pitchFamily="34" charset="-120"/>
                        </a:rPr>
                        <a:t>Lý do biên độ và nguồn (ô ghi chú cạnh giả định, Summary cột N)</a:t>
                      </a:r>
                      <a:endParaRPr lang="en-US" sz="634" dirty="0">
                        <a:latin typeface="Calibri" charset="0"/>
                        <a:ea typeface="Calibri" charset="0"/>
                        <a:cs typeface="Calibri" charset="0"/>
                      </a:endParaRPr>
                    </a:p>
                  </a:txBody>
                  <a:tcPr marL="28804" marR="28804" marT="18014" marB="18014" anchor="ctr">
                    <a:lnL w="0" cap="flat" cmpd="sng" algn="ctr">
                      <a:noFill/>
                    </a:lnL>
                    <a:lnR w="0" cap="flat" cmpd="sng" algn="ctr">
                      <a:noFill/>
                    </a:lnR>
                    <a:lnT w="0" cap="flat" cmpd="sng" algn="ctr">
                      <a:noFill/>
                    </a:lnT>
                    <a:lnB w="0" cap="flat" cmpd="sng" algn="ctr">
                      <a:noFill/>
                    </a:lnB>
                    <a:solidFill>
                      <a:srgbClr val="7B1E2B"/>
                    </a:solidFill>
                  </a:tcPr>
                </a:tc>
              </a:tr>
              <a:tr h="130668">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Kịch bản cơ sở (Base)</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32,1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41,1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25,3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b="1"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31871">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Cầu: tăng trưởng sản lượng ×0,8 / ×1,2 (GDP, tiêu dùng, TMĐT – Mục 3.1.1, 3.2.2)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7,8 / 60,4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6,3 / 82,9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−0,5 / 54,2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137,3 / 209,6</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6,6 / 22,6</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±20% tốc độ tăng sản lượng mọi phân khúc – GDP 6T/2026 +8,18%, tiêu dùng +8,15%, TMĐT +18–25%/năm nhưng SAM chỉ +4,73%/năm; tăng trưởng của AgriPack phụ thuộc giành thị phần và tiến độ nhà máy (kịch bản Bear dùng ×0,7).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Giá bán: +1% / +3% mỗi năm, Base +2% (CPI, sức mạnh khách hàng B2B – Mục 3.1.2, 3.2.3)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26,1 / 38,3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32,5 / 50,1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19,0 / 31,9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162,1 / 178,8</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12,0 / 15,8</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 điểm %/năm giá bán F&amp;B, khuôn và đệm – CPI 8T/2026 +4,45% cho phép tăng giá gần lạm phát, nhưng khách hàng B2B có sức mạnh đàm phán rất cao và bao bì nhựa rẻ hơn nhiều lần (Mục 3.2.3).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biến đổi/DT: +1 / −1 điểm % (lạm phát chi phí thu gom, năng lượng – Mục 3.1.2)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24,6 / 39,4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31,8 / 50,4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15,8 / 34,3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12,5 / 15,2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 điểm % doanh thu – nhóm nhà ở, điện, nước, chất đốt, VLXD +6,71% (8T/2026); bã mía bị cạnh tranh bởi lò hơi nhà máy đường và nhà sản xuất bao bì sợi (Mục 3.1.2, 3.2.3).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Chi phí nhân sự/DT: +1 / −1 điểm % (lương tối thiểu vùng +7,2% – NĐ 293/2025)</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22,8 / 41,0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29,5 / 52,7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13,7 / 36,1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12,1 / 15,6</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 điểm % doanh thu – lương tối thiểu vùng tăng 7,2% từ 01/01/2026 (NĐ 293/2025/NĐ-CP); tiền lương là khoản chi phí lớn thứ hai sau chi phí biến đổi.</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31871">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Lãi suất: Rf và Kd +1 / −1 điểm % (điều hành lãi suất, tín dụng – Mục 3.1.3)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26,9 / 38,4</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31,7 / 53,0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21,6 / 29,2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13,7 / 14,0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 điểm % cho cả lợi suất phi rủi ro (bình quân TPCP 10 năm 3,92%) và lãi vay (10%, khung cho vay 8,1–10,5%/năm); nhỏ hơn độ lệch chuẩn ~1,6 điểm % của lợi suất TPCP 10 năm 2016–2025 (Discount rate A28:C40) vì Rf là bình quân dài hạn.</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Rủi ro quốc gia CRP: +1 / −1 điểm % (xếp hạng Moody's Ba2, triển vọng tích cực – Mục 3.1)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26,8 / 38,7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30,7 / 54,7</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22,5 / 28,3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 điểm % CRP 3,9% – Moody's nâng triển vọng Việt Nam lên tích cực (5/2026): nâng hạng làm CRP giảm; ngược lại nếu cú sốc bên ngoài làm chênh lệch lợi suất nới rộng.</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116">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Ưu đãi thuế NQ 198/2025/QH15 nếu đủ điều kiện (miễn 2026–27, giảm 50% 2028–29 – Mục 3.1.6.2)</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32,1 / 35,1</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41,1 / 44,5</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25,3 / 29,3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170,3</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13,9</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buNone/>
                      </a:pPr>
                      <a:r>
                        <a:rPr lang="en-US" sz="634" dirty="0">
                          <a:solidFill>
                            <a:srgbClr val="1F1F1F"/>
                          </a:solidFill>
                          <a:latin typeface="Calibri" pitchFamily="34" charset="0"/>
                          <a:ea typeface="Calibri" pitchFamily="34" charset="-122"/>
                          <a:cs typeface="Calibri" pitchFamily="34" charset="-120"/>
                        </a:rPr>
                        <a:t>chỉ có chiều thuận lợi vì mô hình Base chưa đưa ưu đãi vào (chưa chứng minh đủ điều kiện). Chỉ tính ưu đãi đến 2029 để ưu đãi tạm thời không đi vào giá trị cuối kỳ (LNST 2030 chuẩn hóa ở thuế suất 20%).</a:t>
                      </a:r>
                      <a:endParaRPr lang="en-US" sz="634" dirty="0">
                        <a:latin typeface="Calibri" charset="0"/>
                        <a:ea typeface="Calibri" charset="0"/>
                        <a:cs typeface="Calibri" charset="0"/>
                      </a:endParaRPr>
                    </a:p>
                  </a:txBody>
                  <a:tcPr marL="28804" marR="28804"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6" name="Text 3"/>
          <p:cNvSpPr txBox="1"/>
          <p:nvPr/>
        </p:nvSpPr>
        <p:spPr>
          <a:xfrm>
            <a:off x="405354" y="4094958"/>
            <a:ext cx="6749004" cy="1726662"/>
          </a:xfrm>
          <a:prstGeom prst="rect">
            <a:avLst/>
          </a:prstGeom>
          <a:noFill/>
          <a:ln/>
        </p:spPr>
        <p:txBody>
          <a:bodyPr wrap="square" lIns="0" tIns="0" rIns="0" bIns="0" rtlCol="0" anchor="t"/>
          <a:lstStyle/>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Nội dung.</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Mục 1–3 giữ nguyên văn bài của nhóm (TTKN_2); chỉ đánh số tiêu đề, thêm số Fig., chuyển đường dẫn nguồn xuống Tài liệu tham khảo và sửa một số lỗi dữ kiện, chính tả (văn bản pháp lý ở Mục 1; thị phần SAM F&amp;B ở Mục 2.1 thống nhất 4,3%; số liệu IMARC bị lặp, phân loại đối thủ và tên doanh nghiệp ở Mục 3.2). Mục 4, 5, 8 và các phụ lục tính toán do Lộc viết từ mô hình. Các bảng số của Mục 2 được đối chiếu lại với BCTC trong mô hình và khớp.</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Mô hình.</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AgriPack_Model_final.xlsx (dựng trên file mẫu của giảng viên): Drivers → Pro Forma → BCTC 2026–2030 → Discount rate → DCF, VCM, Multiples → Summary. Mỗi Fig. có số liệu có block cùng số trong sheet Chart_Data; nguồn và lý do của từng giả định ghi ngay ô bên cạnh giả định; sheet Checks xác nhận BCĐKT cân và các liên kết khớp.</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BCKQKD theo chức năng.</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70% tiền lương và 90% khấu hao vào giá vốn, phần còn lại vào CPBH &amp; QLDN, áp dụng cho cả 2023–2025 để so sánh. EBIT, LNST, dòng tiền và kết quả định giá không đổi so với cách trình bày theo tính chất.</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Rf.</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Bình quân 10 quan sát lợi suất TPCP 10 năm (2016–2025) = 3,92%; mỗi năm một quan sát cuối năm hoặc gần cuối năm nhất có nguồn (Fig. A12). Phần bù rủi ro quốc gia 3,9% là ước tính theo phương pháp Damodaran cho hạng Ba2 – cần đối chiếu bảng CRP 01/2026.</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Độ nhạy theo nhân tố.</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Mỗi nhân tố vĩ mô – ngành được đổi một mình trên kịch bản cơ sở và toàn bộ mô hình được tính lại (Fig. 30, Fig. A15); kết quả lưu dạng giá trị chụp ở Summary, lý do biên độ ghi ở ô bên cạnh.</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Năm đầu tư lớn.</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Đề bài ghi 2027; file Excel mẫu khóa 65% ở năm 2028. Báo cáo theo đề bài; phương án 2028 chạy bằng ô chọn Drivers!C4 (pre-money bình quân 26,3 tỷ).</a:t>
            </a:r>
            <a:endParaRPr lang="en-US" sz="700" dirty="0"/>
          </a:p>
          <a:p>
            <a:pPr algn="just" marL="125857" indent="-125857">
              <a:lnSpc>
                <a:spcPts val="875"/>
              </a:lnSpc>
              <a:spcAft>
                <a:spcPts val="227"/>
              </a:spcAft>
              <a:buSzPct val="100000"/>
              <a:buChar char="•"/>
            </a:pPr>
            <a:r>
              <a:rPr lang="en-US" sz="700" b="1" dirty="0">
                <a:solidFill>
                  <a:srgbClr val="1F1F1F"/>
                </a:solidFill>
                <a:latin typeface="Calibri" pitchFamily="34" charset="0"/>
                <a:ea typeface="Calibri" pitchFamily="34" charset="-122"/>
                <a:cs typeface="Calibri" pitchFamily="34" charset="-120"/>
              </a:rPr>
              <a:t>Quy ước.</a:t>
            </a:r>
            <a:pPr algn="just" marL="125857" indent="-125857">
              <a:lnSpc>
                <a:spcPts val="875"/>
              </a:lnSpc>
              <a:spcAft>
                <a:spcPts val="227"/>
              </a:spcAft>
              <a:buSzPct val="100000"/>
              <a:buChar char="•"/>
            </a:pPr>
            <a:r>
              <a:rPr lang="en-US" sz="700" dirty="0">
                <a:solidFill>
                  <a:srgbClr val="1F1F1F"/>
                </a:solidFill>
                <a:latin typeface="Calibri" pitchFamily="34" charset="0"/>
                <a:ea typeface="Calibri" pitchFamily="34" charset="-122"/>
                <a:cs typeface="Calibri" pitchFamily="34" charset="-120"/>
              </a:rPr>
              <a:t> Tỷ đồng (bảng của nhóm ở Mục 2: nghìn đồng); t0 = 01/01/2026; chiết khấu cuối năm; A = thực tế, E = dự phóng (cột tô nền). FCFF = EBIT(1 − t) + khấu hao − ΔVLĐ − CAPEX. ROE, ROA, vòng quay tài sản tính trên số dư bình quân.</a:t>
            </a:r>
            <a:endParaRPr lang="en-US" sz="700" dirty="0"/>
          </a:p>
        </p:txBody>
      </p:sp>
      <p:sp>
        <p:nvSpPr>
          <p:cNvPr id="7" name="Text 4"/>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8" name="Text 5"/>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9" name="Text 6"/>
          <p:cNvSpPr txBox="1"/>
          <p:nvPr/>
        </p:nvSpPr>
        <p:spPr>
          <a:xfrm>
            <a:off x="405354" y="589239"/>
            <a:ext cx="7153991" cy="109545"/>
          </a:xfrm>
          <a:prstGeom prst="rect">
            <a:avLst/>
          </a:prstGeom>
          <a:noFill/>
          <a:ln/>
        </p:spPr>
        <p:txBody>
          <a:bodyPr wrap="none" lIns="0" tIns="0" rIns="0" bIns="0" rtlCol="0" anchor="t"/>
          <a:lstStyle/>
          <a:p>
            <a:pPr algn="l" indent="0" marL="0">
              <a:lnSpc>
                <a:spcPts val="864"/>
              </a:lnSpc>
              <a:buNone/>
            </a:pPr>
            <a:r>
              <a:rPr lang="en-US" sz="720" b="1" dirty="0">
                <a:solidFill>
                  <a:srgbClr val="7B1E2B"/>
                </a:solidFill>
                <a:latin typeface="Calibri" pitchFamily="34" charset="0"/>
                <a:ea typeface="Calibri" pitchFamily="34" charset="-122"/>
                <a:cs typeface="Calibri" pitchFamily="34" charset="-120"/>
              </a:rPr>
              <a:t>Fig. A15:</a:t>
            </a:r>
            <a:pPr algn="l" indent="0" marL="0">
              <a:lnSpc>
                <a:spcPts val="864"/>
              </a:lnSpc>
              <a:buNone/>
            </a:pPr>
            <a:r>
              <a:rPr lang="en-US" sz="720" b="1" dirty="0">
                <a:solidFill>
                  <a:srgbClr val="1F1F1F"/>
                </a:solidFill>
                <a:latin typeface="Calibri" pitchFamily="34" charset="0"/>
                <a:ea typeface="Calibri" pitchFamily="34" charset="-122"/>
                <a:cs typeface="Calibri" pitchFamily="34" charset="-120"/>
              </a:rPr>
              <a:t> Độ nhạy theo nhân tố vĩ mô – ngành: biên độ, kết quả và lý do (bất lợi / thuận lợi)</a:t>
            </a:r>
            <a:endParaRPr lang="en-US" sz="720" dirty="0"/>
          </a:p>
        </p:txBody>
      </p:sp>
      <p:sp>
        <p:nvSpPr>
          <p:cNvPr id="10" name="Text 7"/>
          <p:cNvSpPr txBox="1"/>
          <p:nvPr/>
        </p:nvSpPr>
        <p:spPr>
          <a:xfrm>
            <a:off x="405354" y="716798"/>
            <a:ext cx="7153991" cy="97658"/>
          </a:xfrm>
          <a:prstGeom prst="rect">
            <a:avLst/>
          </a:prstGeom>
          <a:noFill/>
          <a:ln/>
        </p:spPr>
        <p:txBody>
          <a:bodyPr wrap="none" lIns="0" tIns="0" rIns="0" bIns="0" rtlCol="0" anchor="t"/>
          <a:lstStyle/>
          <a:p>
            <a:pPr algn="l" indent="0" marL="0">
              <a:lnSpc>
                <a:spcPts val="769"/>
              </a:lnSpc>
              <a:buNone/>
            </a:pPr>
            <a:r>
              <a:rPr lang="en-US" sz="630" dirty="0">
                <a:solidFill>
                  <a:srgbClr val="666666"/>
                </a:solidFill>
                <a:latin typeface="Calibri" pitchFamily="34" charset="0"/>
                <a:ea typeface="Calibri" pitchFamily="34" charset="-122"/>
                <a:cs typeface="Calibri" pitchFamily="34" charset="-120"/>
              </a:rPr>
              <a:t>Tỷ đồng</a:t>
            </a:r>
            <a:endParaRPr lang="en-US" sz="630" dirty="0"/>
          </a:p>
        </p:txBody>
      </p:sp>
      <p:sp>
        <p:nvSpPr>
          <p:cNvPr id="11" name="Text 8"/>
          <p:cNvSpPr txBox="1"/>
          <p:nvPr/>
        </p:nvSpPr>
        <p:spPr>
          <a:xfrm>
            <a:off x="405354" y="3748126"/>
            <a:ext cx="7153991" cy="91349"/>
          </a:xfrm>
          <a:prstGeom prst="rect">
            <a:avLst/>
          </a:prstGeom>
          <a:noFill/>
          <a:ln/>
        </p:spPr>
        <p:txBody>
          <a:bodyPr wrap="none" lIns="0" tIns="0" rIns="0" bIns="0" rtlCol="0" anchor="t"/>
          <a:lstStyle/>
          <a:p>
            <a:pPr algn="l" indent="0" marL="0">
              <a:lnSpc>
                <a:spcPts val="720"/>
              </a:lnSpc>
              <a:buNone/>
            </a:pPr>
            <a:r>
              <a:rPr lang="en-US" sz="600" i="1" dirty="0">
                <a:solidFill>
                  <a:srgbClr val="666666"/>
                </a:solidFill>
                <a:latin typeface="Calibri" pitchFamily="34" charset="0"/>
                <a:ea typeface="Calibri" pitchFamily="34" charset="-122"/>
                <a:cs typeface="Calibri" pitchFamily="34" charset="-120"/>
              </a:rPr>
              <a:t>Nguồn: Chạy lại toàn bộ mô hình cho từng nhân tố (Summary, khối độ nhạy theo nhân tố vĩ mô – ngành; lý do ở cột N cạnh từng dòng)</a:t>
            </a:r>
            <a:endParaRPr lang="en-US" sz="600" dirty="0"/>
          </a:p>
        </p:txBody>
      </p:sp>
      <p:sp>
        <p:nvSpPr>
          <p:cNvPr id="12" name="Text 9"/>
          <p:cNvSpPr txBox="1"/>
          <p:nvPr/>
        </p:nvSpPr>
        <p:spPr>
          <a:xfrm>
            <a:off x="405354" y="3925611"/>
            <a:ext cx="7153991"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Ghi chú phương pháp</a:t>
            </a:r>
            <a:endParaRPr lang="en-US" sz="900" dirty="0"/>
          </a:p>
        </p:txBody>
      </p:sp>
      <p:sp>
        <p:nvSpPr>
          <p:cNvPr id="13" name="Text 10"/>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14" name="Text 11"/>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22</a:t>
            </a:r>
            <a:endParaRPr lang="en-US" sz="6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354" y="467076"/>
            <a:ext cx="6749004" cy="0"/>
          </a:xfrm>
          <a:prstGeom prst="line">
            <a:avLst/>
          </a:prstGeom>
          <a:noFill/>
          <a:ln w="9525">
            <a:solidFill>
              <a:srgbClr val="7B1E2B"/>
            </a:solidFill>
            <a:prstDash val="solid"/>
          </a:ln>
        </p:spPr>
      </p:sp>
      <p:sp>
        <p:nvSpPr>
          <p:cNvPr id="3" name="Shape 1"/>
          <p:cNvSpPr/>
          <p:nvPr/>
        </p:nvSpPr>
        <p:spPr>
          <a:xfrm>
            <a:off x="405354" y="10369479"/>
            <a:ext cx="6749004" cy="0"/>
          </a:xfrm>
          <a:prstGeom prst="line">
            <a:avLst/>
          </a:prstGeom>
          <a:noFill/>
          <a:ln w="9525">
            <a:solidFill>
              <a:srgbClr val="BFBFBF"/>
            </a:solidFill>
            <a:prstDash val="solid"/>
          </a:ln>
        </p:spPr>
      </p:sp>
      <p:sp>
        <p:nvSpPr>
          <p:cNvPr id="4" name="Text 2"/>
          <p:cNvSpPr txBox="1"/>
          <p:nvPr/>
        </p:nvSpPr>
        <p:spPr>
          <a:xfrm>
            <a:off x="405354" y="741761"/>
            <a:ext cx="6749004" cy="6112673"/>
          </a:xfrm>
          <a:prstGeom prst="rect">
            <a:avLst/>
          </a:prstGeom>
          <a:noFill/>
          <a:ln/>
        </p:spPr>
        <p:txBody>
          <a:bodyPr wrap="square" lIns="0" tIns="0" rIns="0" bIns="0" rtlCol="0" anchor="t"/>
          <a:lstStyle/>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Asian Development Bank. (2023).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AsianBondsOnline: Viet Nam government bond yields, December 2022</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[Cơ sở dữ liệu].</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BCG, National Innovation Center, &amp; Vietnam Private Capital Agency. (2026).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Vietnam innovation and private capital report 2026</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https://www.vpca.vn/insights/vietnam-innovation-private-capital-report-2026</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Berkus, D. (2016).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After 20 years: Updating the Berkus method of valuation</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Berkonomics.</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Báo Sài Gòn Giải Phóng. (2025). Chậm "xanh hóa", doanh nghiệp in – bao bì đối mặt sức ép giữ đơn hàng.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SGGP</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Bộ Công Thương. (2025).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Quyết định số 1279/QĐ-BCT quy định về giá bán điện</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(hiệu lực 10/5/2025).</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Bộ Y tế. (2026).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Thông tư số 27/2026/TT-BYT ban hành danh mục thực phẩm, dụng cụ chứa đựng thực phẩm, vật liệu bao gói tiếp xúc trực tiếp với thực phẩm có mức độ rủi ro trung bình thuộc trách nhiệm quản lý của Bộ Y tế</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https://chinhphu.vn/?pageid=27160&amp;docid=216867</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CEIC Data. (2018).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Vietnam government bond yield: Spot: 10 years</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[Dữ liệu HNX].</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Chính phủ. (2022).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Nghị định số 08/2022/NĐ-CP quy định chi tiết một số điều của Luật Bảo vệ môi trường</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(Điều 64: lộ trình hạn chế sản phẩm nhựa dùng một lần, bao bì nhựa khó phân hủy sinh học).</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Chính phủ. (2025).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Nghị định số 293/2025/NĐ-CP quy định mức lương tối thiểu đối với người lao động làm việc theo hợp đồng lao động</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Chính phủ. (2026a).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Nghị định số 48/2026/NĐ-CP sửa đổi, bổ sung một số điều của các nghị định quy định chi tiết Luật Bảo vệ môi trường</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Chính phủ. (2026b).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Nghị định số 110/2026/NĐ-CP quy định trách nhiệm tái chế, xử lý chất thải của tổ chức, cá nhân sản xuất, nhập khẩu</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Cleverence. (2026). Typical gross margin by industry [Bài viết của Taylor]. https://www.cleverence.com/articles/for-business/typical-gross-margin-by-industry-4827/</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Cục Thống kê. (2026a). Động lực tăng trưởng kinh tế Việt Nam trong quý II và 6 tháng đầu năm 2026. https://www.nso.gov.vn/du-lieu-va-so-lieu-thong-ke/2026/07/</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Cục Thống kê. (2026b).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Tình hình kinh tế – xã hội tháng 8 và 8 tháng năm 2026</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Damodaran, A. (2009).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Valuing young, start-up and growth companies: Estimation issues and valuation challenges</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Stern School of Business, New York University.</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Damodaran, A. (2026a).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Betas by sector (US); Equity risk premiums; Country default spreads and risk premiums</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[Bộ dữ liệu, cập nhật 01/2026 và 07/2026]. https://pages.stern.nyu.edu/~adamodar/</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Damodaran, A. (2026b).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The fundamental determinants of growth</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Stern School of Business, New York University. https://pages.stern.nyu.edu/adamodar/New_Home_Page/littlebook/growthvaluedrivers.htm</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ecoeshop.com. (2026).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Bảng giá hộp bã mía nhập khẩu Thái Lan, Trung Quốc</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[Trang bán hàng].</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FiinGroup. (2026).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FiinX: báo cáo tài chính, bội số định giá của doanh nghiệp bao bì niêm yết; thống kê ngành Containers &amp; Packaging</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[Cơ sở dữ liệu, truy xuất 28–30/9/2026].</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Glotrans. (2025). Ngành giấy Việt Nam phục hồi mạnh mẽ nhờ bao bì xanh và kinh tế tuần hoàn. https://glotransvn.com.vn/tin-thi-truong/nganh-giay-viet-nam-phuc-hoi-manh-me-nho-bao-bi-xanh-va-kinh-te-tuan-hoan</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Hiệp hội Bao bì. (2025). Xu hướng bao bì bền vững; Xu hướng sử dụng vật liệu xanh. https://www.hhbb.vn/</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HTAECO. (2026).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Sản phẩm ép khuôn theo mẫu từ bã mía và tre</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[Trang giới thiệu sản phẩm]. HTAECO.com.</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IMARC Group. (2025).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Vietnam green packaging market: Industry trends, share, size, growth, opportunity and forecast 2026–2034</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https://www.imarcgroup.com/vietnam-green-packaging-market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Innovative Hub. (2025).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Báo cáo tổng hợp xuất khẩu ngành bao bì và in ấn Việt Nam 2025</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IHUB.</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Koeplin, J., Sarin, A., &amp; Shapiro, A. C. (2000). The private company discount.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Journal of Applied Corporate Finance, 12</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(4), 94–101.</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Moody's Ratings. (2026, 4 tháng 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Moody's changes Vietnam's outlook to positive, affirms Ba2 ratings</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Mordor Intelligence. (2025).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Vietnam paper packaging market – growth, trends, and forecasts (2025–2030)</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a:t>
            </a:r>
            <a:pPr algn="l" marL="151003" indent="-151003">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Global packaging market</a:t>
            </a:r>
            <a:pPr algn="l" marL="151003" indent="-151003">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https://www.mordorintelligence.com/industry-reports/global-packaging-market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Ngân hàng Nhà nước Việt Nam – Chi nhánh Hà Nội. (2026). Thông tin kết quả điều hành chính sách tiền tệ và hoạt động ngân hàng 6 tháng đầu năm 2026. https://sbv.hanoi.gov.vn/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Oxford Business Group. (2017).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The report: Vietnam 2017 – Attractive yields</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Payne, B. (2011).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Scorecard valuation methodology: Establishing the valuation of pre-revenue, start-up companies</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Angel Capital Association.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Profectus. (2025). Current ratio.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Financial Ratios Advisor</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https://www.profectus.com/financialratiosadvisor/resources/CurrentRatio.asp</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ProPak Vietnam. (2024).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Họp báo giới thiệu Triển lãm quốc tế lần thứ 17 về công nghệ chế biến và đóng gói bao bì tại Việt Nam</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PwC. (2024).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Voice of the Consumer Survey 2024 – Vietnam</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PwC Việt Nam.</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Quốc hội. (2025a).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Luật Thuế thu nhập doanh nghiệp số 67/2025/QH15</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Quốc hội. (2025b).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Nghị quyết số 198/2025/QH15 về một số cơ chế, chính sách đặc biệt phát triển kinh tế tư nhân</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QueenPack. (2026); Bao Bì Xanh. (2026).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Bảng giá hộp đựng thực phẩm 500 ml</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[Trang bán hàng]. QueenPack.com; baobixanh.com.</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Quỹ Đổi mới công nghệ quốc gia. (2026).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Hỗ trợ lãi suất vay</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https://natif.mst.gov.vn/ho-tro-lai-suat-vay/</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Tạp chí Kinh tế – Tài chính. (2026). Tỷ giá USD/VND duy trì đà hạ nhiệt; Tỷ giá hôm nay 22/9: tỷ giá trung tâm lập đỉnh mới, USD ngân hàng đồng loạt tăng.</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Thanh tra. (2026). Hơn 4,1 triệu tỷ đồng tín dụng chảy vào doanh nghiệp nhỏ và vừa. https://thanhtra.com.vn/tai-chinh-701717FFD/hon-41-trieu-ty-dong-tin-dung-chay-vao-doanh-nghiep-nho-va-vua-d663ec2fb.html</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The PAN Group. (2024).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Sustainability report 2023</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CTCP Tập đoàn PAN.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Thị trường Tài chính Tiền tệ. (2025, 2026). Thị trường trái phiếu Chính phủ: lợi suất kỳ hạn 10 năm cuối năm 2024, 2025.</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Thời báo Tài chính Việt Nam. (2026). MBS dự báo tỷ giá USD/VND có thể hướng mốc 27.000 đồng cuối năm 2026.</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United Nations Environment Programme. (2021).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Drowning in plastics: Marine litter and plastic waste vital graphics</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UNEP. (Nguồn của số liệu 46% rác thải nhựa đến từ bao bì; bài của nhóm ghi năm 2022.)</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Viện Kinh tế – Tài chính (NIEF). (2025). Doanh nghiệp bao bì Việt Nam trên hành trình xanh hóa. https://nief.mof.gov.vn/kinh-te-xa-hoi/doanh-nghiep-bao-bi-viet-nam-tren-hanh-trinh-xanh-hoa-11741.html</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Viện Nghiên cứu Chiến lược, Chính sách Công Thương. (2025). Tổng quan ngành nhựa Việt Nam – phần 1. https://vioit.org.vn/vn/chien-luoc-chinh-sach/tong-quan-nganh-nhua-viet-nam---phan-1--4666.4050.html</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Viện Công nghiệp Giấy và Xenluylô (RIPPI). (2025).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Bản tin tháng số 6-2025</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https://rippi.com.vn/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VnBusiness. (2026). Kinh tế 8 tháng: nhập siêu 2,046 tỷ USD, lạm phát cơ bản tăng 4,24%; CPI 8 tháng năm 2026 tăng 4,45%. https://vnbusiness.vn/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VnEconomy. (2026a). Tăng trưởng GDP 6 tháng đầu năm 2026 của Việt Nam đạt mức 8,18%. https://vneconomy.vn/</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VnEconomy. (2026b). Ngành in và bao bì trước sức ép cạnh tranh với FDI cùng thách thức chuyển đổi xanh. https://vneconomy.vn/nganh-in-va-bao-bi-truoc-suc-ep-canh-tranh-voi-fdi-cung-thach-thuc-chuyen-doi-xanh.htm</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VBMA – Hiệp hội Thị trường Trái phiếu Việt Nam. (2021–2023).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Bond market report</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(12/2020, 12/2021, 12/2022); Kết quả đấu thầu TPCP ngày 29/11/2023.</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Vietcombank. (2026).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Tỷ giá ngoại tệ</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[Số liệu tỷ giá bán ra].</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Vietnam News. (2017, 2020). Tin đấu thầu TPCP tháng 10/2017; Gov't bond yields hit record low.</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Vietnam Report. (2024, 2025).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Top 10 Công ty uy tín ngành Bao bì</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khảo sát người tiêu dùng về bao bì thân thiện môi trường. https://vietnamreport.net/</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VNDirect. (2025).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La bàn thị trường</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[Báo cáo vĩ mô, lợi suất TPCP kỳ hạn 10 năm].</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Wagner, S. M., &amp; Zanger, S. (2023). [Tiêu đề bài báo cần đối chiếu theo DOI]. </a:t>
            </a:r>
            <a:pPr algn="l" marL="3558032" indent="-3558032">
              <a:lnSpc>
                <a:spcPts val="769"/>
              </a:lnSpc>
              <a:spcAft>
                <a:spcPts val="128"/>
              </a:spcAft>
              <a:buSzPct val="100000"/>
              <a:buFont typeface="+mj-lt"/>
              <a:buAutoNum type="arabicPeriod" startAt="1"/>
            </a:pPr>
            <a:r>
              <a:rPr lang="en-US" sz="630" i="1" dirty="0">
                <a:solidFill>
                  <a:srgbClr val="1F1F1F"/>
                </a:solidFill>
                <a:latin typeface="Calibri" pitchFamily="34" charset="0"/>
                <a:ea typeface="Calibri" pitchFamily="34" charset="-122"/>
                <a:cs typeface="Calibri" pitchFamily="34" charset="-120"/>
              </a:rPr>
              <a:t>International Journal of Logistics Research and Applications</a:t>
            </a:r>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 https://doi.org/10.1080/13675567.2023.2175802</a:t>
            </a:r>
            <a:endParaRPr lang="en-US" sz="630" dirty="0"/>
          </a:p>
          <a:p>
            <a:pPr algn="l" marL="3558032" indent="-3558032">
              <a:lnSpc>
                <a:spcPts val="769"/>
              </a:lnSpc>
              <a:spcAft>
                <a:spcPts val="128"/>
              </a:spcAft>
              <a:buSzPct val="100000"/>
              <a:buFont typeface="+mj-lt"/>
              <a:buAutoNum type="arabicPeriod" startAt="1"/>
            </a:pPr>
            <a:r>
              <a:rPr lang="en-US" sz="630" dirty="0">
                <a:solidFill>
                  <a:srgbClr val="1F1F1F"/>
                </a:solidFill>
                <a:latin typeface="Calibri" pitchFamily="34" charset="0"/>
                <a:ea typeface="Calibri" pitchFamily="34" charset="-122"/>
                <a:cs typeface="Calibri" pitchFamily="34" charset="-120"/>
              </a:rPr>
              <a:t>Các bài báo, trang web khác được nhóm tham khảo ở Mục 3.2: inbaobidanang.com; baobiminhkhang.com.vn; paper-vietnam.com (2 bài); Tạp chí Khoa học Thương mại (Trường ĐH Thương mại); tnjos.vn; zenodo.org/records/19198976; thuehaiquan.tapchikinhtetaichinh.vn; plastech-expo.com; viracresearch.com; provietnam.com.vn; Vietstock (BCTC kiểm toán 2025 của APH, DHC, SVI).</a:t>
            </a:r>
            <a:endParaRPr lang="en-US" sz="630" dirty="0"/>
          </a:p>
        </p:txBody>
      </p:sp>
      <p:sp>
        <p:nvSpPr>
          <p:cNvPr id="5" name="Text 3"/>
          <p:cNvSpPr txBox="1"/>
          <p:nvPr/>
        </p:nvSpPr>
        <p:spPr>
          <a:xfrm>
            <a:off x="405354" y="315559"/>
            <a:ext cx="1753453" cy="114483"/>
          </a:xfrm>
          <a:prstGeom prst="rect">
            <a:avLst/>
          </a:prstGeom>
          <a:noFill/>
          <a:ln/>
        </p:spPr>
        <p:txBody>
          <a:bodyPr wrap="none" lIns="0" tIns="0" rIns="0" bIns="0" rtlCol="0" anchor="t"/>
          <a:lstStyle/>
          <a:p>
            <a:pPr algn="l" indent="0" marL="0">
              <a:lnSpc>
                <a:spcPts val="830"/>
              </a:lnSpc>
              <a:buNone/>
            </a:pPr>
            <a:r>
              <a:rPr lang="en-US"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 | Phân tích, dự phóng và định giá</a:t>
            </a:r>
            <a:endParaRPr lang="en-US" sz="680" dirty="0"/>
          </a:p>
        </p:txBody>
      </p:sp>
      <p:sp>
        <p:nvSpPr>
          <p:cNvPr id="6" name="Text 4"/>
          <p:cNvSpPr txBox="1"/>
          <p:nvPr/>
        </p:nvSpPr>
        <p:spPr>
          <a:xfrm>
            <a:off x="6056346" y="324703"/>
            <a:ext cx="1163940" cy="105247"/>
          </a:xfrm>
          <a:prstGeom prst="rect">
            <a:avLst/>
          </a:prstGeom>
          <a:noFill/>
          <a:ln/>
        </p:spPr>
        <p:txBody>
          <a:bodyPr wrap="none" lIns="0" tIns="0" rIns="0" bIns="0" rtlCol="0" anchor="t"/>
          <a:lstStyle/>
          <a:p>
            <a:pPr algn="l" indent="0" marL="0">
              <a:lnSpc>
                <a:spcPts val="830"/>
              </a:lnSpc>
              <a:buNone/>
            </a:pPr>
            <a:r>
              <a:rPr lang="en-US" sz="680" dirty="0">
                <a:solidFill>
                  <a:srgbClr val="666666"/>
                </a:solidFill>
                <a:latin typeface="Calibri" pitchFamily="34" charset="0"/>
                <a:ea typeface="Calibri" pitchFamily="34" charset="-122"/>
                <a:cs typeface="Calibri" pitchFamily="34" charset="-120"/>
              </a:rPr>
              <a:t>Báo cáo phân tích · 30/09/2026</a:t>
            </a:r>
            <a:endParaRPr lang="en-US" sz="680" dirty="0"/>
          </a:p>
        </p:txBody>
      </p:sp>
      <p:sp>
        <p:nvSpPr>
          <p:cNvPr id="7" name="Text 5"/>
          <p:cNvSpPr txBox="1"/>
          <p:nvPr/>
        </p:nvSpPr>
        <p:spPr>
          <a:xfrm>
            <a:off x="405354" y="572323"/>
            <a:ext cx="7153991" cy="137069"/>
          </a:xfrm>
          <a:prstGeom prst="rect">
            <a:avLst/>
          </a:prstGeom>
          <a:noFill/>
          <a:ln/>
        </p:spPr>
        <p:txBody>
          <a:bodyPr wrap="none" lIns="0" tIns="0" rIns="0" bIns="0" rtlCol="0" anchor="t"/>
          <a:lstStyle/>
          <a:p>
            <a:pPr algn="l" indent="0" marL="0">
              <a:lnSpc>
                <a:spcPts val="1080"/>
              </a:lnSpc>
              <a:buNone/>
            </a:pPr>
            <a:r>
              <a:rPr lang="en-US" sz="900" b="1" dirty="0">
                <a:solidFill>
                  <a:srgbClr val="7B1E2B"/>
                </a:solidFill>
                <a:latin typeface="Calibri" pitchFamily="34" charset="0"/>
                <a:ea typeface="Calibri" pitchFamily="34" charset="-122"/>
                <a:cs typeface="Calibri" pitchFamily="34" charset="-120"/>
              </a:rPr>
              <a:t>Tài liệu tham khảo (APA 7)</a:t>
            </a:r>
            <a:endParaRPr lang="en-US" sz="900" dirty="0"/>
          </a:p>
        </p:txBody>
      </p:sp>
      <p:sp>
        <p:nvSpPr>
          <p:cNvPr id="8" name="Text 6"/>
          <p:cNvSpPr txBox="1"/>
          <p:nvPr/>
        </p:nvSpPr>
        <p:spPr>
          <a:xfrm>
            <a:off x="405354" y="10406512"/>
            <a:ext cx="2526121"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en-US" sz="620" dirty="0"/>
          </a:p>
        </p:txBody>
      </p:sp>
      <p:sp>
        <p:nvSpPr>
          <p:cNvPr id="9" name="Text 7"/>
          <p:cNvSpPr txBox="1"/>
          <p:nvPr/>
        </p:nvSpPr>
        <p:spPr>
          <a:xfrm>
            <a:off x="7074713" y="10406512"/>
            <a:ext cx="136977" cy="96012"/>
          </a:xfrm>
          <a:prstGeom prst="rect">
            <a:avLst/>
          </a:prstGeom>
          <a:noFill/>
          <a:ln/>
        </p:spPr>
        <p:txBody>
          <a:bodyPr wrap="none" lIns="0" tIns="0" rIns="0" bIns="0" rtlCol="0" anchor="t"/>
          <a:lstStyle/>
          <a:p>
            <a:pPr algn="l" indent="0" marL="0">
              <a:lnSpc>
                <a:spcPts val="756"/>
              </a:lnSpc>
              <a:buNone/>
            </a:pPr>
            <a:r>
              <a:rPr lang="en-US" sz="620" dirty="0">
                <a:solidFill>
                  <a:srgbClr val="666666"/>
                </a:solidFill>
                <a:latin typeface="Calibri" pitchFamily="34" charset="0"/>
                <a:ea typeface="Calibri" pitchFamily="34" charset="-122"/>
                <a:cs typeface="Calibri" pitchFamily="34" charset="-120"/>
              </a:rPr>
              <a:t>23</a:t>
            </a:r>
            <a:endParaRPr lang="en-US"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AgriPack – Báo cáo phân tích, dự phóng và định giá</dc:title>
  <dc:subject>PptxGenJS Presentation</dc:subject>
  <dc:creator>Nhóm AgriPack – học phần TTKN</dc:creator>
  <cp:lastModifiedBy>Nhóm AgriPack – học phần TTKN</cp:lastModifiedBy>
  <cp:revision>1</cp:revision>
  <dcterms:created xsi:type="dcterms:W3CDTF">2026-09-30T16:07:16Z</dcterms:created>
  <dcterms:modified xsi:type="dcterms:W3CDTF">2026-09-30T16:07:16Z</dcterms:modified>
</cp:coreProperties>
</file>